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12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/>
              </a:rPr>
              <a:t>Bosque: AGBD media por estrato (Mg/ha) — el dosel manda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AGBD media (Mg/ha)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Lenga (19,3 m)</c:v>
                </c:pt>
                <c:pt idx="1">
                  <c:v>Lenga baja (11,8 m)</c:v>
                </c:pt>
                <c:pt idx="2">
                  <c:v>Ciprés (6,0 m)</c:v>
                </c:pt>
                <c:pt idx="3">
                  <c:v>Ñire (4,5 m)</c:v>
                </c:pt>
                <c:pt idx="4">
                  <c:v>Ñire bajo (3,8 m)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94.64</c:v>
                </c:pt>
                <c:pt idx="1">
                  <c:v>57.71</c:v>
                </c:pt>
                <c:pt idx="2">
                  <c:v>44.19</c:v>
                </c:pt>
                <c:pt idx="3">
                  <c:v>24.33</c:v>
                </c:pt>
                <c:pt idx="4">
                  <c:v>9.94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0F-446F-AEA5-5DDAF3C9AF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121"/>
                </a:solidFill>
                <a:latin typeface="Arial"/>
              </a:defRPr>
            </a:pPr>
            <a:r>
              <a:rPr lang="es-MX" sz="1300" b="0" i="0" u="none" strike="noStrike">
                <a:solidFill>
                  <a:srgbClr val="212121"/>
                </a:solidFill>
                <a:latin typeface="Arial"/>
              </a:rPr>
              <a:t>El gradiente espectral: a mayor longitud de onda, más contraste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Contraste bosque − estepa (dB)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Sentinel-1 (C)</c:v>
                </c:pt>
                <c:pt idx="1">
                  <c:v>NISAR (L)</c:v>
                </c:pt>
                <c:pt idx="2">
                  <c:v>PALSAR-2 (L)</c:v>
                </c:pt>
                <c:pt idx="3">
                  <c:v>SAOCOM (L)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9.9</c:v>
                </c:pt>
                <c:pt idx="2">
                  <c:v>11.6</c:v>
                </c:pt>
                <c:pt idx="3">
                  <c:v>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FC-4939-8BF0-B94A3F02A6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004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curso. Todo número de esta presentación sale de las tablas y notas de los cinco prácticos; la fuente de cada lámina está en su nota.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Marco: REGLAS_DEL_PROYECTO.md y configuracion_comun.py. La fecha del incendio se dedujo de los propios datos y se confirmó con CONAE-AQD.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TP2 00_LEEME y NOTAS_TECNICAS; TP5_cadena_de_error.csv (alometría); TP5_AGBD_por_cobertura.csv (medianas); TP5_AGBD_estratificado.csv (retención L4A).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NOTAS_TECNICAS_ICESat2.md; TP2_cotejo_GEDI_ICESat2_resumen(.conservador).csv; ESTADO_21ago2026.md §2.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TP3 00_LEEME (saturación, NDMI, incendio, bruma).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TP1 00_LEEME (desacuerdo NDVI); guía, capítulo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TP4 00_LEEME (contraste, saturación); TP5 tabla de predictores (R²).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TP4 00_LEEME; TP1 00_LEEME (cobertura real); LEEME de Biomasa_Chubut (R² por resolución).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TP4 00_LEEME (tabla de contrastes y control cruzado); PEDIDO_SAOCOM_28jul2026.md.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TP1 00_LEEME; guía §3.3–3.4; LEEME del material BIOMASS del TP4.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TP5 00_LEEME; TP5_validacion_franjas.csv; TP5_cadena_de_error.csv; TP5_diagnostico_del_piso.csv.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TP5_AGBD_estratificado.csv y TP5_AGBD_por_cobertura.csv. Alturas del eje: rh95 mediana por estrato. En la estepa, la matriz de estepa propiamente dicha (84,6 % del AOI) tiene 5,51 Mg/ha; los parches de lenga del ecotono llegan a 45,4. IMPORTANTE: todo es el estado ANTERIOR al incendio (GEDI sep. 2024 - mar. 2025); ver la lámina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TP5_biomasa_por_severidad.csv (pérdidas por clase: alta 147.039 Mg / 9.668 ha; moderada-alta 47.021; moderada-baja 43.898; baja 21.195 — total ≈ 259.153 Mg sobre un stock previo de 982.905), TP5_cambio_pre_post.csv (mediana de altura 8,63 → 3,84 m con n = 675), TP3 (17.959,2 ha, 80,0 %). El «Sin cambio» con −10,25 Mg/ha es el piso de ruido diagnosticado en el TP5: por eso la cifra se declara como orden de magnitud y el práctico tiene pendiente rehacer el mapa con el juego de predictores sin EVI.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TP4 00_LEEME (contrastes y control cruzado); REGLAS_DEL_PROYECTO.md (fecha del incendio); TP5 tabla de predictores; cotejos del TP2 y GEDI_vs_dron.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TP5 00_LEEME (limitación central); TP5_validacion_franjas.csv; TP5_AGBD_estratificado.csv; TP5_cadena_de_error.csv.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TP5_AGBD_estratificado.csv; NOTAS del TP2 (aritmética de descartes); ESTADO_21ago2026.md (razón junto a diferencia).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Conversión C→biomasa a ~48 % de carbono. Los sitios de Bertolin et al. (La Colisión, La Torta, Lago Guacho) están en el mismo ambiente andino de Chubut que el curso. La comparación curso-literatura no es rodal contra rodal: la media del curso pesa todas las clases del mosaico, y la mediana de dosel del AOI es 10 m, no los 20-25 m de un rodal maduro cerrado. Hoja caduca: el anexo del TP2 y los escenarios del paso 11 muestran que, a igual modelo, la hoja caída no deprime el AGBD (91,33 vs 88,82 en lenga; el ñire da algo más sin hojas); incorporar las 224 huellas de hoja caída movió la media del recinto de 45,56 a 44,32 Mg/ha con la mitad del error estándar. El interrogante abierto es el modelo del ñire (57 de 68 huellas con modelo de conífera perenne, ~8× más biomasa): escenarios A/B/C en TP5_escenarios_hoja_caida.csv.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Multisensor para Estimar Biomasa en Bosques Andinos y su Ecotono Bosque–Estepa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cierre: qué aportó cada sensor, con sus números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Héctor Francisco del Valle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425196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Regional de Geomática (CeReGeo), Facultad de Ciencia y Tecnología (FCyT), Universidad Autónoma de Entre Ríos (UADER)</a:t>
            </a:r>
            <a:endParaRPr lang="en-US" sz="16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de Ecología, Meteorología y Gestión de Fuegos (LEMIV), Facultad de Ingeniería, Universidad Nacional de la Patagonia San Juan Bosco (UNPSJB)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electrónico: hfdelvalle@gmail.com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marco: dos recintos, una grilla y una regla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AOI de 15 × 15 km en el noroeste de Chubut, sin parcelas de campo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85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BOSQUE_NW_02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bosque andino; se incendió entre el 10/01 y el 27/02 de 2026.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ESTEPA_NW_02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ecotono de estepa; el control: no se quemó.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Grilla única EPSG:32719, píxel de 10 m, 1.500 × 1.500: todos los sensores se apilan píxel a píxel.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parcelas de campo: la referencia es satelital (GEDI), y toda conclusión se declara </a:t>
            </a: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estimación sobre estimación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del curso: verificar antes de descargar, y registrar cada descarte con su motivo.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1737360"/>
            <a:ext cx="3870655" cy="3108960"/>
          </a:xfrm>
          <a:prstGeom prst="roundRect">
            <a:avLst>
              <a:gd name="adj" fmla="val 2353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955280" y="19202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0" y="2377440"/>
            <a:ext cx="35048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 biomasa hay, dónde está, y con qué certeza puede decirse usando solamente sensores remotos?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651760" y="2331720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espacial: la referencia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51760" y="3154680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· ICESat-2/ATLAS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— la referencia del curso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vertical y biomasa L4A (TP2)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6.288 disparos válidos de 11.222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sobre los dos recintos (sep. 2024 – mar. 2025).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alometría del curso: AGBD = 0,0394 · h</a:t>
            </a:r>
            <a:r>
              <a:rPr lang="en-US" sz="1800" baseline="3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2,61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(R² 0,92): la biomasa crece con la altura casi al cubo.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Medianas por estrato: lenga 19,25 m y 89,88 Mg/ha; ñire 4,54 m y 19,85; ñire bajo 3,81 m y 2,38.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L4A entrega biomasa en el 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71,7 %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las huellas del bosque y sólo el 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36,6 %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las de la estepa.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240280"/>
          </a:xfrm>
          <a:prstGeom prst="roundRect">
            <a:avLst>
              <a:gd name="adj" fmla="val 3265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única medición directa de la estructura vertical del dosel.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 propia (L4A), sin pasar por índices.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biológico cierra: huellas altas en el bosque, bajas en la estepa.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840480"/>
            <a:ext cx="4739335" cy="2514600"/>
          </a:xfrm>
          <a:prstGeom prst="roundRect">
            <a:avLst>
              <a:gd name="adj" fmla="val 2909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9136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261104"/>
            <a:ext cx="446501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Muestrea en líneas con huecos: no es un mapa.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Hibernación mar. 2023 – abr. 2024; referencia no contemporánea de la línea de base.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descartes del L4A no son aleatorios entre estratos.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la verificó desde el suelo.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ICESat-2 / ATLAS — la segunda referencia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ATL08 V007: el control independiente de GEDI (TP2, pasos 12–16)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6.259 segmentos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proyectados a la grilla común (error máximo 0,2 mm contra pyproj).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 − estepa: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+3,75 m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(IC95 2,58–6,07; p &lt; 0,001) con filtro operacional;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+0,49 m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 = 0,23) con el conservador: el filtro cambia la población, no la calidad.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Cotejo con GEDI (celdas de 500 m): ATL08 lee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2,70×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altura de GEDI en el bosque y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3,28×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estepa. Tras el control de terreno FABDEM (pasos 15–16): 1,87× en el bosque — el suelo mal detectado inflaba el dosel — y 3,21× en la estepa.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Cubre lo que GEDI no puede: nov. 2018 – abr. 2026, hibernación incluida.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240280"/>
          </a:xfrm>
          <a:prstGeom prst="roundRect">
            <a:avLst>
              <a:gd name="adj" fmla="val 3265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 instrumento y otro principio de medición sobre el mismo terreno.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Acota la incertidumbre de la referencia sin necesitar parcelas.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larga y continua.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840480"/>
            <a:ext cx="4739335" cy="2514600"/>
          </a:xfrm>
          <a:prstGeom prst="roundRect">
            <a:avLst>
              <a:gd name="adj" fmla="val 2909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9136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261104"/>
            <a:ext cx="446501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entrega biomasa: altura, no Mg/ha.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Segmentos de 100 m: otra unidad de muestreo que la huella.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 disponible asimétrica: 46,4 % en bosque, 77,1 % en estepa.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Discrepancia partida en dos por FABDEM: terreno corregible en el bosque; en la estepa, límite del método en dosel bajo y ralo.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651760" y="2331720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óptico: índices, incendio y su límite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51760" y="3154680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· Landsat 9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— el óptico a fondo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Índices, incendio y el límite del método (TP3)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NDVI satura a los 21 m de dosel: 0,896 → 0,894.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índice es el NDMI: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0,30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RMSE 6,5 m — y ninguno pasa de un tercio.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mejores (NDMI y NBR) usan el SWIR: la banda más larga del sensor. La tendencia apunta al radar.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fuego sí: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18.009,2 ha quemadas (80,0 % del recinto)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el NBR de 0,513 a −0,200.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bruma que el catálogo no vio: escena del 09/01/2026 con 0,4 % de nubes declarado y el azul 6,7× lo normal del sitio.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240280"/>
          </a:xfrm>
          <a:prstGeom prst="roundRect">
            <a:avLst>
              <a:gd name="adj" fmla="val 3265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y archivo sin costo.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Insuperable para el incendio: dNBR y clases de severidad.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Píxel de 10 m en la grilla del curso.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840480"/>
            <a:ext cx="4739335" cy="2514600"/>
          </a:xfrm>
          <a:prstGeom prst="roundRect">
            <a:avLst>
              <a:gd name="adj" fmla="val 2909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9136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261104"/>
            <a:ext cx="446501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 justo donde está la biomasa.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máscara de nubes es ciega a la bruma.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escena no está mala en abstracto: está mala para un índice.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9 — el control del óptico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sensores independientes en desacuerdo: ahí hay que ir a mirar (TP1, TP3)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0,78 contra 0,34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Sentinel-2 a cinco días, en el mismo lugar: el desacuerdo destapó la bruma.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combinada de 8 días con Landsat 8; OLI-2 de 14 bits; Colección 2 Nivel 2 ya corregido a reflectancia.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GeoTIFF recortados al área de estudio en el curso.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011680"/>
          </a:xfrm>
          <a:prstGeom prst="roundRect">
            <a:avLst>
              <a:gd name="adj" fmla="val 3636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cruzada del óptico, con física propia.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histórico más largo del sensoramiento óptico.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611880"/>
            <a:ext cx="4739335" cy="2743200"/>
          </a:xfrm>
          <a:prstGeom prst="roundRect">
            <a:avLst>
              <a:gd name="adj" fmla="val 2667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6850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032504"/>
            <a:ext cx="4465015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Píxel de 30 m.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región espectral que Sentinel-2: satura igual.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agrega banda nueva al problema de la biomasa.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651760" y="2331720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radar: de la banda C a la banda 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51760" y="3154680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· NISAR · SAOCOM · PALSAR-2 · ALOS-1 · BIOMASS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— la banda C, medida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radar disponible no es el radar suficiente (TP4)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bosque − estepa: 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dB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(HV/VH) — el menor de los cuatro radares del curso.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Saturación: de 0–3 m a más de 21 m de dosel gana 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0,53 dB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plano. No distingue un renoval de un bosque maduro.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contra la altura del dosel: 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0,03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240280"/>
          </a:xfrm>
          <a:prstGeom prst="roundRect">
            <a:avLst>
              <a:gd name="adj" fmla="val 3265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y disponibilidad sin pedido.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cadena del curso: γ⁰ con terrain flattening, nunca σ⁰.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sirve al cambio: la caída tras el incendio se 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840480"/>
            <a:ext cx="4739335" cy="2514600"/>
          </a:xfrm>
          <a:prstGeom prst="roundRect">
            <a:avLst>
              <a:gd name="adj" fmla="val 2909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9136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261104"/>
            <a:ext cx="446501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banda C no penetra el dosel: rebota arriba.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Moteado fuerte: sin promediar, el R² se desploma.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aporta biomasa en este bosque.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— la banda L nueva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el óptico se aplana, la banda L sigue subiendo (TP1, TP4)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bosque − estepa: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 dB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sobre los 21 m, donde el NDVI quedó plano, γ⁰ sigue: −12,22 → −11,73 → −11,55 dB.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0,25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contra la altura (0,18 a 30 m, 0,28 a 150 m): el mejor radar del curso.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lección del TP1: 6 gránulos prometían 69–76 % de cobertura y traían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15 %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 — 12 GB de descarga inútil evitados verificando primero.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GCOV llega geocodificado; la única banda L sin pedido previo.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240280"/>
          </a:xfrm>
          <a:prstGeom prst="roundRect">
            <a:avLst>
              <a:gd name="adj" fmla="val 3265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 L abierta y de cadencia programada.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cruzado con PALSAR-2: coinciden dentro de 1 dB.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 biomasa, no sólo a verdor.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840480"/>
            <a:ext cx="4739335" cy="2514600"/>
          </a:xfrm>
          <a:prstGeom prst="roundRect">
            <a:avLst>
              <a:gd name="adj" fmla="val 2909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9136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261104"/>
            <a:ext cx="446501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corto: misión recién comenzada.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banda S no cubre la zona (verificado: 0 escenas).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Moteado: el promediado espacial es obligatorio.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y ALOS-2 PALSAR-2 — la banda L madura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agencias, el mismo bosque, la misma física (TP4)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SAOCOM: contraste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11,7 dB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 mayor del curso; quad-pol; línea de base completa (7 productos).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PALSAR-2: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 dB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el mosaico anual global de 25 m.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cruzado del curso: NISAR −13,2 dB y PALSAR-2 −12,5 dB sobre el mismo bosque —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1 dB sin haberse puesto de acuerdo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ascendente y descendente no se mezclan: las dos dual-pol ascendentes quedaron como control de geometría, no como insumo.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240280"/>
          </a:xfrm>
          <a:prstGeom prst="roundRect">
            <a:avLst>
              <a:gd name="adj" fmla="val 3265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sensibilidad más alta a la biomasa medida en el curso.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es de CONAE: soberanía del dato y quad-pol completo.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PALSAR-2 da contexto anual global gratuito.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840480"/>
            <a:ext cx="4739335" cy="2514600"/>
          </a:xfrm>
          <a:prstGeom prst="roundRect">
            <a:avLst>
              <a:gd name="adj" fmla="val 2909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9136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261104"/>
            <a:ext cx="446501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exige registro, pedido y autorización: sin API (así se documentó, como trámite).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mosaico PALSAR-2 no tiene fecha fina: es anual.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ALOS-1 y BIOMASS — la década anterior y la que viene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línea histórica en banda L y el radar que atraviesa el dosel (TP1, TP4)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ALOS-1 PALSAR: la línea de otra década (2007–2011), el único cuadripolar completo del archivo histórico.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 (banda P): la única misión que atraviesa el dosel completo; cobertura de la estepa en verano y del bosque en otoño de 2026; productos 1S con imagen.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por ESA MAAP con ficha de noventa días; cadena SNAP propia (Microwave Toolbox, SNAP 13+).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011680"/>
          </a:xfrm>
          <a:prstGeom prst="roundRect">
            <a:avLst>
              <a:gd name="adj" fmla="val 3636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ALOS-1 permite mirar el bosque veinte años atrás con la misma banda.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 apunta a donde la banda L empieza a quedarse corta: la biomasa alta.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611880"/>
            <a:ext cx="4739335" cy="2743200"/>
          </a:xfrm>
          <a:prstGeom prst="roundRect">
            <a:avLst>
              <a:gd name="adj" fmla="val 2667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6850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032504"/>
            <a:ext cx="4465015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ALOS-1: sin corrección de terreno moderna, se dejó crudo.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BIOMASS: misión en puesta a punto; los L2 maduran todavía.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ficha de acceso vence cada noventa días.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651760" y="2331720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síntesis: sinergia, resultado y convergencia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51760" y="3154680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 · el cotejo entre todas las líneas de prueba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sinergia, medida — no supuesta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ayudó menos de lo que prometía, y eso es un resultado (TP5)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aportó, medido en el curso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0,964 con los tres grupos de predictores;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0,956 sólo con GEDI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la sinergia aportó ocho milésimas.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piso de ruido no venía del radar: lo aportaba un solo índice óptico. Sin él: de −10,25 a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−0,48 Mg/ha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sobre terreno no quemado (señal/ruido 1,5 → 15,3).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Compresión hacia la media: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+3,93 m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dosel de 0–3 m y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−9,27 m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de 18–21 m: ataca justo donde está la biomasa.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 de error del bosque: altura 4,3 m; conversión alométrica 13,6 Mg/ha; producto de referencia 13,1 Mg/ha — lo que manda no es el modelo del curso.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39335" cy="2011680"/>
          </a:xfrm>
          <a:prstGeom prst="roundRect">
            <a:avLst>
              <a:gd name="adj" fmla="val 3636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040880" y="144475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465015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experimento de control (sólo GEDI) evita atribuirle a la fusión lo que puso la referencia.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diagnóstico del piso encontró al culpable midiendo, no suponiendo.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3611880"/>
            <a:ext cx="4739335" cy="2743200"/>
          </a:xfrm>
          <a:prstGeom prst="roundRect">
            <a:avLst>
              <a:gd name="adj" fmla="val 2667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040880" y="3685032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032504"/>
            <a:ext cx="4465015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combinación de sensores esquiva la alometría ni la referencia.</a:t>
            </a:r>
            <a:endParaRPr lang="en-US" sz="1600" dirty="0"/>
          </a:p>
          <a:p>
            <a:pPr marL="342900" indent="-342900" algn="just">
              <a:lnSpc>
                <a:spcPct val="100000"/>
              </a:lnSpc>
              <a:spcAft>
                <a:spcPts val="400"/>
              </a:spcAft>
              <a:buSzPct val="100000"/>
              <a:buFont typeface="Wingdings" pitchFamily="2" charset="2"/>
              <a:buChar char="ü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buen coeficiente global esconde el sesgo de los extremos.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resultado: la biomasa, por estrato y por recinto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estratificada sobre la referencia GEDI L4A (sep. 2024 – mar. 2025): el estado anterior al incendio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1554480"/>
            <a:ext cx="4419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44,3 ± 2,2 Mg/ha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23760" y="210312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 — stock de 982.905 ± 48.733 Mg en 22.178 ha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23760" y="2606040"/>
            <a:ext cx="4419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 ± 0,3 Mg/ha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223760" y="315468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Estepa — stock de 162.554 ± 6.133 Mg en 22.325 ha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23760" y="3657600"/>
            <a:ext cx="4419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223760" y="420624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biomasa por hectárea en el bosque que en la estepa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23760" y="4709160"/>
            <a:ext cx="4419295" cy="1371600"/>
          </a:xfrm>
          <a:prstGeom prst="roundRect">
            <a:avLst>
              <a:gd name="adj" fmla="val 5333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360920" y="4846320"/>
            <a:ext cx="4144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lenga alta: 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tercio de la superficie del bosque,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72 % del stock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(703.110 Mg).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aclaración: es el bosque de antes del fuego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referencia GEDI es de sep. 2024 – mar. 2025; el incendio, de enero–febrero de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7665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biomasa de esta presentación describe el estado 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 al incendio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fuego no puede explicar la distancia con la literatura — es cronológicamente imposible.</a:t>
            </a:r>
            <a:endParaRPr lang="en-US" sz="1800" dirty="0"/>
          </a:p>
          <a:p>
            <a:pPr marL="342900" indent="-342900" algn="just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esa foto, el fuego alcanzó el 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80,0 % del recinto de bosque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(18.009,2 ha, TP3), y la mediana de altura del dosel cayó de 8,6 a 3,8 m (TP5).</a:t>
            </a:r>
            <a:endParaRPr lang="en-US" sz="1800" dirty="0"/>
          </a:p>
          <a:p>
            <a:pPr marL="342900" indent="-342900" algn="just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cambio aparente de biomasa asociado al incendio suma 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259.000 Mg — un 26 % del stock previo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concentrado en severidad alta: 147.039 Mg en las 9.668 ha más castigadas.</a:t>
            </a:r>
            <a:endParaRPr lang="en-US" sz="1800" dirty="0"/>
          </a:p>
          <a:p>
            <a:pPr marL="342900" indent="-342900" algn="just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Advertencia del propio práctico: es «cambio </a:t>
            </a: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aparente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», no combustión medida, y el mapa arrastra el piso de ruido del TP5, todavía pendiente de corregir. La cifra se toma como orden de magnitud.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1737360"/>
            <a:ext cx="3870655" cy="3931920"/>
          </a:xfrm>
          <a:prstGeom prst="roundRect">
            <a:avLst>
              <a:gd name="adj" fmla="val 1890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955280" y="187452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de los hechos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0" y="2331720"/>
            <a:ext cx="3504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sep. 2024 – mar. 2025 — 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mide el bosque sano (la referencia del curso).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10/01 – 27/02 de 2026 — 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incendio.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feb. – mar. 2026 — 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épocas post del curso: dNBR, caída de γ⁰ y del NDVI fechan el fuego.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¿Hubo convergencia de prueba? Sí: cuatro líneas independientes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caminos distintos llegan al mismo lugar, el resultado deja de depender de un solo sensor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600200"/>
            <a:ext cx="597377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Inter-agencia: 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y PALSAR-2 midieron el mismo bosque dentro de 1 dB, sin acordarlo (−13,2 y −12,5 dB).</a:t>
            </a:r>
            <a:endParaRPr lang="en-US" sz="1600" dirty="0"/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incendio: 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dNBR, caída de γ⁰ y caída del NDVI —tres físicas distintas— fecharon el fuego; CONAE-AQD lo confirmó después.</a:t>
            </a:r>
            <a:endParaRPr lang="en-US" sz="1600" dirty="0"/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gradiente espectral: 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de 0,03 (C) a 0,25 (L); el mejor óptico usa SWIR; la banda P es el paso siguiente. Todo apunta en la misma dirección.</a:t>
            </a:r>
            <a:endParaRPr lang="en-US" sz="1600" dirty="0"/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contra LiDAR: 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GEDI, ATL08 y el dron convergen en el patrón (bosque &gt; estepa) y divergen en magnitud: esa divergencia, medida, es lo que acota la incertidumbre.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ningún sensor resolvió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advertencias que acompañan a todo número de este curso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13232" y="1664208"/>
            <a:ext cx="508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parcelas de campo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2084832"/>
            <a:ext cx="508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estimación está calibrada contra otra estimación (GEDI). Ninguna conclusión puede presentarse como una medición de biomasa.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1568" y="155448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306160" y="1664208"/>
            <a:ext cx="508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extremos, comprimidos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6160" y="2084832"/>
            <a:ext cx="508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estrato con más biomasa es el peor estimado: −9,27 m de sesgo en el dosel de 18–21 m. Las 94,6 Mg/ha de la lenga son, si acaso, un piso.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13232" y="3995928"/>
            <a:ext cx="508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retención asimétrica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4416552"/>
            <a:ext cx="508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L4A da biomasa en el 36,6 % de las huellas de la estepa: un tercio de la muestra, con descartes que no son aleatorios.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1568" y="388620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FDF0EF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06160" y="3995928"/>
            <a:ext cx="508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alometría no se esquiva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6160" y="4416552"/>
            <a:ext cx="508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 Mg/ha de error en la conversión altura → biomasa: más que todo el modelo de altura. Ninguna banda la evita.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cierre: cuatro reglas y dos números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este curso enseña a hacer con cualquier sensor que venga después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3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antes de descargar. 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catálogos mienten por omisión: se cuenta el dato dentro del AOI, no el metadato.</a:t>
            </a:r>
            <a:endParaRPr lang="en-US" sz="1800" dirty="0"/>
          </a:p>
          <a:p>
            <a:pPr marL="342900" indent="-342900" algn="just">
              <a:lnSpc>
                <a:spcPct val="13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que falta es información. 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descarte se registra con su motivo; una tabla que no cierra (3.084 = 3.083 + 1) es un error hasta que se explica.</a:t>
            </a:r>
            <a:endParaRPr lang="en-US" sz="1800" dirty="0"/>
          </a:p>
          <a:p>
            <a:pPr marL="342900" indent="-342900" algn="just">
              <a:lnSpc>
                <a:spcPct val="13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diferencia se informa con su razón. 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«ATL08 lee 3,8 m más alto» parece poco hasta ver que GEDI estaba leyendo 6,2 m.</a:t>
            </a:r>
            <a:endParaRPr lang="en-US" sz="1800" dirty="0"/>
          </a:p>
          <a:p>
            <a:pPr marL="342900" indent="-342900" algn="just">
              <a:lnSpc>
                <a:spcPct val="130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referencia, con su dominio de validez visible. 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referencia es útil en la medida en que se sabe dónde vale y dónde deja de valer.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35240" y="1828800"/>
            <a:ext cx="4007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982.905 Mg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35240" y="246888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biomasa aérea estimada del bosque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35240" y="3108960"/>
            <a:ext cx="4007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162.554 Mg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635240" y="3749040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 la estepa — y las dos cifras viajan siempre con su cadena de error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discusión final: ¿cerca o lejos de la literatura?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estepa converge con lo publicado; la lenga queda 4–5× por debajo de los rodales maduros — y explicar esa distancia es la discusión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056008"/>
              </p:ext>
            </p:extLst>
          </p:nvPr>
        </p:nvGraphicFramePr>
        <p:xfrm>
          <a:off x="548640" y="1600200"/>
          <a:ext cx="11091672" cy="19293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 curso (referencia GEDI L4A)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Literatura (parcelas de campo)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Estepa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 ± 0,3 Mg/ha (la matriz de estepa: 5,5)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Plantas vivas: 4,9 a 10,5 Mg C/ha según la estepa; PPNA ≈ 0,8 Mg/ha·año (Peri y Lasagno 2009, 2010; Fernández et al. 1991)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Lenga alta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94,6 Mg/ha de media (mediana 89,9)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Rodales maduros del propio Chubut andino: 209 a 243 Mg C/ha ≈ 435 a 505 Mg/ha (Bertolin et al. 2015); Tierra del Fuego: 382 a 447 t/ha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Bosque entero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 ± 2,2 Mg/ha sobre el mosaico completo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equivalente directo: la literatura mide rodales puros, no mosaicos con dos tercios de ñire bajo y estepa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50208"/>
            <a:ext cx="110944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8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estepa, la referencia satelital y las parcelas publicadas </a:t>
            </a: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método rinde donde la vegetación es baja y pareja.</a:t>
            </a:r>
            <a:endParaRPr lang="en-US" sz="1250" dirty="0"/>
          </a:p>
          <a:p>
            <a:pPr marL="342900" indent="-342900" algn="just">
              <a:lnSpc>
                <a:spcPct val="108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lenga, la distancia es la esperada: el AOI es un </a:t>
            </a: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mosaico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(mediana de dosel 10 m, con lenga baja y achaparrada), GEDI </a:t>
            </a: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comprime el dosel alto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(−9,27 m en 18–21 m; el dron y ATL08 apuntan igual) y la alometría h</a:t>
            </a:r>
            <a:r>
              <a:rPr lang="en-US" sz="1250" baseline="3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2,61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amplifica esa compresión.</a:t>
            </a:r>
            <a:endParaRPr lang="en-US" sz="1250" dirty="0"/>
          </a:p>
          <a:p>
            <a:pPr marL="342900" indent="-342900" algn="just">
              <a:lnSpc>
                <a:spcPct val="108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hoja caduca? </a:t>
            </a: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Descartada como causa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igual modelo, la lenga da 91,33 Mg/ha con hojas y 88,82 sin hojas (anexo del TP2). Lo abierto va al revés: el modelo de conífera aplicado al ñire puede </a:t>
            </a: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stimarlo — por eso la horquilla 40,7 a 45,6 Mg/ha.</a:t>
            </a:r>
            <a:endParaRPr lang="en-US" sz="1250" dirty="0"/>
          </a:p>
          <a:p>
            <a:pPr marL="342900" indent="-342900" algn="just">
              <a:lnSpc>
                <a:spcPct val="108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Lectura: el número del curso es un </a:t>
            </a: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defendible para el paisaje completo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un equivalente de parcela. La distancia con la literatura no invalida el método: mide lo que las advertencias ya declaraban.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Bertolin, M.L. et al. (2015) Fire Ecology 11(1); Peri, P.L. y Lasagno, R.G. (2009, 2010) J. Arid Environments; Fernández, R.J. et al. (1991) J. Range Management.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3970</Words>
  <Application>Microsoft Office PowerPoint</Application>
  <PresentationFormat>Panorámica</PresentationFormat>
  <Paragraphs>265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Conclusiones y cierre — IA multisensor para estimar biomasa</dc:title>
  <dc:subject>PptxGenJS Presentation</dc:subject>
  <dc:creator>Héctor Francisco del Valle</dc:creator>
  <cp:lastModifiedBy>Hector Francisco del Valle</cp:lastModifiedBy>
  <cp:revision>3</cp:revision>
  <dcterms:created xsi:type="dcterms:W3CDTF">2026-08-22T01:50:04Z</dcterms:created>
  <dcterms:modified xsi:type="dcterms:W3CDTF">2026-08-24T15:20:35Z</dcterms:modified>
</cp:coreProperties>
</file>