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480" r:id="rId4"/>
    <p:sldId id="258" r:id="rId5"/>
    <p:sldId id="48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488" r:id="rId48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  
  <Relationship Id="rId48" Type="http://schemas.openxmlformats.org/officeDocument/2006/relationships/slide" Target="slides/slide43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F2F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>
                <a:solidFill>
                  <a:srgbClr val="BBC8C1"/>
                </a:solidFill>
              </a:rPr>
              <a:t>ICESat-</a:t>
            </a:r>
            <a:r>
              <a:rPr>
                <a:solidFill>
                  <a:srgbClr val="BBC8C1"/>
                </a:solidFill>
              </a:rPr>
              <a:t>2</a:t>
            </a:r>
            <a:r>
              <a:rPr spc="-1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10">
                <a:solidFill>
                  <a:srgbClr val="BBC8C1"/>
                </a:solidFill>
              </a:rPr>
              <a:t>ATLAS</a:t>
            </a:r>
            <a:r>
              <a:rPr>
                <a:solidFill>
                  <a:srgbClr val="BBC8C1"/>
                </a:solidFill>
              </a:rPr>
              <a:t> 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ATL08</a:t>
            </a:r>
            <a:r>
              <a:rPr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V007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70485">
              <a:lnSpc>
                <a:spcPct val="100000"/>
              </a:lnSpc>
              <a:spcBef>
                <a:spcPts val="50"/>
              </a:spcBef>
              <a:tabLst>
                <a:tab pos="1437005" algn="l"/>
              </a:tabLst>
            </a:pPr>
            <a:r>
              <a:rPr>
                <a:solidFill>
                  <a:srgbClr val="BBC8C1"/>
                </a:solidFill>
              </a:rPr>
              <a:t>Héctor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Francisco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del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Valle</a:t>
            </a:r>
            <a:r>
              <a:rPr>
                <a:solidFill>
                  <a:srgbClr val="BBC8C1"/>
                </a:solidFill>
              </a:rPr>
              <a:t>	</a:t>
            </a:r>
            <a:fld id="{81D60167-4931-47E6-BA6A-407CBD079E47}" type="slidenum">
              <a:rPr spc="-20" dirty="0">
                <a:solidFill>
                  <a:srgbClr val="BBC8C1"/>
                </a:solidFill>
              </a:rPr>
              <a:t>‹Nº›</a:t>
            </a:fld>
            <a:r>
              <a:rPr spc="-20">
                <a:solidFill>
                  <a:srgbClr val="BBC8C1"/>
                </a:solidFill>
              </a:rPr>
              <a:t>/40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F2F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>
                <a:solidFill>
                  <a:srgbClr val="BBC8C1"/>
                </a:solidFill>
              </a:rPr>
              <a:t>ICESat-</a:t>
            </a:r>
            <a:r>
              <a:rPr>
                <a:solidFill>
                  <a:srgbClr val="BBC8C1"/>
                </a:solidFill>
              </a:rPr>
              <a:t>2</a:t>
            </a:r>
            <a:r>
              <a:rPr spc="-1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10">
                <a:solidFill>
                  <a:srgbClr val="BBC8C1"/>
                </a:solidFill>
              </a:rPr>
              <a:t>ATLAS</a:t>
            </a:r>
            <a:r>
              <a:rPr>
                <a:solidFill>
                  <a:srgbClr val="BBC8C1"/>
                </a:solidFill>
              </a:rPr>
              <a:t> 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ATL08</a:t>
            </a:r>
            <a:r>
              <a:rPr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V007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70485">
              <a:lnSpc>
                <a:spcPct val="100000"/>
              </a:lnSpc>
              <a:spcBef>
                <a:spcPts val="50"/>
              </a:spcBef>
              <a:tabLst>
                <a:tab pos="1437005" algn="l"/>
              </a:tabLst>
            </a:pPr>
            <a:r>
              <a:rPr>
                <a:solidFill>
                  <a:srgbClr val="BBC8C1"/>
                </a:solidFill>
              </a:rPr>
              <a:t>Héctor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Francisco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del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Valle</a:t>
            </a:r>
            <a:r>
              <a:rPr>
                <a:solidFill>
                  <a:srgbClr val="BBC8C1"/>
                </a:solidFill>
              </a:rPr>
              <a:t>	</a:t>
            </a:r>
            <a:fld id="{81D60167-4931-47E6-BA6A-407CBD079E47}" type="slidenum">
              <a:rPr spc="-20" dirty="0">
                <a:solidFill>
                  <a:srgbClr val="BBC8C1"/>
                </a:solidFill>
              </a:rPr>
              <a:t>‹Nº›</a:t>
            </a:fld>
            <a:r>
              <a:rPr spc="-20">
                <a:solidFill>
                  <a:srgbClr val="BBC8C1"/>
                </a:solidFill>
              </a:rPr>
              <a:t>/40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F2F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>
                <a:solidFill>
                  <a:srgbClr val="BBC8C1"/>
                </a:solidFill>
              </a:rPr>
              <a:t>ICESat-</a:t>
            </a:r>
            <a:r>
              <a:rPr>
                <a:solidFill>
                  <a:srgbClr val="BBC8C1"/>
                </a:solidFill>
              </a:rPr>
              <a:t>2</a:t>
            </a:r>
            <a:r>
              <a:rPr spc="-1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10">
                <a:solidFill>
                  <a:srgbClr val="BBC8C1"/>
                </a:solidFill>
              </a:rPr>
              <a:t>ATLAS</a:t>
            </a:r>
            <a:r>
              <a:rPr>
                <a:solidFill>
                  <a:srgbClr val="BBC8C1"/>
                </a:solidFill>
              </a:rPr>
              <a:t> 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ATL08</a:t>
            </a:r>
            <a:r>
              <a:rPr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V007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70485">
              <a:lnSpc>
                <a:spcPct val="100000"/>
              </a:lnSpc>
              <a:spcBef>
                <a:spcPts val="50"/>
              </a:spcBef>
              <a:tabLst>
                <a:tab pos="1437005" algn="l"/>
              </a:tabLst>
            </a:pPr>
            <a:r>
              <a:rPr>
                <a:solidFill>
                  <a:srgbClr val="BBC8C1"/>
                </a:solidFill>
              </a:rPr>
              <a:t>Héctor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Francisco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del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Valle</a:t>
            </a:r>
            <a:r>
              <a:rPr>
                <a:solidFill>
                  <a:srgbClr val="BBC8C1"/>
                </a:solidFill>
              </a:rPr>
              <a:t>	</a:t>
            </a:r>
            <a:fld id="{81D60167-4931-47E6-BA6A-407CBD079E47}" type="slidenum">
              <a:rPr spc="-20" dirty="0">
                <a:solidFill>
                  <a:srgbClr val="BBC8C1"/>
                </a:solidFill>
              </a:rPr>
              <a:t>‹Nº›</a:t>
            </a:fld>
            <a:r>
              <a:rPr spc="-20">
                <a:solidFill>
                  <a:srgbClr val="BBC8C1"/>
                </a:solidFill>
              </a:rPr>
              <a:t>/40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F2F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>
                <a:solidFill>
                  <a:srgbClr val="BBC8C1"/>
                </a:solidFill>
              </a:rPr>
              <a:t>ICESat-</a:t>
            </a:r>
            <a:r>
              <a:rPr>
                <a:solidFill>
                  <a:srgbClr val="BBC8C1"/>
                </a:solidFill>
              </a:rPr>
              <a:t>2</a:t>
            </a:r>
            <a:r>
              <a:rPr spc="-1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10">
                <a:solidFill>
                  <a:srgbClr val="BBC8C1"/>
                </a:solidFill>
              </a:rPr>
              <a:t>ATLAS</a:t>
            </a:r>
            <a:r>
              <a:rPr>
                <a:solidFill>
                  <a:srgbClr val="BBC8C1"/>
                </a:solidFill>
              </a:rPr>
              <a:t> 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ATL08</a:t>
            </a:r>
            <a:r>
              <a:rPr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V007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70485">
              <a:lnSpc>
                <a:spcPct val="100000"/>
              </a:lnSpc>
              <a:spcBef>
                <a:spcPts val="50"/>
              </a:spcBef>
              <a:tabLst>
                <a:tab pos="1437005" algn="l"/>
              </a:tabLst>
            </a:pPr>
            <a:r>
              <a:rPr>
                <a:solidFill>
                  <a:srgbClr val="BBC8C1"/>
                </a:solidFill>
              </a:rPr>
              <a:t>Héctor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Francisco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del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Valle</a:t>
            </a:r>
            <a:r>
              <a:rPr>
                <a:solidFill>
                  <a:srgbClr val="BBC8C1"/>
                </a:solidFill>
              </a:rPr>
              <a:t>	</a:t>
            </a:r>
            <a:fld id="{81D60167-4931-47E6-BA6A-407CBD079E47}" type="slidenum">
              <a:rPr spc="-20" dirty="0">
                <a:solidFill>
                  <a:srgbClr val="BBC8C1"/>
                </a:solidFill>
              </a:rPr>
              <a:t>‹Nº›</a:t>
            </a:fld>
            <a:r>
              <a:rPr spc="-20">
                <a:solidFill>
                  <a:srgbClr val="BBC8C1"/>
                </a:solidFill>
              </a:rPr>
              <a:t>/40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>
                <a:solidFill>
                  <a:srgbClr val="BBC8C1"/>
                </a:solidFill>
              </a:rPr>
              <a:t>ICESat-</a:t>
            </a:r>
            <a:r>
              <a:rPr>
                <a:solidFill>
                  <a:srgbClr val="BBC8C1"/>
                </a:solidFill>
              </a:rPr>
              <a:t>2</a:t>
            </a:r>
            <a:r>
              <a:rPr spc="-1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10">
                <a:solidFill>
                  <a:srgbClr val="BBC8C1"/>
                </a:solidFill>
              </a:rPr>
              <a:t>ATLAS</a:t>
            </a:r>
            <a:r>
              <a:rPr>
                <a:solidFill>
                  <a:srgbClr val="BBC8C1"/>
                </a:solidFill>
              </a:rPr>
              <a:t> 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ATL08</a:t>
            </a:r>
            <a:r>
              <a:rPr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V007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70485">
              <a:lnSpc>
                <a:spcPct val="100000"/>
              </a:lnSpc>
              <a:spcBef>
                <a:spcPts val="50"/>
              </a:spcBef>
              <a:tabLst>
                <a:tab pos="1437005" algn="l"/>
              </a:tabLst>
            </a:pPr>
            <a:r>
              <a:rPr>
                <a:solidFill>
                  <a:srgbClr val="BBC8C1"/>
                </a:solidFill>
              </a:rPr>
              <a:t>Héctor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Francisco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del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Valle</a:t>
            </a:r>
            <a:r>
              <a:rPr>
                <a:solidFill>
                  <a:srgbClr val="BBC8C1"/>
                </a:solidFill>
              </a:rPr>
              <a:t>	</a:t>
            </a:r>
            <a:fld id="{81D60167-4931-47E6-BA6A-407CBD079E47}" type="slidenum">
              <a:rPr spc="-20" dirty="0">
                <a:solidFill>
                  <a:srgbClr val="BBC8C1"/>
                </a:solidFill>
              </a:rPr>
              <a:t>‹Nº›</a:t>
            </a:fld>
            <a:r>
              <a:rPr spc="-20">
                <a:solidFill>
                  <a:srgbClr val="BBC8C1"/>
                </a:solidFill>
              </a:rPr>
              <a:t>/40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75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0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0"/>
            <a:ext cx="12192000" cy="73025"/>
          </a:xfrm>
          <a:custGeom>
            <a:avLst/>
            <a:gdLst/>
            <a:ahLst/>
            <a:cxnLst/>
            <a:rect l="l" t="t" r="r" b="b"/>
            <a:pathLst>
              <a:path w="12192000" h="73025">
                <a:moveTo>
                  <a:pt x="12191390" y="0"/>
                </a:moveTo>
                <a:lnTo>
                  <a:pt x="0" y="0"/>
                </a:lnTo>
                <a:lnTo>
                  <a:pt x="0" y="72720"/>
                </a:lnTo>
                <a:lnTo>
                  <a:pt x="6095873" y="72720"/>
                </a:lnTo>
                <a:lnTo>
                  <a:pt x="12191390" y="727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399135"/>
            <a:ext cx="1044003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F2F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1484" y="1294376"/>
            <a:ext cx="11120755" cy="400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9864" y="6572574"/>
            <a:ext cx="1571625" cy="1466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>
                <a:solidFill>
                  <a:srgbClr val="BBC8C1"/>
                </a:solidFill>
              </a:rPr>
              <a:t>ICESat-</a:t>
            </a:r>
            <a:r>
              <a:rPr>
                <a:solidFill>
                  <a:srgbClr val="BBC8C1"/>
                </a:solidFill>
              </a:rPr>
              <a:t>2</a:t>
            </a:r>
            <a:r>
              <a:rPr spc="-1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10">
                <a:solidFill>
                  <a:srgbClr val="BBC8C1"/>
                </a:solidFill>
              </a:rPr>
              <a:t>ATLAS</a:t>
            </a:r>
            <a:r>
              <a:rPr>
                <a:solidFill>
                  <a:srgbClr val="BBC8C1"/>
                </a:solidFill>
              </a:rPr>
              <a:t> 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ATL08</a:t>
            </a:r>
            <a:r>
              <a:rPr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V007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35984" y="6571612"/>
            <a:ext cx="1655445" cy="143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70485">
              <a:lnSpc>
                <a:spcPct val="100000"/>
              </a:lnSpc>
              <a:spcBef>
                <a:spcPts val="50"/>
              </a:spcBef>
              <a:tabLst>
                <a:tab pos="1437005" algn="l"/>
              </a:tabLst>
            </a:pPr>
            <a:r>
              <a:rPr>
                <a:solidFill>
                  <a:srgbClr val="BBC8C1"/>
                </a:solidFill>
              </a:rPr>
              <a:t>Héctor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Francisco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del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Valle</a:t>
            </a:r>
            <a:r>
              <a:rPr>
                <a:solidFill>
                  <a:srgbClr val="BBC8C1"/>
                </a:solidFill>
              </a:rPr>
              <a:t>	</a:t>
            </a:r>
            <a:fld id="{81D60167-4931-47E6-BA6A-407CBD079E47}" type="slidenum">
              <a:rPr spc="-20" dirty="0">
                <a:solidFill>
                  <a:srgbClr val="BBC8C1"/>
                </a:solidFill>
              </a:rPr>
              <a:t>‹Nº›</a:t>
            </a:fld>
            <a:r>
              <a:rPr spc="-20">
                <a:solidFill>
                  <a:srgbClr val="BBC8C1"/>
                </a:solidFill>
              </a:rPr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FB858122-9AE2-60F8-F046-BECE6AFB0C1B}"/>
              </a:ext>
            </a:extLst>
          </p:cNvPr>
          <p:cNvSpPr/>
          <p:nvPr/>
        </p:nvSpPr>
        <p:spPr>
          <a:xfrm>
            <a:off x="550164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Curso de posgrado · Esquel, Chubut · 14 al 19 de septiembre de 2026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FA2D3FC-17B3-1471-5BE6-7B4D5FC33195}"/>
              </a:ext>
            </a:extLst>
          </p:cNvPr>
          <p:cNvSpPr txBox="1"/>
          <p:nvPr/>
        </p:nvSpPr>
        <p:spPr>
          <a:xfrm>
            <a:off x="1624000" y="3276600"/>
            <a:ext cx="8944000" cy="269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ES" sz="1200" b="0" i="0" u="none" strike="noStrike" baseline="0">
              <a:solidFill>
                <a:srgbClr val="000000"/>
              </a:solidFill>
              <a:latin typeface="Arial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Héctor Francisco del Valle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Centro Regional de Geomática (CeReGeo), Facultad de Ciencia y Tecnología (FCyT)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Universidad Autónoma de Entre Ríos (UADER) 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Laboratorio de Ecología, Meteorología y Gestión de Fuegos (LEMIV)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Facultad de Ingeniería, Universidad Nacional de la Patagonia San Juan Bosco (UNPSJB) </a:t>
            </a:r>
          </a:p>
          <a:p>
            <a:pPr algn="ctr"/>
            <a:endParaRPr lang="es-MX" sz="1600" b="0" i="0" u="none" strike="noStrike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Correo Electrónico: </a:t>
            </a:r>
            <a:r>
              <a:rPr lang="es-MX" sz="1600" b="0" i="1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hfdelvalle@gmail.com </a:t>
            </a:r>
            <a:endParaRPr lang="es-ES" sz="16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F81142D-0558-B17B-DB94-BBF7C9AA1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10" y="147103"/>
            <a:ext cx="873551" cy="10440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485EA480-9992-83A6-E297-5035FDF78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885" y="453103"/>
            <a:ext cx="1941194" cy="432000"/>
          </a:xfrm>
          <a:prstGeom prst="rect">
            <a:avLst/>
          </a:prstGeom>
        </p:spPr>
      </p:pic>
      <p:pic>
        <p:nvPicPr>
          <p:cNvPr id="31" name="Gráfico 30" descr="Secretaría de Ciencia y Tecnología del Chubut">
            <a:extLst>
              <a:ext uri="{FF2B5EF4-FFF2-40B4-BE49-F238E27FC236}">
                <a16:creationId xmlns:a16="http://schemas.microsoft.com/office/drawing/2014/main" id="{570B5BB3-9090-F7A4-D52D-1C6C3D57B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2921" y="402478"/>
            <a:ext cx="2295000" cy="5332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00328527-EEA7-A2EF-7689-27D271026205}"/>
              </a:ext>
            </a:extLst>
          </p:cNvPr>
          <p:cNvSpPr txBox="1"/>
          <p:nvPr/>
        </p:nvSpPr>
        <p:spPr>
          <a:xfrm>
            <a:off x="1254000" y="2418943"/>
            <a:ext cx="9684000" cy="830225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es-E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Ice, Cloud and land Elevation Satellite‑2 (ICESat-2)</a:t>
            </a:r>
          </a:p>
          <a:p>
            <a:pPr algn="ctr"/>
            <a:r>
              <a:rPr lang="es-E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Topographic Laser Altimeter System (ATLAS)</a:t>
            </a: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21057DD6-89B2-D35D-0106-B908544AB4B7}"/>
              </a:ext>
            </a:extLst>
          </p:cNvPr>
          <p:cNvSpPr/>
          <p:nvPr/>
        </p:nvSpPr>
        <p:spPr>
          <a:xfrm>
            <a:off x="30000" y="1012828"/>
            <a:ext cx="12132000" cy="16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ES" sz="2200" b="1">
                <a:solidFill>
                  <a:srgbClr val="A9D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Modelos de Inteligencia Artificial Multisensor </a:t>
            </a:r>
            <a:endParaRPr lang="es-ES" sz="2200">
              <a:solidFill>
                <a:srgbClr val="A9D1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2200" b="1" i="1">
                <a:solidFill>
                  <a:srgbClr val="A9D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Estimación de Biomasa en Bosques Andinos y Pastizales </a:t>
            </a:r>
            <a:r>
              <a:rPr lang="es-ES" sz="2200" b="1" i="1">
                <a:solidFill>
                  <a:srgbClr val="A9D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del Ecotono Bosque-Estepa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Propósito</a:t>
            </a:r>
            <a:r>
              <a:rPr spc="-75"/>
              <a:t> </a:t>
            </a:r>
            <a:r>
              <a:t>y</a:t>
            </a:r>
            <a:r>
              <a:rPr spc="-75"/>
              <a:t> </a:t>
            </a:r>
            <a:r>
              <a:t>resultados</a:t>
            </a:r>
            <a:r>
              <a:rPr spc="-80"/>
              <a:t> </a:t>
            </a:r>
            <a:r>
              <a:t>de</a:t>
            </a:r>
            <a:r>
              <a:rPr spc="-75"/>
              <a:t> </a:t>
            </a:r>
            <a:r>
              <a:rPr spc="-10"/>
              <a:t>aprendizaje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4304" y="1157655"/>
            <a:ext cx="4253230" cy="474697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800" b="1">
                <a:solidFill>
                  <a:srgbClr val="1D4938"/>
                </a:solidFill>
                <a:latin typeface="Arial"/>
                <a:cs typeface="Arial"/>
              </a:rPr>
              <a:t>Al</a:t>
            </a:r>
            <a:r>
              <a:rPr lang="es-MX" sz="1800" b="1" spc="-3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00" b="1" spc="-10">
                <a:solidFill>
                  <a:srgbClr val="1D4938"/>
                </a:solidFill>
                <a:latin typeface="Arial"/>
                <a:cs typeface="Arial"/>
              </a:rPr>
              <a:t>finalizar,</a:t>
            </a:r>
            <a:r>
              <a:rPr lang="es-MX" sz="1800" b="1" spc="-30">
                <a:solidFill>
                  <a:srgbClr val="1D4938"/>
                </a:solidFill>
                <a:latin typeface="Arial"/>
                <a:cs typeface="Arial"/>
              </a:rPr>
              <a:t> se</a:t>
            </a:r>
            <a:r>
              <a:rPr lang="es-MX" sz="1800" b="1" spc="-2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D4938"/>
                </a:solidFill>
                <a:latin typeface="Arial"/>
                <a:cs typeface="Arial"/>
              </a:rPr>
              <a:t>debería</a:t>
            </a:r>
            <a:r>
              <a:rPr lang="es-MX" sz="1800" b="1" spc="-2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00" b="1" spc="-10">
                <a:solidFill>
                  <a:srgbClr val="1D4938"/>
                </a:solidFill>
                <a:latin typeface="Arial"/>
                <a:cs typeface="Arial"/>
              </a:rPr>
              <a:t>poder:</a:t>
            </a:r>
            <a:endParaRPr lang="es-MX"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2135" y="1659784"/>
            <a:ext cx="3575685" cy="1335405"/>
            <a:chOff x="562135" y="1659784"/>
            <a:chExt cx="3575685" cy="1335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7" name="object 7"/>
            <p:cNvSpPr/>
            <p:nvPr/>
          </p:nvSpPr>
          <p:spPr>
            <a:xfrm>
              <a:off x="566635" y="166428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60" h="1325880">
                  <a:moveTo>
                    <a:pt x="349272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52791"/>
                  </a:lnTo>
                  <a:lnTo>
                    <a:pt x="5418" y="1280532"/>
                  </a:lnTo>
                  <a:lnTo>
                    <a:pt x="5470" y="1280687"/>
                  </a:lnTo>
                  <a:lnTo>
                    <a:pt x="36360" y="1316151"/>
                  </a:lnTo>
                  <a:lnTo>
                    <a:pt x="73088" y="1325880"/>
                  </a:lnTo>
                  <a:lnTo>
                    <a:pt x="3493084" y="1325511"/>
                  </a:lnTo>
                  <a:lnTo>
                    <a:pt x="3537461" y="1310420"/>
                  </a:lnTo>
                  <a:lnTo>
                    <a:pt x="3560618" y="1280687"/>
                  </a:lnTo>
                  <a:lnTo>
                    <a:pt x="3560695" y="1280532"/>
                  </a:lnTo>
                  <a:lnTo>
                    <a:pt x="3563671" y="1271647"/>
                  </a:lnTo>
                  <a:lnTo>
                    <a:pt x="3563731" y="1271470"/>
                  </a:lnTo>
                  <a:lnTo>
                    <a:pt x="3565514" y="1262269"/>
                  </a:lnTo>
                  <a:lnTo>
                    <a:pt x="3565552" y="1262069"/>
                  </a:lnTo>
                  <a:lnTo>
                    <a:pt x="3566137" y="1252791"/>
                  </a:lnTo>
                  <a:lnTo>
                    <a:pt x="3566159" y="1252435"/>
                  </a:lnTo>
                  <a:lnTo>
                    <a:pt x="3565804" y="73075"/>
                  </a:lnTo>
                  <a:lnTo>
                    <a:pt x="3550705" y="28698"/>
                  </a:lnTo>
                  <a:lnTo>
                    <a:pt x="3511757" y="2428"/>
                  </a:lnTo>
                  <a:lnTo>
                    <a:pt x="3502360" y="607"/>
                  </a:lnTo>
                  <a:lnTo>
                    <a:pt x="349272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6635" y="166428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60" h="1325880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3492728" y="0"/>
                  </a:lnTo>
                  <a:lnTo>
                    <a:pt x="3537249" y="15096"/>
                  </a:lnTo>
                  <a:lnTo>
                    <a:pt x="3563375" y="54219"/>
                  </a:lnTo>
                  <a:lnTo>
                    <a:pt x="3565804" y="73075"/>
                  </a:lnTo>
                  <a:lnTo>
                    <a:pt x="3566159" y="1252435"/>
                  </a:lnTo>
                  <a:lnTo>
                    <a:pt x="3565552" y="1262069"/>
                  </a:lnTo>
                  <a:lnTo>
                    <a:pt x="3563731" y="1271470"/>
                  </a:lnTo>
                  <a:lnTo>
                    <a:pt x="3537461" y="1310420"/>
                  </a:lnTo>
                  <a:lnTo>
                    <a:pt x="3493084" y="1325511"/>
                  </a:lnTo>
                  <a:lnTo>
                    <a:pt x="73088" y="1325880"/>
                  </a:lnTo>
                  <a:lnTo>
                    <a:pt x="28555" y="1310770"/>
                  </a:lnTo>
                  <a:lnTo>
                    <a:pt x="2430" y="1271647"/>
                  </a:lnTo>
                  <a:lnTo>
                    <a:pt x="0" y="1252791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6884" y="186516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>
                  <a:moveTo>
                    <a:pt x="246951" y="0"/>
                  </a:moveTo>
                  <a:lnTo>
                    <a:pt x="183057" y="8459"/>
                  </a:lnTo>
                  <a:lnTo>
                    <a:pt x="123469" y="33121"/>
                  </a:lnTo>
                  <a:lnTo>
                    <a:pt x="72351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1" y="397316"/>
                  </a:lnTo>
                  <a:lnTo>
                    <a:pt x="96593" y="442833"/>
                  </a:lnTo>
                  <a:lnTo>
                    <a:pt x="152489" y="475082"/>
                  </a:lnTo>
                  <a:lnTo>
                    <a:pt x="214702" y="491778"/>
                  </a:lnTo>
                  <a:lnTo>
                    <a:pt x="246951" y="493915"/>
                  </a:lnTo>
                  <a:lnTo>
                    <a:pt x="279207" y="491778"/>
                  </a:lnTo>
                  <a:lnTo>
                    <a:pt x="341420" y="475082"/>
                  </a:lnTo>
                  <a:lnTo>
                    <a:pt x="397309" y="442833"/>
                  </a:lnTo>
                  <a:lnTo>
                    <a:pt x="442826" y="397316"/>
                  </a:lnTo>
                  <a:lnTo>
                    <a:pt x="475082" y="341420"/>
                  </a:lnTo>
                  <a:lnTo>
                    <a:pt x="491778" y="279213"/>
                  </a:lnTo>
                  <a:lnTo>
                    <a:pt x="493915" y="246964"/>
                  </a:lnTo>
                  <a:lnTo>
                    <a:pt x="491778" y="214707"/>
                  </a:lnTo>
                  <a:lnTo>
                    <a:pt x="475082" y="152495"/>
                  </a:lnTo>
                  <a:lnTo>
                    <a:pt x="442826" y="96606"/>
                  </a:lnTo>
                  <a:lnTo>
                    <a:pt x="397309" y="51089"/>
                  </a:lnTo>
                  <a:lnTo>
                    <a:pt x="341420" y="18832"/>
                  </a:lnTo>
                  <a:lnTo>
                    <a:pt x="279207" y="2137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51014" y="196081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5615" y="1834464"/>
            <a:ext cx="2494915" cy="138872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>
                <a:solidFill>
                  <a:schemeClr val="tx1"/>
                </a:solidFill>
                <a:latin typeface="Arial"/>
                <a:cs typeface="Arial"/>
              </a:rPr>
              <a:t>Distinguir</a:t>
            </a:r>
            <a:r>
              <a:rPr lang="es-MX" sz="1700" b="1" spc="-8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chemeClr val="tx1"/>
                </a:solidFill>
                <a:latin typeface="Arial"/>
                <a:cs typeface="Arial"/>
              </a:rPr>
              <a:t>niveles</a:t>
            </a:r>
            <a:endParaRPr lang="es-MX" sz="17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ts val="1410"/>
              </a:lnSpc>
              <a:spcBef>
                <a:spcPts val="1515"/>
              </a:spcBef>
            </a:pP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Separar</a:t>
            </a:r>
            <a:r>
              <a:rPr lang="es-MX" sz="130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con</a:t>
            </a:r>
            <a:r>
              <a:rPr lang="es-MX" sz="130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precisión</a:t>
            </a:r>
            <a:r>
              <a:rPr lang="es-MX" sz="130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30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misión ICESat-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2,</a:t>
            </a:r>
            <a:r>
              <a:rPr lang="es-MX" sz="13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s-MX" sz="13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instrumento</a:t>
            </a:r>
            <a:r>
              <a:rPr lang="es-MX" sz="1300" spc="-8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20">
                <a:solidFill>
                  <a:schemeClr val="tx1"/>
                </a:solidFill>
                <a:latin typeface="Arial"/>
                <a:cs typeface="Arial"/>
              </a:rPr>
              <a:t>ATLAS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50">
                <a:solidFill>
                  <a:schemeClr val="tx1"/>
                </a:solidFill>
                <a:latin typeface="Arial"/>
                <a:cs typeface="Arial"/>
              </a:rPr>
              <a:t>y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los</a:t>
            </a:r>
            <a:r>
              <a:rPr lang="es-MX" sz="13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productos</a:t>
            </a:r>
            <a:r>
              <a:rPr lang="es-MX" sz="1300" spc="-8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ATL03/ATL08.</a:t>
            </a:r>
            <a:endParaRPr lang="es-MX" sz="13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20180" y="1659784"/>
            <a:ext cx="3575685" cy="1335405"/>
            <a:chOff x="4320180" y="1659784"/>
            <a:chExt cx="3575685" cy="1335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" name="object 13"/>
            <p:cNvSpPr/>
            <p:nvPr/>
          </p:nvSpPr>
          <p:spPr>
            <a:xfrm>
              <a:off x="4324680" y="166428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59" h="1325880">
                  <a:moveTo>
                    <a:pt x="349271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52791"/>
                  </a:lnTo>
                  <a:lnTo>
                    <a:pt x="15098" y="1297169"/>
                  </a:lnTo>
                  <a:lnTo>
                    <a:pt x="54046" y="1323449"/>
                  </a:lnTo>
                  <a:lnTo>
                    <a:pt x="73075" y="1325880"/>
                  </a:lnTo>
                  <a:lnTo>
                    <a:pt x="3493084" y="1325511"/>
                  </a:lnTo>
                  <a:lnTo>
                    <a:pt x="3537454" y="1310420"/>
                  </a:lnTo>
                  <a:lnTo>
                    <a:pt x="3563671" y="1271647"/>
                  </a:lnTo>
                  <a:lnTo>
                    <a:pt x="3565514" y="1262269"/>
                  </a:lnTo>
                  <a:lnTo>
                    <a:pt x="3565552" y="1262069"/>
                  </a:lnTo>
                  <a:lnTo>
                    <a:pt x="3566137" y="1252791"/>
                  </a:lnTo>
                  <a:lnTo>
                    <a:pt x="3566160" y="1252435"/>
                  </a:lnTo>
                  <a:lnTo>
                    <a:pt x="3565804" y="73075"/>
                  </a:lnTo>
                  <a:lnTo>
                    <a:pt x="3550700" y="28698"/>
                  </a:lnTo>
                  <a:lnTo>
                    <a:pt x="3511756" y="2428"/>
                  </a:lnTo>
                  <a:lnTo>
                    <a:pt x="3502355" y="607"/>
                  </a:lnTo>
                  <a:lnTo>
                    <a:pt x="349271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24680" y="166428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59" h="13258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492715" y="0"/>
                  </a:lnTo>
                  <a:lnTo>
                    <a:pt x="3537248" y="15096"/>
                  </a:lnTo>
                  <a:lnTo>
                    <a:pt x="3563373" y="54219"/>
                  </a:lnTo>
                  <a:lnTo>
                    <a:pt x="3565804" y="73075"/>
                  </a:lnTo>
                  <a:lnTo>
                    <a:pt x="3566160" y="1252435"/>
                  </a:lnTo>
                  <a:lnTo>
                    <a:pt x="3565552" y="1262069"/>
                  </a:lnTo>
                  <a:lnTo>
                    <a:pt x="3563731" y="1271470"/>
                  </a:lnTo>
                  <a:lnTo>
                    <a:pt x="3537454" y="1310420"/>
                  </a:lnTo>
                  <a:lnTo>
                    <a:pt x="3493084" y="1325511"/>
                  </a:lnTo>
                  <a:lnTo>
                    <a:pt x="73075" y="1325880"/>
                  </a:lnTo>
                  <a:lnTo>
                    <a:pt x="28555" y="1310770"/>
                  </a:lnTo>
                  <a:lnTo>
                    <a:pt x="2428" y="1271647"/>
                  </a:lnTo>
                  <a:lnTo>
                    <a:pt x="0" y="1252791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34915" y="186516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9" y="397316"/>
                  </a:lnTo>
                  <a:lnTo>
                    <a:pt x="96606" y="442833"/>
                  </a:lnTo>
                  <a:lnTo>
                    <a:pt x="152495" y="475082"/>
                  </a:lnTo>
                  <a:lnTo>
                    <a:pt x="214707" y="491778"/>
                  </a:lnTo>
                  <a:lnTo>
                    <a:pt x="246964" y="493915"/>
                  </a:lnTo>
                  <a:lnTo>
                    <a:pt x="279220" y="491778"/>
                  </a:lnTo>
                  <a:lnTo>
                    <a:pt x="341433" y="475082"/>
                  </a:lnTo>
                  <a:lnTo>
                    <a:pt x="397322" y="442833"/>
                  </a:lnTo>
                  <a:lnTo>
                    <a:pt x="442839" y="397316"/>
                  </a:lnTo>
                  <a:lnTo>
                    <a:pt x="475095" y="341420"/>
                  </a:lnTo>
                  <a:lnTo>
                    <a:pt x="491791" y="279213"/>
                  </a:lnTo>
                  <a:lnTo>
                    <a:pt x="493928" y="246964"/>
                  </a:lnTo>
                  <a:lnTo>
                    <a:pt x="491791" y="214707"/>
                  </a:lnTo>
                  <a:lnTo>
                    <a:pt x="475095" y="152495"/>
                  </a:lnTo>
                  <a:lnTo>
                    <a:pt x="442839" y="96606"/>
                  </a:lnTo>
                  <a:lnTo>
                    <a:pt x="397322" y="51089"/>
                  </a:lnTo>
                  <a:lnTo>
                    <a:pt x="341433" y="18832"/>
                  </a:lnTo>
                  <a:lnTo>
                    <a:pt x="279220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09058" y="196081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53659" y="1834464"/>
            <a:ext cx="2321560" cy="100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>
                <a:solidFill>
                  <a:schemeClr val="tx1"/>
                </a:solidFill>
                <a:latin typeface="Arial"/>
                <a:cs typeface="Arial"/>
              </a:rPr>
              <a:t>Leer</a:t>
            </a:r>
            <a:r>
              <a:rPr lang="es-MX" sz="1700" b="1" spc="-10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chemeClr val="tx1"/>
                </a:solidFill>
                <a:latin typeface="Arial"/>
                <a:cs typeface="Arial"/>
              </a:rPr>
              <a:t>ATL08</a:t>
            </a:r>
            <a:endParaRPr lang="es-MX" sz="17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80000"/>
              </a:lnSpc>
              <a:spcBef>
                <a:spcPts val="1625"/>
              </a:spcBef>
            </a:pP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Interpretar</a:t>
            </a:r>
            <a:r>
              <a:rPr lang="es-MX" sz="140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 spc="-10" err="1">
                <a:solidFill>
                  <a:schemeClr val="tx1"/>
                </a:solidFill>
                <a:latin typeface="Arial"/>
                <a:cs typeface="Arial"/>
              </a:rPr>
              <a:t>h_canopy</a:t>
            </a:r>
            <a:r>
              <a:rPr lang="es-MX" sz="1400" spc="-1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s-MX" sz="1400" err="1">
                <a:solidFill>
                  <a:schemeClr val="tx1"/>
                </a:solidFill>
                <a:latin typeface="Arial"/>
                <a:cs typeface="Arial"/>
              </a:rPr>
              <a:t>h_max_canopy</a:t>
            </a:r>
            <a:r>
              <a:rPr lang="es-MX" sz="14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4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los </a:t>
            </a:r>
            <a:r>
              <a:rPr lang="es-MX" sz="1400" spc="-10">
                <a:solidFill>
                  <a:schemeClr val="tx1"/>
                </a:solidFill>
                <a:latin typeface="Arial"/>
                <a:cs typeface="Arial"/>
              </a:rPr>
              <a:t>campos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4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calidad</a:t>
            </a:r>
            <a:r>
              <a:rPr lang="es-MX" sz="14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4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4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versión</a:t>
            </a:r>
            <a:r>
              <a:rPr lang="es-MX" sz="14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 spc="-20">
                <a:solidFill>
                  <a:schemeClr val="tx1"/>
                </a:solidFill>
                <a:latin typeface="Arial"/>
                <a:cs typeface="Arial"/>
              </a:rPr>
              <a:t>007.</a:t>
            </a:r>
            <a:endParaRPr lang="es-MX" sz="14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078580" y="1659784"/>
            <a:ext cx="3575685" cy="1335405"/>
            <a:chOff x="8078580" y="1659784"/>
            <a:chExt cx="3575685" cy="1335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9" name="object 19"/>
            <p:cNvSpPr/>
            <p:nvPr/>
          </p:nvSpPr>
          <p:spPr>
            <a:xfrm>
              <a:off x="8083080" y="166428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59" h="1325880">
                  <a:moveTo>
                    <a:pt x="349271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52791"/>
                  </a:lnTo>
                  <a:lnTo>
                    <a:pt x="594" y="1262069"/>
                  </a:lnTo>
                  <a:lnTo>
                    <a:pt x="607" y="1262269"/>
                  </a:lnTo>
                  <a:lnTo>
                    <a:pt x="2394" y="1271470"/>
                  </a:lnTo>
                  <a:lnTo>
                    <a:pt x="2428" y="1271647"/>
                  </a:lnTo>
                  <a:lnTo>
                    <a:pt x="5412" y="1280532"/>
                  </a:lnTo>
                  <a:lnTo>
                    <a:pt x="5464" y="1280687"/>
                  </a:lnTo>
                  <a:lnTo>
                    <a:pt x="36360" y="1316151"/>
                  </a:lnTo>
                  <a:lnTo>
                    <a:pt x="73075" y="1325880"/>
                  </a:lnTo>
                  <a:lnTo>
                    <a:pt x="3493084" y="1325511"/>
                  </a:lnTo>
                  <a:lnTo>
                    <a:pt x="3537454" y="1310420"/>
                  </a:lnTo>
                  <a:lnTo>
                    <a:pt x="3563671" y="1271647"/>
                  </a:lnTo>
                  <a:lnTo>
                    <a:pt x="3565514" y="1262269"/>
                  </a:lnTo>
                  <a:lnTo>
                    <a:pt x="3565552" y="1262069"/>
                  </a:lnTo>
                  <a:lnTo>
                    <a:pt x="3566137" y="1252791"/>
                  </a:lnTo>
                  <a:lnTo>
                    <a:pt x="3566160" y="1252435"/>
                  </a:lnTo>
                  <a:lnTo>
                    <a:pt x="3565804" y="73075"/>
                  </a:lnTo>
                  <a:lnTo>
                    <a:pt x="3550700" y="28698"/>
                  </a:lnTo>
                  <a:lnTo>
                    <a:pt x="3511756" y="2428"/>
                  </a:lnTo>
                  <a:lnTo>
                    <a:pt x="3502355" y="607"/>
                  </a:lnTo>
                  <a:lnTo>
                    <a:pt x="349271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83080" y="166428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59" h="13258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492715" y="0"/>
                  </a:lnTo>
                  <a:lnTo>
                    <a:pt x="3537248" y="15096"/>
                  </a:lnTo>
                  <a:lnTo>
                    <a:pt x="3563373" y="54219"/>
                  </a:lnTo>
                  <a:lnTo>
                    <a:pt x="3565804" y="73075"/>
                  </a:lnTo>
                  <a:lnTo>
                    <a:pt x="3566160" y="1252435"/>
                  </a:lnTo>
                  <a:lnTo>
                    <a:pt x="3565552" y="1262069"/>
                  </a:lnTo>
                  <a:lnTo>
                    <a:pt x="3563731" y="1271470"/>
                  </a:lnTo>
                  <a:lnTo>
                    <a:pt x="3537454" y="1310420"/>
                  </a:lnTo>
                  <a:lnTo>
                    <a:pt x="3493084" y="1325511"/>
                  </a:lnTo>
                  <a:lnTo>
                    <a:pt x="73075" y="1325880"/>
                  </a:lnTo>
                  <a:lnTo>
                    <a:pt x="28555" y="1310770"/>
                  </a:lnTo>
                  <a:lnTo>
                    <a:pt x="2428" y="1271647"/>
                  </a:lnTo>
                  <a:lnTo>
                    <a:pt x="0" y="1252791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93316" y="186516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9" y="397316"/>
                  </a:lnTo>
                  <a:lnTo>
                    <a:pt x="96606" y="442833"/>
                  </a:lnTo>
                  <a:lnTo>
                    <a:pt x="152495" y="475082"/>
                  </a:lnTo>
                  <a:lnTo>
                    <a:pt x="214707" y="491778"/>
                  </a:lnTo>
                  <a:lnTo>
                    <a:pt x="246964" y="493915"/>
                  </a:lnTo>
                  <a:lnTo>
                    <a:pt x="279220" y="491778"/>
                  </a:lnTo>
                  <a:lnTo>
                    <a:pt x="341433" y="475082"/>
                  </a:lnTo>
                  <a:lnTo>
                    <a:pt x="397322" y="442833"/>
                  </a:lnTo>
                  <a:lnTo>
                    <a:pt x="442839" y="397316"/>
                  </a:lnTo>
                  <a:lnTo>
                    <a:pt x="475095" y="341420"/>
                  </a:lnTo>
                  <a:lnTo>
                    <a:pt x="491791" y="279213"/>
                  </a:lnTo>
                  <a:lnTo>
                    <a:pt x="493928" y="246964"/>
                  </a:lnTo>
                  <a:lnTo>
                    <a:pt x="491791" y="214707"/>
                  </a:lnTo>
                  <a:lnTo>
                    <a:pt x="475095" y="152495"/>
                  </a:lnTo>
                  <a:lnTo>
                    <a:pt x="442839" y="96606"/>
                  </a:lnTo>
                  <a:lnTo>
                    <a:pt x="397322" y="51089"/>
                  </a:lnTo>
                  <a:lnTo>
                    <a:pt x="341433" y="18832"/>
                  </a:lnTo>
                  <a:lnTo>
                    <a:pt x="279220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67458" y="196081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11704" y="1834108"/>
            <a:ext cx="2534285" cy="402755"/>
          </a:xfrm>
          <a:prstGeom prst="rect">
            <a:avLst/>
          </a:prstGeom>
        </p:spPr>
        <p:txBody>
          <a:bodyPr vert="horz" wrap="square" lIns="0" tIns="1206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b="1">
                <a:solidFill>
                  <a:srgbClr val="1F2F28"/>
                </a:solidFill>
                <a:latin typeface="Arial"/>
                <a:cs typeface="Arial"/>
              </a:rPr>
              <a:t>Inferir</a:t>
            </a:r>
            <a:r>
              <a:rPr lang="es-ES" sz="160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600" b="1">
                <a:solidFill>
                  <a:srgbClr val="1F2F28"/>
                </a:solidFill>
                <a:latin typeface="Arial"/>
                <a:cs typeface="Arial"/>
              </a:rPr>
              <a:t>sin</a:t>
            </a:r>
            <a:r>
              <a:rPr lang="es-ES" sz="160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600" b="1" spc="-10">
                <a:solidFill>
                  <a:srgbClr val="1F2F28"/>
                </a:solidFill>
                <a:latin typeface="Arial"/>
                <a:cs typeface="Arial"/>
              </a:rPr>
              <a:t>pseudorreplicar</a:t>
            </a:r>
            <a:endParaRPr lang="es-ES"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11704" y="2264295"/>
            <a:ext cx="2424430" cy="5810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410"/>
              </a:lnSpc>
              <a:spcBef>
                <a:spcPts val="270"/>
              </a:spcBef>
            </a:pP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Usar</a:t>
            </a:r>
            <a:r>
              <a:rPr lang="es-MX" sz="130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s-MX" sz="130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gránulo</a:t>
            </a:r>
            <a:r>
              <a:rPr lang="es-MX" sz="1300" spc="-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como</a:t>
            </a:r>
            <a:r>
              <a:rPr lang="es-MX" sz="130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unidad</a:t>
            </a:r>
            <a:r>
              <a:rPr lang="es-MX" sz="130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25">
                <a:solidFill>
                  <a:schemeClr val="tx1"/>
                </a:solidFill>
                <a:latin typeface="Arial"/>
                <a:cs typeface="Arial"/>
              </a:rPr>
              <a:t>de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contraste</a:t>
            </a:r>
            <a:r>
              <a:rPr lang="es-MX" sz="130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30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reconocer</a:t>
            </a:r>
            <a:r>
              <a:rPr lang="es-MX" sz="130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s-MX" sz="130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carácter observacional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del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 estudio.</a:t>
            </a:r>
            <a:endParaRPr lang="es-MX" sz="13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62135" y="3250624"/>
            <a:ext cx="3575685" cy="1335405"/>
            <a:chOff x="562135" y="3250624"/>
            <a:chExt cx="3575685" cy="1335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6" name="object 26"/>
            <p:cNvSpPr/>
            <p:nvPr/>
          </p:nvSpPr>
          <p:spPr>
            <a:xfrm>
              <a:off x="566635" y="325512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60" h="1325879">
                  <a:moveTo>
                    <a:pt x="349272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52791"/>
                  </a:lnTo>
                  <a:lnTo>
                    <a:pt x="594" y="1262069"/>
                  </a:lnTo>
                  <a:lnTo>
                    <a:pt x="607" y="1262269"/>
                  </a:lnTo>
                  <a:lnTo>
                    <a:pt x="2395" y="1271470"/>
                  </a:lnTo>
                  <a:lnTo>
                    <a:pt x="2430" y="1271647"/>
                  </a:lnTo>
                  <a:lnTo>
                    <a:pt x="5418" y="1280532"/>
                  </a:lnTo>
                  <a:lnTo>
                    <a:pt x="5470" y="1280687"/>
                  </a:lnTo>
                  <a:lnTo>
                    <a:pt x="36360" y="1316151"/>
                  </a:lnTo>
                  <a:lnTo>
                    <a:pt x="73088" y="1325879"/>
                  </a:lnTo>
                  <a:lnTo>
                    <a:pt x="3493084" y="1325511"/>
                  </a:lnTo>
                  <a:lnTo>
                    <a:pt x="3537461" y="1310420"/>
                  </a:lnTo>
                  <a:lnTo>
                    <a:pt x="3563671" y="1271647"/>
                  </a:lnTo>
                  <a:lnTo>
                    <a:pt x="3563731" y="1271470"/>
                  </a:lnTo>
                  <a:lnTo>
                    <a:pt x="3565514" y="1262269"/>
                  </a:lnTo>
                  <a:lnTo>
                    <a:pt x="3565552" y="1262069"/>
                  </a:lnTo>
                  <a:lnTo>
                    <a:pt x="3566137" y="1252791"/>
                  </a:lnTo>
                  <a:lnTo>
                    <a:pt x="3566159" y="1252435"/>
                  </a:lnTo>
                  <a:lnTo>
                    <a:pt x="3565804" y="73075"/>
                  </a:lnTo>
                  <a:lnTo>
                    <a:pt x="3550705" y="28698"/>
                  </a:lnTo>
                  <a:lnTo>
                    <a:pt x="3511757" y="2428"/>
                  </a:lnTo>
                  <a:lnTo>
                    <a:pt x="3502360" y="607"/>
                  </a:lnTo>
                  <a:lnTo>
                    <a:pt x="349272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6635" y="325512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60" h="132587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3492728" y="0"/>
                  </a:lnTo>
                  <a:lnTo>
                    <a:pt x="3537249" y="15096"/>
                  </a:lnTo>
                  <a:lnTo>
                    <a:pt x="3563375" y="54219"/>
                  </a:lnTo>
                  <a:lnTo>
                    <a:pt x="3565804" y="73075"/>
                  </a:lnTo>
                  <a:lnTo>
                    <a:pt x="3566159" y="1252435"/>
                  </a:lnTo>
                  <a:lnTo>
                    <a:pt x="3565552" y="1262069"/>
                  </a:lnTo>
                  <a:lnTo>
                    <a:pt x="3563731" y="1271470"/>
                  </a:lnTo>
                  <a:lnTo>
                    <a:pt x="3537461" y="1310420"/>
                  </a:lnTo>
                  <a:lnTo>
                    <a:pt x="3493084" y="1325511"/>
                  </a:lnTo>
                  <a:lnTo>
                    <a:pt x="73088" y="1325879"/>
                  </a:lnTo>
                  <a:lnTo>
                    <a:pt x="28555" y="1310770"/>
                  </a:lnTo>
                  <a:lnTo>
                    <a:pt x="2430" y="1271647"/>
                  </a:lnTo>
                  <a:lnTo>
                    <a:pt x="0" y="1252791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6884" y="345600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246951" y="0"/>
                  </a:moveTo>
                  <a:lnTo>
                    <a:pt x="183057" y="8459"/>
                  </a:lnTo>
                  <a:lnTo>
                    <a:pt x="123469" y="33121"/>
                  </a:lnTo>
                  <a:lnTo>
                    <a:pt x="72351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1" y="397316"/>
                  </a:lnTo>
                  <a:lnTo>
                    <a:pt x="96593" y="442833"/>
                  </a:lnTo>
                  <a:lnTo>
                    <a:pt x="152489" y="475082"/>
                  </a:lnTo>
                  <a:lnTo>
                    <a:pt x="214702" y="491778"/>
                  </a:lnTo>
                  <a:lnTo>
                    <a:pt x="246951" y="493915"/>
                  </a:lnTo>
                  <a:lnTo>
                    <a:pt x="279207" y="491778"/>
                  </a:lnTo>
                  <a:lnTo>
                    <a:pt x="341420" y="475082"/>
                  </a:lnTo>
                  <a:lnTo>
                    <a:pt x="397309" y="442833"/>
                  </a:lnTo>
                  <a:lnTo>
                    <a:pt x="442826" y="397316"/>
                  </a:lnTo>
                  <a:lnTo>
                    <a:pt x="475082" y="341420"/>
                  </a:lnTo>
                  <a:lnTo>
                    <a:pt x="491778" y="279213"/>
                  </a:lnTo>
                  <a:lnTo>
                    <a:pt x="493915" y="246964"/>
                  </a:lnTo>
                  <a:lnTo>
                    <a:pt x="491778" y="214707"/>
                  </a:lnTo>
                  <a:lnTo>
                    <a:pt x="475082" y="152495"/>
                  </a:lnTo>
                  <a:lnTo>
                    <a:pt x="442826" y="96606"/>
                  </a:lnTo>
                  <a:lnTo>
                    <a:pt x="397309" y="51089"/>
                  </a:lnTo>
                  <a:lnTo>
                    <a:pt x="341420" y="18832"/>
                  </a:lnTo>
                  <a:lnTo>
                    <a:pt x="279207" y="2137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51014" y="355201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95615" y="3425304"/>
            <a:ext cx="2488565" cy="1507524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MX" sz="1700" b="1">
                <a:solidFill>
                  <a:schemeClr val="tx1"/>
                </a:solidFill>
                <a:latin typeface="Arial"/>
                <a:cs typeface="Arial"/>
              </a:rPr>
              <a:t>Evaluar</a:t>
            </a:r>
            <a:r>
              <a:rPr lang="es-MX" sz="1700" b="1" spc="-8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chemeClr val="tx1"/>
                </a:solidFill>
                <a:latin typeface="Arial"/>
                <a:cs typeface="Arial"/>
              </a:rPr>
              <a:t>sensibilidad</a:t>
            </a:r>
            <a:endParaRPr lang="es-MX" sz="17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ts val="1410"/>
              </a:lnSpc>
              <a:spcBef>
                <a:spcPts val="1515"/>
              </a:spcBef>
            </a:pP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Diferenciar</a:t>
            </a:r>
            <a:r>
              <a:rPr lang="es-MX" sz="130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s-MX" sz="130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análisis</a:t>
            </a:r>
            <a:r>
              <a:rPr lang="es-MX" sz="130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operacional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3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submuestra conservadora</a:t>
            </a:r>
            <a:r>
              <a:rPr lang="es-MX" sz="13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50">
                <a:solidFill>
                  <a:schemeClr val="tx1"/>
                </a:solidFill>
                <a:latin typeface="Arial"/>
                <a:cs typeface="Arial"/>
              </a:rPr>
              <a:t>y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su</a:t>
            </a:r>
            <a:r>
              <a:rPr lang="es-MX" sz="13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sesgo</a:t>
            </a:r>
            <a:r>
              <a:rPr lang="es-MX" sz="13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3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selección.</a:t>
            </a:r>
            <a:endParaRPr lang="es-MX" sz="13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320180" y="3250624"/>
            <a:ext cx="3575685" cy="1335405"/>
            <a:chOff x="4320180" y="3250624"/>
            <a:chExt cx="3575685" cy="1335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2" name="object 32"/>
            <p:cNvSpPr/>
            <p:nvPr/>
          </p:nvSpPr>
          <p:spPr>
            <a:xfrm>
              <a:off x="4324680" y="325512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59" h="1325879">
                  <a:moveTo>
                    <a:pt x="349271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52791"/>
                  </a:lnTo>
                  <a:lnTo>
                    <a:pt x="5412" y="1280532"/>
                  </a:lnTo>
                  <a:lnTo>
                    <a:pt x="5464" y="1280687"/>
                  </a:lnTo>
                  <a:lnTo>
                    <a:pt x="36360" y="1316151"/>
                  </a:lnTo>
                  <a:lnTo>
                    <a:pt x="73075" y="1325879"/>
                  </a:lnTo>
                  <a:lnTo>
                    <a:pt x="3493084" y="1325511"/>
                  </a:lnTo>
                  <a:lnTo>
                    <a:pt x="3537454" y="1310420"/>
                  </a:lnTo>
                  <a:lnTo>
                    <a:pt x="3563671" y="1271647"/>
                  </a:lnTo>
                  <a:lnTo>
                    <a:pt x="3566137" y="1252791"/>
                  </a:lnTo>
                  <a:lnTo>
                    <a:pt x="3566160" y="1252435"/>
                  </a:lnTo>
                  <a:lnTo>
                    <a:pt x="3565804" y="73075"/>
                  </a:lnTo>
                  <a:lnTo>
                    <a:pt x="3550700" y="28698"/>
                  </a:lnTo>
                  <a:lnTo>
                    <a:pt x="3511756" y="2428"/>
                  </a:lnTo>
                  <a:lnTo>
                    <a:pt x="3502355" y="607"/>
                  </a:lnTo>
                  <a:lnTo>
                    <a:pt x="349271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24680" y="325512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59" h="13258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492715" y="0"/>
                  </a:lnTo>
                  <a:lnTo>
                    <a:pt x="3537248" y="15096"/>
                  </a:lnTo>
                  <a:lnTo>
                    <a:pt x="3563373" y="54219"/>
                  </a:lnTo>
                  <a:lnTo>
                    <a:pt x="3565804" y="73075"/>
                  </a:lnTo>
                  <a:lnTo>
                    <a:pt x="3566160" y="1252435"/>
                  </a:lnTo>
                  <a:lnTo>
                    <a:pt x="3565552" y="1262069"/>
                  </a:lnTo>
                  <a:lnTo>
                    <a:pt x="3563731" y="1271470"/>
                  </a:lnTo>
                  <a:lnTo>
                    <a:pt x="3537454" y="1310420"/>
                  </a:lnTo>
                  <a:lnTo>
                    <a:pt x="3493084" y="1325511"/>
                  </a:lnTo>
                  <a:lnTo>
                    <a:pt x="73075" y="1325879"/>
                  </a:lnTo>
                  <a:lnTo>
                    <a:pt x="28555" y="1310770"/>
                  </a:lnTo>
                  <a:lnTo>
                    <a:pt x="2428" y="1271647"/>
                  </a:lnTo>
                  <a:lnTo>
                    <a:pt x="0" y="1252791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34915" y="345600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9" y="397316"/>
                  </a:lnTo>
                  <a:lnTo>
                    <a:pt x="96606" y="442833"/>
                  </a:lnTo>
                  <a:lnTo>
                    <a:pt x="152495" y="475082"/>
                  </a:lnTo>
                  <a:lnTo>
                    <a:pt x="214707" y="491778"/>
                  </a:lnTo>
                  <a:lnTo>
                    <a:pt x="246964" y="493915"/>
                  </a:lnTo>
                  <a:lnTo>
                    <a:pt x="279220" y="491778"/>
                  </a:lnTo>
                  <a:lnTo>
                    <a:pt x="341433" y="475082"/>
                  </a:lnTo>
                  <a:lnTo>
                    <a:pt x="397322" y="442833"/>
                  </a:lnTo>
                  <a:lnTo>
                    <a:pt x="442839" y="397316"/>
                  </a:lnTo>
                  <a:lnTo>
                    <a:pt x="475095" y="341420"/>
                  </a:lnTo>
                  <a:lnTo>
                    <a:pt x="491791" y="279213"/>
                  </a:lnTo>
                  <a:lnTo>
                    <a:pt x="493928" y="246964"/>
                  </a:lnTo>
                  <a:lnTo>
                    <a:pt x="491791" y="214707"/>
                  </a:lnTo>
                  <a:lnTo>
                    <a:pt x="475095" y="152495"/>
                  </a:lnTo>
                  <a:lnTo>
                    <a:pt x="442839" y="96606"/>
                  </a:lnTo>
                  <a:lnTo>
                    <a:pt x="397322" y="51089"/>
                  </a:lnTo>
                  <a:lnTo>
                    <a:pt x="341433" y="18832"/>
                  </a:lnTo>
                  <a:lnTo>
                    <a:pt x="279220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2E6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709058" y="355201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53659" y="3425304"/>
            <a:ext cx="2300605" cy="100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>
                <a:solidFill>
                  <a:schemeClr val="tx1"/>
                </a:solidFill>
                <a:latin typeface="Arial"/>
                <a:cs typeface="Arial"/>
              </a:rPr>
              <a:t>Integrar</a:t>
            </a:r>
            <a:r>
              <a:rPr lang="es-MX" sz="1700" b="1" spc="-6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chemeClr val="tx1"/>
                </a:solidFill>
                <a:latin typeface="Arial"/>
                <a:cs typeface="Arial"/>
              </a:rPr>
              <a:t>sensores</a:t>
            </a:r>
            <a:endParaRPr lang="es-MX" sz="17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80000"/>
              </a:lnSpc>
              <a:spcBef>
                <a:spcPts val="1625"/>
              </a:spcBef>
            </a:pP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Articular</a:t>
            </a:r>
            <a:r>
              <a:rPr lang="es-MX" sz="1400" spc="-1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 spc="-10">
                <a:solidFill>
                  <a:schemeClr val="tx1"/>
                </a:solidFill>
                <a:latin typeface="Arial"/>
                <a:cs typeface="Arial"/>
              </a:rPr>
              <a:t>ATL08</a:t>
            </a:r>
            <a:r>
              <a:rPr lang="es-MX" sz="140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con</a:t>
            </a:r>
            <a:r>
              <a:rPr lang="es-MX" sz="14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 spc="-20">
                <a:solidFill>
                  <a:schemeClr val="tx1"/>
                </a:solidFill>
                <a:latin typeface="Arial"/>
                <a:cs typeface="Arial"/>
              </a:rPr>
              <a:t>GEDI,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SAR,</a:t>
            </a:r>
            <a:r>
              <a:rPr lang="es-MX" sz="14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óptico</a:t>
            </a:r>
            <a:r>
              <a:rPr lang="es-MX" sz="14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4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EE0000"/>
                </a:solidFill>
                <a:latin typeface="Arial"/>
                <a:cs typeface="Arial"/>
              </a:rPr>
              <a:t>mediciones</a:t>
            </a:r>
            <a:r>
              <a:rPr lang="es-MX" sz="1400" spc="-15">
                <a:solidFill>
                  <a:srgbClr val="EE0000"/>
                </a:solidFill>
                <a:latin typeface="Arial"/>
                <a:cs typeface="Arial"/>
              </a:rPr>
              <a:t> </a:t>
            </a:r>
            <a:r>
              <a:rPr lang="es-MX" sz="1400" spc="-25">
                <a:solidFill>
                  <a:srgbClr val="EE0000"/>
                </a:solidFill>
                <a:latin typeface="Arial"/>
                <a:cs typeface="Arial"/>
              </a:rPr>
              <a:t>de </a:t>
            </a:r>
            <a:r>
              <a:rPr lang="es-MX" sz="1400">
                <a:solidFill>
                  <a:srgbClr val="EE0000"/>
                </a:solidFill>
                <a:latin typeface="Arial"/>
                <a:cs typeface="Arial"/>
              </a:rPr>
              <a:t>campo</a:t>
            </a:r>
            <a:r>
              <a:rPr lang="es-MX" sz="1400" spc="-10">
                <a:solidFill>
                  <a:srgbClr val="EE0000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EE0000"/>
                </a:solidFill>
                <a:latin typeface="Arial"/>
                <a:cs typeface="Arial"/>
              </a:rPr>
              <a:t>para</a:t>
            </a:r>
            <a:r>
              <a:rPr lang="es-MX" sz="1400" spc="-10">
                <a:solidFill>
                  <a:srgbClr val="EE0000"/>
                </a:solidFill>
                <a:latin typeface="Arial"/>
                <a:cs typeface="Arial"/>
              </a:rPr>
              <a:t> biomasa.</a:t>
            </a:r>
            <a:endParaRPr lang="es-MX" sz="1400">
              <a:solidFill>
                <a:srgbClr val="EE0000"/>
              </a:solidFill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078580" y="3250624"/>
            <a:ext cx="3575685" cy="1335405"/>
            <a:chOff x="8078580" y="3250624"/>
            <a:chExt cx="3575685" cy="1335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8" name="object 38"/>
            <p:cNvSpPr/>
            <p:nvPr/>
          </p:nvSpPr>
          <p:spPr>
            <a:xfrm>
              <a:off x="8083080" y="325512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59" h="1325879">
                  <a:moveTo>
                    <a:pt x="349271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52791"/>
                  </a:lnTo>
                  <a:lnTo>
                    <a:pt x="594" y="1262069"/>
                  </a:lnTo>
                  <a:lnTo>
                    <a:pt x="607" y="1262269"/>
                  </a:lnTo>
                  <a:lnTo>
                    <a:pt x="2394" y="1271470"/>
                  </a:lnTo>
                  <a:lnTo>
                    <a:pt x="2428" y="1271647"/>
                  </a:lnTo>
                  <a:lnTo>
                    <a:pt x="5412" y="1280532"/>
                  </a:lnTo>
                  <a:lnTo>
                    <a:pt x="5464" y="1280687"/>
                  </a:lnTo>
                  <a:lnTo>
                    <a:pt x="36360" y="1316151"/>
                  </a:lnTo>
                  <a:lnTo>
                    <a:pt x="73075" y="1325879"/>
                  </a:lnTo>
                  <a:lnTo>
                    <a:pt x="3493084" y="1325511"/>
                  </a:lnTo>
                  <a:lnTo>
                    <a:pt x="3537454" y="1310420"/>
                  </a:lnTo>
                  <a:lnTo>
                    <a:pt x="3563671" y="1271647"/>
                  </a:lnTo>
                  <a:lnTo>
                    <a:pt x="3566137" y="1252791"/>
                  </a:lnTo>
                  <a:lnTo>
                    <a:pt x="3566160" y="1252435"/>
                  </a:lnTo>
                  <a:lnTo>
                    <a:pt x="3565804" y="73075"/>
                  </a:lnTo>
                  <a:lnTo>
                    <a:pt x="3550700" y="28698"/>
                  </a:lnTo>
                  <a:lnTo>
                    <a:pt x="3511756" y="2428"/>
                  </a:lnTo>
                  <a:lnTo>
                    <a:pt x="3502355" y="607"/>
                  </a:lnTo>
                  <a:lnTo>
                    <a:pt x="349271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83080" y="3255124"/>
              <a:ext cx="3566160" cy="1325880"/>
            </a:xfrm>
            <a:custGeom>
              <a:avLst/>
              <a:gdLst/>
              <a:ahLst/>
              <a:cxnLst/>
              <a:rect l="l" t="t" r="r" b="b"/>
              <a:pathLst>
                <a:path w="3566159" h="13258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492715" y="0"/>
                  </a:lnTo>
                  <a:lnTo>
                    <a:pt x="3537248" y="15096"/>
                  </a:lnTo>
                  <a:lnTo>
                    <a:pt x="3563373" y="54219"/>
                  </a:lnTo>
                  <a:lnTo>
                    <a:pt x="3565804" y="73075"/>
                  </a:lnTo>
                  <a:lnTo>
                    <a:pt x="3566160" y="1252435"/>
                  </a:lnTo>
                  <a:lnTo>
                    <a:pt x="3565552" y="1262069"/>
                  </a:lnTo>
                  <a:lnTo>
                    <a:pt x="3563731" y="1271470"/>
                  </a:lnTo>
                  <a:lnTo>
                    <a:pt x="3537454" y="1310420"/>
                  </a:lnTo>
                  <a:lnTo>
                    <a:pt x="3493084" y="1325511"/>
                  </a:lnTo>
                  <a:lnTo>
                    <a:pt x="73075" y="1325879"/>
                  </a:lnTo>
                  <a:lnTo>
                    <a:pt x="28555" y="1310770"/>
                  </a:lnTo>
                  <a:lnTo>
                    <a:pt x="2428" y="1271647"/>
                  </a:lnTo>
                  <a:lnTo>
                    <a:pt x="0" y="1252791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293316" y="345600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9" y="397316"/>
                  </a:lnTo>
                  <a:lnTo>
                    <a:pt x="96606" y="442833"/>
                  </a:lnTo>
                  <a:lnTo>
                    <a:pt x="152495" y="475082"/>
                  </a:lnTo>
                  <a:lnTo>
                    <a:pt x="214707" y="491778"/>
                  </a:lnTo>
                  <a:lnTo>
                    <a:pt x="246964" y="493915"/>
                  </a:lnTo>
                  <a:lnTo>
                    <a:pt x="279220" y="491778"/>
                  </a:lnTo>
                  <a:lnTo>
                    <a:pt x="341433" y="475082"/>
                  </a:lnTo>
                  <a:lnTo>
                    <a:pt x="397322" y="442833"/>
                  </a:lnTo>
                  <a:lnTo>
                    <a:pt x="442839" y="397316"/>
                  </a:lnTo>
                  <a:lnTo>
                    <a:pt x="475095" y="341420"/>
                  </a:lnTo>
                  <a:lnTo>
                    <a:pt x="491791" y="279213"/>
                  </a:lnTo>
                  <a:lnTo>
                    <a:pt x="493928" y="246964"/>
                  </a:lnTo>
                  <a:lnTo>
                    <a:pt x="491791" y="214707"/>
                  </a:lnTo>
                  <a:lnTo>
                    <a:pt x="475095" y="152495"/>
                  </a:lnTo>
                  <a:lnTo>
                    <a:pt x="442839" y="96606"/>
                  </a:lnTo>
                  <a:lnTo>
                    <a:pt x="397322" y="51089"/>
                  </a:lnTo>
                  <a:lnTo>
                    <a:pt x="341433" y="18832"/>
                  </a:lnTo>
                  <a:lnTo>
                    <a:pt x="279220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3C69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467458" y="355201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911704" y="3425304"/>
            <a:ext cx="2378075" cy="1507524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>
                <a:solidFill>
                  <a:schemeClr val="tx1"/>
                </a:solidFill>
                <a:latin typeface="Arial"/>
                <a:cs typeface="Arial"/>
              </a:rPr>
              <a:t>Diseñar</a:t>
            </a:r>
            <a:r>
              <a:rPr lang="es-MX" sz="1700" b="1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chemeClr val="tx1"/>
                </a:solidFill>
                <a:latin typeface="Arial"/>
                <a:cs typeface="Arial"/>
              </a:rPr>
              <a:t>una</a:t>
            </a:r>
            <a:r>
              <a:rPr lang="es-MX" sz="1700" b="1" spc="-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chemeClr val="tx1"/>
                </a:solidFill>
                <a:latin typeface="Arial"/>
                <a:cs typeface="Arial"/>
              </a:rPr>
              <a:t>validación</a:t>
            </a:r>
            <a:endParaRPr lang="es-MX" sz="17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130810">
              <a:lnSpc>
                <a:spcPct val="80000"/>
              </a:lnSpc>
              <a:spcBef>
                <a:spcPts val="1625"/>
              </a:spcBef>
            </a:pP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Formular</a:t>
            </a:r>
            <a:r>
              <a:rPr lang="es-MX" sz="14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comparaciones</a:t>
            </a:r>
            <a:r>
              <a:rPr lang="es-MX" sz="14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 spc="-25">
                <a:solidFill>
                  <a:schemeClr val="tx1"/>
                </a:solidFill>
                <a:latin typeface="Arial"/>
                <a:cs typeface="Arial"/>
              </a:rPr>
              <a:t>de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incendio</a:t>
            </a:r>
            <a:r>
              <a:rPr lang="es-MX" sz="14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 spc="-10">
                <a:solidFill>
                  <a:schemeClr val="tx1"/>
                </a:solidFill>
                <a:latin typeface="Arial"/>
                <a:cs typeface="Arial"/>
              </a:rPr>
              <a:t>espacialmente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controladas</a:t>
            </a:r>
            <a:r>
              <a:rPr lang="es-MX" sz="14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4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400" spc="-10">
                <a:solidFill>
                  <a:schemeClr val="tx1"/>
                </a:solidFill>
                <a:latin typeface="Arial"/>
                <a:cs typeface="Arial"/>
              </a:rPr>
              <a:t>reproducibles.</a:t>
            </a:r>
            <a:endParaRPr lang="es-MX" sz="14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62135" y="4960260"/>
            <a:ext cx="11092180" cy="905510"/>
            <a:chOff x="562135" y="4960260"/>
            <a:chExt cx="11092180" cy="90551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4" name="object 44"/>
            <p:cNvSpPr/>
            <p:nvPr/>
          </p:nvSpPr>
          <p:spPr>
            <a:xfrm>
              <a:off x="566635" y="4964760"/>
              <a:ext cx="11083290" cy="896619"/>
            </a:xfrm>
            <a:custGeom>
              <a:avLst/>
              <a:gdLst/>
              <a:ahLst/>
              <a:cxnLst/>
              <a:rect l="l" t="t" r="r" b="b"/>
              <a:pathLst>
                <a:path w="11083290" h="896620">
                  <a:moveTo>
                    <a:pt x="64439" y="0"/>
                  </a:moveTo>
                  <a:lnTo>
                    <a:pt x="25408" y="13357"/>
                  </a:lnTo>
                  <a:lnTo>
                    <a:pt x="2524" y="47520"/>
                  </a:lnTo>
                  <a:lnTo>
                    <a:pt x="0" y="832319"/>
                  </a:lnTo>
                  <a:lnTo>
                    <a:pt x="540" y="840667"/>
                  </a:lnTo>
                  <a:lnTo>
                    <a:pt x="18743" y="877544"/>
                  </a:lnTo>
                  <a:lnTo>
                    <a:pt x="55736" y="895863"/>
                  </a:lnTo>
                  <a:lnTo>
                    <a:pt x="64084" y="896404"/>
                  </a:lnTo>
                  <a:lnTo>
                    <a:pt x="11018888" y="896404"/>
                  </a:lnTo>
                  <a:lnTo>
                    <a:pt x="11057925" y="883039"/>
                  </a:lnTo>
                  <a:lnTo>
                    <a:pt x="11080803" y="848879"/>
                  </a:lnTo>
                  <a:lnTo>
                    <a:pt x="11082959" y="832319"/>
                  </a:lnTo>
                  <a:lnTo>
                    <a:pt x="11082936" y="64084"/>
                  </a:lnTo>
                  <a:lnTo>
                    <a:pt x="11069602" y="25402"/>
                  </a:lnTo>
                  <a:lnTo>
                    <a:pt x="11035442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CE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6635" y="4964760"/>
              <a:ext cx="11083290" cy="896619"/>
            </a:xfrm>
            <a:custGeom>
              <a:avLst/>
              <a:gdLst/>
              <a:ahLst/>
              <a:cxnLst/>
              <a:rect l="l" t="t" r="r" b="b"/>
              <a:pathLst>
                <a:path w="11083290" h="896620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1018888" y="355"/>
                  </a:lnTo>
                  <a:lnTo>
                    <a:pt x="11057873" y="13570"/>
                  </a:lnTo>
                  <a:lnTo>
                    <a:pt x="11080803" y="47880"/>
                  </a:lnTo>
                  <a:lnTo>
                    <a:pt x="11082959" y="64439"/>
                  </a:lnTo>
                  <a:lnTo>
                    <a:pt x="11082959" y="832319"/>
                  </a:lnTo>
                  <a:lnTo>
                    <a:pt x="11082421" y="840667"/>
                  </a:lnTo>
                  <a:lnTo>
                    <a:pt x="11080803" y="848879"/>
                  </a:lnTo>
                  <a:lnTo>
                    <a:pt x="11057925" y="883039"/>
                  </a:lnTo>
                  <a:lnTo>
                    <a:pt x="11018888" y="896404"/>
                  </a:lnTo>
                  <a:lnTo>
                    <a:pt x="64084" y="896404"/>
                  </a:lnTo>
                  <a:lnTo>
                    <a:pt x="25097" y="883189"/>
                  </a:lnTo>
                  <a:lnTo>
                    <a:pt x="2162" y="848879"/>
                  </a:lnTo>
                  <a:lnTo>
                    <a:pt x="0" y="832319"/>
                  </a:lnTo>
                  <a:lnTo>
                    <a:pt x="368" y="64084"/>
                  </a:lnTo>
                  <a:close/>
                </a:path>
              </a:pathLst>
            </a:custGeom>
            <a:ln w="89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7004" y="4965115"/>
              <a:ext cx="82550" cy="895985"/>
            </a:xfrm>
            <a:custGeom>
              <a:avLst/>
              <a:gdLst/>
              <a:ahLst/>
              <a:cxnLst/>
              <a:rect l="l" t="t" r="r" b="b"/>
              <a:pathLst>
                <a:path w="82550" h="895985">
                  <a:moveTo>
                    <a:pt x="8208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1033" y="895680"/>
                  </a:lnTo>
                  <a:lnTo>
                    <a:pt x="82080" y="89568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01255" y="5163019"/>
            <a:ext cx="10474960" cy="4940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presentación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busca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“probar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que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es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más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alto”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términos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universales: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busca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mostrar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25">
                <a:solidFill>
                  <a:srgbClr val="1F2F28"/>
                </a:solidFill>
                <a:latin typeface="Arial"/>
                <a:cs typeface="Arial"/>
              </a:rPr>
              <a:t>qué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sostiene</a:t>
            </a:r>
            <a:r>
              <a:rPr lang="es-MX" sz="1600" b="1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muestra,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qué</a:t>
            </a:r>
            <a:r>
              <a:rPr lang="es-MX" sz="1600" b="1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cambia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filtros</a:t>
            </a:r>
            <a:r>
              <a:rPr lang="es-MX" sz="1600" b="1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cómo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formular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600" b="1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inferencia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10">
                <a:solidFill>
                  <a:srgbClr val="1F2F28"/>
                </a:solidFill>
                <a:latin typeface="Arial"/>
                <a:cs typeface="Arial"/>
              </a:rPr>
              <a:t>correctamente.</a:t>
            </a:r>
            <a:endParaRPr lang="es-MX" sz="1600">
              <a:latin typeface="Arial"/>
              <a:cs typeface="Arial"/>
            </a:endParaRPr>
          </a:p>
        </p:txBody>
      </p:sp>
      <p:sp>
        <p:nvSpPr>
          <p:cNvPr id="48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9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0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2/43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345D38-1927-C9A1-C440-1FB9B1D13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00" y="113316"/>
            <a:ext cx="11880000" cy="6194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89AE134-F1E9-6108-6B84-FF42D2846CD0}"/>
              </a:ext>
            </a:extLst>
          </p:cNvPr>
          <p:cNvSpPr/>
          <p:nvPr/>
        </p:nvSpPr>
        <p:spPr>
          <a:xfrm>
            <a:off x="310896" y="4608576"/>
            <a:ext cx="11567160" cy="468000"/>
          </a:xfrm>
          <a:prstGeom prst="rect">
            <a:avLst/>
          </a:prstGeom>
          <a:noFill/>
          <a:ln w="1905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3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904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905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3/43</a:t>
            </a:r>
          </a:p>
        </p:txBody>
      </p:sp>
    </p:spTree>
    <p:extLst>
      <p:ext uri="{BB962C8B-B14F-4D97-AF65-F5344CB8AC3E}">
        <p14:creationId xmlns:p14="http://schemas.microsoft.com/office/powerpoint/2010/main" val="291576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Ruta</a:t>
            </a:r>
            <a:r>
              <a:rPr spc="-30"/>
              <a:t> </a:t>
            </a:r>
            <a:r>
              <a:t>de</a:t>
            </a:r>
            <a:r>
              <a:rPr spc="-30"/>
              <a:t> </a:t>
            </a:r>
            <a:r>
              <a:t>la</a:t>
            </a:r>
            <a:r>
              <a:rPr spc="-25"/>
              <a:t> </a:t>
            </a:r>
            <a:r>
              <a:rPr spc="-10"/>
              <a:t>presentación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98864" y="1078594"/>
            <a:ext cx="11028045" cy="759460"/>
            <a:chOff x="598864" y="1257295"/>
            <a:chExt cx="11028045" cy="75946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03364" y="1261795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10963440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695159"/>
                  </a:lnTo>
                  <a:lnTo>
                    <a:pt x="452" y="702012"/>
                  </a:lnTo>
                  <a:lnTo>
                    <a:pt x="466" y="702220"/>
                  </a:lnTo>
                  <a:lnTo>
                    <a:pt x="1798" y="709020"/>
                  </a:lnTo>
                  <a:lnTo>
                    <a:pt x="1843" y="709248"/>
                  </a:lnTo>
                  <a:lnTo>
                    <a:pt x="3994" y="715758"/>
                  </a:lnTo>
                  <a:lnTo>
                    <a:pt x="33757" y="745785"/>
                  </a:lnTo>
                  <a:lnTo>
                    <a:pt x="48065" y="749528"/>
                  </a:lnTo>
                  <a:lnTo>
                    <a:pt x="49212" y="749528"/>
                  </a:lnTo>
                  <a:lnTo>
                    <a:pt x="54711" y="749884"/>
                  </a:lnTo>
                  <a:lnTo>
                    <a:pt x="10963795" y="749528"/>
                  </a:lnTo>
                  <a:lnTo>
                    <a:pt x="11002449" y="733591"/>
                  </a:lnTo>
                  <a:lnTo>
                    <a:pt x="11016595" y="709248"/>
                  </a:lnTo>
                  <a:lnTo>
                    <a:pt x="11016672" y="709020"/>
                  </a:lnTo>
                  <a:lnTo>
                    <a:pt x="11018011" y="702220"/>
                  </a:lnTo>
                  <a:lnTo>
                    <a:pt x="11018052" y="702012"/>
                  </a:lnTo>
                  <a:lnTo>
                    <a:pt x="11018496" y="695159"/>
                  </a:lnTo>
                  <a:lnTo>
                    <a:pt x="11018520" y="694804"/>
                  </a:lnTo>
                  <a:lnTo>
                    <a:pt x="11018151" y="54724"/>
                  </a:lnTo>
                  <a:lnTo>
                    <a:pt x="11002225" y="16070"/>
                  </a:lnTo>
                  <a:lnTo>
                    <a:pt x="10970648" y="467"/>
                  </a:lnTo>
                  <a:lnTo>
                    <a:pt x="1096344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3364" y="1261795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963440" y="0"/>
                  </a:lnTo>
                  <a:lnTo>
                    <a:pt x="11002225" y="16070"/>
                  </a:lnTo>
                  <a:lnTo>
                    <a:pt x="11018151" y="54724"/>
                  </a:lnTo>
                  <a:lnTo>
                    <a:pt x="11018520" y="694804"/>
                  </a:lnTo>
                  <a:lnTo>
                    <a:pt x="11018052" y="702012"/>
                  </a:lnTo>
                  <a:lnTo>
                    <a:pt x="11016672" y="709020"/>
                  </a:lnTo>
                  <a:lnTo>
                    <a:pt x="10991151" y="742327"/>
                  </a:lnTo>
                  <a:lnTo>
                    <a:pt x="54711" y="749884"/>
                  </a:lnTo>
                  <a:lnTo>
                    <a:pt x="15925" y="733820"/>
                  </a:lnTo>
                  <a:lnTo>
                    <a:pt x="0" y="695159"/>
                  </a:lnTo>
                  <a:lnTo>
                    <a:pt x="0" y="54724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3364" y="1261795"/>
              <a:ext cx="713105" cy="749935"/>
            </a:xfrm>
            <a:custGeom>
              <a:avLst/>
              <a:gdLst/>
              <a:ahLst/>
              <a:cxnLst/>
              <a:rect l="l" t="t" r="r" b="b"/>
              <a:pathLst>
                <a:path w="713105" h="749935">
                  <a:moveTo>
                    <a:pt x="712800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356400" y="749528"/>
                  </a:lnTo>
                  <a:lnTo>
                    <a:pt x="712800" y="749528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14400" y="1308354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25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1780" y="1162190"/>
            <a:ext cx="148145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50" b="1" spc="-10">
                <a:solidFill>
                  <a:srgbClr val="1F2F28"/>
                </a:solidFill>
                <a:latin typeface="Arial"/>
                <a:cs typeface="Arial"/>
              </a:rPr>
              <a:t>Fundamentos</a:t>
            </a:r>
            <a:endParaRPr lang="es-ES" sz="1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9220" y="1162203"/>
            <a:ext cx="4530090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Misión,</a:t>
            </a:r>
            <a:r>
              <a:rPr lang="es-MX" sz="1500" spc="7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instrumento,</a:t>
            </a:r>
            <a:r>
              <a:rPr lang="es-MX" sz="1500" spc="8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geometría,</a:t>
            </a:r>
            <a:r>
              <a:rPr lang="es-MX" sz="1500" spc="8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escalas</a:t>
            </a:r>
            <a:r>
              <a:rPr lang="es-MX" sz="1500" spc="8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500" spc="8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productos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19257" y="1161847"/>
            <a:ext cx="407034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00" b="1" spc="-20">
                <a:solidFill>
                  <a:srgbClr val="1D4938"/>
                </a:solidFill>
                <a:latin typeface="Arial"/>
                <a:cs typeface="Arial"/>
              </a:rPr>
              <a:t>4-</a:t>
            </a:r>
            <a:r>
              <a:rPr lang="es-ES" sz="1500" b="1" spc="-25">
                <a:solidFill>
                  <a:srgbClr val="1D4938"/>
                </a:solidFill>
                <a:latin typeface="Arial"/>
                <a:cs typeface="Arial"/>
              </a:rPr>
              <a:t>12</a:t>
            </a:r>
            <a:endParaRPr lang="es-ES" sz="15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8864" y="2048074"/>
            <a:ext cx="11028045" cy="759460"/>
            <a:chOff x="598864" y="2226775"/>
            <a:chExt cx="11028045" cy="75946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4" name="object 14"/>
            <p:cNvSpPr/>
            <p:nvPr/>
          </p:nvSpPr>
          <p:spPr>
            <a:xfrm>
              <a:off x="603364" y="2231275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10963440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695159"/>
                  </a:lnTo>
                  <a:lnTo>
                    <a:pt x="452" y="702012"/>
                  </a:lnTo>
                  <a:lnTo>
                    <a:pt x="466" y="702220"/>
                  </a:lnTo>
                  <a:lnTo>
                    <a:pt x="1798" y="709020"/>
                  </a:lnTo>
                  <a:lnTo>
                    <a:pt x="1843" y="709248"/>
                  </a:lnTo>
                  <a:lnTo>
                    <a:pt x="3994" y="715758"/>
                  </a:lnTo>
                  <a:lnTo>
                    <a:pt x="4098" y="716075"/>
                  </a:lnTo>
                  <a:lnTo>
                    <a:pt x="33757" y="745785"/>
                  </a:lnTo>
                  <a:lnTo>
                    <a:pt x="48065" y="749528"/>
                  </a:lnTo>
                  <a:lnTo>
                    <a:pt x="49212" y="749528"/>
                  </a:lnTo>
                  <a:lnTo>
                    <a:pt x="54711" y="749884"/>
                  </a:lnTo>
                  <a:lnTo>
                    <a:pt x="10963795" y="749528"/>
                  </a:lnTo>
                  <a:lnTo>
                    <a:pt x="11002449" y="733591"/>
                  </a:lnTo>
                  <a:lnTo>
                    <a:pt x="11018496" y="695159"/>
                  </a:lnTo>
                  <a:lnTo>
                    <a:pt x="11018520" y="694804"/>
                  </a:lnTo>
                  <a:lnTo>
                    <a:pt x="11018151" y="54724"/>
                  </a:lnTo>
                  <a:lnTo>
                    <a:pt x="11002225" y="16070"/>
                  </a:lnTo>
                  <a:lnTo>
                    <a:pt x="10970648" y="467"/>
                  </a:lnTo>
                  <a:lnTo>
                    <a:pt x="1096344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3364" y="2231275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963440" y="0"/>
                  </a:lnTo>
                  <a:lnTo>
                    <a:pt x="11002225" y="16070"/>
                  </a:lnTo>
                  <a:lnTo>
                    <a:pt x="11018151" y="54724"/>
                  </a:lnTo>
                  <a:lnTo>
                    <a:pt x="11018520" y="694804"/>
                  </a:lnTo>
                  <a:lnTo>
                    <a:pt x="11018052" y="702012"/>
                  </a:lnTo>
                  <a:lnTo>
                    <a:pt x="11016672" y="709020"/>
                  </a:lnTo>
                  <a:lnTo>
                    <a:pt x="10991151" y="742327"/>
                  </a:lnTo>
                  <a:lnTo>
                    <a:pt x="54711" y="749884"/>
                  </a:lnTo>
                  <a:lnTo>
                    <a:pt x="15925" y="733820"/>
                  </a:lnTo>
                  <a:lnTo>
                    <a:pt x="0" y="695159"/>
                  </a:lnTo>
                  <a:lnTo>
                    <a:pt x="0" y="54724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364" y="2231275"/>
              <a:ext cx="713105" cy="749935"/>
            </a:xfrm>
            <a:custGeom>
              <a:avLst/>
              <a:gdLst/>
              <a:ahLst/>
              <a:cxnLst/>
              <a:rect l="l" t="t" r="r" b="b"/>
              <a:pathLst>
                <a:path w="713105" h="749935">
                  <a:moveTo>
                    <a:pt x="712800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356400" y="749528"/>
                  </a:lnTo>
                  <a:lnTo>
                    <a:pt x="712800" y="749528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14400" y="2277834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25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1780" y="2131670"/>
            <a:ext cx="202438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50" b="1">
                <a:solidFill>
                  <a:srgbClr val="1F2F28"/>
                </a:solidFill>
                <a:latin typeface="Arial"/>
                <a:cs typeface="Arial"/>
              </a:rPr>
              <a:t>Diseño</a:t>
            </a:r>
            <a:r>
              <a:rPr lang="es-ES" sz="1750" b="1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750" b="1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ES" sz="1750" b="1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750" b="1" spc="-10">
                <a:solidFill>
                  <a:srgbClr val="1F2F28"/>
                </a:solidFill>
                <a:latin typeface="Arial"/>
                <a:cs typeface="Arial"/>
              </a:rPr>
              <a:t>análisis</a:t>
            </a:r>
            <a:endParaRPr lang="es-ES" sz="1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19220" y="2131682"/>
            <a:ext cx="399986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AOI,</a:t>
            </a:r>
            <a:r>
              <a:rPr lang="es-ES" sz="1500" spc="7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unidades,</a:t>
            </a:r>
            <a:r>
              <a:rPr lang="es-ES" sz="1500" spc="7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filtros,</a:t>
            </a:r>
            <a:r>
              <a:rPr lang="es-ES" sz="1500" spc="7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estimandos</a:t>
            </a:r>
            <a:r>
              <a:rPr lang="es-ES" sz="1500" spc="7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ES" sz="1500" spc="7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estrategia</a:t>
            </a:r>
            <a:endParaRPr lang="es-ES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66336" y="2131327"/>
            <a:ext cx="51244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00" b="1" spc="-20">
                <a:solidFill>
                  <a:srgbClr val="296D6F"/>
                </a:solidFill>
                <a:latin typeface="Arial"/>
                <a:cs typeface="Arial"/>
              </a:rPr>
              <a:t>13-</a:t>
            </a:r>
            <a:r>
              <a:rPr lang="es-ES" sz="1500" b="1" spc="-35">
                <a:solidFill>
                  <a:srgbClr val="296D6F"/>
                </a:solidFill>
                <a:latin typeface="Arial"/>
                <a:cs typeface="Arial"/>
              </a:rPr>
              <a:t>19</a:t>
            </a:r>
            <a:endParaRPr lang="es-ES" sz="15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8864" y="3017199"/>
            <a:ext cx="11028045" cy="759460"/>
            <a:chOff x="598864" y="3195900"/>
            <a:chExt cx="11028045" cy="75946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2" name="object 22"/>
            <p:cNvSpPr/>
            <p:nvPr/>
          </p:nvSpPr>
          <p:spPr>
            <a:xfrm>
              <a:off x="603364" y="3200400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109634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695159"/>
                  </a:lnTo>
                  <a:lnTo>
                    <a:pt x="3997" y="715758"/>
                  </a:lnTo>
                  <a:lnTo>
                    <a:pt x="4098" y="716064"/>
                  </a:lnTo>
                  <a:lnTo>
                    <a:pt x="33757" y="745780"/>
                  </a:lnTo>
                  <a:lnTo>
                    <a:pt x="48008" y="749515"/>
                  </a:lnTo>
                  <a:lnTo>
                    <a:pt x="49037" y="749515"/>
                  </a:lnTo>
                  <a:lnTo>
                    <a:pt x="54711" y="749884"/>
                  </a:lnTo>
                  <a:lnTo>
                    <a:pt x="10963795" y="749515"/>
                  </a:lnTo>
                  <a:lnTo>
                    <a:pt x="11002449" y="733590"/>
                  </a:lnTo>
                  <a:lnTo>
                    <a:pt x="11018011" y="702218"/>
                  </a:lnTo>
                  <a:lnTo>
                    <a:pt x="11018052" y="702012"/>
                  </a:lnTo>
                  <a:lnTo>
                    <a:pt x="11018496" y="695159"/>
                  </a:lnTo>
                  <a:lnTo>
                    <a:pt x="11018520" y="694804"/>
                  </a:lnTo>
                  <a:lnTo>
                    <a:pt x="11018151" y="54724"/>
                  </a:lnTo>
                  <a:lnTo>
                    <a:pt x="11002225" y="16063"/>
                  </a:lnTo>
                  <a:lnTo>
                    <a:pt x="10970648" y="466"/>
                  </a:lnTo>
                  <a:lnTo>
                    <a:pt x="1096344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3364" y="3200400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963440" y="0"/>
                  </a:lnTo>
                  <a:lnTo>
                    <a:pt x="11002225" y="16063"/>
                  </a:lnTo>
                  <a:lnTo>
                    <a:pt x="11018151" y="54724"/>
                  </a:lnTo>
                  <a:lnTo>
                    <a:pt x="11018520" y="694804"/>
                  </a:lnTo>
                  <a:lnTo>
                    <a:pt x="11018052" y="702012"/>
                  </a:lnTo>
                  <a:lnTo>
                    <a:pt x="11016672" y="709020"/>
                  </a:lnTo>
                  <a:lnTo>
                    <a:pt x="10991151" y="742314"/>
                  </a:lnTo>
                  <a:lnTo>
                    <a:pt x="54711" y="749884"/>
                  </a:lnTo>
                  <a:lnTo>
                    <a:pt x="15925" y="733813"/>
                  </a:lnTo>
                  <a:lnTo>
                    <a:pt x="0" y="695159"/>
                  </a:lnTo>
                  <a:lnTo>
                    <a:pt x="0" y="54724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3364" y="3200400"/>
              <a:ext cx="713105" cy="749935"/>
            </a:xfrm>
            <a:custGeom>
              <a:avLst/>
              <a:gdLst/>
              <a:ahLst/>
              <a:cxnLst/>
              <a:rect l="l" t="t" r="r" b="b"/>
              <a:pathLst>
                <a:path w="713105" h="749935">
                  <a:moveTo>
                    <a:pt x="712800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356400" y="749515"/>
                  </a:lnTo>
                  <a:lnTo>
                    <a:pt x="712800" y="749515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14400" y="324695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25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41780" y="3105836"/>
            <a:ext cx="220599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300" b="1">
                <a:solidFill>
                  <a:srgbClr val="1F2F28"/>
                </a:solidFill>
                <a:latin typeface="Arial"/>
                <a:cs typeface="Arial"/>
              </a:rPr>
              <a:t>Resultados</a:t>
            </a:r>
            <a:r>
              <a:rPr lang="es-ES" sz="1300" b="1" spc="2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ES" sz="1300" b="1" spc="2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b="1" spc="-10">
                <a:solidFill>
                  <a:srgbClr val="1F2F28"/>
                </a:solidFill>
                <a:latin typeface="Arial"/>
                <a:cs typeface="Arial"/>
              </a:rPr>
              <a:t>sensibilidad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19220" y="3100794"/>
            <a:ext cx="4488180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RH98</a:t>
            </a:r>
            <a:r>
              <a:rPr lang="es-MX" sz="1500" spc="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por</a:t>
            </a:r>
            <a:r>
              <a:rPr lang="es-MX" sz="1500" spc="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segmento</a:t>
            </a:r>
            <a:r>
              <a:rPr lang="es-MX" sz="1500" spc="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500" spc="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gránulo;</a:t>
            </a:r>
            <a:r>
              <a:rPr lang="es-MX" sz="1500" spc="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selección</a:t>
            </a:r>
            <a:r>
              <a:rPr lang="es-MX" sz="1500" spc="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500" spc="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calidad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66336" y="3100439"/>
            <a:ext cx="51244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00" b="1" spc="-20">
                <a:solidFill>
                  <a:srgbClr val="C3862D"/>
                </a:solidFill>
                <a:latin typeface="Arial"/>
                <a:cs typeface="Arial"/>
              </a:rPr>
              <a:t>20-</a:t>
            </a:r>
            <a:r>
              <a:rPr lang="es-ES" sz="1500" b="1" spc="-35">
                <a:solidFill>
                  <a:srgbClr val="C3862D"/>
                </a:solidFill>
                <a:latin typeface="Arial"/>
                <a:cs typeface="Arial"/>
              </a:rPr>
              <a:t>30</a:t>
            </a:r>
            <a:endParaRPr lang="es-ES" sz="15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98864" y="3986323"/>
            <a:ext cx="11028045" cy="759460"/>
            <a:chOff x="598864" y="4165024"/>
            <a:chExt cx="11028045" cy="75946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0" name="object 30"/>
            <p:cNvSpPr/>
            <p:nvPr/>
          </p:nvSpPr>
          <p:spPr>
            <a:xfrm>
              <a:off x="603364" y="4169524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109634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695159"/>
                  </a:lnTo>
                  <a:lnTo>
                    <a:pt x="452" y="702007"/>
                  </a:lnTo>
                  <a:lnTo>
                    <a:pt x="466" y="702218"/>
                  </a:lnTo>
                  <a:lnTo>
                    <a:pt x="1799" y="709018"/>
                  </a:lnTo>
                  <a:lnTo>
                    <a:pt x="1843" y="709242"/>
                  </a:lnTo>
                  <a:lnTo>
                    <a:pt x="27355" y="742670"/>
                  </a:lnTo>
                  <a:lnTo>
                    <a:pt x="48065" y="749515"/>
                  </a:lnTo>
                  <a:lnTo>
                    <a:pt x="49212" y="749515"/>
                  </a:lnTo>
                  <a:lnTo>
                    <a:pt x="54711" y="749871"/>
                  </a:lnTo>
                  <a:lnTo>
                    <a:pt x="10963795" y="749515"/>
                  </a:lnTo>
                  <a:lnTo>
                    <a:pt x="11002449" y="733590"/>
                  </a:lnTo>
                  <a:lnTo>
                    <a:pt x="11016597" y="709242"/>
                  </a:lnTo>
                  <a:lnTo>
                    <a:pt x="11016672" y="709018"/>
                  </a:lnTo>
                  <a:lnTo>
                    <a:pt x="11018010" y="702218"/>
                  </a:lnTo>
                  <a:lnTo>
                    <a:pt x="11018052" y="702007"/>
                  </a:lnTo>
                  <a:lnTo>
                    <a:pt x="11018496" y="695159"/>
                  </a:lnTo>
                  <a:lnTo>
                    <a:pt x="11018151" y="54711"/>
                  </a:lnTo>
                  <a:lnTo>
                    <a:pt x="11002225" y="16059"/>
                  </a:lnTo>
                  <a:lnTo>
                    <a:pt x="10970648" y="466"/>
                  </a:lnTo>
                  <a:lnTo>
                    <a:pt x="1096344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3364" y="4169524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963440" y="0"/>
                  </a:lnTo>
                  <a:lnTo>
                    <a:pt x="11002225" y="16059"/>
                  </a:lnTo>
                  <a:lnTo>
                    <a:pt x="11018151" y="54711"/>
                  </a:lnTo>
                  <a:lnTo>
                    <a:pt x="11018520" y="694791"/>
                  </a:lnTo>
                  <a:lnTo>
                    <a:pt x="11018052" y="702007"/>
                  </a:lnTo>
                  <a:lnTo>
                    <a:pt x="11016672" y="709018"/>
                  </a:lnTo>
                  <a:lnTo>
                    <a:pt x="10991151" y="742315"/>
                  </a:lnTo>
                  <a:lnTo>
                    <a:pt x="54711" y="749871"/>
                  </a:lnTo>
                  <a:lnTo>
                    <a:pt x="15925" y="733812"/>
                  </a:lnTo>
                  <a:lnTo>
                    <a:pt x="0" y="695159"/>
                  </a:lnTo>
                  <a:lnTo>
                    <a:pt x="0" y="54711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3364" y="4169524"/>
              <a:ext cx="713105" cy="749935"/>
            </a:xfrm>
            <a:custGeom>
              <a:avLst/>
              <a:gdLst/>
              <a:ahLst/>
              <a:cxnLst/>
              <a:rect l="l" t="t" r="r" b="b"/>
              <a:pathLst>
                <a:path w="713105" h="749935">
                  <a:moveTo>
                    <a:pt x="712800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356400" y="749515"/>
                  </a:lnTo>
                  <a:lnTo>
                    <a:pt x="712800" y="749515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14400" y="4216083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25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41780" y="4069918"/>
            <a:ext cx="222123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50" b="1">
                <a:solidFill>
                  <a:srgbClr val="1F2F28"/>
                </a:solidFill>
                <a:latin typeface="Arial"/>
                <a:cs typeface="Arial"/>
              </a:rPr>
              <a:t>Aplicación</a:t>
            </a:r>
            <a:r>
              <a:rPr lang="es-ES" sz="1750" b="1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75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ES" sz="1750" b="1" spc="-7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750" b="1" spc="-10">
                <a:solidFill>
                  <a:srgbClr val="1F2F28"/>
                </a:solidFill>
                <a:latin typeface="Arial"/>
                <a:cs typeface="Arial"/>
              </a:rPr>
              <a:t>síntesis</a:t>
            </a:r>
            <a:endParaRPr lang="es-ES" sz="17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19220" y="4069918"/>
            <a:ext cx="420560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Incendio,</a:t>
            </a:r>
            <a:r>
              <a:rPr lang="es-MX" sz="1500" spc="7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integración</a:t>
            </a:r>
            <a:r>
              <a:rPr lang="es-MX" sz="1500" spc="8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multisensor</a:t>
            </a:r>
            <a:r>
              <a:rPr lang="es-MX" sz="1500" spc="8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500" spc="7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66336" y="4069563"/>
            <a:ext cx="51244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00" b="1" spc="-20">
                <a:solidFill>
                  <a:srgbClr val="A8503B"/>
                </a:solidFill>
                <a:latin typeface="Arial"/>
                <a:cs typeface="Arial"/>
              </a:rPr>
              <a:t>31-</a:t>
            </a:r>
            <a:r>
              <a:rPr lang="es-ES" sz="1500" b="1" spc="-35">
                <a:solidFill>
                  <a:srgbClr val="A8503B"/>
                </a:solidFill>
                <a:latin typeface="Arial"/>
                <a:cs typeface="Arial"/>
              </a:rPr>
              <a:t>36</a:t>
            </a:r>
            <a:endParaRPr lang="es-ES" sz="15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98601" y="4955540"/>
            <a:ext cx="11028045" cy="759460"/>
            <a:chOff x="598601" y="5134241"/>
            <a:chExt cx="11028045" cy="75946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8" name="object 38"/>
            <p:cNvSpPr/>
            <p:nvPr/>
          </p:nvSpPr>
          <p:spPr>
            <a:xfrm>
              <a:off x="603364" y="5139004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109634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695159"/>
                  </a:lnTo>
                  <a:lnTo>
                    <a:pt x="452" y="702007"/>
                  </a:lnTo>
                  <a:lnTo>
                    <a:pt x="466" y="702218"/>
                  </a:lnTo>
                  <a:lnTo>
                    <a:pt x="1799" y="709018"/>
                  </a:lnTo>
                  <a:lnTo>
                    <a:pt x="1843" y="709242"/>
                  </a:lnTo>
                  <a:lnTo>
                    <a:pt x="27355" y="742670"/>
                  </a:lnTo>
                  <a:lnTo>
                    <a:pt x="48065" y="749515"/>
                  </a:lnTo>
                  <a:lnTo>
                    <a:pt x="49212" y="749515"/>
                  </a:lnTo>
                  <a:lnTo>
                    <a:pt x="54711" y="749871"/>
                  </a:lnTo>
                  <a:lnTo>
                    <a:pt x="10963795" y="749515"/>
                  </a:lnTo>
                  <a:lnTo>
                    <a:pt x="11002449" y="733590"/>
                  </a:lnTo>
                  <a:lnTo>
                    <a:pt x="11016597" y="709242"/>
                  </a:lnTo>
                  <a:lnTo>
                    <a:pt x="11016672" y="709018"/>
                  </a:lnTo>
                  <a:lnTo>
                    <a:pt x="11018010" y="702218"/>
                  </a:lnTo>
                  <a:lnTo>
                    <a:pt x="11018052" y="702007"/>
                  </a:lnTo>
                  <a:lnTo>
                    <a:pt x="11018496" y="695159"/>
                  </a:lnTo>
                  <a:lnTo>
                    <a:pt x="11018520" y="694791"/>
                  </a:lnTo>
                  <a:lnTo>
                    <a:pt x="11018151" y="54711"/>
                  </a:lnTo>
                  <a:lnTo>
                    <a:pt x="11002225" y="16059"/>
                  </a:lnTo>
                  <a:lnTo>
                    <a:pt x="10970648" y="466"/>
                  </a:lnTo>
                  <a:lnTo>
                    <a:pt x="1096344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3364" y="5139004"/>
              <a:ext cx="11018520" cy="749935"/>
            </a:xfrm>
            <a:custGeom>
              <a:avLst/>
              <a:gdLst/>
              <a:ahLst/>
              <a:cxnLst/>
              <a:rect l="l" t="t" r="r" b="b"/>
              <a:pathLst>
                <a:path w="11018520" h="74993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963440" y="0"/>
                  </a:lnTo>
                  <a:lnTo>
                    <a:pt x="11002225" y="16059"/>
                  </a:lnTo>
                  <a:lnTo>
                    <a:pt x="11018151" y="54711"/>
                  </a:lnTo>
                  <a:lnTo>
                    <a:pt x="11018520" y="694791"/>
                  </a:lnTo>
                  <a:lnTo>
                    <a:pt x="11018052" y="702007"/>
                  </a:lnTo>
                  <a:lnTo>
                    <a:pt x="11016672" y="709018"/>
                  </a:lnTo>
                  <a:lnTo>
                    <a:pt x="10991151" y="742315"/>
                  </a:lnTo>
                  <a:lnTo>
                    <a:pt x="54711" y="749871"/>
                  </a:lnTo>
                  <a:lnTo>
                    <a:pt x="15925" y="733812"/>
                  </a:lnTo>
                  <a:lnTo>
                    <a:pt x="0" y="695159"/>
                  </a:lnTo>
                  <a:lnTo>
                    <a:pt x="0" y="54711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3364" y="5139004"/>
              <a:ext cx="713105" cy="749935"/>
            </a:xfrm>
            <a:custGeom>
              <a:avLst/>
              <a:gdLst/>
              <a:ahLst/>
              <a:cxnLst/>
              <a:rect l="l" t="t" r="r" b="b"/>
              <a:pathLst>
                <a:path w="713105" h="749935">
                  <a:moveTo>
                    <a:pt x="712800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356400" y="749515"/>
                  </a:lnTo>
                  <a:lnTo>
                    <a:pt x="712800" y="749515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2E6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14400" y="5185563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25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41780" y="5039398"/>
            <a:ext cx="169037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50" b="1" spc="-10">
                <a:solidFill>
                  <a:srgbClr val="1F2F28"/>
                </a:solidFill>
                <a:latin typeface="Arial"/>
                <a:cs typeface="Arial"/>
              </a:rPr>
              <a:t>Documentación</a:t>
            </a:r>
            <a:endParaRPr lang="es-ES" sz="17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19220" y="5039398"/>
            <a:ext cx="2938145" cy="254365"/>
          </a:xfrm>
          <a:prstGeom prst="rect">
            <a:avLst/>
          </a:prstGeom>
        </p:spPr>
        <p:txBody>
          <a:bodyPr vert="horz" wrap="square" lIns="0" tIns="1651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Referencias</a:t>
            </a:r>
            <a:r>
              <a:rPr lang="es-ES" sz="1500" spc="7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verificadas</a:t>
            </a:r>
            <a:r>
              <a:rPr lang="es-ES" sz="1500" spc="8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ES" sz="1500" spc="7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glosario</a:t>
            </a:r>
            <a:endParaRPr lang="es-ES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666336" y="5039043"/>
            <a:ext cx="51244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00" b="1" spc="-20">
                <a:solidFill>
                  <a:srgbClr val="2E6E9D"/>
                </a:solidFill>
                <a:latin typeface="Arial"/>
                <a:cs typeface="Arial"/>
              </a:rPr>
              <a:t>37-</a:t>
            </a:r>
            <a:r>
              <a:rPr lang="es-ES" sz="1500" b="1" spc="-35">
                <a:solidFill>
                  <a:srgbClr val="2E6E9D"/>
                </a:solidFill>
                <a:latin typeface="Arial"/>
                <a:cs typeface="Arial"/>
              </a:rPr>
              <a:t>40</a:t>
            </a:r>
            <a:endParaRPr lang="es-ES" sz="15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37614" y="5791200"/>
            <a:ext cx="10548000" cy="462114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algn="just">
              <a:lnSpc>
                <a:spcPts val="1710"/>
              </a:lnSpc>
              <a:spcBef>
                <a:spcPts val="310"/>
              </a:spcBef>
            </a:pP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Hilo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conductor: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de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la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física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de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medición</a:t>
            </a:r>
            <a:r>
              <a:rPr lang="es-MX" sz="1400" b="1" spc="5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la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afirmación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científica.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Cada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filtro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y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cada</a:t>
            </a:r>
            <a:r>
              <a:rPr lang="es-MX" sz="1400" b="1" spc="5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unidad</a:t>
            </a:r>
            <a:r>
              <a:rPr lang="es-MX" sz="1400" b="1" spc="5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0070C0"/>
                </a:solidFill>
                <a:latin typeface="Arial"/>
                <a:cs typeface="Arial"/>
              </a:rPr>
              <a:t>estadística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cambian</a:t>
            </a:r>
            <a:r>
              <a:rPr lang="es-MX" sz="1400" b="1" spc="6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la</a:t>
            </a:r>
            <a:r>
              <a:rPr lang="es-MX" sz="1400" b="1" spc="6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pregunta</a:t>
            </a:r>
            <a:r>
              <a:rPr lang="es-MX" sz="1400" b="1" spc="6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que</a:t>
            </a:r>
            <a:r>
              <a:rPr lang="es-MX" sz="1400" b="1" spc="5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realmente</a:t>
            </a:r>
            <a:r>
              <a:rPr lang="es-MX" sz="1400" b="1" spc="6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se</a:t>
            </a:r>
            <a:r>
              <a:rPr lang="es-MX" sz="1400" b="1" spc="6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0070C0"/>
                </a:solidFill>
                <a:latin typeface="Arial"/>
                <a:cs typeface="Arial"/>
              </a:rPr>
              <a:t>responde.</a:t>
            </a:r>
            <a:endParaRPr lang="es-MX" sz="140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50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1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2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4/43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1068D-2921-8D0A-23E9-790D716F7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7B5C21C-BA80-8DA7-62A7-D7423C734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88" y="1288472"/>
            <a:ext cx="10393225" cy="3877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6F29B4C-62BE-1E40-0982-E798665E3649}"/>
              </a:ext>
            </a:extLst>
          </p:cNvPr>
          <p:cNvSpPr txBox="1"/>
          <p:nvPr/>
        </p:nvSpPr>
        <p:spPr>
          <a:xfrm>
            <a:off x="987136" y="5360045"/>
            <a:ext cx="4386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i="1" dirty="0"/>
              <a:t>Fuente: </a:t>
            </a:r>
            <a:r>
              <a:rPr lang="es-ES" sz="1400" i="1"/>
              <a:t>NASA ARSET, capacitación ICESat-2/ATL08</a:t>
            </a:r>
            <a:endParaRPr lang="es-ES" sz="1400" dirty="0"/>
          </a:p>
        </p:txBody>
      </p:sp>
      <p:sp>
        <p:nvSpPr>
          <p:cNvPr id="903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904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905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5/43</a:t>
            </a:r>
          </a:p>
        </p:txBody>
      </p:sp>
    </p:spTree>
    <p:extLst>
      <p:ext uri="{BB962C8B-B14F-4D97-AF65-F5344CB8AC3E}">
        <p14:creationId xmlns:p14="http://schemas.microsoft.com/office/powerpoint/2010/main" val="3232081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Tres</a:t>
            </a:r>
            <a:r>
              <a:rPr spc="-75"/>
              <a:t> </a:t>
            </a:r>
            <a:r>
              <a:t>conceptos</a:t>
            </a:r>
            <a:r>
              <a:rPr spc="-75"/>
              <a:t> </a:t>
            </a:r>
            <a:r>
              <a:t>que</a:t>
            </a:r>
            <a:r>
              <a:rPr spc="-75"/>
              <a:t> </a:t>
            </a:r>
            <a:r>
              <a:t>no</a:t>
            </a:r>
            <a:r>
              <a:rPr spc="-70"/>
              <a:t> </a:t>
            </a:r>
            <a:r>
              <a:t>deben</a:t>
            </a:r>
            <a:r>
              <a:rPr spc="-75"/>
              <a:t> </a:t>
            </a:r>
            <a:r>
              <a:rPr spc="-10"/>
              <a:t>confundirse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32459" y="1345645"/>
            <a:ext cx="3261360" cy="3352800"/>
            <a:chOff x="632459" y="1345615"/>
            <a:chExt cx="3261360" cy="33528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40079" y="1353235"/>
              <a:ext cx="3246120" cy="3337560"/>
            </a:xfrm>
            <a:custGeom>
              <a:avLst/>
              <a:gdLst/>
              <a:ahLst/>
              <a:cxnLst/>
              <a:rect l="l" t="t" r="r" b="b"/>
              <a:pathLst>
                <a:path w="3246120" h="3337560">
                  <a:moveTo>
                    <a:pt x="3172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264484"/>
                  </a:lnTo>
                  <a:lnTo>
                    <a:pt x="15046" y="3308861"/>
                  </a:lnTo>
                  <a:lnTo>
                    <a:pt x="54046" y="3335131"/>
                  </a:lnTo>
                  <a:lnTo>
                    <a:pt x="73075" y="3337560"/>
                  </a:lnTo>
                  <a:lnTo>
                    <a:pt x="3173044" y="3337204"/>
                  </a:lnTo>
                  <a:lnTo>
                    <a:pt x="3217414" y="3322157"/>
                  </a:lnTo>
                  <a:lnTo>
                    <a:pt x="3243676" y="3283202"/>
                  </a:lnTo>
                  <a:lnTo>
                    <a:pt x="3246120" y="3264128"/>
                  </a:lnTo>
                  <a:lnTo>
                    <a:pt x="3245764" y="73088"/>
                  </a:lnTo>
                  <a:lnTo>
                    <a:pt x="3230710" y="28710"/>
                  </a:lnTo>
                  <a:lnTo>
                    <a:pt x="3191716" y="2430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79" y="1353235"/>
              <a:ext cx="3246120" cy="3337560"/>
            </a:xfrm>
            <a:custGeom>
              <a:avLst/>
              <a:gdLst/>
              <a:ahLst/>
              <a:cxnLst/>
              <a:rect l="l" t="t" r="r" b="b"/>
              <a:pathLst>
                <a:path w="3246120" h="33375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053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358" y="15109"/>
                  </a:lnTo>
                  <a:lnTo>
                    <a:pt x="3243333" y="54365"/>
                  </a:lnTo>
                  <a:lnTo>
                    <a:pt x="3245764" y="73088"/>
                  </a:lnTo>
                  <a:lnTo>
                    <a:pt x="3246120" y="3264128"/>
                  </a:lnTo>
                  <a:lnTo>
                    <a:pt x="3245512" y="3273760"/>
                  </a:lnTo>
                  <a:lnTo>
                    <a:pt x="3243691" y="3283157"/>
                  </a:lnTo>
                  <a:lnTo>
                    <a:pt x="3217414" y="3322157"/>
                  </a:lnTo>
                  <a:lnTo>
                    <a:pt x="3173044" y="3337204"/>
                  </a:lnTo>
                  <a:lnTo>
                    <a:pt x="73075" y="3337560"/>
                  </a:lnTo>
                  <a:lnTo>
                    <a:pt x="28399" y="3322463"/>
                  </a:lnTo>
                  <a:lnTo>
                    <a:pt x="2428" y="3283202"/>
                  </a:lnTo>
                  <a:lnTo>
                    <a:pt x="0" y="3264484"/>
                  </a:lnTo>
                  <a:lnTo>
                    <a:pt x="0" y="73088"/>
                  </a:lnTo>
                  <a:close/>
                </a:path>
              </a:pathLst>
            </a:custGeom>
            <a:ln w="15119">
              <a:solidFill>
                <a:srgbClr val="173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65160" y="1627200"/>
              <a:ext cx="786765" cy="786765"/>
            </a:xfrm>
            <a:custGeom>
              <a:avLst/>
              <a:gdLst/>
              <a:ahLst/>
              <a:cxnLst/>
              <a:rect l="l" t="t" r="r" b="b"/>
              <a:pathLst>
                <a:path w="786764" h="786764">
                  <a:moveTo>
                    <a:pt x="393115" y="0"/>
                  </a:moveTo>
                  <a:lnTo>
                    <a:pt x="341651" y="3352"/>
                  </a:lnTo>
                  <a:lnTo>
                    <a:pt x="291331" y="13319"/>
                  </a:lnTo>
                  <a:lnTo>
                    <a:pt x="242764" y="29768"/>
                  </a:lnTo>
                  <a:lnTo>
                    <a:pt x="196557" y="52565"/>
                  </a:lnTo>
                  <a:lnTo>
                    <a:pt x="153710" y="81239"/>
                  </a:lnTo>
                  <a:lnTo>
                    <a:pt x="115112" y="115112"/>
                  </a:lnTo>
                  <a:lnTo>
                    <a:pt x="81239" y="153710"/>
                  </a:lnTo>
                  <a:lnTo>
                    <a:pt x="52565" y="196557"/>
                  </a:lnTo>
                  <a:lnTo>
                    <a:pt x="29768" y="242764"/>
                  </a:lnTo>
                  <a:lnTo>
                    <a:pt x="13319" y="291331"/>
                  </a:lnTo>
                  <a:lnTo>
                    <a:pt x="3352" y="341651"/>
                  </a:lnTo>
                  <a:lnTo>
                    <a:pt x="0" y="393115"/>
                  </a:lnTo>
                  <a:lnTo>
                    <a:pt x="3352" y="444587"/>
                  </a:lnTo>
                  <a:lnTo>
                    <a:pt x="13319" y="494909"/>
                  </a:lnTo>
                  <a:lnTo>
                    <a:pt x="29768" y="543473"/>
                  </a:lnTo>
                  <a:lnTo>
                    <a:pt x="52565" y="589673"/>
                  </a:lnTo>
                  <a:lnTo>
                    <a:pt x="81239" y="632528"/>
                  </a:lnTo>
                  <a:lnTo>
                    <a:pt x="115112" y="671129"/>
                  </a:lnTo>
                  <a:lnTo>
                    <a:pt x="153710" y="705004"/>
                  </a:lnTo>
                  <a:lnTo>
                    <a:pt x="196557" y="733679"/>
                  </a:lnTo>
                  <a:lnTo>
                    <a:pt x="242764" y="756470"/>
                  </a:lnTo>
                  <a:lnTo>
                    <a:pt x="291331" y="772920"/>
                  </a:lnTo>
                  <a:lnTo>
                    <a:pt x="341651" y="782890"/>
                  </a:lnTo>
                  <a:lnTo>
                    <a:pt x="393115" y="786244"/>
                  </a:lnTo>
                  <a:lnTo>
                    <a:pt x="444587" y="782890"/>
                  </a:lnTo>
                  <a:lnTo>
                    <a:pt x="494909" y="772920"/>
                  </a:lnTo>
                  <a:lnTo>
                    <a:pt x="543473" y="756470"/>
                  </a:lnTo>
                  <a:lnTo>
                    <a:pt x="589673" y="733679"/>
                  </a:lnTo>
                  <a:lnTo>
                    <a:pt x="632528" y="705004"/>
                  </a:lnTo>
                  <a:lnTo>
                    <a:pt x="671129" y="671129"/>
                  </a:lnTo>
                  <a:lnTo>
                    <a:pt x="705004" y="632528"/>
                  </a:lnTo>
                  <a:lnTo>
                    <a:pt x="733679" y="589673"/>
                  </a:lnTo>
                  <a:lnTo>
                    <a:pt x="756470" y="543473"/>
                  </a:lnTo>
                  <a:lnTo>
                    <a:pt x="772920" y="494909"/>
                  </a:lnTo>
                  <a:lnTo>
                    <a:pt x="782890" y="444587"/>
                  </a:lnTo>
                  <a:lnTo>
                    <a:pt x="786244" y="393115"/>
                  </a:lnTo>
                  <a:lnTo>
                    <a:pt x="782890" y="341651"/>
                  </a:lnTo>
                  <a:lnTo>
                    <a:pt x="772920" y="291331"/>
                  </a:lnTo>
                  <a:lnTo>
                    <a:pt x="756470" y="242764"/>
                  </a:lnTo>
                  <a:lnTo>
                    <a:pt x="733679" y="196557"/>
                  </a:lnTo>
                  <a:lnTo>
                    <a:pt x="705004" y="153710"/>
                  </a:lnTo>
                  <a:lnTo>
                    <a:pt x="671129" y="115112"/>
                  </a:lnTo>
                  <a:lnTo>
                    <a:pt x="632528" y="81239"/>
                  </a:lnTo>
                  <a:lnTo>
                    <a:pt x="589673" y="52565"/>
                  </a:lnTo>
                  <a:lnTo>
                    <a:pt x="543473" y="29768"/>
                  </a:lnTo>
                  <a:lnTo>
                    <a:pt x="494909" y="13319"/>
                  </a:lnTo>
                  <a:lnTo>
                    <a:pt x="444587" y="3352"/>
                  </a:lnTo>
                  <a:lnTo>
                    <a:pt x="393115" y="0"/>
                  </a:lnTo>
                  <a:close/>
                </a:path>
              </a:pathLst>
            </a:custGeom>
            <a:solidFill>
              <a:srgbClr val="17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160981" y="1824748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</a:t>
            </a:r>
            <a:endParaRPr lang="es-ES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8097" y="2452458"/>
            <a:ext cx="1646555" cy="858519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415"/>
              </a:spcBef>
            </a:pPr>
            <a:r>
              <a:rPr lang="es-ES" sz="2300" b="1" spc="-20">
                <a:solidFill>
                  <a:srgbClr val="173A54"/>
                </a:solidFill>
                <a:latin typeface="Arial"/>
                <a:cs typeface="Arial"/>
              </a:rPr>
              <a:t>ICESat-</a:t>
            </a:r>
            <a:r>
              <a:rPr lang="es-ES" sz="2300" b="1" spc="-50">
                <a:solidFill>
                  <a:srgbClr val="173A54"/>
                </a:solidFill>
                <a:latin typeface="Arial"/>
                <a:cs typeface="Arial"/>
              </a:rPr>
              <a:t>2</a:t>
            </a:r>
            <a:endParaRPr lang="es-ES" sz="2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lang="es-ES" sz="1400" b="1">
                <a:solidFill>
                  <a:srgbClr val="64726B"/>
                </a:solidFill>
                <a:latin typeface="Arial"/>
                <a:cs typeface="Arial"/>
              </a:rPr>
              <a:t>Misión</a:t>
            </a:r>
            <a:r>
              <a:rPr lang="es-ES" sz="1400" b="1" spc="-1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64726B"/>
                </a:solidFill>
                <a:latin typeface="Arial"/>
                <a:cs typeface="Arial"/>
              </a:rPr>
              <a:t>/</a:t>
            </a:r>
            <a:r>
              <a:rPr lang="es-ES" sz="1400" b="1" spc="-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64726B"/>
                </a:solidFill>
                <a:latin typeface="Arial"/>
                <a:cs typeface="Arial"/>
              </a:rPr>
              <a:t>plataforma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425" y="3589820"/>
            <a:ext cx="2244090" cy="91242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ts val="1670"/>
              </a:lnSpc>
              <a:spcBef>
                <a:spcPts val="315"/>
              </a:spcBef>
            </a:pP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Satélite</a:t>
            </a:r>
            <a:r>
              <a:rPr lang="es-MX" sz="155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dedicado</a:t>
            </a:r>
            <a:r>
              <a:rPr lang="es-MX" sz="155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MX" sz="155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spc="-10">
                <a:solidFill>
                  <a:srgbClr val="1F2F28"/>
                </a:solidFill>
                <a:latin typeface="Arial"/>
                <a:cs typeface="Arial"/>
              </a:rPr>
              <a:t>medir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elevación</a:t>
            </a:r>
            <a:r>
              <a:rPr lang="es-MX" sz="155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55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cambios</a:t>
            </a:r>
            <a:r>
              <a:rPr lang="es-MX" sz="1550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spc="-25">
                <a:solidFill>
                  <a:srgbClr val="1F2F28"/>
                </a:solidFill>
                <a:latin typeface="Arial"/>
                <a:cs typeface="Arial"/>
              </a:rPr>
              <a:t>de </a:t>
            </a:r>
            <a:r>
              <a:rPr lang="es-MX" sz="1550" spc="-10">
                <a:solidFill>
                  <a:srgbClr val="1F2F28"/>
                </a:solidFill>
                <a:latin typeface="Arial"/>
                <a:cs typeface="Arial"/>
              </a:rPr>
              <a:t>superficie.</a:t>
            </a:r>
            <a:r>
              <a:rPr lang="es-MX" sz="155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spc="-10">
                <a:solidFill>
                  <a:srgbClr val="1F2F28"/>
                </a:solidFill>
                <a:latin typeface="Arial"/>
                <a:cs typeface="Arial"/>
              </a:rPr>
              <a:t>Transporta</a:t>
            </a:r>
            <a:r>
              <a:rPr lang="es-MX" sz="155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spc="-25">
                <a:solidFill>
                  <a:srgbClr val="1F2F28"/>
                </a:solidFill>
                <a:latin typeface="Arial"/>
                <a:cs typeface="Arial"/>
              </a:rPr>
              <a:t>el </a:t>
            </a:r>
            <a:r>
              <a:rPr lang="es-MX" sz="1550" spc="-10">
                <a:solidFill>
                  <a:srgbClr val="1F2F28"/>
                </a:solidFill>
                <a:latin typeface="Arial"/>
                <a:cs typeface="Arial"/>
              </a:rPr>
              <a:t>sistema</a:t>
            </a:r>
            <a:r>
              <a:rPr lang="es-MX" sz="1550" spc="-7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spc="-10">
                <a:solidFill>
                  <a:srgbClr val="1F2F28"/>
                </a:solidFill>
                <a:latin typeface="Arial"/>
                <a:cs typeface="Arial"/>
              </a:rPr>
              <a:t>ATLAS.</a:t>
            </a:r>
            <a:endParaRPr lang="es-MX" sz="15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08424" y="1345645"/>
            <a:ext cx="3261360" cy="3352800"/>
            <a:chOff x="4308424" y="1345615"/>
            <a:chExt cx="3261360" cy="33528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" name="object 13"/>
            <p:cNvSpPr/>
            <p:nvPr/>
          </p:nvSpPr>
          <p:spPr>
            <a:xfrm>
              <a:off x="4316044" y="1353235"/>
              <a:ext cx="3246120" cy="3337560"/>
            </a:xfrm>
            <a:custGeom>
              <a:avLst/>
              <a:gdLst/>
              <a:ahLst/>
              <a:cxnLst/>
              <a:rect l="l" t="t" r="r" b="b"/>
              <a:pathLst>
                <a:path w="3246120" h="3337560">
                  <a:moveTo>
                    <a:pt x="3172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264484"/>
                  </a:lnTo>
                  <a:lnTo>
                    <a:pt x="597" y="3273760"/>
                  </a:lnTo>
                  <a:lnTo>
                    <a:pt x="607" y="3273910"/>
                  </a:lnTo>
                  <a:lnTo>
                    <a:pt x="21280" y="3316101"/>
                  </a:lnTo>
                  <a:lnTo>
                    <a:pt x="63442" y="3336952"/>
                  </a:lnTo>
                  <a:lnTo>
                    <a:pt x="73075" y="3337560"/>
                  </a:lnTo>
                  <a:lnTo>
                    <a:pt x="3173031" y="3337204"/>
                  </a:lnTo>
                  <a:lnTo>
                    <a:pt x="3217409" y="3322157"/>
                  </a:lnTo>
                  <a:lnTo>
                    <a:pt x="3243674" y="3283202"/>
                  </a:lnTo>
                  <a:lnTo>
                    <a:pt x="3246120" y="3264128"/>
                  </a:lnTo>
                  <a:lnTo>
                    <a:pt x="3245751" y="73088"/>
                  </a:lnTo>
                  <a:lnTo>
                    <a:pt x="3230710" y="28710"/>
                  </a:lnTo>
                  <a:lnTo>
                    <a:pt x="3191710" y="2430"/>
                  </a:lnTo>
                  <a:lnTo>
                    <a:pt x="3182309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16044" y="1353235"/>
              <a:ext cx="3246120" cy="3337560"/>
            </a:xfrm>
            <a:custGeom>
              <a:avLst/>
              <a:gdLst/>
              <a:ahLst/>
              <a:cxnLst/>
              <a:rect l="l" t="t" r="r" b="b"/>
              <a:pathLst>
                <a:path w="3246120" h="33375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053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353" y="15109"/>
                  </a:lnTo>
                  <a:lnTo>
                    <a:pt x="3243322" y="54365"/>
                  </a:lnTo>
                  <a:lnTo>
                    <a:pt x="3245751" y="73088"/>
                  </a:lnTo>
                  <a:lnTo>
                    <a:pt x="3246120" y="3264128"/>
                  </a:lnTo>
                  <a:lnTo>
                    <a:pt x="3245512" y="3273760"/>
                  </a:lnTo>
                  <a:lnTo>
                    <a:pt x="3243689" y="3283157"/>
                  </a:lnTo>
                  <a:lnTo>
                    <a:pt x="3217409" y="3322157"/>
                  </a:lnTo>
                  <a:lnTo>
                    <a:pt x="3173031" y="3337204"/>
                  </a:lnTo>
                  <a:lnTo>
                    <a:pt x="73075" y="3337560"/>
                  </a:lnTo>
                  <a:lnTo>
                    <a:pt x="28398" y="3322463"/>
                  </a:lnTo>
                  <a:lnTo>
                    <a:pt x="2428" y="3283202"/>
                  </a:lnTo>
                  <a:lnTo>
                    <a:pt x="0" y="3264484"/>
                  </a:lnTo>
                  <a:lnTo>
                    <a:pt x="0" y="73088"/>
                  </a:lnTo>
                  <a:close/>
                </a:path>
              </a:pathLst>
            </a:custGeom>
            <a:ln w="1511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40755" y="1627200"/>
              <a:ext cx="786765" cy="786765"/>
            </a:xfrm>
            <a:custGeom>
              <a:avLst/>
              <a:gdLst/>
              <a:ahLst/>
              <a:cxnLst/>
              <a:rect l="l" t="t" r="r" b="b"/>
              <a:pathLst>
                <a:path w="786764" h="786764">
                  <a:moveTo>
                    <a:pt x="393128" y="0"/>
                  </a:moveTo>
                  <a:lnTo>
                    <a:pt x="341656" y="3352"/>
                  </a:lnTo>
                  <a:lnTo>
                    <a:pt x="291333" y="13319"/>
                  </a:lnTo>
                  <a:lnTo>
                    <a:pt x="242765" y="29768"/>
                  </a:lnTo>
                  <a:lnTo>
                    <a:pt x="196557" y="52565"/>
                  </a:lnTo>
                  <a:lnTo>
                    <a:pt x="153710" y="81239"/>
                  </a:lnTo>
                  <a:lnTo>
                    <a:pt x="115112" y="115112"/>
                  </a:lnTo>
                  <a:lnTo>
                    <a:pt x="81239" y="153710"/>
                  </a:lnTo>
                  <a:lnTo>
                    <a:pt x="52565" y="196557"/>
                  </a:lnTo>
                  <a:lnTo>
                    <a:pt x="29773" y="242764"/>
                  </a:lnTo>
                  <a:lnTo>
                    <a:pt x="13323" y="291331"/>
                  </a:lnTo>
                  <a:lnTo>
                    <a:pt x="3353" y="341651"/>
                  </a:lnTo>
                  <a:lnTo>
                    <a:pt x="0" y="393115"/>
                  </a:lnTo>
                  <a:lnTo>
                    <a:pt x="3353" y="444587"/>
                  </a:lnTo>
                  <a:lnTo>
                    <a:pt x="13323" y="494909"/>
                  </a:lnTo>
                  <a:lnTo>
                    <a:pt x="29773" y="543473"/>
                  </a:lnTo>
                  <a:lnTo>
                    <a:pt x="52565" y="589673"/>
                  </a:lnTo>
                  <a:lnTo>
                    <a:pt x="81239" y="632528"/>
                  </a:lnTo>
                  <a:lnTo>
                    <a:pt x="115112" y="671129"/>
                  </a:lnTo>
                  <a:lnTo>
                    <a:pt x="153710" y="705004"/>
                  </a:lnTo>
                  <a:lnTo>
                    <a:pt x="196557" y="733679"/>
                  </a:lnTo>
                  <a:lnTo>
                    <a:pt x="242765" y="756470"/>
                  </a:lnTo>
                  <a:lnTo>
                    <a:pt x="291333" y="772920"/>
                  </a:lnTo>
                  <a:lnTo>
                    <a:pt x="341656" y="782890"/>
                  </a:lnTo>
                  <a:lnTo>
                    <a:pt x="393128" y="786244"/>
                  </a:lnTo>
                  <a:lnTo>
                    <a:pt x="444593" y="782890"/>
                  </a:lnTo>
                  <a:lnTo>
                    <a:pt x="494912" y="772920"/>
                  </a:lnTo>
                  <a:lnTo>
                    <a:pt x="543479" y="756470"/>
                  </a:lnTo>
                  <a:lnTo>
                    <a:pt x="589686" y="733679"/>
                  </a:lnTo>
                  <a:lnTo>
                    <a:pt x="632534" y="705004"/>
                  </a:lnTo>
                  <a:lnTo>
                    <a:pt x="671131" y="671129"/>
                  </a:lnTo>
                  <a:lnTo>
                    <a:pt x="705004" y="632528"/>
                  </a:lnTo>
                  <a:lnTo>
                    <a:pt x="733679" y="589673"/>
                  </a:lnTo>
                  <a:lnTo>
                    <a:pt x="756476" y="543473"/>
                  </a:lnTo>
                  <a:lnTo>
                    <a:pt x="772925" y="494909"/>
                  </a:lnTo>
                  <a:lnTo>
                    <a:pt x="782892" y="444587"/>
                  </a:lnTo>
                  <a:lnTo>
                    <a:pt x="786244" y="393115"/>
                  </a:lnTo>
                  <a:lnTo>
                    <a:pt x="782892" y="341651"/>
                  </a:lnTo>
                  <a:lnTo>
                    <a:pt x="772925" y="291331"/>
                  </a:lnTo>
                  <a:lnTo>
                    <a:pt x="756476" y="242764"/>
                  </a:lnTo>
                  <a:lnTo>
                    <a:pt x="733679" y="196557"/>
                  </a:lnTo>
                  <a:lnTo>
                    <a:pt x="705004" y="153710"/>
                  </a:lnTo>
                  <a:lnTo>
                    <a:pt x="671131" y="115112"/>
                  </a:lnTo>
                  <a:lnTo>
                    <a:pt x="632534" y="81239"/>
                  </a:lnTo>
                  <a:lnTo>
                    <a:pt x="589686" y="52565"/>
                  </a:lnTo>
                  <a:lnTo>
                    <a:pt x="543479" y="29768"/>
                  </a:lnTo>
                  <a:lnTo>
                    <a:pt x="494912" y="13319"/>
                  </a:lnTo>
                  <a:lnTo>
                    <a:pt x="444593" y="3352"/>
                  </a:lnTo>
                  <a:lnTo>
                    <a:pt x="393128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36577" y="1824748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2</a:t>
            </a:r>
            <a:endParaRPr lang="es-ES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14061" y="2452458"/>
            <a:ext cx="1646555" cy="858519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415"/>
              </a:spcBef>
            </a:pPr>
            <a:r>
              <a:rPr lang="es-ES" sz="2300" b="1" spc="-10">
                <a:solidFill>
                  <a:srgbClr val="296D6F"/>
                </a:solidFill>
                <a:latin typeface="Arial"/>
                <a:cs typeface="Arial"/>
              </a:rPr>
              <a:t>ATLAS</a:t>
            </a:r>
            <a:endParaRPr lang="es-ES" sz="2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lang="es-ES" sz="1400" b="1">
                <a:solidFill>
                  <a:srgbClr val="64726B"/>
                </a:solidFill>
                <a:latin typeface="Arial"/>
                <a:cs typeface="Arial"/>
              </a:rPr>
              <a:t>Instrumento</a:t>
            </a:r>
            <a:r>
              <a:rPr lang="es-ES" sz="1400" b="1" spc="-3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400" b="1" spc="-20">
                <a:solidFill>
                  <a:srgbClr val="64726B"/>
                </a:solidFill>
                <a:latin typeface="Arial"/>
                <a:cs typeface="Arial"/>
              </a:rPr>
              <a:t>LiDAR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1501" y="3589820"/>
            <a:ext cx="2484755" cy="7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 algn="just">
              <a:lnSpc>
                <a:spcPct val="100000"/>
              </a:lnSpc>
              <a:spcBef>
                <a:spcPts val="100"/>
              </a:spcBef>
            </a:pP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Altímetro</a:t>
            </a:r>
            <a:r>
              <a:rPr lang="es-MX" sz="155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láser</a:t>
            </a:r>
            <a:r>
              <a:rPr lang="es-MX" sz="155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5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conteo</a:t>
            </a:r>
            <a:r>
              <a:rPr lang="es-MX" sz="155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spc="-25">
                <a:solidFill>
                  <a:srgbClr val="1F2F28"/>
                </a:solidFill>
                <a:latin typeface="Arial"/>
                <a:cs typeface="Arial"/>
              </a:rPr>
              <a:t>de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fotones,</a:t>
            </a:r>
            <a:r>
              <a:rPr lang="es-MX" sz="15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532</a:t>
            </a:r>
            <a:r>
              <a:rPr lang="es-MX" sz="15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nm,</a:t>
            </a:r>
            <a:r>
              <a:rPr lang="es-MX" sz="15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seis</a:t>
            </a:r>
            <a:r>
              <a:rPr lang="es-MX" sz="15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spc="-20">
                <a:solidFill>
                  <a:srgbClr val="1F2F28"/>
                </a:solidFill>
                <a:latin typeface="Arial"/>
                <a:cs typeface="Arial"/>
              </a:rPr>
              <a:t>haces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organizados</a:t>
            </a:r>
            <a:r>
              <a:rPr lang="es-MX" sz="155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55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>
                <a:solidFill>
                  <a:srgbClr val="1F2F28"/>
                </a:solidFill>
                <a:latin typeface="Arial"/>
                <a:cs typeface="Arial"/>
              </a:rPr>
              <a:t>tres</a:t>
            </a:r>
            <a:r>
              <a:rPr lang="es-MX" sz="155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spc="-10">
                <a:solidFill>
                  <a:srgbClr val="1F2F28"/>
                </a:solidFill>
                <a:latin typeface="Arial"/>
                <a:cs typeface="Arial"/>
              </a:rPr>
              <a:t>pares.</a:t>
            </a:r>
            <a:endParaRPr lang="es-MX" sz="15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84435" y="1345645"/>
            <a:ext cx="3261360" cy="3352800"/>
            <a:chOff x="7984435" y="1345675"/>
            <a:chExt cx="3261360" cy="33528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0" name="object 20"/>
            <p:cNvSpPr/>
            <p:nvPr/>
          </p:nvSpPr>
          <p:spPr>
            <a:xfrm>
              <a:off x="7991995" y="1353235"/>
              <a:ext cx="3246120" cy="3337560"/>
            </a:xfrm>
            <a:custGeom>
              <a:avLst/>
              <a:gdLst/>
              <a:ahLst/>
              <a:cxnLst/>
              <a:rect l="l" t="t" r="r" b="b"/>
              <a:pathLst>
                <a:path w="3246120" h="3337560">
                  <a:moveTo>
                    <a:pt x="317268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264484"/>
                  </a:lnTo>
                  <a:lnTo>
                    <a:pt x="597" y="3273760"/>
                  </a:lnTo>
                  <a:lnTo>
                    <a:pt x="607" y="3273910"/>
                  </a:lnTo>
                  <a:lnTo>
                    <a:pt x="21291" y="3316101"/>
                  </a:lnTo>
                  <a:lnTo>
                    <a:pt x="63449" y="3336952"/>
                  </a:lnTo>
                  <a:lnTo>
                    <a:pt x="73088" y="3337560"/>
                  </a:lnTo>
                  <a:lnTo>
                    <a:pt x="3173044" y="3337204"/>
                  </a:lnTo>
                  <a:lnTo>
                    <a:pt x="3217421" y="3322157"/>
                  </a:lnTo>
                  <a:lnTo>
                    <a:pt x="3243676" y="3283202"/>
                  </a:lnTo>
                  <a:lnTo>
                    <a:pt x="3246097" y="3264484"/>
                  </a:lnTo>
                  <a:lnTo>
                    <a:pt x="3246119" y="3264128"/>
                  </a:lnTo>
                  <a:lnTo>
                    <a:pt x="3245764" y="73088"/>
                  </a:lnTo>
                  <a:lnTo>
                    <a:pt x="3230717" y="28710"/>
                  </a:lnTo>
                  <a:lnTo>
                    <a:pt x="3191717" y="2430"/>
                  </a:lnTo>
                  <a:lnTo>
                    <a:pt x="3182320" y="607"/>
                  </a:lnTo>
                  <a:lnTo>
                    <a:pt x="317268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91995" y="1353235"/>
              <a:ext cx="3246120" cy="3337560"/>
            </a:xfrm>
            <a:custGeom>
              <a:avLst/>
              <a:gdLst/>
              <a:ahLst/>
              <a:cxnLst/>
              <a:rect l="l" t="t" r="r" b="b"/>
              <a:pathLst>
                <a:path w="3246120" h="333756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053"/>
                  </a:lnTo>
                  <a:lnTo>
                    <a:pt x="73088" y="0"/>
                  </a:lnTo>
                  <a:lnTo>
                    <a:pt x="3172688" y="0"/>
                  </a:lnTo>
                  <a:lnTo>
                    <a:pt x="3217364" y="15109"/>
                  </a:lnTo>
                  <a:lnTo>
                    <a:pt x="3243335" y="54365"/>
                  </a:lnTo>
                  <a:lnTo>
                    <a:pt x="3245764" y="73088"/>
                  </a:lnTo>
                  <a:lnTo>
                    <a:pt x="3246119" y="3264128"/>
                  </a:lnTo>
                  <a:lnTo>
                    <a:pt x="3245512" y="3273760"/>
                  </a:lnTo>
                  <a:lnTo>
                    <a:pt x="3243691" y="3283157"/>
                  </a:lnTo>
                  <a:lnTo>
                    <a:pt x="3217421" y="3322157"/>
                  </a:lnTo>
                  <a:lnTo>
                    <a:pt x="3173044" y="3337204"/>
                  </a:lnTo>
                  <a:lnTo>
                    <a:pt x="73088" y="3337560"/>
                  </a:lnTo>
                  <a:lnTo>
                    <a:pt x="28405" y="3322463"/>
                  </a:lnTo>
                  <a:lnTo>
                    <a:pt x="2430" y="3283202"/>
                  </a:lnTo>
                  <a:lnTo>
                    <a:pt x="0" y="3264484"/>
                  </a:lnTo>
                  <a:lnTo>
                    <a:pt x="0" y="73088"/>
                  </a:lnTo>
                  <a:close/>
                </a:path>
              </a:pathLst>
            </a:custGeom>
            <a:ln w="1511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16720" y="1627200"/>
              <a:ext cx="786765" cy="786765"/>
            </a:xfrm>
            <a:custGeom>
              <a:avLst/>
              <a:gdLst/>
              <a:ahLst/>
              <a:cxnLst/>
              <a:rect l="l" t="t" r="r" b="b"/>
              <a:pathLst>
                <a:path w="786765" h="786764">
                  <a:moveTo>
                    <a:pt x="393115" y="0"/>
                  </a:moveTo>
                  <a:lnTo>
                    <a:pt x="341651" y="3352"/>
                  </a:lnTo>
                  <a:lnTo>
                    <a:pt x="291331" y="13319"/>
                  </a:lnTo>
                  <a:lnTo>
                    <a:pt x="242764" y="29768"/>
                  </a:lnTo>
                  <a:lnTo>
                    <a:pt x="196557" y="52565"/>
                  </a:lnTo>
                  <a:lnTo>
                    <a:pt x="153710" y="81239"/>
                  </a:lnTo>
                  <a:lnTo>
                    <a:pt x="115112" y="115112"/>
                  </a:lnTo>
                  <a:lnTo>
                    <a:pt x="81239" y="153710"/>
                  </a:lnTo>
                  <a:lnTo>
                    <a:pt x="52565" y="196557"/>
                  </a:lnTo>
                  <a:lnTo>
                    <a:pt x="29768" y="242764"/>
                  </a:lnTo>
                  <a:lnTo>
                    <a:pt x="13319" y="291331"/>
                  </a:lnTo>
                  <a:lnTo>
                    <a:pt x="3352" y="341651"/>
                  </a:lnTo>
                  <a:lnTo>
                    <a:pt x="0" y="393115"/>
                  </a:lnTo>
                  <a:lnTo>
                    <a:pt x="3352" y="444587"/>
                  </a:lnTo>
                  <a:lnTo>
                    <a:pt x="13319" y="494909"/>
                  </a:lnTo>
                  <a:lnTo>
                    <a:pt x="29768" y="543473"/>
                  </a:lnTo>
                  <a:lnTo>
                    <a:pt x="52565" y="589673"/>
                  </a:lnTo>
                  <a:lnTo>
                    <a:pt x="81239" y="632528"/>
                  </a:lnTo>
                  <a:lnTo>
                    <a:pt x="115112" y="671129"/>
                  </a:lnTo>
                  <a:lnTo>
                    <a:pt x="153710" y="705004"/>
                  </a:lnTo>
                  <a:lnTo>
                    <a:pt x="196557" y="733679"/>
                  </a:lnTo>
                  <a:lnTo>
                    <a:pt x="242764" y="756470"/>
                  </a:lnTo>
                  <a:lnTo>
                    <a:pt x="291331" y="772920"/>
                  </a:lnTo>
                  <a:lnTo>
                    <a:pt x="341651" y="782890"/>
                  </a:lnTo>
                  <a:lnTo>
                    <a:pt x="393115" y="786244"/>
                  </a:lnTo>
                  <a:lnTo>
                    <a:pt x="444587" y="782890"/>
                  </a:lnTo>
                  <a:lnTo>
                    <a:pt x="494909" y="772920"/>
                  </a:lnTo>
                  <a:lnTo>
                    <a:pt x="543473" y="756470"/>
                  </a:lnTo>
                  <a:lnTo>
                    <a:pt x="589673" y="733679"/>
                  </a:lnTo>
                  <a:lnTo>
                    <a:pt x="632528" y="705004"/>
                  </a:lnTo>
                  <a:lnTo>
                    <a:pt x="671129" y="671129"/>
                  </a:lnTo>
                  <a:lnTo>
                    <a:pt x="705004" y="632528"/>
                  </a:lnTo>
                  <a:lnTo>
                    <a:pt x="733678" y="589673"/>
                  </a:lnTo>
                  <a:lnTo>
                    <a:pt x="756470" y="543473"/>
                  </a:lnTo>
                  <a:lnTo>
                    <a:pt x="772920" y="494909"/>
                  </a:lnTo>
                  <a:lnTo>
                    <a:pt x="782890" y="444587"/>
                  </a:lnTo>
                  <a:lnTo>
                    <a:pt x="786244" y="393115"/>
                  </a:lnTo>
                  <a:lnTo>
                    <a:pt x="782890" y="341651"/>
                  </a:lnTo>
                  <a:lnTo>
                    <a:pt x="772920" y="291331"/>
                  </a:lnTo>
                  <a:lnTo>
                    <a:pt x="756470" y="242764"/>
                  </a:lnTo>
                  <a:lnTo>
                    <a:pt x="733678" y="196557"/>
                  </a:lnTo>
                  <a:lnTo>
                    <a:pt x="705004" y="153710"/>
                  </a:lnTo>
                  <a:lnTo>
                    <a:pt x="671129" y="115112"/>
                  </a:lnTo>
                  <a:lnTo>
                    <a:pt x="632528" y="81239"/>
                  </a:lnTo>
                  <a:lnTo>
                    <a:pt x="589673" y="52565"/>
                  </a:lnTo>
                  <a:lnTo>
                    <a:pt x="543473" y="29768"/>
                  </a:lnTo>
                  <a:lnTo>
                    <a:pt x="494909" y="13319"/>
                  </a:lnTo>
                  <a:lnTo>
                    <a:pt x="444587" y="3352"/>
                  </a:lnTo>
                  <a:lnTo>
                    <a:pt x="393115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512541" y="1824748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3</a:t>
            </a:r>
            <a:endParaRPr lang="es-ES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17901" y="2452458"/>
            <a:ext cx="1191895" cy="858519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415"/>
              </a:spcBef>
            </a:pPr>
            <a:r>
              <a:rPr lang="es-ES" sz="2300" b="1" spc="-10">
                <a:solidFill>
                  <a:srgbClr val="1D4938"/>
                </a:solidFill>
                <a:latin typeface="Arial"/>
                <a:cs typeface="Arial"/>
              </a:rPr>
              <a:t>ATL08</a:t>
            </a:r>
            <a:endParaRPr lang="es-ES" sz="2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lang="es-ES" sz="1400" b="1">
                <a:solidFill>
                  <a:srgbClr val="64726B"/>
                </a:solidFill>
                <a:latin typeface="Arial"/>
                <a:cs typeface="Arial"/>
              </a:rPr>
              <a:t>Producto</a:t>
            </a:r>
            <a:r>
              <a:rPr lang="es-ES" sz="1400" b="1" spc="-3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400" b="1" spc="-25">
                <a:solidFill>
                  <a:srgbClr val="64726B"/>
                </a:solidFill>
                <a:latin typeface="Arial"/>
                <a:cs typeface="Arial"/>
              </a:rPr>
              <a:t>L3A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83943" y="3577577"/>
            <a:ext cx="2474595" cy="8312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2540" algn="ctr">
              <a:lnSpc>
                <a:spcPts val="1510"/>
              </a:lnSpc>
              <a:spcBef>
                <a:spcPts val="390"/>
              </a:spcBef>
            </a:pPr>
            <a:r>
              <a:rPr lang="es-MX" sz="1500" spc="-50">
                <a:solidFill>
                  <a:srgbClr val="1F2F28"/>
                </a:solidFill>
                <a:latin typeface="Arial"/>
                <a:cs typeface="Arial"/>
              </a:rPr>
              <a:t>Producto</a:t>
            </a:r>
            <a:r>
              <a:rPr lang="es-MX" sz="15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4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5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50">
                <a:solidFill>
                  <a:srgbClr val="1F2F28"/>
                </a:solidFill>
                <a:latin typeface="Arial"/>
                <a:cs typeface="Arial"/>
              </a:rPr>
              <a:t>terreno</a:t>
            </a:r>
            <a:r>
              <a:rPr lang="es-MX" sz="15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50">
                <a:solidFill>
                  <a:srgbClr val="1F2F28"/>
                </a:solidFill>
                <a:latin typeface="Arial"/>
                <a:cs typeface="Arial"/>
              </a:rPr>
              <a:t>y </a:t>
            </a:r>
            <a:r>
              <a:rPr lang="es-MX" sz="1500" spc="-55">
                <a:solidFill>
                  <a:srgbClr val="1F2F28"/>
                </a:solidFill>
                <a:latin typeface="Arial"/>
                <a:cs typeface="Arial"/>
              </a:rPr>
              <a:t>vegetación</a:t>
            </a:r>
            <a:r>
              <a:rPr lang="es-MX" sz="15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55">
                <a:solidFill>
                  <a:srgbClr val="1F2F28"/>
                </a:solidFill>
                <a:latin typeface="Arial"/>
                <a:cs typeface="Arial"/>
              </a:rPr>
              <a:t>derivado</a:t>
            </a:r>
            <a:r>
              <a:rPr lang="es-MX" sz="15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45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500" spc="-1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55">
                <a:solidFill>
                  <a:srgbClr val="1F2F28"/>
                </a:solidFill>
                <a:latin typeface="Arial"/>
                <a:cs typeface="Arial"/>
              </a:rPr>
              <a:t>ATL03, </a:t>
            </a:r>
            <a:r>
              <a:rPr lang="es-MX" sz="1500" spc="-60">
                <a:solidFill>
                  <a:srgbClr val="1F2F28"/>
                </a:solidFill>
                <a:latin typeface="Arial"/>
                <a:cs typeface="Arial"/>
              </a:rPr>
              <a:t>agregado</a:t>
            </a:r>
            <a:r>
              <a:rPr lang="es-MX" sz="15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40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500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rgbClr val="1F2F28"/>
                </a:solidFill>
                <a:latin typeface="Arial"/>
                <a:cs typeface="Arial"/>
              </a:rPr>
              <a:t>segmentos </a:t>
            </a:r>
            <a:r>
              <a:rPr lang="es-MX" sz="1500" spc="-55">
                <a:solidFill>
                  <a:srgbClr val="1F2F28"/>
                </a:solidFill>
                <a:latin typeface="Arial"/>
                <a:cs typeface="Arial"/>
              </a:rPr>
              <a:t>nominales </a:t>
            </a:r>
            <a:r>
              <a:rPr lang="es-MX" sz="1500" spc="-4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5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55">
                <a:solidFill>
                  <a:srgbClr val="1F2F28"/>
                </a:solidFill>
                <a:latin typeface="Arial"/>
                <a:cs typeface="Arial"/>
              </a:rPr>
              <a:t>100</a:t>
            </a:r>
            <a:r>
              <a:rPr lang="es-MX" sz="15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spc="-25">
                <a:solidFill>
                  <a:srgbClr val="1F2F28"/>
                </a:solidFill>
                <a:latin typeface="Arial"/>
                <a:cs typeface="Arial"/>
              </a:rPr>
              <a:t>m.</a:t>
            </a:r>
            <a:endParaRPr lang="es-MX" sz="1500">
              <a:latin typeface="Arial"/>
              <a:cs typeface="Arial"/>
            </a:endParaRP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F11CBC14-5FA7-9AE4-19C5-6F99C8DD29AE}"/>
              </a:ext>
            </a:extLst>
          </p:cNvPr>
          <p:cNvGrpSpPr/>
          <p:nvPr/>
        </p:nvGrpSpPr>
        <p:grpSpPr>
          <a:xfrm>
            <a:off x="552000" y="5069696"/>
            <a:ext cx="11088000" cy="612000"/>
            <a:chOff x="646800" y="5069696"/>
            <a:chExt cx="11088000" cy="612000"/>
          </a:xfrm>
        </p:grpSpPr>
        <p:grpSp>
          <p:nvGrpSpPr>
            <p:cNvPr id="32" name="object 32"/>
            <p:cNvGrpSpPr/>
            <p:nvPr/>
          </p:nvGrpSpPr>
          <p:grpSpPr>
            <a:xfrm>
              <a:off x="646800" y="5069696"/>
              <a:ext cx="11088000" cy="612000"/>
              <a:chOff x="1229584" y="5069696"/>
              <a:chExt cx="9747885" cy="713740"/>
            </a:xfrm>
          </p:grpSpPr>
          <p:sp>
            <p:nvSpPr>
              <p:cNvPr id="33" name="object 33"/>
              <p:cNvSpPr/>
              <p:nvPr/>
            </p:nvSpPr>
            <p:spPr>
              <a:xfrm>
                <a:off x="1234084" y="5074196"/>
                <a:ext cx="9738995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9738995" h="704850">
                    <a:moveTo>
                      <a:pt x="64439" y="0"/>
                    </a:moveTo>
                    <a:lnTo>
                      <a:pt x="25397" y="13364"/>
                    </a:lnTo>
                    <a:lnTo>
                      <a:pt x="2516" y="47520"/>
                    </a:lnTo>
                    <a:lnTo>
                      <a:pt x="0" y="640448"/>
                    </a:lnTo>
                    <a:lnTo>
                      <a:pt x="538" y="648790"/>
                    </a:lnTo>
                    <a:lnTo>
                      <a:pt x="18731" y="685666"/>
                    </a:lnTo>
                    <a:lnTo>
                      <a:pt x="55728" y="703981"/>
                    </a:lnTo>
                    <a:lnTo>
                      <a:pt x="64071" y="704519"/>
                    </a:lnTo>
                    <a:lnTo>
                      <a:pt x="9674631" y="704519"/>
                    </a:lnTo>
                    <a:lnTo>
                      <a:pt x="9713673" y="691162"/>
                    </a:lnTo>
                    <a:lnTo>
                      <a:pt x="9736555" y="657001"/>
                    </a:lnTo>
                    <a:lnTo>
                      <a:pt x="9738715" y="640448"/>
                    </a:lnTo>
                    <a:lnTo>
                      <a:pt x="9738692" y="64084"/>
                    </a:lnTo>
                    <a:lnTo>
                      <a:pt x="9725357" y="25402"/>
                    </a:lnTo>
                    <a:lnTo>
                      <a:pt x="9691195" y="2524"/>
                    </a:lnTo>
                    <a:lnTo>
                      <a:pt x="64439" y="0"/>
                    </a:lnTo>
                    <a:close/>
                  </a:path>
                </a:pathLst>
              </a:custGeom>
              <a:solidFill>
                <a:srgbClr val="DCE6E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1234084" y="5074196"/>
                <a:ext cx="9738995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9738995" h="704850">
                    <a:moveTo>
                      <a:pt x="355" y="64084"/>
                    </a:moveTo>
                    <a:lnTo>
                      <a:pt x="895" y="55734"/>
                    </a:lnTo>
                    <a:lnTo>
                      <a:pt x="2516" y="47520"/>
                    </a:lnTo>
                    <a:lnTo>
                      <a:pt x="25397" y="13364"/>
                    </a:lnTo>
                    <a:lnTo>
                      <a:pt x="64439" y="0"/>
                    </a:lnTo>
                    <a:lnTo>
                      <a:pt x="9674631" y="368"/>
                    </a:lnTo>
                    <a:lnTo>
                      <a:pt x="9713623" y="13570"/>
                    </a:lnTo>
                    <a:lnTo>
                      <a:pt x="9736555" y="47885"/>
                    </a:lnTo>
                    <a:lnTo>
                      <a:pt x="9738715" y="64439"/>
                    </a:lnTo>
                    <a:lnTo>
                      <a:pt x="9738715" y="640448"/>
                    </a:lnTo>
                    <a:lnTo>
                      <a:pt x="9738175" y="648790"/>
                    </a:lnTo>
                    <a:lnTo>
                      <a:pt x="9736555" y="657001"/>
                    </a:lnTo>
                    <a:lnTo>
                      <a:pt x="9713673" y="691162"/>
                    </a:lnTo>
                    <a:lnTo>
                      <a:pt x="9674631" y="704519"/>
                    </a:lnTo>
                    <a:lnTo>
                      <a:pt x="64071" y="704519"/>
                    </a:lnTo>
                    <a:lnTo>
                      <a:pt x="25086" y="691317"/>
                    </a:lnTo>
                    <a:lnTo>
                      <a:pt x="2155" y="657001"/>
                    </a:lnTo>
                    <a:lnTo>
                      <a:pt x="0" y="640448"/>
                    </a:lnTo>
                    <a:lnTo>
                      <a:pt x="355" y="64084"/>
                    </a:lnTo>
                    <a:close/>
                  </a:path>
                </a:pathLst>
              </a:custGeom>
              <a:ln w="8999">
                <a:solidFill>
                  <a:srgbClr val="1D493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1234439" y="5074564"/>
                <a:ext cx="82550" cy="70421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04214">
                    <a:moveTo>
                      <a:pt x="82080" y="0"/>
                    </a:moveTo>
                    <a:lnTo>
                      <a:pt x="0" y="0"/>
                    </a:lnTo>
                    <a:lnTo>
                      <a:pt x="0" y="703795"/>
                    </a:lnTo>
                    <a:lnTo>
                      <a:pt x="41033" y="703795"/>
                    </a:lnTo>
                    <a:lnTo>
                      <a:pt x="82080" y="703795"/>
                    </a:lnTo>
                    <a:lnTo>
                      <a:pt x="82080" y="0"/>
                    </a:lnTo>
                    <a:close/>
                  </a:path>
                </a:pathLst>
              </a:custGeom>
              <a:solidFill>
                <a:srgbClr val="1D493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6" name="object 36"/>
            <p:cNvSpPr txBox="1"/>
            <p:nvPr/>
          </p:nvSpPr>
          <p:spPr>
            <a:xfrm>
              <a:off x="838200" y="5276497"/>
              <a:ext cx="10836000" cy="22826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606550" marR="5080" indent="-1594485" algn="just">
                <a:lnSpc>
                  <a:spcPct val="100000"/>
                </a:lnSpc>
                <a:spcBef>
                  <a:spcPts val="100"/>
                </a:spcBef>
              </a:pPr>
              <a:r>
                <a:rPr lang="es-MX" sz="1400" b="1">
                  <a:solidFill>
                    <a:srgbClr val="1F2F28"/>
                  </a:solidFill>
                  <a:latin typeface="Arial"/>
                  <a:cs typeface="Arial"/>
                </a:rPr>
                <a:t>Cadena</a:t>
              </a:r>
              <a:r>
                <a:rPr lang="es-MX" sz="1400" b="1" spc="-4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>
                  <a:solidFill>
                    <a:srgbClr val="1F2F28"/>
                  </a:solidFill>
                  <a:latin typeface="Arial"/>
                  <a:cs typeface="Arial"/>
                </a:rPr>
                <a:t>conceptual:</a:t>
              </a:r>
              <a:r>
                <a:rPr lang="es-MX" sz="1400" b="1" spc="-4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 spc="-10">
                  <a:solidFill>
                    <a:srgbClr val="1F2F28"/>
                  </a:solidFill>
                  <a:latin typeface="Arial"/>
                  <a:cs typeface="Arial"/>
                </a:rPr>
                <a:t>ICESat-</a:t>
              </a:r>
              <a:r>
                <a:rPr lang="es-MX" sz="1400" b="1">
                  <a:solidFill>
                    <a:srgbClr val="1F2F28"/>
                  </a:solidFill>
                  <a:latin typeface="Arial"/>
                  <a:cs typeface="Arial"/>
                </a:rPr>
                <a:t>2</a:t>
              </a:r>
              <a:r>
                <a:rPr lang="es-MX" sz="1400" b="1" spc="-5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>
                  <a:solidFill>
                    <a:srgbClr val="1F2F28"/>
                  </a:solidFill>
                  <a:latin typeface="Arial"/>
                  <a:cs typeface="Arial"/>
                </a:rPr>
                <a:t>(misión)</a:t>
              </a:r>
              <a:r>
                <a:rPr lang="es-MX" sz="1400" b="1" spc="-4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>
                  <a:solidFill>
                    <a:srgbClr val="1F2F28"/>
                  </a:solidFill>
                  <a:latin typeface="Arial"/>
                  <a:cs typeface="Arial"/>
                </a:rPr>
                <a:t>→</a:t>
              </a:r>
              <a:r>
                <a:rPr lang="es-MX" sz="1400" b="1" spc="-10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 spc="-20">
                  <a:solidFill>
                    <a:srgbClr val="1F2F28"/>
                  </a:solidFill>
                  <a:latin typeface="Arial"/>
                  <a:cs typeface="Arial"/>
                </a:rPr>
                <a:t>ATLAS</a:t>
              </a:r>
              <a:r>
                <a:rPr lang="es-MX" sz="1400" b="1" spc="-4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 spc="-10">
                  <a:solidFill>
                    <a:srgbClr val="1F2F28"/>
                  </a:solidFill>
                  <a:latin typeface="Arial"/>
                  <a:cs typeface="Arial"/>
                </a:rPr>
                <a:t>(instrumento)</a:t>
              </a:r>
              <a:r>
                <a:rPr lang="es-MX" sz="1400" b="1" spc="-4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>
                  <a:solidFill>
                    <a:srgbClr val="1F2F28"/>
                  </a:solidFill>
                  <a:latin typeface="Arial"/>
                  <a:cs typeface="Arial"/>
                </a:rPr>
                <a:t>→</a:t>
              </a:r>
              <a:r>
                <a:rPr lang="es-MX" sz="1400" b="1" spc="-10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 spc="-20">
                  <a:solidFill>
                    <a:srgbClr val="1F2F28"/>
                  </a:solidFill>
                  <a:latin typeface="Arial"/>
                  <a:cs typeface="Arial"/>
                </a:rPr>
                <a:t>ATL03</a:t>
              </a:r>
              <a:r>
                <a:rPr lang="es-MX" sz="1400" b="1" spc="-5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 spc="-10">
                  <a:solidFill>
                    <a:srgbClr val="1F2F28"/>
                  </a:solidFill>
                  <a:latin typeface="Arial"/>
                  <a:cs typeface="Arial"/>
                </a:rPr>
                <a:t>(fotones geolocalizados)</a:t>
              </a:r>
              <a:r>
                <a:rPr lang="es-MX" sz="1400" b="1" spc="-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>
                  <a:solidFill>
                    <a:srgbClr val="1F2F28"/>
                  </a:solidFill>
                  <a:latin typeface="Arial"/>
                  <a:cs typeface="Arial"/>
                </a:rPr>
                <a:t>→</a:t>
              </a:r>
              <a:r>
                <a:rPr lang="es-MX" sz="1400" b="1" spc="-9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 spc="-20">
                  <a:solidFill>
                    <a:srgbClr val="1F2F28"/>
                  </a:solidFill>
                  <a:latin typeface="Arial"/>
                  <a:cs typeface="Arial"/>
                </a:rPr>
                <a:t>ATL08</a:t>
              </a:r>
              <a:r>
                <a:rPr lang="es-MX" sz="1400" b="1" spc="-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>
                  <a:solidFill>
                    <a:srgbClr val="1F2F28"/>
                  </a:solidFill>
                  <a:latin typeface="Arial"/>
                  <a:cs typeface="Arial"/>
                </a:rPr>
                <a:t>(terreno</a:t>
              </a:r>
              <a:r>
                <a:rPr lang="es-MX" sz="1400" b="1" spc="-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>
                  <a:solidFill>
                    <a:srgbClr val="1F2F28"/>
                  </a:solidFill>
                  <a:latin typeface="Arial"/>
                  <a:cs typeface="Arial"/>
                </a:rPr>
                <a:t>y</a:t>
              </a:r>
              <a:r>
                <a:rPr lang="es-MX" sz="1400" b="1" spc="-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400" b="1" spc="-10">
                  <a:solidFill>
                    <a:srgbClr val="1F2F28"/>
                  </a:solidFill>
                  <a:latin typeface="Arial"/>
                  <a:cs typeface="Arial"/>
                </a:rPr>
                <a:t>vegetación).</a:t>
              </a:r>
              <a:endParaRPr lang="es-MX" sz="1400">
                <a:latin typeface="Arial"/>
                <a:cs typeface="Arial"/>
              </a:endParaRPr>
            </a:p>
          </p:txBody>
        </p:sp>
      </p:grpSp>
      <p:sp>
        <p:nvSpPr>
          <p:cNvPr id="44" name="Flecha: a la derecha 43">
            <a:extLst>
              <a:ext uri="{FF2B5EF4-FFF2-40B4-BE49-F238E27FC236}">
                <a16:creationId xmlns:a16="http://schemas.microsoft.com/office/drawing/2014/main" id="{C28D31D1-DEA7-D70A-2AFE-396177FC4FC8}"/>
              </a:ext>
            </a:extLst>
          </p:cNvPr>
          <p:cNvSpPr/>
          <p:nvPr/>
        </p:nvSpPr>
        <p:spPr>
          <a:xfrm>
            <a:off x="3962400" y="2894753"/>
            <a:ext cx="273913" cy="2545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Flecha: a la derecha 45">
            <a:extLst>
              <a:ext uri="{FF2B5EF4-FFF2-40B4-BE49-F238E27FC236}">
                <a16:creationId xmlns:a16="http://schemas.microsoft.com/office/drawing/2014/main" id="{77512978-989F-04DF-8700-80B6C8E7F3B3}"/>
              </a:ext>
            </a:extLst>
          </p:cNvPr>
          <p:cNvSpPr/>
          <p:nvPr/>
        </p:nvSpPr>
        <p:spPr>
          <a:xfrm>
            <a:off x="7650887" y="2894753"/>
            <a:ext cx="273913" cy="2545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8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9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6/43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Cómo</a:t>
            </a:r>
            <a:r>
              <a:rPr spc="-60"/>
              <a:t> </a:t>
            </a:r>
            <a:r>
              <a:t>mide</a:t>
            </a:r>
            <a:r>
              <a:rPr spc="-140"/>
              <a:t> </a:t>
            </a:r>
            <a:r>
              <a:rPr spc="-20"/>
              <a:t>ATLAS:</a:t>
            </a:r>
            <a:r>
              <a:rPr spc="-55"/>
              <a:t> </a:t>
            </a:r>
            <a:r>
              <a:t>tiempo</a:t>
            </a:r>
            <a:r>
              <a:rPr spc="-50"/>
              <a:t> </a:t>
            </a:r>
            <a:r>
              <a:t>de</a:t>
            </a:r>
            <a:r>
              <a:rPr spc="-55"/>
              <a:t> </a:t>
            </a:r>
            <a:r>
              <a:t>vuelo</a:t>
            </a:r>
            <a:r>
              <a:rPr spc="-55"/>
              <a:t> </a:t>
            </a:r>
            <a:r>
              <a:t>y</a:t>
            </a:r>
            <a:r>
              <a:rPr spc="-55"/>
              <a:t> </a:t>
            </a:r>
            <a:r>
              <a:t>conteo</a:t>
            </a:r>
            <a:r>
              <a:rPr spc="-55"/>
              <a:t> </a:t>
            </a:r>
            <a:r>
              <a:t>de</a:t>
            </a:r>
            <a:r>
              <a:rPr spc="-55"/>
              <a:t> </a:t>
            </a:r>
            <a:r>
              <a:rPr spc="-10"/>
              <a:t>fotones</a:t>
            </a:r>
          </a:p>
        </p:txBody>
      </p:sp>
      <p:sp>
        <p:nvSpPr>
          <p:cNvPr id="6" name="object 6"/>
          <p:cNvSpPr/>
          <p:nvPr/>
        </p:nvSpPr>
        <p:spPr>
          <a:xfrm>
            <a:off x="603364" y="1234083"/>
            <a:ext cx="6732000" cy="4860000"/>
          </a:xfrm>
          <a:custGeom>
            <a:avLst/>
            <a:gdLst/>
            <a:ahLst/>
            <a:cxnLst/>
            <a:rect l="l" t="t" r="r" b="b"/>
            <a:pathLst>
              <a:path w="6720840" h="4444365">
                <a:moveTo>
                  <a:pt x="666576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4389120"/>
                </a:lnTo>
                <a:lnTo>
                  <a:pt x="452" y="4395967"/>
                </a:lnTo>
                <a:lnTo>
                  <a:pt x="466" y="4396178"/>
                </a:lnTo>
                <a:lnTo>
                  <a:pt x="1799" y="4402978"/>
                </a:lnTo>
                <a:lnTo>
                  <a:pt x="1843" y="4403202"/>
                </a:lnTo>
                <a:lnTo>
                  <a:pt x="3997" y="4409718"/>
                </a:lnTo>
                <a:lnTo>
                  <a:pt x="4098" y="4410024"/>
                </a:lnTo>
                <a:lnTo>
                  <a:pt x="7200" y="4416475"/>
                </a:lnTo>
                <a:lnTo>
                  <a:pt x="40495" y="4441988"/>
                </a:lnTo>
                <a:lnTo>
                  <a:pt x="48065" y="4443476"/>
                </a:lnTo>
                <a:lnTo>
                  <a:pt x="49212" y="4443476"/>
                </a:lnTo>
                <a:lnTo>
                  <a:pt x="54711" y="4443831"/>
                </a:lnTo>
                <a:lnTo>
                  <a:pt x="6666115" y="4443476"/>
                </a:lnTo>
                <a:lnTo>
                  <a:pt x="6704769" y="4427550"/>
                </a:lnTo>
                <a:lnTo>
                  <a:pt x="6720330" y="4396178"/>
                </a:lnTo>
                <a:lnTo>
                  <a:pt x="6720372" y="4395967"/>
                </a:lnTo>
                <a:lnTo>
                  <a:pt x="6720816" y="4389120"/>
                </a:lnTo>
                <a:lnTo>
                  <a:pt x="6720839" y="4388751"/>
                </a:lnTo>
                <a:lnTo>
                  <a:pt x="6720471" y="54711"/>
                </a:lnTo>
                <a:lnTo>
                  <a:pt x="6704545" y="16059"/>
                </a:lnTo>
                <a:lnTo>
                  <a:pt x="6672968" y="466"/>
                </a:lnTo>
                <a:lnTo>
                  <a:pt x="6665760" y="0"/>
                </a:lnTo>
                <a:close/>
              </a:path>
            </a:pathLst>
          </a:custGeom>
          <a:solidFill>
            <a:srgbClr val="FBFAF6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58844" y="1481302"/>
            <a:ext cx="729615" cy="235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s-ES" sz="1450" b="1" spc="-10">
                <a:solidFill>
                  <a:srgbClr val="1D4938"/>
                </a:solidFill>
                <a:latin typeface="Arial"/>
                <a:cs typeface="Arial"/>
              </a:rPr>
              <a:t>Emisión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47908" y="1768792"/>
            <a:ext cx="975994" cy="2638425"/>
            <a:chOff x="4447908" y="1768792"/>
            <a:chExt cx="975994" cy="2638425"/>
          </a:xfrm>
        </p:grpSpPr>
        <p:sp>
          <p:nvSpPr>
            <p:cNvPr id="11" name="object 11"/>
            <p:cNvSpPr/>
            <p:nvPr/>
          </p:nvSpPr>
          <p:spPr>
            <a:xfrm>
              <a:off x="4462195" y="1783079"/>
              <a:ext cx="924560" cy="2550795"/>
            </a:xfrm>
            <a:custGeom>
              <a:avLst/>
              <a:gdLst/>
              <a:ahLst/>
              <a:cxnLst/>
              <a:rect l="l" t="t" r="r" b="b"/>
              <a:pathLst>
                <a:path w="924560" h="2550795">
                  <a:moveTo>
                    <a:pt x="0" y="0"/>
                  </a:moveTo>
                  <a:lnTo>
                    <a:pt x="924128" y="2550236"/>
                  </a:lnTo>
                </a:path>
              </a:pathLst>
            </a:custGeom>
            <a:ln w="2807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44553" y="4313516"/>
              <a:ext cx="79375" cy="93980"/>
            </a:xfrm>
            <a:custGeom>
              <a:avLst/>
              <a:gdLst/>
              <a:ahLst/>
              <a:cxnLst/>
              <a:rect l="l" t="t" r="r" b="b"/>
              <a:pathLst>
                <a:path w="79375" h="93979">
                  <a:moveTo>
                    <a:pt x="79209" y="0"/>
                  </a:moveTo>
                  <a:lnTo>
                    <a:pt x="0" y="28803"/>
                  </a:lnTo>
                  <a:lnTo>
                    <a:pt x="68402" y="93599"/>
                  </a:lnTo>
                  <a:lnTo>
                    <a:pt x="79209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52800" y="1985657"/>
            <a:ext cx="1170305" cy="436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 marR="5080" indent="-118745">
              <a:lnSpc>
                <a:spcPct val="100000"/>
              </a:lnSpc>
              <a:spcBef>
                <a:spcPts val="100"/>
              </a:spcBef>
            </a:pPr>
            <a:r>
              <a:rPr lang="es-ES" sz="1350" b="1">
                <a:solidFill>
                  <a:srgbClr val="1D4938"/>
                </a:solidFill>
                <a:latin typeface="Arial"/>
                <a:cs typeface="Arial"/>
              </a:rPr>
              <a:t>Pulsos</a:t>
            </a:r>
            <a:r>
              <a:rPr lang="es-ES" sz="1350" b="1" spc="-6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350" b="1" spc="-10">
                <a:solidFill>
                  <a:srgbClr val="1D4938"/>
                </a:solidFill>
                <a:latin typeface="Arial"/>
                <a:cs typeface="Arial"/>
              </a:rPr>
              <a:t>verdes </a:t>
            </a:r>
            <a:r>
              <a:rPr lang="es-ES" sz="1350" b="1">
                <a:solidFill>
                  <a:srgbClr val="1D4938"/>
                </a:solidFill>
                <a:latin typeface="Arial"/>
                <a:cs typeface="Arial"/>
              </a:rPr>
              <a:t>532,272</a:t>
            </a:r>
            <a:r>
              <a:rPr lang="es-ES" sz="1350" b="1" spc="-4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350" b="1" spc="-25">
                <a:solidFill>
                  <a:srgbClr val="1D4938"/>
                </a:solidFill>
                <a:latin typeface="Arial"/>
                <a:cs typeface="Arial"/>
              </a:rPr>
              <a:t>nm</a:t>
            </a:r>
            <a:endParaRPr lang="es-ES" sz="13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21315" y="1874520"/>
            <a:ext cx="3108960" cy="3017520"/>
            <a:chOff x="3721315" y="1874520"/>
            <a:chExt cx="3108960" cy="3017520"/>
          </a:xfrm>
        </p:grpSpPr>
        <p:sp>
          <p:nvSpPr>
            <p:cNvPr id="15" name="object 15"/>
            <p:cNvSpPr/>
            <p:nvPr/>
          </p:nvSpPr>
          <p:spPr>
            <a:xfrm>
              <a:off x="3721315" y="4572000"/>
              <a:ext cx="3108960" cy="320040"/>
            </a:xfrm>
            <a:custGeom>
              <a:avLst/>
              <a:gdLst/>
              <a:ahLst/>
              <a:cxnLst/>
              <a:rect l="l" t="t" r="r" b="b"/>
              <a:pathLst>
                <a:path w="3108959" h="320039">
                  <a:moveTo>
                    <a:pt x="3108604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1554479" y="319684"/>
                  </a:lnTo>
                  <a:lnTo>
                    <a:pt x="3108604" y="319684"/>
                  </a:lnTo>
                  <a:lnTo>
                    <a:pt x="3108604" y="0"/>
                  </a:lnTo>
                  <a:close/>
                </a:path>
              </a:pathLst>
            </a:custGeom>
            <a:solidFill>
              <a:srgbClr val="6472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69079" y="3858475"/>
              <a:ext cx="635" cy="713740"/>
            </a:xfrm>
            <a:custGeom>
              <a:avLst/>
              <a:gdLst/>
              <a:ahLst/>
              <a:cxnLst/>
              <a:rect l="l" t="t" r="r" b="b"/>
              <a:pathLst>
                <a:path w="635" h="713739">
                  <a:moveTo>
                    <a:pt x="0" y="713524"/>
                  </a:moveTo>
                  <a:lnTo>
                    <a:pt x="355" y="0"/>
                  </a:lnTo>
                </a:path>
              </a:pathLst>
            </a:custGeom>
            <a:ln w="3815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7284" y="3821760"/>
              <a:ext cx="182879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15675" y="3611880"/>
              <a:ext cx="635" cy="960119"/>
            </a:xfrm>
            <a:custGeom>
              <a:avLst/>
              <a:gdLst/>
              <a:ahLst/>
              <a:cxnLst/>
              <a:rect l="l" t="t" r="r" b="b"/>
              <a:pathLst>
                <a:path w="635" h="960120">
                  <a:moveTo>
                    <a:pt x="0" y="960120"/>
                  </a:moveTo>
                  <a:lnTo>
                    <a:pt x="368" y="0"/>
                  </a:lnTo>
                </a:path>
              </a:pathLst>
            </a:custGeom>
            <a:ln w="3815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4235" y="3574796"/>
              <a:ext cx="182879" cy="18287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17719" y="3730675"/>
              <a:ext cx="635" cy="841375"/>
            </a:xfrm>
            <a:custGeom>
              <a:avLst/>
              <a:gdLst/>
              <a:ahLst/>
              <a:cxnLst/>
              <a:rect l="l" t="t" r="r" b="b"/>
              <a:pathLst>
                <a:path w="635" h="841375">
                  <a:moveTo>
                    <a:pt x="0" y="841324"/>
                  </a:moveTo>
                  <a:lnTo>
                    <a:pt x="355" y="0"/>
                  </a:lnTo>
                </a:path>
              </a:pathLst>
            </a:custGeom>
            <a:ln w="3815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5924" y="3696305"/>
              <a:ext cx="182879" cy="17818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983480" y="3309835"/>
              <a:ext cx="635" cy="1262380"/>
            </a:xfrm>
            <a:custGeom>
              <a:avLst/>
              <a:gdLst/>
              <a:ahLst/>
              <a:cxnLst/>
              <a:rect l="l" t="t" r="r" b="b"/>
              <a:pathLst>
                <a:path w="635" h="1262379">
                  <a:moveTo>
                    <a:pt x="0" y="1262164"/>
                  </a:moveTo>
                  <a:lnTo>
                    <a:pt x="355" y="0"/>
                  </a:lnTo>
                </a:path>
              </a:pathLst>
            </a:custGeom>
            <a:ln w="3815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91684" y="3273120"/>
              <a:ext cx="182879" cy="18287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285155" y="3931920"/>
              <a:ext cx="635" cy="640080"/>
            </a:xfrm>
            <a:custGeom>
              <a:avLst/>
              <a:gdLst/>
              <a:ahLst/>
              <a:cxnLst/>
              <a:rect l="l" t="t" r="r" b="b"/>
              <a:pathLst>
                <a:path w="635" h="640079">
                  <a:moveTo>
                    <a:pt x="0" y="640079"/>
                  </a:moveTo>
                  <a:lnTo>
                    <a:pt x="368" y="0"/>
                  </a:lnTo>
                </a:path>
              </a:pathLst>
            </a:custGeom>
            <a:ln w="3815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3360" y="3897181"/>
              <a:ext cx="182880" cy="1781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595835" y="3511080"/>
              <a:ext cx="635" cy="1061085"/>
            </a:xfrm>
            <a:custGeom>
              <a:avLst/>
              <a:gdLst/>
              <a:ahLst/>
              <a:cxnLst/>
              <a:rect l="l" t="t" r="r" b="b"/>
              <a:pathLst>
                <a:path w="635" h="1061085">
                  <a:moveTo>
                    <a:pt x="0" y="1060919"/>
                  </a:moveTo>
                  <a:lnTo>
                    <a:pt x="368" y="0"/>
                  </a:lnTo>
                </a:path>
              </a:pathLst>
            </a:custGeom>
            <a:ln w="3815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4395" y="3474364"/>
              <a:ext cx="182880" cy="18288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915875" y="3767035"/>
              <a:ext cx="635" cy="805180"/>
            </a:xfrm>
            <a:custGeom>
              <a:avLst/>
              <a:gdLst/>
              <a:ahLst/>
              <a:cxnLst/>
              <a:rect l="l" t="t" r="r" b="b"/>
              <a:pathLst>
                <a:path w="635" h="805179">
                  <a:moveTo>
                    <a:pt x="0" y="804964"/>
                  </a:moveTo>
                  <a:lnTo>
                    <a:pt x="368" y="0"/>
                  </a:lnTo>
                </a:path>
              </a:pathLst>
            </a:custGeom>
            <a:ln w="3815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26779" y="3730320"/>
              <a:ext cx="178190" cy="1828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60645" y="1940763"/>
              <a:ext cx="744220" cy="2027555"/>
            </a:xfrm>
            <a:custGeom>
              <a:avLst/>
              <a:gdLst/>
              <a:ahLst/>
              <a:cxnLst/>
              <a:rect l="l" t="t" r="r" b="b"/>
              <a:pathLst>
                <a:path w="744220" h="2027554">
                  <a:moveTo>
                    <a:pt x="743750" y="2027516"/>
                  </a:moveTo>
                  <a:lnTo>
                    <a:pt x="0" y="0"/>
                  </a:lnTo>
                </a:path>
              </a:pathLst>
            </a:custGeom>
            <a:ln w="23039">
              <a:solidFill>
                <a:srgbClr val="C3862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27155" y="1874520"/>
              <a:ext cx="71120" cy="84455"/>
            </a:xfrm>
            <a:custGeom>
              <a:avLst/>
              <a:gdLst/>
              <a:ahLst/>
              <a:cxnLst/>
              <a:rect l="l" t="t" r="r" b="b"/>
              <a:pathLst>
                <a:path w="71120" h="84455">
                  <a:moveTo>
                    <a:pt x="9359" y="0"/>
                  </a:moveTo>
                  <a:lnTo>
                    <a:pt x="0" y="83883"/>
                  </a:lnTo>
                  <a:lnTo>
                    <a:pt x="70929" y="57962"/>
                  </a:lnTo>
                  <a:lnTo>
                    <a:pt x="9359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30483" y="1965604"/>
              <a:ext cx="1223010" cy="2606675"/>
            </a:xfrm>
            <a:custGeom>
              <a:avLst/>
              <a:gdLst/>
              <a:ahLst/>
              <a:cxnLst/>
              <a:rect l="l" t="t" r="r" b="b"/>
              <a:pathLst>
                <a:path w="1223010" h="2606675">
                  <a:moveTo>
                    <a:pt x="1222552" y="2606395"/>
                  </a:moveTo>
                  <a:lnTo>
                    <a:pt x="0" y="0"/>
                  </a:lnTo>
                </a:path>
              </a:pathLst>
            </a:custGeom>
            <a:ln w="23039">
              <a:solidFill>
                <a:srgbClr val="2E6E9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98441" y="1901875"/>
              <a:ext cx="68580" cy="85090"/>
            </a:xfrm>
            <a:custGeom>
              <a:avLst/>
              <a:gdLst/>
              <a:ahLst/>
              <a:cxnLst/>
              <a:rect l="l" t="t" r="r" b="b"/>
              <a:pathLst>
                <a:path w="68579" h="85089">
                  <a:moveTo>
                    <a:pt x="2159" y="0"/>
                  </a:moveTo>
                  <a:lnTo>
                    <a:pt x="0" y="84607"/>
                  </a:lnTo>
                  <a:lnTo>
                    <a:pt x="68402" y="52565"/>
                  </a:lnTo>
                  <a:lnTo>
                    <a:pt x="2159" y="0"/>
                  </a:lnTo>
                  <a:close/>
                </a:path>
              </a:pathLst>
            </a:custGeom>
            <a:solidFill>
              <a:srgbClr val="2E6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181600" y="1928774"/>
            <a:ext cx="1359535" cy="64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635" algn="ctr">
              <a:lnSpc>
                <a:spcPct val="100000"/>
              </a:lnSpc>
              <a:spcBef>
                <a:spcPts val="100"/>
              </a:spcBef>
            </a:pPr>
            <a:r>
              <a:rPr lang="es-MX" sz="1350" b="1" spc="-10">
                <a:solidFill>
                  <a:srgbClr val="1F2F28"/>
                </a:solidFill>
                <a:latin typeface="Arial"/>
                <a:cs typeface="Arial"/>
              </a:rPr>
              <a:t>Retornos</a:t>
            </a:r>
            <a:r>
              <a:rPr lang="es-MX" sz="135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50" b="1" spc="-20">
                <a:solidFill>
                  <a:srgbClr val="1F2F28"/>
                </a:solidFill>
                <a:latin typeface="Arial"/>
                <a:cs typeface="Arial"/>
              </a:rPr>
              <a:t>desde </a:t>
            </a:r>
            <a:r>
              <a:rPr lang="es-MX" sz="1350" b="1">
                <a:solidFill>
                  <a:srgbClr val="1F2F28"/>
                </a:solidFill>
                <a:latin typeface="Arial"/>
                <a:cs typeface="Arial"/>
              </a:rPr>
              <a:t>dosel,</a:t>
            </a:r>
            <a:r>
              <a:rPr lang="es-MX" sz="1350" b="1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50" b="1">
                <a:solidFill>
                  <a:srgbClr val="1F2F28"/>
                </a:solidFill>
                <a:latin typeface="Arial"/>
                <a:cs typeface="Arial"/>
              </a:rPr>
              <a:t>estratos</a:t>
            </a:r>
            <a:r>
              <a:rPr lang="es-MX" sz="1350" b="1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50" b="1" spc="-50">
                <a:solidFill>
                  <a:srgbClr val="1F2F28"/>
                </a:solidFill>
                <a:latin typeface="Arial"/>
                <a:cs typeface="Arial"/>
              </a:rPr>
              <a:t>y </a:t>
            </a:r>
            <a:r>
              <a:rPr lang="es-MX" sz="1350" b="1" spc="-10">
                <a:solidFill>
                  <a:srgbClr val="1F2F28"/>
                </a:solidFill>
                <a:latin typeface="Arial"/>
                <a:cs typeface="Arial"/>
              </a:rPr>
              <a:t>terreno</a:t>
            </a:r>
            <a:endParaRPr lang="es-MX" sz="13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4400" y="3490200"/>
            <a:ext cx="2412000" cy="39600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49275" marR="5080" indent="-549910">
              <a:lnSpc>
                <a:spcPct val="79900"/>
              </a:lnSpc>
              <a:spcBef>
                <a:spcPts val="555"/>
              </a:spcBef>
            </a:pPr>
            <a:r>
              <a:rPr lang="es-ES" sz="1900" b="1">
                <a:solidFill>
                  <a:srgbClr val="1F2F28"/>
                </a:solidFill>
                <a:latin typeface="Arial"/>
                <a:cs typeface="Arial"/>
              </a:rPr>
              <a:t>Distancia</a:t>
            </a:r>
            <a:r>
              <a:rPr lang="es-ES" sz="1900" b="1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900" b="1">
                <a:solidFill>
                  <a:srgbClr val="1F2F28"/>
                </a:solidFill>
                <a:latin typeface="Arial"/>
                <a:cs typeface="Arial"/>
              </a:rPr>
              <a:t>=</a:t>
            </a:r>
            <a:r>
              <a:rPr lang="es-ES" sz="190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900" b="1">
                <a:solidFill>
                  <a:srgbClr val="1F2F28"/>
                </a:solidFill>
                <a:latin typeface="Arial"/>
                <a:cs typeface="Arial"/>
              </a:rPr>
              <a:t>c</a:t>
            </a:r>
            <a:r>
              <a:rPr lang="es-ES" sz="1900" b="1" spc="-50">
                <a:solidFill>
                  <a:srgbClr val="1F2F28"/>
                </a:solidFill>
                <a:latin typeface="Arial"/>
                <a:cs typeface="Arial"/>
              </a:rPr>
              <a:t> × </a:t>
            </a:r>
            <a:r>
              <a:rPr lang="el-GR" sz="1900" b="1">
                <a:solidFill>
                  <a:srgbClr val="1F2F28"/>
                </a:solidFill>
                <a:latin typeface="Arial"/>
                <a:cs typeface="Arial"/>
              </a:rPr>
              <a:t>Δ</a:t>
            </a:r>
            <a:r>
              <a:rPr lang="es-ES" sz="1900" b="1">
                <a:solidFill>
                  <a:srgbClr val="1F2F28"/>
                </a:solidFill>
                <a:latin typeface="Arial"/>
                <a:cs typeface="Arial"/>
              </a:rPr>
              <a:t>t</a:t>
            </a:r>
            <a:r>
              <a:rPr lang="es-ES" sz="19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900" b="1">
                <a:solidFill>
                  <a:srgbClr val="1F2F28"/>
                </a:solidFill>
                <a:latin typeface="Arial"/>
                <a:cs typeface="Arial"/>
              </a:rPr>
              <a:t>/</a:t>
            </a:r>
            <a:r>
              <a:rPr lang="es-ES" sz="19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900" b="1" spc="-50">
                <a:solidFill>
                  <a:srgbClr val="1F2F28"/>
                </a:solidFill>
                <a:latin typeface="Arial"/>
                <a:cs typeface="Arial"/>
              </a:rPr>
              <a:t>2</a:t>
            </a:r>
            <a:endParaRPr lang="es-ES" sz="19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658096" y="1303015"/>
            <a:ext cx="1819910" cy="1872000"/>
            <a:chOff x="7658096" y="1303015"/>
            <a:chExt cx="1819910" cy="149098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2" name="object 42"/>
            <p:cNvSpPr/>
            <p:nvPr/>
          </p:nvSpPr>
          <p:spPr>
            <a:xfrm>
              <a:off x="7662596" y="1307515"/>
              <a:ext cx="1811020" cy="1481455"/>
            </a:xfrm>
            <a:custGeom>
              <a:avLst/>
              <a:gdLst/>
              <a:ahLst/>
              <a:cxnLst/>
              <a:rect l="l" t="t" r="r" b="b"/>
              <a:pathLst>
                <a:path w="1811020" h="1481455">
                  <a:moveTo>
                    <a:pt x="173700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408328"/>
                  </a:lnTo>
                  <a:lnTo>
                    <a:pt x="5417" y="1436063"/>
                  </a:lnTo>
                  <a:lnTo>
                    <a:pt x="5470" y="1436219"/>
                  </a:lnTo>
                  <a:lnTo>
                    <a:pt x="36360" y="1471688"/>
                  </a:lnTo>
                  <a:lnTo>
                    <a:pt x="73088" y="1481404"/>
                  </a:lnTo>
                  <a:lnTo>
                    <a:pt x="1737359" y="1481048"/>
                  </a:lnTo>
                  <a:lnTo>
                    <a:pt x="1781737" y="1465944"/>
                  </a:lnTo>
                  <a:lnTo>
                    <a:pt x="1804901" y="1436219"/>
                  </a:lnTo>
                  <a:lnTo>
                    <a:pt x="1804978" y="1436063"/>
                  </a:lnTo>
                  <a:lnTo>
                    <a:pt x="1810425" y="1408328"/>
                  </a:lnTo>
                  <a:lnTo>
                    <a:pt x="1810448" y="1407960"/>
                  </a:lnTo>
                  <a:lnTo>
                    <a:pt x="1810080" y="73088"/>
                  </a:lnTo>
                  <a:lnTo>
                    <a:pt x="1794988" y="28710"/>
                  </a:lnTo>
                  <a:lnTo>
                    <a:pt x="1756038" y="2430"/>
                  </a:lnTo>
                  <a:lnTo>
                    <a:pt x="1746638" y="607"/>
                  </a:lnTo>
                  <a:lnTo>
                    <a:pt x="173700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62596" y="1307515"/>
              <a:ext cx="1811020" cy="1481455"/>
            </a:xfrm>
            <a:custGeom>
              <a:avLst/>
              <a:gdLst/>
              <a:ahLst/>
              <a:cxnLst/>
              <a:rect l="l" t="t" r="r" b="b"/>
              <a:pathLst>
                <a:path w="1811020" h="1481455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1737004" y="0"/>
                  </a:lnTo>
                  <a:lnTo>
                    <a:pt x="1781531" y="15109"/>
                  </a:lnTo>
                  <a:lnTo>
                    <a:pt x="1807651" y="54232"/>
                  </a:lnTo>
                  <a:lnTo>
                    <a:pt x="1810080" y="73088"/>
                  </a:lnTo>
                  <a:lnTo>
                    <a:pt x="1810448" y="1407960"/>
                  </a:lnTo>
                  <a:lnTo>
                    <a:pt x="1809841" y="1417599"/>
                  </a:lnTo>
                  <a:lnTo>
                    <a:pt x="1808018" y="1427000"/>
                  </a:lnTo>
                  <a:lnTo>
                    <a:pt x="1781737" y="1465944"/>
                  </a:lnTo>
                  <a:lnTo>
                    <a:pt x="1737359" y="1481048"/>
                  </a:lnTo>
                  <a:lnTo>
                    <a:pt x="73088" y="1481404"/>
                  </a:lnTo>
                  <a:lnTo>
                    <a:pt x="28555" y="1466300"/>
                  </a:lnTo>
                  <a:lnTo>
                    <a:pt x="2430" y="1427179"/>
                  </a:lnTo>
                  <a:lnTo>
                    <a:pt x="0" y="1408328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662596" y="1307515"/>
              <a:ext cx="73025" cy="1481455"/>
            </a:xfrm>
            <a:custGeom>
              <a:avLst/>
              <a:gdLst/>
              <a:ahLst/>
              <a:cxnLst/>
              <a:rect l="l" t="t" r="r" b="b"/>
              <a:pathLst>
                <a:path w="73025" h="1481455">
                  <a:moveTo>
                    <a:pt x="72720" y="0"/>
                  </a:moveTo>
                  <a:lnTo>
                    <a:pt x="0" y="0"/>
                  </a:lnTo>
                  <a:lnTo>
                    <a:pt x="0" y="1481048"/>
                  </a:lnTo>
                  <a:lnTo>
                    <a:pt x="36360" y="1481048"/>
                  </a:lnTo>
                  <a:lnTo>
                    <a:pt x="72720" y="1481048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896859" y="1422260"/>
            <a:ext cx="1440000" cy="3464492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500" b="1">
                <a:solidFill>
                  <a:srgbClr val="1D4938"/>
                </a:solidFill>
                <a:latin typeface="Arial"/>
                <a:cs typeface="Arial"/>
              </a:rPr>
              <a:t>10</a:t>
            </a:r>
            <a:r>
              <a:rPr lang="es-MX" sz="2500" b="1" spc="-1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2500" b="1" spc="-25">
                <a:solidFill>
                  <a:srgbClr val="1D4938"/>
                </a:solidFill>
                <a:latin typeface="Arial"/>
                <a:cs typeface="Arial"/>
              </a:rPr>
              <a:t>kHz</a:t>
            </a:r>
            <a:endParaRPr lang="es-MX" sz="2500">
              <a:latin typeface="Arial"/>
              <a:cs typeface="Arial"/>
            </a:endParaRPr>
          </a:p>
          <a:p>
            <a:pPr marL="12700" marR="271780">
              <a:lnSpc>
                <a:spcPts val="1600"/>
              </a:lnSpc>
              <a:spcBef>
                <a:spcPts val="1880"/>
              </a:spcBef>
            </a:pPr>
            <a:r>
              <a:rPr lang="es-MX" sz="1450" b="1" spc="-10">
                <a:solidFill>
                  <a:srgbClr val="1F2F28"/>
                </a:solidFill>
                <a:latin typeface="Arial"/>
                <a:cs typeface="Arial"/>
              </a:rPr>
              <a:t>frecuencia nominal</a:t>
            </a:r>
            <a:endParaRPr lang="es-MX" sz="1450">
              <a:latin typeface="Arial"/>
              <a:cs typeface="Arial"/>
            </a:endParaRPr>
          </a:p>
          <a:p>
            <a:pPr marL="12700" marR="5080">
              <a:lnSpc>
                <a:spcPct val="79700"/>
              </a:lnSpc>
              <a:spcBef>
                <a:spcPts val="215"/>
              </a:spcBef>
            </a:pP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≈</a:t>
            </a:r>
            <a:r>
              <a:rPr lang="es-MX" sz="12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0,7</a:t>
            </a:r>
            <a:r>
              <a:rPr lang="es-MX" sz="12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lang="es-MX" sz="12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entre</a:t>
            </a:r>
            <a:r>
              <a:rPr lang="es-MX" sz="12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disparos</a:t>
            </a:r>
            <a:r>
              <a:rPr lang="es-MX" sz="12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s-MX" sz="12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lo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 largo</a:t>
            </a:r>
            <a:r>
              <a:rPr lang="es-MX" sz="12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2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2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traza</a:t>
            </a:r>
            <a:endParaRPr lang="es-MX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733860" y="1303015"/>
            <a:ext cx="1819910" cy="1872000"/>
            <a:chOff x="9733860" y="1303015"/>
            <a:chExt cx="1819910" cy="149098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7" name="object 47"/>
            <p:cNvSpPr/>
            <p:nvPr/>
          </p:nvSpPr>
          <p:spPr>
            <a:xfrm>
              <a:off x="9738360" y="1307515"/>
              <a:ext cx="1811020" cy="1481455"/>
            </a:xfrm>
            <a:custGeom>
              <a:avLst/>
              <a:gdLst/>
              <a:ahLst/>
              <a:cxnLst/>
              <a:rect l="l" t="t" r="r" b="b"/>
              <a:pathLst>
                <a:path w="1811020" h="1481455">
                  <a:moveTo>
                    <a:pt x="17370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408328"/>
                  </a:lnTo>
                  <a:lnTo>
                    <a:pt x="594" y="1417599"/>
                  </a:lnTo>
                  <a:lnTo>
                    <a:pt x="607" y="1417804"/>
                  </a:lnTo>
                  <a:lnTo>
                    <a:pt x="2394" y="1427000"/>
                  </a:lnTo>
                  <a:lnTo>
                    <a:pt x="2428" y="1427179"/>
                  </a:lnTo>
                  <a:lnTo>
                    <a:pt x="5412" y="1436063"/>
                  </a:lnTo>
                  <a:lnTo>
                    <a:pt x="36360" y="1471688"/>
                  </a:lnTo>
                  <a:lnTo>
                    <a:pt x="73075" y="1481404"/>
                  </a:lnTo>
                  <a:lnTo>
                    <a:pt x="1737360" y="1481048"/>
                  </a:lnTo>
                  <a:lnTo>
                    <a:pt x="1781737" y="1465944"/>
                  </a:lnTo>
                  <a:lnTo>
                    <a:pt x="1804894" y="1436219"/>
                  </a:lnTo>
                  <a:lnTo>
                    <a:pt x="1804970" y="1436063"/>
                  </a:lnTo>
                  <a:lnTo>
                    <a:pt x="1807946" y="1427179"/>
                  </a:lnTo>
                  <a:lnTo>
                    <a:pt x="1808006" y="1427000"/>
                  </a:lnTo>
                  <a:lnTo>
                    <a:pt x="1809788" y="1417804"/>
                  </a:lnTo>
                  <a:lnTo>
                    <a:pt x="1809828" y="1417599"/>
                  </a:lnTo>
                  <a:lnTo>
                    <a:pt x="1810412" y="1408328"/>
                  </a:lnTo>
                  <a:lnTo>
                    <a:pt x="1810435" y="1407960"/>
                  </a:lnTo>
                  <a:lnTo>
                    <a:pt x="1810080" y="73088"/>
                  </a:lnTo>
                  <a:lnTo>
                    <a:pt x="1794981" y="28710"/>
                  </a:lnTo>
                  <a:lnTo>
                    <a:pt x="1756033" y="2430"/>
                  </a:lnTo>
                  <a:lnTo>
                    <a:pt x="1746636" y="607"/>
                  </a:lnTo>
                  <a:lnTo>
                    <a:pt x="173700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738360" y="1307515"/>
              <a:ext cx="1811020" cy="1481455"/>
            </a:xfrm>
            <a:custGeom>
              <a:avLst/>
              <a:gdLst/>
              <a:ahLst/>
              <a:cxnLst/>
              <a:rect l="l" t="t" r="r" b="b"/>
              <a:pathLst>
                <a:path w="1811020" h="1481455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1737004" y="0"/>
                  </a:lnTo>
                  <a:lnTo>
                    <a:pt x="1781524" y="15109"/>
                  </a:lnTo>
                  <a:lnTo>
                    <a:pt x="1807651" y="54232"/>
                  </a:lnTo>
                  <a:lnTo>
                    <a:pt x="1810080" y="73088"/>
                  </a:lnTo>
                  <a:lnTo>
                    <a:pt x="1810435" y="1407960"/>
                  </a:lnTo>
                  <a:lnTo>
                    <a:pt x="1809828" y="1417599"/>
                  </a:lnTo>
                  <a:lnTo>
                    <a:pt x="1808006" y="1427000"/>
                  </a:lnTo>
                  <a:lnTo>
                    <a:pt x="1781737" y="1465944"/>
                  </a:lnTo>
                  <a:lnTo>
                    <a:pt x="1737360" y="1481048"/>
                  </a:lnTo>
                  <a:lnTo>
                    <a:pt x="73075" y="1481404"/>
                  </a:lnTo>
                  <a:lnTo>
                    <a:pt x="28555" y="1466300"/>
                  </a:lnTo>
                  <a:lnTo>
                    <a:pt x="2428" y="1427179"/>
                  </a:lnTo>
                  <a:lnTo>
                    <a:pt x="0" y="1408328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738360" y="1307515"/>
              <a:ext cx="73025" cy="1481455"/>
            </a:xfrm>
            <a:custGeom>
              <a:avLst/>
              <a:gdLst/>
              <a:ahLst/>
              <a:cxnLst/>
              <a:rect l="l" t="t" r="r" b="b"/>
              <a:pathLst>
                <a:path w="73025" h="1481455">
                  <a:moveTo>
                    <a:pt x="72720" y="0"/>
                  </a:moveTo>
                  <a:lnTo>
                    <a:pt x="0" y="0"/>
                  </a:lnTo>
                  <a:lnTo>
                    <a:pt x="0" y="1481048"/>
                  </a:lnTo>
                  <a:lnTo>
                    <a:pt x="36360" y="1481048"/>
                  </a:lnTo>
                  <a:lnTo>
                    <a:pt x="72720" y="1481048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7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972623" y="1422260"/>
            <a:ext cx="1363980" cy="3464492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>
                <a:solidFill>
                  <a:srgbClr val="173A54"/>
                </a:solidFill>
                <a:latin typeface="Arial"/>
                <a:cs typeface="Arial"/>
              </a:rPr>
              <a:t>≈</a:t>
            </a:r>
            <a:r>
              <a:rPr lang="es-ES" sz="2500" b="1" spc="-20">
                <a:solidFill>
                  <a:srgbClr val="173A54"/>
                </a:solidFill>
                <a:latin typeface="Arial"/>
                <a:cs typeface="Arial"/>
              </a:rPr>
              <a:t> </a:t>
            </a:r>
            <a:r>
              <a:rPr lang="es-ES" sz="2500" b="1">
                <a:solidFill>
                  <a:srgbClr val="173A54"/>
                </a:solidFill>
                <a:latin typeface="Arial"/>
                <a:cs typeface="Arial"/>
              </a:rPr>
              <a:t>500</a:t>
            </a:r>
            <a:r>
              <a:rPr lang="es-ES" sz="2500" b="1" spc="-15">
                <a:solidFill>
                  <a:srgbClr val="173A54"/>
                </a:solidFill>
                <a:latin typeface="Arial"/>
                <a:cs typeface="Arial"/>
              </a:rPr>
              <a:t> </a:t>
            </a:r>
            <a:r>
              <a:rPr lang="es-ES" sz="2500" b="1" spc="-25">
                <a:solidFill>
                  <a:srgbClr val="173A54"/>
                </a:solidFill>
                <a:latin typeface="Arial"/>
                <a:cs typeface="Arial"/>
              </a:rPr>
              <a:t>km</a:t>
            </a:r>
            <a:endParaRPr lang="es-ES" sz="2500">
              <a:latin typeface="Arial"/>
              <a:cs typeface="Arial"/>
            </a:endParaRPr>
          </a:p>
          <a:p>
            <a:pPr marL="12700" marR="156845">
              <a:lnSpc>
                <a:spcPts val="1600"/>
              </a:lnSpc>
              <a:spcBef>
                <a:spcPts val="188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altitud</a:t>
            </a:r>
            <a:r>
              <a:rPr lang="es-ES" sz="145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orbital nominal</a:t>
            </a:r>
            <a:endParaRPr lang="es-ES" sz="1450">
              <a:latin typeface="Arial"/>
              <a:cs typeface="Arial"/>
            </a:endParaRPr>
          </a:p>
          <a:p>
            <a:pPr marL="12700" marR="43180">
              <a:lnSpc>
                <a:spcPct val="79700"/>
              </a:lnSpc>
              <a:spcBef>
                <a:spcPts val="215"/>
              </a:spcBef>
            </a:pP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Rango</a:t>
            </a:r>
            <a:r>
              <a:rPr lang="es-ES" sz="1200" spc="-6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oficial</a:t>
            </a:r>
            <a:r>
              <a:rPr lang="es-ES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chemeClr val="tx1"/>
                </a:solidFill>
                <a:latin typeface="Arial"/>
                <a:cs typeface="Arial"/>
              </a:rPr>
              <a:t>del</a:t>
            </a:r>
            <a:r>
              <a:rPr lang="es-ES" sz="120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chemeClr val="tx1"/>
                </a:solidFill>
                <a:latin typeface="Arial"/>
                <a:cs typeface="Arial"/>
              </a:rPr>
              <a:t>ATBD:</a:t>
            </a:r>
            <a:r>
              <a:rPr lang="es-ES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20">
                <a:solidFill>
                  <a:schemeClr val="tx1"/>
                </a:solidFill>
                <a:latin typeface="Arial"/>
                <a:cs typeface="Arial"/>
              </a:rPr>
              <a:t>481-511</a:t>
            </a:r>
            <a:r>
              <a:rPr lang="es-ES" sz="120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25">
                <a:solidFill>
                  <a:schemeClr val="tx1"/>
                </a:solidFill>
                <a:latin typeface="Arial"/>
                <a:cs typeface="Arial"/>
              </a:rPr>
              <a:t>km</a:t>
            </a:r>
            <a:endParaRPr lang="es-ES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658096" y="3332514"/>
            <a:ext cx="1819910" cy="1872000"/>
            <a:chOff x="7658096" y="3058740"/>
            <a:chExt cx="1819910" cy="149098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2" name="object 52"/>
            <p:cNvSpPr/>
            <p:nvPr/>
          </p:nvSpPr>
          <p:spPr>
            <a:xfrm>
              <a:off x="7662596" y="3063239"/>
              <a:ext cx="1811020" cy="1481455"/>
            </a:xfrm>
            <a:custGeom>
              <a:avLst/>
              <a:gdLst/>
              <a:ahLst/>
              <a:cxnLst/>
              <a:rect l="l" t="t" r="r" b="b"/>
              <a:pathLst>
                <a:path w="1811020" h="1481454">
                  <a:moveTo>
                    <a:pt x="173700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08315"/>
                  </a:lnTo>
                  <a:lnTo>
                    <a:pt x="594" y="1417593"/>
                  </a:lnTo>
                  <a:lnTo>
                    <a:pt x="607" y="1417793"/>
                  </a:lnTo>
                  <a:lnTo>
                    <a:pt x="2395" y="1426994"/>
                  </a:lnTo>
                  <a:lnTo>
                    <a:pt x="2430" y="1427172"/>
                  </a:lnTo>
                  <a:lnTo>
                    <a:pt x="5418" y="1436056"/>
                  </a:lnTo>
                  <a:lnTo>
                    <a:pt x="36360" y="1471676"/>
                  </a:lnTo>
                  <a:lnTo>
                    <a:pt x="73088" y="1481404"/>
                  </a:lnTo>
                  <a:lnTo>
                    <a:pt x="1737359" y="1481035"/>
                  </a:lnTo>
                  <a:lnTo>
                    <a:pt x="1781737" y="1465944"/>
                  </a:lnTo>
                  <a:lnTo>
                    <a:pt x="1807958" y="1427172"/>
                  </a:lnTo>
                  <a:lnTo>
                    <a:pt x="1809802" y="1417793"/>
                  </a:lnTo>
                  <a:lnTo>
                    <a:pt x="1809841" y="1417593"/>
                  </a:lnTo>
                  <a:lnTo>
                    <a:pt x="1810426" y="1408315"/>
                  </a:lnTo>
                  <a:lnTo>
                    <a:pt x="1810448" y="1407960"/>
                  </a:lnTo>
                  <a:lnTo>
                    <a:pt x="1810080" y="73075"/>
                  </a:lnTo>
                  <a:lnTo>
                    <a:pt x="1794988" y="28705"/>
                  </a:lnTo>
                  <a:lnTo>
                    <a:pt x="1756038" y="2428"/>
                  </a:lnTo>
                  <a:lnTo>
                    <a:pt x="1746638" y="607"/>
                  </a:lnTo>
                  <a:lnTo>
                    <a:pt x="173700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662596" y="3063239"/>
              <a:ext cx="1811020" cy="1481455"/>
            </a:xfrm>
            <a:custGeom>
              <a:avLst/>
              <a:gdLst/>
              <a:ahLst/>
              <a:cxnLst/>
              <a:rect l="l" t="t" r="r" b="b"/>
              <a:pathLst>
                <a:path w="1811020" h="1481454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1737004" y="0"/>
                  </a:lnTo>
                  <a:lnTo>
                    <a:pt x="1781531" y="15104"/>
                  </a:lnTo>
                  <a:lnTo>
                    <a:pt x="1807651" y="54224"/>
                  </a:lnTo>
                  <a:lnTo>
                    <a:pt x="1810080" y="73075"/>
                  </a:lnTo>
                  <a:lnTo>
                    <a:pt x="1810448" y="1407960"/>
                  </a:lnTo>
                  <a:lnTo>
                    <a:pt x="1809841" y="1417593"/>
                  </a:lnTo>
                  <a:lnTo>
                    <a:pt x="1808018" y="1426994"/>
                  </a:lnTo>
                  <a:lnTo>
                    <a:pt x="1781737" y="1465944"/>
                  </a:lnTo>
                  <a:lnTo>
                    <a:pt x="1737359" y="1481035"/>
                  </a:lnTo>
                  <a:lnTo>
                    <a:pt x="73088" y="1481404"/>
                  </a:lnTo>
                  <a:lnTo>
                    <a:pt x="28555" y="1466294"/>
                  </a:lnTo>
                  <a:lnTo>
                    <a:pt x="2430" y="1427172"/>
                  </a:lnTo>
                  <a:lnTo>
                    <a:pt x="0" y="1408315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62596" y="3063239"/>
              <a:ext cx="73025" cy="1481455"/>
            </a:xfrm>
            <a:custGeom>
              <a:avLst/>
              <a:gdLst/>
              <a:ahLst/>
              <a:cxnLst/>
              <a:rect l="l" t="t" r="r" b="b"/>
              <a:pathLst>
                <a:path w="73025" h="1481454">
                  <a:moveTo>
                    <a:pt x="72720" y="0"/>
                  </a:moveTo>
                  <a:lnTo>
                    <a:pt x="0" y="0"/>
                  </a:lnTo>
                  <a:lnTo>
                    <a:pt x="0" y="1481035"/>
                  </a:lnTo>
                  <a:lnTo>
                    <a:pt x="36360" y="1481035"/>
                  </a:lnTo>
                  <a:lnTo>
                    <a:pt x="72720" y="1481035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896859" y="3451745"/>
            <a:ext cx="1050290" cy="1708781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500" b="1">
                <a:solidFill>
                  <a:srgbClr val="C3862D"/>
                </a:solidFill>
                <a:latin typeface="Arial"/>
                <a:cs typeface="Arial"/>
              </a:rPr>
              <a:t>≈</a:t>
            </a:r>
            <a:r>
              <a:rPr lang="es-MX" sz="2500" b="1" spc="-85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MX" sz="2500" b="1">
                <a:solidFill>
                  <a:srgbClr val="C3862D"/>
                </a:solidFill>
                <a:latin typeface="Arial"/>
                <a:cs typeface="Arial"/>
              </a:rPr>
              <a:t>11</a:t>
            </a:r>
            <a:r>
              <a:rPr lang="es-MX" sz="2500" b="1" spc="-85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MX" sz="2500" b="1" spc="-50">
                <a:solidFill>
                  <a:srgbClr val="C3862D"/>
                </a:solidFill>
                <a:latin typeface="Arial"/>
                <a:cs typeface="Arial"/>
              </a:rPr>
              <a:t>m</a:t>
            </a:r>
            <a:endParaRPr lang="es-MX" sz="2500">
              <a:latin typeface="Arial"/>
              <a:cs typeface="Arial"/>
            </a:endParaRPr>
          </a:p>
          <a:p>
            <a:pPr marL="12700" marR="19050">
              <a:lnSpc>
                <a:spcPts val="1600"/>
              </a:lnSpc>
              <a:spcBef>
                <a:spcPts val="1880"/>
              </a:spcBef>
            </a:pPr>
            <a:r>
              <a:rPr lang="es-MX" sz="1450" b="1" spc="-10">
                <a:solidFill>
                  <a:srgbClr val="1F2F28"/>
                </a:solidFill>
                <a:latin typeface="Arial"/>
                <a:cs typeface="Arial"/>
              </a:rPr>
              <a:t>huella transmitida</a:t>
            </a:r>
            <a:endParaRPr lang="es-MX" sz="1450">
              <a:latin typeface="Arial"/>
              <a:cs typeface="Arial"/>
            </a:endParaRPr>
          </a:p>
          <a:p>
            <a:pPr marL="12700" marR="5080">
              <a:lnSpc>
                <a:spcPct val="79700"/>
              </a:lnSpc>
              <a:spcBef>
                <a:spcPts val="215"/>
              </a:spcBef>
            </a:pP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10,5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lang="es-MX" sz="12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para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85%</a:t>
            </a:r>
            <a:r>
              <a:rPr lang="es-MX" sz="12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 la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 energía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500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km</a:t>
            </a:r>
            <a:endParaRPr lang="es-MX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9733860" y="3332514"/>
            <a:ext cx="1819910" cy="1872000"/>
            <a:chOff x="9733860" y="3058740"/>
            <a:chExt cx="1819910" cy="149098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7" name="object 57"/>
            <p:cNvSpPr/>
            <p:nvPr/>
          </p:nvSpPr>
          <p:spPr>
            <a:xfrm>
              <a:off x="9738360" y="3063239"/>
              <a:ext cx="1811020" cy="1481455"/>
            </a:xfrm>
            <a:custGeom>
              <a:avLst/>
              <a:gdLst/>
              <a:ahLst/>
              <a:cxnLst/>
              <a:rect l="l" t="t" r="r" b="b"/>
              <a:pathLst>
                <a:path w="1811020" h="1481454">
                  <a:moveTo>
                    <a:pt x="17370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08315"/>
                  </a:lnTo>
                  <a:lnTo>
                    <a:pt x="594" y="1417593"/>
                  </a:lnTo>
                  <a:lnTo>
                    <a:pt x="607" y="1417793"/>
                  </a:lnTo>
                  <a:lnTo>
                    <a:pt x="2394" y="1426994"/>
                  </a:lnTo>
                  <a:lnTo>
                    <a:pt x="2428" y="1427172"/>
                  </a:lnTo>
                  <a:lnTo>
                    <a:pt x="5412" y="1436056"/>
                  </a:lnTo>
                  <a:lnTo>
                    <a:pt x="5464" y="1436212"/>
                  </a:lnTo>
                  <a:lnTo>
                    <a:pt x="36360" y="1471676"/>
                  </a:lnTo>
                  <a:lnTo>
                    <a:pt x="73075" y="1481404"/>
                  </a:lnTo>
                  <a:lnTo>
                    <a:pt x="1737360" y="1481035"/>
                  </a:lnTo>
                  <a:lnTo>
                    <a:pt x="1781737" y="1465944"/>
                  </a:lnTo>
                  <a:lnTo>
                    <a:pt x="1807947" y="1427172"/>
                  </a:lnTo>
                  <a:lnTo>
                    <a:pt x="1810413" y="1408315"/>
                  </a:lnTo>
                  <a:lnTo>
                    <a:pt x="1810435" y="1407960"/>
                  </a:lnTo>
                  <a:lnTo>
                    <a:pt x="1810080" y="73075"/>
                  </a:lnTo>
                  <a:lnTo>
                    <a:pt x="1794981" y="28705"/>
                  </a:lnTo>
                  <a:lnTo>
                    <a:pt x="1756033" y="2428"/>
                  </a:lnTo>
                  <a:lnTo>
                    <a:pt x="1746636" y="607"/>
                  </a:lnTo>
                  <a:lnTo>
                    <a:pt x="173700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738360" y="3063239"/>
              <a:ext cx="1811020" cy="1481455"/>
            </a:xfrm>
            <a:custGeom>
              <a:avLst/>
              <a:gdLst/>
              <a:ahLst/>
              <a:cxnLst/>
              <a:rect l="l" t="t" r="r" b="b"/>
              <a:pathLst>
                <a:path w="1811020" h="1481454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1737004" y="0"/>
                  </a:lnTo>
                  <a:lnTo>
                    <a:pt x="1781524" y="15104"/>
                  </a:lnTo>
                  <a:lnTo>
                    <a:pt x="1807651" y="54224"/>
                  </a:lnTo>
                  <a:lnTo>
                    <a:pt x="1810080" y="73075"/>
                  </a:lnTo>
                  <a:lnTo>
                    <a:pt x="1810435" y="1407960"/>
                  </a:lnTo>
                  <a:lnTo>
                    <a:pt x="1809828" y="1417593"/>
                  </a:lnTo>
                  <a:lnTo>
                    <a:pt x="1808006" y="1426994"/>
                  </a:lnTo>
                  <a:lnTo>
                    <a:pt x="1781737" y="1465944"/>
                  </a:lnTo>
                  <a:lnTo>
                    <a:pt x="1737360" y="1481035"/>
                  </a:lnTo>
                  <a:lnTo>
                    <a:pt x="73075" y="1481404"/>
                  </a:lnTo>
                  <a:lnTo>
                    <a:pt x="28555" y="1466294"/>
                  </a:lnTo>
                  <a:lnTo>
                    <a:pt x="2428" y="1427172"/>
                  </a:lnTo>
                  <a:lnTo>
                    <a:pt x="0" y="1408315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738360" y="3063239"/>
              <a:ext cx="73025" cy="1481455"/>
            </a:xfrm>
            <a:custGeom>
              <a:avLst/>
              <a:gdLst/>
              <a:ahLst/>
              <a:cxnLst/>
              <a:rect l="l" t="t" r="r" b="b"/>
              <a:pathLst>
                <a:path w="73025" h="1481454">
                  <a:moveTo>
                    <a:pt x="72720" y="0"/>
                  </a:moveTo>
                  <a:lnTo>
                    <a:pt x="0" y="0"/>
                  </a:lnTo>
                  <a:lnTo>
                    <a:pt x="0" y="1481035"/>
                  </a:lnTo>
                  <a:lnTo>
                    <a:pt x="36360" y="1481035"/>
                  </a:lnTo>
                  <a:lnTo>
                    <a:pt x="72720" y="1481035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972623" y="3451745"/>
            <a:ext cx="1357630" cy="1806055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500" b="1">
                <a:solidFill>
                  <a:srgbClr val="296D6F"/>
                </a:solidFill>
                <a:latin typeface="Arial"/>
                <a:cs typeface="Arial"/>
              </a:rPr>
              <a:t>91</a:t>
            </a:r>
            <a:r>
              <a:rPr lang="es-MX" sz="2500" b="1" spc="-15">
                <a:solidFill>
                  <a:srgbClr val="296D6F"/>
                </a:solidFill>
                <a:latin typeface="Arial"/>
                <a:cs typeface="Arial"/>
              </a:rPr>
              <a:t> </a:t>
            </a:r>
            <a:r>
              <a:rPr lang="es-MX" sz="2500" b="1" spc="-20">
                <a:solidFill>
                  <a:srgbClr val="296D6F"/>
                </a:solidFill>
                <a:latin typeface="Arial"/>
                <a:cs typeface="Arial"/>
              </a:rPr>
              <a:t>días</a:t>
            </a:r>
            <a:endParaRPr lang="es-MX" sz="2500">
              <a:latin typeface="Arial"/>
              <a:cs typeface="Arial"/>
            </a:endParaRPr>
          </a:p>
          <a:p>
            <a:pPr marL="12700" marR="441325">
              <a:lnSpc>
                <a:spcPts val="1600"/>
              </a:lnSpc>
              <a:spcBef>
                <a:spcPts val="1880"/>
              </a:spcBef>
            </a:pPr>
            <a:r>
              <a:rPr lang="es-MX" sz="1450" b="1" spc="-10">
                <a:solidFill>
                  <a:srgbClr val="1F2F28"/>
                </a:solidFill>
                <a:latin typeface="Arial"/>
                <a:cs typeface="Arial"/>
              </a:rPr>
              <a:t>repetición exacta</a:t>
            </a:r>
            <a:endParaRPr lang="es-MX" sz="1450">
              <a:latin typeface="Arial"/>
              <a:cs typeface="Arial"/>
            </a:endParaRPr>
          </a:p>
          <a:p>
            <a:pPr marL="12700" marR="5080">
              <a:lnSpc>
                <a:spcPct val="80000"/>
              </a:lnSpc>
              <a:spcBef>
                <a:spcPts val="195"/>
              </a:spcBef>
            </a:pP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No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implica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que</a:t>
            </a:r>
            <a:r>
              <a:rPr lang="es-MX" sz="12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cada</a:t>
            </a:r>
            <a:r>
              <a:rPr lang="es-MX" sz="12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segmento</a:t>
            </a:r>
            <a:r>
              <a:rPr lang="es-MX" sz="12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se</a:t>
            </a:r>
            <a:r>
              <a:rPr lang="es-MX" sz="1200" spc="5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repita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sobre</a:t>
            </a:r>
            <a:r>
              <a:rPr lang="es-MX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misma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huella</a:t>
            </a:r>
            <a:endParaRPr lang="es-MX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657740" y="5318125"/>
            <a:ext cx="3895725" cy="777875"/>
            <a:chOff x="7657740" y="4914184"/>
            <a:chExt cx="3895725" cy="777875"/>
          </a:xfrm>
        </p:grpSpPr>
        <p:sp>
          <p:nvSpPr>
            <p:cNvPr id="62" name="object 62"/>
            <p:cNvSpPr/>
            <p:nvPr/>
          </p:nvSpPr>
          <p:spPr>
            <a:xfrm>
              <a:off x="7662240" y="4918684"/>
              <a:ext cx="3886835" cy="768985"/>
            </a:xfrm>
            <a:custGeom>
              <a:avLst/>
              <a:gdLst/>
              <a:ahLst/>
              <a:cxnLst/>
              <a:rect l="l" t="t" r="r" b="b"/>
              <a:pathLst>
                <a:path w="3886834" h="768985">
                  <a:moveTo>
                    <a:pt x="64439" y="0"/>
                  </a:moveTo>
                  <a:lnTo>
                    <a:pt x="25402" y="13352"/>
                  </a:lnTo>
                  <a:lnTo>
                    <a:pt x="2517" y="47517"/>
                  </a:lnTo>
                  <a:lnTo>
                    <a:pt x="0" y="704519"/>
                  </a:lnTo>
                  <a:lnTo>
                    <a:pt x="540" y="712862"/>
                  </a:lnTo>
                  <a:lnTo>
                    <a:pt x="18733" y="749738"/>
                  </a:lnTo>
                  <a:lnTo>
                    <a:pt x="18853" y="749876"/>
                  </a:lnTo>
                  <a:lnTo>
                    <a:pt x="55734" y="768052"/>
                  </a:lnTo>
                  <a:lnTo>
                    <a:pt x="64084" y="768591"/>
                  </a:lnTo>
                  <a:lnTo>
                    <a:pt x="3822484" y="768591"/>
                  </a:lnTo>
                  <a:lnTo>
                    <a:pt x="3861515" y="755233"/>
                  </a:lnTo>
                  <a:lnTo>
                    <a:pt x="3884399" y="721072"/>
                  </a:lnTo>
                  <a:lnTo>
                    <a:pt x="3886555" y="704519"/>
                  </a:lnTo>
                  <a:lnTo>
                    <a:pt x="3886531" y="64071"/>
                  </a:lnTo>
                  <a:lnTo>
                    <a:pt x="3873197" y="25395"/>
                  </a:lnTo>
                  <a:lnTo>
                    <a:pt x="3839036" y="2516"/>
                  </a:lnTo>
                  <a:lnTo>
                    <a:pt x="38224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662240" y="4918684"/>
              <a:ext cx="3886835" cy="768985"/>
            </a:xfrm>
            <a:custGeom>
              <a:avLst/>
              <a:gdLst/>
              <a:ahLst/>
              <a:cxnLst/>
              <a:rect l="l" t="t" r="r" b="b"/>
              <a:pathLst>
                <a:path w="3886834" h="768985">
                  <a:moveTo>
                    <a:pt x="355" y="64071"/>
                  </a:moveTo>
                  <a:lnTo>
                    <a:pt x="896" y="55728"/>
                  </a:lnTo>
                  <a:lnTo>
                    <a:pt x="2517" y="47517"/>
                  </a:lnTo>
                  <a:lnTo>
                    <a:pt x="25402" y="13352"/>
                  </a:lnTo>
                  <a:lnTo>
                    <a:pt x="64439" y="0"/>
                  </a:lnTo>
                  <a:lnTo>
                    <a:pt x="3822484" y="355"/>
                  </a:lnTo>
                  <a:lnTo>
                    <a:pt x="3861463" y="13557"/>
                  </a:lnTo>
                  <a:lnTo>
                    <a:pt x="3884399" y="47875"/>
                  </a:lnTo>
                  <a:lnTo>
                    <a:pt x="3886555" y="64439"/>
                  </a:lnTo>
                  <a:lnTo>
                    <a:pt x="3886555" y="704519"/>
                  </a:lnTo>
                  <a:lnTo>
                    <a:pt x="3886017" y="712862"/>
                  </a:lnTo>
                  <a:lnTo>
                    <a:pt x="3884399" y="721072"/>
                  </a:lnTo>
                  <a:lnTo>
                    <a:pt x="3861515" y="755233"/>
                  </a:lnTo>
                  <a:lnTo>
                    <a:pt x="3822484" y="768591"/>
                  </a:lnTo>
                  <a:lnTo>
                    <a:pt x="64084" y="768591"/>
                  </a:lnTo>
                  <a:lnTo>
                    <a:pt x="25091" y="755389"/>
                  </a:lnTo>
                  <a:lnTo>
                    <a:pt x="2160" y="721072"/>
                  </a:lnTo>
                  <a:lnTo>
                    <a:pt x="0" y="704519"/>
                  </a:lnTo>
                  <a:lnTo>
                    <a:pt x="355" y="64071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662595" y="4919040"/>
              <a:ext cx="82550" cy="768350"/>
            </a:xfrm>
            <a:custGeom>
              <a:avLst/>
              <a:gdLst/>
              <a:ahLst/>
              <a:cxnLst/>
              <a:rect l="l" t="t" r="r" b="b"/>
              <a:pathLst>
                <a:path w="82550" h="768350">
                  <a:moveTo>
                    <a:pt x="82080" y="0"/>
                  </a:moveTo>
                  <a:lnTo>
                    <a:pt x="0" y="0"/>
                  </a:lnTo>
                  <a:lnTo>
                    <a:pt x="0" y="767880"/>
                  </a:lnTo>
                  <a:lnTo>
                    <a:pt x="41046" y="767880"/>
                  </a:lnTo>
                  <a:lnTo>
                    <a:pt x="82080" y="76788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7896859" y="5415399"/>
            <a:ext cx="3528000" cy="6235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just">
              <a:lnSpc>
                <a:spcPts val="1510"/>
              </a:lnSpc>
              <a:spcBef>
                <a:spcPts val="290"/>
              </a:spcBef>
            </a:pP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Conteo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fotones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equivale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una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imagen: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resultado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primario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es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una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nube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eventos</a:t>
            </a:r>
            <a:r>
              <a:rPr lang="es-MX" sz="1400" b="1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lo</a:t>
            </a:r>
            <a:r>
              <a:rPr lang="es-MX" sz="1400" b="1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largo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trazas.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66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67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8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7/43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Geometría</a:t>
            </a:r>
            <a:r>
              <a:rPr spc="-85"/>
              <a:t> </a:t>
            </a:r>
            <a:r>
              <a:t>de</a:t>
            </a:r>
            <a:r>
              <a:rPr spc="-80"/>
              <a:t> </a:t>
            </a:r>
            <a:r>
              <a:t>medición:</a:t>
            </a:r>
            <a:r>
              <a:rPr spc="-80"/>
              <a:t> </a:t>
            </a:r>
            <a:r>
              <a:t>seis</a:t>
            </a:r>
            <a:r>
              <a:rPr spc="-80"/>
              <a:t> </a:t>
            </a:r>
            <a:r>
              <a:t>haces</a:t>
            </a:r>
            <a:r>
              <a:rPr spc="-80"/>
              <a:t> </a:t>
            </a:r>
            <a:r>
              <a:t>en</a:t>
            </a:r>
            <a:r>
              <a:rPr spc="-75"/>
              <a:t> </a:t>
            </a:r>
            <a:r>
              <a:t>tres</a:t>
            </a:r>
            <a:r>
              <a:rPr spc="-80"/>
              <a:t> </a:t>
            </a:r>
            <a:r>
              <a:rPr spc="-10"/>
              <a:t>pares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98233" y="1247672"/>
            <a:ext cx="7379970" cy="4752000"/>
            <a:chOff x="598233" y="1247673"/>
            <a:chExt cx="7379970" cy="449008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02995" y="1252435"/>
              <a:ext cx="7370445" cy="4480560"/>
            </a:xfrm>
            <a:custGeom>
              <a:avLst/>
              <a:gdLst/>
              <a:ahLst/>
              <a:cxnLst/>
              <a:rect l="l" t="t" r="r" b="b"/>
              <a:pathLst>
                <a:path w="7370445" h="4480560">
                  <a:moveTo>
                    <a:pt x="7314844" y="0"/>
                  </a:moveTo>
                  <a:lnTo>
                    <a:pt x="54724" y="0"/>
                  </a:lnTo>
                  <a:lnTo>
                    <a:pt x="47665" y="467"/>
                  </a:lnTo>
                  <a:lnTo>
                    <a:pt x="11280" y="21433"/>
                  </a:lnTo>
                  <a:lnTo>
                    <a:pt x="0" y="54724"/>
                  </a:lnTo>
                  <a:lnTo>
                    <a:pt x="0" y="4425848"/>
                  </a:lnTo>
                  <a:lnTo>
                    <a:pt x="453" y="4432696"/>
                  </a:lnTo>
                  <a:lnTo>
                    <a:pt x="467" y="4432907"/>
                  </a:lnTo>
                  <a:lnTo>
                    <a:pt x="21383" y="4469252"/>
                  </a:lnTo>
                  <a:lnTo>
                    <a:pt x="48078" y="4480204"/>
                  </a:lnTo>
                  <a:lnTo>
                    <a:pt x="49224" y="4480204"/>
                  </a:lnTo>
                  <a:lnTo>
                    <a:pt x="54724" y="4480559"/>
                  </a:lnTo>
                  <a:lnTo>
                    <a:pt x="7315200" y="4480204"/>
                  </a:lnTo>
                  <a:lnTo>
                    <a:pt x="7353860" y="4464278"/>
                  </a:lnTo>
                  <a:lnTo>
                    <a:pt x="7368006" y="4439931"/>
                  </a:lnTo>
                  <a:lnTo>
                    <a:pt x="7368081" y="4439707"/>
                  </a:lnTo>
                  <a:lnTo>
                    <a:pt x="7369416" y="4432907"/>
                  </a:lnTo>
                  <a:lnTo>
                    <a:pt x="7369458" y="4432696"/>
                  </a:lnTo>
                  <a:lnTo>
                    <a:pt x="7369900" y="4425848"/>
                  </a:lnTo>
                  <a:lnTo>
                    <a:pt x="7369924" y="4425480"/>
                  </a:lnTo>
                  <a:lnTo>
                    <a:pt x="7369568" y="54724"/>
                  </a:lnTo>
                  <a:lnTo>
                    <a:pt x="7353631" y="16070"/>
                  </a:lnTo>
                  <a:lnTo>
                    <a:pt x="7322053" y="467"/>
                  </a:lnTo>
                  <a:lnTo>
                    <a:pt x="731484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995" y="1252435"/>
              <a:ext cx="7370445" cy="4480560"/>
            </a:xfrm>
            <a:custGeom>
              <a:avLst/>
              <a:gdLst/>
              <a:ahLst/>
              <a:cxnLst/>
              <a:rect l="l" t="t" r="r" b="b"/>
              <a:pathLst>
                <a:path w="7370445" h="4480560">
                  <a:moveTo>
                    <a:pt x="0" y="54724"/>
                  </a:moveTo>
                  <a:lnTo>
                    <a:pt x="467" y="47515"/>
                  </a:lnTo>
                  <a:lnTo>
                    <a:pt x="1847" y="40508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7314844" y="0"/>
                  </a:lnTo>
                  <a:lnTo>
                    <a:pt x="7353631" y="16070"/>
                  </a:lnTo>
                  <a:lnTo>
                    <a:pt x="7369568" y="54724"/>
                  </a:lnTo>
                  <a:lnTo>
                    <a:pt x="7369924" y="4425480"/>
                  </a:lnTo>
                  <a:lnTo>
                    <a:pt x="7369458" y="4432696"/>
                  </a:lnTo>
                  <a:lnTo>
                    <a:pt x="7368081" y="4439707"/>
                  </a:lnTo>
                  <a:lnTo>
                    <a:pt x="7342568" y="4473003"/>
                  </a:lnTo>
                  <a:lnTo>
                    <a:pt x="54724" y="4480559"/>
                  </a:lnTo>
                  <a:lnTo>
                    <a:pt x="15936" y="4464500"/>
                  </a:lnTo>
                  <a:lnTo>
                    <a:pt x="0" y="4425848"/>
                  </a:lnTo>
                  <a:lnTo>
                    <a:pt x="0" y="54724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06715" y="1906917"/>
              <a:ext cx="6092190" cy="3168015"/>
            </a:xfrm>
            <a:custGeom>
              <a:avLst/>
              <a:gdLst/>
              <a:ahLst/>
              <a:cxnLst/>
              <a:rect l="l" t="t" r="r" b="b"/>
              <a:pathLst>
                <a:path w="6092190" h="3168015">
                  <a:moveTo>
                    <a:pt x="0" y="3168002"/>
                  </a:moveTo>
                  <a:lnTo>
                    <a:pt x="6091567" y="0"/>
                  </a:lnTo>
                </a:path>
              </a:pathLst>
            </a:custGeom>
            <a:ln w="15119">
              <a:solidFill>
                <a:srgbClr val="64726B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76325" y="1874519"/>
              <a:ext cx="85090" cy="68580"/>
            </a:xfrm>
            <a:custGeom>
              <a:avLst/>
              <a:gdLst/>
              <a:ahLst/>
              <a:cxnLst/>
              <a:rect l="l" t="t" r="r" b="b"/>
              <a:pathLst>
                <a:path w="85090" h="68580">
                  <a:moveTo>
                    <a:pt x="84594" y="0"/>
                  </a:moveTo>
                  <a:lnTo>
                    <a:pt x="0" y="1435"/>
                  </a:lnTo>
                  <a:lnTo>
                    <a:pt x="34912" y="68402"/>
                  </a:lnTo>
                  <a:lnTo>
                    <a:pt x="84594" y="0"/>
                  </a:lnTo>
                  <a:close/>
                </a:path>
              </a:pathLst>
            </a:custGeom>
            <a:solidFill>
              <a:srgbClr val="6472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35014" y="1543951"/>
            <a:ext cx="126936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00" b="1">
                <a:solidFill>
                  <a:srgbClr val="64726B"/>
                </a:solidFill>
                <a:latin typeface="Arial"/>
                <a:cs typeface="Arial"/>
              </a:rPr>
              <a:t>Dirección</a:t>
            </a:r>
            <a:r>
              <a:rPr lang="es-ES" sz="1100" b="1" spc="-3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100" b="1">
                <a:solidFill>
                  <a:srgbClr val="64726B"/>
                </a:solidFill>
                <a:latin typeface="Arial"/>
                <a:cs typeface="Arial"/>
              </a:rPr>
              <a:t>de</a:t>
            </a:r>
            <a:r>
              <a:rPr lang="es-ES" sz="1100" b="1" spc="-3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100" b="1" spc="-20">
                <a:solidFill>
                  <a:srgbClr val="64726B"/>
                </a:solidFill>
                <a:latin typeface="Arial"/>
                <a:cs typeface="Arial"/>
              </a:rPr>
              <a:t>vuelo</a:t>
            </a:r>
            <a:endParaRPr lang="es-ES" sz="11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92084" y="2770555"/>
            <a:ext cx="5312929" cy="2743200"/>
            <a:chOff x="1792084" y="2770555"/>
            <a:chExt cx="5312929" cy="2743200"/>
          </a:xfrm>
        </p:grpSpPr>
        <p:sp>
          <p:nvSpPr>
            <p:cNvPr id="12" name="object 12"/>
            <p:cNvSpPr/>
            <p:nvPr/>
          </p:nvSpPr>
          <p:spPr>
            <a:xfrm>
              <a:off x="1874519" y="2770555"/>
              <a:ext cx="3538854" cy="1828800"/>
            </a:xfrm>
            <a:custGeom>
              <a:avLst/>
              <a:gdLst/>
              <a:ahLst/>
              <a:cxnLst/>
              <a:rect l="l" t="t" r="r" b="b"/>
              <a:pathLst>
                <a:path w="3538854" h="1828800">
                  <a:moveTo>
                    <a:pt x="0" y="1828800"/>
                  </a:moveTo>
                  <a:lnTo>
                    <a:pt x="3538435" y="0"/>
                  </a:lnTo>
                </a:path>
              </a:pathLst>
            </a:custGeom>
            <a:ln w="40679">
              <a:solidFill>
                <a:srgbClr val="2E6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48040" y="2861995"/>
              <a:ext cx="3538854" cy="1828800"/>
            </a:xfrm>
            <a:custGeom>
              <a:avLst/>
              <a:gdLst/>
              <a:ahLst/>
              <a:cxnLst/>
              <a:rect l="l" t="t" r="r" b="b"/>
              <a:pathLst>
                <a:path w="3538854" h="1828800">
                  <a:moveTo>
                    <a:pt x="0" y="1828800"/>
                  </a:moveTo>
                  <a:lnTo>
                    <a:pt x="3538804" y="0"/>
                  </a:lnTo>
                </a:path>
              </a:pathLst>
            </a:custGeom>
            <a:ln w="17639">
              <a:solidFill>
                <a:srgbClr val="2E6E9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9795" y="4544275"/>
              <a:ext cx="109804" cy="1098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3315" y="4635716"/>
              <a:ext cx="109804" cy="1098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633395" y="3154680"/>
              <a:ext cx="3538854" cy="1828800"/>
            </a:xfrm>
            <a:custGeom>
              <a:avLst/>
              <a:gdLst/>
              <a:ahLst/>
              <a:cxnLst/>
              <a:rect l="l" t="t" r="r" b="b"/>
              <a:pathLst>
                <a:path w="3538854" h="1828800">
                  <a:moveTo>
                    <a:pt x="0" y="1828800"/>
                  </a:moveTo>
                  <a:lnTo>
                    <a:pt x="3538804" y="0"/>
                  </a:lnTo>
                </a:path>
              </a:pathLst>
            </a:custGeom>
            <a:ln w="4067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06915" y="3246120"/>
              <a:ext cx="3538854" cy="1828800"/>
            </a:xfrm>
            <a:custGeom>
              <a:avLst/>
              <a:gdLst/>
              <a:ahLst/>
              <a:cxnLst/>
              <a:rect l="l" t="t" r="r" b="b"/>
              <a:pathLst>
                <a:path w="3538854" h="1828800">
                  <a:moveTo>
                    <a:pt x="0" y="1828799"/>
                  </a:moveTo>
                  <a:lnTo>
                    <a:pt x="3538804" y="0"/>
                  </a:lnTo>
                </a:path>
              </a:pathLst>
            </a:custGeom>
            <a:ln w="17639">
              <a:solidFill>
                <a:srgbClr val="296D6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8684" y="4930694"/>
              <a:ext cx="109791" cy="1052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2204" y="5019840"/>
              <a:ext cx="109791" cy="10980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92284" y="3538436"/>
              <a:ext cx="3538854" cy="1828800"/>
            </a:xfrm>
            <a:custGeom>
              <a:avLst/>
              <a:gdLst/>
              <a:ahLst/>
              <a:cxnLst/>
              <a:rect l="l" t="t" r="r" b="b"/>
              <a:pathLst>
                <a:path w="3538854" h="1828800">
                  <a:moveTo>
                    <a:pt x="0" y="1828800"/>
                  </a:moveTo>
                  <a:lnTo>
                    <a:pt x="3538791" y="0"/>
                  </a:lnTo>
                </a:path>
              </a:pathLst>
            </a:custGeom>
            <a:ln w="4067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66159" y="3629876"/>
              <a:ext cx="3538854" cy="1828800"/>
            </a:xfrm>
            <a:custGeom>
              <a:avLst/>
              <a:gdLst/>
              <a:ahLst/>
              <a:cxnLst/>
              <a:rect l="l" t="t" r="r" b="b"/>
              <a:pathLst>
                <a:path w="3538854" h="1828800">
                  <a:moveTo>
                    <a:pt x="0" y="1828800"/>
                  </a:moveTo>
                  <a:lnTo>
                    <a:pt x="3538435" y="0"/>
                  </a:lnTo>
                </a:path>
              </a:pathLst>
            </a:custGeom>
            <a:ln w="17639">
              <a:solidFill>
                <a:srgbClr val="C3862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9853" y="5312524"/>
              <a:ext cx="105216" cy="1097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1435" y="5403964"/>
              <a:ext cx="109804" cy="1097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2084" y="4774137"/>
              <a:ext cx="201231" cy="9827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354904" y="2466619"/>
            <a:ext cx="37211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100" b="1">
                <a:solidFill>
                  <a:srgbClr val="2E6E9D"/>
                </a:solidFill>
                <a:latin typeface="Arial"/>
                <a:cs typeface="Arial"/>
              </a:rPr>
              <a:t>Par</a:t>
            </a:r>
            <a:r>
              <a:rPr lang="es-ES" sz="1100" b="1" spc="10">
                <a:solidFill>
                  <a:srgbClr val="2E6E9D"/>
                </a:solidFill>
                <a:latin typeface="Arial"/>
                <a:cs typeface="Arial"/>
              </a:rPr>
              <a:t> </a:t>
            </a:r>
            <a:r>
              <a:rPr lang="es-ES" sz="1100" b="1" spc="-50">
                <a:solidFill>
                  <a:srgbClr val="2E6E9D"/>
                </a:solidFill>
                <a:latin typeface="Arial"/>
                <a:cs typeface="Arial"/>
              </a:rPr>
              <a:t>1</a:t>
            </a:r>
            <a:endParaRPr lang="es-ES"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13779" y="2850375"/>
            <a:ext cx="37211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100" b="1">
                <a:solidFill>
                  <a:srgbClr val="296D6F"/>
                </a:solidFill>
                <a:latin typeface="Arial"/>
                <a:cs typeface="Arial"/>
              </a:rPr>
              <a:t>Par</a:t>
            </a:r>
            <a:r>
              <a:rPr lang="es-ES" sz="1100" b="1" spc="10">
                <a:solidFill>
                  <a:srgbClr val="296D6F"/>
                </a:solidFill>
                <a:latin typeface="Arial"/>
                <a:cs typeface="Arial"/>
              </a:rPr>
              <a:t> </a:t>
            </a:r>
            <a:r>
              <a:rPr lang="es-ES" sz="1100" b="1" spc="-50">
                <a:solidFill>
                  <a:srgbClr val="296D6F"/>
                </a:solidFill>
                <a:latin typeface="Arial"/>
                <a:cs typeface="Arial"/>
              </a:rPr>
              <a:t>2</a:t>
            </a:r>
            <a:endParaRPr lang="es-ES"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72655" y="3234499"/>
            <a:ext cx="37211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100" b="1">
                <a:solidFill>
                  <a:srgbClr val="C3862D"/>
                </a:solidFill>
                <a:latin typeface="Arial"/>
                <a:cs typeface="Arial"/>
              </a:rPr>
              <a:t>Par</a:t>
            </a:r>
            <a:r>
              <a:rPr lang="es-ES" sz="1100" b="1" spc="10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1100" b="1" spc="-50">
                <a:solidFill>
                  <a:srgbClr val="C3862D"/>
                </a:solidFill>
                <a:latin typeface="Arial"/>
                <a:cs typeface="Arial"/>
              </a:rPr>
              <a:t>3</a:t>
            </a:r>
            <a:endParaRPr lang="es-ES"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0094" y="4241063"/>
            <a:ext cx="1059180" cy="37632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76225">
              <a:lnSpc>
                <a:spcPct val="102000"/>
              </a:lnSpc>
              <a:spcBef>
                <a:spcPts val="90"/>
              </a:spcBef>
            </a:pP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≈</a:t>
            </a:r>
            <a:r>
              <a:rPr lang="es-ES" sz="1200" b="1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90</a:t>
            </a:r>
            <a:r>
              <a:rPr lang="es-ES" sz="12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 spc="-50">
                <a:solidFill>
                  <a:srgbClr val="1F2F28"/>
                </a:solidFill>
                <a:latin typeface="Arial"/>
                <a:cs typeface="Arial"/>
              </a:rPr>
              <a:t>m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dentro</a:t>
            </a:r>
            <a:r>
              <a:rPr lang="es-ES" sz="1200" b="1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ES" sz="12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 spc="-25">
                <a:solidFill>
                  <a:srgbClr val="1F2F28"/>
                </a:solidFill>
                <a:latin typeface="Arial"/>
                <a:cs typeface="Arial"/>
              </a:rPr>
              <a:t>par</a:t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21416" y="1607216"/>
            <a:ext cx="2242185" cy="3797300"/>
            <a:chOff x="921416" y="1607216"/>
            <a:chExt cx="2242185" cy="3797300"/>
          </a:xfrm>
        </p:grpSpPr>
        <p:sp>
          <p:nvSpPr>
            <p:cNvPr id="30" name="object 30"/>
            <p:cNvSpPr/>
            <p:nvPr/>
          </p:nvSpPr>
          <p:spPr>
            <a:xfrm>
              <a:off x="2138400" y="4969433"/>
              <a:ext cx="798195" cy="403225"/>
            </a:xfrm>
            <a:custGeom>
              <a:avLst/>
              <a:gdLst/>
              <a:ahLst/>
              <a:cxnLst/>
              <a:rect l="l" t="t" r="r" b="b"/>
              <a:pathLst>
                <a:path w="798194" h="403225">
                  <a:moveTo>
                    <a:pt x="0" y="0"/>
                  </a:moveTo>
                  <a:lnTo>
                    <a:pt x="797763" y="402844"/>
                  </a:lnTo>
                </a:path>
              </a:pathLst>
            </a:custGeom>
            <a:ln w="10079">
              <a:solidFill>
                <a:srgbClr val="1F2F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75395" y="4937759"/>
              <a:ext cx="923925" cy="466725"/>
            </a:xfrm>
            <a:custGeom>
              <a:avLst/>
              <a:gdLst/>
              <a:ahLst/>
              <a:cxnLst/>
              <a:rect l="l" t="t" r="r" b="b"/>
              <a:pathLst>
                <a:path w="923925" h="466725">
                  <a:moveTo>
                    <a:pt x="84607" y="355"/>
                  </a:moveTo>
                  <a:lnTo>
                    <a:pt x="0" y="0"/>
                  </a:lnTo>
                  <a:lnTo>
                    <a:pt x="50406" y="67678"/>
                  </a:lnTo>
                  <a:lnTo>
                    <a:pt x="84607" y="355"/>
                  </a:lnTo>
                  <a:close/>
                </a:path>
                <a:path w="923925" h="466725">
                  <a:moveTo>
                    <a:pt x="923759" y="466204"/>
                  </a:moveTo>
                  <a:lnTo>
                    <a:pt x="873366" y="398526"/>
                  </a:lnTo>
                  <a:lnTo>
                    <a:pt x="839165" y="465836"/>
                  </a:lnTo>
                  <a:lnTo>
                    <a:pt x="923759" y="466204"/>
                  </a:lnTo>
                  <a:close/>
                </a:path>
              </a:pathLst>
            </a:custGeom>
            <a:solidFill>
              <a:srgbClr val="1F2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41755" y="1627555"/>
              <a:ext cx="475615" cy="635"/>
            </a:xfrm>
            <a:custGeom>
              <a:avLst/>
              <a:gdLst/>
              <a:ahLst/>
              <a:cxnLst/>
              <a:rect l="l" t="t" r="r" b="b"/>
              <a:pathLst>
                <a:path w="475615" h="635">
                  <a:moveTo>
                    <a:pt x="0" y="0"/>
                  </a:moveTo>
                  <a:lnTo>
                    <a:pt x="475564" y="368"/>
                  </a:lnTo>
                </a:path>
              </a:pathLst>
            </a:custGeom>
            <a:ln w="4067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79115" y="1627555"/>
              <a:ext cx="475615" cy="635"/>
            </a:xfrm>
            <a:custGeom>
              <a:avLst/>
              <a:gdLst/>
              <a:ahLst/>
              <a:cxnLst/>
              <a:rect l="l" t="t" r="r" b="b"/>
              <a:pathLst>
                <a:path w="475614" h="635">
                  <a:moveTo>
                    <a:pt x="0" y="0"/>
                  </a:moveTo>
                  <a:lnTo>
                    <a:pt x="475564" y="368"/>
                  </a:lnTo>
                </a:path>
              </a:pathLst>
            </a:custGeom>
            <a:ln w="17639">
              <a:solidFill>
                <a:srgbClr val="1D493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471661" y="5507545"/>
            <a:ext cx="861060" cy="37632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12395">
              <a:lnSpc>
                <a:spcPct val="102000"/>
              </a:lnSpc>
              <a:spcBef>
                <a:spcPts val="90"/>
              </a:spcBef>
            </a:pP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≈</a:t>
            </a:r>
            <a:r>
              <a:rPr lang="es-ES" sz="1200" b="1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3,3</a:t>
            </a:r>
            <a:r>
              <a:rPr lang="es-ES" sz="12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 spc="-25">
                <a:solidFill>
                  <a:srgbClr val="1F2F28"/>
                </a:solidFill>
                <a:latin typeface="Arial"/>
                <a:cs typeface="Arial"/>
              </a:rPr>
              <a:t>km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entre</a:t>
            </a:r>
            <a:r>
              <a:rPr lang="es-ES" sz="1200" b="1" spc="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pares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04696" y="1518018"/>
            <a:ext cx="73215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>
                <a:solidFill>
                  <a:srgbClr val="1F2F28"/>
                </a:solidFill>
                <a:latin typeface="Arial"/>
                <a:cs typeface="Arial"/>
              </a:rPr>
              <a:t>Haz</a:t>
            </a:r>
            <a:r>
              <a:rPr lang="es-ES" sz="1150" b="1" spc="-10">
                <a:solidFill>
                  <a:srgbClr val="1F2F28"/>
                </a:solidFill>
                <a:latin typeface="Arial"/>
                <a:cs typeface="Arial"/>
              </a:rPr>
              <a:t> fuerte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42055" y="1518018"/>
            <a:ext cx="66738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>
                <a:solidFill>
                  <a:srgbClr val="1F2F28"/>
                </a:solidFill>
                <a:latin typeface="Arial"/>
                <a:cs typeface="Arial"/>
              </a:rPr>
              <a:t>Haz</a:t>
            </a:r>
            <a:r>
              <a:rPr lang="es-ES" sz="1150" b="1" spc="-10">
                <a:solidFill>
                  <a:srgbClr val="1F2F28"/>
                </a:solidFill>
                <a:latin typeface="Arial"/>
                <a:cs typeface="Arial"/>
              </a:rPr>
              <a:t> débil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02345" y="1219200"/>
            <a:ext cx="2370455" cy="464429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000" b="1">
                <a:solidFill>
                  <a:srgbClr val="1D4938"/>
                </a:solidFill>
                <a:latin typeface="Arial"/>
                <a:cs typeface="Arial"/>
              </a:rPr>
              <a:t>Lectura</a:t>
            </a:r>
            <a:r>
              <a:rPr lang="es-ES" sz="2000" b="1" spc="-4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2000" b="1" spc="-10">
                <a:solidFill>
                  <a:srgbClr val="1D4938"/>
                </a:solidFill>
                <a:latin typeface="Arial"/>
                <a:cs typeface="Arial"/>
              </a:rPr>
              <a:t>geométrica</a:t>
            </a:r>
            <a:endParaRPr lang="es-ES" sz="20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288644" y="1614402"/>
            <a:ext cx="2988000" cy="1044000"/>
            <a:chOff x="8288644" y="1805396"/>
            <a:chExt cx="3283585" cy="97028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9" name="object 39"/>
            <p:cNvSpPr/>
            <p:nvPr/>
          </p:nvSpPr>
          <p:spPr>
            <a:xfrm>
              <a:off x="8293684" y="1810435"/>
              <a:ext cx="3274060" cy="960119"/>
            </a:xfrm>
            <a:custGeom>
              <a:avLst/>
              <a:gdLst/>
              <a:ahLst/>
              <a:cxnLst/>
              <a:rect l="l" t="t" r="r" b="b"/>
              <a:pathLst>
                <a:path w="3274059" h="960119">
                  <a:moveTo>
                    <a:pt x="32000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887044"/>
                  </a:lnTo>
                  <a:lnTo>
                    <a:pt x="594" y="896320"/>
                  </a:lnTo>
                  <a:lnTo>
                    <a:pt x="607" y="896522"/>
                  </a:lnTo>
                  <a:lnTo>
                    <a:pt x="2393" y="905717"/>
                  </a:lnTo>
                  <a:lnTo>
                    <a:pt x="2428" y="905900"/>
                  </a:lnTo>
                  <a:lnTo>
                    <a:pt x="5410" y="914779"/>
                  </a:lnTo>
                  <a:lnTo>
                    <a:pt x="36360" y="950404"/>
                  </a:lnTo>
                  <a:lnTo>
                    <a:pt x="73075" y="960120"/>
                  </a:lnTo>
                  <a:lnTo>
                    <a:pt x="3200400" y="959764"/>
                  </a:lnTo>
                  <a:lnTo>
                    <a:pt x="3244770" y="944665"/>
                  </a:lnTo>
                  <a:lnTo>
                    <a:pt x="3270985" y="905900"/>
                  </a:lnTo>
                  <a:lnTo>
                    <a:pt x="3271046" y="905717"/>
                  </a:lnTo>
                  <a:lnTo>
                    <a:pt x="3272829" y="896522"/>
                  </a:lnTo>
                  <a:lnTo>
                    <a:pt x="3272868" y="896320"/>
                  </a:lnTo>
                  <a:lnTo>
                    <a:pt x="3273453" y="887044"/>
                  </a:lnTo>
                  <a:lnTo>
                    <a:pt x="3273475" y="886688"/>
                  </a:lnTo>
                  <a:lnTo>
                    <a:pt x="3273120" y="73088"/>
                  </a:lnTo>
                  <a:lnTo>
                    <a:pt x="3258016" y="28710"/>
                  </a:lnTo>
                  <a:lnTo>
                    <a:pt x="3219072" y="2430"/>
                  </a:lnTo>
                  <a:lnTo>
                    <a:pt x="3209671" y="607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293684" y="1810435"/>
              <a:ext cx="3274060" cy="960119"/>
            </a:xfrm>
            <a:custGeom>
              <a:avLst/>
              <a:gdLst/>
              <a:ahLst/>
              <a:cxnLst/>
              <a:rect l="l" t="t" r="r" b="b"/>
              <a:pathLst>
                <a:path w="3274059" h="96011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200031" y="0"/>
                  </a:lnTo>
                  <a:lnTo>
                    <a:pt x="3244564" y="15109"/>
                  </a:lnTo>
                  <a:lnTo>
                    <a:pt x="3270689" y="54232"/>
                  </a:lnTo>
                  <a:lnTo>
                    <a:pt x="3273120" y="73088"/>
                  </a:lnTo>
                  <a:lnTo>
                    <a:pt x="3273475" y="886688"/>
                  </a:lnTo>
                  <a:lnTo>
                    <a:pt x="3272868" y="896320"/>
                  </a:lnTo>
                  <a:lnTo>
                    <a:pt x="3271046" y="905717"/>
                  </a:lnTo>
                  <a:lnTo>
                    <a:pt x="3244770" y="944665"/>
                  </a:lnTo>
                  <a:lnTo>
                    <a:pt x="3200400" y="959764"/>
                  </a:lnTo>
                  <a:lnTo>
                    <a:pt x="73075" y="960120"/>
                  </a:lnTo>
                  <a:lnTo>
                    <a:pt x="28548" y="945023"/>
                  </a:lnTo>
                  <a:lnTo>
                    <a:pt x="2428" y="905900"/>
                  </a:lnTo>
                  <a:lnTo>
                    <a:pt x="0" y="88704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93684" y="1810435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19">
                  <a:moveTo>
                    <a:pt x="72720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36360" y="959764"/>
                  </a:lnTo>
                  <a:lnTo>
                    <a:pt x="72720" y="9597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E6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509216" y="1618502"/>
            <a:ext cx="2801620" cy="1106563"/>
          </a:xfrm>
          <a:prstGeom prst="rect">
            <a:avLst/>
          </a:prstGeom>
        </p:spPr>
        <p:txBody>
          <a:bodyPr vert="horz" wrap="square" lIns="0" tIns="1397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Pendiente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10">
                <a:solidFill>
                  <a:srgbClr val="1F2F28"/>
                </a:solidFill>
                <a:latin typeface="Arial"/>
                <a:cs typeface="Arial"/>
              </a:rPr>
              <a:t>transversal</a:t>
            </a:r>
            <a:endParaRPr lang="es-MX" sz="1550">
              <a:latin typeface="Arial"/>
              <a:cs typeface="Arial"/>
            </a:endParaRPr>
          </a:p>
          <a:p>
            <a:pPr marL="12700" marR="5080"/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Cada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par</a:t>
            </a:r>
            <a:r>
              <a:rPr lang="es-MX" sz="12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observa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dos</a:t>
            </a:r>
            <a:r>
              <a:rPr lang="es-MX" sz="12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líneas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cercanas;</a:t>
            </a:r>
            <a:r>
              <a:rPr lang="es-MX" sz="12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su</a:t>
            </a:r>
            <a:r>
              <a:rPr lang="es-MX" sz="12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diferencia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ayuda</a:t>
            </a:r>
            <a:r>
              <a:rPr lang="es-MX" sz="12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describir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variaciones</a:t>
            </a:r>
            <a:r>
              <a:rPr lang="es-MX" sz="12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transversales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MX" sz="12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relieve</a:t>
            </a:r>
            <a:r>
              <a:rPr lang="es-MX" sz="900" spc="-10">
                <a:solidFill>
                  <a:srgbClr val="1F2F28"/>
                </a:solidFill>
                <a:latin typeface="Arial"/>
                <a:cs typeface="Arial"/>
              </a:rPr>
              <a:t>.</a:t>
            </a:r>
            <a:endParaRPr lang="es-MX" sz="9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288644" y="2725065"/>
            <a:ext cx="2988000" cy="1044000"/>
            <a:chOff x="8288644" y="2939404"/>
            <a:chExt cx="3283585" cy="97028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4" name="object 44"/>
            <p:cNvSpPr/>
            <p:nvPr/>
          </p:nvSpPr>
          <p:spPr>
            <a:xfrm>
              <a:off x="8293684" y="2944444"/>
              <a:ext cx="3274060" cy="960119"/>
            </a:xfrm>
            <a:custGeom>
              <a:avLst/>
              <a:gdLst/>
              <a:ahLst/>
              <a:cxnLst/>
              <a:rect l="l" t="t" r="r" b="b"/>
              <a:pathLst>
                <a:path w="3274059" h="960120">
                  <a:moveTo>
                    <a:pt x="32000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887031"/>
                  </a:lnTo>
                  <a:lnTo>
                    <a:pt x="594" y="896309"/>
                  </a:lnTo>
                  <a:lnTo>
                    <a:pt x="607" y="896509"/>
                  </a:lnTo>
                  <a:lnTo>
                    <a:pt x="2394" y="905710"/>
                  </a:lnTo>
                  <a:lnTo>
                    <a:pt x="2428" y="905887"/>
                  </a:lnTo>
                  <a:lnTo>
                    <a:pt x="5412" y="914772"/>
                  </a:lnTo>
                  <a:lnTo>
                    <a:pt x="5464" y="914927"/>
                  </a:lnTo>
                  <a:lnTo>
                    <a:pt x="36360" y="950391"/>
                  </a:lnTo>
                  <a:lnTo>
                    <a:pt x="73075" y="960119"/>
                  </a:lnTo>
                  <a:lnTo>
                    <a:pt x="3200400" y="959751"/>
                  </a:lnTo>
                  <a:lnTo>
                    <a:pt x="3244770" y="944660"/>
                  </a:lnTo>
                  <a:lnTo>
                    <a:pt x="3270987" y="905887"/>
                  </a:lnTo>
                  <a:lnTo>
                    <a:pt x="3273453" y="887031"/>
                  </a:lnTo>
                  <a:lnTo>
                    <a:pt x="3273475" y="886675"/>
                  </a:lnTo>
                  <a:lnTo>
                    <a:pt x="3273120" y="73075"/>
                  </a:lnTo>
                  <a:lnTo>
                    <a:pt x="3258016" y="28698"/>
                  </a:lnTo>
                  <a:lnTo>
                    <a:pt x="3219072" y="2428"/>
                  </a:lnTo>
                  <a:lnTo>
                    <a:pt x="3209671" y="607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93684" y="2944444"/>
              <a:ext cx="3274060" cy="960119"/>
            </a:xfrm>
            <a:custGeom>
              <a:avLst/>
              <a:gdLst/>
              <a:ahLst/>
              <a:cxnLst/>
              <a:rect l="l" t="t" r="r" b="b"/>
              <a:pathLst>
                <a:path w="3274059" h="9601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200031" y="0"/>
                  </a:lnTo>
                  <a:lnTo>
                    <a:pt x="3244564" y="15096"/>
                  </a:lnTo>
                  <a:lnTo>
                    <a:pt x="3270689" y="54219"/>
                  </a:lnTo>
                  <a:lnTo>
                    <a:pt x="3273120" y="73075"/>
                  </a:lnTo>
                  <a:lnTo>
                    <a:pt x="3273475" y="886675"/>
                  </a:lnTo>
                  <a:lnTo>
                    <a:pt x="3272868" y="896309"/>
                  </a:lnTo>
                  <a:lnTo>
                    <a:pt x="3271046" y="905710"/>
                  </a:lnTo>
                  <a:lnTo>
                    <a:pt x="3244770" y="944660"/>
                  </a:lnTo>
                  <a:lnTo>
                    <a:pt x="3200400" y="959751"/>
                  </a:lnTo>
                  <a:lnTo>
                    <a:pt x="73075" y="960119"/>
                  </a:lnTo>
                  <a:lnTo>
                    <a:pt x="28548" y="945010"/>
                  </a:lnTo>
                  <a:lnTo>
                    <a:pt x="2428" y="905887"/>
                  </a:lnTo>
                  <a:lnTo>
                    <a:pt x="0" y="88703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93684" y="2944444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20">
                  <a:moveTo>
                    <a:pt x="72720" y="0"/>
                  </a:moveTo>
                  <a:lnTo>
                    <a:pt x="0" y="0"/>
                  </a:lnTo>
                  <a:lnTo>
                    <a:pt x="0" y="959751"/>
                  </a:lnTo>
                  <a:lnTo>
                    <a:pt x="36360" y="959751"/>
                  </a:lnTo>
                  <a:lnTo>
                    <a:pt x="72720" y="95975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509216" y="2757461"/>
            <a:ext cx="2762885" cy="99129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Energía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10">
                <a:solidFill>
                  <a:srgbClr val="1F2F28"/>
                </a:solidFill>
                <a:latin typeface="Arial"/>
                <a:cs typeface="Arial"/>
              </a:rPr>
              <a:t>distinta</a:t>
            </a:r>
            <a:endParaRPr lang="es-MX" sz="1550">
              <a:latin typeface="Arial"/>
              <a:cs typeface="Arial"/>
            </a:endParaRPr>
          </a:p>
          <a:p>
            <a:pPr marL="12700" marR="5080"/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2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haces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 fuertes</a:t>
            </a:r>
            <a:r>
              <a:rPr lang="es-MX" sz="12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débiles</a:t>
            </a:r>
            <a:r>
              <a:rPr lang="es-MX" sz="12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2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tienen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2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misma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energía</a:t>
            </a:r>
            <a:r>
              <a:rPr lang="es-MX" sz="12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transmitida; 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200" spc="50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calidad</a:t>
            </a:r>
            <a:r>
              <a:rPr lang="es-MX" sz="12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puede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variar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condiciones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solares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cobertura.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288644" y="3858705"/>
            <a:ext cx="2988000" cy="1044000"/>
            <a:chOff x="8288644" y="4073044"/>
            <a:chExt cx="3283585" cy="97028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9" name="object 49"/>
            <p:cNvSpPr/>
            <p:nvPr/>
          </p:nvSpPr>
          <p:spPr>
            <a:xfrm>
              <a:off x="8293684" y="4078084"/>
              <a:ext cx="3274060" cy="960119"/>
            </a:xfrm>
            <a:custGeom>
              <a:avLst/>
              <a:gdLst/>
              <a:ahLst/>
              <a:cxnLst/>
              <a:rect l="l" t="t" r="r" b="b"/>
              <a:pathLst>
                <a:path w="3274059" h="960120">
                  <a:moveTo>
                    <a:pt x="32000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887031"/>
                  </a:lnTo>
                  <a:lnTo>
                    <a:pt x="594" y="896309"/>
                  </a:lnTo>
                  <a:lnTo>
                    <a:pt x="607" y="896509"/>
                  </a:lnTo>
                  <a:lnTo>
                    <a:pt x="2394" y="905710"/>
                  </a:lnTo>
                  <a:lnTo>
                    <a:pt x="2428" y="905887"/>
                  </a:lnTo>
                  <a:lnTo>
                    <a:pt x="5412" y="914772"/>
                  </a:lnTo>
                  <a:lnTo>
                    <a:pt x="5464" y="914927"/>
                  </a:lnTo>
                  <a:lnTo>
                    <a:pt x="36360" y="950391"/>
                  </a:lnTo>
                  <a:lnTo>
                    <a:pt x="73075" y="960119"/>
                  </a:lnTo>
                  <a:lnTo>
                    <a:pt x="3200400" y="959751"/>
                  </a:lnTo>
                  <a:lnTo>
                    <a:pt x="3244770" y="944660"/>
                  </a:lnTo>
                  <a:lnTo>
                    <a:pt x="3270987" y="905887"/>
                  </a:lnTo>
                  <a:lnTo>
                    <a:pt x="3273453" y="887031"/>
                  </a:lnTo>
                  <a:lnTo>
                    <a:pt x="3273475" y="886675"/>
                  </a:lnTo>
                  <a:lnTo>
                    <a:pt x="3273120" y="73075"/>
                  </a:lnTo>
                  <a:lnTo>
                    <a:pt x="3258016" y="28698"/>
                  </a:lnTo>
                  <a:lnTo>
                    <a:pt x="3219072" y="2428"/>
                  </a:lnTo>
                  <a:lnTo>
                    <a:pt x="3209671" y="607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293684" y="4078084"/>
              <a:ext cx="3274060" cy="960119"/>
            </a:xfrm>
            <a:custGeom>
              <a:avLst/>
              <a:gdLst/>
              <a:ahLst/>
              <a:cxnLst/>
              <a:rect l="l" t="t" r="r" b="b"/>
              <a:pathLst>
                <a:path w="3274059" h="9601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200031" y="0"/>
                  </a:lnTo>
                  <a:lnTo>
                    <a:pt x="3244564" y="15096"/>
                  </a:lnTo>
                  <a:lnTo>
                    <a:pt x="3270689" y="54219"/>
                  </a:lnTo>
                  <a:lnTo>
                    <a:pt x="3273120" y="73075"/>
                  </a:lnTo>
                  <a:lnTo>
                    <a:pt x="3273475" y="886675"/>
                  </a:lnTo>
                  <a:lnTo>
                    <a:pt x="3272868" y="896309"/>
                  </a:lnTo>
                  <a:lnTo>
                    <a:pt x="3271046" y="905710"/>
                  </a:lnTo>
                  <a:lnTo>
                    <a:pt x="3244770" y="944660"/>
                  </a:lnTo>
                  <a:lnTo>
                    <a:pt x="3200400" y="959751"/>
                  </a:lnTo>
                  <a:lnTo>
                    <a:pt x="73075" y="960119"/>
                  </a:lnTo>
                  <a:lnTo>
                    <a:pt x="28548" y="945010"/>
                  </a:lnTo>
                  <a:lnTo>
                    <a:pt x="2428" y="905887"/>
                  </a:lnTo>
                  <a:lnTo>
                    <a:pt x="0" y="88703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293684" y="4078084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20">
                  <a:moveTo>
                    <a:pt x="72720" y="0"/>
                  </a:moveTo>
                  <a:lnTo>
                    <a:pt x="0" y="0"/>
                  </a:lnTo>
                  <a:lnTo>
                    <a:pt x="0" y="959751"/>
                  </a:lnTo>
                  <a:lnTo>
                    <a:pt x="36360" y="959751"/>
                  </a:lnTo>
                  <a:lnTo>
                    <a:pt x="72720" y="95975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509216" y="3874731"/>
            <a:ext cx="2834005" cy="1092530"/>
          </a:xfrm>
          <a:prstGeom prst="rect">
            <a:avLst/>
          </a:prstGeom>
        </p:spPr>
        <p:txBody>
          <a:bodyPr vert="horz" wrap="square" lIns="0" tIns="1397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Muestreo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10">
                <a:solidFill>
                  <a:srgbClr val="1F2F28"/>
                </a:solidFill>
                <a:latin typeface="Arial"/>
                <a:cs typeface="Arial"/>
              </a:rPr>
              <a:t>lineal</a:t>
            </a:r>
            <a:endParaRPr lang="es-MX" sz="1550">
              <a:latin typeface="Arial"/>
              <a:cs typeface="Arial"/>
            </a:endParaRPr>
          </a:p>
          <a:p>
            <a:pPr marL="12700" marR="5080"/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geometría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produce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trazas</a:t>
            </a:r>
            <a:r>
              <a:rPr lang="es-MX" sz="12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discretas,</a:t>
            </a:r>
            <a:r>
              <a:rPr lang="es-MX" sz="12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2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cobertura</a:t>
            </a:r>
            <a:r>
              <a:rPr lang="es-MX" sz="12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continua.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 inferencia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espacial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requiere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 integración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1F2F28"/>
                </a:solidFill>
                <a:latin typeface="Arial"/>
                <a:cs typeface="Arial"/>
              </a:rPr>
              <a:t>otras</a:t>
            </a:r>
            <a:r>
              <a:rPr lang="es-MX" sz="1200" spc="-10">
                <a:solidFill>
                  <a:srgbClr val="1F2F28"/>
                </a:solidFill>
                <a:latin typeface="Arial"/>
                <a:cs typeface="Arial"/>
              </a:rPr>
              <a:t> capas.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288815" y="5011065"/>
            <a:ext cx="3096000" cy="1008000"/>
            <a:chOff x="8288815" y="5252944"/>
            <a:chExt cx="3282950" cy="5397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4" name="object 54"/>
            <p:cNvSpPr/>
            <p:nvPr/>
          </p:nvSpPr>
          <p:spPr>
            <a:xfrm>
              <a:off x="8293315" y="5257444"/>
              <a:ext cx="3274060" cy="530860"/>
            </a:xfrm>
            <a:custGeom>
              <a:avLst/>
              <a:gdLst/>
              <a:ahLst/>
              <a:cxnLst/>
              <a:rect l="l" t="t" r="r" b="b"/>
              <a:pathLst>
                <a:path w="3274059" h="530860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466559"/>
                  </a:lnTo>
                  <a:lnTo>
                    <a:pt x="540" y="474902"/>
                  </a:lnTo>
                  <a:lnTo>
                    <a:pt x="18739" y="511778"/>
                  </a:lnTo>
                  <a:lnTo>
                    <a:pt x="18859" y="511916"/>
                  </a:lnTo>
                  <a:lnTo>
                    <a:pt x="55736" y="530092"/>
                  </a:lnTo>
                  <a:lnTo>
                    <a:pt x="64084" y="530631"/>
                  </a:lnTo>
                  <a:lnTo>
                    <a:pt x="3209759" y="530631"/>
                  </a:lnTo>
                  <a:lnTo>
                    <a:pt x="3248802" y="517273"/>
                  </a:lnTo>
                  <a:lnTo>
                    <a:pt x="3271683" y="483112"/>
                  </a:lnTo>
                  <a:lnTo>
                    <a:pt x="3273844" y="466559"/>
                  </a:lnTo>
                  <a:lnTo>
                    <a:pt x="3273820" y="64071"/>
                  </a:lnTo>
                  <a:lnTo>
                    <a:pt x="3260486" y="25397"/>
                  </a:lnTo>
                  <a:lnTo>
                    <a:pt x="3226323" y="2516"/>
                  </a:lnTo>
                  <a:lnTo>
                    <a:pt x="3209759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293315" y="5257444"/>
              <a:ext cx="3274060" cy="530860"/>
            </a:xfrm>
            <a:custGeom>
              <a:avLst/>
              <a:gdLst/>
              <a:ahLst/>
              <a:cxnLst/>
              <a:rect l="l" t="t" r="r" b="b"/>
              <a:pathLst>
                <a:path w="3274059" h="530860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3209759" y="355"/>
                  </a:lnTo>
                  <a:lnTo>
                    <a:pt x="3248752" y="13563"/>
                  </a:lnTo>
                  <a:lnTo>
                    <a:pt x="3271683" y="47875"/>
                  </a:lnTo>
                  <a:lnTo>
                    <a:pt x="3273844" y="64439"/>
                  </a:lnTo>
                  <a:lnTo>
                    <a:pt x="3273844" y="466559"/>
                  </a:lnTo>
                  <a:lnTo>
                    <a:pt x="3273303" y="474902"/>
                  </a:lnTo>
                  <a:lnTo>
                    <a:pt x="3271683" y="483112"/>
                  </a:lnTo>
                  <a:lnTo>
                    <a:pt x="3248802" y="517273"/>
                  </a:lnTo>
                  <a:lnTo>
                    <a:pt x="3209759" y="530631"/>
                  </a:lnTo>
                  <a:lnTo>
                    <a:pt x="64084" y="530631"/>
                  </a:lnTo>
                  <a:lnTo>
                    <a:pt x="25097" y="517429"/>
                  </a:lnTo>
                  <a:lnTo>
                    <a:pt x="2162" y="483112"/>
                  </a:lnTo>
                  <a:lnTo>
                    <a:pt x="0" y="466559"/>
                  </a:lnTo>
                  <a:lnTo>
                    <a:pt x="368" y="64071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293683" y="5257800"/>
              <a:ext cx="82550" cy="530225"/>
            </a:xfrm>
            <a:custGeom>
              <a:avLst/>
              <a:gdLst/>
              <a:ahLst/>
              <a:cxnLst/>
              <a:rect l="l" t="t" r="r" b="b"/>
              <a:pathLst>
                <a:path w="82550" h="530225">
                  <a:moveTo>
                    <a:pt x="82080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41033" y="529920"/>
                  </a:lnTo>
                  <a:lnTo>
                    <a:pt x="82080" y="52992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527936" y="5029433"/>
            <a:ext cx="2808605" cy="90088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/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repetición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orbital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91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días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garantiza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una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huella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idéntica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cada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fecha: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hay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que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cotejar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RGT,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haz,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geometría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ubicación.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58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9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0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8/43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Escalas</a:t>
            </a:r>
            <a:r>
              <a:rPr spc="-55"/>
              <a:t> </a:t>
            </a:r>
            <a:r>
              <a:t>que</a:t>
            </a:r>
            <a:r>
              <a:rPr spc="-50"/>
              <a:t> </a:t>
            </a:r>
            <a:r>
              <a:t>conviven</a:t>
            </a:r>
            <a:r>
              <a:rPr spc="-50"/>
              <a:t> </a:t>
            </a:r>
            <a:r>
              <a:t>en</a:t>
            </a:r>
            <a:r>
              <a:rPr spc="-50"/>
              <a:t> </a:t>
            </a:r>
            <a:r>
              <a:rPr spc="-25"/>
              <a:t>ICESat-</a:t>
            </a:r>
            <a:r>
              <a:t>2</a:t>
            </a:r>
            <a:r>
              <a:rPr spc="-55"/>
              <a:t> </a:t>
            </a:r>
            <a:r>
              <a:t>y</a:t>
            </a:r>
            <a:r>
              <a:rPr spc="-140"/>
              <a:t> </a:t>
            </a:r>
            <a:r>
              <a:rPr spc="-10"/>
              <a:t>ATL08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8660" y="1156944"/>
            <a:ext cx="991425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No</a:t>
            </a:r>
            <a:r>
              <a:rPr lang="es-MX" sz="18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confundir</a:t>
            </a:r>
            <a:r>
              <a:rPr lang="es-MX" sz="18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frecuencia</a:t>
            </a:r>
            <a:r>
              <a:rPr lang="es-MX" sz="18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de</a:t>
            </a:r>
            <a:r>
              <a:rPr lang="es-MX" sz="18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disparo,</a:t>
            </a:r>
            <a:r>
              <a:rPr lang="es-MX" sz="18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huella,</a:t>
            </a:r>
            <a:r>
              <a:rPr lang="es-MX" sz="18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subsegmento,</a:t>
            </a:r>
            <a:r>
              <a:rPr lang="es-MX" sz="18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segmento</a:t>
            </a:r>
            <a:r>
              <a:rPr lang="es-MX" sz="18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y</a:t>
            </a:r>
            <a:r>
              <a:rPr lang="es-MX" sz="1850" b="1" spc="-3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>
                <a:solidFill>
                  <a:srgbClr val="1D4938"/>
                </a:solidFill>
                <a:latin typeface="Arial"/>
                <a:cs typeface="Arial"/>
              </a:rPr>
              <a:t>repetición</a:t>
            </a:r>
            <a:r>
              <a:rPr lang="es-MX" sz="18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850" b="1" spc="-10">
                <a:solidFill>
                  <a:srgbClr val="1D4938"/>
                </a:solidFill>
                <a:latin typeface="Arial"/>
                <a:cs typeface="Arial"/>
              </a:rPr>
              <a:t>orbital.</a:t>
            </a:r>
            <a:endParaRPr lang="es-MX" sz="18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5415" y="1730704"/>
            <a:ext cx="2042795" cy="3395979"/>
            <a:chOff x="615415" y="1730704"/>
            <a:chExt cx="2042795" cy="3395979"/>
          </a:xfrm>
        </p:grpSpPr>
        <p:sp>
          <p:nvSpPr>
            <p:cNvPr id="7" name="object 7"/>
            <p:cNvSpPr/>
            <p:nvPr/>
          </p:nvSpPr>
          <p:spPr>
            <a:xfrm>
              <a:off x="621715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1956600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310191"/>
                  </a:lnTo>
                  <a:lnTo>
                    <a:pt x="597" y="3319469"/>
                  </a:lnTo>
                  <a:lnTo>
                    <a:pt x="607" y="3319619"/>
                  </a:lnTo>
                  <a:lnTo>
                    <a:pt x="21291" y="3361809"/>
                  </a:lnTo>
                  <a:lnTo>
                    <a:pt x="63449" y="3382672"/>
                  </a:lnTo>
                  <a:lnTo>
                    <a:pt x="73088" y="3383279"/>
                  </a:lnTo>
                  <a:lnTo>
                    <a:pt x="1956968" y="3382911"/>
                  </a:lnTo>
                  <a:lnTo>
                    <a:pt x="2001338" y="3367870"/>
                  </a:lnTo>
                  <a:lnTo>
                    <a:pt x="2027600" y="3328914"/>
                  </a:lnTo>
                  <a:lnTo>
                    <a:pt x="2030044" y="3309835"/>
                  </a:lnTo>
                  <a:lnTo>
                    <a:pt x="2029688" y="73075"/>
                  </a:lnTo>
                  <a:lnTo>
                    <a:pt x="2014634" y="28698"/>
                  </a:lnTo>
                  <a:lnTo>
                    <a:pt x="1975640" y="2428"/>
                  </a:lnTo>
                  <a:lnTo>
                    <a:pt x="1966239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1715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41"/>
                  </a:lnTo>
                  <a:lnTo>
                    <a:pt x="73088" y="0"/>
                  </a:lnTo>
                  <a:lnTo>
                    <a:pt x="1956600" y="0"/>
                  </a:lnTo>
                  <a:lnTo>
                    <a:pt x="2001283" y="15096"/>
                  </a:lnTo>
                  <a:lnTo>
                    <a:pt x="2027258" y="54357"/>
                  </a:lnTo>
                  <a:lnTo>
                    <a:pt x="2029688" y="73075"/>
                  </a:lnTo>
                  <a:lnTo>
                    <a:pt x="2030044" y="3309835"/>
                  </a:lnTo>
                  <a:lnTo>
                    <a:pt x="2029436" y="3319469"/>
                  </a:lnTo>
                  <a:lnTo>
                    <a:pt x="2027615" y="3328870"/>
                  </a:lnTo>
                  <a:lnTo>
                    <a:pt x="2001338" y="3367870"/>
                  </a:lnTo>
                  <a:lnTo>
                    <a:pt x="1956968" y="3382911"/>
                  </a:lnTo>
                  <a:lnTo>
                    <a:pt x="73088" y="3383279"/>
                  </a:lnTo>
                  <a:lnTo>
                    <a:pt x="28405" y="3368170"/>
                  </a:lnTo>
                  <a:lnTo>
                    <a:pt x="2430" y="3328914"/>
                  </a:lnTo>
                  <a:lnTo>
                    <a:pt x="0" y="331019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06715" y="2057044"/>
              <a:ext cx="859790" cy="859790"/>
            </a:xfrm>
            <a:custGeom>
              <a:avLst/>
              <a:gdLst/>
              <a:ahLst/>
              <a:cxnLst/>
              <a:rect l="l" t="t" r="r" b="b"/>
              <a:pathLst>
                <a:path w="859789" h="859789">
                  <a:moveTo>
                    <a:pt x="429844" y="0"/>
                  </a:moveTo>
                  <a:lnTo>
                    <a:pt x="373581" y="3684"/>
                  </a:lnTo>
                  <a:lnTo>
                    <a:pt x="318601" y="14624"/>
                  </a:lnTo>
                  <a:lnTo>
                    <a:pt x="265512" y="32650"/>
                  </a:lnTo>
                  <a:lnTo>
                    <a:pt x="214922" y="57594"/>
                  </a:lnTo>
                  <a:lnTo>
                    <a:pt x="168015" y="88906"/>
                  </a:lnTo>
                  <a:lnTo>
                    <a:pt x="125868" y="125855"/>
                  </a:lnTo>
                  <a:lnTo>
                    <a:pt x="88918" y="168002"/>
                  </a:lnTo>
                  <a:lnTo>
                    <a:pt x="57607" y="214909"/>
                  </a:lnTo>
                  <a:lnTo>
                    <a:pt x="32655" y="265507"/>
                  </a:lnTo>
                  <a:lnTo>
                    <a:pt x="14625" y="318598"/>
                  </a:lnTo>
                  <a:lnTo>
                    <a:pt x="3684" y="373575"/>
                  </a:lnTo>
                  <a:lnTo>
                    <a:pt x="0" y="429831"/>
                  </a:lnTo>
                  <a:lnTo>
                    <a:pt x="3684" y="486094"/>
                  </a:lnTo>
                  <a:lnTo>
                    <a:pt x="14625" y="541073"/>
                  </a:lnTo>
                  <a:lnTo>
                    <a:pt x="32655" y="594162"/>
                  </a:lnTo>
                  <a:lnTo>
                    <a:pt x="57607" y="644753"/>
                  </a:lnTo>
                  <a:lnTo>
                    <a:pt x="88918" y="691660"/>
                  </a:lnTo>
                  <a:lnTo>
                    <a:pt x="125868" y="733809"/>
                  </a:lnTo>
                  <a:lnTo>
                    <a:pt x="168015" y="770762"/>
                  </a:lnTo>
                  <a:lnTo>
                    <a:pt x="214922" y="802081"/>
                  </a:lnTo>
                  <a:lnTo>
                    <a:pt x="265512" y="827025"/>
                  </a:lnTo>
                  <a:lnTo>
                    <a:pt x="318601" y="845051"/>
                  </a:lnTo>
                  <a:lnTo>
                    <a:pt x="373581" y="855991"/>
                  </a:lnTo>
                  <a:lnTo>
                    <a:pt x="429844" y="859675"/>
                  </a:lnTo>
                  <a:lnTo>
                    <a:pt x="486107" y="855991"/>
                  </a:lnTo>
                  <a:lnTo>
                    <a:pt x="541086" y="845051"/>
                  </a:lnTo>
                  <a:lnTo>
                    <a:pt x="594175" y="827025"/>
                  </a:lnTo>
                  <a:lnTo>
                    <a:pt x="644766" y="802081"/>
                  </a:lnTo>
                  <a:lnTo>
                    <a:pt x="691672" y="770762"/>
                  </a:lnTo>
                  <a:lnTo>
                    <a:pt x="733820" y="733809"/>
                  </a:lnTo>
                  <a:lnTo>
                    <a:pt x="770769" y="691660"/>
                  </a:lnTo>
                  <a:lnTo>
                    <a:pt x="802081" y="644753"/>
                  </a:lnTo>
                  <a:lnTo>
                    <a:pt x="827032" y="594162"/>
                  </a:lnTo>
                  <a:lnTo>
                    <a:pt x="845062" y="541073"/>
                  </a:lnTo>
                  <a:lnTo>
                    <a:pt x="856004" y="486094"/>
                  </a:lnTo>
                  <a:lnTo>
                    <a:pt x="859688" y="429831"/>
                  </a:lnTo>
                  <a:lnTo>
                    <a:pt x="856004" y="373575"/>
                  </a:lnTo>
                  <a:lnTo>
                    <a:pt x="845062" y="318598"/>
                  </a:lnTo>
                  <a:lnTo>
                    <a:pt x="827032" y="265507"/>
                  </a:lnTo>
                  <a:lnTo>
                    <a:pt x="802081" y="214909"/>
                  </a:lnTo>
                  <a:lnTo>
                    <a:pt x="770769" y="168002"/>
                  </a:lnTo>
                  <a:lnTo>
                    <a:pt x="733820" y="125855"/>
                  </a:lnTo>
                  <a:lnTo>
                    <a:pt x="691672" y="88906"/>
                  </a:lnTo>
                  <a:lnTo>
                    <a:pt x="644766" y="57594"/>
                  </a:lnTo>
                  <a:lnTo>
                    <a:pt x="594175" y="32650"/>
                  </a:lnTo>
                  <a:lnTo>
                    <a:pt x="541086" y="14624"/>
                  </a:lnTo>
                  <a:lnTo>
                    <a:pt x="486107" y="3684"/>
                  </a:lnTo>
                  <a:lnTo>
                    <a:pt x="429844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1559" y="2362200"/>
            <a:ext cx="7073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0,7</a:t>
            </a:r>
            <a:r>
              <a:rPr lang="es-ES" b="1" spc="-1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</a:t>
            </a:r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1738" y="3078251"/>
            <a:ext cx="1367155" cy="46673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7780" marR="5080" indent="-5715">
              <a:lnSpc>
                <a:spcPct val="101699"/>
              </a:lnSpc>
              <a:spcBef>
                <a:spcPts val="85"/>
              </a:spcBef>
            </a:pPr>
            <a:r>
              <a:rPr lang="es-ES" sz="1500" b="1" spc="-10">
                <a:solidFill>
                  <a:srgbClr val="1D4938"/>
                </a:solidFill>
                <a:latin typeface="Arial"/>
                <a:cs typeface="Arial"/>
              </a:rPr>
              <a:t>espaciamiento </a:t>
            </a:r>
            <a:r>
              <a:rPr lang="es-ES" sz="1500" b="1">
                <a:solidFill>
                  <a:srgbClr val="1D4938"/>
                </a:solidFill>
                <a:latin typeface="Arial"/>
                <a:cs typeface="Arial"/>
              </a:rPr>
              <a:t>entre </a:t>
            </a:r>
            <a:r>
              <a:rPr lang="es-ES" sz="1500" b="1" spc="-10">
                <a:solidFill>
                  <a:srgbClr val="1D4938"/>
                </a:solidFill>
                <a:latin typeface="Arial"/>
                <a:cs typeface="Arial"/>
              </a:rPr>
              <a:t>disparos</a:t>
            </a:r>
            <a:endParaRPr lang="es-ES"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0343" y="3864864"/>
            <a:ext cx="1630680" cy="837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2499"/>
              </a:lnSpc>
              <a:spcBef>
                <a:spcPts val="90"/>
              </a:spcBef>
            </a:pP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Deriva</a:t>
            </a:r>
            <a:r>
              <a:rPr lang="es-MX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10</a:t>
            </a:r>
            <a:r>
              <a:rPr lang="es-MX" sz="1300" spc="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kHz</a:t>
            </a:r>
            <a:r>
              <a:rPr lang="es-MX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300" spc="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35">
                <a:solidFill>
                  <a:schemeClr val="tx1"/>
                </a:solidFill>
                <a:latin typeface="Arial"/>
                <a:cs typeface="Arial"/>
              </a:rPr>
              <a:t>la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velocidad</a:t>
            </a:r>
            <a:r>
              <a:rPr lang="es-MX" sz="1300" spc="6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orbital;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describe</a:t>
            </a:r>
            <a:r>
              <a:rPr lang="es-MX" sz="1300" spc="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s-MX" sz="1300" spc="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muestreo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longitudinal</a:t>
            </a:r>
            <a:r>
              <a:rPr lang="es-MX" sz="1300" spc="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del</a:t>
            </a:r>
            <a:r>
              <a:rPr lang="es-MX" sz="1300" spc="6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láser.</a:t>
            </a:r>
            <a:endParaRPr lang="es-MX" sz="13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92424" y="1730704"/>
            <a:ext cx="2042795" cy="3395979"/>
            <a:chOff x="2892424" y="1730704"/>
            <a:chExt cx="2042795" cy="3395979"/>
          </a:xfrm>
        </p:grpSpPr>
        <p:sp>
          <p:nvSpPr>
            <p:cNvPr id="14" name="object 14"/>
            <p:cNvSpPr/>
            <p:nvPr/>
          </p:nvSpPr>
          <p:spPr>
            <a:xfrm>
              <a:off x="2898724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195660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310191"/>
                  </a:lnTo>
                  <a:lnTo>
                    <a:pt x="597" y="3319469"/>
                  </a:lnTo>
                  <a:lnTo>
                    <a:pt x="607" y="3319619"/>
                  </a:lnTo>
                  <a:lnTo>
                    <a:pt x="21280" y="3361809"/>
                  </a:lnTo>
                  <a:lnTo>
                    <a:pt x="63442" y="3382672"/>
                  </a:lnTo>
                  <a:lnTo>
                    <a:pt x="73075" y="3383279"/>
                  </a:lnTo>
                  <a:lnTo>
                    <a:pt x="1956955" y="3382911"/>
                  </a:lnTo>
                  <a:lnTo>
                    <a:pt x="2001333" y="3367870"/>
                  </a:lnTo>
                  <a:lnTo>
                    <a:pt x="2027587" y="3328914"/>
                  </a:lnTo>
                  <a:lnTo>
                    <a:pt x="2030009" y="3310191"/>
                  </a:lnTo>
                  <a:lnTo>
                    <a:pt x="2030031" y="3309835"/>
                  </a:lnTo>
                  <a:lnTo>
                    <a:pt x="2029675" y="73075"/>
                  </a:lnTo>
                  <a:lnTo>
                    <a:pt x="2014629" y="28698"/>
                  </a:lnTo>
                  <a:lnTo>
                    <a:pt x="1975629" y="2428"/>
                  </a:lnTo>
                  <a:lnTo>
                    <a:pt x="1966232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98724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1956600" y="0"/>
                  </a:lnTo>
                  <a:lnTo>
                    <a:pt x="2001275" y="15096"/>
                  </a:lnTo>
                  <a:lnTo>
                    <a:pt x="2027247" y="54357"/>
                  </a:lnTo>
                  <a:lnTo>
                    <a:pt x="2029675" y="73075"/>
                  </a:lnTo>
                  <a:lnTo>
                    <a:pt x="2030031" y="3309835"/>
                  </a:lnTo>
                  <a:lnTo>
                    <a:pt x="2029424" y="3319469"/>
                  </a:lnTo>
                  <a:lnTo>
                    <a:pt x="2027602" y="3328870"/>
                  </a:lnTo>
                  <a:lnTo>
                    <a:pt x="2001333" y="3367870"/>
                  </a:lnTo>
                  <a:lnTo>
                    <a:pt x="1956955" y="3382911"/>
                  </a:lnTo>
                  <a:lnTo>
                    <a:pt x="73075" y="3383279"/>
                  </a:lnTo>
                  <a:lnTo>
                    <a:pt x="28398" y="3368170"/>
                  </a:lnTo>
                  <a:lnTo>
                    <a:pt x="2428" y="3328914"/>
                  </a:lnTo>
                  <a:lnTo>
                    <a:pt x="0" y="331019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83355" y="2057044"/>
              <a:ext cx="859790" cy="859790"/>
            </a:xfrm>
            <a:custGeom>
              <a:avLst/>
              <a:gdLst/>
              <a:ahLst/>
              <a:cxnLst/>
              <a:rect l="l" t="t" r="r" b="b"/>
              <a:pathLst>
                <a:path w="859789" h="859789">
                  <a:moveTo>
                    <a:pt x="429844" y="0"/>
                  </a:moveTo>
                  <a:lnTo>
                    <a:pt x="373581" y="3684"/>
                  </a:lnTo>
                  <a:lnTo>
                    <a:pt x="318601" y="14624"/>
                  </a:lnTo>
                  <a:lnTo>
                    <a:pt x="265512" y="32650"/>
                  </a:lnTo>
                  <a:lnTo>
                    <a:pt x="214922" y="57594"/>
                  </a:lnTo>
                  <a:lnTo>
                    <a:pt x="168015" y="88906"/>
                  </a:lnTo>
                  <a:lnTo>
                    <a:pt x="125868" y="125855"/>
                  </a:lnTo>
                  <a:lnTo>
                    <a:pt x="88918" y="168002"/>
                  </a:lnTo>
                  <a:lnTo>
                    <a:pt x="57607" y="214909"/>
                  </a:lnTo>
                  <a:lnTo>
                    <a:pt x="32655" y="265507"/>
                  </a:lnTo>
                  <a:lnTo>
                    <a:pt x="14625" y="318598"/>
                  </a:lnTo>
                  <a:lnTo>
                    <a:pt x="3684" y="373575"/>
                  </a:lnTo>
                  <a:lnTo>
                    <a:pt x="0" y="429831"/>
                  </a:lnTo>
                  <a:lnTo>
                    <a:pt x="3684" y="486094"/>
                  </a:lnTo>
                  <a:lnTo>
                    <a:pt x="14625" y="541073"/>
                  </a:lnTo>
                  <a:lnTo>
                    <a:pt x="32655" y="594162"/>
                  </a:lnTo>
                  <a:lnTo>
                    <a:pt x="57607" y="644753"/>
                  </a:lnTo>
                  <a:lnTo>
                    <a:pt x="88918" y="691660"/>
                  </a:lnTo>
                  <a:lnTo>
                    <a:pt x="125868" y="733809"/>
                  </a:lnTo>
                  <a:lnTo>
                    <a:pt x="168015" y="770762"/>
                  </a:lnTo>
                  <a:lnTo>
                    <a:pt x="214922" y="802081"/>
                  </a:lnTo>
                  <a:lnTo>
                    <a:pt x="265512" y="827025"/>
                  </a:lnTo>
                  <a:lnTo>
                    <a:pt x="318601" y="845051"/>
                  </a:lnTo>
                  <a:lnTo>
                    <a:pt x="373581" y="855991"/>
                  </a:lnTo>
                  <a:lnTo>
                    <a:pt x="429844" y="859675"/>
                  </a:lnTo>
                  <a:lnTo>
                    <a:pt x="486107" y="855991"/>
                  </a:lnTo>
                  <a:lnTo>
                    <a:pt x="541086" y="845051"/>
                  </a:lnTo>
                  <a:lnTo>
                    <a:pt x="594175" y="827025"/>
                  </a:lnTo>
                  <a:lnTo>
                    <a:pt x="644766" y="802081"/>
                  </a:lnTo>
                  <a:lnTo>
                    <a:pt x="691672" y="770762"/>
                  </a:lnTo>
                  <a:lnTo>
                    <a:pt x="733820" y="733809"/>
                  </a:lnTo>
                  <a:lnTo>
                    <a:pt x="770769" y="691660"/>
                  </a:lnTo>
                  <a:lnTo>
                    <a:pt x="802081" y="644753"/>
                  </a:lnTo>
                  <a:lnTo>
                    <a:pt x="827032" y="594162"/>
                  </a:lnTo>
                  <a:lnTo>
                    <a:pt x="845062" y="541073"/>
                  </a:lnTo>
                  <a:lnTo>
                    <a:pt x="856004" y="486094"/>
                  </a:lnTo>
                  <a:lnTo>
                    <a:pt x="859688" y="429831"/>
                  </a:lnTo>
                  <a:lnTo>
                    <a:pt x="856004" y="373575"/>
                  </a:lnTo>
                  <a:lnTo>
                    <a:pt x="845062" y="318598"/>
                  </a:lnTo>
                  <a:lnTo>
                    <a:pt x="827032" y="265507"/>
                  </a:lnTo>
                  <a:lnTo>
                    <a:pt x="802081" y="214909"/>
                  </a:lnTo>
                  <a:lnTo>
                    <a:pt x="770769" y="168002"/>
                  </a:lnTo>
                  <a:lnTo>
                    <a:pt x="733820" y="125855"/>
                  </a:lnTo>
                  <a:lnTo>
                    <a:pt x="691672" y="88906"/>
                  </a:lnTo>
                  <a:lnTo>
                    <a:pt x="644766" y="57594"/>
                  </a:lnTo>
                  <a:lnTo>
                    <a:pt x="594175" y="32650"/>
                  </a:lnTo>
                  <a:lnTo>
                    <a:pt x="541086" y="14624"/>
                  </a:lnTo>
                  <a:lnTo>
                    <a:pt x="486107" y="3684"/>
                  </a:lnTo>
                  <a:lnTo>
                    <a:pt x="429844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62680" y="2362200"/>
            <a:ext cx="8388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≈</a:t>
            </a:r>
            <a:r>
              <a:rPr lang="es-ES" b="1" spc="-6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11</a:t>
            </a:r>
            <a:r>
              <a:rPr lang="es-ES" b="1" spc="-6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b="1" spc="-6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</a:t>
            </a:r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2584" y="3078251"/>
            <a:ext cx="1120775" cy="46673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81305" marR="5080" indent="-269240">
              <a:lnSpc>
                <a:spcPct val="101699"/>
              </a:lnSpc>
              <a:spcBef>
                <a:spcPts val="85"/>
              </a:spcBef>
            </a:pPr>
            <a:r>
              <a:rPr lang="es-ES" sz="1500" b="1">
                <a:solidFill>
                  <a:srgbClr val="296D6F"/>
                </a:solidFill>
                <a:latin typeface="Arial"/>
                <a:cs typeface="Arial"/>
              </a:rPr>
              <a:t>diámetro</a:t>
            </a:r>
            <a:r>
              <a:rPr lang="es-ES" sz="1500" b="1" spc="30">
                <a:solidFill>
                  <a:srgbClr val="296D6F"/>
                </a:solidFill>
                <a:latin typeface="Arial"/>
                <a:cs typeface="Arial"/>
              </a:rPr>
              <a:t> </a:t>
            </a:r>
            <a:r>
              <a:rPr lang="es-ES" sz="1500" b="1" spc="-25">
                <a:solidFill>
                  <a:srgbClr val="296D6F"/>
                </a:solidFill>
                <a:latin typeface="Arial"/>
                <a:cs typeface="Arial"/>
              </a:rPr>
              <a:t>de </a:t>
            </a:r>
            <a:r>
              <a:rPr lang="es-ES" sz="1500" b="1" spc="-10">
                <a:solidFill>
                  <a:srgbClr val="296D6F"/>
                </a:solidFill>
                <a:latin typeface="Arial"/>
                <a:cs typeface="Arial"/>
              </a:rPr>
              <a:t>huella</a:t>
            </a:r>
            <a:endParaRPr lang="es-ES"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97339" y="3864864"/>
            <a:ext cx="1631314" cy="96011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-1270" algn="ctr">
              <a:lnSpc>
                <a:spcPts val="1440"/>
              </a:lnSpc>
              <a:spcBef>
                <a:spcPts val="275"/>
              </a:spcBef>
            </a:pP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Escala</a:t>
            </a:r>
            <a:r>
              <a:rPr lang="es-MX" sz="1300" spc="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transversal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aproximada</a:t>
            </a:r>
            <a:r>
              <a:rPr lang="es-MX" sz="1300" spc="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del</a:t>
            </a:r>
            <a:r>
              <a:rPr lang="es-MX" sz="1300" spc="6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20">
                <a:solidFill>
                  <a:schemeClr val="tx1"/>
                </a:solidFill>
                <a:latin typeface="Arial"/>
                <a:cs typeface="Arial"/>
              </a:rPr>
              <a:t>pulso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transmitido;</a:t>
            </a:r>
            <a:r>
              <a:rPr lang="es-MX" sz="1300" spc="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s-MX" sz="13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20">
                <a:solidFill>
                  <a:schemeClr val="tx1"/>
                </a:solidFill>
                <a:latin typeface="Arial"/>
                <a:cs typeface="Arial"/>
              </a:rPr>
              <a:t>ATBD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informa</a:t>
            </a:r>
            <a:r>
              <a:rPr lang="es-MX" sz="1300" spc="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10,5</a:t>
            </a:r>
            <a:r>
              <a:rPr lang="es-MX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lang="es-MX" sz="1300" spc="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20">
                <a:solidFill>
                  <a:schemeClr val="tx1"/>
                </a:solidFill>
                <a:latin typeface="Arial"/>
                <a:cs typeface="Arial"/>
              </a:rPr>
              <a:t>para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85%</a:t>
            </a:r>
            <a:r>
              <a:rPr lang="es-MX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energía.</a:t>
            </a:r>
            <a:endParaRPr lang="es-MX" sz="13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69064" y="1730704"/>
            <a:ext cx="2042795" cy="3395979"/>
            <a:chOff x="5169064" y="1730704"/>
            <a:chExt cx="2042795" cy="3395979"/>
          </a:xfrm>
        </p:grpSpPr>
        <p:sp>
          <p:nvSpPr>
            <p:cNvPr id="21" name="object 21"/>
            <p:cNvSpPr/>
            <p:nvPr/>
          </p:nvSpPr>
          <p:spPr>
            <a:xfrm>
              <a:off x="5175364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195660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310191"/>
                  </a:lnTo>
                  <a:lnTo>
                    <a:pt x="15041" y="3354569"/>
                  </a:lnTo>
                  <a:lnTo>
                    <a:pt x="54041" y="3380849"/>
                  </a:lnTo>
                  <a:lnTo>
                    <a:pt x="73075" y="3383279"/>
                  </a:lnTo>
                  <a:lnTo>
                    <a:pt x="1956955" y="3382911"/>
                  </a:lnTo>
                  <a:lnTo>
                    <a:pt x="2001333" y="3367870"/>
                  </a:lnTo>
                  <a:lnTo>
                    <a:pt x="2027587" y="3328914"/>
                  </a:lnTo>
                  <a:lnTo>
                    <a:pt x="2030009" y="3310191"/>
                  </a:lnTo>
                  <a:lnTo>
                    <a:pt x="2030031" y="3309835"/>
                  </a:lnTo>
                  <a:lnTo>
                    <a:pt x="2029675" y="73075"/>
                  </a:lnTo>
                  <a:lnTo>
                    <a:pt x="2014629" y="28698"/>
                  </a:lnTo>
                  <a:lnTo>
                    <a:pt x="1975629" y="2428"/>
                  </a:lnTo>
                  <a:lnTo>
                    <a:pt x="1966232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75364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1956600" y="0"/>
                  </a:lnTo>
                  <a:lnTo>
                    <a:pt x="2001275" y="15096"/>
                  </a:lnTo>
                  <a:lnTo>
                    <a:pt x="2027247" y="54357"/>
                  </a:lnTo>
                  <a:lnTo>
                    <a:pt x="2029675" y="73075"/>
                  </a:lnTo>
                  <a:lnTo>
                    <a:pt x="2030031" y="3309835"/>
                  </a:lnTo>
                  <a:lnTo>
                    <a:pt x="2029424" y="3319469"/>
                  </a:lnTo>
                  <a:lnTo>
                    <a:pt x="2027602" y="3328870"/>
                  </a:lnTo>
                  <a:lnTo>
                    <a:pt x="2001333" y="3367870"/>
                  </a:lnTo>
                  <a:lnTo>
                    <a:pt x="1956955" y="3382911"/>
                  </a:lnTo>
                  <a:lnTo>
                    <a:pt x="73075" y="3383279"/>
                  </a:lnTo>
                  <a:lnTo>
                    <a:pt x="28398" y="3368170"/>
                  </a:lnTo>
                  <a:lnTo>
                    <a:pt x="2428" y="3328914"/>
                  </a:lnTo>
                  <a:lnTo>
                    <a:pt x="0" y="331019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E6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60364" y="2057044"/>
              <a:ext cx="859790" cy="859790"/>
            </a:xfrm>
            <a:custGeom>
              <a:avLst/>
              <a:gdLst/>
              <a:ahLst/>
              <a:cxnLst/>
              <a:rect l="l" t="t" r="r" b="b"/>
              <a:pathLst>
                <a:path w="859790" h="859789">
                  <a:moveTo>
                    <a:pt x="429831" y="0"/>
                  </a:moveTo>
                  <a:lnTo>
                    <a:pt x="373575" y="3684"/>
                  </a:lnTo>
                  <a:lnTo>
                    <a:pt x="318598" y="14624"/>
                  </a:lnTo>
                  <a:lnTo>
                    <a:pt x="265507" y="32650"/>
                  </a:lnTo>
                  <a:lnTo>
                    <a:pt x="214909" y="57594"/>
                  </a:lnTo>
                  <a:lnTo>
                    <a:pt x="168002" y="88906"/>
                  </a:lnTo>
                  <a:lnTo>
                    <a:pt x="125855" y="125855"/>
                  </a:lnTo>
                  <a:lnTo>
                    <a:pt x="88906" y="168002"/>
                  </a:lnTo>
                  <a:lnTo>
                    <a:pt x="57594" y="214909"/>
                  </a:lnTo>
                  <a:lnTo>
                    <a:pt x="32650" y="265507"/>
                  </a:lnTo>
                  <a:lnTo>
                    <a:pt x="14624" y="318598"/>
                  </a:lnTo>
                  <a:lnTo>
                    <a:pt x="3684" y="373575"/>
                  </a:lnTo>
                  <a:lnTo>
                    <a:pt x="0" y="429831"/>
                  </a:lnTo>
                  <a:lnTo>
                    <a:pt x="3684" y="486094"/>
                  </a:lnTo>
                  <a:lnTo>
                    <a:pt x="14624" y="541073"/>
                  </a:lnTo>
                  <a:lnTo>
                    <a:pt x="32650" y="594162"/>
                  </a:lnTo>
                  <a:lnTo>
                    <a:pt x="57594" y="644753"/>
                  </a:lnTo>
                  <a:lnTo>
                    <a:pt x="88906" y="691660"/>
                  </a:lnTo>
                  <a:lnTo>
                    <a:pt x="125855" y="733809"/>
                  </a:lnTo>
                  <a:lnTo>
                    <a:pt x="168002" y="770762"/>
                  </a:lnTo>
                  <a:lnTo>
                    <a:pt x="214909" y="802081"/>
                  </a:lnTo>
                  <a:lnTo>
                    <a:pt x="265507" y="827025"/>
                  </a:lnTo>
                  <a:lnTo>
                    <a:pt x="318598" y="845051"/>
                  </a:lnTo>
                  <a:lnTo>
                    <a:pt x="373575" y="855991"/>
                  </a:lnTo>
                  <a:lnTo>
                    <a:pt x="429831" y="859675"/>
                  </a:lnTo>
                  <a:lnTo>
                    <a:pt x="486094" y="855991"/>
                  </a:lnTo>
                  <a:lnTo>
                    <a:pt x="541073" y="845051"/>
                  </a:lnTo>
                  <a:lnTo>
                    <a:pt x="594162" y="827025"/>
                  </a:lnTo>
                  <a:lnTo>
                    <a:pt x="644753" y="802081"/>
                  </a:lnTo>
                  <a:lnTo>
                    <a:pt x="691660" y="770762"/>
                  </a:lnTo>
                  <a:lnTo>
                    <a:pt x="733809" y="733809"/>
                  </a:lnTo>
                  <a:lnTo>
                    <a:pt x="770762" y="691660"/>
                  </a:lnTo>
                  <a:lnTo>
                    <a:pt x="802081" y="644753"/>
                  </a:lnTo>
                  <a:lnTo>
                    <a:pt x="827025" y="594162"/>
                  </a:lnTo>
                  <a:lnTo>
                    <a:pt x="845051" y="541073"/>
                  </a:lnTo>
                  <a:lnTo>
                    <a:pt x="855991" y="486094"/>
                  </a:lnTo>
                  <a:lnTo>
                    <a:pt x="859675" y="429831"/>
                  </a:lnTo>
                  <a:lnTo>
                    <a:pt x="855991" y="373575"/>
                  </a:lnTo>
                  <a:lnTo>
                    <a:pt x="845051" y="318598"/>
                  </a:lnTo>
                  <a:lnTo>
                    <a:pt x="827025" y="265507"/>
                  </a:lnTo>
                  <a:lnTo>
                    <a:pt x="802081" y="214909"/>
                  </a:lnTo>
                  <a:lnTo>
                    <a:pt x="770762" y="168002"/>
                  </a:lnTo>
                  <a:lnTo>
                    <a:pt x="733809" y="125855"/>
                  </a:lnTo>
                  <a:lnTo>
                    <a:pt x="691660" y="88906"/>
                  </a:lnTo>
                  <a:lnTo>
                    <a:pt x="644753" y="57594"/>
                  </a:lnTo>
                  <a:lnTo>
                    <a:pt x="594162" y="32650"/>
                  </a:lnTo>
                  <a:lnTo>
                    <a:pt x="541073" y="14624"/>
                  </a:lnTo>
                  <a:lnTo>
                    <a:pt x="486094" y="3684"/>
                  </a:lnTo>
                  <a:lnTo>
                    <a:pt x="429831" y="0"/>
                  </a:lnTo>
                  <a:close/>
                </a:path>
              </a:pathLst>
            </a:custGeom>
            <a:solidFill>
              <a:srgbClr val="2E6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941924" y="2362200"/>
            <a:ext cx="6337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20</a:t>
            </a:r>
            <a:r>
              <a:rPr lang="es-ES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</a:t>
            </a:r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48579" y="3078251"/>
            <a:ext cx="1281430" cy="46673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3060" marR="5080" indent="-340995">
              <a:lnSpc>
                <a:spcPct val="101699"/>
              </a:lnSpc>
              <a:spcBef>
                <a:spcPts val="85"/>
              </a:spcBef>
            </a:pPr>
            <a:r>
              <a:rPr lang="es-ES" sz="1500" b="1" spc="-10">
                <a:solidFill>
                  <a:srgbClr val="2E6E9D"/>
                </a:solidFill>
                <a:latin typeface="Arial"/>
                <a:cs typeface="Arial"/>
              </a:rPr>
              <a:t>geosegmento ATL03</a:t>
            </a:r>
            <a:endParaRPr lang="es-ES"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06745" y="3864864"/>
            <a:ext cx="1564640" cy="96011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635" algn="ctr">
              <a:lnSpc>
                <a:spcPts val="1440"/>
              </a:lnSpc>
              <a:spcBef>
                <a:spcPts val="275"/>
              </a:spcBef>
            </a:pPr>
            <a:r>
              <a:rPr lang="es-ES" sz="1300">
                <a:solidFill>
                  <a:schemeClr val="tx1"/>
                </a:solidFill>
                <a:latin typeface="Arial"/>
                <a:cs typeface="Arial"/>
              </a:rPr>
              <a:t>Unidad</a:t>
            </a:r>
            <a:r>
              <a:rPr lang="es-ES" sz="1300" spc="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chemeClr val="tx1"/>
                </a:solidFill>
                <a:latin typeface="Arial"/>
                <a:cs typeface="Arial"/>
              </a:rPr>
              <a:t>intermedia </a:t>
            </a:r>
            <a:r>
              <a:rPr lang="es-ES" sz="1300">
                <a:solidFill>
                  <a:schemeClr val="tx1"/>
                </a:solidFill>
                <a:latin typeface="Arial"/>
                <a:cs typeface="Arial"/>
              </a:rPr>
              <a:t>usada</a:t>
            </a:r>
            <a:r>
              <a:rPr lang="es-ES" sz="1300" spc="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chemeClr val="tx1"/>
                </a:solidFill>
                <a:latin typeface="Arial"/>
                <a:cs typeface="Arial"/>
              </a:rPr>
              <a:t>por</a:t>
            </a:r>
            <a:r>
              <a:rPr lang="es-ES" sz="130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chemeClr val="tx1"/>
                </a:solidFill>
                <a:latin typeface="Arial"/>
                <a:cs typeface="Arial"/>
              </a:rPr>
              <a:t>ATL08; </a:t>
            </a:r>
            <a:r>
              <a:rPr lang="es-ES" sz="1300">
                <a:solidFill>
                  <a:schemeClr val="tx1"/>
                </a:solidFill>
                <a:latin typeface="Arial"/>
                <a:cs typeface="Arial"/>
              </a:rPr>
              <a:t>cinco</a:t>
            </a:r>
            <a:r>
              <a:rPr lang="es-ES" sz="1300" spc="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chemeClr val="tx1"/>
                </a:solidFill>
                <a:latin typeface="Arial"/>
                <a:cs typeface="Arial"/>
              </a:rPr>
              <a:t>subsegmentos </a:t>
            </a:r>
            <a:r>
              <a:rPr lang="es-ES" sz="1300">
                <a:solidFill>
                  <a:schemeClr val="tx1"/>
                </a:solidFill>
                <a:latin typeface="Arial"/>
                <a:cs typeface="Arial"/>
              </a:rPr>
              <a:t>forman</a:t>
            </a:r>
            <a:r>
              <a:rPr lang="es-ES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s-ES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chemeClr val="tx1"/>
                </a:solidFill>
                <a:latin typeface="Arial"/>
                <a:cs typeface="Arial"/>
              </a:rPr>
              <a:t>segmento </a:t>
            </a:r>
            <a:r>
              <a:rPr lang="es-ES" sz="1300">
                <a:solidFill>
                  <a:schemeClr val="tx1"/>
                </a:solidFill>
                <a:latin typeface="Arial"/>
                <a:cs typeface="Arial"/>
              </a:rPr>
              <a:t>nominal</a:t>
            </a:r>
            <a:r>
              <a:rPr lang="es-ES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ES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chemeClr val="tx1"/>
                </a:solidFill>
                <a:latin typeface="Arial"/>
                <a:cs typeface="Arial"/>
              </a:rPr>
              <a:t>100</a:t>
            </a:r>
            <a:r>
              <a:rPr lang="es-ES" sz="1300" spc="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00" spc="-25">
                <a:solidFill>
                  <a:schemeClr val="tx1"/>
                </a:solidFill>
                <a:latin typeface="Arial"/>
                <a:cs typeface="Arial"/>
              </a:rPr>
              <a:t>m.</a:t>
            </a:r>
            <a:endParaRPr lang="es-ES" sz="13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446060" y="1730704"/>
            <a:ext cx="2042795" cy="3395979"/>
            <a:chOff x="7446060" y="1730704"/>
            <a:chExt cx="2042795" cy="3395979"/>
          </a:xfrm>
        </p:grpSpPr>
        <p:sp>
          <p:nvSpPr>
            <p:cNvPr id="28" name="object 28"/>
            <p:cNvSpPr/>
            <p:nvPr/>
          </p:nvSpPr>
          <p:spPr>
            <a:xfrm>
              <a:off x="7452360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195660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310191"/>
                  </a:lnTo>
                  <a:lnTo>
                    <a:pt x="597" y="3319469"/>
                  </a:lnTo>
                  <a:lnTo>
                    <a:pt x="607" y="3319619"/>
                  </a:lnTo>
                  <a:lnTo>
                    <a:pt x="21285" y="3361809"/>
                  </a:lnTo>
                  <a:lnTo>
                    <a:pt x="63443" y="3382672"/>
                  </a:lnTo>
                  <a:lnTo>
                    <a:pt x="73075" y="3383279"/>
                  </a:lnTo>
                  <a:lnTo>
                    <a:pt x="1956955" y="3382911"/>
                  </a:lnTo>
                  <a:lnTo>
                    <a:pt x="2001333" y="3367870"/>
                  </a:lnTo>
                  <a:lnTo>
                    <a:pt x="2027598" y="3328914"/>
                  </a:lnTo>
                  <a:lnTo>
                    <a:pt x="2030021" y="3310191"/>
                  </a:lnTo>
                  <a:lnTo>
                    <a:pt x="2030044" y="3309835"/>
                  </a:lnTo>
                  <a:lnTo>
                    <a:pt x="2029675" y="73075"/>
                  </a:lnTo>
                  <a:lnTo>
                    <a:pt x="2014634" y="28698"/>
                  </a:lnTo>
                  <a:lnTo>
                    <a:pt x="1975634" y="2428"/>
                  </a:lnTo>
                  <a:lnTo>
                    <a:pt x="1966233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52360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41"/>
                  </a:lnTo>
                  <a:lnTo>
                    <a:pt x="73075" y="0"/>
                  </a:lnTo>
                  <a:lnTo>
                    <a:pt x="1956600" y="0"/>
                  </a:lnTo>
                  <a:lnTo>
                    <a:pt x="2001277" y="15096"/>
                  </a:lnTo>
                  <a:lnTo>
                    <a:pt x="2027247" y="54357"/>
                  </a:lnTo>
                  <a:lnTo>
                    <a:pt x="2029675" y="73075"/>
                  </a:lnTo>
                  <a:lnTo>
                    <a:pt x="2030044" y="3309835"/>
                  </a:lnTo>
                  <a:lnTo>
                    <a:pt x="2029436" y="3319469"/>
                  </a:lnTo>
                  <a:lnTo>
                    <a:pt x="2027613" y="3328870"/>
                  </a:lnTo>
                  <a:lnTo>
                    <a:pt x="2001333" y="3367870"/>
                  </a:lnTo>
                  <a:lnTo>
                    <a:pt x="1956955" y="3382911"/>
                  </a:lnTo>
                  <a:lnTo>
                    <a:pt x="73075" y="3383279"/>
                  </a:lnTo>
                  <a:lnTo>
                    <a:pt x="28399" y="3368170"/>
                  </a:lnTo>
                  <a:lnTo>
                    <a:pt x="2428" y="3328914"/>
                  </a:lnTo>
                  <a:lnTo>
                    <a:pt x="0" y="331019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37360" y="2057044"/>
              <a:ext cx="859790" cy="859790"/>
            </a:xfrm>
            <a:custGeom>
              <a:avLst/>
              <a:gdLst/>
              <a:ahLst/>
              <a:cxnLst/>
              <a:rect l="l" t="t" r="r" b="b"/>
              <a:pathLst>
                <a:path w="859790" h="859789">
                  <a:moveTo>
                    <a:pt x="429844" y="0"/>
                  </a:moveTo>
                  <a:lnTo>
                    <a:pt x="373581" y="3684"/>
                  </a:lnTo>
                  <a:lnTo>
                    <a:pt x="318601" y="14624"/>
                  </a:lnTo>
                  <a:lnTo>
                    <a:pt x="265512" y="32650"/>
                  </a:lnTo>
                  <a:lnTo>
                    <a:pt x="214922" y="57594"/>
                  </a:lnTo>
                  <a:lnTo>
                    <a:pt x="168015" y="88906"/>
                  </a:lnTo>
                  <a:lnTo>
                    <a:pt x="125866" y="125855"/>
                  </a:lnTo>
                  <a:lnTo>
                    <a:pt x="88913" y="168002"/>
                  </a:lnTo>
                  <a:lnTo>
                    <a:pt x="57594" y="214909"/>
                  </a:lnTo>
                  <a:lnTo>
                    <a:pt x="32650" y="265507"/>
                  </a:lnTo>
                  <a:lnTo>
                    <a:pt x="14624" y="318598"/>
                  </a:lnTo>
                  <a:lnTo>
                    <a:pt x="3684" y="373575"/>
                  </a:lnTo>
                  <a:lnTo>
                    <a:pt x="0" y="429831"/>
                  </a:lnTo>
                  <a:lnTo>
                    <a:pt x="3684" y="486094"/>
                  </a:lnTo>
                  <a:lnTo>
                    <a:pt x="14624" y="541073"/>
                  </a:lnTo>
                  <a:lnTo>
                    <a:pt x="32650" y="594162"/>
                  </a:lnTo>
                  <a:lnTo>
                    <a:pt x="57594" y="644753"/>
                  </a:lnTo>
                  <a:lnTo>
                    <a:pt x="88913" y="691660"/>
                  </a:lnTo>
                  <a:lnTo>
                    <a:pt x="125866" y="733809"/>
                  </a:lnTo>
                  <a:lnTo>
                    <a:pt x="168015" y="770762"/>
                  </a:lnTo>
                  <a:lnTo>
                    <a:pt x="214922" y="802081"/>
                  </a:lnTo>
                  <a:lnTo>
                    <a:pt x="265512" y="827025"/>
                  </a:lnTo>
                  <a:lnTo>
                    <a:pt x="318601" y="845051"/>
                  </a:lnTo>
                  <a:lnTo>
                    <a:pt x="373581" y="855991"/>
                  </a:lnTo>
                  <a:lnTo>
                    <a:pt x="429844" y="859675"/>
                  </a:lnTo>
                  <a:lnTo>
                    <a:pt x="486099" y="855991"/>
                  </a:lnTo>
                  <a:lnTo>
                    <a:pt x="541075" y="845051"/>
                  </a:lnTo>
                  <a:lnTo>
                    <a:pt x="594162" y="827025"/>
                  </a:lnTo>
                  <a:lnTo>
                    <a:pt x="644753" y="802081"/>
                  </a:lnTo>
                  <a:lnTo>
                    <a:pt x="691667" y="770762"/>
                  </a:lnTo>
                  <a:lnTo>
                    <a:pt x="733818" y="733809"/>
                  </a:lnTo>
                  <a:lnTo>
                    <a:pt x="770769" y="691660"/>
                  </a:lnTo>
                  <a:lnTo>
                    <a:pt x="802081" y="644753"/>
                  </a:lnTo>
                  <a:lnTo>
                    <a:pt x="827025" y="594162"/>
                  </a:lnTo>
                  <a:lnTo>
                    <a:pt x="845051" y="541073"/>
                  </a:lnTo>
                  <a:lnTo>
                    <a:pt x="855991" y="486094"/>
                  </a:lnTo>
                  <a:lnTo>
                    <a:pt x="859675" y="429831"/>
                  </a:lnTo>
                  <a:lnTo>
                    <a:pt x="855991" y="373575"/>
                  </a:lnTo>
                  <a:lnTo>
                    <a:pt x="845051" y="318598"/>
                  </a:lnTo>
                  <a:lnTo>
                    <a:pt x="827025" y="265507"/>
                  </a:lnTo>
                  <a:lnTo>
                    <a:pt x="802081" y="214909"/>
                  </a:lnTo>
                  <a:lnTo>
                    <a:pt x="770769" y="168002"/>
                  </a:lnTo>
                  <a:lnTo>
                    <a:pt x="733818" y="125855"/>
                  </a:lnTo>
                  <a:lnTo>
                    <a:pt x="691667" y="88906"/>
                  </a:lnTo>
                  <a:lnTo>
                    <a:pt x="644753" y="57594"/>
                  </a:lnTo>
                  <a:lnTo>
                    <a:pt x="594162" y="32650"/>
                  </a:lnTo>
                  <a:lnTo>
                    <a:pt x="541075" y="14624"/>
                  </a:lnTo>
                  <a:lnTo>
                    <a:pt x="486099" y="3684"/>
                  </a:lnTo>
                  <a:lnTo>
                    <a:pt x="429844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44764" y="2362200"/>
            <a:ext cx="78168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100</a:t>
            </a:r>
            <a:r>
              <a:rPr lang="es-ES" b="1" spc="-1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</a:t>
            </a:r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85900" y="3078251"/>
            <a:ext cx="1560830" cy="2462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500" b="1">
                <a:solidFill>
                  <a:srgbClr val="C3862D"/>
                </a:solidFill>
                <a:latin typeface="Arial"/>
                <a:cs typeface="Arial"/>
              </a:rPr>
              <a:t>segmento</a:t>
            </a:r>
            <a:r>
              <a:rPr lang="es-ES" sz="1500" b="1" spc="-10">
                <a:solidFill>
                  <a:srgbClr val="C3862D"/>
                </a:solidFill>
                <a:latin typeface="Arial"/>
                <a:cs typeface="Arial"/>
              </a:rPr>
              <a:t> ATL08</a:t>
            </a:r>
            <a:endParaRPr lang="es-ES" sz="15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65021" y="3864864"/>
            <a:ext cx="1602105" cy="96011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1905" algn="ctr">
              <a:lnSpc>
                <a:spcPts val="1440"/>
              </a:lnSpc>
              <a:spcBef>
                <a:spcPts val="275"/>
              </a:spcBef>
            </a:pP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Unidad</a:t>
            </a:r>
            <a:r>
              <a:rPr lang="es-MX" sz="1300" spc="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25">
                <a:solidFill>
                  <a:schemeClr val="tx1"/>
                </a:solidFill>
                <a:latin typeface="Arial"/>
                <a:cs typeface="Arial"/>
              </a:rPr>
              <a:t>de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agregación</a:t>
            </a:r>
            <a:r>
              <a:rPr lang="es-MX" sz="1300" spc="6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25">
                <a:solidFill>
                  <a:schemeClr val="tx1"/>
                </a:solidFill>
                <a:latin typeface="Arial"/>
                <a:cs typeface="Arial"/>
              </a:rPr>
              <a:t>de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terreno</a:t>
            </a:r>
            <a:r>
              <a:rPr lang="es-MX" sz="1300" spc="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300" spc="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vegetación;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no</a:t>
            </a:r>
            <a:r>
              <a:rPr lang="es-MX" sz="1300" spc="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es</a:t>
            </a:r>
            <a:r>
              <a:rPr lang="es-MX" sz="1300" spc="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300" spc="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altura</a:t>
            </a:r>
            <a:r>
              <a:rPr lang="es-MX" sz="1300" spc="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300" spc="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25">
                <a:solidFill>
                  <a:schemeClr val="tx1"/>
                </a:solidFill>
                <a:latin typeface="Arial"/>
                <a:cs typeface="Arial"/>
              </a:rPr>
              <a:t>un </a:t>
            </a:r>
            <a:r>
              <a:rPr lang="es-MX" sz="1300">
                <a:solidFill>
                  <a:schemeClr val="tx1"/>
                </a:solidFill>
                <a:latin typeface="Arial"/>
                <a:cs typeface="Arial"/>
              </a:rPr>
              <a:t>árbol</a:t>
            </a:r>
            <a:r>
              <a:rPr lang="es-MX" sz="13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chemeClr val="tx1"/>
                </a:solidFill>
                <a:latin typeface="Arial"/>
                <a:cs typeface="Arial"/>
              </a:rPr>
              <a:t>individual.</a:t>
            </a:r>
            <a:endParaRPr lang="es-MX" sz="13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723056" y="1730704"/>
            <a:ext cx="2042795" cy="3395979"/>
            <a:chOff x="9723056" y="1730704"/>
            <a:chExt cx="2042795" cy="3395979"/>
          </a:xfrm>
        </p:grpSpPr>
        <p:sp>
          <p:nvSpPr>
            <p:cNvPr id="35" name="object 35"/>
            <p:cNvSpPr/>
            <p:nvPr/>
          </p:nvSpPr>
          <p:spPr>
            <a:xfrm>
              <a:off x="9729356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1956600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310191"/>
                  </a:lnTo>
                  <a:lnTo>
                    <a:pt x="597" y="3319469"/>
                  </a:lnTo>
                  <a:lnTo>
                    <a:pt x="607" y="3319619"/>
                  </a:lnTo>
                  <a:lnTo>
                    <a:pt x="21291" y="3361809"/>
                  </a:lnTo>
                  <a:lnTo>
                    <a:pt x="63449" y="3382672"/>
                  </a:lnTo>
                  <a:lnTo>
                    <a:pt x="73088" y="3383279"/>
                  </a:lnTo>
                  <a:lnTo>
                    <a:pt x="1956968" y="3382911"/>
                  </a:lnTo>
                  <a:lnTo>
                    <a:pt x="2001338" y="3367870"/>
                  </a:lnTo>
                  <a:lnTo>
                    <a:pt x="2027600" y="3328914"/>
                  </a:lnTo>
                  <a:lnTo>
                    <a:pt x="2030021" y="3310191"/>
                  </a:lnTo>
                  <a:lnTo>
                    <a:pt x="2030044" y="3309835"/>
                  </a:lnTo>
                  <a:lnTo>
                    <a:pt x="2029688" y="73075"/>
                  </a:lnTo>
                  <a:lnTo>
                    <a:pt x="2014634" y="28698"/>
                  </a:lnTo>
                  <a:lnTo>
                    <a:pt x="1975640" y="2428"/>
                  </a:lnTo>
                  <a:lnTo>
                    <a:pt x="1966239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729356" y="1737004"/>
              <a:ext cx="2030095" cy="3383279"/>
            </a:xfrm>
            <a:custGeom>
              <a:avLst/>
              <a:gdLst/>
              <a:ahLst/>
              <a:cxnLst/>
              <a:rect l="l" t="t" r="r" b="b"/>
              <a:pathLst>
                <a:path w="2030095" h="338327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41"/>
                  </a:lnTo>
                  <a:lnTo>
                    <a:pt x="73088" y="0"/>
                  </a:lnTo>
                  <a:lnTo>
                    <a:pt x="1956600" y="0"/>
                  </a:lnTo>
                  <a:lnTo>
                    <a:pt x="2001283" y="15096"/>
                  </a:lnTo>
                  <a:lnTo>
                    <a:pt x="2027258" y="54357"/>
                  </a:lnTo>
                  <a:lnTo>
                    <a:pt x="2029688" y="73075"/>
                  </a:lnTo>
                  <a:lnTo>
                    <a:pt x="2030044" y="3309835"/>
                  </a:lnTo>
                  <a:lnTo>
                    <a:pt x="2029436" y="3319469"/>
                  </a:lnTo>
                  <a:lnTo>
                    <a:pt x="2027615" y="3328870"/>
                  </a:lnTo>
                  <a:lnTo>
                    <a:pt x="2001338" y="3367870"/>
                  </a:lnTo>
                  <a:lnTo>
                    <a:pt x="1956968" y="3382911"/>
                  </a:lnTo>
                  <a:lnTo>
                    <a:pt x="73088" y="3383279"/>
                  </a:lnTo>
                  <a:lnTo>
                    <a:pt x="28405" y="3368170"/>
                  </a:lnTo>
                  <a:lnTo>
                    <a:pt x="2430" y="3328914"/>
                  </a:lnTo>
                  <a:lnTo>
                    <a:pt x="0" y="3310191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314000" y="2057044"/>
              <a:ext cx="859790" cy="859790"/>
            </a:xfrm>
            <a:custGeom>
              <a:avLst/>
              <a:gdLst/>
              <a:ahLst/>
              <a:cxnLst/>
              <a:rect l="l" t="t" r="r" b="b"/>
              <a:pathLst>
                <a:path w="859790" h="859789">
                  <a:moveTo>
                    <a:pt x="429844" y="0"/>
                  </a:moveTo>
                  <a:lnTo>
                    <a:pt x="373581" y="3684"/>
                  </a:lnTo>
                  <a:lnTo>
                    <a:pt x="318601" y="14624"/>
                  </a:lnTo>
                  <a:lnTo>
                    <a:pt x="265512" y="32650"/>
                  </a:lnTo>
                  <a:lnTo>
                    <a:pt x="214922" y="57594"/>
                  </a:lnTo>
                  <a:lnTo>
                    <a:pt x="168015" y="88906"/>
                  </a:lnTo>
                  <a:lnTo>
                    <a:pt x="125866" y="125855"/>
                  </a:lnTo>
                  <a:lnTo>
                    <a:pt x="88913" y="168002"/>
                  </a:lnTo>
                  <a:lnTo>
                    <a:pt x="57594" y="214909"/>
                  </a:lnTo>
                  <a:lnTo>
                    <a:pt x="32650" y="265507"/>
                  </a:lnTo>
                  <a:lnTo>
                    <a:pt x="14624" y="318598"/>
                  </a:lnTo>
                  <a:lnTo>
                    <a:pt x="3684" y="373575"/>
                  </a:lnTo>
                  <a:lnTo>
                    <a:pt x="0" y="429831"/>
                  </a:lnTo>
                  <a:lnTo>
                    <a:pt x="3684" y="486094"/>
                  </a:lnTo>
                  <a:lnTo>
                    <a:pt x="14624" y="541073"/>
                  </a:lnTo>
                  <a:lnTo>
                    <a:pt x="32650" y="594162"/>
                  </a:lnTo>
                  <a:lnTo>
                    <a:pt x="57594" y="644753"/>
                  </a:lnTo>
                  <a:lnTo>
                    <a:pt x="88913" y="691660"/>
                  </a:lnTo>
                  <a:lnTo>
                    <a:pt x="125866" y="733809"/>
                  </a:lnTo>
                  <a:lnTo>
                    <a:pt x="168015" y="770762"/>
                  </a:lnTo>
                  <a:lnTo>
                    <a:pt x="214922" y="802081"/>
                  </a:lnTo>
                  <a:lnTo>
                    <a:pt x="265512" y="827025"/>
                  </a:lnTo>
                  <a:lnTo>
                    <a:pt x="318601" y="845051"/>
                  </a:lnTo>
                  <a:lnTo>
                    <a:pt x="373581" y="855991"/>
                  </a:lnTo>
                  <a:lnTo>
                    <a:pt x="429844" y="859675"/>
                  </a:lnTo>
                  <a:lnTo>
                    <a:pt x="486099" y="855991"/>
                  </a:lnTo>
                  <a:lnTo>
                    <a:pt x="541075" y="845051"/>
                  </a:lnTo>
                  <a:lnTo>
                    <a:pt x="594162" y="827025"/>
                  </a:lnTo>
                  <a:lnTo>
                    <a:pt x="644753" y="802081"/>
                  </a:lnTo>
                  <a:lnTo>
                    <a:pt x="691667" y="770762"/>
                  </a:lnTo>
                  <a:lnTo>
                    <a:pt x="733818" y="733809"/>
                  </a:lnTo>
                  <a:lnTo>
                    <a:pt x="770769" y="691660"/>
                  </a:lnTo>
                  <a:lnTo>
                    <a:pt x="802081" y="644753"/>
                  </a:lnTo>
                  <a:lnTo>
                    <a:pt x="827025" y="594162"/>
                  </a:lnTo>
                  <a:lnTo>
                    <a:pt x="845051" y="541073"/>
                  </a:lnTo>
                  <a:lnTo>
                    <a:pt x="855991" y="486094"/>
                  </a:lnTo>
                  <a:lnTo>
                    <a:pt x="859675" y="429831"/>
                  </a:lnTo>
                  <a:lnTo>
                    <a:pt x="855991" y="373575"/>
                  </a:lnTo>
                  <a:lnTo>
                    <a:pt x="845051" y="318598"/>
                  </a:lnTo>
                  <a:lnTo>
                    <a:pt x="827025" y="265507"/>
                  </a:lnTo>
                  <a:lnTo>
                    <a:pt x="802081" y="214909"/>
                  </a:lnTo>
                  <a:lnTo>
                    <a:pt x="770769" y="168002"/>
                  </a:lnTo>
                  <a:lnTo>
                    <a:pt x="733818" y="125855"/>
                  </a:lnTo>
                  <a:lnTo>
                    <a:pt x="691667" y="88906"/>
                  </a:lnTo>
                  <a:lnTo>
                    <a:pt x="644753" y="57594"/>
                  </a:lnTo>
                  <a:lnTo>
                    <a:pt x="594162" y="32650"/>
                  </a:lnTo>
                  <a:lnTo>
                    <a:pt x="541075" y="14624"/>
                  </a:lnTo>
                  <a:lnTo>
                    <a:pt x="486099" y="3684"/>
                  </a:lnTo>
                  <a:lnTo>
                    <a:pt x="429844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347960" y="2362200"/>
            <a:ext cx="9296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91</a:t>
            </a:r>
            <a:r>
              <a:rPr lang="es-ES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b="1" spc="-2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días</a:t>
            </a:r>
            <a:endParaRPr lang="es-E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941306" y="3078251"/>
            <a:ext cx="1603375" cy="46673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506730" marR="5080" indent="-494665">
              <a:lnSpc>
                <a:spcPct val="101699"/>
              </a:lnSpc>
              <a:spcBef>
                <a:spcPts val="85"/>
              </a:spcBef>
            </a:pPr>
            <a:r>
              <a:rPr lang="es-ES" sz="1500" b="1">
                <a:solidFill>
                  <a:srgbClr val="A8503B"/>
                </a:solidFill>
                <a:latin typeface="Arial"/>
                <a:cs typeface="Arial"/>
              </a:rPr>
              <a:t>repetición</a:t>
            </a:r>
            <a:r>
              <a:rPr lang="es-ES" sz="1500" b="1" spc="3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ES" sz="1500" b="1" spc="-10">
                <a:solidFill>
                  <a:srgbClr val="A8503B"/>
                </a:solidFill>
                <a:latin typeface="Arial"/>
                <a:cs typeface="Arial"/>
              </a:rPr>
              <a:t>exacta orbital</a:t>
            </a:r>
            <a:endParaRPr lang="es-ES" sz="15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985933" y="3864495"/>
            <a:ext cx="1513205" cy="86677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065" marR="5080" indent="635" algn="ctr">
              <a:lnSpc>
                <a:spcPts val="1300"/>
              </a:lnSpc>
              <a:spcBef>
                <a:spcPts val="259"/>
              </a:spcBef>
            </a:pP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Escala</a:t>
            </a:r>
            <a:r>
              <a:rPr lang="es-ES" sz="120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temporal</a:t>
            </a:r>
            <a:r>
              <a:rPr lang="es-ES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25">
                <a:solidFill>
                  <a:schemeClr val="tx1"/>
                </a:solidFill>
                <a:latin typeface="Arial"/>
                <a:cs typeface="Arial"/>
              </a:rPr>
              <a:t>del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ciclo</a:t>
            </a:r>
            <a:r>
              <a:rPr lang="es-ES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ES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referencia;</a:t>
            </a:r>
            <a:r>
              <a:rPr lang="es-ES" sz="1200" spc="-25">
                <a:solidFill>
                  <a:schemeClr val="tx1"/>
                </a:solidFill>
                <a:latin typeface="Arial"/>
                <a:cs typeface="Arial"/>
              </a:rPr>
              <a:t> no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asegura</a:t>
            </a:r>
            <a:r>
              <a:rPr lang="es-ES" sz="120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chemeClr val="tx1"/>
                </a:solidFill>
                <a:latin typeface="Arial"/>
                <a:cs typeface="Arial"/>
              </a:rPr>
              <a:t>coincidencia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espacial</a:t>
            </a:r>
            <a:r>
              <a:rPr lang="es-ES" sz="120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exacta</a:t>
            </a:r>
            <a:r>
              <a:rPr lang="es-ES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25">
                <a:solidFill>
                  <a:schemeClr val="tx1"/>
                </a:solidFill>
                <a:latin typeface="Arial"/>
                <a:cs typeface="Arial"/>
              </a:rPr>
              <a:t>de </a:t>
            </a:r>
            <a:r>
              <a:rPr lang="es-ES" sz="1200" spc="-10">
                <a:solidFill>
                  <a:schemeClr val="tx1"/>
                </a:solidFill>
                <a:latin typeface="Arial"/>
                <a:cs typeface="Arial"/>
              </a:rPr>
              <a:t>segmentos.</a:t>
            </a:r>
            <a:endParaRPr lang="es-ES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16860" y="5435456"/>
            <a:ext cx="11028045" cy="649605"/>
            <a:chOff x="616860" y="5435456"/>
            <a:chExt cx="11028045" cy="649605"/>
          </a:xfrm>
        </p:grpSpPr>
        <p:sp>
          <p:nvSpPr>
            <p:cNvPr id="42" name="object 42"/>
            <p:cNvSpPr/>
            <p:nvPr/>
          </p:nvSpPr>
          <p:spPr>
            <a:xfrm>
              <a:off x="621360" y="5439956"/>
              <a:ext cx="11019155" cy="640715"/>
            </a:xfrm>
            <a:custGeom>
              <a:avLst/>
              <a:gdLst/>
              <a:ahLst/>
              <a:cxnLst/>
              <a:rect l="l" t="t" r="r" b="b"/>
              <a:pathLst>
                <a:path w="11019155" h="640714">
                  <a:moveTo>
                    <a:pt x="64439" y="0"/>
                  </a:moveTo>
                  <a:lnTo>
                    <a:pt x="25402" y="13364"/>
                  </a:lnTo>
                  <a:lnTo>
                    <a:pt x="2517" y="47520"/>
                  </a:lnTo>
                  <a:lnTo>
                    <a:pt x="0" y="576364"/>
                  </a:lnTo>
                  <a:lnTo>
                    <a:pt x="540" y="584712"/>
                  </a:lnTo>
                  <a:lnTo>
                    <a:pt x="18737" y="621588"/>
                  </a:lnTo>
                  <a:lnTo>
                    <a:pt x="18853" y="621722"/>
                  </a:lnTo>
                  <a:lnTo>
                    <a:pt x="55734" y="639907"/>
                  </a:lnTo>
                  <a:lnTo>
                    <a:pt x="64084" y="640448"/>
                  </a:lnTo>
                  <a:lnTo>
                    <a:pt x="10954804" y="640448"/>
                  </a:lnTo>
                  <a:lnTo>
                    <a:pt x="10993835" y="627083"/>
                  </a:lnTo>
                  <a:lnTo>
                    <a:pt x="11016719" y="592923"/>
                  </a:lnTo>
                  <a:lnTo>
                    <a:pt x="11018875" y="576364"/>
                  </a:lnTo>
                  <a:lnTo>
                    <a:pt x="11018852" y="64084"/>
                  </a:lnTo>
                  <a:lnTo>
                    <a:pt x="11005517" y="25402"/>
                  </a:lnTo>
                  <a:lnTo>
                    <a:pt x="10971356" y="2524"/>
                  </a:lnTo>
                  <a:lnTo>
                    <a:pt x="10954804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CE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1360" y="5439956"/>
              <a:ext cx="11019155" cy="640715"/>
            </a:xfrm>
            <a:custGeom>
              <a:avLst/>
              <a:gdLst/>
              <a:ahLst/>
              <a:cxnLst/>
              <a:rect l="l" t="t" r="r" b="b"/>
              <a:pathLst>
                <a:path w="11019155" h="640714">
                  <a:moveTo>
                    <a:pt x="355" y="64084"/>
                  </a:moveTo>
                  <a:lnTo>
                    <a:pt x="896" y="55734"/>
                  </a:lnTo>
                  <a:lnTo>
                    <a:pt x="2517" y="47520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10954804" y="368"/>
                  </a:lnTo>
                  <a:lnTo>
                    <a:pt x="10993783" y="13570"/>
                  </a:lnTo>
                  <a:lnTo>
                    <a:pt x="11016719" y="47885"/>
                  </a:lnTo>
                  <a:lnTo>
                    <a:pt x="11018875" y="64439"/>
                  </a:lnTo>
                  <a:lnTo>
                    <a:pt x="11018875" y="576364"/>
                  </a:lnTo>
                  <a:lnTo>
                    <a:pt x="11018337" y="584712"/>
                  </a:lnTo>
                  <a:lnTo>
                    <a:pt x="11016719" y="592923"/>
                  </a:lnTo>
                  <a:lnTo>
                    <a:pt x="10993835" y="627083"/>
                  </a:lnTo>
                  <a:lnTo>
                    <a:pt x="10954804" y="640448"/>
                  </a:lnTo>
                  <a:lnTo>
                    <a:pt x="64084" y="640448"/>
                  </a:lnTo>
                  <a:lnTo>
                    <a:pt x="25091" y="627233"/>
                  </a:lnTo>
                  <a:lnTo>
                    <a:pt x="2160" y="592923"/>
                  </a:lnTo>
                  <a:lnTo>
                    <a:pt x="0" y="576364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1715" y="5440324"/>
              <a:ext cx="82550" cy="640080"/>
            </a:xfrm>
            <a:custGeom>
              <a:avLst/>
              <a:gdLst/>
              <a:ahLst/>
              <a:cxnLst/>
              <a:rect l="l" t="t" r="r" b="b"/>
              <a:pathLst>
                <a:path w="82550" h="640079">
                  <a:moveTo>
                    <a:pt x="82080" y="0"/>
                  </a:moveTo>
                  <a:lnTo>
                    <a:pt x="0" y="0"/>
                  </a:lnTo>
                  <a:lnTo>
                    <a:pt x="0" y="639711"/>
                  </a:lnTo>
                  <a:lnTo>
                    <a:pt x="41046" y="639711"/>
                  </a:lnTo>
                  <a:lnTo>
                    <a:pt x="82080" y="639711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200220" y="5543388"/>
            <a:ext cx="10153580" cy="476412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0" marR="0" indent="0" algn="just">
              <a:lnSpc>
                <a:spcPts val="1670"/>
              </a:lnSpc>
              <a:spcBef>
                <a:spcPts val="315"/>
              </a:spcBef>
            </a:pPr>
            <a:r>
              <a:rPr lang="es-MX" sz="1550" b="1" spc="-25">
                <a:solidFill>
                  <a:srgbClr val="1F2F28"/>
                </a:solidFill>
                <a:latin typeface="Arial"/>
                <a:cs typeface="Arial"/>
              </a:rPr>
              <a:t>“ATLAS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dispara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cada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0,7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m”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20">
                <a:solidFill>
                  <a:srgbClr val="1F2F28"/>
                </a:solidFill>
                <a:latin typeface="Arial"/>
                <a:cs typeface="Arial"/>
              </a:rPr>
              <a:t>“ATL08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entrega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100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m”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25">
                <a:solidFill>
                  <a:srgbClr val="1F2F28"/>
                </a:solidFill>
                <a:latin typeface="Arial"/>
                <a:cs typeface="Arial"/>
              </a:rPr>
              <a:t>son </a:t>
            </a:r>
            <a:r>
              <a:rPr lang="es-MX" sz="1550" b="1" spc="-10">
                <a:solidFill>
                  <a:srgbClr val="1F2F28"/>
                </a:solidFill>
                <a:latin typeface="Arial"/>
                <a:cs typeface="Arial"/>
              </a:rPr>
              <a:t>afirmaciones</a:t>
            </a:r>
            <a:r>
              <a:rPr lang="es-MX" sz="155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compatibles;</a:t>
            </a:r>
            <a:r>
              <a:rPr lang="es-MX" sz="155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describen</a:t>
            </a:r>
            <a:r>
              <a:rPr lang="es-MX" sz="155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niveles</a:t>
            </a:r>
            <a:r>
              <a:rPr lang="es-MX" sz="155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distintos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55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10">
                <a:solidFill>
                  <a:srgbClr val="1F2F28"/>
                </a:solidFill>
                <a:latin typeface="Arial"/>
                <a:cs typeface="Arial"/>
              </a:rPr>
              <a:t>procesamiento.</a:t>
            </a:r>
            <a:endParaRPr lang="es-MX" sz="1550">
              <a:latin typeface="Arial"/>
              <a:cs typeface="Arial"/>
            </a:endParaRPr>
          </a:p>
        </p:txBody>
      </p:sp>
      <p:sp>
        <p:nvSpPr>
          <p:cNvPr id="46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7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8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9/43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De</a:t>
            </a:r>
            <a:r>
              <a:rPr spc="-65"/>
              <a:t> </a:t>
            </a:r>
            <a:r>
              <a:t>los</a:t>
            </a:r>
            <a:r>
              <a:rPr spc="-65"/>
              <a:t> </a:t>
            </a:r>
            <a:r>
              <a:t>eventos</a:t>
            </a:r>
            <a:r>
              <a:rPr spc="-65"/>
              <a:t> </a:t>
            </a:r>
            <a:r>
              <a:rPr spc="-10"/>
              <a:t>instrumentales</a:t>
            </a:r>
            <a:r>
              <a:rPr spc="-65"/>
              <a:t> </a:t>
            </a:r>
            <a:r>
              <a:t>a</a:t>
            </a:r>
            <a:r>
              <a:rPr spc="-65"/>
              <a:t> </a:t>
            </a:r>
            <a:r>
              <a:t>las</a:t>
            </a:r>
            <a:r>
              <a:rPr spc="-65"/>
              <a:t> </a:t>
            </a:r>
            <a:r>
              <a:t>métricas</a:t>
            </a:r>
            <a:r>
              <a:rPr spc="-65"/>
              <a:t> </a:t>
            </a:r>
            <a:r>
              <a:t>de</a:t>
            </a:r>
            <a:r>
              <a:rPr spc="-65"/>
              <a:t> </a:t>
            </a:r>
            <a:r>
              <a:rPr spc="-10"/>
              <a:t>vegetación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60780" y="1547824"/>
            <a:ext cx="1960245" cy="3341370"/>
            <a:chOff x="660780" y="1547824"/>
            <a:chExt cx="1960245" cy="3341370"/>
          </a:xfrm>
        </p:grpSpPr>
        <p:sp>
          <p:nvSpPr>
            <p:cNvPr id="6" name="object 6"/>
            <p:cNvSpPr/>
            <p:nvPr/>
          </p:nvSpPr>
          <p:spPr>
            <a:xfrm>
              <a:off x="667080" y="1554124"/>
              <a:ext cx="1948180" cy="3328670"/>
            </a:xfrm>
            <a:custGeom>
              <a:avLst/>
              <a:gdLst/>
              <a:ahLst/>
              <a:cxnLst/>
              <a:rect l="l" t="t" r="r" b="b"/>
              <a:pathLst>
                <a:path w="1948180" h="3328670">
                  <a:moveTo>
                    <a:pt x="187416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255479"/>
                  </a:lnTo>
                  <a:lnTo>
                    <a:pt x="594" y="3264750"/>
                  </a:lnTo>
                  <a:lnTo>
                    <a:pt x="607" y="3264956"/>
                  </a:lnTo>
                  <a:lnTo>
                    <a:pt x="2394" y="3274152"/>
                  </a:lnTo>
                  <a:lnTo>
                    <a:pt x="2428" y="3274331"/>
                  </a:lnTo>
                  <a:lnTo>
                    <a:pt x="5412" y="3283215"/>
                  </a:lnTo>
                  <a:lnTo>
                    <a:pt x="5464" y="3283370"/>
                  </a:lnTo>
                  <a:lnTo>
                    <a:pt x="9715" y="3291840"/>
                  </a:lnTo>
                  <a:lnTo>
                    <a:pt x="44984" y="3323090"/>
                  </a:lnTo>
                  <a:lnTo>
                    <a:pt x="73075" y="3328555"/>
                  </a:lnTo>
                  <a:lnTo>
                    <a:pt x="1874520" y="3328200"/>
                  </a:lnTo>
                  <a:lnTo>
                    <a:pt x="1918897" y="3313096"/>
                  </a:lnTo>
                  <a:lnTo>
                    <a:pt x="1945106" y="3274331"/>
                  </a:lnTo>
                  <a:lnTo>
                    <a:pt x="1945166" y="3274152"/>
                  </a:lnTo>
                  <a:lnTo>
                    <a:pt x="1946948" y="3264956"/>
                  </a:lnTo>
                  <a:lnTo>
                    <a:pt x="1946988" y="3264750"/>
                  </a:lnTo>
                  <a:lnTo>
                    <a:pt x="1947572" y="3255479"/>
                  </a:lnTo>
                  <a:lnTo>
                    <a:pt x="1947240" y="73075"/>
                  </a:lnTo>
                  <a:lnTo>
                    <a:pt x="1932141" y="28698"/>
                  </a:lnTo>
                  <a:lnTo>
                    <a:pt x="1893193" y="2428"/>
                  </a:lnTo>
                  <a:lnTo>
                    <a:pt x="1883796" y="607"/>
                  </a:lnTo>
                  <a:lnTo>
                    <a:pt x="187416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7080" y="1554124"/>
              <a:ext cx="1948180" cy="3328670"/>
            </a:xfrm>
            <a:custGeom>
              <a:avLst/>
              <a:gdLst/>
              <a:ahLst/>
              <a:cxnLst/>
              <a:rect l="l" t="t" r="r" b="b"/>
              <a:pathLst>
                <a:path w="1948180" h="332867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1874164" y="0"/>
                  </a:lnTo>
                  <a:lnTo>
                    <a:pt x="1918684" y="15096"/>
                  </a:lnTo>
                  <a:lnTo>
                    <a:pt x="1944811" y="54219"/>
                  </a:lnTo>
                  <a:lnTo>
                    <a:pt x="1947240" y="73075"/>
                  </a:lnTo>
                  <a:lnTo>
                    <a:pt x="1947595" y="3255111"/>
                  </a:lnTo>
                  <a:lnTo>
                    <a:pt x="1946988" y="3264750"/>
                  </a:lnTo>
                  <a:lnTo>
                    <a:pt x="1945166" y="3274152"/>
                  </a:lnTo>
                  <a:lnTo>
                    <a:pt x="1918897" y="3313096"/>
                  </a:lnTo>
                  <a:lnTo>
                    <a:pt x="1874520" y="3328200"/>
                  </a:lnTo>
                  <a:lnTo>
                    <a:pt x="73075" y="3328555"/>
                  </a:lnTo>
                  <a:lnTo>
                    <a:pt x="28555" y="3313451"/>
                  </a:lnTo>
                  <a:lnTo>
                    <a:pt x="2428" y="3274331"/>
                  </a:lnTo>
                  <a:lnTo>
                    <a:pt x="0" y="325547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73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7080" y="1554124"/>
              <a:ext cx="1947545" cy="603250"/>
            </a:xfrm>
            <a:custGeom>
              <a:avLst/>
              <a:gdLst/>
              <a:ahLst/>
              <a:cxnLst/>
              <a:rect l="l" t="t" r="r" b="b"/>
              <a:pathLst>
                <a:path w="1947545" h="603250">
                  <a:moveTo>
                    <a:pt x="1947240" y="0"/>
                  </a:moveTo>
                  <a:lnTo>
                    <a:pt x="0" y="0"/>
                  </a:lnTo>
                  <a:lnTo>
                    <a:pt x="0" y="602995"/>
                  </a:lnTo>
                  <a:lnTo>
                    <a:pt x="973797" y="602995"/>
                  </a:lnTo>
                  <a:lnTo>
                    <a:pt x="1947240" y="602995"/>
                  </a:lnTo>
                  <a:lnTo>
                    <a:pt x="1947240" y="0"/>
                  </a:lnTo>
                  <a:close/>
                </a:path>
              </a:pathLst>
            </a:custGeom>
            <a:solidFill>
              <a:srgbClr val="17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4946" y="1666697"/>
            <a:ext cx="16529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900" b="1" spc="-2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ATL01</a:t>
            </a:r>
            <a:r>
              <a:rPr lang="es-ES" sz="1900" b="1" spc="-5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sz="19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/</a:t>
            </a:r>
            <a:r>
              <a:rPr lang="es-ES" sz="1900" b="1" spc="-12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sz="1900" b="1" spc="-2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ATL02</a:t>
            </a:r>
            <a:endParaRPr lang="es-ES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619" y="2319020"/>
            <a:ext cx="1642745" cy="4224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marR="5080" indent="-283210">
              <a:lnSpc>
                <a:spcPct val="102200"/>
              </a:lnSpc>
              <a:spcBef>
                <a:spcPts val="95"/>
              </a:spcBef>
            </a:pPr>
            <a:r>
              <a:rPr lang="es-ES" sz="1350" b="1">
                <a:solidFill>
                  <a:srgbClr val="173A54"/>
                </a:solidFill>
                <a:latin typeface="Arial"/>
                <a:cs typeface="Arial"/>
              </a:rPr>
              <a:t>telemetría</a:t>
            </a:r>
            <a:r>
              <a:rPr lang="es-ES" sz="1350" b="1" spc="55">
                <a:solidFill>
                  <a:srgbClr val="173A54"/>
                </a:solidFill>
                <a:latin typeface="Arial"/>
                <a:cs typeface="Arial"/>
              </a:rPr>
              <a:t> </a:t>
            </a:r>
            <a:r>
              <a:rPr lang="es-ES" sz="1350" b="1">
                <a:solidFill>
                  <a:srgbClr val="173A54"/>
                </a:solidFill>
                <a:latin typeface="Arial"/>
                <a:cs typeface="Arial"/>
              </a:rPr>
              <a:t>y</a:t>
            </a:r>
            <a:r>
              <a:rPr lang="es-ES" sz="1350" b="1" spc="55">
                <a:solidFill>
                  <a:srgbClr val="173A54"/>
                </a:solidFill>
                <a:latin typeface="Arial"/>
                <a:cs typeface="Arial"/>
              </a:rPr>
              <a:t> </a:t>
            </a:r>
            <a:r>
              <a:rPr lang="es-ES" sz="1350" b="1" spc="-10">
                <a:solidFill>
                  <a:srgbClr val="173A54"/>
                </a:solidFill>
                <a:latin typeface="Arial"/>
                <a:cs typeface="Arial"/>
              </a:rPr>
              <a:t>ciencia instrumental</a:t>
            </a:r>
            <a:endParaRPr lang="es-ES"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5896" y="3076816"/>
            <a:ext cx="1590040" cy="125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Eventos transmitidos/recibido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s,</a:t>
            </a:r>
            <a:r>
              <a:rPr lang="es-MX" sz="135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calibraciones,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tiempos</a:t>
            </a:r>
            <a:r>
              <a:rPr lang="es-MX" sz="1350" spc="-6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50">
                <a:solidFill>
                  <a:schemeClr val="tx1"/>
                </a:solidFill>
                <a:latin typeface="Arial"/>
                <a:cs typeface="Arial"/>
              </a:rPr>
              <a:t>y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parámetros</a:t>
            </a:r>
            <a:r>
              <a:rPr lang="es-MX" sz="1350" spc="-9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25">
                <a:solidFill>
                  <a:schemeClr val="tx1"/>
                </a:solidFill>
                <a:latin typeface="Arial"/>
                <a:cs typeface="Arial"/>
              </a:rPr>
              <a:t>del </a:t>
            </a: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instrumento.</a:t>
            </a:r>
            <a:endParaRPr lang="es-MX" sz="135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92500" y="1547824"/>
            <a:ext cx="1960245" cy="3341370"/>
            <a:chOff x="2992500" y="1547824"/>
            <a:chExt cx="1960245" cy="3341370"/>
          </a:xfrm>
        </p:grpSpPr>
        <p:sp>
          <p:nvSpPr>
            <p:cNvPr id="16" name="object 16"/>
            <p:cNvSpPr/>
            <p:nvPr/>
          </p:nvSpPr>
          <p:spPr>
            <a:xfrm>
              <a:off x="2998800" y="1554124"/>
              <a:ext cx="1948180" cy="3328670"/>
            </a:xfrm>
            <a:custGeom>
              <a:avLst/>
              <a:gdLst/>
              <a:ahLst/>
              <a:cxnLst/>
              <a:rect l="l" t="t" r="r" b="b"/>
              <a:pathLst>
                <a:path w="1948179" h="3328670">
                  <a:moveTo>
                    <a:pt x="187416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255479"/>
                  </a:lnTo>
                  <a:lnTo>
                    <a:pt x="594" y="3264750"/>
                  </a:lnTo>
                  <a:lnTo>
                    <a:pt x="607" y="3264956"/>
                  </a:lnTo>
                  <a:lnTo>
                    <a:pt x="2394" y="3274152"/>
                  </a:lnTo>
                  <a:lnTo>
                    <a:pt x="2428" y="3274331"/>
                  </a:lnTo>
                  <a:lnTo>
                    <a:pt x="5412" y="3283215"/>
                  </a:lnTo>
                  <a:lnTo>
                    <a:pt x="5464" y="3283370"/>
                  </a:lnTo>
                  <a:lnTo>
                    <a:pt x="9715" y="3291840"/>
                  </a:lnTo>
                  <a:lnTo>
                    <a:pt x="44984" y="3323090"/>
                  </a:lnTo>
                  <a:lnTo>
                    <a:pt x="73075" y="3328555"/>
                  </a:lnTo>
                  <a:lnTo>
                    <a:pt x="1874520" y="3328200"/>
                  </a:lnTo>
                  <a:lnTo>
                    <a:pt x="1918897" y="3313096"/>
                  </a:lnTo>
                  <a:lnTo>
                    <a:pt x="1945106" y="3274331"/>
                  </a:lnTo>
                  <a:lnTo>
                    <a:pt x="1945166" y="3274152"/>
                  </a:lnTo>
                  <a:lnTo>
                    <a:pt x="1946948" y="3264956"/>
                  </a:lnTo>
                  <a:lnTo>
                    <a:pt x="1946988" y="3264750"/>
                  </a:lnTo>
                  <a:lnTo>
                    <a:pt x="1947572" y="3255479"/>
                  </a:lnTo>
                  <a:lnTo>
                    <a:pt x="1947240" y="73075"/>
                  </a:lnTo>
                  <a:lnTo>
                    <a:pt x="1932141" y="28698"/>
                  </a:lnTo>
                  <a:lnTo>
                    <a:pt x="1893193" y="2428"/>
                  </a:lnTo>
                  <a:lnTo>
                    <a:pt x="1883796" y="607"/>
                  </a:lnTo>
                  <a:lnTo>
                    <a:pt x="187416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98800" y="1554124"/>
              <a:ext cx="1948180" cy="3328670"/>
            </a:xfrm>
            <a:custGeom>
              <a:avLst/>
              <a:gdLst/>
              <a:ahLst/>
              <a:cxnLst/>
              <a:rect l="l" t="t" r="r" b="b"/>
              <a:pathLst>
                <a:path w="1948179" h="332867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1874164" y="0"/>
                  </a:lnTo>
                  <a:lnTo>
                    <a:pt x="1918684" y="15096"/>
                  </a:lnTo>
                  <a:lnTo>
                    <a:pt x="1944811" y="54219"/>
                  </a:lnTo>
                  <a:lnTo>
                    <a:pt x="1947240" y="73075"/>
                  </a:lnTo>
                  <a:lnTo>
                    <a:pt x="1947595" y="3255111"/>
                  </a:lnTo>
                  <a:lnTo>
                    <a:pt x="1946988" y="3264750"/>
                  </a:lnTo>
                  <a:lnTo>
                    <a:pt x="1945166" y="3274152"/>
                  </a:lnTo>
                  <a:lnTo>
                    <a:pt x="1918897" y="3313096"/>
                  </a:lnTo>
                  <a:lnTo>
                    <a:pt x="1874520" y="3328200"/>
                  </a:lnTo>
                  <a:lnTo>
                    <a:pt x="73075" y="3328555"/>
                  </a:lnTo>
                  <a:lnTo>
                    <a:pt x="28555" y="3313451"/>
                  </a:lnTo>
                  <a:lnTo>
                    <a:pt x="2428" y="3274331"/>
                  </a:lnTo>
                  <a:lnTo>
                    <a:pt x="0" y="325547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E6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98800" y="1554124"/>
              <a:ext cx="1947545" cy="603250"/>
            </a:xfrm>
            <a:custGeom>
              <a:avLst/>
              <a:gdLst/>
              <a:ahLst/>
              <a:cxnLst/>
              <a:rect l="l" t="t" r="r" b="b"/>
              <a:pathLst>
                <a:path w="1947545" h="603250">
                  <a:moveTo>
                    <a:pt x="1947240" y="0"/>
                  </a:moveTo>
                  <a:lnTo>
                    <a:pt x="0" y="0"/>
                  </a:lnTo>
                  <a:lnTo>
                    <a:pt x="0" y="602995"/>
                  </a:lnTo>
                  <a:lnTo>
                    <a:pt x="973797" y="602995"/>
                  </a:lnTo>
                  <a:lnTo>
                    <a:pt x="1947240" y="602995"/>
                  </a:lnTo>
                  <a:lnTo>
                    <a:pt x="1947240" y="0"/>
                  </a:lnTo>
                  <a:close/>
                </a:path>
              </a:pathLst>
            </a:custGeom>
            <a:solidFill>
              <a:srgbClr val="2E6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01339" y="1666697"/>
            <a:ext cx="7435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900" b="1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ATL03</a:t>
            </a:r>
            <a:endParaRPr lang="es-ES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31705" y="2319020"/>
            <a:ext cx="1280795" cy="4224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1785">
              <a:lnSpc>
                <a:spcPct val="102200"/>
              </a:lnSpc>
              <a:spcBef>
                <a:spcPts val="95"/>
              </a:spcBef>
            </a:pPr>
            <a:r>
              <a:rPr lang="es-ES" sz="1350" b="1" spc="-10">
                <a:solidFill>
                  <a:srgbClr val="2E6E9D"/>
                </a:solidFill>
                <a:latin typeface="Arial"/>
                <a:cs typeface="Arial"/>
              </a:rPr>
              <a:t>fotones geolocalizados</a:t>
            </a:r>
            <a:endParaRPr lang="es-ES"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29457" y="3076816"/>
            <a:ext cx="1485900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Latitud,</a:t>
            </a:r>
            <a:r>
              <a:rPr lang="es-MX" sz="135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longitud,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elevación,</a:t>
            </a:r>
            <a:r>
              <a:rPr lang="es-MX" sz="1350" spc="-6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tiempo</a:t>
            </a:r>
            <a:r>
              <a:rPr lang="es-MX" sz="1350" spc="-6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50">
                <a:solidFill>
                  <a:schemeClr val="tx1"/>
                </a:solidFill>
                <a:latin typeface="Arial"/>
                <a:cs typeface="Arial"/>
              </a:rPr>
              <a:t>y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clasificación</a:t>
            </a:r>
            <a:r>
              <a:rPr lang="es-MX" sz="1350" spc="-8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25">
                <a:solidFill>
                  <a:schemeClr val="tx1"/>
                </a:solidFill>
                <a:latin typeface="Arial"/>
                <a:cs typeface="Arial"/>
              </a:rPr>
              <a:t>de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señal</a:t>
            </a:r>
            <a:r>
              <a:rPr lang="es-MX" sz="13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por</a:t>
            </a:r>
            <a:r>
              <a:rPr lang="es-MX" sz="13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fotón.</a:t>
            </a:r>
            <a:endParaRPr lang="es-MX" sz="135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24220" y="1547824"/>
            <a:ext cx="1960245" cy="3341370"/>
            <a:chOff x="5324220" y="1547824"/>
            <a:chExt cx="1960245" cy="3341370"/>
          </a:xfrm>
        </p:grpSpPr>
        <p:sp>
          <p:nvSpPr>
            <p:cNvPr id="26" name="object 26"/>
            <p:cNvSpPr/>
            <p:nvPr/>
          </p:nvSpPr>
          <p:spPr>
            <a:xfrm>
              <a:off x="5330520" y="1554124"/>
              <a:ext cx="1948180" cy="3328670"/>
            </a:xfrm>
            <a:custGeom>
              <a:avLst/>
              <a:gdLst/>
              <a:ahLst/>
              <a:cxnLst/>
              <a:rect l="l" t="t" r="r" b="b"/>
              <a:pathLst>
                <a:path w="1948179" h="3328670">
                  <a:moveTo>
                    <a:pt x="187416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255479"/>
                  </a:lnTo>
                  <a:lnTo>
                    <a:pt x="594" y="3264750"/>
                  </a:lnTo>
                  <a:lnTo>
                    <a:pt x="607" y="3264956"/>
                  </a:lnTo>
                  <a:lnTo>
                    <a:pt x="2394" y="3274152"/>
                  </a:lnTo>
                  <a:lnTo>
                    <a:pt x="2428" y="3274331"/>
                  </a:lnTo>
                  <a:lnTo>
                    <a:pt x="28555" y="3313451"/>
                  </a:lnTo>
                  <a:lnTo>
                    <a:pt x="73075" y="3328555"/>
                  </a:lnTo>
                  <a:lnTo>
                    <a:pt x="1874520" y="3328200"/>
                  </a:lnTo>
                  <a:lnTo>
                    <a:pt x="1918897" y="3313096"/>
                  </a:lnTo>
                  <a:lnTo>
                    <a:pt x="1942054" y="3283370"/>
                  </a:lnTo>
                  <a:lnTo>
                    <a:pt x="1942130" y="3283215"/>
                  </a:lnTo>
                  <a:lnTo>
                    <a:pt x="1945106" y="3274331"/>
                  </a:lnTo>
                  <a:lnTo>
                    <a:pt x="1945166" y="3274152"/>
                  </a:lnTo>
                  <a:lnTo>
                    <a:pt x="1946948" y="3264956"/>
                  </a:lnTo>
                  <a:lnTo>
                    <a:pt x="1946988" y="3264750"/>
                  </a:lnTo>
                  <a:lnTo>
                    <a:pt x="1947572" y="3255479"/>
                  </a:lnTo>
                  <a:lnTo>
                    <a:pt x="1947595" y="3255111"/>
                  </a:lnTo>
                  <a:lnTo>
                    <a:pt x="1947240" y="73075"/>
                  </a:lnTo>
                  <a:lnTo>
                    <a:pt x="1932141" y="28698"/>
                  </a:lnTo>
                  <a:lnTo>
                    <a:pt x="1893193" y="2428"/>
                  </a:lnTo>
                  <a:lnTo>
                    <a:pt x="1883796" y="607"/>
                  </a:lnTo>
                  <a:lnTo>
                    <a:pt x="187416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0520" y="1554124"/>
              <a:ext cx="1948180" cy="3328670"/>
            </a:xfrm>
            <a:custGeom>
              <a:avLst/>
              <a:gdLst/>
              <a:ahLst/>
              <a:cxnLst/>
              <a:rect l="l" t="t" r="r" b="b"/>
              <a:pathLst>
                <a:path w="1948179" h="332867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1874164" y="0"/>
                  </a:lnTo>
                  <a:lnTo>
                    <a:pt x="1918684" y="15096"/>
                  </a:lnTo>
                  <a:lnTo>
                    <a:pt x="1944811" y="54219"/>
                  </a:lnTo>
                  <a:lnTo>
                    <a:pt x="1947240" y="73075"/>
                  </a:lnTo>
                  <a:lnTo>
                    <a:pt x="1947595" y="3255111"/>
                  </a:lnTo>
                  <a:lnTo>
                    <a:pt x="1946988" y="3264750"/>
                  </a:lnTo>
                  <a:lnTo>
                    <a:pt x="1945166" y="3274152"/>
                  </a:lnTo>
                  <a:lnTo>
                    <a:pt x="1918897" y="3313096"/>
                  </a:lnTo>
                  <a:lnTo>
                    <a:pt x="1874520" y="3328200"/>
                  </a:lnTo>
                  <a:lnTo>
                    <a:pt x="73075" y="3328555"/>
                  </a:lnTo>
                  <a:lnTo>
                    <a:pt x="28555" y="3313451"/>
                  </a:lnTo>
                  <a:lnTo>
                    <a:pt x="2428" y="3274331"/>
                  </a:lnTo>
                  <a:lnTo>
                    <a:pt x="0" y="325547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30520" y="1554124"/>
              <a:ext cx="1947545" cy="603250"/>
            </a:xfrm>
            <a:custGeom>
              <a:avLst/>
              <a:gdLst/>
              <a:ahLst/>
              <a:cxnLst/>
              <a:rect l="l" t="t" r="r" b="b"/>
              <a:pathLst>
                <a:path w="1947545" h="603250">
                  <a:moveTo>
                    <a:pt x="1947240" y="0"/>
                  </a:moveTo>
                  <a:lnTo>
                    <a:pt x="0" y="0"/>
                  </a:lnTo>
                  <a:lnTo>
                    <a:pt x="0" y="602995"/>
                  </a:lnTo>
                  <a:lnTo>
                    <a:pt x="973797" y="602995"/>
                  </a:lnTo>
                  <a:lnTo>
                    <a:pt x="1947240" y="602995"/>
                  </a:lnTo>
                  <a:lnTo>
                    <a:pt x="194724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667019" y="1608747"/>
            <a:ext cx="1275080" cy="44435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26060" marR="5080" indent="-213995">
              <a:lnSpc>
                <a:spcPts val="1540"/>
              </a:lnSpc>
              <a:spcBef>
                <a:spcPts val="465"/>
              </a:spcBef>
            </a:pPr>
            <a:r>
              <a:rPr lang="es-ES" sz="16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Clasificación terrestre</a:t>
            </a:r>
            <a:endParaRPr lang="es-ES"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49023" y="2319020"/>
            <a:ext cx="1310005" cy="4224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3204">
              <a:lnSpc>
                <a:spcPct val="102200"/>
              </a:lnSpc>
              <a:spcBef>
                <a:spcPts val="95"/>
              </a:spcBef>
            </a:pPr>
            <a:r>
              <a:rPr lang="es-ES" sz="1350" b="1" spc="-10">
                <a:solidFill>
                  <a:srgbClr val="296D6F"/>
                </a:solidFill>
                <a:latin typeface="Arial"/>
                <a:cs typeface="Arial"/>
              </a:rPr>
              <a:t>algoritmo land/vegetation</a:t>
            </a:r>
            <a:endParaRPr lang="es-ES" sz="13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04294" y="3076816"/>
            <a:ext cx="1599565" cy="105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Separación</a:t>
            </a:r>
            <a:r>
              <a:rPr lang="es-MX" sz="1350" spc="-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35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ruido,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terreno,</a:t>
            </a:r>
            <a:r>
              <a:rPr lang="es-MX" sz="1350" spc="-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dosel</a:t>
            </a:r>
            <a:r>
              <a:rPr lang="es-MX" sz="13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3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20">
                <a:solidFill>
                  <a:schemeClr val="tx1"/>
                </a:solidFill>
                <a:latin typeface="Arial"/>
                <a:cs typeface="Arial"/>
              </a:rPr>
              <a:t>tope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del</a:t>
            </a:r>
            <a:r>
              <a:rPr lang="es-MX" sz="135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dosel;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interpolación</a:t>
            </a:r>
            <a:r>
              <a:rPr lang="es-MX" sz="1350" spc="-9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25">
                <a:solidFill>
                  <a:schemeClr val="tx1"/>
                </a:solidFill>
                <a:latin typeface="Arial"/>
                <a:cs typeface="Arial"/>
              </a:rPr>
              <a:t>del </a:t>
            </a: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terreno.</a:t>
            </a:r>
            <a:endParaRPr lang="es-MX" sz="135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655940" y="1547824"/>
            <a:ext cx="1960245" cy="3341370"/>
            <a:chOff x="7655940" y="1547824"/>
            <a:chExt cx="1960245" cy="3341370"/>
          </a:xfrm>
        </p:grpSpPr>
        <p:sp>
          <p:nvSpPr>
            <p:cNvPr id="36" name="object 36"/>
            <p:cNvSpPr/>
            <p:nvPr/>
          </p:nvSpPr>
          <p:spPr>
            <a:xfrm>
              <a:off x="7662240" y="1554124"/>
              <a:ext cx="1948180" cy="3328670"/>
            </a:xfrm>
            <a:custGeom>
              <a:avLst/>
              <a:gdLst/>
              <a:ahLst/>
              <a:cxnLst/>
              <a:rect l="l" t="t" r="r" b="b"/>
              <a:pathLst>
                <a:path w="1948179" h="3328670">
                  <a:moveTo>
                    <a:pt x="187416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255479"/>
                  </a:lnTo>
                  <a:lnTo>
                    <a:pt x="594" y="3264750"/>
                  </a:lnTo>
                  <a:lnTo>
                    <a:pt x="607" y="3264956"/>
                  </a:lnTo>
                  <a:lnTo>
                    <a:pt x="2394" y="3274152"/>
                  </a:lnTo>
                  <a:lnTo>
                    <a:pt x="2428" y="3274331"/>
                  </a:lnTo>
                  <a:lnTo>
                    <a:pt x="5412" y="3283215"/>
                  </a:lnTo>
                  <a:lnTo>
                    <a:pt x="36360" y="3318840"/>
                  </a:lnTo>
                  <a:lnTo>
                    <a:pt x="73075" y="3328555"/>
                  </a:lnTo>
                  <a:lnTo>
                    <a:pt x="1874520" y="3328200"/>
                  </a:lnTo>
                  <a:lnTo>
                    <a:pt x="1918897" y="3313096"/>
                  </a:lnTo>
                  <a:lnTo>
                    <a:pt x="1942054" y="3283370"/>
                  </a:lnTo>
                  <a:lnTo>
                    <a:pt x="1942130" y="3283215"/>
                  </a:lnTo>
                  <a:lnTo>
                    <a:pt x="1945106" y="3274331"/>
                  </a:lnTo>
                  <a:lnTo>
                    <a:pt x="1945166" y="3274152"/>
                  </a:lnTo>
                  <a:lnTo>
                    <a:pt x="1946948" y="3264956"/>
                  </a:lnTo>
                  <a:lnTo>
                    <a:pt x="1946988" y="3264750"/>
                  </a:lnTo>
                  <a:lnTo>
                    <a:pt x="1947572" y="3255479"/>
                  </a:lnTo>
                  <a:lnTo>
                    <a:pt x="1947595" y="3255111"/>
                  </a:lnTo>
                  <a:lnTo>
                    <a:pt x="1947240" y="73075"/>
                  </a:lnTo>
                  <a:lnTo>
                    <a:pt x="1932141" y="28698"/>
                  </a:lnTo>
                  <a:lnTo>
                    <a:pt x="1893193" y="2428"/>
                  </a:lnTo>
                  <a:lnTo>
                    <a:pt x="1883796" y="607"/>
                  </a:lnTo>
                  <a:lnTo>
                    <a:pt x="187416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62240" y="1554124"/>
              <a:ext cx="1948180" cy="3328670"/>
            </a:xfrm>
            <a:custGeom>
              <a:avLst/>
              <a:gdLst/>
              <a:ahLst/>
              <a:cxnLst/>
              <a:rect l="l" t="t" r="r" b="b"/>
              <a:pathLst>
                <a:path w="1948179" h="332867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1874164" y="0"/>
                  </a:lnTo>
                  <a:lnTo>
                    <a:pt x="1918684" y="15096"/>
                  </a:lnTo>
                  <a:lnTo>
                    <a:pt x="1944811" y="54219"/>
                  </a:lnTo>
                  <a:lnTo>
                    <a:pt x="1947240" y="73075"/>
                  </a:lnTo>
                  <a:lnTo>
                    <a:pt x="1947595" y="3255111"/>
                  </a:lnTo>
                  <a:lnTo>
                    <a:pt x="1946988" y="3264750"/>
                  </a:lnTo>
                  <a:lnTo>
                    <a:pt x="1945166" y="3274152"/>
                  </a:lnTo>
                  <a:lnTo>
                    <a:pt x="1918897" y="3313096"/>
                  </a:lnTo>
                  <a:lnTo>
                    <a:pt x="1874520" y="3328200"/>
                  </a:lnTo>
                  <a:lnTo>
                    <a:pt x="73075" y="3328555"/>
                  </a:lnTo>
                  <a:lnTo>
                    <a:pt x="28555" y="3313451"/>
                  </a:lnTo>
                  <a:lnTo>
                    <a:pt x="2428" y="3274331"/>
                  </a:lnTo>
                  <a:lnTo>
                    <a:pt x="0" y="325547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62240" y="1554124"/>
              <a:ext cx="1947545" cy="603250"/>
            </a:xfrm>
            <a:custGeom>
              <a:avLst/>
              <a:gdLst/>
              <a:ahLst/>
              <a:cxnLst/>
              <a:rect l="l" t="t" r="r" b="b"/>
              <a:pathLst>
                <a:path w="1947545" h="603250">
                  <a:moveTo>
                    <a:pt x="1947240" y="0"/>
                  </a:moveTo>
                  <a:lnTo>
                    <a:pt x="0" y="0"/>
                  </a:lnTo>
                  <a:lnTo>
                    <a:pt x="0" y="602995"/>
                  </a:lnTo>
                  <a:lnTo>
                    <a:pt x="973797" y="602995"/>
                  </a:lnTo>
                  <a:lnTo>
                    <a:pt x="1947240" y="602995"/>
                  </a:lnTo>
                  <a:lnTo>
                    <a:pt x="194724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264779" y="1666697"/>
            <a:ext cx="7435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900" b="1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ATL08</a:t>
            </a:r>
            <a:endParaRPr lang="es-ES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63738" y="2319020"/>
            <a:ext cx="1545590" cy="4224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4055" marR="5080" indent="-681990">
              <a:lnSpc>
                <a:spcPct val="102200"/>
              </a:lnSpc>
              <a:spcBef>
                <a:spcPts val="95"/>
              </a:spcBef>
            </a:pPr>
            <a:r>
              <a:rPr lang="es-ES" sz="1350" b="1">
                <a:solidFill>
                  <a:srgbClr val="1D4938"/>
                </a:solidFill>
                <a:latin typeface="Arial"/>
                <a:cs typeface="Arial"/>
              </a:rPr>
              <a:t>segmentos</a:t>
            </a:r>
            <a:r>
              <a:rPr lang="es-ES" sz="1350" b="1" spc="8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350" b="1">
                <a:solidFill>
                  <a:srgbClr val="1D4938"/>
                </a:solidFill>
                <a:latin typeface="Arial"/>
                <a:cs typeface="Arial"/>
              </a:rPr>
              <a:t>de</a:t>
            </a:r>
            <a:r>
              <a:rPr lang="es-ES" sz="1350" b="1" spc="8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350" b="1" spc="-25">
                <a:solidFill>
                  <a:srgbClr val="1D4938"/>
                </a:solidFill>
                <a:latin typeface="Arial"/>
                <a:cs typeface="Arial"/>
              </a:rPr>
              <a:t>100 </a:t>
            </a:r>
            <a:r>
              <a:rPr lang="es-ES" sz="1350" b="1" spc="-50">
                <a:solidFill>
                  <a:srgbClr val="1D4938"/>
                </a:solidFill>
                <a:latin typeface="Arial"/>
                <a:cs typeface="Arial"/>
              </a:rPr>
              <a:t>m</a:t>
            </a:r>
            <a:endParaRPr lang="es-ES" sz="13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78864" y="3076816"/>
            <a:ext cx="1513840" cy="105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s-ES" sz="1350">
                <a:solidFill>
                  <a:schemeClr val="tx1"/>
                </a:solidFill>
                <a:latin typeface="Arial"/>
                <a:cs typeface="Arial"/>
              </a:rPr>
              <a:t>Altura</a:t>
            </a:r>
            <a:r>
              <a:rPr lang="es-ES" sz="135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5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ES" sz="13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50" spc="-10">
                <a:solidFill>
                  <a:schemeClr val="tx1"/>
                </a:solidFill>
                <a:latin typeface="Arial"/>
                <a:cs typeface="Arial"/>
              </a:rPr>
              <a:t>terreno, h_canopy, h_max_canopy, </a:t>
            </a:r>
            <a:r>
              <a:rPr lang="es-ES" sz="1350">
                <a:solidFill>
                  <a:schemeClr val="tx1"/>
                </a:solidFill>
                <a:latin typeface="Arial"/>
                <a:cs typeface="Arial"/>
              </a:rPr>
              <a:t>cobertura,</a:t>
            </a:r>
            <a:r>
              <a:rPr lang="es-ES" sz="1350" spc="-6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50">
                <a:solidFill>
                  <a:schemeClr val="tx1"/>
                </a:solidFill>
                <a:latin typeface="Arial"/>
                <a:cs typeface="Arial"/>
              </a:rPr>
              <a:t>calidad</a:t>
            </a:r>
            <a:r>
              <a:rPr lang="es-ES" sz="1350" spc="-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50" spc="-50">
                <a:solidFill>
                  <a:schemeClr val="tx1"/>
                </a:solidFill>
                <a:latin typeface="Arial"/>
                <a:cs typeface="Arial"/>
              </a:rPr>
              <a:t>y </a:t>
            </a:r>
            <a:r>
              <a:rPr lang="es-ES" sz="1350">
                <a:solidFill>
                  <a:schemeClr val="tx1"/>
                </a:solidFill>
                <a:latin typeface="Arial"/>
                <a:cs typeface="Arial"/>
              </a:rPr>
              <a:t>atributos</a:t>
            </a:r>
            <a:r>
              <a:rPr lang="es-ES" sz="1350" spc="-6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350" spc="-10">
                <a:solidFill>
                  <a:schemeClr val="tx1"/>
                </a:solidFill>
                <a:latin typeface="Arial"/>
                <a:cs typeface="Arial"/>
              </a:rPr>
              <a:t>auxiliares.</a:t>
            </a:r>
            <a:endParaRPr lang="es-ES" sz="135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988015" y="1547824"/>
            <a:ext cx="1521460" cy="3341370"/>
            <a:chOff x="9988015" y="1547824"/>
            <a:chExt cx="1521460" cy="3341370"/>
          </a:xfrm>
        </p:grpSpPr>
        <p:sp>
          <p:nvSpPr>
            <p:cNvPr id="46" name="object 46"/>
            <p:cNvSpPr/>
            <p:nvPr/>
          </p:nvSpPr>
          <p:spPr>
            <a:xfrm>
              <a:off x="9994315" y="1554124"/>
              <a:ext cx="1508760" cy="3328670"/>
            </a:xfrm>
            <a:custGeom>
              <a:avLst/>
              <a:gdLst/>
              <a:ahLst/>
              <a:cxnLst/>
              <a:rect l="l" t="t" r="r" b="b"/>
              <a:pathLst>
                <a:path w="1508759" h="3328670">
                  <a:moveTo>
                    <a:pt x="143532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255479"/>
                  </a:lnTo>
                  <a:lnTo>
                    <a:pt x="5417" y="3283215"/>
                  </a:lnTo>
                  <a:lnTo>
                    <a:pt x="5470" y="3283370"/>
                  </a:lnTo>
                  <a:lnTo>
                    <a:pt x="36360" y="3318840"/>
                  </a:lnTo>
                  <a:lnTo>
                    <a:pt x="73088" y="3328555"/>
                  </a:lnTo>
                  <a:lnTo>
                    <a:pt x="1435684" y="3328200"/>
                  </a:lnTo>
                  <a:lnTo>
                    <a:pt x="1480061" y="3313096"/>
                  </a:lnTo>
                  <a:lnTo>
                    <a:pt x="1503218" y="3283370"/>
                  </a:lnTo>
                  <a:lnTo>
                    <a:pt x="1503295" y="3283215"/>
                  </a:lnTo>
                  <a:lnTo>
                    <a:pt x="1506271" y="3274331"/>
                  </a:lnTo>
                  <a:lnTo>
                    <a:pt x="1506331" y="3274152"/>
                  </a:lnTo>
                  <a:lnTo>
                    <a:pt x="1508112" y="3264956"/>
                  </a:lnTo>
                  <a:lnTo>
                    <a:pt x="1508152" y="3264750"/>
                  </a:lnTo>
                  <a:lnTo>
                    <a:pt x="1508736" y="3255479"/>
                  </a:lnTo>
                  <a:lnTo>
                    <a:pt x="1508760" y="3255111"/>
                  </a:lnTo>
                  <a:lnTo>
                    <a:pt x="1508404" y="73075"/>
                  </a:lnTo>
                  <a:lnTo>
                    <a:pt x="1493305" y="28698"/>
                  </a:lnTo>
                  <a:lnTo>
                    <a:pt x="1454357" y="2428"/>
                  </a:lnTo>
                  <a:lnTo>
                    <a:pt x="1444960" y="607"/>
                  </a:lnTo>
                  <a:lnTo>
                    <a:pt x="143532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994315" y="1554124"/>
              <a:ext cx="1508760" cy="3328670"/>
            </a:xfrm>
            <a:custGeom>
              <a:avLst/>
              <a:gdLst/>
              <a:ahLst/>
              <a:cxnLst/>
              <a:rect l="l" t="t" r="r" b="b"/>
              <a:pathLst>
                <a:path w="1508759" h="3328670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1435328" y="0"/>
                  </a:lnTo>
                  <a:lnTo>
                    <a:pt x="1479849" y="15096"/>
                  </a:lnTo>
                  <a:lnTo>
                    <a:pt x="1505975" y="54219"/>
                  </a:lnTo>
                  <a:lnTo>
                    <a:pt x="1508404" y="73075"/>
                  </a:lnTo>
                  <a:lnTo>
                    <a:pt x="1508760" y="3255111"/>
                  </a:lnTo>
                  <a:lnTo>
                    <a:pt x="1508152" y="3264750"/>
                  </a:lnTo>
                  <a:lnTo>
                    <a:pt x="1506331" y="3274152"/>
                  </a:lnTo>
                  <a:lnTo>
                    <a:pt x="1480061" y="3313096"/>
                  </a:lnTo>
                  <a:lnTo>
                    <a:pt x="1435684" y="3328200"/>
                  </a:lnTo>
                  <a:lnTo>
                    <a:pt x="73088" y="3328555"/>
                  </a:lnTo>
                  <a:lnTo>
                    <a:pt x="28555" y="3313451"/>
                  </a:lnTo>
                  <a:lnTo>
                    <a:pt x="2430" y="3274331"/>
                  </a:lnTo>
                  <a:lnTo>
                    <a:pt x="0" y="325547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994315" y="1554124"/>
              <a:ext cx="1508760" cy="603250"/>
            </a:xfrm>
            <a:custGeom>
              <a:avLst/>
              <a:gdLst/>
              <a:ahLst/>
              <a:cxnLst/>
              <a:rect l="l" t="t" r="r" b="b"/>
              <a:pathLst>
                <a:path w="1508759" h="603250">
                  <a:moveTo>
                    <a:pt x="1508404" y="0"/>
                  </a:moveTo>
                  <a:lnTo>
                    <a:pt x="0" y="0"/>
                  </a:lnTo>
                  <a:lnTo>
                    <a:pt x="0" y="602995"/>
                  </a:lnTo>
                  <a:lnTo>
                    <a:pt x="754202" y="602995"/>
                  </a:lnTo>
                  <a:lnTo>
                    <a:pt x="1508404" y="602995"/>
                  </a:lnTo>
                  <a:lnTo>
                    <a:pt x="1508404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0158018" y="1674621"/>
            <a:ext cx="1179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Aplicación</a:t>
            </a:r>
            <a:endParaRPr lang="es-E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239375" y="2319020"/>
            <a:ext cx="1018540" cy="4224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5890">
              <a:lnSpc>
                <a:spcPct val="102200"/>
              </a:lnSpc>
              <a:spcBef>
                <a:spcPts val="95"/>
              </a:spcBef>
            </a:pPr>
            <a:r>
              <a:rPr lang="es-ES" sz="1350" b="1" spc="-10">
                <a:solidFill>
                  <a:srgbClr val="C3862D"/>
                </a:solidFill>
                <a:latin typeface="Arial"/>
                <a:cs typeface="Arial"/>
              </a:rPr>
              <a:t>modelos multisensor</a:t>
            </a:r>
            <a:endParaRPr lang="es-ES" sz="13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290505" y="3076816"/>
            <a:ext cx="916940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Validación, biomasa, </a:t>
            </a:r>
            <a:r>
              <a:rPr lang="es-MX" sz="1350">
                <a:solidFill>
                  <a:schemeClr val="tx1"/>
                </a:solidFill>
                <a:latin typeface="Arial"/>
                <a:cs typeface="Arial"/>
              </a:rPr>
              <a:t>estructura</a:t>
            </a:r>
            <a:r>
              <a:rPr lang="es-MX" sz="1350" spc="-7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350" spc="-50">
                <a:solidFill>
                  <a:schemeClr val="tx1"/>
                </a:solidFill>
                <a:latin typeface="Arial"/>
                <a:cs typeface="Arial"/>
              </a:rPr>
              <a:t>y </a:t>
            </a:r>
            <a:r>
              <a:rPr lang="es-MX" sz="1350" spc="-10">
                <a:solidFill>
                  <a:schemeClr val="tx1"/>
                </a:solidFill>
                <a:latin typeface="Arial"/>
                <a:cs typeface="Arial"/>
              </a:rPr>
              <a:t>cambio.</a:t>
            </a:r>
            <a:endParaRPr lang="es-MX" sz="135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074060" y="5252576"/>
            <a:ext cx="10113645" cy="686435"/>
            <a:chOff x="1074060" y="5252576"/>
            <a:chExt cx="10113645" cy="686435"/>
          </a:xfrm>
        </p:grpSpPr>
        <p:sp>
          <p:nvSpPr>
            <p:cNvPr id="53" name="object 53"/>
            <p:cNvSpPr/>
            <p:nvPr/>
          </p:nvSpPr>
          <p:spPr>
            <a:xfrm>
              <a:off x="1078560" y="5257076"/>
              <a:ext cx="10104755" cy="677545"/>
            </a:xfrm>
            <a:custGeom>
              <a:avLst/>
              <a:gdLst/>
              <a:ahLst/>
              <a:cxnLst/>
              <a:rect l="l" t="t" r="r" b="b"/>
              <a:pathLst>
                <a:path w="10104755" h="677545">
                  <a:moveTo>
                    <a:pt x="64439" y="0"/>
                  </a:moveTo>
                  <a:lnTo>
                    <a:pt x="25402" y="13364"/>
                  </a:lnTo>
                  <a:lnTo>
                    <a:pt x="2517" y="47520"/>
                  </a:lnTo>
                  <a:lnTo>
                    <a:pt x="0" y="613079"/>
                  </a:lnTo>
                  <a:lnTo>
                    <a:pt x="540" y="621429"/>
                  </a:lnTo>
                  <a:lnTo>
                    <a:pt x="18737" y="658310"/>
                  </a:lnTo>
                  <a:lnTo>
                    <a:pt x="55734" y="676623"/>
                  </a:lnTo>
                  <a:lnTo>
                    <a:pt x="64084" y="677164"/>
                  </a:lnTo>
                  <a:lnTo>
                    <a:pt x="10040404" y="677164"/>
                  </a:lnTo>
                  <a:lnTo>
                    <a:pt x="10079435" y="663806"/>
                  </a:lnTo>
                  <a:lnTo>
                    <a:pt x="10102319" y="629643"/>
                  </a:lnTo>
                  <a:lnTo>
                    <a:pt x="10104475" y="613079"/>
                  </a:lnTo>
                  <a:lnTo>
                    <a:pt x="10104452" y="64084"/>
                  </a:lnTo>
                  <a:lnTo>
                    <a:pt x="10091117" y="25402"/>
                  </a:lnTo>
                  <a:lnTo>
                    <a:pt x="10056956" y="2524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78560" y="5257076"/>
              <a:ext cx="10104755" cy="677545"/>
            </a:xfrm>
            <a:custGeom>
              <a:avLst/>
              <a:gdLst/>
              <a:ahLst/>
              <a:cxnLst/>
              <a:rect l="l" t="t" r="r" b="b"/>
              <a:pathLst>
                <a:path w="10104755" h="677545">
                  <a:moveTo>
                    <a:pt x="355" y="64084"/>
                  </a:moveTo>
                  <a:lnTo>
                    <a:pt x="896" y="55734"/>
                  </a:lnTo>
                  <a:lnTo>
                    <a:pt x="2517" y="47520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10040404" y="368"/>
                  </a:lnTo>
                  <a:lnTo>
                    <a:pt x="10079383" y="13570"/>
                  </a:lnTo>
                  <a:lnTo>
                    <a:pt x="10102319" y="47885"/>
                  </a:lnTo>
                  <a:lnTo>
                    <a:pt x="10104475" y="64439"/>
                  </a:lnTo>
                  <a:lnTo>
                    <a:pt x="10104475" y="613079"/>
                  </a:lnTo>
                  <a:lnTo>
                    <a:pt x="10103937" y="621429"/>
                  </a:lnTo>
                  <a:lnTo>
                    <a:pt x="10102319" y="629643"/>
                  </a:lnTo>
                  <a:lnTo>
                    <a:pt x="10079435" y="663806"/>
                  </a:lnTo>
                  <a:lnTo>
                    <a:pt x="10040404" y="677164"/>
                  </a:lnTo>
                  <a:lnTo>
                    <a:pt x="64084" y="677164"/>
                  </a:lnTo>
                  <a:lnTo>
                    <a:pt x="25091" y="663956"/>
                  </a:lnTo>
                  <a:lnTo>
                    <a:pt x="2160" y="629643"/>
                  </a:lnTo>
                  <a:lnTo>
                    <a:pt x="0" y="61307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78915" y="5257444"/>
              <a:ext cx="82550" cy="676910"/>
            </a:xfrm>
            <a:custGeom>
              <a:avLst/>
              <a:gdLst/>
              <a:ahLst/>
              <a:cxnLst/>
              <a:rect l="l" t="t" r="r" b="b"/>
              <a:pathLst>
                <a:path w="82550" h="676910">
                  <a:moveTo>
                    <a:pt x="82080" y="0"/>
                  </a:moveTo>
                  <a:lnTo>
                    <a:pt x="0" y="0"/>
                  </a:lnTo>
                  <a:lnTo>
                    <a:pt x="0" y="676440"/>
                  </a:lnTo>
                  <a:lnTo>
                    <a:pt x="41046" y="676440"/>
                  </a:lnTo>
                  <a:lnTo>
                    <a:pt x="82080" y="67644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340904" y="5355971"/>
            <a:ext cx="967867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2665" marR="5080" indent="-2260600">
              <a:lnSpc>
                <a:spcPct val="100000"/>
              </a:lnSpc>
              <a:spcBef>
                <a:spcPts val="100"/>
              </a:spcBef>
            </a:pPr>
            <a:r>
              <a:rPr lang="es-MX" sz="1550" b="1" spc="-25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10">
                <a:solidFill>
                  <a:srgbClr val="1F2F28"/>
                </a:solidFill>
                <a:latin typeface="Arial"/>
                <a:cs typeface="Arial"/>
              </a:rPr>
              <a:t>reemplaza</a:t>
            </a:r>
            <a:r>
              <a:rPr lang="es-MX" sz="1550" b="1" spc="-9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20">
                <a:solidFill>
                  <a:srgbClr val="1F2F28"/>
                </a:solidFill>
                <a:latin typeface="Arial"/>
                <a:cs typeface="Arial"/>
              </a:rPr>
              <a:t>ATL03: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resume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clasifica.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Para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revisar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fotones,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sesgos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clasificación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o</a:t>
            </a:r>
            <a:r>
              <a:rPr lang="es-MX" sz="155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10">
                <a:solidFill>
                  <a:srgbClr val="1F2F28"/>
                </a:solidFill>
                <a:latin typeface="Arial"/>
                <a:cs typeface="Arial"/>
              </a:rPr>
              <a:t>escenas complejas,</a:t>
            </a:r>
            <a:r>
              <a:rPr lang="es-MX" sz="1550" b="1" spc="-9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25">
                <a:solidFill>
                  <a:srgbClr val="1F2F28"/>
                </a:solidFill>
                <a:latin typeface="Arial"/>
                <a:cs typeface="Arial"/>
              </a:rPr>
              <a:t>ATL03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sigue</a:t>
            </a:r>
            <a:r>
              <a:rPr lang="es-MX" sz="155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siendo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55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referencia</a:t>
            </a:r>
            <a:r>
              <a:rPr lang="es-MX" sz="15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55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50" b="1" spc="-10">
                <a:solidFill>
                  <a:srgbClr val="1F2F28"/>
                </a:solidFill>
                <a:latin typeface="Arial"/>
                <a:cs typeface="Arial"/>
              </a:rPr>
              <a:t>detalle.</a:t>
            </a:r>
            <a:endParaRPr lang="es-MX" sz="1550">
              <a:latin typeface="Arial"/>
              <a:cs typeface="Arial"/>
            </a:endParaRPr>
          </a:p>
        </p:txBody>
      </p:sp>
      <p:sp>
        <p:nvSpPr>
          <p:cNvPr id="62" name="Flecha: a la derecha 61">
            <a:extLst>
              <a:ext uri="{FF2B5EF4-FFF2-40B4-BE49-F238E27FC236}">
                <a16:creationId xmlns:a16="http://schemas.microsoft.com/office/drawing/2014/main" id="{7736060A-13C5-FA10-F39D-4C08AED831FA}"/>
              </a:ext>
            </a:extLst>
          </p:cNvPr>
          <p:cNvSpPr/>
          <p:nvPr/>
        </p:nvSpPr>
        <p:spPr>
          <a:xfrm>
            <a:off x="2667000" y="3091217"/>
            <a:ext cx="273913" cy="2545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4" name="Flecha: a la derecha 63">
            <a:extLst>
              <a:ext uri="{FF2B5EF4-FFF2-40B4-BE49-F238E27FC236}">
                <a16:creationId xmlns:a16="http://schemas.microsoft.com/office/drawing/2014/main" id="{D7542E8B-1ECB-5B15-03E3-C035EB2B7A4B}"/>
              </a:ext>
            </a:extLst>
          </p:cNvPr>
          <p:cNvSpPr/>
          <p:nvPr/>
        </p:nvSpPr>
        <p:spPr>
          <a:xfrm>
            <a:off x="5027963" y="3091217"/>
            <a:ext cx="273913" cy="2545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Flecha: a la derecha 66">
            <a:extLst>
              <a:ext uri="{FF2B5EF4-FFF2-40B4-BE49-F238E27FC236}">
                <a16:creationId xmlns:a16="http://schemas.microsoft.com/office/drawing/2014/main" id="{9F524AA6-CDDF-6A33-2E5B-00A44855DA96}"/>
              </a:ext>
            </a:extLst>
          </p:cNvPr>
          <p:cNvSpPr/>
          <p:nvPr/>
        </p:nvSpPr>
        <p:spPr>
          <a:xfrm>
            <a:off x="7359683" y="3091217"/>
            <a:ext cx="273913" cy="2545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F219E754-5646-12CE-2766-A1E35DBC1848}"/>
              </a:ext>
            </a:extLst>
          </p:cNvPr>
          <p:cNvSpPr/>
          <p:nvPr/>
        </p:nvSpPr>
        <p:spPr>
          <a:xfrm>
            <a:off x="9679122" y="3091217"/>
            <a:ext cx="273913" cy="25458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71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72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10/43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Qué</a:t>
            </a:r>
            <a:r>
              <a:rPr spc="-75"/>
              <a:t> </a:t>
            </a:r>
            <a:r>
              <a:rPr spc="-10"/>
              <a:t>contiene</a:t>
            </a:r>
            <a:r>
              <a:rPr spc="-160"/>
              <a:t> </a:t>
            </a:r>
            <a:r>
              <a:rPr spc="-20"/>
              <a:t>ATL08</a:t>
            </a:r>
            <a:r>
              <a:rPr spc="-70"/>
              <a:t> </a:t>
            </a:r>
            <a:r>
              <a:rPr spc="-20"/>
              <a:t>V007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92544" y="1371599"/>
            <a:ext cx="2542540" cy="2148840"/>
            <a:chOff x="640080" y="1371599"/>
            <a:chExt cx="2542540" cy="214884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40080" y="1371599"/>
              <a:ext cx="2542540" cy="2148840"/>
            </a:xfrm>
            <a:custGeom>
              <a:avLst/>
              <a:gdLst/>
              <a:ahLst/>
              <a:cxnLst/>
              <a:rect l="l" t="t" r="r" b="b"/>
              <a:pathLst>
                <a:path w="2542540" h="2148840">
                  <a:moveTo>
                    <a:pt x="246852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5412" y="2103499"/>
                  </a:lnTo>
                  <a:lnTo>
                    <a:pt x="5464" y="2103655"/>
                  </a:lnTo>
                  <a:lnTo>
                    <a:pt x="9715" y="2112124"/>
                  </a:lnTo>
                  <a:lnTo>
                    <a:pt x="44984" y="2143375"/>
                  </a:lnTo>
                  <a:lnTo>
                    <a:pt x="73075" y="2148840"/>
                  </a:lnTo>
                  <a:lnTo>
                    <a:pt x="2468880" y="2148484"/>
                  </a:lnTo>
                  <a:lnTo>
                    <a:pt x="2513257" y="2133380"/>
                  </a:lnTo>
                  <a:lnTo>
                    <a:pt x="2539466" y="2094615"/>
                  </a:lnTo>
                  <a:lnTo>
                    <a:pt x="2539526" y="2094436"/>
                  </a:lnTo>
                  <a:lnTo>
                    <a:pt x="2541308" y="2085240"/>
                  </a:lnTo>
                  <a:lnTo>
                    <a:pt x="2541348" y="2085035"/>
                  </a:lnTo>
                  <a:lnTo>
                    <a:pt x="2541932" y="2075764"/>
                  </a:lnTo>
                  <a:lnTo>
                    <a:pt x="2541600" y="73075"/>
                  </a:lnTo>
                  <a:lnTo>
                    <a:pt x="2526501" y="28705"/>
                  </a:lnTo>
                  <a:lnTo>
                    <a:pt x="2487553" y="2428"/>
                  </a:lnTo>
                  <a:lnTo>
                    <a:pt x="2478156" y="607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80" y="1371599"/>
              <a:ext cx="2542540" cy="2148840"/>
            </a:xfrm>
            <a:custGeom>
              <a:avLst/>
              <a:gdLst/>
              <a:ahLst/>
              <a:cxnLst/>
              <a:rect l="l" t="t" r="r" b="b"/>
              <a:pathLst>
                <a:path w="2542540" h="21488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68524" y="0"/>
                  </a:lnTo>
                  <a:lnTo>
                    <a:pt x="2513044" y="15104"/>
                  </a:lnTo>
                  <a:lnTo>
                    <a:pt x="2539171" y="54224"/>
                  </a:lnTo>
                  <a:lnTo>
                    <a:pt x="2541600" y="73075"/>
                  </a:lnTo>
                  <a:lnTo>
                    <a:pt x="2541955" y="2075395"/>
                  </a:lnTo>
                  <a:lnTo>
                    <a:pt x="2541348" y="2085035"/>
                  </a:lnTo>
                  <a:lnTo>
                    <a:pt x="2539526" y="2094436"/>
                  </a:lnTo>
                  <a:lnTo>
                    <a:pt x="2513257" y="2133380"/>
                  </a:lnTo>
                  <a:lnTo>
                    <a:pt x="2468880" y="2148484"/>
                  </a:lnTo>
                  <a:lnTo>
                    <a:pt x="73075" y="2148840"/>
                  </a:lnTo>
                  <a:lnTo>
                    <a:pt x="28555" y="2133735"/>
                  </a:lnTo>
                  <a:lnTo>
                    <a:pt x="2428" y="2094615"/>
                  </a:lnTo>
                  <a:lnTo>
                    <a:pt x="0" y="207576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73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08760" y="1627555"/>
              <a:ext cx="805180" cy="805180"/>
            </a:xfrm>
            <a:custGeom>
              <a:avLst/>
              <a:gdLst/>
              <a:ahLst/>
              <a:cxnLst/>
              <a:rect l="l" t="t" r="r" b="b"/>
              <a:pathLst>
                <a:path w="805180" h="805180">
                  <a:moveTo>
                    <a:pt x="402475" y="0"/>
                  </a:moveTo>
                  <a:lnTo>
                    <a:pt x="349721" y="3420"/>
                  </a:lnTo>
                  <a:lnTo>
                    <a:pt x="298216" y="13592"/>
                  </a:lnTo>
                  <a:lnTo>
                    <a:pt x="248533" y="30378"/>
                  </a:lnTo>
                  <a:lnTo>
                    <a:pt x="201244" y="53644"/>
                  </a:lnTo>
                  <a:lnTo>
                    <a:pt x="157379" y="82929"/>
                  </a:lnTo>
                  <a:lnTo>
                    <a:pt x="117902" y="117546"/>
                  </a:lnTo>
                  <a:lnTo>
                    <a:pt x="83284" y="157023"/>
                  </a:lnTo>
                  <a:lnTo>
                    <a:pt x="54000" y="200888"/>
                  </a:lnTo>
                  <a:lnTo>
                    <a:pt x="30678" y="248227"/>
                  </a:lnTo>
                  <a:lnTo>
                    <a:pt x="13769" y="297994"/>
                  </a:lnTo>
                  <a:lnTo>
                    <a:pt x="3476" y="349516"/>
                  </a:lnTo>
                  <a:lnTo>
                    <a:pt x="0" y="402120"/>
                  </a:lnTo>
                  <a:lnTo>
                    <a:pt x="3476" y="454726"/>
                  </a:lnTo>
                  <a:lnTo>
                    <a:pt x="13769" y="506252"/>
                  </a:lnTo>
                  <a:lnTo>
                    <a:pt x="30678" y="556023"/>
                  </a:lnTo>
                  <a:lnTo>
                    <a:pt x="54000" y="603364"/>
                  </a:lnTo>
                  <a:lnTo>
                    <a:pt x="83284" y="647229"/>
                  </a:lnTo>
                  <a:lnTo>
                    <a:pt x="117902" y="686706"/>
                  </a:lnTo>
                  <a:lnTo>
                    <a:pt x="157379" y="721323"/>
                  </a:lnTo>
                  <a:lnTo>
                    <a:pt x="201244" y="750608"/>
                  </a:lnTo>
                  <a:lnTo>
                    <a:pt x="248533" y="773929"/>
                  </a:lnTo>
                  <a:lnTo>
                    <a:pt x="298216" y="790838"/>
                  </a:lnTo>
                  <a:lnTo>
                    <a:pt x="349721" y="801132"/>
                  </a:lnTo>
                  <a:lnTo>
                    <a:pt x="402475" y="804608"/>
                  </a:lnTo>
                  <a:lnTo>
                    <a:pt x="455026" y="801132"/>
                  </a:lnTo>
                  <a:lnTo>
                    <a:pt x="506429" y="790838"/>
                  </a:lnTo>
                  <a:lnTo>
                    <a:pt x="556078" y="773929"/>
                  </a:lnTo>
                  <a:lnTo>
                    <a:pt x="603364" y="750608"/>
                  </a:lnTo>
                  <a:lnTo>
                    <a:pt x="647227" y="721323"/>
                  </a:lnTo>
                  <a:lnTo>
                    <a:pt x="686700" y="686706"/>
                  </a:lnTo>
                  <a:lnTo>
                    <a:pt x="721312" y="647229"/>
                  </a:lnTo>
                  <a:lnTo>
                    <a:pt x="750595" y="603364"/>
                  </a:lnTo>
                  <a:lnTo>
                    <a:pt x="773916" y="556023"/>
                  </a:lnTo>
                  <a:lnTo>
                    <a:pt x="790825" y="506252"/>
                  </a:lnTo>
                  <a:lnTo>
                    <a:pt x="801119" y="454726"/>
                  </a:lnTo>
                  <a:lnTo>
                    <a:pt x="804595" y="402120"/>
                  </a:lnTo>
                  <a:lnTo>
                    <a:pt x="801119" y="349516"/>
                  </a:lnTo>
                  <a:lnTo>
                    <a:pt x="790825" y="297994"/>
                  </a:lnTo>
                  <a:lnTo>
                    <a:pt x="773916" y="248227"/>
                  </a:lnTo>
                  <a:lnTo>
                    <a:pt x="750595" y="200888"/>
                  </a:lnTo>
                  <a:lnTo>
                    <a:pt x="721312" y="157023"/>
                  </a:lnTo>
                  <a:lnTo>
                    <a:pt x="686700" y="117546"/>
                  </a:lnTo>
                  <a:lnTo>
                    <a:pt x="647227" y="82929"/>
                  </a:lnTo>
                  <a:lnTo>
                    <a:pt x="603364" y="53644"/>
                  </a:lnTo>
                  <a:lnTo>
                    <a:pt x="556078" y="30378"/>
                  </a:lnTo>
                  <a:lnTo>
                    <a:pt x="506429" y="13592"/>
                  </a:lnTo>
                  <a:lnTo>
                    <a:pt x="455026" y="3420"/>
                  </a:lnTo>
                  <a:lnTo>
                    <a:pt x="402475" y="0"/>
                  </a:lnTo>
                  <a:close/>
                </a:path>
              </a:pathLst>
            </a:custGeom>
            <a:solidFill>
              <a:srgbClr val="17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57768" y="1834463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T</a:t>
            </a:r>
            <a:endParaRPr lang="es-ES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7244" y="2433206"/>
            <a:ext cx="1792605" cy="1425206"/>
          </a:xfrm>
          <a:prstGeom prst="rect">
            <a:avLst/>
          </a:prstGeom>
        </p:spPr>
        <p:txBody>
          <a:bodyPr vert="horz" wrap="square" lIns="0" tIns="164465" rIns="0" bIns="0" rtlCol="0">
            <a:normAutofit/>
          </a:bodyPr>
          <a:lstStyle/>
          <a:p>
            <a:pPr marL="2540" algn="ctr">
              <a:lnSpc>
                <a:spcPct val="100000"/>
              </a:lnSpc>
              <a:spcBef>
                <a:spcPts val="1295"/>
              </a:spcBef>
            </a:pPr>
            <a:r>
              <a:rPr lang="es-MX" sz="1900" b="1" spc="-10">
                <a:solidFill>
                  <a:srgbClr val="173A54"/>
                </a:solidFill>
                <a:latin typeface="Arial"/>
                <a:cs typeface="Arial"/>
              </a:rPr>
              <a:t>Terreno</a:t>
            </a:r>
            <a:endParaRPr lang="es-MX" sz="1900">
              <a:latin typeface="Arial"/>
              <a:cs typeface="Arial"/>
            </a:endParaRPr>
          </a:p>
          <a:p>
            <a:pPr marL="12065" marR="5080" algn="ctr">
              <a:lnSpc>
                <a:spcPct val="79900"/>
              </a:lnSpc>
              <a:spcBef>
                <a:spcPts val="1045"/>
              </a:spcBef>
            </a:pPr>
            <a:r>
              <a:rPr lang="es-MX" sz="1200" err="1">
                <a:solidFill>
                  <a:schemeClr val="tx1"/>
                </a:solidFill>
                <a:latin typeface="Arial"/>
                <a:cs typeface="Arial"/>
              </a:rPr>
              <a:t>h_te_mean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es-MX" sz="1200" spc="-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10" err="1">
                <a:solidFill>
                  <a:schemeClr val="tx1"/>
                </a:solidFill>
                <a:latin typeface="Arial"/>
                <a:cs typeface="Arial"/>
              </a:rPr>
              <a:t>h_te_median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pendiente</a:t>
            </a:r>
            <a:r>
              <a:rPr lang="es-MX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calidad</a:t>
            </a:r>
            <a:r>
              <a:rPr lang="es-MX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del 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terreno.</a:t>
            </a:r>
            <a:endParaRPr lang="es-MX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76688" y="1371599"/>
            <a:ext cx="2542540" cy="2148840"/>
            <a:chOff x="3474719" y="1371599"/>
            <a:chExt cx="2542540" cy="214884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2" name="object 12"/>
            <p:cNvSpPr/>
            <p:nvPr/>
          </p:nvSpPr>
          <p:spPr>
            <a:xfrm>
              <a:off x="3474719" y="1371599"/>
              <a:ext cx="2542540" cy="2148840"/>
            </a:xfrm>
            <a:custGeom>
              <a:avLst/>
              <a:gdLst/>
              <a:ahLst/>
              <a:cxnLst/>
              <a:rect l="l" t="t" r="r" b="b"/>
              <a:pathLst>
                <a:path w="2542540" h="2148840">
                  <a:moveTo>
                    <a:pt x="246852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28555" y="2133735"/>
                  </a:lnTo>
                  <a:lnTo>
                    <a:pt x="73075" y="2148840"/>
                  </a:lnTo>
                  <a:lnTo>
                    <a:pt x="2468879" y="2148484"/>
                  </a:lnTo>
                  <a:lnTo>
                    <a:pt x="2513257" y="2133380"/>
                  </a:lnTo>
                  <a:lnTo>
                    <a:pt x="2539466" y="2094615"/>
                  </a:lnTo>
                  <a:lnTo>
                    <a:pt x="2539526" y="2094436"/>
                  </a:lnTo>
                  <a:lnTo>
                    <a:pt x="2541308" y="2085240"/>
                  </a:lnTo>
                  <a:lnTo>
                    <a:pt x="2541348" y="2085035"/>
                  </a:lnTo>
                  <a:lnTo>
                    <a:pt x="2541932" y="2075764"/>
                  </a:lnTo>
                  <a:lnTo>
                    <a:pt x="2541955" y="2075395"/>
                  </a:lnTo>
                  <a:lnTo>
                    <a:pt x="2541600" y="73075"/>
                  </a:lnTo>
                  <a:lnTo>
                    <a:pt x="2526501" y="28705"/>
                  </a:lnTo>
                  <a:lnTo>
                    <a:pt x="2487553" y="2428"/>
                  </a:lnTo>
                  <a:lnTo>
                    <a:pt x="2478156" y="607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4719" y="1371599"/>
              <a:ext cx="2542540" cy="2148840"/>
            </a:xfrm>
            <a:custGeom>
              <a:avLst/>
              <a:gdLst/>
              <a:ahLst/>
              <a:cxnLst/>
              <a:rect l="l" t="t" r="r" b="b"/>
              <a:pathLst>
                <a:path w="2542540" h="21488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68524" y="0"/>
                  </a:lnTo>
                  <a:lnTo>
                    <a:pt x="2513044" y="15104"/>
                  </a:lnTo>
                  <a:lnTo>
                    <a:pt x="2539171" y="54224"/>
                  </a:lnTo>
                  <a:lnTo>
                    <a:pt x="2541600" y="73075"/>
                  </a:lnTo>
                  <a:lnTo>
                    <a:pt x="2541955" y="2075395"/>
                  </a:lnTo>
                  <a:lnTo>
                    <a:pt x="2541348" y="2085035"/>
                  </a:lnTo>
                  <a:lnTo>
                    <a:pt x="2539526" y="2094436"/>
                  </a:lnTo>
                  <a:lnTo>
                    <a:pt x="2513257" y="2133380"/>
                  </a:lnTo>
                  <a:lnTo>
                    <a:pt x="2468879" y="2148484"/>
                  </a:lnTo>
                  <a:lnTo>
                    <a:pt x="73075" y="2148840"/>
                  </a:lnTo>
                  <a:lnTo>
                    <a:pt x="28555" y="2133735"/>
                  </a:lnTo>
                  <a:lnTo>
                    <a:pt x="2428" y="2094615"/>
                  </a:lnTo>
                  <a:lnTo>
                    <a:pt x="0" y="207576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43400" y="1627555"/>
              <a:ext cx="805180" cy="805180"/>
            </a:xfrm>
            <a:custGeom>
              <a:avLst/>
              <a:gdLst/>
              <a:ahLst/>
              <a:cxnLst/>
              <a:rect l="l" t="t" r="r" b="b"/>
              <a:pathLst>
                <a:path w="805179" h="805180">
                  <a:moveTo>
                    <a:pt x="402120" y="0"/>
                  </a:moveTo>
                  <a:lnTo>
                    <a:pt x="349571" y="3420"/>
                  </a:lnTo>
                  <a:lnTo>
                    <a:pt x="298172" y="13592"/>
                  </a:lnTo>
                  <a:lnTo>
                    <a:pt x="248527" y="30378"/>
                  </a:lnTo>
                  <a:lnTo>
                    <a:pt x="201244" y="53644"/>
                  </a:lnTo>
                  <a:lnTo>
                    <a:pt x="157379" y="82929"/>
                  </a:lnTo>
                  <a:lnTo>
                    <a:pt x="117902" y="117546"/>
                  </a:lnTo>
                  <a:lnTo>
                    <a:pt x="83284" y="157023"/>
                  </a:lnTo>
                  <a:lnTo>
                    <a:pt x="54000" y="200888"/>
                  </a:lnTo>
                  <a:lnTo>
                    <a:pt x="30678" y="248227"/>
                  </a:lnTo>
                  <a:lnTo>
                    <a:pt x="13769" y="297994"/>
                  </a:lnTo>
                  <a:lnTo>
                    <a:pt x="3476" y="349516"/>
                  </a:lnTo>
                  <a:lnTo>
                    <a:pt x="0" y="402120"/>
                  </a:lnTo>
                  <a:lnTo>
                    <a:pt x="3476" y="454726"/>
                  </a:lnTo>
                  <a:lnTo>
                    <a:pt x="13769" y="506252"/>
                  </a:lnTo>
                  <a:lnTo>
                    <a:pt x="30678" y="556023"/>
                  </a:lnTo>
                  <a:lnTo>
                    <a:pt x="54000" y="603364"/>
                  </a:lnTo>
                  <a:lnTo>
                    <a:pt x="83284" y="647229"/>
                  </a:lnTo>
                  <a:lnTo>
                    <a:pt x="117902" y="686706"/>
                  </a:lnTo>
                  <a:lnTo>
                    <a:pt x="157379" y="721323"/>
                  </a:lnTo>
                  <a:lnTo>
                    <a:pt x="201244" y="750608"/>
                  </a:lnTo>
                  <a:lnTo>
                    <a:pt x="248527" y="773929"/>
                  </a:lnTo>
                  <a:lnTo>
                    <a:pt x="298172" y="790838"/>
                  </a:lnTo>
                  <a:lnTo>
                    <a:pt x="349571" y="801132"/>
                  </a:lnTo>
                  <a:lnTo>
                    <a:pt x="402120" y="804608"/>
                  </a:lnTo>
                  <a:lnTo>
                    <a:pt x="454876" y="801132"/>
                  </a:lnTo>
                  <a:lnTo>
                    <a:pt x="506385" y="790838"/>
                  </a:lnTo>
                  <a:lnTo>
                    <a:pt x="556073" y="773929"/>
                  </a:lnTo>
                  <a:lnTo>
                    <a:pt x="603364" y="750608"/>
                  </a:lnTo>
                  <a:lnTo>
                    <a:pt x="647227" y="721323"/>
                  </a:lnTo>
                  <a:lnTo>
                    <a:pt x="686700" y="686706"/>
                  </a:lnTo>
                  <a:lnTo>
                    <a:pt x="721312" y="647229"/>
                  </a:lnTo>
                  <a:lnTo>
                    <a:pt x="750595" y="603364"/>
                  </a:lnTo>
                  <a:lnTo>
                    <a:pt x="773916" y="556023"/>
                  </a:lnTo>
                  <a:lnTo>
                    <a:pt x="790825" y="506252"/>
                  </a:lnTo>
                  <a:lnTo>
                    <a:pt x="801119" y="454726"/>
                  </a:lnTo>
                  <a:lnTo>
                    <a:pt x="804595" y="402120"/>
                  </a:lnTo>
                  <a:lnTo>
                    <a:pt x="801119" y="349516"/>
                  </a:lnTo>
                  <a:lnTo>
                    <a:pt x="790825" y="297994"/>
                  </a:lnTo>
                  <a:lnTo>
                    <a:pt x="773916" y="248227"/>
                  </a:lnTo>
                  <a:lnTo>
                    <a:pt x="750595" y="200888"/>
                  </a:lnTo>
                  <a:lnTo>
                    <a:pt x="721312" y="157023"/>
                  </a:lnTo>
                  <a:lnTo>
                    <a:pt x="686700" y="117546"/>
                  </a:lnTo>
                  <a:lnTo>
                    <a:pt x="647227" y="82929"/>
                  </a:lnTo>
                  <a:lnTo>
                    <a:pt x="603364" y="53644"/>
                  </a:lnTo>
                  <a:lnTo>
                    <a:pt x="556073" y="30378"/>
                  </a:lnTo>
                  <a:lnTo>
                    <a:pt x="506385" y="13592"/>
                  </a:lnTo>
                  <a:lnTo>
                    <a:pt x="454876" y="3420"/>
                  </a:lnTo>
                  <a:lnTo>
                    <a:pt x="40212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33265" y="1834463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V</a:t>
            </a:r>
            <a:endParaRPr lang="es-ES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89489" y="2433206"/>
            <a:ext cx="1716405" cy="1425206"/>
          </a:xfrm>
          <a:prstGeom prst="rect">
            <a:avLst/>
          </a:prstGeom>
        </p:spPr>
        <p:txBody>
          <a:bodyPr vert="horz" wrap="square" lIns="0" tIns="164465" rIns="0" bIns="0" rtlCol="0">
            <a:normAutofit/>
          </a:bodyPr>
          <a:lstStyle/>
          <a:p>
            <a:pPr marL="2540" algn="ctr">
              <a:lnSpc>
                <a:spcPct val="100000"/>
              </a:lnSpc>
              <a:spcBef>
                <a:spcPts val="1295"/>
              </a:spcBef>
            </a:pPr>
            <a:r>
              <a:rPr lang="es-MX" sz="1900" b="1" spc="-10">
                <a:solidFill>
                  <a:srgbClr val="2E6A46"/>
                </a:solidFill>
                <a:latin typeface="Arial"/>
                <a:cs typeface="Arial"/>
              </a:rPr>
              <a:t>Vegetación</a:t>
            </a:r>
            <a:endParaRPr lang="es-MX" sz="1900">
              <a:latin typeface="Arial"/>
              <a:cs typeface="Arial"/>
            </a:endParaRPr>
          </a:p>
          <a:p>
            <a:pPr marL="12700" marR="5080" algn="ctr">
              <a:lnSpc>
                <a:spcPct val="79900"/>
              </a:lnSpc>
              <a:spcBef>
                <a:spcPts val="1045"/>
              </a:spcBef>
            </a:pPr>
            <a:r>
              <a:rPr lang="es-MX" sz="1200" err="1">
                <a:solidFill>
                  <a:schemeClr val="tx1"/>
                </a:solidFill>
                <a:latin typeface="Arial"/>
                <a:cs typeface="Arial"/>
              </a:rPr>
              <a:t>h_canopy</a:t>
            </a:r>
            <a:r>
              <a:rPr lang="es-MX" sz="120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(RH98), </a:t>
            </a:r>
            <a:r>
              <a:rPr lang="es-MX" sz="1200" err="1">
                <a:solidFill>
                  <a:schemeClr val="tx1"/>
                </a:solidFill>
                <a:latin typeface="Arial"/>
                <a:cs typeface="Arial"/>
              </a:rPr>
              <a:t>h_max_canopy</a:t>
            </a:r>
            <a:r>
              <a:rPr lang="es-MX" sz="120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(RH100),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percentiles</a:t>
            </a:r>
            <a:r>
              <a:rPr lang="es-MX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2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chemeClr val="tx1"/>
                </a:solidFill>
                <a:latin typeface="Arial"/>
                <a:cs typeface="Arial"/>
              </a:rPr>
              <a:t>apertura</a:t>
            </a:r>
            <a:r>
              <a:rPr lang="es-MX" sz="1200" spc="-10">
                <a:solidFill>
                  <a:srgbClr val="64726B"/>
                </a:solidFill>
                <a:latin typeface="Arial"/>
                <a:cs typeface="Arial"/>
              </a:rPr>
              <a:t>.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60834" y="1371599"/>
            <a:ext cx="2542540" cy="2148840"/>
            <a:chOff x="6309360" y="1371599"/>
            <a:chExt cx="2542540" cy="214884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8" name="object 18"/>
            <p:cNvSpPr/>
            <p:nvPr/>
          </p:nvSpPr>
          <p:spPr>
            <a:xfrm>
              <a:off x="6309360" y="1371599"/>
              <a:ext cx="2542540" cy="2148840"/>
            </a:xfrm>
            <a:custGeom>
              <a:avLst/>
              <a:gdLst/>
              <a:ahLst/>
              <a:cxnLst/>
              <a:rect l="l" t="t" r="r" b="b"/>
              <a:pathLst>
                <a:path w="2542540" h="2148840">
                  <a:moveTo>
                    <a:pt x="246852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28555" y="2133735"/>
                  </a:lnTo>
                  <a:lnTo>
                    <a:pt x="73075" y="2148840"/>
                  </a:lnTo>
                  <a:lnTo>
                    <a:pt x="2468880" y="2148484"/>
                  </a:lnTo>
                  <a:lnTo>
                    <a:pt x="2513257" y="2133380"/>
                  </a:lnTo>
                  <a:lnTo>
                    <a:pt x="2536414" y="2103655"/>
                  </a:lnTo>
                  <a:lnTo>
                    <a:pt x="2536490" y="2103499"/>
                  </a:lnTo>
                  <a:lnTo>
                    <a:pt x="2539466" y="2094615"/>
                  </a:lnTo>
                  <a:lnTo>
                    <a:pt x="2539526" y="2094436"/>
                  </a:lnTo>
                  <a:lnTo>
                    <a:pt x="2541308" y="2085240"/>
                  </a:lnTo>
                  <a:lnTo>
                    <a:pt x="2541348" y="2085035"/>
                  </a:lnTo>
                  <a:lnTo>
                    <a:pt x="2541932" y="2075764"/>
                  </a:lnTo>
                  <a:lnTo>
                    <a:pt x="2541955" y="2075395"/>
                  </a:lnTo>
                  <a:lnTo>
                    <a:pt x="2541600" y="73075"/>
                  </a:lnTo>
                  <a:lnTo>
                    <a:pt x="2526501" y="28705"/>
                  </a:lnTo>
                  <a:lnTo>
                    <a:pt x="2487553" y="2428"/>
                  </a:lnTo>
                  <a:lnTo>
                    <a:pt x="2478156" y="607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09360" y="1371599"/>
              <a:ext cx="2542540" cy="2148840"/>
            </a:xfrm>
            <a:custGeom>
              <a:avLst/>
              <a:gdLst/>
              <a:ahLst/>
              <a:cxnLst/>
              <a:rect l="l" t="t" r="r" b="b"/>
              <a:pathLst>
                <a:path w="2542540" h="21488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68524" y="0"/>
                  </a:lnTo>
                  <a:lnTo>
                    <a:pt x="2513044" y="15104"/>
                  </a:lnTo>
                  <a:lnTo>
                    <a:pt x="2539171" y="54224"/>
                  </a:lnTo>
                  <a:lnTo>
                    <a:pt x="2541600" y="73075"/>
                  </a:lnTo>
                  <a:lnTo>
                    <a:pt x="2541955" y="2075395"/>
                  </a:lnTo>
                  <a:lnTo>
                    <a:pt x="2541348" y="2085035"/>
                  </a:lnTo>
                  <a:lnTo>
                    <a:pt x="2539526" y="2094436"/>
                  </a:lnTo>
                  <a:lnTo>
                    <a:pt x="2513257" y="2133380"/>
                  </a:lnTo>
                  <a:lnTo>
                    <a:pt x="2468880" y="2148484"/>
                  </a:lnTo>
                  <a:lnTo>
                    <a:pt x="73075" y="2148840"/>
                  </a:lnTo>
                  <a:lnTo>
                    <a:pt x="28555" y="2133735"/>
                  </a:lnTo>
                  <a:lnTo>
                    <a:pt x="2428" y="2094615"/>
                  </a:lnTo>
                  <a:lnTo>
                    <a:pt x="0" y="207576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78040" y="1627555"/>
              <a:ext cx="805180" cy="805180"/>
            </a:xfrm>
            <a:custGeom>
              <a:avLst/>
              <a:gdLst/>
              <a:ahLst/>
              <a:cxnLst/>
              <a:rect l="l" t="t" r="r" b="b"/>
              <a:pathLst>
                <a:path w="805179" h="805180">
                  <a:moveTo>
                    <a:pt x="402475" y="0"/>
                  </a:moveTo>
                  <a:lnTo>
                    <a:pt x="349721" y="3420"/>
                  </a:lnTo>
                  <a:lnTo>
                    <a:pt x="298216" y="13592"/>
                  </a:lnTo>
                  <a:lnTo>
                    <a:pt x="248533" y="30378"/>
                  </a:lnTo>
                  <a:lnTo>
                    <a:pt x="201244" y="53644"/>
                  </a:lnTo>
                  <a:lnTo>
                    <a:pt x="157379" y="82929"/>
                  </a:lnTo>
                  <a:lnTo>
                    <a:pt x="117902" y="117546"/>
                  </a:lnTo>
                  <a:lnTo>
                    <a:pt x="83284" y="157023"/>
                  </a:lnTo>
                  <a:lnTo>
                    <a:pt x="54000" y="200888"/>
                  </a:lnTo>
                  <a:lnTo>
                    <a:pt x="30678" y="248227"/>
                  </a:lnTo>
                  <a:lnTo>
                    <a:pt x="13769" y="297994"/>
                  </a:lnTo>
                  <a:lnTo>
                    <a:pt x="3476" y="349516"/>
                  </a:lnTo>
                  <a:lnTo>
                    <a:pt x="0" y="402120"/>
                  </a:lnTo>
                  <a:lnTo>
                    <a:pt x="3476" y="454726"/>
                  </a:lnTo>
                  <a:lnTo>
                    <a:pt x="13769" y="506252"/>
                  </a:lnTo>
                  <a:lnTo>
                    <a:pt x="30678" y="556023"/>
                  </a:lnTo>
                  <a:lnTo>
                    <a:pt x="54000" y="603364"/>
                  </a:lnTo>
                  <a:lnTo>
                    <a:pt x="83284" y="647229"/>
                  </a:lnTo>
                  <a:lnTo>
                    <a:pt x="117902" y="686706"/>
                  </a:lnTo>
                  <a:lnTo>
                    <a:pt x="157379" y="721323"/>
                  </a:lnTo>
                  <a:lnTo>
                    <a:pt x="201244" y="750608"/>
                  </a:lnTo>
                  <a:lnTo>
                    <a:pt x="248533" y="773929"/>
                  </a:lnTo>
                  <a:lnTo>
                    <a:pt x="298216" y="790838"/>
                  </a:lnTo>
                  <a:lnTo>
                    <a:pt x="349721" y="801132"/>
                  </a:lnTo>
                  <a:lnTo>
                    <a:pt x="402475" y="804608"/>
                  </a:lnTo>
                  <a:lnTo>
                    <a:pt x="455026" y="801132"/>
                  </a:lnTo>
                  <a:lnTo>
                    <a:pt x="506429" y="790838"/>
                  </a:lnTo>
                  <a:lnTo>
                    <a:pt x="556078" y="773929"/>
                  </a:lnTo>
                  <a:lnTo>
                    <a:pt x="603364" y="750608"/>
                  </a:lnTo>
                  <a:lnTo>
                    <a:pt x="647227" y="721323"/>
                  </a:lnTo>
                  <a:lnTo>
                    <a:pt x="686700" y="686706"/>
                  </a:lnTo>
                  <a:lnTo>
                    <a:pt x="721312" y="647229"/>
                  </a:lnTo>
                  <a:lnTo>
                    <a:pt x="750595" y="603364"/>
                  </a:lnTo>
                  <a:lnTo>
                    <a:pt x="773916" y="556023"/>
                  </a:lnTo>
                  <a:lnTo>
                    <a:pt x="790825" y="506252"/>
                  </a:lnTo>
                  <a:lnTo>
                    <a:pt x="801119" y="454726"/>
                  </a:lnTo>
                  <a:lnTo>
                    <a:pt x="804595" y="402120"/>
                  </a:lnTo>
                  <a:lnTo>
                    <a:pt x="801119" y="349516"/>
                  </a:lnTo>
                  <a:lnTo>
                    <a:pt x="790825" y="297994"/>
                  </a:lnTo>
                  <a:lnTo>
                    <a:pt x="773916" y="248227"/>
                  </a:lnTo>
                  <a:lnTo>
                    <a:pt x="750595" y="200888"/>
                  </a:lnTo>
                  <a:lnTo>
                    <a:pt x="721312" y="157023"/>
                  </a:lnTo>
                  <a:lnTo>
                    <a:pt x="686700" y="117546"/>
                  </a:lnTo>
                  <a:lnTo>
                    <a:pt x="647227" y="82929"/>
                  </a:lnTo>
                  <a:lnTo>
                    <a:pt x="603364" y="53644"/>
                  </a:lnTo>
                  <a:lnTo>
                    <a:pt x="556078" y="30378"/>
                  </a:lnTo>
                  <a:lnTo>
                    <a:pt x="506429" y="13592"/>
                  </a:lnTo>
                  <a:lnTo>
                    <a:pt x="455026" y="3420"/>
                  </a:lnTo>
                  <a:lnTo>
                    <a:pt x="402475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309129" y="1834463"/>
            <a:ext cx="24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</a:t>
            </a:r>
            <a:endParaRPr lang="es-ES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34251" y="2433206"/>
            <a:ext cx="1995170" cy="1210438"/>
          </a:xfrm>
          <a:prstGeom prst="rect">
            <a:avLst/>
          </a:prstGeom>
        </p:spPr>
        <p:txBody>
          <a:bodyPr vert="horz" wrap="square" lIns="0" tIns="174625" rIns="0" bIns="0" rtlCol="0">
            <a:normAutofit/>
          </a:bodyPr>
          <a:lstStyle/>
          <a:p>
            <a:pPr marL="4445" algn="ctr">
              <a:lnSpc>
                <a:spcPct val="100000"/>
              </a:lnSpc>
              <a:spcBef>
                <a:spcPts val="1375"/>
              </a:spcBef>
            </a:pPr>
            <a:r>
              <a:rPr lang="es-ES" sz="1900" b="1" spc="-10">
                <a:solidFill>
                  <a:srgbClr val="296D6F"/>
                </a:solidFill>
                <a:latin typeface="Arial"/>
                <a:cs typeface="Arial"/>
              </a:rPr>
              <a:t>Cobertura</a:t>
            </a:r>
            <a:endParaRPr lang="es-ES" sz="1900">
              <a:latin typeface="Arial"/>
              <a:cs typeface="Arial"/>
            </a:endParaRPr>
          </a:p>
          <a:p>
            <a:pPr marL="12065" marR="5080" algn="ctr">
              <a:lnSpc>
                <a:spcPts val="1300"/>
              </a:lnSpc>
              <a:spcBef>
                <a:spcPts val="960"/>
              </a:spcBef>
            </a:pPr>
            <a:r>
              <a:rPr lang="es-ES" sz="1200" err="1">
                <a:solidFill>
                  <a:schemeClr val="tx1"/>
                </a:solidFill>
                <a:latin typeface="Arial"/>
                <a:cs typeface="Arial"/>
              </a:rPr>
              <a:t>canopy_flag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es-ES" sz="1200" spc="-6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err="1">
                <a:solidFill>
                  <a:schemeClr val="tx1"/>
                </a:solidFill>
                <a:latin typeface="Arial"/>
                <a:cs typeface="Arial"/>
              </a:rPr>
              <a:t>canopy_cover</a:t>
            </a:r>
            <a:r>
              <a:rPr lang="es-ES" sz="1200" spc="-5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50">
                <a:solidFill>
                  <a:schemeClr val="tx1"/>
                </a:solidFill>
                <a:latin typeface="Arial"/>
                <a:cs typeface="Arial"/>
              </a:rPr>
              <a:t>y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atributos</a:t>
            </a:r>
            <a:r>
              <a:rPr lang="es-ES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ES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chemeClr val="tx1"/>
                </a:solidFill>
                <a:latin typeface="Arial"/>
                <a:cs typeface="Arial"/>
              </a:rPr>
              <a:t>superficie.</a:t>
            </a:r>
            <a:endParaRPr lang="es-ES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844979" y="1371599"/>
            <a:ext cx="2542540" cy="2148840"/>
            <a:chOff x="9144000" y="1371599"/>
            <a:chExt cx="2542540" cy="214884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4" name="object 24"/>
            <p:cNvSpPr/>
            <p:nvPr/>
          </p:nvSpPr>
          <p:spPr>
            <a:xfrm>
              <a:off x="9144000" y="1371599"/>
              <a:ext cx="2542540" cy="2148840"/>
            </a:xfrm>
            <a:custGeom>
              <a:avLst/>
              <a:gdLst/>
              <a:ahLst/>
              <a:cxnLst/>
              <a:rect l="l" t="t" r="r" b="b"/>
              <a:pathLst>
                <a:path w="2542540" h="2148840">
                  <a:moveTo>
                    <a:pt x="246852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5412" y="2103499"/>
                  </a:lnTo>
                  <a:lnTo>
                    <a:pt x="5464" y="2103655"/>
                  </a:lnTo>
                  <a:lnTo>
                    <a:pt x="36360" y="2139124"/>
                  </a:lnTo>
                  <a:lnTo>
                    <a:pt x="73075" y="2148840"/>
                  </a:lnTo>
                  <a:lnTo>
                    <a:pt x="2468879" y="2148484"/>
                  </a:lnTo>
                  <a:lnTo>
                    <a:pt x="2513257" y="2133380"/>
                  </a:lnTo>
                  <a:lnTo>
                    <a:pt x="2536414" y="2103655"/>
                  </a:lnTo>
                  <a:lnTo>
                    <a:pt x="2536490" y="2103499"/>
                  </a:lnTo>
                  <a:lnTo>
                    <a:pt x="2539466" y="2094615"/>
                  </a:lnTo>
                  <a:lnTo>
                    <a:pt x="2539526" y="2094436"/>
                  </a:lnTo>
                  <a:lnTo>
                    <a:pt x="2541308" y="2085240"/>
                  </a:lnTo>
                  <a:lnTo>
                    <a:pt x="2541348" y="2085035"/>
                  </a:lnTo>
                  <a:lnTo>
                    <a:pt x="2541932" y="2075764"/>
                  </a:lnTo>
                  <a:lnTo>
                    <a:pt x="2541955" y="2075395"/>
                  </a:lnTo>
                  <a:lnTo>
                    <a:pt x="2541600" y="73075"/>
                  </a:lnTo>
                  <a:lnTo>
                    <a:pt x="2526501" y="28705"/>
                  </a:lnTo>
                  <a:lnTo>
                    <a:pt x="2487553" y="2428"/>
                  </a:lnTo>
                  <a:lnTo>
                    <a:pt x="2478156" y="607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44000" y="1371599"/>
              <a:ext cx="2542540" cy="2148840"/>
            </a:xfrm>
            <a:custGeom>
              <a:avLst/>
              <a:gdLst/>
              <a:ahLst/>
              <a:cxnLst/>
              <a:rect l="l" t="t" r="r" b="b"/>
              <a:pathLst>
                <a:path w="2542540" h="21488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68524" y="0"/>
                  </a:lnTo>
                  <a:lnTo>
                    <a:pt x="2513044" y="15104"/>
                  </a:lnTo>
                  <a:lnTo>
                    <a:pt x="2539171" y="54224"/>
                  </a:lnTo>
                  <a:lnTo>
                    <a:pt x="2541600" y="73075"/>
                  </a:lnTo>
                  <a:lnTo>
                    <a:pt x="2541955" y="2075395"/>
                  </a:lnTo>
                  <a:lnTo>
                    <a:pt x="2541348" y="2085035"/>
                  </a:lnTo>
                  <a:lnTo>
                    <a:pt x="2539526" y="2094436"/>
                  </a:lnTo>
                  <a:lnTo>
                    <a:pt x="2513257" y="2133380"/>
                  </a:lnTo>
                  <a:lnTo>
                    <a:pt x="2468879" y="2148484"/>
                  </a:lnTo>
                  <a:lnTo>
                    <a:pt x="73075" y="2148840"/>
                  </a:lnTo>
                  <a:lnTo>
                    <a:pt x="28555" y="2133735"/>
                  </a:lnTo>
                  <a:lnTo>
                    <a:pt x="2428" y="2094615"/>
                  </a:lnTo>
                  <a:lnTo>
                    <a:pt x="0" y="207576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12680" y="1627555"/>
              <a:ext cx="805180" cy="805180"/>
            </a:xfrm>
            <a:custGeom>
              <a:avLst/>
              <a:gdLst/>
              <a:ahLst/>
              <a:cxnLst/>
              <a:rect l="l" t="t" r="r" b="b"/>
              <a:pathLst>
                <a:path w="805179" h="805180">
                  <a:moveTo>
                    <a:pt x="402120" y="0"/>
                  </a:moveTo>
                  <a:lnTo>
                    <a:pt x="349571" y="3420"/>
                  </a:lnTo>
                  <a:lnTo>
                    <a:pt x="298172" y="13592"/>
                  </a:lnTo>
                  <a:lnTo>
                    <a:pt x="248527" y="30378"/>
                  </a:lnTo>
                  <a:lnTo>
                    <a:pt x="201244" y="53644"/>
                  </a:lnTo>
                  <a:lnTo>
                    <a:pt x="157379" y="82929"/>
                  </a:lnTo>
                  <a:lnTo>
                    <a:pt x="117902" y="117546"/>
                  </a:lnTo>
                  <a:lnTo>
                    <a:pt x="83284" y="157023"/>
                  </a:lnTo>
                  <a:lnTo>
                    <a:pt x="54000" y="200888"/>
                  </a:lnTo>
                  <a:lnTo>
                    <a:pt x="30678" y="248227"/>
                  </a:lnTo>
                  <a:lnTo>
                    <a:pt x="13769" y="297994"/>
                  </a:lnTo>
                  <a:lnTo>
                    <a:pt x="3476" y="349516"/>
                  </a:lnTo>
                  <a:lnTo>
                    <a:pt x="0" y="402120"/>
                  </a:lnTo>
                  <a:lnTo>
                    <a:pt x="3476" y="454726"/>
                  </a:lnTo>
                  <a:lnTo>
                    <a:pt x="13769" y="506252"/>
                  </a:lnTo>
                  <a:lnTo>
                    <a:pt x="30678" y="556023"/>
                  </a:lnTo>
                  <a:lnTo>
                    <a:pt x="54000" y="603364"/>
                  </a:lnTo>
                  <a:lnTo>
                    <a:pt x="83284" y="647229"/>
                  </a:lnTo>
                  <a:lnTo>
                    <a:pt x="117902" y="686706"/>
                  </a:lnTo>
                  <a:lnTo>
                    <a:pt x="157379" y="721323"/>
                  </a:lnTo>
                  <a:lnTo>
                    <a:pt x="201244" y="750608"/>
                  </a:lnTo>
                  <a:lnTo>
                    <a:pt x="248527" y="773929"/>
                  </a:lnTo>
                  <a:lnTo>
                    <a:pt x="298172" y="790838"/>
                  </a:lnTo>
                  <a:lnTo>
                    <a:pt x="349571" y="801132"/>
                  </a:lnTo>
                  <a:lnTo>
                    <a:pt x="402120" y="804608"/>
                  </a:lnTo>
                  <a:lnTo>
                    <a:pt x="454876" y="801132"/>
                  </a:lnTo>
                  <a:lnTo>
                    <a:pt x="506385" y="790838"/>
                  </a:lnTo>
                  <a:lnTo>
                    <a:pt x="556073" y="773929"/>
                  </a:lnTo>
                  <a:lnTo>
                    <a:pt x="603364" y="750608"/>
                  </a:lnTo>
                  <a:lnTo>
                    <a:pt x="647227" y="721323"/>
                  </a:lnTo>
                  <a:lnTo>
                    <a:pt x="686700" y="686706"/>
                  </a:lnTo>
                  <a:lnTo>
                    <a:pt x="721312" y="647229"/>
                  </a:lnTo>
                  <a:lnTo>
                    <a:pt x="750595" y="603364"/>
                  </a:lnTo>
                  <a:lnTo>
                    <a:pt x="773916" y="556023"/>
                  </a:lnTo>
                  <a:lnTo>
                    <a:pt x="790825" y="506252"/>
                  </a:lnTo>
                  <a:lnTo>
                    <a:pt x="801119" y="454726"/>
                  </a:lnTo>
                  <a:lnTo>
                    <a:pt x="804595" y="402120"/>
                  </a:lnTo>
                  <a:lnTo>
                    <a:pt x="801119" y="349516"/>
                  </a:lnTo>
                  <a:lnTo>
                    <a:pt x="790825" y="297994"/>
                  </a:lnTo>
                  <a:lnTo>
                    <a:pt x="773916" y="248227"/>
                  </a:lnTo>
                  <a:lnTo>
                    <a:pt x="750595" y="200888"/>
                  </a:lnTo>
                  <a:lnTo>
                    <a:pt x="721312" y="157023"/>
                  </a:lnTo>
                  <a:lnTo>
                    <a:pt x="686700" y="117546"/>
                  </a:lnTo>
                  <a:lnTo>
                    <a:pt x="647227" y="82929"/>
                  </a:lnTo>
                  <a:lnTo>
                    <a:pt x="603364" y="53644"/>
                  </a:lnTo>
                  <a:lnTo>
                    <a:pt x="556073" y="30378"/>
                  </a:lnTo>
                  <a:lnTo>
                    <a:pt x="506385" y="13592"/>
                  </a:lnTo>
                  <a:lnTo>
                    <a:pt x="454876" y="3420"/>
                  </a:lnTo>
                  <a:lnTo>
                    <a:pt x="4021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984638" y="1834463"/>
            <a:ext cx="262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Q</a:t>
            </a:r>
            <a:endParaRPr lang="es-ES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40981" y="2433206"/>
            <a:ext cx="2350000" cy="1272985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ES" sz="1900" b="1" spc="-10">
                <a:solidFill>
                  <a:srgbClr val="C3862D"/>
                </a:solidFill>
                <a:latin typeface="Arial"/>
                <a:cs typeface="Arial"/>
              </a:rPr>
              <a:t>Calidad</a:t>
            </a:r>
            <a:endParaRPr lang="es-ES" sz="1900">
              <a:latin typeface="Arial"/>
              <a:cs typeface="Arial"/>
            </a:endParaRPr>
          </a:p>
          <a:p>
            <a:pPr marL="12700" marR="5080" indent="-1270" algn="ctr"/>
            <a:r>
              <a:rPr lang="es-ES" sz="1200" spc="-10" err="1">
                <a:solidFill>
                  <a:schemeClr val="tx1"/>
                </a:solidFill>
                <a:latin typeface="Arial"/>
                <a:cs typeface="Arial"/>
              </a:rPr>
              <a:t>can_quality_score</a:t>
            </a:r>
            <a:r>
              <a:rPr lang="es-ES" sz="1200" spc="-1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es-ES" sz="1200" spc="5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err="1">
                <a:solidFill>
                  <a:schemeClr val="tx1"/>
                </a:solidFill>
                <a:latin typeface="Arial"/>
                <a:cs typeface="Arial"/>
              </a:rPr>
              <a:t>te_quality_score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es-ES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err="1">
                <a:solidFill>
                  <a:schemeClr val="tx1"/>
                </a:solidFill>
                <a:latin typeface="Arial"/>
                <a:cs typeface="Arial"/>
              </a:rPr>
              <a:t>canopy_rh_conf</a:t>
            </a:r>
            <a:r>
              <a:rPr lang="es-ES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50">
                <a:solidFill>
                  <a:schemeClr val="tx1"/>
                </a:solidFill>
                <a:latin typeface="Arial"/>
                <a:cs typeface="Arial"/>
              </a:rPr>
              <a:t>e </a:t>
            </a:r>
            <a:r>
              <a:rPr lang="es-ES" sz="1200" spc="-10">
                <a:solidFill>
                  <a:schemeClr val="tx1"/>
                </a:solidFill>
                <a:latin typeface="Arial"/>
                <a:cs typeface="Arial"/>
              </a:rPr>
              <a:t>incertidumbres.</a:t>
            </a:r>
            <a:endParaRPr lang="es-ES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86244" y="3661380"/>
            <a:ext cx="10607040" cy="1975485"/>
            <a:chOff x="786244" y="3885844"/>
            <a:chExt cx="10607040" cy="1975485"/>
          </a:xfrm>
        </p:grpSpPr>
        <p:sp>
          <p:nvSpPr>
            <p:cNvPr id="30" name="object 30"/>
            <p:cNvSpPr/>
            <p:nvPr/>
          </p:nvSpPr>
          <p:spPr>
            <a:xfrm>
              <a:off x="786244" y="3885844"/>
              <a:ext cx="10607040" cy="494030"/>
            </a:xfrm>
            <a:custGeom>
              <a:avLst/>
              <a:gdLst/>
              <a:ahLst/>
              <a:cxnLst/>
              <a:rect l="l" t="t" r="r" b="b"/>
              <a:pathLst>
                <a:path w="10607040" h="494029">
                  <a:moveTo>
                    <a:pt x="2057031" y="0"/>
                  </a:moveTo>
                  <a:lnTo>
                    <a:pt x="0" y="0"/>
                  </a:lnTo>
                  <a:lnTo>
                    <a:pt x="0" y="493560"/>
                  </a:lnTo>
                  <a:lnTo>
                    <a:pt x="1028509" y="493560"/>
                  </a:lnTo>
                  <a:lnTo>
                    <a:pt x="2057031" y="493560"/>
                  </a:lnTo>
                  <a:lnTo>
                    <a:pt x="2057031" y="0"/>
                  </a:lnTo>
                  <a:close/>
                </a:path>
                <a:path w="10607040" h="494029">
                  <a:moveTo>
                    <a:pt x="4141800" y="0"/>
                  </a:moveTo>
                  <a:lnTo>
                    <a:pt x="2057400" y="0"/>
                  </a:lnTo>
                  <a:lnTo>
                    <a:pt x="2057400" y="493560"/>
                  </a:lnTo>
                  <a:lnTo>
                    <a:pt x="3099600" y="493560"/>
                  </a:lnTo>
                  <a:lnTo>
                    <a:pt x="4141800" y="493560"/>
                  </a:lnTo>
                  <a:lnTo>
                    <a:pt x="4141800" y="0"/>
                  </a:lnTo>
                  <a:close/>
                </a:path>
                <a:path w="10607040" h="494029">
                  <a:moveTo>
                    <a:pt x="6244920" y="0"/>
                  </a:moveTo>
                  <a:lnTo>
                    <a:pt x="4142155" y="0"/>
                  </a:lnTo>
                  <a:lnTo>
                    <a:pt x="4142155" y="493560"/>
                  </a:lnTo>
                  <a:lnTo>
                    <a:pt x="5193716" y="493560"/>
                  </a:lnTo>
                  <a:lnTo>
                    <a:pt x="6244920" y="493560"/>
                  </a:lnTo>
                  <a:lnTo>
                    <a:pt x="6244920" y="0"/>
                  </a:lnTo>
                  <a:close/>
                </a:path>
                <a:path w="10607040" h="494029">
                  <a:moveTo>
                    <a:pt x="8165160" y="0"/>
                  </a:moveTo>
                  <a:lnTo>
                    <a:pt x="6245276" y="0"/>
                  </a:lnTo>
                  <a:lnTo>
                    <a:pt x="6245276" y="493560"/>
                  </a:lnTo>
                  <a:lnTo>
                    <a:pt x="7205396" y="493560"/>
                  </a:lnTo>
                  <a:lnTo>
                    <a:pt x="8165160" y="493560"/>
                  </a:lnTo>
                  <a:lnTo>
                    <a:pt x="8165160" y="0"/>
                  </a:lnTo>
                  <a:close/>
                </a:path>
                <a:path w="10607040" h="494029">
                  <a:moveTo>
                    <a:pt x="10606672" y="0"/>
                  </a:moveTo>
                  <a:lnTo>
                    <a:pt x="8165516" y="0"/>
                  </a:lnTo>
                  <a:lnTo>
                    <a:pt x="8165516" y="493560"/>
                  </a:lnTo>
                  <a:lnTo>
                    <a:pt x="9386278" y="493560"/>
                  </a:lnTo>
                  <a:lnTo>
                    <a:pt x="10606672" y="493560"/>
                  </a:lnTo>
                  <a:lnTo>
                    <a:pt x="10606672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6244" y="4379759"/>
              <a:ext cx="10607040" cy="494030"/>
            </a:xfrm>
            <a:custGeom>
              <a:avLst/>
              <a:gdLst/>
              <a:ahLst/>
              <a:cxnLst/>
              <a:rect l="l" t="t" r="r" b="b"/>
              <a:pathLst>
                <a:path w="10607040" h="494029">
                  <a:moveTo>
                    <a:pt x="2057031" y="0"/>
                  </a:moveTo>
                  <a:lnTo>
                    <a:pt x="0" y="0"/>
                  </a:lnTo>
                  <a:lnTo>
                    <a:pt x="0" y="493560"/>
                  </a:lnTo>
                  <a:lnTo>
                    <a:pt x="1028509" y="493560"/>
                  </a:lnTo>
                  <a:lnTo>
                    <a:pt x="2057031" y="493560"/>
                  </a:lnTo>
                  <a:lnTo>
                    <a:pt x="2057031" y="0"/>
                  </a:lnTo>
                  <a:close/>
                </a:path>
                <a:path w="10607040" h="494029">
                  <a:moveTo>
                    <a:pt x="4141800" y="0"/>
                  </a:moveTo>
                  <a:lnTo>
                    <a:pt x="2057400" y="0"/>
                  </a:lnTo>
                  <a:lnTo>
                    <a:pt x="2057400" y="493560"/>
                  </a:lnTo>
                  <a:lnTo>
                    <a:pt x="3099600" y="493560"/>
                  </a:lnTo>
                  <a:lnTo>
                    <a:pt x="4141800" y="493560"/>
                  </a:lnTo>
                  <a:lnTo>
                    <a:pt x="4141800" y="0"/>
                  </a:lnTo>
                  <a:close/>
                </a:path>
                <a:path w="10607040" h="494029">
                  <a:moveTo>
                    <a:pt x="6244920" y="0"/>
                  </a:moveTo>
                  <a:lnTo>
                    <a:pt x="4142155" y="0"/>
                  </a:lnTo>
                  <a:lnTo>
                    <a:pt x="4142155" y="493560"/>
                  </a:lnTo>
                  <a:lnTo>
                    <a:pt x="5193716" y="493560"/>
                  </a:lnTo>
                  <a:lnTo>
                    <a:pt x="6244920" y="493560"/>
                  </a:lnTo>
                  <a:lnTo>
                    <a:pt x="6244920" y="0"/>
                  </a:lnTo>
                  <a:close/>
                </a:path>
                <a:path w="10607040" h="494029">
                  <a:moveTo>
                    <a:pt x="8165160" y="0"/>
                  </a:moveTo>
                  <a:lnTo>
                    <a:pt x="6245276" y="0"/>
                  </a:lnTo>
                  <a:lnTo>
                    <a:pt x="6245276" y="493560"/>
                  </a:lnTo>
                  <a:lnTo>
                    <a:pt x="7205396" y="493560"/>
                  </a:lnTo>
                  <a:lnTo>
                    <a:pt x="8165160" y="493560"/>
                  </a:lnTo>
                  <a:lnTo>
                    <a:pt x="8165160" y="0"/>
                  </a:lnTo>
                  <a:close/>
                </a:path>
                <a:path w="10607040" h="494029">
                  <a:moveTo>
                    <a:pt x="10606672" y="0"/>
                  </a:moveTo>
                  <a:lnTo>
                    <a:pt x="8165516" y="0"/>
                  </a:lnTo>
                  <a:lnTo>
                    <a:pt x="8165516" y="493560"/>
                  </a:lnTo>
                  <a:lnTo>
                    <a:pt x="9386278" y="493560"/>
                  </a:lnTo>
                  <a:lnTo>
                    <a:pt x="10606672" y="493560"/>
                  </a:lnTo>
                  <a:lnTo>
                    <a:pt x="10606672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86244" y="4873319"/>
              <a:ext cx="10607040" cy="494030"/>
            </a:xfrm>
            <a:custGeom>
              <a:avLst/>
              <a:gdLst/>
              <a:ahLst/>
              <a:cxnLst/>
              <a:rect l="l" t="t" r="r" b="b"/>
              <a:pathLst>
                <a:path w="10607040" h="494029">
                  <a:moveTo>
                    <a:pt x="2057031" y="0"/>
                  </a:moveTo>
                  <a:lnTo>
                    <a:pt x="0" y="0"/>
                  </a:lnTo>
                  <a:lnTo>
                    <a:pt x="0" y="493560"/>
                  </a:lnTo>
                  <a:lnTo>
                    <a:pt x="1028509" y="493560"/>
                  </a:lnTo>
                  <a:lnTo>
                    <a:pt x="2057031" y="493560"/>
                  </a:lnTo>
                  <a:lnTo>
                    <a:pt x="2057031" y="0"/>
                  </a:lnTo>
                  <a:close/>
                </a:path>
                <a:path w="10607040" h="494029">
                  <a:moveTo>
                    <a:pt x="4141800" y="0"/>
                  </a:moveTo>
                  <a:lnTo>
                    <a:pt x="2057400" y="0"/>
                  </a:lnTo>
                  <a:lnTo>
                    <a:pt x="2057400" y="493560"/>
                  </a:lnTo>
                  <a:lnTo>
                    <a:pt x="3099600" y="493560"/>
                  </a:lnTo>
                  <a:lnTo>
                    <a:pt x="4141800" y="493560"/>
                  </a:lnTo>
                  <a:lnTo>
                    <a:pt x="4141800" y="0"/>
                  </a:lnTo>
                  <a:close/>
                </a:path>
                <a:path w="10607040" h="494029">
                  <a:moveTo>
                    <a:pt x="6244920" y="0"/>
                  </a:moveTo>
                  <a:lnTo>
                    <a:pt x="4142155" y="0"/>
                  </a:lnTo>
                  <a:lnTo>
                    <a:pt x="4142155" y="493560"/>
                  </a:lnTo>
                  <a:lnTo>
                    <a:pt x="5193716" y="493560"/>
                  </a:lnTo>
                  <a:lnTo>
                    <a:pt x="6244920" y="493560"/>
                  </a:lnTo>
                  <a:lnTo>
                    <a:pt x="6244920" y="0"/>
                  </a:lnTo>
                  <a:close/>
                </a:path>
                <a:path w="10607040" h="494029">
                  <a:moveTo>
                    <a:pt x="8165160" y="0"/>
                  </a:moveTo>
                  <a:lnTo>
                    <a:pt x="6245276" y="0"/>
                  </a:lnTo>
                  <a:lnTo>
                    <a:pt x="6245276" y="493560"/>
                  </a:lnTo>
                  <a:lnTo>
                    <a:pt x="7205396" y="493560"/>
                  </a:lnTo>
                  <a:lnTo>
                    <a:pt x="8165160" y="493560"/>
                  </a:lnTo>
                  <a:lnTo>
                    <a:pt x="8165160" y="0"/>
                  </a:lnTo>
                  <a:close/>
                </a:path>
                <a:path w="10607040" h="494029">
                  <a:moveTo>
                    <a:pt x="10606672" y="0"/>
                  </a:moveTo>
                  <a:lnTo>
                    <a:pt x="8165516" y="0"/>
                  </a:lnTo>
                  <a:lnTo>
                    <a:pt x="8165516" y="493560"/>
                  </a:lnTo>
                  <a:lnTo>
                    <a:pt x="9386278" y="493560"/>
                  </a:lnTo>
                  <a:lnTo>
                    <a:pt x="10606672" y="493560"/>
                  </a:lnTo>
                  <a:lnTo>
                    <a:pt x="10606672" y="0"/>
                  </a:lnTo>
                  <a:close/>
                </a:path>
              </a:pathLst>
            </a:custGeom>
            <a:solidFill>
              <a:srgbClr val="F0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6244" y="5367235"/>
              <a:ext cx="10607040" cy="494030"/>
            </a:xfrm>
            <a:custGeom>
              <a:avLst/>
              <a:gdLst/>
              <a:ahLst/>
              <a:cxnLst/>
              <a:rect l="l" t="t" r="r" b="b"/>
              <a:pathLst>
                <a:path w="10607040" h="494029">
                  <a:moveTo>
                    <a:pt x="2057031" y="0"/>
                  </a:moveTo>
                  <a:lnTo>
                    <a:pt x="0" y="0"/>
                  </a:lnTo>
                  <a:lnTo>
                    <a:pt x="0" y="493560"/>
                  </a:lnTo>
                  <a:lnTo>
                    <a:pt x="1028509" y="493560"/>
                  </a:lnTo>
                  <a:lnTo>
                    <a:pt x="2057031" y="493560"/>
                  </a:lnTo>
                  <a:lnTo>
                    <a:pt x="2057031" y="0"/>
                  </a:lnTo>
                  <a:close/>
                </a:path>
                <a:path w="10607040" h="494029">
                  <a:moveTo>
                    <a:pt x="4141800" y="0"/>
                  </a:moveTo>
                  <a:lnTo>
                    <a:pt x="2057400" y="0"/>
                  </a:lnTo>
                  <a:lnTo>
                    <a:pt x="2057400" y="493560"/>
                  </a:lnTo>
                  <a:lnTo>
                    <a:pt x="3099600" y="493560"/>
                  </a:lnTo>
                  <a:lnTo>
                    <a:pt x="4141800" y="493560"/>
                  </a:lnTo>
                  <a:lnTo>
                    <a:pt x="4141800" y="0"/>
                  </a:lnTo>
                  <a:close/>
                </a:path>
                <a:path w="10607040" h="494029">
                  <a:moveTo>
                    <a:pt x="6244920" y="0"/>
                  </a:moveTo>
                  <a:lnTo>
                    <a:pt x="4142155" y="0"/>
                  </a:lnTo>
                  <a:lnTo>
                    <a:pt x="4142155" y="493560"/>
                  </a:lnTo>
                  <a:lnTo>
                    <a:pt x="5193716" y="493560"/>
                  </a:lnTo>
                  <a:lnTo>
                    <a:pt x="6244920" y="493560"/>
                  </a:lnTo>
                  <a:lnTo>
                    <a:pt x="6244920" y="0"/>
                  </a:lnTo>
                  <a:close/>
                </a:path>
                <a:path w="10607040" h="494029">
                  <a:moveTo>
                    <a:pt x="8165160" y="0"/>
                  </a:moveTo>
                  <a:lnTo>
                    <a:pt x="6245276" y="0"/>
                  </a:lnTo>
                  <a:lnTo>
                    <a:pt x="6245276" y="493560"/>
                  </a:lnTo>
                  <a:lnTo>
                    <a:pt x="7205396" y="493560"/>
                  </a:lnTo>
                  <a:lnTo>
                    <a:pt x="8165160" y="493560"/>
                  </a:lnTo>
                  <a:lnTo>
                    <a:pt x="8165160" y="0"/>
                  </a:lnTo>
                  <a:close/>
                </a:path>
                <a:path w="10607040" h="494029">
                  <a:moveTo>
                    <a:pt x="10606672" y="0"/>
                  </a:moveTo>
                  <a:lnTo>
                    <a:pt x="8165516" y="0"/>
                  </a:lnTo>
                  <a:lnTo>
                    <a:pt x="8165516" y="493560"/>
                  </a:lnTo>
                  <a:lnTo>
                    <a:pt x="9386278" y="493560"/>
                  </a:lnTo>
                  <a:lnTo>
                    <a:pt x="10606672" y="493560"/>
                  </a:lnTo>
                  <a:lnTo>
                    <a:pt x="10606672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4" name="objec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834443"/>
              </p:ext>
            </p:extLst>
          </p:nvPr>
        </p:nvGraphicFramePr>
        <p:xfrm>
          <a:off x="792480" y="3657600"/>
          <a:ext cx="10607040" cy="1973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pPr algn="ctr"/>
                      <a:r>
                        <a:rPr lang="es-ES" sz="14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Nivel</a:t>
                      </a:r>
                      <a:endParaRPr lang="es-ES" sz="14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Unidad</a:t>
                      </a:r>
                      <a:endParaRPr lang="es-ES" sz="14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Ejemplos</a:t>
                      </a:r>
                      <a:r>
                        <a:rPr lang="es-ES" sz="1400" b="1" spc="8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</a:t>
                      </a:r>
                      <a:r>
                        <a:rPr lang="es-ES" sz="1400" b="1" spc="8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4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variables</a:t>
                      </a:r>
                      <a:endParaRPr lang="es-ES" sz="14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Pregunta</a:t>
                      </a:r>
                      <a:endParaRPr lang="es-ES" sz="14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Advertencia</a:t>
                      </a:r>
                      <a:endParaRPr lang="es-ES" sz="14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Fotón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evento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classed_pc_flag,</a:t>
                      </a:r>
                      <a:r>
                        <a:rPr lang="es-ES" sz="1250" spc="1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altura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¿Qué</a:t>
                      </a:r>
                      <a:r>
                        <a:rPr lang="es-ES" sz="1250" spc="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fue</a:t>
                      </a:r>
                      <a:r>
                        <a:rPr lang="es-ES" sz="1250" spc="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clasificado?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Requiere</a:t>
                      </a:r>
                      <a:r>
                        <a:rPr lang="es-ES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ATL03/ATL08 </a:t>
                      </a:r>
                      <a:r>
                        <a:rPr lang="es-ES" sz="1250" spc="-10" err="1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signal_photons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Subsegmento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lang="es-ES" sz="1250" spc="3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h_canopy_20m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¿Cómo</a:t>
                      </a:r>
                      <a:r>
                        <a:rPr lang="es-MX" sz="1250" spc="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varía</a:t>
                      </a:r>
                      <a:r>
                        <a:rPr lang="es-MX" sz="1250" spc="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dentro</a:t>
                      </a:r>
                      <a:r>
                        <a:rPr lang="es-MX" sz="1250" spc="5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100</a:t>
                      </a:r>
                      <a:r>
                        <a:rPr lang="es-MX" sz="1250" spc="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m?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Cinco</a:t>
                      </a:r>
                      <a:r>
                        <a:rPr lang="es-ES" sz="1250" spc="5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posiciones</a:t>
                      </a:r>
                      <a:r>
                        <a:rPr lang="es-ES" sz="1250" spc="6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lang="es-ES" sz="1250" spc="6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segmento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Segmento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100</a:t>
                      </a:r>
                      <a:r>
                        <a:rPr lang="es-ES" sz="1250" spc="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h_canopy,</a:t>
                      </a:r>
                      <a:r>
                        <a:rPr lang="pt-BR" sz="1250" spc="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pt-BR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h_max_canopy</a:t>
                      </a:r>
                      <a:endParaRPr lang="pt-BR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¿Cuál</a:t>
                      </a:r>
                      <a:r>
                        <a:rPr lang="es-MX" sz="1250" spc="3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es</a:t>
                      </a:r>
                      <a:r>
                        <a:rPr lang="es-MX" sz="1250" spc="3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lang="es-MX" sz="1250" spc="3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estructura agregada?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ES" sz="1250" spc="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representa</a:t>
                      </a:r>
                      <a:r>
                        <a:rPr lang="es-ES" sz="1250" spc="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un</a:t>
                      </a:r>
                      <a:r>
                        <a:rPr lang="es-ES" sz="1250" spc="5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árbol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336000" y="5715000"/>
            <a:ext cx="11520000" cy="619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La</a:t>
            </a:r>
            <a:r>
              <a:rPr lang="es-MX" sz="1400" b="1" spc="-3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versión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007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incorpora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y</a:t>
            </a:r>
            <a:r>
              <a:rPr lang="es-MX" sz="1400" b="1" spc="-3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documenta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campos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de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confianza</a:t>
            </a:r>
            <a:r>
              <a:rPr lang="es-MX" sz="1400" b="1" spc="-3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y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puntajes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de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calidad</a:t>
            </a:r>
            <a:r>
              <a:rPr lang="es-MX" sz="1400" b="1" spc="-3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que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conviene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extraer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explícitamente,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no</a:t>
            </a:r>
            <a:r>
              <a:rPr lang="es-MX" sz="1400" b="1" spc="-3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inferir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partir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de</a:t>
            </a:r>
            <a:r>
              <a:rPr lang="es-MX" sz="1400" b="1" spc="-3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“datos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0070C0"/>
                </a:solidFill>
                <a:latin typeface="Arial"/>
                <a:cs typeface="Arial"/>
              </a:rPr>
              <a:t>disponibles”.</a:t>
            </a:r>
            <a:endParaRPr lang="es-MX" sz="140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40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1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2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11/43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Variables</a:t>
            </a:r>
            <a:r>
              <a:rPr spc="-85"/>
              <a:t> </a:t>
            </a:r>
            <a:r>
              <a:t>estructurales</a:t>
            </a:r>
            <a:r>
              <a:rPr spc="-85"/>
              <a:t> </a:t>
            </a:r>
            <a:r>
              <a:t>y</a:t>
            </a:r>
            <a:r>
              <a:rPr spc="-80"/>
              <a:t> </a:t>
            </a:r>
            <a:r>
              <a:t>campos</a:t>
            </a:r>
            <a:r>
              <a:rPr spc="-85"/>
              <a:t> </a:t>
            </a:r>
            <a:r>
              <a:t>de</a:t>
            </a:r>
            <a:r>
              <a:rPr spc="-85"/>
              <a:t> </a:t>
            </a:r>
            <a:r>
              <a:rPr spc="-10"/>
              <a:t>calidad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6320" y="1266115"/>
            <a:ext cx="3540125" cy="1911985"/>
            <a:chOff x="616320" y="1266115"/>
            <a:chExt cx="3540125" cy="191198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21360" y="1271155"/>
              <a:ext cx="3529965" cy="1902460"/>
            </a:xfrm>
            <a:custGeom>
              <a:avLst/>
              <a:gdLst/>
              <a:ahLst/>
              <a:cxnLst/>
              <a:rect l="l" t="t" r="r" b="b"/>
              <a:pathLst>
                <a:path w="3529965" h="1902460">
                  <a:moveTo>
                    <a:pt x="345600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828800"/>
                  </a:lnTo>
                  <a:lnTo>
                    <a:pt x="5412" y="1856540"/>
                  </a:lnTo>
                  <a:lnTo>
                    <a:pt x="5464" y="1856696"/>
                  </a:lnTo>
                  <a:lnTo>
                    <a:pt x="36360" y="1892160"/>
                  </a:lnTo>
                  <a:lnTo>
                    <a:pt x="73075" y="1901888"/>
                  </a:lnTo>
                  <a:lnTo>
                    <a:pt x="3456355" y="1901520"/>
                  </a:lnTo>
                  <a:lnTo>
                    <a:pt x="3500733" y="1886428"/>
                  </a:lnTo>
                  <a:lnTo>
                    <a:pt x="3523897" y="1856696"/>
                  </a:lnTo>
                  <a:lnTo>
                    <a:pt x="3523973" y="1856540"/>
                  </a:lnTo>
                  <a:lnTo>
                    <a:pt x="3526954" y="1847656"/>
                  </a:lnTo>
                  <a:lnTo>
                    <a:pt x="3527013" y="1847478"/>
                  </a:lnTo>
                  <a:lnTo>
                    <a:pt x="3528798" y="1838278"/>
                  </a:lnTo>
                  <a:lnTo>
                    <a:pt x="3528836" y="1838078"/>
                  </a:lnTo>
                  <a:lnTo>
                    <a:pt x="3529421" y="1828800"/>
                  </a:lnTo>
                  <a:lnTo>
                    <a:pt x="3529444" y="1828444"/>
                  </a:lnTo>
                  <a:lnTo>
                    <a:pt x="3529076" y="73088"/>
                  </a:lnTo>
                  <a:lnTo>
                    <a:pt x="3513984" y="28710"/>
                  </a:lnTo>
                  <a:lnTo>
                    <a:pt x="3475034" y="2430"/>
                  </a:lnTo>
                  <a:lnTo>
                    <a:pt x="3465633" y="607"/>
                  </a:lnTo>
                  <a:lnTo>
                    <a:pt x="34560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360" y="1271155"/>
              <a:ext cx="3529965" cy="1902460"/>
            </a:xfrm>
            <a:custGeom>
              <a:avLst/>
              <a:gdLst/>
              <a:ahLst/>
              <a:cxnLst/>
              <a:rect l="l" t="t" r="r" b="b"/>
              <a:pathLst>
                <a:path w="3529965" h="19024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3456000" y="0"/>
                  </a:lnTo>
                  <a:lnTo>
                    <a:pt x="3500527" y="15109"/>
                  </a:lnTo>
                  <a:lnTo>
                    <a:pt x="3526647" y="54232"/>
                  </a:lnTo>
                  <a:lnTo>
                    <a:pt x="3529076" y="73088"/>
                  </a:lnTo>
                  <a:lnTo>
                    <a:pt x="3529444" y="1828444"/>
                  </a:lnTo>
                  <a:lnTo>
                    <a:pt x="3528836" y="1838078"/>
                  </a:lnTo>
                  <a:lnTo>
                    <a:pt x="3527013" y="1847478"/>
                  </a:lnTo>
                  <a:lnTo>
                    <a:pt x="3500733" y="1886428"/>
                  </a:lnTo>
                  <a:lnTo>
                    <a:pt x="3456355" y="1901520"/>
                  </a:lnTo>
                  <a:lnTo>
                    <a:pt x="73075" y="1901888"/>
                  </a:lnTo>
                  <a:lnTo>
                    <a:pt x="28555" y="1886778"/>
                  </a:lnTo>
                  <a:lnTo>
                    <a:pt x="2428" y="1847656"/>
                  </a:lnTo>
                  <a:lnTo>
                    <a:pt x="0" y="182880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1715" y="1271155"/>
              <a:ext cx="73025" cy="1901825"/>
            </a:xfrm>
            <a:custGeom>
              <a:avLst/>
              <a:gdLst/>
              <a:ahLst/>
              <a:cxnLst/>
              <a:rect l="l" t="t" r="r" b="b"/>
              <a:pathLst>
                <a:path w="73025" h="1901825">
                  <a:moveTo>
                    <a:pt x="72720" y="0"/>
                  </a:moveTo>
                  <a:lnTo>
                    <a:pt x="0" y="0"/>
                  </a:lnTo>
                  <a:lnTo>
                    <a:pt x="0" y="1901520"/>
                  </a:lnTo>
                  <a:lnTo>
                    <a:pt x="36360" y="1901520"/>
                  </a:lnTo>
                  <a:lnTo>
                    <a:pt x="72720" y="190152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7615" y="1422971"/>
            <a:ext cx="2959100" cy="2057437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50" b="1">
                <a:solidFill>
                  <a:srgbClr val="2E6A46"/>
                </a:solidFill>
                <a:latin typeface="Arial"/>
                <a:cs typeface="Arial"/>
              </a:rPr>
              <a:t>h_canopy</a:t>
            </a:r>
            <a:r>
              <a:rPr lang="es-MX" sz="1750" b="1" spc="-65">
                <a:solidFill>
                  <a:srgbClr val="2E6A46"/>
                </a:solidFill>
                <a:latin typeface="Arial"/>
                <a:cs typeface="Arial"/>
              </a:rPr>
              <a:t> </a:t>
            </a:r>
            <a:r>
              <a:rPr lang="es-MX" sz="1750" b="1">
                <a:solidFill>
                  <a:srgbClr val="2E6A46"/>
                </a:solidFill>
                <a:latin typeface="Arial"/>
                <a:cs typeface="Arial"/>
              </a:rPr>
              <a:t>≈</a:t>
            </a:r>
            <a:r>
              <a:rPr lang="es-MX" sz="1750" b="1" spc="-60">
                <a:solidFill>
                  <a:srgbClr val="2E6A46"/>
                </a:solidFill>
                <a:latin typeface="Arial"/>
                <a:cs typeface="Arial"/>
              </a:rPr>
              <a:t> </a:t>
            </a:r>
            <a:r>
              <a:rPr lang="es-MX" sz="1750" b="1" spc="-20">
                <a:solidFill>
                  <a:srgbClr val="2E6A46"/>
                </a:solidFill>
                <a:latin typeface="Arial"/>
                <a:cs typeface="Arial"/>
              </a:rPr>
              <a:t>RH98</a:t>
            </a:r>
            <a:endParaRPr lang="es-MX" sz="1750">
              <a:latin typeface="Arial"/>
              <a:cs typeface="Arial"/>
            </a:endParaRPr>
          </a:p>
          <a:p>
            <a:pPr marL="12700" marR="5080">
              <a:lnSpc>
                <a:spcPct val="106900"/>
              </a:lnSpc>
              <a:spcBef>
                <a:spcPts val="1055"/>
              </a:spcBef>
            </a:pP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Percentil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98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las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alturas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relativas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fotones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clasificados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como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dosel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por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encima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terreno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estimado.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Es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métrica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primaria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de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altura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este</a:t>
            </a:r>
            <a:r>
              <a:rPr lang="es-MX" sz="145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análisis.</a:t>
            </a:r>
            <a:endParaRPr lang="es-MX" sz="14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19640" y="1266115"/>
            <a:ext cx="3540125" cy="1911985"/>
            <a:chOff x="4319640" y="1266115"/>
            <a:chExt cx="3540125" cy="191198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1" name="object 11"/>
            <p:cNvSpPr/>
            <p:nvPr/>
          </p:nvSpPr>
          <p:spPr>
            <a:xfrm>
              <a:off x="4324680" y="1271155"/>
              <a:ext cx="3529965" cy="1902460"/>
            </a:xfrm>
            <a:custGeom>
              <a:avLst/>
              <a:gdLst/>
              <a:ahLst/>
              <a:cxnLst/>
              <a:rect l="l" t="t" r="r" b="b"/>
              <a:pathLst>
                <a:path w="3529965" h="1902460">
                  <a:moveTo>
                    <a:pt x="345600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828800"/>
                  </a:lnTo>
                  <a:lnTo>
                    <a:pt x="594" y="1838078"/>
                  </a:lnTo>
                  <a:lnTo>
                    <a:pt x="607" y="1838278"/>
                  </a:lnTo>
                  <a:lnTo>
                    <a:pt x="2394" y="1847478"/>
                  </a:lnTo>
                  <a:lnTo>
                    <a:pt x="2428" y="1847656"/>
                  </a:lnTo>
                  <a:lnTo>
                    <a:pt x="28555" y="1886778"/>
                  </a:lnTo>
                  <a:lnTo>
                    <a:pt x="73075" y="1901888"/>
                  </a:lnTo>
                  <a:lnTo>
                    <a:pt x="3456355" y="1901520"/>
                  </a:lnTo>
                  <a:lnTo>
                    <a:pt x="3500733" y="1886428"/>
                  </a:lnTo>
                  <a:lnTo>
                    <a:pt x="3523897" y="1856696"/>
                  </a:lnTo>
                  <a:lnTo>
                    <a:pt x="3523973" y="1856540"/>
                  </a:lnTo>
                  <a:lnTo>
                    <a:pt x="3526954" y="1847656"/>
                  </a:lnTo>
                  <a:lnTo>
                    <a:pt x="3527013" y="1847478"/>
                  </a:lnTo>
                  <a:lnTo>
                    <a:pt x="3528798" y="1838278"/>
                  </a:lnTo>
                  <a:lnTo>
                    <a:pt x="3528836" y="1838078"/>
                  </a:lnTo>
                  <a:lnTo>
                    <a:pt x="3529421" y="1828800"/>
                  </a:lnTo>
                  <a:lnTo>
                    <a:pt x="3529444" y="1828444"/>
                  </a:lnTo>
                  <a:lnTo>
                    <a:pt x="3529075" y="73088"/>
                  </a:lnTo>
                  <a:lnTo>
                    <a:pt x="3513984" y="28710"/>
                  </a:lnTo>
                  <a:lnTo>
                    <a:pt x="3475034" y="2430"/>
                  </a:lnTo>
                  <a:lnTo>
                    <a:pt x="3465633" y="607"/>
                  </a:lnTo>
                  <a:lnTo>
                    <a:pt x="34560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24680" y="1271155"/>
              <a:ext cx="3529965" cy="1902460"/>
            </a:xfrm>
            <a:custGeom>
              <a:avLst/>
              <a:gdLst/>
              <a:ahLst/>
              <a:cxnLst/>
              <a:rect l="l" t="t" r="r" b="b"/>
              <a:pathLst>
                <a:path w="3529965" h="19024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3456000" y="0"/>
                  </a:lnTo>
                  <a:lnTo>
                    <a:pt x="3500527" y="15109"/>
                  </a:lnTo>
                  <a:lnTo>
                    <a:pt x="3526647" y="54232"/>
                  </a:lnTo>
                  <a:lnTo>
                    <a:pt x="3529075" y="73088"/>
                  </a:lnTo>
                  <a:lnTo>
                    <a:pt x="3529444" y="1828444"/>
                  </a:lnTo>
                  <a:lnTo>
                    <a:pt x="3528836" y="1838078"/>
                  </a:lnTo>
                  <a:lnTo>
                    <a:pt x="3527013" y="1847478"/>
                  </a:lnTo>
                  <a:lnTo>
                    <a:pt x="3500733" y="1886428"/>
                  </a:lnTo>
                  <a:lnTo>
                    <a:pt x="3456355" y="1901520"/>
                  </a:lnTo>
                  <a:lnTo>
                    <a:pt x="73075" y="1901888"/>
                  </a:lnTo>
                  <a:lnTo>
                    <a:pt x="28555" y="1886778"/>
                  </a:lnTo>
                  <a:lnTo>
                    <a:pt x="2428" y="1847656"/>
                  </a:lnTo>
                  <a:lnTo>
                    <a:pt x="0" y="182880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25035" y="1271155"/>
              <a:ext cx="73025" cy="1901825"/>
            </a:xfrm>
            <a:custGeom>
              <a:avLst/>
              <a:gdLst/>
              <a:ahLst/>
              <a:cxnLst/>
              <a:rect l="l" t="t" r="r" b="b"/>
              <a:pathLst>
                <a:path w="73025" h="1901825">
                  <a:moveTo>
                    <a:pt x="72720" y="0"/>
                  </a:moveTo>
                  <a:lnTo>
                    <a:pt x="0" y="0"/>
                  </a:lnTo>
                  <a:lnTo>
                    <a:pt x="0" y="1901520"/>
                  </a:lnTo>
                  <a:lnTo>
                    <a:pt x="36360" y="1901520"/>
                  </a:lnTo>
                  <a:lnTo>
                    <a:pt x="72720" y="190152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540935" y="1422971"/>
            <a:ext cx="3011170" cy="137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50" b="1" spc="-10">
                <a:solidFill>
                  <a:srgbClr val="C3862D"/>
                </a:solidFill>
                <a:latin typeface="Arial"/>
                <a:cs typeface="Arial"/>
              </a:rPr>
              <a:t>h_max_canopy</a:t>
            </a:r>
            <a:r>
              <a:rPr lang="es-MX" sz="1750" b="1" spc="-40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MX" sz="1750" b="1">
                <a:solidFill>
                  <a:srgbClr val="C3862D"/>
                </a:solidFill>
                <a:latin typeface="Arial"/>
                <a:cs typeface="Arial"/>
              </a:rPr>
              <a:t>=</a:t>
            </a:r>
            <a:r>
              <a:rPr lang="es-MX" sz="1750" b="1" spc="-30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MX" sz="1750" b="1" spc="-10">
                <a:solidFill>
                  <a:srgbClr val="C3862D"/>
                </a:solidFill>
                <a:latin typeface="Arial"/>
                <a:cs typeface="Arial"/>
              </a:rPr>
              <a:t>RH100</a:t>
            </a:r>
            <a:endParaRPr lang="es-MX" sz="1750">
              <a:latin typeface="Arial"/>
              <a:cs typeface="Arial"/>
            </a:endParaRPr>
          </a:p>
          <a:p>
            <a:pPr marL="12700" marR="5080">
              <a:lnSpc>
                <a:spcPct val="106900"/>
              </a:lnSpc>
              <a:spcBef>
                <a:spcPts val="1055"/>
              </a:spcBef>
            </a:pP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Altura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relativa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máxima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dosel.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Resulta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útil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como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diagnóstico,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pero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es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más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sensible</a:t>
            </a:r>
            <a:r>
              <a:rPr lang="es-MX" sz="1450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fotones</a:t>
            </a:r>
            <a:r>
              <a:rPr lang="es-MX" sz="1450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extremos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errores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clasificación.</a:t>
            </a:r>
            <a:endParaRPr lang="es-MX" sz="14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22960" y="1266115"/>
            <a:ext cx="3540125" cy="1911985"/>
            <a:chOff x="8022960" y="1266115"/>
            <a:chExt cx="3540125" cy="191198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6" name="object 16"/>
            <p:cNvSpPr/>
            <p:nvPr/>
          </p:nvSpPr>
          <p:spPr>
            <a:xfrm>
              <a:off x="8028000" y="1271155"/>
              <a:ext cx="3529965" cy="1902460"/>
            </a:xfrm>
            <a:custGeom>
              <a:avLst/>
              <a:gdLst/>
              <a:ahLst/>
              <a:cxnLst/>
              <a:rect l="l" t="t" r="r" b="b"/>
              <a:pathLst>
                <a:path w="3529965" h="1902460">
                  <a:moveTo>
                    <a:pt x="345600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828800"/>
                  </a:lnTo>
                  <a:lnTo>
                    <a:pt x="594" y="1838078"/>
                  </a:lnTo>
                  <a:lnTo>
                    <a:pt x="607" y="1838278"/>
                  </a:lnTo>
                  <a:lnTo>
                    <a:pt x="21423" y="1880417"/>
                  </a:lnTo>
                  <a:lnTo>
                    <a:pt x="63443" y="1901281"/>
                  </a:lnTo>
                  <a:lnTo>
                    <a:pt x="73075" y="1901888"/>
                  </a:lnTo>
                  <a:lnTo>
                    <a:pt x="3456355" y="1901520"/>
                  </a:lnTo>
                  <a:lnTo>
                    <a:pt x="3500733" y="1886428"/>
                  </a:lnTo>
                  <a:lnTo>
                    <a:pt x="3523897" y="1856696"/>
                  </a:lnTo>
                  <a:lnTo>
                    <a:pt x="3523973" y="1856540"/>
                  </a:lnTo>
                  <a:lnTo>
                    <a:pt x="3526954" y="1847656"/>
                  </a:lnTo>
                  <a:lnTo>
                    <a:pt x="3527013" y="1847478"/>
                  </a:lnTo>
                  <a:lnTo>
                    <a:pt x="3528798" y="1838278"/>
                  </a:lnTo>
                  <a:lnTo>
                    <a:pt x="3528836" y="1838078"/>
                  </a:lnTo>
                  <a:lnTo>
                    <a:pt x="3529421" y="1828800"/>
                  </a:lnTo>
                  <a:lnTo>
                    <a:pt x="3529444" y="1828444"/>
                  </a:lnTo>
                  <a:lnTo>
                    <a:pt x="3529076" y="73088"/>
                  </a:lnTo>
                  <a:lnTo>
                    <a:pt x="3513984" y="28710"/>
                  </a:lnTo>
                  <a:lnTo>
                    <a:pt x="3475034" y="2430"/>
                  </a:lnTo>
                  <a:lnTo>
                    <a:pt x="3465633" y="607"/>
                  </a:lnTo>
                  <a:lnTo>
                    <a:pt x="34560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28000" y="1271155"/>
              <a:ext cx="3529965" cy="1902460"/>
            </a:xfrm>
            <a:custGeom>
              <a:avLst/>
              <a:gdLst/>
              <a:ahLst/>
              <a:cxnLst/>
              <a:rect l="l" t="t" r="r" b="b"/>
              <a:pathLst>
                <a:path w="3529965" h="19024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3456000" y="0"/>
                  </a:lnTo>
                  <a:lnTo>
                    <a:pt x="3500527" y="15109"/>
                  </a:lnTo>
                  <a:lnTo>
                    <a:pt x="3526647" y="54232"/>
                  </a:lnTo>
                  <a:lnTo>
                    <a:pt x="3529076" y="73088"/>
                  </a:lnTo>
                  <a:lnTo>
                    <a:pt x="3529444" y="1828444"/>
                  </a:lnTo>
                  <a:lnTo>
                    <a:pt x="3528836" y="1838078"/>
                  </a:lnTo>
                  <a:lnTo>
                    <a:pt x="3527013" y="1847478"/>
                  </a:lnTo>
                  <a:lnTo>
                    <a:pt x="3500733" y="1886428"/>
                  </a:lnTo>
                  <a:lnTo>
                    <a:pt x="3456355" y="1901520"/>
                  </a:lnTo>
                  <a:lnTo>
                    <a:pt x="73075" y="1901888"/>
                  </a:lnTo>
                  <a:lnTo>
                    <a:pt x="28555" y="1886778"/>
                  </a:lnTo>
                  <a:lnTo>
                    <a:pt x="2428" y="1847656"/>
                  </a:lnTo>
                  <a:lnTo>
                    <a:pt x="0" y="182880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28356" y="1271155"/>
              <a:ext cx="73025" cy="1901825"/>
            </a:xfrm>
            <a:custGeom>
              <a:avLst/>
              <a:gdLst/>
              <a:ahLst/>
              <a:cxnLst/>
              <a:rect l="l" t="t" r="r" b="b"/>
              <a:pathLst>
                <a:path w="73025" h="1901825">
                  <a:moveTo>
                    <a:pt x="72720" y="0"/>
                  </a:moveTo>
                  <a:lnTo>
                    <a:pt x="0" y="0"/>
                  </a:lnTo>
                  <a:lnTo>
                    <a:pt x="0" y="1901520"/>
                  </a:lnTo>
                  <a:lnTo>
                    <a:pt x="36360" y="1901520"/>
                  </a:lnTo>
                  <a:lnTo>
                    <a:pt x="72720" y="190152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44255" y="1422971"/>
            <a:ext cx="2938145" cy="160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50" b="1" spc="-10">
                <a:solidFill>
                  <a:srgbClr val="296D6F"/>
                </a:solidFill>
                <a:latin typeface="Arial"/>
                <a:cs typeface="Arial"/>
              </a:rPr>
              <a:t>canopy_h_metrics</a:t>
            </a:r>
            <a:endParaRPr lang="es-MX" sz="1750">
              <a:latin typeface="Arial"/>
              <a:cs typeface="Arial"/>
            </a:endParaRPr>
          </a:p>
          <a:p>
            <a:pPr marL="12700" marR="5080">
              <a:lnSpc>
                <a:spcPct val="106900"/>
              </a:lnSpc>
              <a:spcBef>
                <a:spcPts val="1055"/>
              </a:spcBef>
            </a:pP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Vector de percentiles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10-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95 de 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la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distribución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alturas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relativas.</a:t>
            </a:r>
            <a:r>
              <a:rPr lang="es-MX" sz="145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No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aparece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como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una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colección</a:t>
            </a:r>
            <a:r>
              <a:rPr lang="es-MX" sz="1450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de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columnas</a:t>
            </a:r>
            <a:r>
              <a:rPr lang="es-MX" sz="145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simples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45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toda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extracción.</a:t>
            </a:r>
            <a:endParaRPr lang="es-MX" sz="14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27924" y="3292262"/>
            <a:ext cx="10751185" cy="482600"/>
            <a:chOff x="727924" y="3507840"/>
            <a:chExt cx="10751185" cy="4826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1" name="object 21"/>
            <p:cNvSpPr/>
            <p:nvPr/>
          </p:nvSpPr>
          <p:spPr>
            <a:xfrm>
              <a:off x="731164" y="3511080"/>
              <a:ext cx="10744835" cy="476250"/>
            </a:xfrm>
            <a:custGeom>
              <a:avLst/>
              <a:gdLst/>
              <a:ahLst/>
              <a:cxnLst/>
              <a:rect l="l" t="t" r="r" b="b"/>
              <a:pathLst>
                <a:path w="10744835" h="476250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445681"/>
                  </a:lnTo>
                  <a:lnTo>
                    <a:pt x="1692" y="451802"/>
                  </a:lnTo>
                  <a:lnTo>
                    <a:pt x="1790" y="452158"/>
                  </a:lnTo>
                  <a:lnTo>
                    <a:pt x="5041" y="457555"/>
                  </a:lnTo>
                  <a:lnTo>
                    <a:pt x="8280" y="463321"/>
                  </a:lnTo>
                  <a:lnTo>
                    <a:pt x="12953" y="467639"/>
                  </a:lnTo>
                  <a:lnTo>
                    <a:pt x="18351" y="470877"/>
                  </a:lnTo>
                  <a:lnTo>
                    <a:pt x="24117" y="474116"/>
                  </a:lnTo>
                  <a:lnTo>
                    <a:pt x="30238" y="475919"/>
                  </a:lnTo>
                  <a:lnTo>
                    <a:pt x="10714316" y="475919"/>
                  </a:lnTo>
                  <a:lnTo>
                    <a:pt x="10720793" y="474116"/>
                  </a:lnTo>
                  <a:lnTo>
                    <a:pt x="10726191" y="470877"/>
                  </a:lnTo>
                  <a:lnTo>
                    <a:pt x="10731957" y="467639"/>
                  </a:lnTo>
                  <a:lnTo>
                    <a:pt x="10736275" y="462965"/>
                  </a:lnTo>
                  <a:lnTo>
                    <a:pt x="10739513" y="457555"/>
                  </a:lnTo>
                  <a:lnTo>
                    <a:pt x="10742752" y="451802"/>
                  </a:lnTo>
                  <a:lnTo>
                    <a:pt x="10744555" y="445681"/>
                  </a:lnTo>
                  <a:lnTo>
                    <a:pt x="10744456" y="30238"/>
                  </a:lnTo>
                  <a:lnTo>
                    <a:pt x="10742752" y="24117"/>
                  </a:lnTo>
                  <a:lnTo>
                    <a:pt x="10739513" y="18719"/>
                  </a:lnTo>
                  <a:lnTo>
                    <a:pt x="10736275" y="12953"/>
                  </a:lnTo>
                  <a:lnTo>
                    <a:pt x="10731601" y="8635"/>
                  </a:lnTo>
                  <a:lnTo>
                    <a:pt x="10726191" y="5397"/>
                  </a:lnTo>
                  <a:lnTo>
                    <a:pt x="10720438" y="2158"/>
                  </a:lnTo>
                  <a:lnTo>
                    <a:pt x="1071431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E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164" y="3511080"/>
              <a:ext cx="10744835" cy="476250"/>
            </a:xfrm>
            <a:custGeom>
              <a:avLst/>
              <a:gdLst/>
              <a:ahLst/>
              <a:cxnLst/>
              <a:rect l="l" t="t" r="r" b="b"/>
              <a:pathLst>
                <a:path w="10744835" h="476250">
                  <a:moveTo>
                    <a:pt x="355" y="36715"/>
                  </a:moveTo>
                  <a:lnTo>
                    <a:pt x="355" y="30238"/>
                  </a:lnTo>
                  <a:lnTo>
                    <a:pt x="2158" y="24117"/>
                  </a:lnTo>
                  <a:lnTo>
                    <a:pt x="5397" y="18364"/>
                  </a:lnTo>
                  <a:lnTo>
                    <a:pt x="8635" y="12953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71" y="0"/>
                  </a:lnTo>
                  <a:lnTo>
                    <a:pt x="10707839" y="355"/>
                  </a:lnTo>
                  <a:lnTo>
                    <a:pt x="10714316" y="355"/>
                  </a:lnTo>
                  <a:lnTo>
                    <a:pt x="10720438" y="2158"/>
                  </a:lnTo>
                  <a:lnTo>
                    <a:pt x="10726191" y="5397"/>
                  </a:lnTo>
                  <a:lnTo>
                    <a:pt x="10731601" y="8635"/>
                  </a:lnTo>
                  <a:lnTo>
                    <a:pt x="10736275" y="12953"/>
                  </a:lnTo>
                  <a:lnTo>
                    <a:pt x="10739513" y="18719"/>
                  </a:lnTo>
                  <a:lnTo>
                    <a:pt x="10742752" y="24117"/>
                  </a:lnTo>
                  <a:lnTo>
                    <a:pt x="10744555" y="30594"/>
                  </a:lnTo>
                  <a:lnTo>
                    <a:pt x="10744555" y="37083"/>
                  </a:lnTo>
                  <a:lnTo>
                    <a:pt x="10744555" y="439204"/>
                  </a:lnTo>
                  <a:lnTo>
                    <a:pt x="10744555" y="445681"/>
                  </a:lnTo>
                  <a:lnTo>
                    <a:pt x="10742752" y="451802"/>
                  </a:lnTo>
                  <a:lnTo>
                    <a:pt x="10739513" y="457555"/>
                  </a:lnTo>
                  <a:lnTo>
                    <a:pt x="10736275" y="462965"/>
                  </a:lnTo>
                  <a:lnTo>
                    <a:pt x="10731957" y="467639"/>
                  </a:lnTo>
                  <a:lnTo>
                    <a:pt x="10726191" y="470877"/>
                  </a:lnTo>
                  <a:lnTo>
                    <a:pt x="10720793" y="474116"/>
                  </a:lnTo>
                  <a:lnTo>
                    <a:pt x="10714316" y="475919"/>
                  </a:lnTo>
                  <a:lnTo>
                    <a:pt x="10707839" y="475919"/>
                  </a:lnTo>
                  <a:lnTo>
                    <a:pt x="36715" y="475919"/>
                  </a:lnTo>
                  <a:lnTo>
                    <a:pt x="30238" y="475919"/>
                  </a:lnTo>
                  <a:lnTo>
                    <a:pt x="24117" y="474116"/>
                  </a:lnTo>
                  <a:lnTo>
                    <a:pt x="18351" y="470877"/>
                  </a:lnTo>
                  <a:lnTo>
                    <a:pt x="12953" y="467639"/>
                  </a:lnTo>
                  <a:lnTo>
                    <a:pt x="8280" y="463321"/>
                  </a:lnTo>
                  <a:lnTo>
                    <a:pt x="5041" y="457555"/>
                  </a:lnTo>
                  <a:lnTo>
                    <a:pt x="1790" y="452158"/>
                  </a:lnTo>
                  <a:lnTo>
                    <a:pt x="0" y="445681"/>
                  </a:lnTo>
                  <a:lnTo>
                    <a:pt x="0" y="439204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20064" y="3373693"/>
            <a:ext cx="1595755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400" b="1" spc="-10">
                <a:solidFill>
                  <a:srgbClr val="2E6A46"/>
                </a:solidFill>
                <a:latin typeface="Arial"/>
                <a:cs typeface="Arial"/>
              </a:rPr>
              <a:t>can_quality_score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14026" y="3375496"/>
            <a:ext cx="4806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10">
                <a:solidFill>
                  <a:srgbClr val="1F2F28"/>
                </a:solidFill>
                <a:latin typeface="Arial"/>
                <a:cs typeface="Arial"/>
              </a:rPr>
              <a:t>0-</a:t>
            </a:r>
            <a:r>
              <a:rPr lang="es-ES" sz="1400" b="1" spc="-25">
                <a:solidFill>
                  <a:srgbClr val="1F2F28"/>
                </a:solidFill>
                <a:latin typeface="Arial"/>
                <a:cs typeface="Arial"/>
              </a:rPr>
              <a:t>100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69104" y="3399969"/>
            <a:ext cx="608400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Puntaje</a:t>
            </a:r>
            <a:r>
              <a:rPr lang="es-MX" sz="125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compuesto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del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dosel;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100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indica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las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condiciones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coincidentes</a:t>
            </a:r>
            <a:r>
              <a:rPr lang="es-MX" sz="125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más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 spc="-10">
                <a:solidFill>
                  <a:schemeClr val="tx1"/>
                </a:solidFill>
                <a:latin typeface="Arial"/>
                <a:cs typeface="Arial"/>
              </a:rPr>
              <a:t>favorables.</a:t>
            </a:r>
            <a:endParaRPr lang="es-MX" sz="125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7924" y="3886622"/>
            <a:ext cx="10751185" cy="482600"/>
            <a:chOff x="727924" y="4102200"/>
            <a:chExt cx="10751185" cy="4826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7" name="object 27"/>
            <p:cNvSpPr/>
            <p:nvPr/>
          </p:nvSpPr>
          <p:spPr>
            <a:xfrm>
              <a:off x="731164" y="4105440"/>
              <a:ext cx="10744835" cy="476250"/>
            </a:xfrm>
            <a:custGeom>
              <a:avLst/>
              <a:gdLst/>
              <a:ahLst/>
              <a:cxnLst/>
              <a:rect l="l" t="t" r="r" b="b"/>
              <a:pathLst>
                <a:path w="10744835" h="476250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445681"/>
                  </a:lnTo>
                  <a:lnTo>
                    <a:pt x="1692" y="451802"/>
                  </a:lnTo>
                  <a:lnTo>
                    <a:pt x="1790" y="452158"/>
                  </a:lnTo>
                  <a:lnTo>
                    <a:pt x="5041" y="457555"/>
                  </a:lnTo>
                  <a:lnTo>
                    <a:pt x="8280" y="463321"/>
                  </a:lnTo>
                  <a:lnTo>
                    <a:pt x="12953" y="467639"/>
                  </a:lnTo>
                  <a:lnTo>
                    <a:pt x="18351" y="470877"/>
                  </a:lnTo>
                  <a:lnTo>
                    <a:pt x="24117" y="474116"/>
                  </a:lnTo>
                  <a:lnTo>
                    <a:pt x="30238" y="475919"/>
                  </a:lnTo>
                  <a:lnTo>
                    <a:pt x="10714316" y="475919"/>
                  </a:lnTo>
                  <a:lnTo>
                    <a:pt x="10720793" y="474116"/>
                  </a:lnTo>
                  <a:lnTo>
                    <a:pt x="10726191" y="470877"/>
                  </a:lnTo>
                  <a:lnTo>
                    <a:pt x="10731957" y="467639"/>
                  </a:lnTo>
                  <a:lnTo>
                    <a:pt x="10736275" y="462965"/>
                  </a:lnTo>
                  <a:lnTo>
                    <a:pt x="10739513" y="457555"/>
                  </a:lnTo>
                  <a:lnTo>
                    <a:pt x="10742752" y="451802"/>
                  </a:lnTo>
                  <a:lnTo>
                    <a:pt x="10744555" y="445681"/>
                  </a:lnTo>
                  <a:lnTo>
                    <a:pt x="10744456" y="30238"/>
                  </a:lnTo>
                  <a:lnTo>
                    <a:pt x="10742752" y="24117"/>
                  </a:lnTo>
                  <a:lnTo>
                    <a:pt x="10739513" y="18719"/>
                  </a:lnTo>
                  <a:lnTo>
                    <a:pt x="10736275" y="12953"/>
                  </a:lnTo>
                  <a:lnTo>
                    <a:pt x="10731601" y="8635"/>
                  </a:lnTo>
                  <a:lnTo>
                    <a:pt x="10726191" y="5397"/>
                  </a:lnTo>
                  <a:lnTo>
                    <a:pt x="10720438" y="2158"/>
                  </a:lnTo>
                  <a:lnTo>
                    <a:pt x="1071431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1164" y="4105440"/>
              <a:ext cx="10744835" cy="476250"/>
            </a:xfrm>
            <a:custGeom>
              <a:avLst/>
              <a:gdLst/>
              <a:ahLst/>
              <a:cxnLst/>
              <a:rect l="l" t="t" r="r" b="b"/>
              <a:pathLst>
                <a:path w="10744835" h="476250">
                  <a:moveTo>
                    <a:pt x="355" y="36715"/>
                  </a:moveTo>
                  <a:lnTo>
                    <a:pt x="355" y="30238"/>
                  </a:lnTo>
                  <a:lnTo>
                    <a:pt x="2158" y="24117"/>
                  </a:lnTo>
                  <a:lnTo>
                    <a:pt x="5397" y="18364"/>
                  </a:lnTo>
                  <a:lnTo>
                    <a:pt x="8635" y="12953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71" y="0"/>
                  </a:lnTo>
                  <a:lnTo>
                    <a:pt x="10707839" y="355"/>
                  </a:lnTo>
                  <a:lnTo>
                    <a:pt x="10714316" y="355"/>
                  </a:lnTo>
                  <a:lnTo>
                    <a:pt x="10720438" y="2158"/>
                  </a:lnTo>
                  <a:lnTo>
                    <a:pt x="10726191" y="5397"/>
                  </a:lnTo>
                  <a:lnTo>
                    <a:pt x="10731601" y="8635"/>
                  </a:lnTo>
                  <a:lnTo>
                    <a:pt x="10736275" y="12953"/>
                  </a:lnTo>
                  <a:lnTo>
                    <a:pt x="10739513" y="18719"/>
                  </a:lnTo>
                  <a:lnTo>
                    <a:pt x="10742752" y="24117"/>
                  </a:lnTo>
                  <a:lnTo>
                    <a:pt x="10744555" y="30594"/>
                  </a:lnTo>
                  <a:lnTo>
                    <a:pt x="10744555" y="37083"/>
                  </a:lnTo>
                  <a:lnTo>
                    <a:pt x="10744555" y="439204"/>
                  </a:lnTo>
                  <a:lnTo>
                    <a:pt x="10744555" y="445681"/>
                  </a:lnTo>
                  <a:lnTo>
                    <a:pt x="10742752" y="451802"/>
                  </a:lnTo>
                  <a:lnTo>
                    <a:pt x="10739513" y="457555"/>
                  </a:lnTo>
                  <a:lnTo>
                    <a:pt x="10736275" y="462965"/>
                  </a:lnTo>
                  <a:lnTo>
                    <a:pt x="10731957" y="467639"/>
                  </a:lnTo>
                  <a:lnTo>
                    <a:pt x="10726191" y="470877"/>
                  </a:lnTo>
                  <a:lnTo>
                    <a:pt x="10720793" y="474116"/>
                  </a:lnTo>
                  <a:lnTo>
                    <a:pt x="10714316" y="475919"/>
                  </a:lnTo>
                  <a:lnTo>
                    <a:pt x="10707839" y="475919"/>
                  </a:lnTo>
                  <a:lnTo>
                    <a:pt x="36715" y="475919"/>
                  </a:lnTo>
                  <a:lnTo>
                    <a:pt x="30238" y="475919"/>
                  </a:lnTo>
                  <a:lnTo>
                    <a:pt x="24117" y="474116"/>
                  </a:lnTo>
                  <a:lnTo>
                    <a:pt x="18351" y="470877"/>
                  </a:lnTo>
                  <a:lnTo>
                    <a:pt x="12953" y="467639"/>
                  </a:lnTo>
                  <a:lnTo>
                    <a:pt x="8280" y="463321"/>
                  </a:lnTo>
                  <a:lnTo>
                    <a:pt x="5041" y="457555"/>
                  </a:lnTo>
                  <a:lnTo>
                    <a:pt x="1790" y="452158"/>
                  </a:lnTo>
                  <a:lnTo>
                    <a:pt x="0" y="445681"/>
                  </a:lnTo>
                  <a:lnTo>
                    <a:pt x="0" y="439204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20064" y="3968052"/>
            <a:ext cx="1445260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400" b="1" spc="-10">
                <a:solidFill>
                  <a:srgbClr val="173A54"/>
                </a:solidFill>
                <a:latin typeface="Arial"/>
                <a:cs typeface="Arial"/>
              </a:rPr>
              <a:t>te_quality_score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14026" y="3969856"/>
            <a:ext cx="4806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10">
                <a:solidFill>
                  <a:srgbClr val="1F2F28"/>
                </a:solidFill>
                <a:latin typeface="Arial"/>
                <a:cs typeface="Arial"/>
              </a:rPr>
              <a:t>0-</a:t>
            </a:r>
            <a:r>
              <a:rPr lang="es-ES" sz="1400" b="1" spc="-25">
                <a:solidFill>
                  <a:srgbClr val="1F2F28"/>
                </a:solidFill>
                <a:latin typeface="Arial"/>
                <a:cs typeface="Arial"/>
              </a:rPr>
              <a:t>100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69104" y="3973463"/>
            <a:ext cx="603631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Puntaje</a:t>
            </a:r>
            <a:r>
              <a:rPr lang="es-MX" sz="125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compuesto</a:t>
            </a:r>
            <a:r>
              <a:rPr lang="es-MX" sz="125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del</a:t>
            </a:r>
            <a:r>
              <a:rPr lang="es-MX" sz="125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terreno;</a:t>
            </a:r>
            <a:r>
              <a:rPr lang="es-MX" sz="125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resume</a:t>
            </a:r>
            <a:r>
              <a:rPr lang="es-MX" sz="1250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condiciones</a:t>
            </a:r>
            <a:r>
              <a:rPr lang="es-MX" sz="1250" spc="-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que</a:t>
            </a:r>
            <a:r>
              <a:rPr lang="es-MX" sz="125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afectan</a:t>
            </a:r>
            <a:r>
              <a:rPr lang="es-MX" sz="1250" spc="-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su</a:t>
            </a:r>
            <a:r>
              <a:rPr lang="es-MX" sz="1250" spc="-4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 spc="-10">
                <a:solidFill>
                  <a:schemeClr val="tx1"/>
                </a:solidFill>
                <a:latin typeface="Arial"/>
                <a:cs typeface="Arial"/>
              </a:rPr>
              <a:t>estimación.</a:t>
            </a:r>
            <a:endParaRPr lang="es-MX" sz="125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27924" y="4480982"/>
            <a:ext cx="10751185" cy="482600"/>
            <a:chOff x="727924" y="4696560"/>
            <a:chExt cx="10751185" cy="4826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3" name="object 33"/>
            <p:cNvSpPr/>
            <p:nvPr/>
          </p:nvSpPr>
          <p:spPr>
            <a:xfrm>
              <a:off x="731164" y="4699800"/>
              <a:ext cx="10744835" cy="476250"/>
            </a:xfrm>
            <a:custGeom>
              <a:avLst/>
              <a:gdLst/>
              <a:ahLst/>
              <a:cxnLst/>
              <a:rect l="l" t="t" r="r" b="b"/>
              <a:pathLst>
                <a:path w="10744835" h="476250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445681"/>
                  </a:lnTo>
                  <a:lnTo>
                    <a:pt x="1692" y="451802"/>
                  </a:lnTo>
                  <a:lnTo>
                    <a:pt x="1790" y="452158"/>
                  </a:lnTo>
                  <a:lnTo>
                    <a:pt x="5041" y="457555"/>
                  </a:lnTo>
                  <a:lnTo>
                    <a:pt x="8280" y="463321"/>
                  </a:lnTo>
                  <a:lnTo>
                    <a:pt x="12953" y="467639"/>
                  </a:lnTo>
                  <a:lnTo>
                    <a:pt x="18351" y="470877"/>
                  </a:lnTo>
                  <a:lnTo>
                    <a:pt x="24117" y="474116"/>
                  </a:lnTo>
                  <a:lnTo>
                    <a:pt x="30238" y="475919"/>
                  </a:lnTo>
                  <a:lnTo>
                    <a:pt x="10714316" y="475919"/>
                  </a:lnTo>
                  <a:lnTo>
                    <a:pt x="10720793" y="474116"/>
                  </a:lnTo>
                  <a:lnTo>
                    <a:pt x="10726191" y="470877"/>
                  </a:lnTo>
                  <a:lnTo>
                    <a:pt x="10731957" y="467639"/>
                  </a:lnTo>
                  <a:lnTo>
                    <a:pt x="10736275" y="462965"/>
                  </a:lnTo>
                  <a:lnTo>
                    <a:pt x="10739513" y="457555"/>
                  </a:lnTo>
                  <a:lnTo>
                    <a:pt x="10742752" y="451802"/>
                  </a:lnTo>
                  <a:lnTo>
                    <a:pt x="10744555" y="445681"/>
                  </a:lnTo>
                  <a:lnTo>
                    <a:pt x="10744456" y="30238"/>
                  </a:lnTo>
                  <a:lnTo>
                    <a:pt x="10742752" y="24117"/>
                  </a:lnTo>
                  <a:lnTo>
                    <a:pt x="10739513" y="18719"/>
                  </a:lnTo>
                  <a:lnTo>
                    <a:pt x="10736275" y="12954"/>
                  </a:lnTo>
                  <a:lnTo>
                    <a:pt x="10731601" y="8636"/>
                  </a:lnTo>
                  <a:lnTo>
                    <a:pt x="10726191" y="5397"/>
                  </a:lnTo>
                  <a:lnTo>
                    <a:pt x="10720438" y="2159"/>
                  </a:lnTo>
                  <a:lnTo>
                    <a:pt x="1071431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E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1164" y="4699800"/>
              <a:ext cx="10744835" cy="476250"/>
            </a:xfrm>
            <a:custGeom>
              <a:avLst/>
              <a:gdLst/>
              <a:ahLst/>
              <a:cxnLst/>
              <a:rect l="l" t="t" r="r" b="b"/>
              <a:pathLst>
                <a:path w="10744835" h="476250">
                  <a:moveTo>
                    <a:pt x="355" y="36715"/>
                  </a:moveTo>
                  <a:lnTo>
                    <a:pt x="355" y="30238"/>
                  </a:lnTo>
                  <a:lnTo>
                    <a:pt x="2158" y="24117"/>
                  </a:lnTo>
                  <a:lnTo>
                    <a:pt x="5397" y="18364"/>
                  </a:lnTo>
                  <a:lnTo>
                    <a:pt x="8635" y="12954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71" y="0"/>
                  </a:lnTo>
                  <a:lnTo>
                    <a:pt x="10707839" y="355"/>
                  </a:lnTo>
                  <a:lnTo>
                    <a:pt x="10714316" y="355"/>
                  </a:lnTo>
                  <a:lnTo>
                    <a:pt x="10720438" y="2159"/>
                  </a:lnTo>
                  <a:lnTo>
                    <a:pt x="10726191" y="5397"/>
                  </a:lnTo>
                  <a:lnTo>
                    <a:pt x="10731601" y="8636"/>
                  </a:lnTo>
                  <a:lnTo>
                    <a:pt x="10736275" y="12954"/>
                  </a:lnTo>
                  <a:lnTo>
                    <a:pt x="10739513" y="18719"/>
                  </a:lnTo>
                  <a:lnTo>
                    <a:pt x="10742752" y="24117"/>
                  </a:lnTo>
                  <a:lnTo>
                    <a:pt x="10744555" y="30594"/>
                  </a:lnTo>
                  <a:lnTo>
                    <a:pt x="10744555" y="37084"/>
                  </a:lnTo>
                  <a:lnTo>
                    <a:pt x="10744555" y="439204"/>
                  </a:lnTo>
                  <a:lnTo>
                    <a:pt x="10744555" y="445681"/>
                  </a:lnTo>
                  <a:lnTo>
                    <a:pt x="10742752" y="451802"/>
                  </a:lnTo>
                  <a:lnTo>
                    <a:pt x="10739513" y="457555"/>
                  </a:lnTo>
                  <a:lnTo>
                    <a:pt x="10736275" y="462965"/>
                  </a:lnTo>
                  <a:lnTo>
                    <a:pt x="10731957" y="467639"/>
                  </a:lnTo>
                  <a:lnTo>
                    <a:pt x="10726191" y="470877"/>
                  </a:lnTo>
                  <a:lnTo>
                    <a:pt x="10720793" y="474116"/>
                  </a:lnTo>
                  <a:lnTo>
                    <a:pt x="10714316" y="475919"/>
                  </a:lnTo>
                  <a:lnTo>
                    <a:pt x="10707839" y="475919"/>
                  </a:lnTo>
                  <a:lnTo>
                    <a:pt x="36715" y="475919"/>
                  </a:lnTo>
                  <a:lnTo>
                    <a:pt x="30238" y="475919"/>
                  </a:lnTo>
                  <a:lnTo>
                    <a:pt x="24117" y="474116"/>
                  </a:lnTo>
                  <a:lnTo>
                    <a:pt x="18351" y="470877"/>
                  </a:lnTo>
                  <a:lnTo>
                    <a:pt x="12953" y="467639"/>
                  </a:lnTo>
                  <a:lnTo>
                    <a:pt x="8280" y="463321"/>
                  </a:lnTo>
                  <a:lnTo>
                    <a:pt x="5041" y="457555"/>
                  </a:lnTo>
                  <a:lnTo>
                    <a:pt x="1790" y="452158"/>
                  </a:lnTo>
                  <a:lnTo>
                    <a:pt x="0" y="445681"/>
                  </a:lnTo>
                  <a:lnTo>
                    <a:pt x="0" y="439204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20064" y="4562413"/>
            <a:ext cx="1414780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400" b="1" spc="-10">
                <a:solidFill>
                  <a:srgbClr val="296D6F"/>
                </a:solidFill>
                <a:latin typeface="Arial"/>
                <a:cs typeface="Arial"/>
              </a:rPr>
              <a:t>canopy_rh_conf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44900" y="4564216"/>
            <a:ext cx="6184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1F2F28"/>
                </a:solidFill>
                <a:latin typeface="Arial"/>
                <a:cs typeface="Arial"/>
              </a:rPr>
              <a:t>0 /</a:t>
            </a:r>
            <a:r>
              <a:rPr lang="es-ES" sz="1400" b="1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1F2F28"/>
                </a:solidFill>
                <a:latin typeface="Arial"/>
                <a:cs typeface="Arial"/>
              </a:rPr>
              <a:t>1 /</a:t>
            </a:r>
            <a:r>
              <a:rPr lang="es-ES" sz="1400" b="1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00" b="1" spc="-50">
                <a:solidFill>
                  <a:srgbClr val="1F2F28"/>
                </a:solidFill>
                <a:latin typeface="Arial"/>
                <a:cs typeface="Arial"/>
              </a:rPr>
              <a:t>2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69104" y="4567823"/>
            <a:ext cx="629158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Confianza</a:t>
            </a:r>
            <a:r>
              <a:rPr lang="es-MX" sz="1250" spc="-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según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proporción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25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fotones</a:t>
            </a:r>
            <a:r>
              <a:rPr lang="es-MX" sz="125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25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dosel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terreno;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es-MX" sz="1250" spc="-4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exige</a:t>
            </a:r>
            <a:r>
              <a:rPr lang="es-MX" sz="125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≥5%</a:t>
            </a:r>
            <a:r>
              <a:rPr lang="es-MX" sz="1250" spc="-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en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 spc="-10">
                <a:solidFill>
                  <a:schemeClr val="tx1"/>
                </a:solidFill>
                <a:latin typeface="Arial"/>
                <a:cs typeface="Arial"/>
              </a:rPr>
              <a:t>ambos.</a:t>
            </a:r>
            <a:endParaRPr lang="es-MX" sz="125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27924" y="5075342"/>
            <a:ext cx="10751185" cy="482600"/>
            <a:chOff x="727924" y="5290920"/>
            <a:chExt cx="10751185" cy="4826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9" name="object 39"/>
            <p:cNvSpPr/>
            <p:nvPr/>
          </p:nvSpPr>
          <p:spPr>
            <a:xfrm>
              <a:off x="731164" y="5294159"/>
              <a:ext cx="10744835" cy="476250"/>
            </a:xfrm>
            <a:custGeom>
              <a:avLst/>
              <a:gdLst/>
              <a:ahLst/>
              <a:cxnLst/>
              <a:rect l="l" t="t" r="r" b="b"/>
              <a:pathLst>
                <a:path w="10744835" h="476250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445681"/>
                  </a:lnTo>
                  <a:lnTo>
                    <a:pt x="1692" y="451802"/>
                  </a:lnTo>
                  <a:lnTo>
                    <a:pt x="1790" y="452158"/>
                  </a:lnTo>
                  <a:lnTo>
                    <a:pt x="5041" y="457555"/>
                  </a:lnTo>
                  <a:lnTo>
                    <a:pt x="8280" y="463321"/>
                  </a:lnTo>
                  <a:lnTo>
                    <a:pt x="12953" y="467639"/>
                  </a:lnTo>
                  <a:lnTo>
                    <a:pt x="18351" y="470877"/>
                  </a:lnTo>
                  <a:lnTo>
                    <a:pt x="24117" y="474116"/>
                  </a:lnTo>
                  <a:lnTo>
                    <a:pt x="30238" y="475919"/>
                  </a:lnTo>
                  <a:lnTo>
                    <a:pt x="10714316" y="475919"/>
                  </a:lnTo>
                  <a:lnTo>
                    <a:pt x="10720793" y="474116"/>
                  </a:lnTo>
                  <a:lnTo>
                    <a:pt x="10726191" y="470877"/>
                  </a:lnTo>
                  <a:lnTo>
                    <a:pt x="10731957" y="467639"/>
                  </a:lnTo>
                  <a:lnTo>
                    <a:pt x="10736275" y="462965"/>
                  </a:lnTo>
                  <a:lnTo>
                    <a:pt x="10739513" y="457555"/>
                  </a:lnTo>
                  <a:lnTo>
                    <a:pt x="10742752" y="451802"/>
                  </a:lnTo>
                  <a:lnTo>
                    <a:pt x="10744555" y="445681"/>
                  </a:lnTo>
                  <a:lnTo>
                    <a:pt x="10744456" y="30238"/>
                  </a:lnTo>
                  <a:lnTo>
                    <a:pt x="10742752" y="24117"/>
                  </a:lnTo>
                  <a:lnTo>
                    <a:pt x="10739513" y="18719"/>
                  </a:lnTo>
                  <a:lnTo>
                    <a:pt x="10736275" y="12953"/>
                  </a:lnTo>
                  <a:lnTo>
                    <a:pt x="10731601" y="8636"/>
                  </a:lnTo>
                  <a:lnTo>
                    <a:pt x="10726191" y="5397"/>
                  </a:lnTo>
                  <a:lnTo>
                    <a:pt x="10720438" y="2159"/>
                  </a:lnTo>
                  <a:lnTo>
                    <a:pt x="1071431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1164" y="5294159"/>
              <a:ext cx="10744835" cy="476250"/>
            </a:xfrm>
            <a:custGeom>
              <a:avLst/>
              <a:gdLst/>
              <a:ahLst/>
              <a:cxnLst/>
              <a:rect l="l" t="t" r="r" b="b"/>
              <a:pathLst>
                <a:path w="10744835" h="476250">
                  <a:moveTo>
                    <a:pt x="355" y="36715"/>
                  </a:moveTo>
                  <a:lnTo>
                    <a:pt x="355" y="30238"/>
                  </a:lnTo>
                  <a:lnTo>
                    <a:pt x="2158" y="24117"/>
                  </a:lnTo>
                  <a:lnTo>
                    <a:pt x="5397" y="18364"/>
                  </a:lnTo>
                  <a:lnTo>
                    <a:pt x="8635" y="12953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71" y="0"/>
                  </a:lnTo>
                  <a:lnTo>
                    <a:pt x="10707839" y="355"/>
                  </a:lnTo>
                  <a:lnTo>
                    <a:pt x="10714316" y="355"/>
                  </a:lnTo>
                  <a:lnTo>
                    <a:pt x="10720438" y="2159"/>
                  </a:lnTo>
                  <a:lnTo>
                    <a:pt x="10726191" y="5397"/>
                  </a:lnTo>
                  <a:lnTo>
                    <a:pt x="10731601" y="8636"/>
                  </a:lnTo>
                  <a:lnTo>
                    <a:pt x="10736275" y="12953"/>
                  </a:lnTo>
                  <a:lnTo>
                    <a:pt x="10739513" y="18719"/>
                  </a:lnTo>
                  <a:lnTo>
                    <a:pt x="10742752" y="24117"/>
                  </a:lnTo>
                  <a:lnTo>
                    <a:pt x="10744555" y="30594"/>
                  </a:lnTo>
                  <a:lnTo>
                    <a:pt x="10744555" y="37084"/>
                  </a:lnTo>
                  <a:lnTo>
                    <a:pt x="10744555" y="439204"/>
                  </a:lnTo>
                  <a:lnTo>
                    <a:pt x="10744555" y="445681"/>
                  </a:lnTo>
                  <a:lnTo>
                    <a:pt x="10742752" y="451802"/>
                  </a:lnTo>
                  <a:lnTo>
                    <a:pt x="10739513" y="457555"/>
                  </a:lnTo>
                  <a:lnTo>
                    <a:pt x="10736275" y="462965"/>
                  </a:lnTo>
                  <a:lnTo>
                    <a:pt x="10731957" y="467639"/>
                  </a:lnTo>
                  <a:lnTo>
                    <a:pt x="10726191" y="470877"/>
                  </a:lnTo>
                  <a:lnTo>
                    <a:pt x="10720793" y="474116"/>
                  </a:lnTo>
                  <a:lnTo>
                    <a:pt x="10714316" y="475919"/>
                  </a:lnTo>
                  <a:lnTo>
                    <a:pt x="10707839" y="475919"/>
                  </a:lnTo>
                  <a:lnTo>
                    <a:pt x="36715" y="475919"/>
                  </a:lnTo>
                  <a:lnTo>
                    <a:pt x="30238" y="475919"/>
                  </a:lnTo>
                  <a:lnTo>
                    <a:pt x="24117" y="474116"/>
                  </a:lnTo>
                  <a:lnTo>
                    <a:pt x="18351" y="470877"/>
                  </a:lnTo>
                  <a:lnTo>
                    <a:pt x="12953" y="467639"/>
                  </a:lnTo>
                  <a:lnTo>
                    <a:pt x="8280" y="463321"/>
                  </a:lnTo>
                  <a:lnTo>
                    <a:pt x="5041" y="457555"/>
                  </a:lnTo>
                  <a:lnTo>
                    <a:pt x="1790" y="452158"/>
                  </a:lnTo>
                  <a:lnTo>
                    <a:pt x="0" y="445681"/>
                  </a:lnTo>
                  <a:lnTo>
                    <a:pt x="0" y="439204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20064" y="5156772"/>
            <a:ext cx="1934845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400" b="1" spc="-10">
                <a:solidFill>
                  <a:srgbClr val="A8503B"/>
                </a:solidFill>
                <a:latin typeface="Arial"/>
                <a:cs typeface="Arial"/>
              </a:rPr>
              <a:t>h_canopy_uncertainty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63060" y="5158576"/>
            <a:ext cx="1841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50">
                <a:solidFill>
                  <a:srgbClr val="1F2F28"/>
                </a:solidFill>
                <a:latin typeface="Arial"/>
                <a:cs typeface="Arial"/>
              </a:rPr>
              <a:t>m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69104" y="5162183"/>
            <a:ext cx="517334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250" spc="-10">
                <a:solidFill>
                  <a:schemeClr val="tx1"/>
                </a:solidFill>
                <a:latin typeface="Arial"/>
                <a:cs typeface="Arial"/>
              </a:rPr>
              <a:t>Incertidumbre</a:t>
            </a:r>
            <a:r>
              <a:rPr lang="es-MX" sz="125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25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altura</a:t>
            </a:r>
            <a:r>
              <a:rPr lang="es-MX" sz="125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relativa;</a:t>
            </a:r>
            <a:r>
              <a:rPr lang="es-MX" sz="125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su</a:t>
            </a:r>
            <a:r>
              <a:rPr lang="es-MX" sz="125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ausencia</a:t>
            </a:r>
            <a:r>
              <a:rPr lang="es-MX" sz="125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puede</a:t>
            </a:r>
            <a:r>
              <a:rPr lang="es-MX" sz="125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no</a:t>
            </a:r>
            <a:r>
              <a:rPr lang="es-MX" sz="125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chemeClr val="tx1"/>
                </a:solidFill>
                <a:latin typeface="Arial"/>
                <a:cs typeface="Arial"/>
              </a:rPr>
              <a:t>ser</a:t>
            </a:r>
            <a:r>
              <a:rPr lang="es-MX" sz="125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250" spc="-10">
                <a:solidFill>
                  <a:schemeClr val="tx1"/>
                </a:solidFill>
                <a:latin typeface="Arial"/>
                <a:cs typeface="Arial"/>
              </a:rPr>
              <a:t>aleatoria.</a:t>
            </a:r>
            <a:endParaRPr lang="es-MX" sz="125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55264" y="5734860"/>
            <a:ext cx="10205085" cy="612000"/>
            <a:chOff x="955264" y="5966100"/>
            <a:chExt cx="10205085" cy="393700"/>
          </a:xfrm>
        </p:grpSpPr>
        <p:sp>
          <p:nvSpPr>
            <p:cNvPr id="45" name="object 45"/>
            <p:cNvSpPr/>
            <p:nvPr/>
          </p:nvSpPr>
          <p:spPr>
            <a:xfrm>
              <a:off x="959764" y="5970600"/>
              <a:ext cx="10196195" cy="384810"/>
            </a:xfrm>
            <a:custGeom>
              <a:avLst/>
              <a:gdLst/>
              <a:ahLst/>
              <a:cxnLst/>
              <a:rect l="l" t="t" r="r" b="b"/>
              <a:pathLst>
                <a:path w="1019619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320395"/>
                  </a:lnTo>
                  <a:lnTo>
                    <a:pt x="538" y="328745"/>
                  </a:lnTo>
                  <a:lnTo>
                    <a:pt x="18735" y="365626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10131831" y="384479"/>
                  </a:lnTo>
                  <a:lnTo>
                    <a:pt x="10170873" y="371122"/>
                  </a:lnTo>
                  <a:lnTo>
                    <a:pt x="10193755" y="336959"/>
                  </a:lnTo>
                  <a:lnTo>
                    <a:pt x="10195915" y="320395"/>
                  </a:lnTo>
                  <a:lnTo>
                    <a:pt x="10195892" y="64084"/>
                  </a:lnTo>
                  <a:lnTo>
                    <a:pt x="10182557" y="25402"/>
                  </a:lnTo>
                  <a:lnTo>
                    <a:pt x="1014839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CE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59764" y="5970600"/>
              <a:ext cx="10196195" cy="384810"/>
            </a:xfrm>
            <a:custGeom>
              <a:avLst/>
              <a:gdLst/>
              <a:ahLst/>
              <a:cxnLst/>
              <a:rect l="l" t="t" r="r" b="b"/>
              <a:pathLst>
                <a:path w="10196195" h="384810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10131831" y="355"/>
                  </a:lnTo>
                  <a:lnTo>
                    <a:pt x="10170823" y="13570"/>
                  </a:lnTo>
                  <a:lnTo>
                    <a:pt x="10193755" y="47880"/>
                  </a:lnTo>
                  <a:lnTo>
                    <a:pt x="10195915" y="64439"/>
                  </a:lnTo>
                  <a:lnTo>
                    <a:pt x="10195915" y="320395"/>
                  </a:lnTo>
                  <a:lnTo>
                    <a:pt x="10195375" y="328745"/>
                  </a:lnTo>
                  <a:lnTo>
                    <a:pt x="10193755" y="336959"/>
                  </a:lnTo>
                  <a:lnTo>
                    <a:pt x="10170873" y="371122"/>
                  </a:lnTo>
                  <a:lnTo>
                    <a:pt x="10131831" y="384479"/>
                  </a:lnTo>
                  <a:lnTo>
                    <a:pt x="64071" y="384479"/>
                  </a:lnTo>
                  <a:lnTo>
                    <a:pt x="25086" y="371272"/>
                  </a:lnTo>
                  <a:lnTo>
                    <a:pt x="2155" y="336959"/>
                  </a:lnTo>
                  <a:lnTo>
                    <a:pt x="0" y="320395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60119" y="5970955"/>
              <a:ext cx="82550" cy="384175"/>
            </a:xfrm>
            <a:custGeom>
              <a:avLst/>
              <a:gdLst/>
              <a:ahLst/>
              <a:cxnLst/>
              <a:rect l="l" t="t" r="r" b="b"/>
              <a:pathLst>
                <a:path w="82550" h="384175">
                  <a:moveTo>
                    <a:pt x="82080" y="0"/>
                  </a:moveTo>
                  <a:lnTo>
                    <a:pt x="0" y="0"/>
                  </a:lnTo>
                  <a:lnTo>
                    <a:pt x="0" y="383768"/>
                  </a:lnTo>
                  <a:lnTo>
                    <a:pt x="41033" y="383768"/>
                  </a:lnTo>
                  <a:lnTo>
                    <a:pt x="82080" y="383768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219200" y="5804689"/>
            <a:ext cx="9648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Recomendación: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usar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err="1">
                <a:solidFill>
                  <a:srgbClr val="1F2F28"/>
                </a:solidFill>
                <a:latin typeface="Arial"/>
                <a:cs typeface="Arial"/>
              </a:rPr>
              <a:t>h_canopy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como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variable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principal;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tratar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err="1">
                <a:solidFill>
                  <a:srgbClr val="1F2F28"/>
                </a:solidFill>
                <a:latin typeface="Arial"/>
                <a:cs typeface="Arial"/>
              </a:rPr>
              <a:t>h_max_canopy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puntajes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calidad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como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controles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consistencia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sensibilidad.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49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0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1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12/43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/>
              <a:t>ICESat-</a:t>
            </a:r>
            <a:r>
              <a:t>2</a:t>
            </a:r>
            <a:r>
              <a:rPr spc="-50"/>
              <a:t> </a:t>
            </a:r>
            <a:r>
              <a:t>/</a:t>
            </a:r>
            <a:r>
              <a:rPr spc="-140"/>
              <a:t> </a:t>
            </a:r>
            <a:r>
              <a:rPr spc="-10"/>
              <a:t>ATLAS</a:t>
            </a:r>
            <a:r>
              <a:rPr spc="-45"/>
              <a:t> </a:t>
            </a:r>
            <a:r>
              <a:t>y</a:t>
            </a:r>
            <a:r>
              <a:rPr spc="-50"/>
              <a:t> </a:t>
            </a:r>
            <a:r>
              <a:t>GEDI:</a:t>
            </a:r>
            <a:r>
              <a:rPr spc="-45"/>
              <a:t> </a:t>
            </a:r>
            <a:r>
              <a:rPr spc="-10"/>
              <a:t>complementariedad,</a:t>
            </a:r>
            <a:r>
              <a:rPr spc="-50"/>
              <a:t> </a:t>
            </a:r>
            <a:r>
              <a:t>no</a:t>
            </a:r>
            <a:r>
              <a:rPr spc="-50"/>
              <a:t> </a:t>
            </a:r>
            <a:r>
              <a:rPr spc="-10"/>
              <a:t>equivalencia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41979" y="1277621"/>
            <a:ext cx="10515600" cy="3903979"/>
            <a:chOff x="566635" y="1252804"/>
            <a:chExt cx="10515600" cy="3903979"/>
          </a:xfrm>
        </p:grpSpPr>
        <p:sp>
          <p:nvSpPr>
            <p:cNvPr id="6" name="object 6"/>
            <p:cNvSpPr/>
            <p:nvPr/>
          </p:nvSpPr>
          <p:spPr>
            <a:xfrm>
              <a:off x="566635" y="1252803"/>
              <a:ext cx="10515600" cy="557530"/>
            </a:xfrm>
            <a:custGeom>
              <a:avLst/>
              <a:gdLst/>
              <a:ahLst/>
              <a:cxnLst/>
              <a:rect l="l" t="t" r="r" b="b"/>
              <a:pathLst>
                <a:path w="10515600" h="557530">
                  <a:moveTo>
                    <a:pt x="2011324" y="0"/>
                  </a:moveTo>
                  <a:lnTo>
                    <a:pt x="0" y="0"/>
                  </a:lnTo>
                  <a:lnTo>
                    <a:pt x="0" y="557276"/>
                  </a:lnTo>
                  <a:lnTo>
                    <a:pt x="1005840" y="557276"/>
                  </a:lnTo>
                  <a:lnTo>
                    <a:pt x="2011324" y="557276"/>
                  </a:lnTo>
                  <a:lnTo>
                    <a:pt x="2011324" y="0"/>
                  </a:lnTo>
                  <a:close/>
                </a:path>
                <a:path w="10515600" h="557530">
                  <a:moveTo>
                    <a:pt x="6263640" y="0"/>
                  </a:moveTo>
                  <a:lnTo>
                    <a:pt x="2012048" y="0"/>
                  </a:lnTo>
                  <a:lnTo>
                    <a:pt x="2012048" y="557276"/>
                  </a:lnTo>
                  <a:lnTo>
                    <a:pt x="4137837" y="557276"/>
                  </a:lnTo>
                  <a:lnTo>
                    <a:pt x="6263640" y="557276"/>
                  </a:lnTo>
                  <a:lnTo>
                    <a:pt x="6263640" y="0"/>
                  </a:lnTo>
                  <a:close/>
                </a:path>
                <a:path w="10515600" h="557530">
                  <a:moveTo>
                    <a:pt x="10515600" y="0"/>
                  </a:moveTo>
                  <a:lnTo>
                    <a:pt x="6264008" y="0"/>
                  </a:lnTo>
                  <a:lnTo>
                    <a:pt x="6264008" y="557276"/>
                  </a:lnTo>
                  <a:lnTo>
                    <a:pt x="8389798" y="557276"/>
                  </a:lnTo>
                  <a:lnTo>
                    <a:pt x="10515600" y="557276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6635" y="1810435"/>
              <a:ext cx="10515600" cy="557530"/>
            </a:xfrm>
            <a:custGeom>
              <a:avLst/>
              <a:gdLst/>
              <a:ahLst/>
              <a:cxnLst/>
              <a:rect l="l" t="t" r="r" b="b"/>
              <a:pathLst>
                <a:path w="10515600" h="557530">
                  <a:moveTo>
                    <a:pt x="2011324" y="0"/>
                  </a:moveTo>
                  <a:lnTo>
                    <a:pt x="0" y="0"/>
                  </a:lnTo>
                  <a:lnTo>
                    <a:pt x="0" y="557288"/>
                  </a:lnTo>
                  <a:lnTo>
                    <a:pt x="1005840" y="557288"/>
                  </a:lnTo>
                  <a:lnTo>
                    <a:pt x="2011324" y="557288"/>
                  </a:lnTo>
                  <a:lnTo>
                    <a:pt x="2011324" y="0"/>
                  </a:lnTo>
                  <a:close/>
                </a:path>
                <a:path w="10515600" h="557530">
                  <a:moveTo>
                    <a:pt x="6263640" y="0"/>
                  </a:moveTo>
                  <a:lnTo>
                    <a:pt x="2012048" y="0"/>
                  </a:lnTo>
                  <a:lnTo>
                    <a:pt x="2012048" y="557288"/>
                  </a:lnTo>
                  <a:lnTo>
                    <a:pt x="4137837" y="557288"/>
                  </a:lnTo>
                  <a:lnTo>
                    <a:pt x="6263640" y="557288"/>
                  </a:lnTo>
                  <a:lnTo>
                    <a:pt x="6263640" y="0"/>
                  </a:lnTo>
                  <a:close/>
                </a:path>
                <a:path w="10515600" h="557530">
                  <a:moveTo>
                    <a:pt x="10515600" y="0"/>
                  </a:moveTo>
                  <a:lnTo>
                    <a:pt x="6264008" y="0"/>
                  </a:lnTo>
                  <a:lnTo>
                    <a:pt x="6264008" y="557288"/>
                  </a:lnTo>
                  <a:lnTo>
                    <a:pt x="8389798" y="557288"/>
                  </a:lnTo>
                  <a:lnTo>
                    <a:pt x="10515600" y="557288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6635" y="2368435"/>
              <a:ext cx="10515600" cy="557530"/>
            </a:xfrm>
            <a:custGeom>
              <a:avLst/>
              <a:gdLst/>
              <a:ahLst/>
              <a:cxnLst/>
              <a:rect l="l" t="t" r="r" b="b"/>
              <a:pathLst>
                <a:path w="10515600" h="557530">
                  <a:moveTo>
                    <a:pt x="2011324" y="0"/>
                  </a:moveTo>
                  <a:lnTo>
                    <a:pt x="0" y="0"/>
                  </a:lnTo>
                  <a:lnTo>
                    <a:pt x="0" y="557288"/>
                  </a:lnTo>
                  <a:lnTo>
                    <a:pt x="1005840" y="557288"/>
                  </a:lnTo>
                  <a:lnTo>
                    <a:pt x="2011324" y="557288"/>
                  </a:lnTo>
                  <a:lnTo>
                    <a:pt x="2011324" y="0"/>
                  </a:lnTo>
                  <a:close/>
                </a:path>
                <a:path w="10515600" h="557530">
                  <a:moveTo>
                    <a:pt x="6263640" y="0"/>
                  </a:moveTo>
                  <a:lnTo>
                    <a:pt x="2012048" y="0"/>
                  </a:lnTo>
                  <a:lnTo>
                    <a:pt x="2012048" y="557288"/>
                  </a:lnTo>
                  <a:lnTo>
                    <a:pt x="4137837" y="557288"/>
                  </a:lnTo>
                  <a:lnTo>
                    <a:pt x="6263640" y="557288"/>
                  </a:lnTo>
                  <a:lnTo>
                    <a:pt x="6263640" y="0"/>
                  </a:lnTo>
                  <a:close/>
                </a:path>
                <a:path w="10515600" h="557530">
                  <a:moveTo>
                    <a:pt x="10515600" y="0"/>
                  </a:moveTo>
                  <a:lnTo>
                    <a:pt x="6264008" y="0"/>
                  </a:lnTo>
                  <a:lnTo>
                    <a:pt x="6264008" y="557288"/>
                  </a:lnTo>
                  <a:lnTo>
                    <a:pt x="8389798" y="557288"/>
                  </a:lnTo>
                  <a:lnTo>
                    <a:pt x="10515600" y="557288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F0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6635" y="2926079"/>
              <a:ext cx="10515600" cy="557530"/>
            </a:xfrm>
            <a:custGeom>
              <a:avLst/>
              <a:gdLst/>
              <a:ahLst/>
              <a:cxnLst/>
              <a:rect l="l" t="t" r="r" b="b"/>
              <a:pathLst>
                <a:path w="10515600" h="557529">
                  <a:moveTo>
                    <a:pt x="2011324" y="0"/>
                  </a:moveTo>
                  <a:lnTo>
                    <a:pt x="0" y="0"/>
                  </a:lnTo>
                  <a:lnTo>
                    <a:pt x="0" y="557276"/>
                  </a:lnTo>
                  <a:lnTo>
                    <a:pt x="1005840" y="557276"/>
                  </a:lnTo>
                  <a:lnTo>
                    <a:pt x="2011324" y="557276"/>
                  </a:lnTo>
                  <a:lnTo>
                    <a:pt x="2011324" y="0"/>
                  </a:lnTo>
                  <a:close/>
                </a:path>
                <a:path w="10515600" h="557529">
                  <a:moveTo>
                    <a:pt x="6263640" y="0"/>
                  </a:moveTo>
                  <a:lnTo>
                    <a:pt x="2012048" y="0"/>
                  </a:lnTo>
                  <a:lnTo>
                    <a:pt x="2012048" y="557276"/>
                  </a:lnTo>
                  <a:lnTo>
                    <a:pt x="4137837" y="557276"/>
                  </a:lnTo>
                  <a:lnTo>
                    <a:pt x="6263640" y="557276"/>
                  </a:lnTo>
                  <a:lnTo>
                    <a:pt x="6263640" y="0"/>
                  </a:lnTo>
                  <a:close/>
                </a:path>
                <a:path w="10515600" h="557529">
                  <a:moveTo>
                    <a:pt x="10515600" y="0"/>
                  </a:moveTo>
                  <a:lnTo>
                    <a:pt x="6264008" y="0"/>
                  </a:lnTo>
                  <a:lnTo>
                    <a:pt x="6264008" y="557276"/>
                  </a:lnTo>
                  <a:lnTo>
                    <a:pt x="8389798" y="557276"/>
                  </a:lnTo>
                  <a:lnTo>
                    <a:pt x="10515600" y="557276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635" y="3483724"/>
              <a:ext cx="10515600" cy="557530"/>
            </a:xfrm>
            <a:custGeom>
              <a:avLst/>
              <a:gdLst/>
              <a:ahLst/>
              <a:cxnLst/>
              <a:rect l="l" t="t" r="r" b="b"/>
              <a:pathLst>
                <a:path w="10515600" h="557529">
                  <a:moveTo>
                    <a:pt x="2011324" y="0"/>
                  </a:moveTo>
                  <a:lnTo>
                    <a:pt x="0" y="0"/>
                  </a:lnTo>
                  <a:lnTo>
                    <a:pt x="0" y="557276"/>
                  </a:lnTo>
                  <a:lnTo>
                    <a:pt x="1005840" y="557276"/>
                  </a:lnTo>
                  <a:lnTo>
                    <a:pt x="2011324" y="557276"/>
                  </a:lnTo>
                  <a:lnTo>
                    <a:pt x="2011324" y="0"/>
                  </a:lnTo>
                  <a:close/>
                </a:path>
                <a:path w="10515600" h="557529">
                  <a:moveTo>
                    <a:pt x="6263640" y="0"/>
                  </a:moveTo>
                  <a:lnTo>
                    <a:pt x="2012048" y="0"/>
                  </a:lnTo>
                  <a:lnTo>
                    <a:pt x="2012048" y="557276"/>
                  </a:lnTo>
                  <a:lnTo>
                    <a:pt x="4137837" y="557276"/>
                  </a:lnTo>
                  <a:lnTo>
                    <a:pt x="6263640" y="557276"/>
                  </a:lnTo>
                  <a:lnTo>
                    <a:pt x="6263640" y="0"/>
                  </a:lnTo>
                  <a:close/>
                </a:path>
                <a:path w="10515600" h="557529">
                  <a:moveTo>
                    <a:pt x="10515600" y="0"/>
                  </a:moveTo>
                  <a:lnTo>
                    <a:pt x="6264008" y="0"/>
                  </a:lnTo>
                  <a:lnTo>
                    <a:pt x="6264008" y="557276"/>
                  </a:lnTo>
                  <a:lnTo>
                    <a:pt x="8389798" y="557276"/>
                  </a:lnTo>
                  <a:lnTo>
                    <a:pt x="10515600" y="557276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F0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6635" y="4041724"/>
              <a:ext cx="10515600" cy="557530"/>
            </a:xfrm>
            <a:custGeom>
              <a:avLst/>
              <a:gdLst/>
              <a:ahLst/>
              <a:cxnLst/>
              <a:rect l="l" t="t" r="r" b="b"/>
              <a:pathLst>
                <a:path w="10515600" h="557529">
                  <a:moveTo>
                    <a:pt x="2011324" y="0"/>
                  </a:moveTo>
                  <a:lnTo>
                    <a:pt x="0" y="0"/>
                  </a:lnTo>
                  <a:lnTo>
                    <a:pt x="0" y="557276"/>
                  </a:lnTo>
                  <a:lnTo>
                    <a:pt x="1005840" y="557276"/>
                  </a:lnTo>
                  <a:lnTo>
                    <a:pt x="2011324" y="557276"/>
                  </a:lnTo>
                  <a:lnTo>
                    <a:pt x="2011324" y="0"/>
                  </a:lnTo>
                  <a:close/>
                </a:path>
                <a:path w="10515600" h="557529">
                  <a:moveTo>
                    <a:pt x="6263640" y="0"/>
                  </a:moveTo>
                  <a:lnTo>
                    <a:pt x="2012048" y="0"/>
                  </a:lnTo>
                  <a:lnTo>
                    <a:pt x="2012048" y="557276"/>
                  </a:lnTo>
                  <a:lnTo>
                    <a:pt x="4137837" y="557276"/>
                  </a:lnTo>
                  <a:lnTo>
                    <a:pt x="6263640" y="557276"/>
                  </a:lnTo>
                  <a:lnTo>
                    <a:pt x="6263640" y="0"/>
                  </a:lnTo>
                  <a:close/>
                </a:path>
                <a:path w="10515600" h="557529">
                  <a:moveTo>
                    <a:pt x="10515600" y="0"/>
                  </a:moveTo>
                  <a:lnTo>
                    <a:pt x="6264008" y="0"/>
                  </a:lnTo>
                  <a:lnTo>
                    <a:pt x="6264008" y="557276"/>
                  </a:lnTo>
                  <a:lnTo>
                    <a:pt x="8389798" y="557276"/>
                  </a:lnTo>
                  <a:lnTo>
                    <a:pt x="10515600" y="557276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6635" y="4599355"/>
              <a:ext cx="10515600" cy="557530"/>
            </a:xfrm>
            <a:custGeom>
              <a:avLst/>
              <a:gdLst/>
              <a:ahLst/>
              <a:cxnLst/>
              <a:rect l="l" t="t" r="r" b="b"/>
              <a:pathLst>
                <a:path w="10515600" h="557529">
                  <a:moveTo>
                    <a:pt x="2011324" y="0"/>
                  </a:moveTo>
                  <a:lnTo>
                    <a:pt x="0" y="0"/>
                  </a:lnTo>
                  <a:lnTo>
                    <a:pt x="0" y="557288"/>
                  </a:lnTo>
                  <a:lnTo>
                    <a:pt x="1005840" y="557288"/>
                  </a:lnTo>
                  <a:lnTo>
                    <a:pt x="2011324" y="557288"/>
                  </a:lnTo>
                  <a:lnTo>
                    <a:pt x="2011324" y="0"/>
                  </a:lnTo>
                  <a:close/>
                </a:path>
                <a:path w="10515600" h="557529">
                  <a:moveTo>
                    <a:pt x="6263640" y="0"/>
                  </a:moveTo>
                  <a:lnTo>
                    <a:pt x="2012048" y="0"/>
                  </a:lnTo>
                  <a:lnTo>
                    <a:pt x="2012048" y="557288"/>
                  </a:lnTo>
                  <a:lnTo>
                    <a:pt x="4137837" y="557288"/>
                  </a:lnTo>
                  <a:lnTo>
                    <a:pt x="6263640" y="557288"/>
                  </a:lnTo>
                  <a:lnTo>
                    <a:pt x="6263640" y="0"/>
                  </a:lnTo>
                  <a:close/>
                </a:path>
                <a:path w="10515600" h="557529">
                  <a:moveTo>
                    <a:pt x="10515600" y="0"/>
                  </a:moveTo>
                  <a:lnTo>
                    <a:pt x="6264008" y="0"/>
                  </a:lnTo>
                  <a:lnTo>
                    <a:pt x="6264008" y="557288"/>
                  </a:lnTo>
                  <a:lnTo>
                    <a:pt x="8389798" y="557288"/>
                  </a:lnTo>
                  <a:lnTo>
                    <a:pt x="10515600" y="557288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F0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718287"/>
              </p:ext>
            </p:extLst>
          </p:nvPr>
        </p:nvGraphicFramePr>
        <p:xfrm>
          <a:off x="838200" y="1273841"/>
          <a:ext cx="10514965" cy="3901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lang="es-ES" sz="18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Característica</a:t>
                      </a:r>
                      <a:endParaRPr lang="es-ES" sz="18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0" marR="0" marT="17526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lang="es-ES" sz="18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ICESat-</a:t>
                      </a: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2</a:t>
                      </a:r>
                      <a:r>
                        <a:rPr lang="es-ES" sz="18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/</a:t>
                      </a:r>
                      <a:r>
                        <a:rPr lang="es-ES" sz="1800" b="1" spc="-55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800" b="1" spc="-2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ATLAS</a:t>
                      </a:r>
                      <a:endParaRPr lang="es-ES" sz="18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0" marR="0" marT="17526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lang="es-ES" sz="1800" b="1" spc="-2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GEDI</a:t>
                      </a:r>
                      <a:endParaRPr lang="es-ES" sz="18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0" marR="0" marT="17526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 b="1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Tecnología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Conteo</a:t>
                      </a:r>
                      <a:r>
                        <a:rPr lang="es-ES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ES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fotones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pt-BR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LiDAR</a:t>
                      </a:r>
                      <a:r>
                        <a:rPr lang="pt-BR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pt-BR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pt-BR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pt-BR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forma</a:t>
                      </a:r>
                      <a:r>
                        <a:rPr lang="pt-BR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pt-BR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pt-BR" sz="1300" spc="-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pt-BR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onda</a:t>
                      </a:r>
                      <a:r>
                        <a:rPr lang="pt-BR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pt-BR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completa</a:t>
                      </a:r>
                      <a:endParaRPr lang="pt-BR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 b="1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Plataforma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Satélite</a:t>
                      </a:r>
                      <a:r>
                        <a:rPr lang="es-ES" sz="1300" spc="-3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dedicado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Instrumento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Estación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Espacial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Internacional</a:t>
                      </a:r>
                      <a:endParaRPr lang="es-MX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 b="1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Longitud</a:t>
                      </a:r>
                      <a:r>
                        <a:rPr lang="es-ES" sz="1300" b="1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ES" sz="1300" b="1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b="1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onda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532</a:t>
                      </a:r>
                      <a:r>
                        <a:rPr lang="es-ES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nm</a:t>
                      </a:r>
                      <a:r>
                        <a:rPr lang="es-ES" sz="1300" spc="-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(verde)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1064</a:t>
                      </a:r>
                      <a:r>
                        <a:rPr lang="es-ES" sz="1300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nm</a:t>
                      </a:r>
                      <a:r>
                        <a:rPr lang="es-ES" sz="1300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(infrarrojo</a:t>
                      </a:r>
                      <a:r>
                        <a:rPr lang="es-ES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cercano)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Patrón</a:t>
                      </a:r>
                      <a:r>
                        <a:rPr lang="es-ES" sz="1300" b="1" spc="-2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ES" sz="1300" b="1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b="1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muestreo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haces</a:t>
                      </a:r>
                      <a:r>
                        <a:rPr lang="es-MX" sz="1300" spc="-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lang="es-MX" sz="1300" spc="-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pares;</a:t>
                      </a:r>
                      <a:r>
                        <a:rPr lang="es-MX" sz="1300" spc="-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trazas</a:t>
                      </a:r>
                      <a:r>
                        <a:rPr lang="es-MX" sz="1300" spc="-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globales</a:t>
                      </a:r>
                      <a:endParaRPr lang="es-MX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lang="es-MX" sz="1300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trazas;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huellas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promedio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25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 spc="-5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lang="es-MX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Unidad</a:t>
                      </a:r>
                      <a:r>
                        <a:rPr lang="es-ES" sz="1300" b="1" spc="-4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b="1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estructural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Eventos</a:t>
                      </a:r>
                      <a:r>
                        <a:rPr lang="es-ES" sz="1300" spc="-2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fotónicos</a:t>
                      </a:r>
                      <a:r>
                        <a:rPr lang="es-ES" sz="1300" spc="-2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agregados</a:t>
                      </a:r>
                      <a:r>
                        <a:rPr lang="es-ES" sz="1300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lang="es-ES" sz="1300" spc="-3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segmentos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Forma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onda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métricas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RH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huella</a:t>
                      </a:r>
                      <a:endParaRPr lang="es-MX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ES" sz="1300" b="1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Fortaleza</a:t>
                      </a:r>
                      <a:endParaRPr lang="es-ES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Cobertura</a:t>
                      </a:r>
                      <a:r>
                        <a:rPr lang="es-MX" sz="1300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latitudinal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casi</a:t>
                      </a:r>
                      <a:r>
                        <a:rPr lang="es-MX" sz="1300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global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lang="es-MX" sz="1300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series</a:t>
                      </a:r>
                      <a:r>
                        <a:rPr lang="es-MX" sz="1300" spc="-1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MX" sz="1300" spc="-2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elevación</a:t>
                      </a:r>
                      <a:endParaRPr lang="es-MX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24025" marR="452120" indent="-12649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Diseño</a:t>
                      </a:r>
                      <a:r>
                        <a:rPr lang="es-MX" sz="1300" spc="-2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optimizado</a:t>
                      </a:r>
                      <a:r>
                        <a:rPr lang="es-MX" sz="1300" spc="-2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para</a:t>
                      </a:r>
                      <a:r>
                        <a:rPr lang="es-MX" sz="1300" spc="-3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estructura</a:t>
                      </a:r>
                      <a:r>
                        <a:rPr lang="es-MX" sz="1300" spc="-2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3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vertical</a:t>
                      </a:r>
                      <a:r>
                        <a:rPr lang="es-MX" sz="1300" spc="-25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de </a:t>
                      </a:r>
                      <a:r>
                        <a:rPr lang="es-MX" sz="1300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vegetación</a:t>
                      </a:r>
                      <a:endParaRPr lang="es-MX" sz="13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744660" y="5410200"/>
            <a:ext cx="10708005" cy="649605"/>
            <a:chOff x="744660" y="5590980"/>
            <a:chExt cx="10708005" cy="649605"/>
          </a:xfrm>
        </p:grpSpPr>
        <p:sp>
          <p:nvSpPr>
            <p:cNvPr id="15" name="object 15"/>
            <p:cNvSpPr/>
            <p:nvPr/>
          </p:nvSpPr>
          <p:spPr>
            <a:xfrm>
              <a:off x="749160" y="5595480"/>
              <a:ext cx="10699115" cy="640715"/>
            </a:xfrm>
            <a:custGeom>
              <a:avLst/>
              <a:gdLst/>
              <a:ahLst/>
              <a:cxnLst/>
              <a:rect l="l" t="t" r="r" b="b"/>
              <a:pathLst>
                <a:path w="10699115" h="640714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576364"/>
                  </a:lnTo>
                  <a:lnTo>
                    <a:pt x="540" y="584706"/>
                  </a:lnTo>
                  <a:lnTo>
                    <a:pt x="18733" y="621582"/>
                  </a:lnTo>
                  <a:lnTo>
                    <a:pt x="18853" y="621720"/>
                  </a:lnTo>
                  <a:lnTo>
                    <a:pt x="55734" y="639897"/>
                  </a:lnTo>
                  <a:lnTo>
                    <a:pt x="64084" y="640435"/>
                  </a:lnTo>
                  <a:lnTo>
                    <a:pt x="10634764" y="640435"/>
                  </a:lnTo>
                  <a:lnTo>
                    <a:pt x="10673795" y="627077"/>
                  </a:lnTo>
                  <a:lnTo>
                    <a:pt x="10696679" y="592916"/>
                  </a:lnTo>
                  <a:lnTo>
                    <a:pt x="10698835" y="576364"/>
                  </a:lnTo>
                  <a:lnTo>
                    <a:pt x="10698812" y="64084"/>
                  </a:lnTo>
                  <a:lnTo>
                    <a:pt x="10685477" y="25402"/>
                  </a:lnTo>
                  <a:lnTo>
                    <a:pt x="10651316" y="2517"/>
                  </a:lnTo>
                  <a:lnTo>
                    <a:pt x="1063476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9160" y="5595480"/>
              <a:ext cx="10699115" cy="640715"/>
            </a:xfrm>
            <a:custGeom>
              <a:avLst/>
              <a:gdLst/>
              <a:ahLst/>
              <a:cxnLst/>
              <a:rect l="l" t="t" r="r" b="b"/>
              <a:pathLst>
                <a:path w="10699115" h="640714">
                  <a:moveTo>
                    <a:pt x="355" y="64084"/>
                  </a:moveTo>
                  <a:lnTo>
                    <a:pt x="896" y="55734"/>
                  </a:lnTo>
                  <a:lnTo>
                    <a:pt x="2517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10634764" y="355"/>
                  </a:lnTo>
                  <a:lnTo>
                    <a:pt x="10673743" y="13570"/>
                  </a:lnTo>
                  <a:lnTo>
                    <a:pt x="10696679" y="47880"/>
                  </a:lnTo>
                  <a:lnTo>
                    <a:pt x="10698835" y="64439"/>
                  </a:lnTo>
                  <a:lnTo>
                    <a:pt x="10698835" y="576364"/>
                  </a:lnTo>
                  <a:lnTo>
                    <a:pt x="10698297" y="584706"/>
                  </a:lnTo>
                  <a:lnTo>
                    <a:pt x="10696679" y="592916"/>
                  </a:lnTo>
                  <a:lnTo>
                    <a:pt x="10673795" y="627077"/>
                  </a:lnTo>
                  <a:lnTo>
                    <a:pt x="10634764" y="640435"/>
                  </a:lnTo>
                  <a:lnTo>
                    <a:pt x="64084" y="640435"/>
                  </a:lnTo>
                  <a:lnTo>
                    <a:pt x="25091" y="627233"/>
                  </a:lnTo>
                  <a:lnTo>
                    <a:pt x="2160" y="592916"/>
                  </a:lnTo>
                  <a:lnTo>
                    <a:pt x="0" y="576364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9884" y="5595835"/>
              <a:ext cx="82550" cy="640080"/>
            </a:xfrm>
            <a:custGeom>
              <a:avLst/>
              <a:gdLst/>
              <a:ahLst/>
              <a:cxnLst/>
              <a:rect l="l" t="t" r="r" b="b"/>
              <a:pathLst>
                <a:path w="82550" h="640079">
                  <a:moveTo>
                    <a:pt x="82080" y="0"/>
                  </a:moveTo>
                  <a:lnTo>
                    <a:pt x="0" y="0"/>
                  </a:lnTo>
                  <a:lnTo>
                    <a:pt x="0" y="639724"/>
                  </a:lnTo>
                  <a:lnTo>
                    <a:pt x="41033" y="639724"/>
                  </a:lnTo>
                  <a:lnTo>
                    <a:pt x="82080" y="639724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87094" y="5522955"/>
            <a:ext cx="10106025" cy="47448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727325" marR="5080" indent="-2715260">
              <a:lnSpc>
                <a:spcPts val="1650"/>
              </a:lnSpc>
              <a:spcBef>
                <a:spcPts val="300"/>
              </a:spcBef>
            </a:pP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Las</a:t>
            </a:r>
            <a:r>
              <a:rPr lang="es-MX" sz="1500" b="1" spc="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métricas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500" b="1" spc="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mismo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nombre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son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automáticamente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intercambiables:</a:t>
            </a:r>
            <a:r>
              <a:rPr lang="es-MX" sz="1500" b="1" spc="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cambian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longitud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50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onda,</a:t>
            </a:r>
            <a:r>
              <a:rPr lang="es-MX" sz="1500" b="1" spc="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 spc="-25">
                <a:solidFill>
                  <a:srgbClr val="1F2F28"/>
                </a:solidFill>
                <a:latin typeface="Arial"/>
                <a:cs typeface="Arial"/>
              </a:rPr>
              <a:t>la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geometría,</a:t>
            </a:r>
            <a:r>
              <a:rPr lang="es-MX" sz="15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5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señal</a:t>
            </a:r>
            <a:r>
              <a:rPr lang="es-MX" sz="15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registrada</a:t>
            </a:r>
            <a:r>
              <a:rPr lang="es-MX" sz="15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5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5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unidad</a:t>
            </a:r>
            <a:r>
              <a:rPr lang="es-MX" sz="15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 spc="-10">
                <a:solidFill>
                  <a:srgbClr val="1F2F28"/>
                </a:solidFill>
                <a:latin typeface="Arial"/>
                <a:cs typeface="Arial"/>
              </a:rPr>
              <a:t>espacial.</a:t>
            </a:r>
            <a:endParaRPr lang="es-MX" sz="1500">
              <a:latin typeface="Arial"/>
              <a:cs typeface="Arial"/>
            </a:endParaRPr>
          </a:p>
        </p:txBody>
      </p:sp>
      <p:sp>
        <p:nvSpPr>
          <p:cNvPr id="19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20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21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13/43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Potencial</a:t>
            </a:r>
            <a:r>
              <a:rPr spc="-65"/>
              <a:t> </a:t>
            </a:r>
            <a:r>
              <a:t>y</a:t>
            </a:r>
            <a:r>
              <a:rPr spc="-65"/>
              <a:t> </a:t>
            </a:r>
            <a:r>
              <a:t>límites</a:t>
            </a:r>
            <a:r>
              <a:rPr spc="-60"/>
              <a:t> </a:t>
            </a:r>
            <a:r>
              <a:t>en</a:t>
            </a:r>
            <a:r>
              <a:rPr spc="-60"/>
              <a:t> </a:t>
            </a:r>
            <a:r>
              <a:t>el</a:t>
            </a:r>
            <a:r>
              <a:rPr spc="-65"/>
              <a:t> </a:t>
            </a:r>
            <a:r>
              <a:t>ecotono</a:t>
            </a:r>
            <a:r>
              <a:rPr spc="-60"/>
              <a:t> </a:t>
            </a:r>
            <a:r>
              <a:rPr spc="-10"/>
              <a:t>bosque-estepa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3A83474B-9449-B126-DF56-92FB42EFB89F}"/>
              </a:ext>
            </a:extLst>
          </p:cNvPr>
          <p:cNvGrpSpPr/>
          <p:nvPr/>
        </p:nvGrpSpPr>
        <p:grpSpPr>
          <a:xfrm>
            <a:off x="755403" y="1361400"/>
            <a:ext cx="10681195" cy="3744000"/>
            <a:chOff x="589280" y="990600"/>
            <a:chExt cx="10681195" cy="3744000"/>
          </a:xfrm>
        </p:grpSpPr>
        <p:grpSp>
          <p:nvGrpSpPr>
            <p:cNvPr id="5" name="object 5"/>
            <p:cNvGrpSpPr/>
            <p:nvPr/>
          </p:nvGrpSpPr>
          <p:grpSpPr>
            <a:xfrm>
              <a:off x="589280" y="990600"/>
              <a:ext cx="5076000" cy="3744000"/>
              <a:chOff x="589280" y="1256715"/>
              <a:chExt cx="5423535" cy="4417695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object 6"/>
              <p:cNvSpPr/>
              <p:nvPr/>
            </p:nvSpPr>
            <p:spPr>
              <a:xfrm>
                <a:off x="594360" y="1261795"/>
                <a:ext cx="5413375" cy="4407535"/>
              </a:xfrm>
              <a:custGeom>
                <a:avLst/>
                <a:gdLst/>
                <a:ahLst/>
                <a:cxnLst/>
                <a:rect l="l" t="t" r="r" b="b"/>
                <a:pathLst>
                  <a:path w="5413375" h="4407535">
                    <a:moveTo>
                      <a:pt x="5339880" y="0"/>
                    </a:moveTo>
                    <a:lnTo>
                      <a:pt x="73075" y="0"/>
                    </a:lnTo>
                    <a:lnTo>
                      <a:pt x="63649" y="607"/>
                    </a:lnTo>
                    <a:lnTo>
                      <a:pt x="21467" y="21291"/>
                    </a:lnTo>
                    <a:lnTo>
                      <a:pt x="607" y="63449"/>
                    </a:lnTo>
                    <a:lnTo>
                      <a:pt x="0" y="73088"/>
                    </a:lnTo>
                    <a:lnTo>
                      <a:pt x="0" y="4334408"/>
                    </a:lnTo>
                    <a:lnTo>
                      <a:pt x="15046" y="4378778"/>
                    </a:lnTo>
                    <a:lnTo>
                      <a:pt x="54046" y="4405055"/>
                    </a:lnTo>
                    <a:lnTo>
                      <a:pt x="73075" y="4407484"/>
                    </a:lnTo>
                    <a:lnTo>
                      <a:pt x="5340235" y="4407128"/>
                    </a:lnTo>
                    <a:lnTo>
                      <a:pt x="5384613" y="4392074"/>
                    </a:lnTo>
                    <a:lnTo>
                      <a:pt x="5410878" y="4353126"/>
                    </a:lnTo>
                    <a:lnTo>
                      <a:pt x="5413324" y="4334040"/>
                    </a:lnTo>
                    <a:lnTo>
                      <a:pt x="5412955" y="73088"/>
                    </a:lnTo>
                    <a:lnTo>
                      <a:pt x="5397914" y="28710"/>
                    </a:lnTo>
                    <a:lnTo>
                      <a:pt x="5358914" y="2430"/>
                    </a:lnTo>
                    <a:lnTo>
                      <a:pt x="5339880" y="0"/>
                    </a:lnTo>
                    <a:close/>
                  </a:path>
                </a:pathLst>
              </a:custGeom>
              <a:solidFill>
                <a:srgbClr val="E9F0E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594360" y="1261795"/>
                <a:ext cx="5413375" cy="4407535"/>
              </a:xfrm>
              <a:custGeom>
                <a:avLst/>
                <a:gdLst/>
                <a:ahLst/>
                <a:cxnLst/>
                <a:rect l="l" t="t" r="r" b="b"/>
                <a:pathLst>
                  <a:path w="5413375" h="4407535">
                    <a:moveTo>
                      <a:pt x="0" y="73088"/>
                    </a:moveTo>
                    <a:lnTo>
                      <a:pt x="607" y="63449"/>
                    </a:lnTo>
                    <a:lnTo>
                      <a:pt x="2428" y="54048"/>
                    </a:lnTo>
                    <a:lnTo>
                      <a:pt x="28705" y="15053"/>
                    </a:lnTo>
                    <a:lnTo>
                      <a:pt x="73075" y="0"/>
                    </a:lnTo>
                    <a:lnTo>
                      <a:pt x="5339880" y="0"/>
                    </a:lnTo>
                    <a:lnTo>
                      <a:pt x="5384557" y="15109"/>
                    </a:lnTo>
                    <a:lnTo>
                      <a:pt x="5410527" y="54365"/>
                    </a:lnTo>
                    <a:lnTo>
                      <a:pt x="5412955" y="73088"/>
                    </a:lnTo>
                    <a:lnTo>
                      <a:pt x="5413324" y="4334040"/>
                    </a:lnTo>
                    <a:lnTo>
                      <a:pt x="5412716" y="4343679"/>
                    </a:lnTo>
                    <a:lnTo>
                      <a:pt x="5410893" y="4353080"/>
                    </a:lnTo>
                    <a:lnTo>
                      <a:pt x="5384613" y="4392074"/>
                    </a:lnTo>
                    <a:lnTo>
                      <a:pt x="5340235" y="4407128"/>
                    </a:lnTo>
                    <a:lnTo>
                      <a:pt x="73075" y="4407484"/>
                    </a:lnTo>
                    <a:lnTo>
                      <a:pt x="28399" y="4392380"/>
                    </a:lnTo>
                    <a:lnTo>
                      <a:pt x="2428" y="4353126"/>
                    </a:lnTo>
                    <a:lnTo>
                      <a:pt x="0" y="4334408"/>
                    </a:lnTo>
                    <a:lnTo>
                      <a:pt x="0" y="73088"/>
                    </a:lnTo>
                    <a:close/>
                  </a:path>
                </a:pathLst>
              </a:custGeom>
              <a:ln w="10079">
                <a:solidFill>
                  <a:srgbClr val="1D493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" name="object 8"/>
            <p:cNvSpPr txBox="1"/>
            <p:nvPr/>
          </p:nvSpPr>
          <p:spPr>
            <a:xfrm>
              <a:off x="855624" y="1267029"/>
              <a:ext cx="1470660" cy="3759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es-ES" sz="2300" b="1" spc="-10">
                  <a:solidFill>
                    <a:srgbClr val="1D4938"/>
                  </a:solidFill>
                  <a:latin typeface="Arial"/>
                  <a:cs typeface="Arial"/>
                </a:rPr>
                <a:t>Fortalezas</a:t>
              </a:r>
              <a:endParaRPr lang="es-ES" sz="2300">
                <a:latin typeface="Arial"/>
                <a:cs typeface="Arial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96035" y="194680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68" y="0"/>
                  </a:moveTo>
                  <a:lnTo>
                    <a:pt x="79110" y="9563"/>
                  </a:lnTo>
                  <a:lnTo>
                    <a:pt x="37579" y="37211"/>
                  </a:lnTo>
                  <a:lnTo>
                    <a:pt x="9724" y="78792"/>
                  </a:lnTo>
                  <a:lnTo>
                    <a:pt x="0" y="127800"/>
                  </a:lnTo>
                  <a:lnTo>
                    <a:pt x="1080" y="144492"/>
                  </a:lnTo>
                  <a:lnTo>
                    <a:pt x="17284" y="191871"/>
                  </a:lnTo>
                  <a:lnTo>
                    <a:pt x="50138" y="229388"/>
                  </a:lnTo>
                  <a:lnTo>
                    <a:pt x="94911" y="251499"/>
                  </a:lnTo>
                  <a:lnTo>
                    <a:pt x="128168" y="255955"/>
                  </a:lnTo>
                  <a:lnTo>
                    <a:pt x="144803" y="254824"/>
                  </a:lnTo>
                  <a:lnTo>
                    <a:pt x="191884" y="238671"/>
                  </a:lnTo>
                  <a:lnTo>
                    <a:pt x="229396" y="205818"/>
                  </a:lnTo>
                  <a:lnTo>
                    <a:pt x="251645" y="160916"/>
                  </a:lnTo>
                  <a:lnTo>
                    <a:pt x="255968" y="127800"/>
                  </a:lnTo>
                  <a:lnTo>
                    <a:pt x="254887" y="111102"/>
                  </a:lnTo>
                  <a:lnTo>
                    <a:pt x="238683" y="63715"/>
                  </a:lnTo>
                  <a:lnTo>
                    <a:pt x="205829" y="26204"/>
                  </a:lnTo>
                  <a:lnTo>
                    <a:pt x="161102" y="4271"/>
                  </a:lnTo>
                  <a:lnTo>
                    <a:pt x="128168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955700" y="1929423"/>
              <a:ext cx="137160" cy="2436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500" b="1" spc="-50">
                  <a:solidFill>
                    <a:srgbClr val="FFFFFF"/>
                  </a:solidFill>
                  <a:latin typeface="Arial"/>
                  <a:cs typeface="Arial"/>
                </a:rPr>
                <a:t>+</a:t>
              </a:r>
              <a:endParaRPr lang="es-ES" sz="1500">
                <a:latin typeface="Arial"/>
                <a:cs typeface="Aria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294460" y="1870736"/>
              <a:ext cx="3881120" cy="474489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300"/>
                </a:spcBef>
              </a:pP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Altura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de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vegetación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y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terreno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con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referencia geodésica.</a:t>
              </a:r>
              <a:endParaRPr lang="es-MX" sz="1500">
                <a:latin typeface="Arial"/>
                <a:cs typeface="Arial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96035" y="2605240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68" y="0"/>
                  </a:moveTo>
                  <a:lnTo>
                    <a:pt x="79110" y="9574"/>
                  </a:lnTo>
                  <a:lnTo>
                    <a:pt x="37579" y="37218"/>
                  </a:lnTo>
                  <a:lnTo>
                    <a:pt x="9724" y="78799"/>
                  </a:lnTo>
                  <a:lnTo>
                    <a:pt x="0" y="127800"/>
                  </a:lnTo>
                  <a:lnTo>
                    <a:pt x="1080" y="144498"/>
                  </a:lnTo>
                  <a:lnTo>
                    <a:pt x="17284" y="191884"/>
                  </a:lnTo>
                  <a:lnTo>
                    <a:pt x="50138" y="229396"/>
                  </a:lnTo>
                  <a:lnTo>
                    <a:pt x="94911" y="251512"/>
                  </a:lnTo>
                  <a:lnTo>
                    <a:pt x="128168" y="255968"/>
                  </a:lnTo>
                  <a:lnTo>
                    <a:pt x="144803" y="254837"/>
                  </a:lnTo>
                  <a:lnTo>
                    <a:pt x="191884" y="238683"/>
                  </a:lnTo>
                  <a:lnTo>
                    <a:pt x="229396" y="205829"/>
                  </a:lnTo>
                  <a:lnTo>
                    <a:pt x="251645" y="160923"/>
                  </a:lnTo>
                  <a:lnTo>
                    <a:pt x="255968" y="127800"/>
                  </a:lnTo>
                  <a:lnTo>
                    <a:pt x="254887" y="111107"/>
                  </a:lnTo>
                  <a:lnTo>
                    <a:pt x="238683" y="63728"/>
                  </a:lnTo>
                  <a:lnTo>
                    <a:pt x="205829" y="26211"/>
                  </a:lnTo>
                  <a:lnTo>
                    <a:pt x="161102" y="4278"/>
                  </a:lnTo>
                  <a:lnTo>
                    <a:pt x="128168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955700" y="2587866"/>
              <a:ext cx="137160" cy="2436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500" b="1" spc="-50">
                  <a:solidFill>
                    <a:srgbClr val="FFFFFF"/>
                  </a:solidFill>
                  <a:latin typeface="Arial"/>
                  <a:cs typeface="Arial"/>
                </a:rPr>
                <a:t>+</a:t>
              </a:r>
              <a:endParaRPr lang="es-ES" sz="1500">
                <a:latin typeface="Arial"/>
                <a:cs typeface="Aria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1294460" y="2529180"/>
              <a:ext cx="4298950" cy="474489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300"/>
                </a:spcBef>
              </a:pP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Muestreo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repetido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a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lo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largo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de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trazas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y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cobertura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de</a:t>
              </a:r>
              <a:r>
                <a:rPr lang="es-MX" sz="1500" spc="1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altas</a:t>
              </a:r>
              <a:r>
                <a:rPr lang="es-MX" sz="1500" spc="1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latitudes.</a:t>
              </a:r>
              <a:endParaRPr lang="es-MX" sz="1500">
                <a:latin typeface="Arial"/>
                <a:cs typeface="Arial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96035" y="326332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68" y="0"/>
                  </a:moveTo>
                  <a:lnTo>
                    <a:pt x="79110" y="9563"/>
                  </a:lnTo>
                  <a:lnTo>
                    <a:pt x="37579" y="37211"/>
                  </a:lnTo>
                  <a:lnTo>
                    <a:pt x="9724" y="78792"/>
                  </a:lnTo>
                  <a:lnTo>
                    <a:pt x="0" y="127800"/>
                  </a:lnTo>
                  <a:lnTo>
                    <a:pt x="1080" y="144492"/>
                  </a:lnTo>
                  <a:lnTo>
                    <a:pt x="17284" y="191871"/>
                  </a:lnTo>
                  <a:lnTo>
                    <a:pt x="50138" y="229388"/>
                  </a:lnTo>
                  <a:lnTo>
                    <a:pt x="94911" y="251499"/>
                  </a:lnTo>
                  <a:lnTo>
                    <a:pt x="128168" y="255955"/>
                  </a:lnTo>
                  <a:lnTo>
                    <a:pt x="144803" y="254824"/>
                  </a:lnTo>
                  <a:lnTo>
                    <a:pt x="191884" y="238671"/>
                  </a:lnTo>
                  <a:lnTo>
                    <a:pt x="229396" y="205818"/>
                  </a:lnTo>
                  <a:lnTo>
                    <a:pt x="251645" y="160916"/>
                  </a:lnTo>
                  <a:lnTo>
                    <a:pt x="255968" y="127800"/>
                  </a:lnTo>
                  <a:lnTo>
                    <a:pt x="254887" y="111102"/>
                  </a:lnTo>
                  <a:lnTo>
                    <a:pt x="238683" y="63715"/>
                  </a:lnTo>
                  <a:lnTo>
                    <a:pt x="205829" y="26204"/>
                  </a:lnTo>
                  <a:lnTo>
                    <a:pt x="161102" y="4271"/>
                  </a:lnTo>
                  <a:lnTo>
                    <a:pt x="128168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955700" y="3246311"/>
              <a:ext cx="137160" cy="2436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500" b="1" spc="-50">
                  <a:solidFill>
                    <a:srgbClr val="FFFFFF"/>
                  </a:solidFill>
                  <a:latin typeface="Arial"/>
                  <a:cs typeface="Arial"/>
                </a:rPr>
                <a:t>+</a:t>
              </a:r>
              <a:endParaRPr lang="es-ES" sz="1500">
                <a:latin typeface="Arial"/>
                <a:cs typeface="Arial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294460" y="3187624"/>
              <a:ext cx="3536950" cy="474489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300"/>
                </a:spcBef>
              </a:pP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Campos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estructurales</a:t>
              </a:r>
              <a:r>
                <a:rPr lang="es-MX" sz="1500" spc="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útiles</a:t>
              </a:r>
              <a:r>
                <a:rPr lang="es-MX" sz="1500" spc="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para</a:t>
              </a:r>
              <a:r>
                <a:rPr lang="es-MX" sz="1500" spc="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calibrar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modelos</a:t>
              </a:r>
              <a:r>
                <a:rPr lang="es-MX" sz="1500" spc="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multisensor.</a:t>
              </a:r>
              <a:endParaRPr lang="es-MX" sz="1500">
                <a:latin typeface="Arial"/>
                <a:cs typeface="Arial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896035" y="3921760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68" y="0"/>
                  </a:moveTo>
                  <a:lnTo>
                    <a:pt x="79110" y="9574"/>
                  </a:lnTo>
                  <a:lnTo>
                    <a:pt x="37579" y="37218"/>
                  </a:lnTo>
                  <a:lnTo>
                    <a:pt x="9724" y="78799"/>
                  </a:lnTo>
                  <a:lnTo>
                    <a:pt x="0" y="127800"/>
                  </a:lnTo>
                  <a:lnTo>
                    <a:pt x="1080" y="144498"/>
                  </a:lnTo>
                  <a:lnTo>
                    <a:pt x="17284" y="191884"/>
                  </a:lnTo>
                  <a:lnTo>
                    <a:pt x="50138" y="229396"/>
                  </a:lnTo>
                  <a:lnTo>
                    <a:pt x="94911" y="251512"/>
                  </a:lnTo>
                  <a:lnTo>
                    <a:pt x="128168" y="255968"/>
                  </a:lnTo>
                  <a:lnTo>
                    <a:pt x="144803" y="254837"/>
                  </a:lnTo>
                  <a:lnTo>
                    <a:pt x="191884" y="238683"/>
                  </a:lnTo>
                  <a:lnTo>
                    <a:pt x="229396" y="205829"/>
                  </a:lnTo>
                  <a:lnTo>
                    <a:pt x="251645" y="160923"/>
                  </a:lnTo>
                  <a:lnTo>
                    <a:pt x="255968" y="127800"/>
                  </a:lnTo>
                  <a:lnTo>
                    <a:pt x="254887" y="111107"/>
                  </a:lnTo>
                  <a:lnTo>
                    <a:pt x="238683" y="63728"/>
                  </a:lnTo>
                  <a:lnTo>
                    <a:pt x="205829" y="26211"/>
                  </a:lnTo>
                  <a:lnTo>
                    <a:pt x="161102" y="4278"/>
                  </a:lnTo>
                  <a:lnTo>
                    <a:pt x="128168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955700" y="3904387"/>
              <a:ext cx="137160" cy="2436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500" b="1" spc="-50">
                  <a:solidFill>
                    <a:srgbClr val="FFFFFF"/>
                  </a:solidFill>
                  <a:latin typeface="Arial"/>
                  <a:cs typeface="Arial"/>
                </a:rPr>
                <a:t>+</a:t>
              </a:r>
              <a:endParaRPr lang="es-ES" sz="1500"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294460" y="3845700"/>
              <a:ext cx="4052570" cy="474489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300"/>
                </a:spcBef>
              </a:pP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Acceso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a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fotones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y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métricas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agregadas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en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25">
                  <a:solidFill>
                    <a:srgbClr val="1F2F28"/>
                  </a:solidFill>
                  <a:latin typeface="Arial"/>
                  <a:cs typeface="Arial"/>
                </a:rPr>
                <a:t>una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misma</a:t>
              </a:r>
              <a:r>
                <a:rPr lang="es-MX" sz="1500" spc="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cadena.</a:t>
              </a:r>
              <a:endParaRPr lang="es-MX" sz="1500">
                <a:latin typeface="Arial"/>
                <a:cs typeface="Arial"/>
              </a:endParaRPr>
            </a:p>
          </p:txBody>
        </p:sp>
        <p:grpSp>
          <p:nvGrpSpPr>
            <p:cNvPr id="21" name="object 21"/>
            <p:cNvGrpSpPr/>
            <p:nvPr/>
          </p:nvGrpSpPr>
          <p:grpSpPr>
            <a:xfrm>
              <a:off x="6194475" y="990600"/>
              <a:ext cx="5076000" cy="3744000"/>
              <a:chOff x="6194475" y="1256715"/>
              <a:chExt cx="5423535" cy="4417695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22" name="object 22"/>
              <p:cNvSpPr/>
              <p:nvPr/>
            </p:nvSpPr>
            <p:spPr>
              <a:xfrm>
                <a:off x="6199555" y="1261795"/>
                <a:ext cx="5413375" cy="4407535"/>
              </a:xfrm>
              <a:custGeom>
                <a:avLst/>
                <a:gdLst/>
                <a:ahLst/>
                <a:cxnLst/>
                <a:rect l="l" t="t" r="r" b="b"/>
                <a:pathLst>
                  <a:path w="5413375" h="4407535">
                    <a:moveTo>
                      <a:pt x="5339880" y="0"/>
                    </a:moveTo>
                    <a:lnTo>
                      <a:pt x="73088" y="0"/>
                    </a:lnTo>
                    <a:lnTo>
                      <a:pt x="63660" y="607"/>
                    </a:lnTo>
                    <a:lnTo>
                      <a:pt x="21470" y="21291"/>
                    </a:lnTo>
                    <a:lnTo>
                      <a:pt x="607" y="63449"/>
                    </a:lnTo>
                    <a:lnTo>
                      <a:pt x="0" y="73088"/>
                    </a:lnTo>
                    <a:lnTo>
                      <a:pt x="0" y="4334408"/>
                    </a:lnTo>
                    <a:lnTo>
                      <a:pt x="597" y="4343679"/>
                    </a:lnTo>
                    <a:lnTo>
                      <a:pt x="607" y="4343834"/>
                    </a:lnTo>
                    <a:lnTo>
                      <a:pt x="21291" y="4386016"/>
                    </a:lnTo>
                    <a:lnTo>
                      <a:pt x="63449" y="4406876"/>
                    </a:lnTo>
                    <a:lnTo>
                      <a:pt x="73088" y="4407484"/>
                    </a:lnTo>
                    <a:lnTo>
                      <a:pt x="5340248" y="4407128"/>
                    </a:lnTo>
                    <a:lnTo>
                      <a:pt x="5384618" y="4392074"/>
                    </a:lnTo>
                    <a:lnTo>
                      <a:pt x="5410879" y="4353126"/>
                    </a:lnTo>
                    <a:lnTo>
                      <a:pt x="5413300" y="4334408"/>
                    </a:lnTo>
                    <a:lnTo>
                      <a:pt x="5413324" y="4334040"/>
                    </a:lnTo>
                    <a:lnTo>
                      <a:pt x="5412968" y="73088"/>
                    </a:lnTo>
                    <a:lnTo>
                      <a:pt x="5397914" y="28710"/>
                    </a:lnTo>
                    <a:lnTo>
                      <a:pt x="5358920" y="2430"/>
                    </a:lnTo>
                    <a:lnTo>
                      <a:pt x="5349519" y="607"/>
                    </a:lnTo>
                    <a:lnTo>
                      <a:pt x="5339880" y="0"/>
                    </a:lnTo>
                    <a:close/>
                  </a:path>
                </a:pathLst>
              </a:custGeom>
              <a:solidFill>
                <a:srgbClr val="F4E9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6199555" y="1261795"/>
                <a:ext cx="5413375" cy="4407535"/>
              </a:xfrm>
              <a:custGeom>
                <a:avLst/>
                <a:gdLst/>
                <a:ahLst/>
                <a:cxnLst/>
                <a:rect l="l" t="t" r="r" b="b"/>
                <a:pathLst>
                  <a:path w="5413375" h="4407535">
                    <a:moveTo>
                      <a:pt x="0" y="73088"/>
                    </a:moveTo>
                    <a:lnTo>
                      <a:pt x="607" y="63449"/>
                    </a:lnTo>
                    <a:lnTo>
                      <a:pt x="2430" y="54048"/>
                    </a:lnTo>
                    <a:lnTo>
                      <a:pt x="28710" y="15053"/>
                    </a:lnTo>
                    <a:lnTo>
                      <a:pt x="73088" y="0"/>
                    </a:lnTo>
                    <a:lnTo>
                      <a:pt x="5339880" y="0"/>
                    </a:lnTo>
                    <a:lnTo>
                      <a:pt x="5384563" y="15109"/>
                    </a:lnTo>
                    <a:lnTo>
                      <a:pt x="5410538" y="54365"/>
                    </a:lnTo>
                    <a:lnTo>
                      <a:pt x="5412968" y="73088"/>
                    </a:lnTo>
                    <a:lnTo>
                      <a:pt x="5413324" y="4334040"/>
                    </a:lnTo>
                    <a:lnTo>
                      <a:pt x="5412716" y="4343679"/>
                    </a:lnTo>
                    <a:lnTo>
                      <a:pt x="5410895" y="4353080"/>
                    </a:lnTo>
                    <a:lnTo>
                      <a:pt x="5384618" y="4392074"/>
                    </a:lnTo>
                    <a:lnTo>
                      <a:pt x="5340248" y="4407128"/>
                    </a:lnTo>
                    <a:lnTo>
                      <a:pt x="73088" y="4407484"/>
                    </a:lnTo>
                    <a:lnTo>
                      <a:pt x="28405" y="4392380"/>
                    </a:lnTo>
                    <a:lnTo>
                      <a:pt x="2430" y="4353126"/>
                    </a:lnTo>
                    <a:lnTo>
                      <a:pt x="0" y="4334408"/>
                    </a:lnTo>
                    <a:lnTo>
                      <a:pt x="0" y="73088"/>
                    </a:lnTo>
                    <a:close/>
                  </a:path>
                </a:pathLst>
              </a:custGeom>
              <a:ln w="10079">
                <a:solidFill>
                  <a:srgbClr val="A8503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4" name="object 24"/>
            <p:cNvSpPr txBox="1"/>
            <p:nvPr/>
          </p:nvSpPr>
          <p:spPr>
            <a:xfrm>
              <a:off x="6460820" y="1267029"/>
              <a:ext cx="1047750" cy="3759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es-ES" sz="2300" b="1" spc="-10">
                  <a:solidFill>
                    <a:srgbClr val="A8503B"/>
                  </a:solidFill>
                  <a:latin typeface="Arial"/>
                  <a:cs typeface="Arial"/>
                </a:rPr>
                <a:t>Límites</a:t>
              </a:r>
              <a:endParaRPr lang="es-ES" sz="2300">
                <a:latin typeface="Arial"/>
                <a:cs typeface="Arial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6501244" y="194680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55" y="0"/>
                  </a:moveTo>
                  <a:lnTo>
                    <a:pt x="79097" y="9563"/>
                  </a:lnTo>
                  <a:lnTo>
                    <a:pt x="37571" y="37211"/>
                  </a:lnTo>
                  <a:lnTo>
                    <a:pt x="9713" y="78792"/>
                  </a:lnTo>
                  <a:lnTo>
                    <a:pt x="0" y="127800"/>
                  </a:lnTo>
                  <a:lnTo>
                    <a:pt x="1078" y="144492"/>
                  </a:lnTo>
                  <a:lnTo>
                    <a:pt x="17272" y="191871"/>
                  </a:lnTo>
                  <a:lnTo>
                    <a:pt x="50131" y="229388"/>
                  </a:lnTo>
                  <a:lnTo>
                    <a:pt x="94899" y="251499"/>
                  </a:lnTo>
                  <a:lnTo>
                    <a:pt x="128155" y="255955"/>
                  </a:lnTo>
                  <a:lnTo>
                    <a:pt x="144792" y="254824"/>
                  </a:lnTo>
                  <a:lnTo>
                    <a:pt x="191871" y="238671"/>
                  </a:lnTo>
                  <a:lnTo>
                    <a:pt x="229388" y="205818"/>
                  </a:lnTo>
                  <a:lnTo>
                    <a:pt x="251633" y="160916"/>
                  </a:lnTo>
                  <a:lnTo>
                    <a:pt x="255955" y="127800"/>
                  </a:lnTo>
                  <a:lnTo>
                    <a:pt x="254874" y="111102"/>
                  </a:lnTo>
                  <a:lnTo>
                    <a:pt x="238671" y="63715"/>
                  </a:lnTo>
                  <a:lnTo>
                    <a:pt x="205818" y="26204"/>
                  </a:lnTo>
                  <a:lnTo>
                    <a:pt x="161094" y="4271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6582854" y="1921866"/>
              <a:ext cx="93345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es-ES" sz="1600" b="1" spc="-50">
                  <a:solidFill>
                    <a:srgbClr val="FFFFFF"/>
                  </a:solidFill>
                  <a:latin typeface="Arial"/>
                  <a:cs typeface="Arial"/>
                </a:rPr>
                <a:t>-</a:t>
              </a:r>
              <a:endParaRPr lang="es-ES" sz="1600">
                <a:latin typeface="Arial"/>
                <a:cs typeface="Arial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6899656" y="1870736"/>
              <a:ext cx="3766185" cy="474489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300"/>
                </a:spcBef>
              </a:pP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Trazas</a:t>
              </a:r>
              <a:r>
                <a:rPr lang="es-MX" sz="1500" spc="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discretas:</a:t>
              </a:r>
              <a:r>
                <a:rPr lang="es-MX" sz="1500" spc="1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no</a:t>
              </a:r>
              <a:r>
                <a:rPr lang="es-MX" sz="1500" spc="1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produce</a:t>
              </a:r>
              <a:r>
                <a:rPr lang="es-MX" sz="1500" spc="1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una</a:t>
              </a:r>
              <a:r>
                <a:rPr lang="es-MX" sz="1500" spc="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superficie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continua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por</a:t>
              </a:r>
              <a:r>
                <a:rPr lang="es-MX" sz="1500" spc="1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sí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sola.</a:t>
              </a:r>
              <a:endParaRPr lang="es-MX" sz="1500">
                <a:latin typeface="Arial"/>
                <a:cs typeface="Arial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501244" y="2605240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55" y="0"/>
                  </a:moveTo>
                  <a:lnTo>
                    <a:pt x="79097" y="9574"/>
                  </a:lnTo>
                  <a:lnTo>
                    <a:pt x="37571" y="37218"/>
                  </a:lnTo>
                  <a:lnTo>
                    <a:pt x="9713" y="78799"/>
                  </a:lnTo>
                  <a:lnTo>
                    <a:pt x="0" y="127800"/>
                  </a:lnTo>
                  <a:lnTo>
                    <a:pt x="1078" y="144498"/>
                  </a:lnTo>
                  <a:lnTo>
                    <a:pt x="17272" y="191884"/>
                  </a:lnTo>
                  <a:lnTo>
                    <a:pt x="50131" y="229396"/>
                  </a:lnTo>
                  <a:lnTo>
                    <a:pt x="94899" y="251512"/>
                  </a:lnTo>
                  <a:lnTo>
                    <a:pt x="128155" y="255968"/>
                  </a:lnTo>
                  <a:lnTo>
                    <a:pt x="144792" y="254837"/>
                  </a:lnTo>
                  <a:lnTo>
                    <a:pt x="191871" y="238683"/>
                  </a:lnTo>
                  <a:lnTo>
                    <a:pt x="229388" y="205829"/>
                  </a:lnTo>
                  <a:lnTo>
                    <a:pt x="251633" y="160923"/>
                  </a:lnTo>
                  <a:lnTo>
                    <a:pt x="255955" y="127800"/>
                  </a:lnTo>
                  <a:lnTo>
                    <a:pt x="254874" y="111107"/>
                  </a:lnTo>
                  <a:lnTo>
                    <a:pt x="238671" y="63728"/>
                  </a:lnTo>
                  <a:lnTo>
                    <a:pt x="205818" y="26211"/>
                  </a:lnTo>
                  <a:lnTo>
                    <a:pt x="161094" y="4278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6582854" y="2580310"/>
              <a:ext cx="93345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es-ES" sz="1600" b="1" spc="-50">
                  <a:solidFill>
                    <a:srgbClr val="FFFFFF"/>
                  </a:solidFill>
                  <a:latin typeface="Arial"/>
                  <a:cs typeface="Arial"/>
                </a:rPr>
                <a:t>-</a:t>
              </a:r>
              <a:endParaRPr lang="es-ES" sz="1600">
                <a:latin typeface="Arial"/>
                <a:cs typeface="Arial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6899656" y="2529180"/>
              <a:ext cx="4204335" cy="474489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300"/>
                </a:spcBef>
              </a:pP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Ruido</a:t>
              </a:r>
              <a:r>
                <a:rPr lang="es-MX" sz="1500" spc="-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solar, nubosidad, pendiente y densidad </a:t>
              </a:r>
              <a:r>
                <a:rPr lang="es-MX" sz="1500" spc="-25">
                  <a:solidFill>
                    <a:srgbClr val="1F2F28"/>
                  </a:solidFill>
                  <a:latin typeface="Arial"/>
                  <a:cs typeface="Arial"/>
                </a:rPr>
                <a:t>de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dosel</a:t>
              </a:r>
              <a:r>
                <a:rPr lang="es-MX" sz="1500" spc="1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afectan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la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clasificación.</a:t>
              </a:r>
              <a:endParaRPr lang="es-MX" sz="1500">
                <a:latin typeface="Arial"/>
                <a:cs typeface="Arial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501244" y="326332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55" y="0"/>
                  </a:moveTo>
                  <a:lnTo>
                    <a:pt x="79097" y="9563"/>
                  </a:lnTo>
                  <a:lnTo>
                    <a:pt x="37571" y="37211"/>
                  </a:lnTo>
                  <a:lnTo>
                    <a:pt x="9713" y="78792"/>
                  </a:lnTo>
                  <a:lnTo>
                    <a:pt x="0" y="127800"/>
                  </a:lnTo>
                  <a:lnTo>
                    <a:pt x="1078" y="144492"/>
                  </a:lnTo>
                  <a:lnTo>
                    <a:pt x="17272" y="191871"/>
                  </a:lnTo>
                  <a:lnTo>
                    <a:pt x="50131" y="229388"/>
                  </a:lnTo>
                  <a:lnTo>
                    <a:pt x="94899" y="251499"/>
                  </a:lnTo>
                  <a:lnTo>
                    <a:pt x="128155" y="255955"/>
                  </a:lnTo>
                  <a:lnTo>
                    <a:pt x="144792" y="254824"/>
                  </a:lnTo>
                  <a:lnTo>
                    <a:pt x="191871" y="238671"/>
                  </a:lnTo>
                  <a:lnTo>
                    <a:pt x="229388" y="205818"/>
                  </a:lnTo>
                  <a:lnTo>
                    <a:pt x="251633" y="160916"/>
                  </a:lnTo>
                  <a:lnTo>
                    <a:pt x="255955" y="127800"/>
                  </a:lnTo>
                  <a:lnTo>
                    <a:pt x="254874" y="111102"/>
                  </a:lnTo>
                  <a:lnTo>
                    <a:pt x="238671" y="63715"/>
                  </a:lnTo>
                  <a:lnTo>
                    <a:pt x="205818" y="26204"/>
                  </a:lnTo>
                  <a:lnTo>
                    <a:pt x="161094" y="4271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6582854" y="3238754"/>
              <a:ext cx="93345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es-ES" sz="1600" b="1" spc="-50">
                  <a:solidFill>
                    <a:srgbClr val="FFFFFF"/>
                  </a:solidFill>
                  <a:latin typeface="Arial"/>
                  <a:cs typeface="Arial"/>
                </a:rPr>
                <a:t>-</a:t>
              </a:r>
              <a:endParaRPr lang="es-ES" sz="1600">
                <a:latin typeface="Arial"/>
                <a:cs typeface="Aria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899656" y="3187624"/>
              <a:ext cx="3935729" cy="474489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300"/>
                </a:spcBef>
              </a:pP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Los</a:t>
              </a:r>
              <a:r>
                <a:rPr lang="es-MX" sz="1500" spc="1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filtros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pueden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seleccionar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poblaciones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25">
                  <a:solidFill>
                    <a:srgbClr val="1F2F28"/>
                  </a:solidFill>
                  <a:latin typeface="Arial"/>
                  <a:cs typeface="Arial"/>
                </a:rPr>
                <a:t>de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altura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distintas.</a:t>
              </a:r>
              <a:endParaRPr lang="es-MX" sz="1500">
                <a:latin typeface="Arial"/>
                <a:cs typeface="Arial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501244" y="3921760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155" y="0"/>
                  </a:moveTo>
                  <a:lnTo>
                    <a:pt x="79097" y="9574"/>
                  </a:lnTo>
                  <a:lnTo>
                    <a:pt x="37571" y="37218"/>
                  </a:lnTo>
                  <a:lnTo>
                    <a:pt x="9713" y="78799"/>
                  </a:lnTo>
                  <a:lnTo>
                    <a:pt x="0" y="127800"/>
                  </a:lnTo>
                  <a:lnTo>
                    <a:pt x="1078" y="144498"/>
                  </a:lnTo>
                  <a:lnTo>
                    <a:pt x="17272" y="191884"/>
                  </a:lnTo>
                  <a:lnTo>
                    <a:pt x="50131" y="229396"/>
                  </a:lnTo>
                  <a:lnTo>
                    <a:pt x="94899" y="251512"/>
                  </a:lnTo>
                  <a:lnTo>
                    <a:pt x="128155" y="255968"/>
                  </a:lnTo>
                  <a:lnTo>
                    <a:pt x="144792" y="254837"/>
                  </a:lnTo>
                  <a:lnTo>
                    <a:pt x="191871" y="238683"/>
                  </a:lnTo>
                  <a:lnTo>
                    <a:pt x="229388" y="205829"/>
                  </a:lnTo>
                  <a:lnTo>
                    <a:pt x="251633" y="160923"/>
                  </a:lnTo>
                  <a:lnTo>
                    <a:pt x="255955" y="127800"/>
                  </a:lnTo>
                  <a:lnTo>
                    <a:pt x="254874" y="111107"/>
                  </a:lnTo>
                  <a:lnTo>
                    <a:pt x="238671" y="63728"/>
                  </a:lnTo>
                  <a:lnTo>
                    <a:pt x="205818" y="26211"/>
                  </a:lnTo>
                  <a:lnTo>
                    <a:pt x="161094" y="4278"/>
                  </a:lnTo>
                  <a:lnTo>
                    <a:pt x="128155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6582854" y="3896830"/>
              <a:ext cx="93345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es-ES" sz="1600" b="1" spc="-50">
                  <a:solidFill>
                    <a:srgbClr val="FFFFFF"/>
                  </a:solidFill>
                  <a:latin typeface="Arial"/>
                  <a:cs typeface="Arial"/>
                </a:rPr>
                <a:t>-</a:t>
              </a:r>
              <a:endParaRPr lang="es-ES" sz="16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6899656" y="3845700"/>
              <a:ext cx="3773804" cy="474489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300"/>
                </a:spcBef>
              </a:pP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Sin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coincidencia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espacial,</a:t>
              </a:r>
              <a:r>
                <a:rPr lang="es-MX" sz="1500" spc="1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una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comparación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temporal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no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>
                  <a:solidFill>
                    <a:srgbClr val="1F2F28"/>
                  </a:solidFill>
                  <a:latin typeface="Arial"/>
                  <a:cs typeface="Arial"/>
                </a:rPr>
                <a:t>identifica</a:t>
              </a:r>
              <a:r>
                <a:rPr lang="es-MX" sz="1500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spc="-10">
                  <a:solidFill>
                    <a:srgbClr val="1F2F28"/>
                  </a:solidFill>
                  <a:latin typeface="Arial"/>
                  <a:cs typeface="Arial"/>
                </a:rPr>
                <a:t>cambio.</a:t>
              </a:r>
              <a:endParaRPr lang="es-MX" sz="1500">
                <a:latin typeface="Arial"/>
                <a:cs typeface="Arial"/>
              </a:endParaRPr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955264" y="5257800"/>
            <a:ext cx="10205085" cy="756000"/>
            <a:chOff x="955264" y="5865655"/>
            <a:chExt cx="10205085" cy="448309"/>
          </a:xfrm>
        </p:grpSpPr>
        <p:sp>
          <p:nvSpPr>
            <p:cNvPr id="38" name="object 38"/>
            <p:cNvSpPr/>
            <p:nvPr/>
          </p:nvSpPr>
          <p:spPr>
            <a:xfrm>
              <a:off x="959764" y="5870155"/>
              <a:ext cx="10196195" cy="439420"/>
            </a:xfrm>
            <a:custGeom>
              <a:avLst/>
              <a:gdLst/>
              <a:ahLst/>
              <a:cxnLst/>
              <a:rect l="l" t="t" r="r" b="b"/>
              <a:pathLst>
                <a:path w="10196195" h="439420">
                  <a:moveTo>
                    <a:pt x="64439" y="0"/>
                  </a:moveTo>
                  <a:lnTo>
                    <a:pt x="25397" y="13364"/>
                  </a:lnTo>
                  <a:lnTo>
                    <a:pt x="2516" y="47524"/>
                  </a:lnTo>
                  <a:lnTo>
                    <a:pt x="0" y="375119"/>
                  </a:lnTo>
                  <a:lnTo>
                    <a:pt x="538" y="383469"/>
                  </a:lnTo>
                  <a:lnTo>
                    <a:pt x="18735" y="420350"/>
                  </a:lnTo>
                  <a:lnTo>
                    <a:pt x="55728" y="438663"/>
                  </a:lnTo>
                  <a:lnTo>
                    <a:pt x="64071" y="439204"/>
                  </a:lnTo>
                  <a:lnTo>
                    <a:pt x="10131831" y="439204"/>
                  </a:lnTo>
                  <a:lnTo>
                    <a:pt x="10170873" y="425846"/>
                  </a:lnTo>
                  <a:lnTo>
                    <a:pt x="10193755" y="391683"/>
                  </a:lnTo>
                  <a:lnTo>
                    <a:pt x="10195915" y="375119"/>
                  </a:lnTo>
                  <a:lnTo>
                    <a:pt x="10195892" y="64084"/>
                  </a:lnTo>
                  <a:lnTo>
                    <a:pt x="10182557" y="25408"/>
                  </a:lnTo>
                  <a:lnTo>
                    <a:pt x="10148395" y="2524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1EBEA"/>
            </a:solidFill>
          </p:spPr>
          <p:txBody>
            <a:bodyPr wrap="square" lIns="0" tIns="0" rIns="0" bIns="0" rtlCol="0"/>
            <a:lstStyle/>
            <a:p>
              <a:pPr algn="just"/>
              <a:endParaRPr sz="1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959764" y="5870155"/>
              <a:ext cx="10196195" cy="439420"/>
            </a:xfrm>
            <a:custGeom>
              <a:avLst/>
              <a:gdLst/>
              <a:ahLst/>
              <a:cxnLst/>
              <a:rect l="l" t="t" r="r" b="b"/>
              <a:pathLst>
                <a:path w="10196195" h="439420">
                  <a:moveTo>
                    <a:pt x="355" y="64084"/>
                  </a:moveTo>
                  <a:lnTo>
                    <a:pt x="895" y="55736"/>
                  </a:lnTo>
                  <a:lnTo>
                    <a:pt x="2516" y="47524"/>
                  </a:lnTo>
                  <a:lnTo>
                    <a:pt x="25397" y="13364"/>
                  </a:lnTo>
                  <a:lnTo>
                    <a:pt x="64439" y="0"/>
                  </a:lnTo>
                  <a:lnTo>
                    <a:pt x="10131831" y="368"/>
                  </a:lnTo>
                  <a:lnTo>
                    <a:pt x="10170823" y="13570"/>
                  </a:lnTo>
                  <a:lnTo>
                    <a:pt x="10193755" y="47886"/>
                  </a:lnTo>
                  <a:lnTo>
                    <a:pt x="10195915" y="64439"/>
                  </a:lnTo>
                  <a:lnTo>
                    <a:pt x="10195915" y="375119"/>
                  </a:lnTo>
                  <a:lnTo>
                    <a:pt x="10195375" y="383469"/>
                  </a:lnTo>
                  <a:lnTo>
                    <a:pt x="10193755" y="391683"/>
                  </a:lnTo>
                  <a:lnTo>
                    <a:pt x="10170873" y="425846"/>
                  </a:lnTo>
                  <a:lnTo>
                    <a:pt x="10131831" y="439204"/>
                  </a:lnTo>
                  <a:lnTo>
                    <a:pt x="64071" y="439204"/>
                  </a:lnTo>
                  <a:lnTo>
                    <a:pt x="25086" y="425996"/>
                  </a:lnTo>
                  <a:lnTo>
                    <a:pt x="2155" y="391683"/>
                  </a:lnTo>
                  <a:lnTo>
                    <a:pt x="0" y="37511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pPr algn="just"/>
              <a:endParaRPr sz="1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960119" y="5870524"/>
              <a:ext cx="82550" cy="438784"/>
            </a:xfrm>
            <a:custGeom>
              <a:avLst/>
              <a:gdLst/>
              <a:ahLst/>
              <a:cxnLst/>
              <a:rect l="l" t="t" r="r" b="b"/>
              <a:pathLst>
                <a:path w="82550" h="438785">
                  <a:moveTo>
                    <a:pt x="8208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41033" y="438480"/>
                  </a:lnTo>
                  <a:lnTo>
                    <a:pt x="82080" y="43848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pPr algn="just"/>
              <a:endParaRPr sz="140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452151" y="5412326"/>
            <a:ext cx="921131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Implicación:</a:t>
            </a:r>
            <a:r>
              <a:rPr lang="es-MX" sz="1400" b="1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aporta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anclajes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estructurales;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cartografía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biomasa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requiere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extrapolación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variables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SAR,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ópticas,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topográficas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campo.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47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8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9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14/43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32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811924" y="-355"/>
            <a:ext cx="5380075" cy="6858000"/>
            <a:chOff x="6811924" y="-355"/>
            <a:chExt cx="5380075" cy="6858000"/>
          </a:xfrm>
        </p:grpSpPr>
        <p:pic>
          <p:nvPicPr>
            <p:cNvPr id="4" name="object 4" descr="/mnt/data/icesat2_work/unzip/ppt/media/image7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5147" y="12"/>
              <a:ext cx="5196230" cy="68572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95159" y="-355"/>
              <a:ext cx="5196840" cy="6858000"/>
            </a:xfrm>
            <a:custGeom>
              <a:avLst/>
              <a:gdLst/>
              <a:ahLst/>
              <a:cxnLst/>
              <a:rect l="l" t="t" r="r" b="b"/>
              <a:pathLst>
                <a:path w="5196840" h="6858000">
                  <a:moveTo>
                    <a:pt x="5196243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598115" y="6857631"/>
                  </a:lnTo>
                  <a:lnTo>
                    <a:pt x="5196243" y="6857631"/>
                  </a:lnTo>
                  <a:lnTo>
                    <a:pt x="5196243" y="0"/>
                  </a:lnTo>
                  <a:close/>
                </a:path>
              </a:pathLst>
            </a:custGeom>
            <a:solidFill>
              <a:srgbClr val="13261F">
                <a:alpha val="6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1924" y="-355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79" h="6858000">
                  <a:moveTo>
                    <a:pt x="1825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91440" y="6857631"/>
                  </a:lnTo>
                  <a:lnTo>
                    <a:pt x="182511" y="6857631"/>
                  </a:lnTo>
                  <a:lnTo>
                    <a:pt x="182511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8660" y="947419"/>
            <a:ext cx="89789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l-PL" sz="11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Ó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1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1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U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1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L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</a:t>
            </a:r>
            <a:r>
              <a:rPr lang="pl-PL" sz="1100" b="1" spc="30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5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2</a:t>
            </a:r>
            <a:endParaRPr lang="pl-PL" sz="11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09015" y="1403908"/>
            <a:ext cx="390588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Diseño</a:t>
            </a:r>
            <a:r>
              <a:rPr sz="3400" spc="-6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</a:t>
            </a:r>
            <a:r>
              <a:rPr sz="3400" spc="-6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400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análisis</a:t>
            </a:r>
            <a:endParaRPr sz="3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024" y="2748140"/>
            <a:ext cx="497459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AOI,</a:t>
            </a:r>
            <a:r>
              <a:rPr lang="es-MX" sz="1900" spc="-8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unidades,</a:t>
            </a:r>
            <a:r>
              <a:rPr lang="es-MX" sz="1900" spc="-7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filtros</a:t>
            </a:r>
            <a:r>
              <a:rPr lang="es-MX" sz="1900" spc="-7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de</a:t>
            </a:r>
            <a:r>
              <a:rPr lang="es-MX" sz="1900" spc="-7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calidad,</a:t>
            </a:r>
            <a:r>
              <a:rPr lang="es-MX" sz="1900" spc="-7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estimandos</a:t>
            </a:r>
            <a:r>
              <a:rPr lang="es-MX" sz="1900" spc="-8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 spc="-5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y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estrategia</a:t>
            </a:r>
            <a:r>
              <a:rPr lang="es-MX" sz="1900" spc="-12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 spc="-1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inferencial.</a:t>
            </a:r>
            <a:endParaRPr lang="es-MX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0080" y="4069079"/>
            <a:ext cx="5669280" cy="635"/>
          </a:xfrm>
          <a:custGeom>
            <a:avLst/>
            <a:gdLst/>
            <a:ahLst/>
            <a:cxnLst/>
            <a:rect l="l" t="t" r="r" b="b"/>
            <a:pathLst>
              <a:path w="5669280" h="635">
                <a:moveTo>
                  <a:pt x="0" y="0"/>
                </a:moveTo>
                <a:lnTo>
                  <a:pt x="5669280" y="355"/>
                </a:lnTo>
              </a:path>
            </a:pathLst>
          </a:custGeom>
          <a:ln w="12599">
            <a:solidFill>
              <a:srgbClr val="547066"/>
            </a:solidFill>
          </a:ln>
        </p:spPr>
        <p:txBody>
          <a:bodyPr wrap="square" lIns="0" tIns="0" rIns="0" bIns="0" rtlCol="0"/>
          <a:lstStyle/>
          <a:p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024" y="4311980"/>
            <a:ext cx="5423535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2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Preguntas</a:t>
            </a:r>
            <a:r>
              <a:rPr lang="es-MX" sz="1200" b="1" spc="-6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200" b="1" spc="-2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guía</a:t>
            </a:r>
            <a:endParaRPr lang="es-MX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s-MX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¿Cuál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es</a:t>
            </a:r>
            <a:r>
              <a:rPr lang="es-MX" sz="1650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la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unidad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de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inferencia?</a:t>
            </a:r>
            <a:r>
              <a:rPr lang="es-MX" sz="1650" spc="39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¿Qué</a:t>
            </a:r>
            <a:r>
              <a:rPr lang="es-MX" sz="1650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población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retiene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cada</a:t>
            </a:r>
            <a:r>
              <a:rPr lang="es-MX" sz="1650" spc="-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filtro?</a:t>
            </a:r>
            <a:r>
              <a:rPr lang="es-MX" sz="1650" spc="39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¿Cómo</a:t>
            </a:r>
            <a:r>
              <a:rPr lang="es-MX" sz="1650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evitar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pseudorreplicación?</a:t>
            </a:r>
            <a:endParaRPr lang="es-MX" sz="16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Pregunta,</a:t>
            </a:r>
            <a:r>
              <a:rPr spc="-60"/>
              <a:t> </a:t>
            </a:r>
            <a:r>
              <a:t>datos</a:t>
            </a:r>
            <a:r>
              <a:rPr spc="-55"/>
              <a:t> </a:t>
            </a:r>
            <a:r>
              <a:t>y</a:t>
            </a:r>
            <a:r>
              <a:rPr spc="-60"/>
              <a:t> </a:t>
            </a:r>
            <a:r>
              <a:t>alcance</a:t>
            </a:r>
            <a:r>
              <a:rPr spc="-55"/>
              <a:t> </a:t>
            </a:r>
            <a:r>
              <a:t>de</a:t>
            </a:r>
            <a:r>
              <a:rPr spc="-60"/>
              <a:t> </a:t>
            </a:r>
            <a:r>
              <a:t>la</a:t>
            </a:r>
            <a:r>
              <a:rPr spc="-55"/>
              <a:t> </a:t>
            </a:r>
            <a:r>
              <a:rPr spc="-10"/>
              <a:t>comparación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6504" y="1247935"/>
            <a:ext cx="10982325" cy="722630"/>
            <a:chOff x="616504" y="1247935"/>
            <a:chExt cx="10982325" cy="72263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21004" y="1252435"/>
              <a:ext cx="10973435" cy="713740"/>
            </a:xfrm>
            <a:custGeom>
              <a:avLst/>
              <a:gdLst/>
              <a:ahLst/>
              <a:cxnLst/>
              <a:rect l="l" t="t" r="r" b="b"/>
              <a:pathLst>
                <a:path w="10973435" h="713739">
                  <a:moveTo>
                    <a:pt x="64439" y="0"/>
                  </a:moveTo>
                  <a:lnTo>
                    <a:pt x="25395" y="13364"/>
                  </a:lnTo>
                  <a:lnTo>
                    <a:pt x="2516" y="47524"/>
                  </a:lnTo>
                  <a:lnTo>
                    <a:pt x="0" y="649439"/>
                  </a:lnTo>
                  <a:lnTo>
                    <a:pt x="538" y="657789"/>
                  </a:lnTo>
                  <a:lnTo>
                    <a:pt x="18730" y="694670"/>
                  </a:lnTo>
                  <a:lnTo>
                    <a:pt x="18846" y="694804"/>
                  </a:lnTo>
                  <a:lnTo>
                    <a:pt x="55728" y="712983"/>
                  </a:lnTo>
                  <a:lnTo>
                    <a:pt x="64071" y="713524"/>
                  </a:lnTo>
                  <a:lnTo>
                    <a:pt x="10909071" y="713524"/>
                  </a:lnTo>
                  <a:lnTo>
                    <a:pt x="10948113" y="700166"/>
                  </a:lnTo>
                  <a:lnTo>
                    <a:pt x="10970995" y="666003"/>
                  </a:lnTo>
                  <a:lnTo>
                    <a:pt x="10973155" y="649439"/>
                  </a:lnTo>
                  <a:lnTo>
                    <a:pt x="10973132" y="64084"/>
                  </a:lnTo>
                  <a:lnTo>
                    <a:pt x="10959797" y="25408"/>
                  </a:lnTo>
                  <a:lnTo>
                    <a:pt x="10925635" y="2524"/>
                  </a:lnTo>
                  <a:lnTo>
                    <a:pt x="10909071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CE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004" y="1252435"/>
              <a:ext cx="10973435" cy="713740"/>
            </a:xfrm>
            <a:custGeom>
              <a:avLst/>
              <a:gdLst/>
              <a:ahLst/>
              <a:cxnLst/>
              <a:rect l="l" t="t" r="r" b="b"/>
              <a:pathLst>
                <a:path w="10973435" h="713739">
                  <a:moveTo>
                    <a:pt x="355" y="64084"/>
                  </a:moveTo>
                  <a:lnTo>
                    <a:pt x="895" y="55736"/>
                  </a:lnTo>
                  <a:lnTo>
                    <a:pt x="2516" y="47524"/>
                  </a:lnTo>
                  <a:lnTo>
                    <a:pt x="25395" y="13364"/>
                  </a:lnTo>
                  <a:lnTo>
                    <a:pt x="64439" y="0"/>
                  </a:lnTo>
                  <a:lnTo>
                    <a:pt x="10909071" y="368"/>
                  </a:lnTo>
                  <a:lnTo>
                    <a:pt x="10948063" y="13570"/>
                  </a:lnTo>
                  <a:lnTo>
                    <a:pt x="10970995" y="47886"/>
                  </a:lnTo>
                  <a:lnTo>
                    <a:pt x="10973155" y="64439"/>
                  </a:lnTo>
                  <a:lnTo>
                    <a:pt x="10973155" y="649439"/>
                  </a:lnTo>
                  <a:lnTo>
                    <a:pt x="10972615" y="657789"/>
                  </a:lnTo>
                  <a:lnTo>
                    <a:pt x="10970995" y="666003"/>
                  </a:lnTo>
                  <a:lnTo>
                    <a:pt x="10948113" y="700166"/>
                  </a:lnTo>
                  <a:lnTo>
                    <a:pt x="10909071" y="713524"/>
                  </a:lnTo>
                  <a:lnTo>
                    <a:pt x="64071" y="713524"/>
                  </a:lnTo>
                  <a:lnTo>
                    <a:pt x="25084" y="700316"/>
                  </a:lnTo>
                  <a:lnTo>
                    <a:pt x="2155" y="666003"/>
                  </a:lnTo>
                  <a:lnTo>
                    <a:pt x="0" y="64943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1715" y="1252804"/>
              <a:ext cx="82550" cy="713105"/>
            </a:xfrm>
            <a:custGeom>
              <a:avLst/>
              <a:gdLst/>
              <a:ahLst/>
              <a:cxnLst/>
              <a:rect l="l" t="t" r="r" b="b"/>
              <a:pathLst>
                <a:path w="82550" h="713105">
                  <a:moveTo>
                    <a:pt x="82080" y="0"/>
                  </a:moveTo>
                  <a:lnTo>
                    <a:pt x="0" y="0"/>
                  </a:lnTo>
                  <a:lnTo>
                    <a:pt x="0" y="712800"/>
                  </a:lnTo>
                  <a:lnTo>
                    <a:pt x="41046" y="712800"/>
                  </a:lnTo>
                  <a:lnTo>
                    <a:pt x="82080" y="71280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10221" y="1358900"/>
            <a:ext cx="988758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418840" marR="5080" indent="-3406775">
              <a:lnSpc>
                <a:spcPts val="1939"/>
              </a:lnSpc>
              <a:spcBef>
                <a:spcPts val="345"/>
              </a:spcBef>
            </a:pP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Pregunta</a:t>
            </a:r>
            <a:r>
              <a:rPr lang="es-MX" sz="18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descriptiva:</a:t>
            </a:r>
            <a:r>
              <a:rPr lang="es-MX" sz="18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¿cómo</a:t>
            </a:r>
            <a:r>
              <a:rPr lang="es-MX" sz="18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difiere</a:t>
            </a:r>
            <a:r>
              <a:rPr lang="es-MX" sz="18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8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distribución</a:t>
            </a:r>
            <a:r>
              <a:rPr lang="es-MX" sz="18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8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h_canopy</a:t>
            </a:r>
            <a:r>
              <a:rPr lang="es-MX" sz="18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(RH98)</a:t>
            </a:r>
            <a:r>
              <a:rPr lang="es-MX" sz="18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entre</a:t>
            </a:r>
            <a:r>
              <a:rPr lang="es-MX" sz="18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las</a:t>
            </a:r>
            <a:r>
              <a:rPr lang="es-MX" sz="18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 spc="-10">
                <a:solidFill>
                  <a:srgbClr val="1F2F28"/>
                </a:solidFill>
                <a:latin typeface="Arial"/>
                <a:cs typeface="Arial"/>
              </a:rPr>
              <a:t>muestras </a:t>
            </a:r>
            <a:r>
              <a:rPr lang="es-MX" sz="1800" b="1" spc="-20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s-MX" sz="18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8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r>
              <a:rPr lang="es-MX" sz="18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8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 spc="-10">
                <a:solidFill>
                  <a:srgbClr val="1F2F28"/>
                </a:solidFill>
                <a:latin typeface="Arial"/>
                <a:cs typeface="Arial"/>
              </a:rPr>
              <a:t>Estepa?</a:t>
            </a:r>
            <a:endParaRPr lang="es-MX"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7760" y="2253236"/>
            <a:ext cx="5259070" cy="1254125"/>
            <a:chOff x="707760" y="2253236"/>
            <a:chExt cx="5259070" cy="12541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1" name="object 11"/>
            <p:cNvSpPr/>
            <p:nvPr/>
          </p:nvSpPr>
          <p:spPr>
            <a:xfrm>
              <a:off x="712800" y="2258275"/>
              <a:ext cx="5248910" cy="1243965"/>
            </a:xfrm>
            <a:custGeom>
              <a:avLst/>
              <a:gdLst/>
              <a:ahLst/>
              <a:cxnLst/>
              <a:rect l="l" t="t" r="r" b="b"/>
              <a:pathLst>
                <a:path w="5248910" h="1243964">
                  <a:moveTo>
                    <a:pt x="517536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170368"/>
                  </a:lnTo>
                  <a:lnTo>
                    <a:pt x="594" y="1179639"/>
                  </a:lnTo>
                  <a:lnTo>
                    <a:pt x="607" y="1179844"/>
                  </a:lnTo>
                  <a:lnTo>
                    <a:pt x="2394" y="1189040"/>
                  </a:lnTo>
                  <a:lnTo>
                    <a:pt x="2428" y="1189220"/>
                  </a:lnTo>
                  <a:lnTo>
                    <a:pt x="5412" y="1198103"/>
                  </a:lnTo>
                  <a:lnTo>
                    <a:pt x="36360" y="1233728"/>
                  </a:lnTo>
                  <a:lnTo>
                    <a:pt x="73075" y="1243444"/>
                  </a:lnTo>
                  <a:lnTo>
                    <a:pt x="5175719" y="1243088"/>
                  </a:lnTo>
                  <a:lnTo>
                    <a:pt x="5220097" y="1227984"/>
                  </a:lnTo>
                  <a:lnTo>
                    <a:pt x="5246306" y="1189220"/>
                  </a:lnTo>
                  <a:lnTo>
                    <a:pt x="5246366" y="1189040"/>
                  </a:lnTo>
                  <a:lnTo>
                    <a:pt x="5248148" y="1179844"/>
                  </a:lnTo>
                  <a:lnTo>
                    <a:pt x="5248188" y="1179639"/>
                  </a:lnTo>
                  <a:lnTo>
                    <a:pt x="5248772" y="1170368"/>
                  </a:lnTo>
                  <a:lnTo>
                    <a:pt x="5248795" y="1170000"/>
                  </a:lnTo>
                  <a:lnTo>
                    <a:pt x="5248440" y="73088"/>
                  </a:lnTo>
                  <a:lnTo>
                    <a:pt x="5233341" y="28710"/>
                  </a:lnTo>
                  <a:lnTo>
                    <a:pt x="5194393" y="2430"/>
                  </a:lnTo>
                  <a:lnTo>
                    <a:pt x="5184996" y="607"/>
                  </a:lnTo>
                  <a:lnTo>
                    <a:pt x="517536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2800" y="2258275"/>
              <a:ext cx="5248910" cy="1243965"/>
            </a:xfrm>
            <a:custGeom>
              <a:avLst/>
              <a:gdLst/>
              <a:ahLst/>
              <a:cxnLst/>
              <a:rect l="l" t="t" r="r" b="b"/>
              <a:pathLst>
                <a:path w="5248910" h="1243964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5175364" y="0"/>
                  </a:lnTo>
                  <a:lnTo>
                    <a:pt x="5219884" y="15109"/>
                  </a:lnTo>
                  <a:lnTo>
                    <a:pt x="5246011" y="54232"/>
                  </a:lnTo>
                  <a:lnTo>
                    <a:pt x="5248440" y="73088"/>
                  </a:lnTo>
                  <a:lnTo>
                    <a:pt x="5248795" y="1170000"/>
                  </a:lnTo>
                  <a:lnTo>
                    <a:pt x="5248188" y="1179639"/>
                  </a:lnTo>
                  <a:lnTo>
                    <a:pt x="5246366" y="1189040"/>
                  </a:lnTo>
                  <a:lnTo>
                    <a:pt x="5220097" y="1227984"/>
                  </a:lnTo>
                  <a:lnTo>
                    <a:pt x="5175719" y="1243088"/>
                  </a:lnTo>
                  <a:lnTo>
                    <a:pt x="73075" y="1243444"/>
                  </a:lnTo>
                  <a:lnTo>
                    <a:pt x="28555" y="1228340"/>
                  </a:lnTo>
                  <a:lnTo>
                    <a:pt x="2428" y="1189220"/>
                  </a:lnTo>
                  <a:lnTo>
                    <a:pt x="0" y="1170368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3155" y="2258275"/>
              <a:ext cx="73025" cy="1243330"/>
            </a:xfrm>
            <a:custGeom>
              <a:avLst/>
              <a:gdLst/>
              <a:ahLst/>
              <a:cxnLst/>
              <a:rect l="l" t="t" r="r" b="b"/>
              <a:pathLst>
                <a:path w="73025" h="1243329">
                  <a:moveTo>
                    <a:pt x="72720" y="0"/>
                  </a:moveTo>
                  <a:lnTo>
                    <a:pt x="0" y="0"/>
                  </a:lnTo>
                  <a:lnTo>
                    <a:pt x="0" y="1243088"/>
                  </a:lnTo>
                  <a:lnTo>
                    <a:pt x="36360" y="1243088"/>
                  </a:lnTo>
                  <a:lnTo>
                    <a:pt x="72720" y="1243088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29055" y="2409380"/>
            <a:ext cx="4461510" cy="913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MX" sz="1700" b="1">
                <a:solidFill>
                  <a:schemeClr val="tx1"/>
                </a:solidFill>
                <a:latin typeface="Arial"/>
                <a:cs typeface="Arial"/>
              </a:rPr>
              <a:t>Población</a:t>
            </a:r>
            <a:r>
              <a:rPr lang="es-MX" sz="1700" b="1" spc="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chemeClr val="tx1"/>
                </a:solidFill>
                <a:latin typeface="Arial"/>
                <a:cs typeface="Arial"/>
              </a:rPr>
              <a:t>observada</a:t>
            </a:r>
            <a:endParaRPr lang="es-MX" sz="17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5800"/>
              </a:lnSpc>
              <a:spcBef>
                <a:spcPts val="1115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Segmentos</a:t>
            </a:r>
            <a:r>
              <a:rPr lang="es-MX" sz="1500" spc="-1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ATL08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retenidos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dentro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cada</a:t>
            </a:r>
            <a:r>
              <a:rPr lang="es-MX" sz="1500" spc="-9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AOI,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25">
                <a:solidFill>
                  <a:schemeClr val="tx1"/>
                </a:solidFill>
                <a:latin typeface="Arial"/>
                <a:cs typeface="Arial"/>
              </a:rPr>
              <a:t>no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“todos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los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bosques”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ni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“toda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estepa”.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4160" y="2253236"/>
            <a:ext cx="5259070" cy="1254125"/>
            <a:chOff x="6194160" y="2253236"/>
            <a:chExt cx="5259070" cy="12541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6" name="object 16"/>
            <p:cNvSpPr/>
            <p:nvPr/>
          </p:nvSpPr>
          <p:spPr>
            <a:xfrm>
              <a:off x="6199200" y="2258275"/>
              <a:ext cx="5248910" cy="1243965"/>
            </a:xfrm>
            <a:custGeom>
              <a:avLst/>
              <a:gdLst/>
              <a:ahLst/>
              <a:cxnLst/>
              <a:rect l="l" t="t" r="r" b="b"/>
              <a:pathLst>
                <a:path w="5248909" h="1243964">
                  <a:moveTo>
                    <a:pt x="517536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170368"/>
                  </a:lnTo>
                  <a:lnTo>
                    <a:pt x="15098" y="1214738"/>
                  </a:lnTo>
                  <a:lnTo>
                    <a:pt x="54046" y="1241015"/>
                  </a:lnTo>
                  <a:lnTo>
                    <a:pt x="73075" y="1243444"/>
                  </a:lnTo>
                  <a:lnTo>
                    <a:pt x="5175719" y="1243088"/>
                  </a:lnTo>
                  <a:lnTo>
                    <a:pt x="5220097" y="1227984"/>
                  </a:lnTo>
                  <a:lnTo>
                    <a:pt x="5243253" y="1198259"/>
                  </a:lnTo>
                  <a:lnTo>
                    <a:pt x="5243330" y="1198103"/>
                  </a:lnTo>
                  <a:lnTo>
                    <a:pt x="5246306" y="1189220"/>
                  </a:lnTo>
                  <a:lnTo>
                    <a:pt x="5246366" y="1189040"/>
                  </a:lnTo>
                  <a:lnTo>
                    <a:pt x="5248148" y="1179844"/>
                  </a:lnTo>
                  <a:lnTo>
                    <a:pt x="5248188" y="1179639"/>
                  </a:lnTo>
                  <a:lnTo>
                    <a:pt x="5248772" y="1170368"/>
                  </a:lnTo>
                  <a:lnTo>
                    <a:pt x="5248795" y="1170000"/>
                  </a:lnTo>
                  <a:lnTo>
                    <a:pt x="5248440" y="73088"/>
                  </a:lnTo>
                  <a:lnTo>
                    <a:pt x="5233341" y="28710"/>
                  </a:lnTo>
                  <a:lnTo>
                    <a:pt x="5194393" y="2430"/>
                  </a:lnTo>
                  <a:lnTo>
                    <a:pt x="5184996" y="607"/>
                  </a:lnTo>
                  <a:lnTo>
                    <a:pt x="517536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9200" y="2258275"/>
              <a:ext cx="5248910" cy="1243965"/>
            </a:xfrm>
            <a:custGeom>
              <a:avLst/>
              <a:gdLst/>
              <a:ahLst/>
              <a:cxnLst/>
              <a:rect l="l" t="t" r="r" b="b"/>
              <a:pathLst>
                <a:path w="5248909" h="1243964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5175364" y="0"/>
                  </a:lnTo>
                  <a:lnTo>
                    <a:pt x="5219884" y="15109"/>
                  </a:lnTo>
                  <a:lnTo>
                    <a:pt x="5246011" y="54232"/>
                  </a:lnTo>
                  <a:lnTo>
                    <a:pt x="5248440" y="73088"/>
                  </a:lnTo>
                  <a:lnTo>
                    <a:pt x="5248795" y="1170000"/>
                  </a:lnTo>
                  <a:lnTo>
                    <a:pt x="5248188" y="1179639"/>
                  </a:lnTo>
                  <a:lnTo>
                    <a:pt x="5246366" y="1189040"/>
                  </a:lnTo>
                  <a:lnTo>
                    <a:pt x="5220097" y="1227984"/>
                  </a:lnTo>
                  <a:lnTo>
                    <a:pt x="5175719" y="1243088"/>
                  </a:lnTo>
                  <a:lnTo>
                    <a:pt x="73075" y="1243444"/>
                  </a:lnTo>
                  <a:lnTo>
                    <a:pt x="28555" y="1228340"/>
                  </a:lnTo>
                  <a:lnTo>
                    <a:pt x="2428" y="1189220"/>
                  </a:lnTo>
                  <a:lnTo>
                    <a:pt x="0" y="1170368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99555" y="2258275"/>
              <a:ext cx="73025" cy="1243330"/>
            </a:xfrm>
            <a:custGeom>
              <a:avLst/>
              <a:gdLst/>
              <a:ahLst/>
              <a:cxnLst/>
              <a:rect l="l" t="t" r="r" b="b"/>
              <a:pathLst>
                <a:path w="73025" h="1243329">
                  <a:moveTo>
                    <a:pt x="72720" y="0"/>
                  </a:moveTo>
                  <a:lnTo>
                    <a:pt x="0" y="0"/>
                  </a:lnTo>
                  <a:lnTo>
                    <a:pt x="0" y="1243088"/>
                  </a:lnTo>
                  <a:lnTo>
                    <a:pt x="36360" y="1243088"/>
                  </a:lnTo>
                  <a:lnTo>
                    <a:pt x="72720" y="1243088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15455" y="2409380"/>
            <a:ext cx="4304030" cy="913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MX" sz="1700" b="1" spc="-10">
                <a:solidFill>
                  <a:schemeClr val="tx1"/>
                </a:solidFill>
                <a:latin typeface="Arial"/>
                <a:cs typeface="Arial"/>
              </a:rPr>
              <a:t>Periodo</a:t>
            </a:r>
            <a:endParaRPr lang="es-MX" sz="17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5800"/>
              </a:lnSpc>
              <a:spcBef>
                <a:spcPts val="1115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Adquisiciones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2018-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2026;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composición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temporal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50">
                <a:solidFill>
                  <a:schemeClr val="tx1"/>
                </a:solidFill>
                <a:latin typeface="Arial"/>
                <a:cs typeface="Arial"/>
              </a:rPr>
              <a:t>y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orbital</a:t>
            </a:r>
            <a:r>
              <a:rPr lang="es-MX" sz="15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no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necesariamente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balanceada.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7760" y="3880804"/>
            <a:ext cx="5259070" cy="1254125"/>
            <a:chOff x="707760" y="3880804"/>
            <a:chExt cx="5259070" cy="12541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1" name="object 21"/>
            <p:cNvSpPr/>
            <p:nvPr/>
          </p:nvSpPr>
          <p:spPr>
            <a:xfrm>
              <a:off x="712800" y="3885844"/>
              <a:ext cx="5248910" cy="1243965"/>
            </a:xfrm>
            <a:custGeom>
              <a:avLst/>
              <a:gdLst/>
              <a:ahLst/>
              <a:cxnLst/>
              <a:rect l="l" t="t" r="r" b="b"/>
              <a:pathLst>
                <a:path w="5248910" h="1243964">
                  <a:moveTo>
                    <a:pt x="517536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170355"/>
                  </a:lnTo>
                  <a:lnTo>
                    <a:pt x="594" y="1179632"/>
                  </a:lnTo>
                  <a:lnTo>
                    <a:pt x="607" y="1179833"/>
                  </a:lnTo>
                  <a:lnTo>
                    <a:pt x="21423" y="1221973"/>
                  </a:lnTo>
                  <a:lnTo>
                    <a:pt x="63443" y="1242824"/>
                  </a:lnTo>
                  <a:lnTo>
                    <a:pt x="73075" y="1243431"/>
                  </a:lnTo>
                  <a:lnTo>
                    <a:pt x="5175719" y="1243076"/>
                  </a:lnTo>
                  <a:lnTo>
                    <a:pt x="5220097" y="1227977"/>
                  </a:lnTo>
                  <a:lnTo>
                    <a:pt x="5246305" y="1189212"/>
                  </a:lnTo>
                  <a:lnTo>
                    <a:pt x="5246366" y="1189029"/>
                  </a:lnTo>
                  <a:lnTo>
                    <a:pt x="5248149" y="1179833"/>
                  </a:lnTo>
                  <a:lnTo>
                    <a:pt x="5248188" y="1179632"/>
                  </a:lnTo>
                  <a:lnTo>
                    <a:pt x="5248773" y="1170355"/>
                  </a:lnTo>
                  <a:lnTo>
                    <a:pt x="5248795" y="1170000"/>
                  </a:lnTo>
                  <a:lnTo>
                    <a:pt x="5248440" y="73075"/>
                  </a:lnTo>
                  <a:lnTo>
                    <a:pt x="5233341" y="28698"/>
                  </a:lnTo>
                  <a:lnTo>
                    <a:pt x="5194393" y="2428"/>
                  </a:lnTo>
                  <a:lnTo>
                    <a:pt x="5184996" y="607"/>
                  </a:lnTo>
                  <a:lnTo>
                    <a:pt x="517536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2800" y="3885844"/>
              <a:ext cx="5248910" cy="1243965"/>
            </a:xfrm>
            <a:custGeom>
              <a:avLst/>
              <a:gdLst/>
              <a:ahLst/>
              <a:cxnLst/>
              <a:rect l="l" t="t" r="r" b="b"/>
              <a:pathLst>
                <a:path w="5248910" h="1243964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5175364" y="0"/>
                  </a:lnTo>
                  <a:lnTo>
                    <a:pt x="5219884" y="15096"/>
                  </a:lnTo>
                  <a:lnTo>
                    <a:pt x="5246011" y="54219"/>
                  </a:lnTo>
                  <a:lnTo>
                    <a:pt x="5248440" y="73075"/>
                  </a:lnTo>
                  <a:lnTo>
                    <a:pt x="5248795" y="1170000"/>
                  </a:lnTo>
                  <a:lnTo>
                    <a:pt x="5248188" y="1179632"/>
                  </a:lnTo>
                  <a:lnTo>
                    <a:pt x="5246366" y="1189029"/>
                  </a:lnTo>
                  <a:lnTo>
                    <a:pt x="5220097" y="1227977"/>
                  </a:lnTo>
                  <a:lnTo>
                    <a:pt x="5175719" y="1243076"/>
                  </a:lnTo>
                  <a:lnTo>
                    <a:pt x="73075" y="1243431"/>
                  </a:lnTo>
                  <a:lnTo>
                    <a:pt x="28555" y="1228334"/>
                  </a:lnTo>
                  <a:lnTo>
                    <a:pt x="2428" y="1189212"/>
                  </a:lnTo>
                  <a:lnTo>
                    <a:pt x="0" y="117035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3155" y="3885844"/>
              <a:ext cx="73025" cy="1243330"/>
            </a:xfrm>
            <a:custGeom>
              <a:avLst/>
              <a:gdLst/>
              <a:ahLst/>
              <a:cxnLst/>
              <a:rect l="l" t="t" r="r" b="b"/>
              <a:pathLst>
                <a:path w="73025" h="1243329">
                  <a:moveTo>
                    <a:pt x="72720" y="0"/>
                  </a:moveTo>
                  <a:lnTo>
                    <a:pt x="0" y="0"/>
                  </a:lnTo>
                  <a:lnTo>
                    <a:pt x="0" y="1243076"/>
                  </a:lnTo>
                  <a:lnTo>
                    <a:pt x="36360" y="1243076"/>
                  </a:lnTo>
                  <a:lnTo>
                    <a:pt x="72720" y="1243076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29055" y="4036948"/>
            <a:ext cx="4538345" cy="913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700" b="1">
                <a:solidFill>
                  <a:schemeClr val="tx1"/>
                </a:solidFill>
                <a:latin typeface="Arial"/>
                <a:cs typeface="Arial"/>
              </a:rPr>
              <a:t>Resultado</a:t>
            </a:r>
            <a:r>
              <a:rPr lang="es-ES" sz="1700" b="1" spc="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700" b="1" spc="-10">
                <a:solidFill>
                  <a:schemeClr val="tx1"/>
                </a:solidFill>
                <a:latin typeface="Arial"/>
                <a:cs typeface="Arial"/>
              </a:rPr>
              <a:t>principal</a:t>
            </a:r>
            <a:endParaRPr lang="es-ES" sz="17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5800"/>
              </a:lnSpc>
              <a:spcBef>
                <a:spcPts val="1115"/>
              </a:spcBef>
            </a:pP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h_canopy</a:t>
            </a:r>
            <a:r>
              <a:rPr lang="es-ES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(RH98)</a:t>
            </a:r>
            <a:r>
              <a:rPr lang="es-ES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por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segmento;</a:t>
            </a:r>
            <a:r>
              <a:rPr lang="es-ES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resumen</a:t>
            </a:r>
            <a:r>
              <a:rPr lang="es-ES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inferencial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por</a:t>
            </a:r>
            <a:r>
              <a:rPr lang="es-ES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gránulo.</a:t>
            </a:r>
            <a:endParaRPr lang="es-ES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94160" y="3880804"/>
            <a:ext cx="5259070" cy="1254125"/>
            <a:chOff x="6194160" y="3880804"/>
            <a:chExt cx="5259070" cy="12541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6" name="object 26"/>
            <p:cNvSpPr/>
            <p:nvPr/>
          </p:nvSpPr>
          <p:spPr>
            <a:xfrm>
              <a:off x="6199200" y="3885844"/>
              <a:ext cx="5248910" cy="1243965"/>
            </a:xfrm>
            <a:custGeom>
              <a:avLst/>
              <a:gdLst/>
              <a:ahLst/>
              <a:cxnLst/>
              <a:rect l="l" t="t" r="r" b="b"/>
              <a:pathLst>
                <a:path w="5248909" h="1243964">
                  <a:moveTo>
                    <a:pt x="517536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170355"/>
                  </a:lnTo>
                  <a:lnTo>
                    <a:pt x="594" y="1179632"/>
                  </a:lnTo>
                  <a:lnTo>
                    <a:pt x="607" y="1179833"/>
                  </a:lnTo>
                  <a:lnTo>
                    <a:pt x="2393" y="1189029"/>
                  </a:lnTo>
                  <a:lnTo>
                    <a:pt x="2428" y="1189212"/>
                  </a:lnTo>
                  <a:lnTo>
                    <a:pt x="5410" y="1198091"/>
                  </a:lnTo>
                  <a:lnTo>
                    <a:pt x="36360" y="1233716"/>
                  </a:lnTo>
                  <a:lnTo>
                    <a:pt x="73075" y="1243431"/>
                  </a:lnTo>
                  <a:lnTo>
                    <a:pt x="5175719" y="1243076"/>
                  </a:lnTo>
                  <a:lnTo>
                    <a:pt x="5220097" y="1227977"/>
                  </a:lnTo>
                  <a:lnTo>
                    <a:pt x="5246305" y="1189212"/>
                  </a:lnTo>
                  <a:lnTo>
                    <a:pt x="5246366" y="1189029"/>
                  </a:lnTo>
                  <a:lnTo>
                    <a:pt x="5248149" y="1179833"/>
                  </a:lnTo>
                  <a:lnTo>
                    <a:pt x="5248188" y="1179632"/>
                  </a:lnTo>
                  <a:lnTo>
                    <a:pt x="5248773" y="1170355"/>
                  </a:lnTo>
                  <a:lnTo>
                    <a:pt x="5248440" y="73075"/>
                  </a:lnTo>
                  <a:lnTo>
                    <a:pt x="5233341" y="28698"/>
                  </a:lnTo>
                  <a:lnTo>
                    <a:pt x="5194393" y="2428"/>
                  </a:lnTo>
                  <a:lnTo>
                    <a:pt x="5184996" y="607"/>
                  </a:lnTo>
                  <a:lnTo>
                    <a:pt x="517536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99200" y="3885844"/>
              <a:ext cx="5248910" cy="1243965"/>
            </a:xfrm>
            <a:custGeom>
              <a:avLst/>
              <a:gdLst/>
              <a:ahLst/>
              <a:cxnLst/>
              <a:rect l="l" t="t" r="r" b="b"/>
              <a:pathLst>
                <a:path w="5248909" h="1243964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5175364" y="0"/>
                  </a:lnTo>
                  <a:lnTo>
                    <a:pt x="5219884" y="15096"/>
                  </a:lnTo>
                  <a:lnTo>
                    <a:pt x="5246011" y="54219"/>
                  </a:lnTo>
                  <a:lnTo>
                    <a:pt x="5248440" y="73075"/>
                  </a:lnTo>
                  <a:lnTo>
                    <a:pt x="5248795" y="1170000"/>
                  </a:lnTo>
                  <a:lnTo>
                    <a:pt x="5248188" y="1179632"/>
                  </a:lnTo>
                  <a:lnTo>
                    <a:pt x="5246366" y="1189029"/>
                  </a:lnTo>
                  <a:lnTo>
                    <a:pt x="5220097" y="1227977"/>
                  </a:lnTo>
                  <a:lnTo>
                    <a:pt x="5175719" y="1243076"/>
                  </a:lnTo>
                  <a:lnTo>
                    <a:pt x="73075" y="1243431"/>
                  </a:lnTo>
                  <a:lnTo>
                    <a:pt x="28555" y="1228334"/>
                  </a:lnTo>
                  <a:lnTo>
                    <a:pt x="2428" y="1189212"/>
                  </a:lnTo>
                  <a:lnTo>
                    <a:pt x="0" y="117035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99555" y="3885844"/>
              <a:ext cx="73025" cy="1243330"/>
            </a:xfrm>
            <a:custGeom>
              <a:avLst/>
              <a:gdLst/>
              <a:ahLst/>
              <a:cxnLst/>
              <a:rect l="l" t="t" r="r" b="b"/>
              <a:pathLst>
                <a:path w="73025" h="1243329">
                  <a:moveTo>
                    <a:pt x="72720" y="0"/>
                  </a:moveTo>
                  <a:lnTo>
                    <a:pt x="0" y="0"/>
                  </a:lnTo>
                  <a:lnTo>
                    <a:pt x="0" y="1243076"/>
                  </a:lnTo>
                  <a:lnTo>
                    <a:pt x="36360" y="1243076"/>
                  </a:lnTo>
                  <a:lnTo>
                    <a:pt x="72720" y="1243076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15455" y="4036948"/>
            <a:ext cx="4591685" cy="913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700" b="1" spc="-10">
                <a:solidFill>
                  <a:schemeClr val="tx1"/>
                </a:solidFill>
                <a:latin typeface="Arial"/>
                <a:cs typeface="Arial"/>
              </a:rPr>
              <a:t>Comparación</a:t>
            </a:r>
            <a:endParaRPr lang="es-ES" sz="17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5800"/>
              </a:lnSpc>
              <a:spcBef>
                <a:spcPts val="1115"/>
              </a:spcBef>
            </a:pP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Contraste</a:t>
            </a:r>
            <a:r>
              <a:rPr lang="es-ES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entre</a:t>
            </a:r>
            <a:r>
              <a:rPr lang="es-ES" sz="1500" spc="-9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AOI</a:t>
            </a:r>
            <a:r>
              <a:rPr lang="es-ES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observacionales;</a:t>
            </a:r>
            <a:r>
              <a:rPr lang="es-ES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no</a:t>
            </a:r>
            <a:r>
              <a:rPr lang="es-ES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experimento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controlado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ni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efecto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causal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ES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500" spc="-10">
                <a:solidFill>
                  <a:schemeClr val="tx1"/>
                </a:solidFill>
                <a:latin typeface="Arial"/>
                <a:cs typeface="Arial"/>
              </a:rPr>
              <a:t>cobertura.</a:t>
            </a:r>
            <a:endParaRPr lang="es-ES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12464" y="5508900"/>
            <a:ext cx="9382125" cy="539750"/>
            <a:chOff x="1412464" y="5508900"/>
            <a:chExt cx="9382125" cy="5397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1" name="object 31"/>
            <p:cNvSpPr/>
            <p:nvPr/>
          </p:nvSpPr>
          <p:spPr>
            <a:xfrm>
              <a:off x="1416964" y="5513400"/>
              <a:ext cx="9373235" cy="530860"/>
            </a:xfrm>
            <a:custGeom>
              <a:avLst/>
              <a:gdLst/>
              <a:ahLst/>
              <a:cxnLst/>
              <a:rect l="l" t="t" r="r" b="b"/>
              <a:pathLst>
                <a:path w="9373235" h="53086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466559"/>
                  </a:lnTo>
                  <a:lnTo>
                    <a:pt x="538" y="474907"/>
                  </a:lnTo>
                  <a:lnTo>
                    <a:pt x="18735" y="511784"/>
                  </a:lnTo>
                  <a:lnTo>
                    <a:pt x="18851" y="511917"/>
                  </a:lnTo>
                  <a:lnTo>
                    <a:pt x="55728" y="530103"/>
                  </a:lnTo>
                  <a:lnTo>
                    <a:pt x="64071" y="530644"/>
                  </a:lnTo>
                  <a:lnTo>
                    <a:pt x="9308871" y="530644"/>
                  </a:lnTo>
                  <a:lnTo>
                    <a:pt x="9347913" y="517279"/>
                  </a:lnTo>
                  <a:lnTo>
                    <a:pt x="9370795" y="483119"/>
                  </a:lnTo>
                  <a:lnTo>
                    <a:pt x="9372955" y="466559"/>
                  </a:lnTo>
                  <a:lnTo>
                    <a:pt x="9372932" y="64084"/>
                  </a:lnTo>
                  <a:lnTo>
                    <a:pt x="9359597" y="25402"/>
                  </a:lnTo>
                  <a:lnTo>
                    <a:pt x="9325435" y="2517"/>
                  </a:lnTo>
                  <a:lnTo>
                    <a:pt x="9308871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4EC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16964" y="5513400"/>
              <a:ext cx="9373235" cy="530860"/>
            </a:xfrm>
            <a:custGeom>
              <a:avLst/>
              <a:gdLst/>
              <a:ahLst/>
              <a:cxnLst/>
              <a:rect l="l" t="t" r="r" b="b"/>
              <a:pathLst>
                <a:path w="9373235" h="530860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9308871" y="355"/>
                  </a:lnTo>
                  <a:lnTo>
                    <a:pt x="9347863" y="13570"/>
                  </a:lnTo>
                  <a:lnTo>
                    <a:pt x="9370795" y="47880"/>
                  </a:lnTo>
                  <a:lnTo>
                    <a:pt x="9372955" y="64439"/>
                  </a:lnTo>
                  <a:lnTo>
                    <a:pt x="9372955" y="466559"/>
                  </a:lnTo>
                  <a:lnTo>
                    <a:pt x="9372415" y="474907"/>
                  </a:lnTo>
                  <a:lnTo>
                    <a:pt x="9370795" y="483119"/>
                  </a:lnTo>
                  <a:lnTo>
                    <a:pt x="9347913" y="517279"/>
                  </a:lnTo>
                  <a:lnTo>
                    <a:pt x="9308871" y="530644"/>
                  </a:lnTo>
                  <a:lnTo>
                    <a:pt x="64071" y="530644"/>
                  </a:lnTo>
                  <a:lnTo>
                    <a:pt x="25086" y="517429"/>
                  </a:lnTo>
                  <a:lnTo>
                    <a:pt x="2155" y="483119"/>
                  </a:lnTo>
                  <a:lnTo>
                    <a:pt x="0" y="46655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173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17319" y="5513755"/>
              <a:ext cx="82550" cy="530225"/>
            </a:xfrm>
            <a:custGeom>
              <a:avLst/>
              <a:gdLst/>
              <a:ahLst/>
              <a:cxnLst/>
              <a:rect l="l" t="t" r="r" b="b"/>
              <a:pathLst>
                <a:path w="82550" h="530225">
                  <a:moveTo>
                    <a:pt x="82080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41033" y="529920"/>
                  </a:lnTo>
                  <a:lnTo>
                    <a:pt x="82080" y="52992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17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727542" y="5597905"/>
            <a:ext cx="8834755" cy="4095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678554" marR="5080" indent="-3666490">
              <a:lnSpc>
                <a:spcPct val="80000"/>
              </a:lnSpc>
              <a:spcBef>
                <a:spcPts val="434"/>
              </a:spcBef>
            </a:pP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Estimando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operacional: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entre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medianas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RH98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por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gránulo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gránulos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retenidos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por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el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filtro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operacional.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35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36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37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16/43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Dos</a:t>
            </a:r>
            <a:r>
              <a:rPr spc="-165"/>
              <a:t> </a:t>
            </a:r>
            <a:r>
              <a:t>AOI</a:t>
            </a:r>
            <a:r>
              <a:rPr spc="-80"/>
              <a:t> </a:t>
            </a:r>
            <a:r>
              <a:t>separadas</a:t>
            </a:r>
            <a:r>
              <a:rPr spc="-75"/>
              <a:t> </a:t>
            </a:r>
            <a:r>
              <a:t>y</a:t>
            </a:r>
            <a:r>
              <a:rPr spc="-75"/>
              <a:t> </a:t>
            </a:r>
            <a:r>
              <a:t>muestras</a:t>
            </a:r>
            <a:r>
              <a:rPr spc="-80"/>
              <a:t> </a:t>
            </a:r>
            <a:r>
              <a:rPr spc="-10"/>
              <a:t>espacialmente</a:t>
            </a:r>
            <a:r>
              <a:rPr spc="-75"/>
              <a:t> </a:t>
            </a:r>
            <a:r>
              <a:rPr spc="-10"/>
              <a:t>distintas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72198" y="1448993"/>
            <a:ext cx="6062980" cy="4051300"/>
            <a:chOff x="772198" y="1448993"/>
            <a:chExt cx="6062980" cy="4051300"/>
          </a:xfrm>
        </p:grpSpPr>
        <p:sp>
          <p:nvSpPr>
            <p:cNvPr id="6" name="object 6"/>
            <p:cNvSpPr/>
            <p:nvPr/>
          </p:nvSpPr>
          <p:spPr>
            <a:xfrm>
              <a:off x="786244" y="1463040"/>
              <a:ext cx="6035040" cy="4023995"/>
            </a:xfrm>
            <a:custGeom>
              <a:avLst/>
              <a:gdLst/>
              <a:ahLst/>
              <a:cxnLst/>
              <a:rect l="l" t="t" r="r" b="b"/>
              <a:pathLst>
                <a:path w="6035040" h="4023995">
                  <a:moveTo>
                    <a:pt x="0" y="4023360"/>
                  </a:moveTo>
                  <a:lnTo>
                    <a:pt x="6035040" y="4023715"/>
                  </a:lnTo>
                </a:path>
                <a:path w="6035040" h="4023995">
                  <a:moveTo>
                    <a:pt x="0" y="0"/>
                  </a:moveTo>
                  <a:lnTo>
                    <a:pt x="355" y="4023360"/>
                  </a:lnTo>
                </a:path>
              </a:pathLst>
            </a:custGeom>
            <a:ln w="10079">
              <a:solidFill>
                <a:srgbClr val="64726B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90194" y="1510918"/>
              <a:ext cx="1629410" cy="1851025"/>
            </a:xfrm>
            <a:custGeom>
              <a:avLst/>
              <a:gdLst/>
              <a:ahLst/>
              <a:cxnLst/>
              <a:rect l="l" t="t" r="r" b="b"/>
              <a:pathLst>
                <a:path w="1629410" h="1851025">
                  <a:moveTo>
                    <a:pt x="27368" y="288721"/>
                  </a:moveTo>
                  <a:lnTo>
                    <a:pt x="16205" y="277558"/>
                  </a:lnTo>
                  <a:lnTo>
                    <a:pt x="11163" y="277558"/>
                  </a:lnTo>
                  <a:lnTo>
                    <a:pt x="0" y="288721"/>
                  </a:lnTo>
                  <a:lnTo>
                    <a:pt x="0" y="291236"/>
                  </a:lnTo>
                  <a:lnTo>
                    <a:pt x="0" y="293763"/>
                  </a:lnTo>
                  <a:lnTo>
                    <a:pt x="11163" y="304927"/>
                  </a:lnTo>
                  <a:lnTo>
                    <a:pt x="16205" y="304927"/>
                  </a:lnTo>
                  <a:lnTo>
                    <a:pt x="27368" y="293763"/>
                  </a:lnTo>
                  <a:lnTo>
                    <a:pt x="27368" y="288721"/>
                  </a:lnTo>
                  <a:close/>
                </a:path>
                <a:path w="1629410" h="1851025">
                  <a:moveTo>
                    <a:pt x="239052" y="37084"/>
                  </a:moveTo>
                  <a:lnTo>
                    <a:pt x="227888" y="25920"/>
                  </a:lnTo>
                  <a:lnTo>
                    <a:pt x="222846" y="25920"/>
                  </a:lnTo>
                  <a:lnTo>
                    <a:pt x="211683" y="37084"/>
                  </a:lnTo>
                  <a:lnTo>
                    <a:pt x="211683" y="39598"/>
                  </a:lnTo>
                  <a:lnTo>
                    <a:pt x="211683" y="42125"/>
                  </a:lnTo>
                  <a:lnTo>
                    <a:pt x="222846" y="53276"/>
                  </a:lnTo>
                  <a:lnTo>
                    <a:pt x="227888" y="53276"/>
                  </a:lnTo>
                  <a:lnTo>
                    <a:pt x="239052" y="42125"/>
                  </a:lnTo>
                  <a:lnTo>
                    <a:pt x="239052" y="37084"/>
                  </a:lnTo>
                  <a:close/>
                </a:path>
                <a:path w="1629410" h="1851025">
                  <a:moveTo>
                    <a:pt x="271081" y="235800"/>
                  </a:moveTo>
                  <a:lnTo>
                    <a:pt x="259930" y="224637"/>
                  </a:lnTo>
                  <a:lnTo>
                    <a:pt x="254889" y="224637"/>
                  </a:lnTo>
                  <a:lnTo>
                    <a:pt x="243725" y="235800"/>
                  </a:lnTo>
                  <a:lnTo>
                    <a:pt x="243725" y="238315"/>
                  </a:lnTo>
                  <a:lnTo>
                    <a:pt x="243725" y="240842"/>
                  </a:lnTo>
                  <a:lnTo>
                    <a:pt x="254889" y="252006"/>
                  </a:lnTo>
                  <a:lnTo>
                    <a:pt x="259930" y="252006"/>
                  </a:lnTo>
                  <a:lnTo>
                    <a:pt x="271081" y="240842"/>
                  </a:lnTo>
                  <a:lnTo>
                    <a:pt x="271081" y="235800"/>
                  </a:lnTo>
                  <a:close/>
                </a:path>
                <a:path w="1629410" h="1851025">
                  <a:moveTo>
                    <a:pt x="326161" y="912241"/>
                  </a:moveTo>
                  <a:lnTo>
                    <a:pt x="315010" y="901077"/>
                  </a:lnTo>
                  <a:lnTo>
                    <a:pt x="309968" y="901077"/>
                  </a:lnTo>
                  <a:lnTo>
                    <a:pt x="298805" y="912241"/>
                  </a:lnTo>
                  <a:lnTo>
                    <a:pt x="298805" y="914755"/>
                  </a:lnTo>
                  <a:lnTo>
                    <a:pt x="298805" y="917282"/>
                  </a:lnTo>
                  <a:lnTo>
                    <a:pt x="309968" y="928446"/>
                  </a:lnTo>
                  <a:lnTo>
                    <a:pt x="315010" y="928446"/>
                  </a:lnTo>
                  <a:lnTo>
                    <a:pt x="326161" y="917282"/>
                  </a:lnTo>
                  <a:lnTo>
                    <a:pt x="326161" y="912241"/>
                  </a:lnTo>
                  <a:close/>
                </a:path>
                <a:path w="1629410" h="1851025">
                  <a:moveTo>
                    <a:pt x="362889" y="1161364"/>
                  </a:moveTo>
                  <a:lnTo>
                    <a:pt x="351726" y="1150200"/>
                  </a:lnTo>
                  <a:lnTo>
                    <a:pt x="346684" y="1150200"/>
                  </a:lnTo>
                  <a:lnTo>
                    <a:pt x="335521" y="1161364"/>
                  </a:lnTo>
                  <a:lnTo>
                    <a:pt x="335521" y="1163878"/>
                  </a:lnTo>
                  <a:lnTo>
                    <a:pt x="335521" y="1166406"/>
                  </a:lnTo>
                  <a:lnTo>
                    <a:pt x="346684" y="1177556"/>
                  </a:lnTo>
                  <a:lnTo>
                    <a:pt x="351726" y="1177556"/>
                  </a:lnTo>
                  <a:lnTo>
                    <a:pt x="362889" y="1166406"/>
                  </a:lnTo>
                  <a:lnTo>
                    <a:pt x="362889" y="1161364"/>
                  </a:lnTo>
                  <a:close/>
                </a:path>
                <a:path w="1629410" h="1851025">
                  <a:moveTo>
                    <a:pt x="373329" y="59766"/>
                  </a:moveTo>
                  <a:lnTo>
                    <a:pt x="362165" y="48602"/>
                  </a:lnTo>
                  <a:lnTo>
                    <a:pt x="357124" y="48602"/>
                  </a:lnTo>
                  <a:lnTo>
                    <a:pt x="345960" y="59766"/>
                  </a:lnTo>
                  <a:lnTo>
                    <a:pt x="345960" y="62280"/>
                  </a:lnTo>
                  <a:lnTo>
                    <a:pt x="345960" y="64795"/>
                  </a:lnTo>
                  <a:lnTo>
                    <a:pt x="357124" y="75958"/>
                  </a:lnTo>
                  <a:lnTo>
                    <a:pt x="362165" y="75958"/>
                  </a:lnTo>
                  <a:lnTo>
                    <a:pt x="373329" y="64795"/>
                  </a:lnTo>
                  <a:lnTo>
                    <a:pt x="373329" y="59766"/>
                  </a:lnTo>
                  <a:close/>
                </a:path>
                <a:path w="1629410" h="1851025">
                  <a:moveTo>
                    <a:pt x="378371" y="236156"/>
                  </a:moveTo>
                  <a:lnTo>
                    <a:pt x="367207" y="225005"/>
                  </a:lnTo>
                  <a:lnTo>
                    <a:pt x="362165" y="225005"/>
                  </a:lnTo>
                  <a:lnTo>
                    <a:pt x="351002" y="236156"/>
                  </a:lnTo>
                  <a:lnTo>
                    <a:pt x="351002" y="238683"/>
                  </a:lnTo>
                  <a:lnTo>
                    <a:pt x="351002" y="241198"/>
                  </a:lnTo>
                  <a:lnTo>
                    <a:pt x="362165" y="252361"/>
                  </a:lnTo>
                  <a:lnTo>
                    <a:pt x="367207" y="252361"/>
                  </a:lnTo>
                  <a:lnTo>
                    <a:pt x="378371" y="241198"/>
                  </a:lnTo>
                  <a:lnTo>
                    <a:pt x="378371" y="236156"/>
                  </a:lnTo>
                  <a:close/>
                </a:path>
                <a:path w="1629410" h="1851025">
                  <a:moveTo>
                    <a:pt x="405726" y="511200"/>
                  </a:moveTo>
                  <a:lnTo>
                    <a:pt x="394563" y="500037"/>
                  </a:lnTo>
                  <a:lnTo>
                    <a:pt x="389521" y="500037"/>
                  </a:lnTo>
                  <a:lnTo>
                    <a:pt x="378371" y="511200"/>
                  </a:lnTo>
                  <a:lnTo>
                    <a:pt x="378371" y="513715"/>
                  </a:lnTo>
                  <a:lnTo>
                    <a:pt x="378371" y="516242"/>
                  </a:lnTo>
                  <a:lnTo>
                    <a:pt x="389521" y="527405"/>
                  </a:lnTo>
                  <a:lnTo>
                    <a:pt x="394563" y="527405"/>
                  </a:lnTo>
                  <a:lnTo>
                    <a:pt x="405726" y="516242"/>
                  </a:lnTo>
                  <a:lnTo>
                    <a:pt x="405726" y="511200"/>
                  </a:lnTo>
                  <a:close/>
                </a:path>
                <a:path w="1629410" h="1851025">
                  <a:moveTo>
                    <a:pt x="420484" y="661327"/>
                  </a:moveTo>
                  <a:lnTo>
                    <a:pt x="409321" y="650163"/>
                  </a:lnTo>
                  <a:lnTo>
                    <a:pt x="404291" y="650163"/>
                  </a:lnTo>
                  <a:lnTo>
                    <a:pt x="393128" y="661327"/>
                  </a:lnTo>
                  <a:lnTo>
                    <a:pt x="393128" y="663841"/>
                  </a:lnTo>
                  <a:lnTo>
                    <a:pt x="393128" y="666356"/>
                  </a:lnTo>
                  <a:lnTo>
                    <a:pt x="404291" y="677519"/>
                  </a:lnTo>
                  <a:lnTo>
                    <a:pt x="409321" y="677519"/>
                  </a:lnTo>
                  <a:lnTo>
                    <a:pt x="420484" y="666356"/>
                  </a:lnTo>
                  <a:lnTo>
                    <a:pt x="420484" y="661327"/>
                  </a:lnTo>
                  <a:close/>
                </a:path>
                <a:path w="1629410" h="1851025">
                  <a:moveTo>
                    <a:pt x="446760" y="169202"/>
                  </a:moveTo>
                  <a:lnTo>
                    <a:pt x="435610" y="158038"/>
                  </a:lnTo>
                  <a:lnTo>
                    <a:pt x="430568" y="158038"/>
                  </a:lnTo>
                  <a:lnTo>
                    <a:pt x="419404" y="169202"/>
                  </a:lnTo>
                  <a:lnTo>
                    <a:pt x="419404" y="171716"/>
                  </a:lnTo>
                  <a:lnTo>
                    <a:pt x="419404" y="174244"/>
                  </a:lnTo>
                  <a:lnTo>
                    <a:pt x="430568" y="185407"/>
                  </a:lnTo>
                  <a:lnTo>
                    <a:pt x="435610" y="185407"/>
                  </a:lnTo>
                  <a:lnTo>
                    <a:pt x="446760" y="174244"/>
                  </a:lnTo>
                  <a:lnTo>
                    <a:pt x="446760" y="169202"/>
                  </a:lnTo>
                  <a:close/>
                </a:path>
                <a:path w="1629410" h="1851025">
                  <a:moveTo>
                    <a:pt x="449287" y="330479"/>
                  </a:moveTo>
                  <a:lnTo>
                    <a:pt x="438124" y="319316"/>
                  </a:lnTo>
                  <a:lnTo>
                    <a:pt x="433082" y="319316"/>
                  </a:lnTo>
                  <a:lnTo>
                    <a:pt x="421932" y="330479"/>
                  </a:lnTo>
                  <a:lnTo>
                    <a:pt x="421932" y="333006"/>
                  </a:lnTo>
                  <a:lnTo>
                    <a:pt x="421932" y="335521"/>
                  </a:lnTo>
                  <a:lnTo>
                    <a:pt x="433082" y="346684"/>
                  </a:lnTo>
                  <a:lnTo>
                    <a:pt x="438124" y="346684"/>
                  </a:lnTo>
                  <a:lnTo>
                    <a:pt x="449287" y="335521"/>
                  </a:lnTo>
                  <a:lnTo>
                    <a:pt x="449287" y="330479"/>
                  </a:lnTo>
                  <a:close/>
                </a:path>
                <a:path w="1629410" h="1851025">
                  <a:moveTo>
                    <a:pt x="470522" y="1163878"/>
                  </a:moveTo>
                  <a:lnTo>
                    <a:pt x="459371" y="1152715"/>
                  </a:lnTo>
                  <a:lnTo>
                    <a:pt x="454329" y="1152715"/>
                  </a:lnTo>
                  <a:lnTo>
                    <a:pt x="443166" y="1163878"/>
                  </a:lnTo>
                  <a:lnTo>
                    <a:pt x="443166" y="1166406"/>
                  </a:lnTo>
                  <a:lnTo>
                    <a:pt x="443166" y="1168920"/>
                  </a:lnTo>
                  <a:lnTo>
                    <a:pt x="454329" y="1180084"/>
                  </a:lnTo>
                  <a:lnTo>
                    <a:pt x="459371" y="1180084"/>
                  </a:lnTo>
                  <a:lnTo>
                    <a:pt x="470522" y="1168920"/>
                  </a:lnTo>
                  <a:lnTo>
                    <a:pt x="470522" y="1163878"/>
                  </a:lnTo>
                  <a:close/>
                </a:path>
                <a:path w="1629410" h="1851025">
                  <a:moveTo>
                    <a:pt x="477723" y="1110246"/>
                  </a:moveTo>
                  <a:lnTo>
                    <a:pt x="466559" y="1099083"/>
                  </a:lnTo>
                  <a:lnTo>
                    <a:pt x="461530" y="1099083"/>
                  </a:lnTo>
                  <a:lnTo>
                    <a:pt x="450367" y="1110246"/>
                  </a:lnTo>
                  <a:lnTo>
                    <a:pt x="450367" y="1112761"/>
                  </a:lnTo>
                  <a:lnTo>
                    <a:pt x="450367" y="1115275"/>
                  </a:lnTo>
                  <a:lnTo>
                    <a:pt x="461530" y="1126439"/>
                  </a:lnTo>
                  <a:lnTo>
                    <a:pt x="466559" y="1126439"/>
                  </a:lnTo>
                  <a:lnTo>
                    <a:pt x="477723" y="1115275"/>
                  </a:lnTo>
                  <a:lnTo>
                    <a:pt x="477723" y="1110246"/>
                  </a:lnTo>
                  <a:close/>
                </a:path>
                <a:path w="1629410" h="1851025">
                  <a:moveTo>
                    <a:pt x="478447" y="494284"/>
                  </a:moveTo>
                  <a:lnTo>
                    <a:pt x="467283" y="483120"/>
                  </a:lnTo>
                  <a:lnTo>
                    <a:pt x="462241" y="483120"/>
                  </a:lnTo>
                  <a:lnTo>
                    <a:pt x="451091" y="494284"/>
                  </a:lnTo>
                  <a:lnTo>
                    <a:pt x="451091" y="496798"/>
                  </a:lnTo>
                  <a:lnTo>
                    <a:pt x="451091" y="499325"/>
                  </a:lnTo>
                  <a:lnTo>
                    <a:pt x="462241" y="510476"/>
                  </a:lnTo>
                  <a:lnTo>
                    <a:pt x="467283" y="510476"/>
                  </a:lnTo>
                  <a:lnTo>
                    <a:pt x="478447" y="499325"/>
                  </a:lnTo>
                  <a:lnTo>
                    <a:pt x="478447" y="494284"/>
                  </a:lnTo>
                  <a:close/>
                </a:path>
                <a:path w="1629410" h="1851025">
                  <a:moveTo>
                    <a:pt x="497890" y="1438922"/>
                  </a:moveTo>
                  <a:lnTo>
                    <a:pt x="486727" y="1427759"/>
                  </a:lnTo>
                  <a:lnTo>
                    <a:pt x="481685" y="1427759"/>
                  </a:lnTo>
                  <a:lnTo>
                    <a:pt x="470522" y="1438922"/>
                  </a:lnTo>
                  <a:lnTo>
                    <a:pt x="470522" y="1441437"/>
                  </a:lnTo>
                  <a:lnTo>
                    <a:pt x="470522" y="1443964"/>
                  </a:lnTo>
                  <a:lnTo>
                    <a:pt x="481685" y="1455115"/>
                  </a:lnTo>
                  <a:lnTo>
                    <a:pt x="486727" y="1455115"/>
                  </a:lnTo>
                  <a:lnTo>
                    <a:pt x="497890" y="1443964"/>
                  </a:lnTo>
                  <a:lnTo>
                    <a:pt x="497890" y="1438922"/>
                  </a:lnTo>
                  <a:close/>
                </a:path>
                <a:path w="1629410" h="1851025">
                  <a:moveTo>
                    <a:pt x="502208" y="855357"/>
                  </a:moveTo>
                  <a:lnTo>
                    <a:pt x="491045" y="844207"/>
                  </a:lnTo>
                  <a:lnTo>
                    <a:pt x="486003" y="844207"/>
                  </a:lnTo>
                  <a:lnTo>
                    <a:pt x="474840" y="855357"/>
                  </a:lnTo>
                  <a:lnTo>
                    <a:pt x="474840" y="857885"/>
                  </a:lnTo>
                  <a:lnTo>
                    <a:pt x="474840" y="860399"/>
                  </a:lnTo>
                  <a:lnTo>
                    <a:pt x="486003" y="871562"/>
                  </a:lnTo>
                  <a:lnTo>
                    <a:pt x="491045" y="871562"/>
                  </a:lnTo>
                  <a:lnTo>
                    <a:pt x="502208" y="860399"/>
                  </a:lnTo>
                  <a:lnTo>
                    <a:pt x="502208" y="855357"/>
                  </a:lnTo>
                  <a:close/>
                </a:path>
                <a:path w="1629410" h="1851025">
                  <a:moveTo>
                    <a:pt x="509765" y="806754"/>
                  </a:moveTo>
                  <a:lnTo>
                    <a:pt x="498602" y="795604"/>
                  </a:lnTo>
                  <a:lnTo>
                    <a:pt x="493560" y="795604"/>
                  </a:lnTo>
                  <a:lnTo>
                    <a:pt x="482409" y="806754"/>
                  </a:lnTo>
                  <a:lnTo>
                    <a:pt x="482409" y="809282"/>
                  </a:lnTo>
                  <a:lnTo>
                    <a:pt x="482409" y="811796"/>
                  </a:lnTo>
                  <a:lnTo>
                    <a:pt x="493560" y="822960"/>
                  </a:lnTo>
                  <a:lnTo>
                    <a:pt x="498602" y="822960"/>
                  </a:lnTo>
                  <a:lnTo>
                    <a:pt x="509765" y="811796"/>
                  </a:lnTo>
                  <a:lnTo>
                    <a:pt x="509765" y="806754"/>
                  </a:lnTo>
                  <a:close/>
                </a:path>
                <a:path w="1629410" h="1851025">
                  <a:moveTo>
                    <a:pt x="535330" y="1814042"/>
                  </a:moveTo>
                  <a:lnTo>
                    <a:pt x="524167" y="1802879"/>
                  </a:lnTo>
                  <a:lnTo>
                    <a:pt x="519125" y="1802879"/>
                  </a:lnTo>
                  <a:lnTo>
                    <a:pt x="507961" y="1814042"/>
                  </a:lnTo>
                  <a:lnTo>
                    <a:pt x="507961" y="1816557"/>
                  </a:lnTo>
                  <a:lnTo>
                    <a:pt x="507961" y="1819084"/>
                  </a:lnTo>
                  <a:lnTo>
                    <a:pt x="519125" y="1830235"/>
                  </a:lnTo>
                  <a:lnTo>
                    <a:pt x="524167" y="1830235"/>
                  </a:lnTo>
                  <a:lnTo>
                    <a:pt x="535330" y="1819084"/>
                  </a:lnTo>
                  <a:lnTo>
                    <a:pt x="535330" y="1814042"/>
                  </a:lnTo>
                  <a:close/>
                </a:path>
                <a:path w="1629410" h="1851025">
                  <a:moveTo>
                    <a:pt x="538568" y="1722958"/>
                  </a:moveTo>
                  <a:lnTo>
                    <a:pt x="527405" y="1711794"/>
                  </a:lnTo>
                  <a:lnTo>
                    <a:pt x="522363" y="1711794"/>
                  </a:lnTo>
                  <a:lnTo>
                    <a:pt x="511200" y="1722958"/>
                  </a:lnTo>
                  <a:lnTo>
                    <a:pt x="511200" y="1725485"/>
                  </a:lnTo>
                  <a:lnTo>
                    <a:pt x="511200" y="1728000"/>
                  </a:lnTo>
                  <a:lnTo>
                    <a:pt x="522363" y="1739163"/>
                  </a:lnTo>
                  <a:lnTo>
                    <a:pt x="527405" y="1739163"/>
                  </a:lnTo>
                  <a:lnTo>
                    <a:pt x="538568" y="1728000"/>
                  </a:lnTo>
                  <a:lnTo>
                    <a:pt x="538568" y="1722958"/>
                  </a:lnTo>
                  <a:close/>
                </a:path>
                <a:path w="1629410" h="1851025">
                  <a:moveTo>
                    <a:pt x="576008" y="1593354"/>
                  </a:moveTo>
                  <a:lnTo>
                    <a:pt x="564845" y="1582204"/>
                  </a:lnTo>
                  <a:lnTo>
                    <a:pt x="559803" y="1582204"/>
                  </a:lnTo>
                  <a:lnTo>
                    <a:pt x="548640" y="1593354"/>
                  </a:lnTo>
                  <a:lnTo>
                    <a:pt x="548640" y="1595882"/>
                  </a:lnTo>
                  <a:lnTo>
                    <a:pt x="548640" y="1598396"/>
                  </a:lnTo>
                  <a:lnTo>
                    <a:pt x="559803" y="1609559"/>
                  </a:lnTo>
                  <a:lnTo>
                    <a:pt x="564845" y="1609559"/>
                  </a:lnTo>
                  <a:lnTo>
                    <a:pt x="576008" y="1598396"/>
                  </a:lnTo>
                  <a:lnTo>
                    <a:pt x="576008" y="1593354"/>
                  </a:lnTo>
                  <a:close/>
                </a:path>
                <a:path w="1629410" h="1851025">
                  <a:moveTo>
                    <a:pt x="582129" y="1532166"/>
                  </a:moveTo>
                  <a:lnTo>
                    <a:pt x="570966" y="1521002"/>
                  </a:lnTo>
                  <a:lnTo>
                    <a:pt x="565924" y="1521002"/>
                  </a:lnTo>
                  <a:lnTo>
                    <a:pt x="554761" y="1532166"/>
                  </a:lnTo>
                  <a:lnTo>
                    <a:pt x="554761" y="1534680"/>
                  </a:lnTo>
                  <a:lnTo>
                    <a:pt x="554761" y="1537195"/>
                  </a:lnTo>
                  <a:lnTo>
                    <a:pt x="565924" y="1548358"/>
                  </a:lnTo>
                  <a:lnTo>
                    <a:pt x="570966" y="1548358"/>
                  </a:lnTo>
                  <a:lnTo>
                    <a:pt x="582129" y="1537195"/>
                  </a:lnTo>
                  <a:lnTo>
                    <a:pt x="582129" y="1532166"/>
                  </a:lnTo>
                  <a:close/>
                </a:path>
                <a:path w="1629410" h="1851025">
                  <a:moveTo>
                    <a:pt x="600849" y="1703158"/>
                  </a:moveTo>
                  <a:lnTo>
                    <a:pt x="589686" y="1691995"/>
                  </a:lnTo>
                  <a:lnTo>
                    <a:pt x="584644" y="1691995"/>
                  </a:lnTo>
                  <a:lnTo>
                    <a:pt x="573481" y="1703158"/>
                  </a:lnTo>
                  <a:lnTo>
                    <a:pt x="573481" y="1705686"/>
                  </a:lnTo>
                  <a:lnTo>
                    <a:pt x="573481" y="1708200"/>
                  </a:lnTo>
                  <a:lnTo>
                    <a:pt x="584644" y="1719364"/>
                  </a:lnTo>
                  <a:lnTo>
                    <a:pt x="589686" y="1719364"/>
                  </a:lnTo>
                  <a:lnTo>
                    <a:pt x="600849" y="1708200"/>
                  </a:lnTo>
                  <a:lnTo>
                    <a:pt x="600849" y="1703158"/>
                  </a:lnTo>
                  <a:close/>
                </a:path>
                <a:path w="1629410" h="1851025">
                  <a:moveTo>
                    <a:pt x="605167" y="219964"/>
                  </a:moveTo>
                  <a:lnTo>
                    <a:pt x="594004" y="208800"/>
                  </a:lnTo>
                  <a:lnTo>
                    <a:pt x="588962" y="208800"/>
                  </a:lnTo>
                  <a:lnTo>
                    <a:pt x="577811" y="219964"/>
                  </a:lnTo>
                  <a:lnTo>
                    <a:pt x="577811" y="222478"/>
                  </a:lnTo>
                  <a:lnTo>
                    <a:pt x="577811" y="225005"/>
                  </a:lnTo>
                  <a:lnTo>
                    <a:pt x="588962" y="236156"/>
                  </a:lnTo>
                  <a:lnTo>
                    <a:pt x="594004" y="236156"/>
                  </a:lnTo>
                  <a:lnTo>
                    <a:pt x="605167" y="225005"/>
                  </a:lnTo>
                  <a:lnTo>
                    <a:pt x="605167" y="219964"/>
                  </a:lnTo>
                  <a:close/>
                </a:path>
                <a:path w="1629410" h="1851025">
                  <a:moveTo>
                    <a:pt x="609841" y="149047"/>
                  </a:moveTo>
                  <a:lnTo>
                    <a:pt x="598690" y="137883"/>
                  </a:lnTo>
                  <a:lnTo>
                    <a:pt x="593648" y="137883"/>
                  </a:lnTo>
                  <a:lnTo>
                    <a:pt x="582485" y="149047"/>
                  </a:lnTo>
                  <a:lnTo>
                    <a:pt x="582485" y="151561"/>
                  </a:lnTo>
                  <a:lnTo>
                    <a:pt x="582485" y="154076"/>
                  </a:lnTo>
                  <a:lnTo>
                    <a:pt x="593648" y="165239"/>
                  </a:lnTo>
                  <a:lnTo>
                    <a:pt x="598690" y="165239"/>
                  </a:lnTo>
                  <a:lnTo>
                    <a:pt x="609841" y="154076"/>
                  </a:lnTo>
                  <a:lnTo>
                    <a:pt x="609841" y="149047"/>
                  </a:lnTo>
                  <a:close/>
                </a:path>
                <a:path w="1629410" h="1851025">
                  <a:moveTo>
                    <a:pt x="612368" y="1832038"/>
                  </a:moveTo>
                  <a:lnTo>
                    <a:pt x="601205" y="1820875"/>
                  </a:lnTo>
                  <a:lnTo>
                    <a:pt x="596163" y="1820875"/>
                  </a:lnTo>
                  <a:lnTo>
                    <a:pt x="585000" y="1832038"/>
                  </a:lnTo>
                  <a:lnTo>
                    <a:pt x="585000" y="1834565"/>
                  </a:lnTo>
                  <a:lnTo>
                    <a:pt x="585000" y="1837080"/>
                  </a:lnTo>
                  <a:lnTo>
                    <a:pt x="596163" y="1848243"/>
                  </a:lnTo>
                  <a:lnTo>
                    <a:pt x="601205" y="1848243"/>
                  </a:lnTo>
                  <a:lnTo>
                    <a:pt x="612368" y="1837080"/>
                  </a:lnTo>
                  <a:lnTo>
                    <a:pt x="612368" y="1832038"/>
                  </a:lnTo>
                  <a:close/>
                </a:path>
                <a:path w="1629410" h="1851025">
                  <a:moveTo>
                    <a:pt x="633603" y="1244155"/>
                  </a:moveTo>
                  <a:lnTo>
                    <a:pt x="622439" y="1233004"/>
                  </a:lnTo>
                  <a:lnTo>
                    <a:pt x="617410" y="1233004"/>
                  </a:lnTo>
                  <a:lnTo>
                    <a:pt x="606247" y="1244155"/>
                  </a:lnTo>
                  <a:lnTo>
                    <a:pt x="606247" y="1246682"/>
                  </a:lnTo>
                  <a:lnTo>
                    <a:pt x="606247" y="1249197"/>
                  </a:lnTo>
                  <a:lnTo>
                    <a:pt x="617410" y="1260360"/>
                  </a:lnTo>
                  <a:lnTo>
                    <a:pt x="622439" y="1260360"/>
                  </a:lnTo>
                  <a:lnTo>
                    <a:pt x="633603" y="1249197"/>
                  </a:lnTo>
                  <a:lnTo>
                    <a:pt x="633603" y="1244155"/>
                  </a:lnTo>
                  <a:close/>
                </a:path>
                <a:path w="1629410" h="1851025">
                  <a:moveTo>
                    <a:pt x="654481" y="599046"/>
                  </a:moveTo>
                  <a:lnTo>
                    <a:pt x="643331" y="587883"/>
                  </a:lnTo>
                  <a:lnTo>
                    <a:pt x="638289" y="587883"/>
                  </a:lnTo>
                  <a:lnTo>
                    <a:pt x="627126" y="599046"/>
                  </a:lnTo>
                  <a:lnTo>
                    <a:pt x="627126" y="601560"/>
                  </a:lnTo>
                  <a:lnTo>
                    <a:pt x="627126" y="604075"/>
                  </a:lnTo>
                  <a:lnTo>
                    <a:pt x="638289" y="615238"/>
                  </a:lnTo>
                  <a:lnTo>
                    <a:pt x="643331" y="615238"/>
                  </a:lnTo>
                  <a:lnTo>
                    <a:pt x="654481" y="604075"/>
                  </a:lnTo>
                  <a:lnTo>
                    <a:pt x="654481" y="599046"/>
                  </a:lnTo>
                  <a:close/>
                </a:path>
                <a:path w="1629410" h="1851025">
                  <a:moveTo>
                    <a:pt x="668159" y="793076"/>
                  </a:moveTo>
                  <a:lnTo>
                    <a:pt x="657009" y="781926"/>
                  </a:lnTo>
                  <a:lnTo>
                    <a:pt x="651967" y="781926"/>
                  </a:lnTo>
                  <a:lnTo>
                    <a:pt x="640803" y="793076"/>
                  </a:lnTo>
                  <a:lnTo>
                    <a:pt x="640803" y="795604"/>
                  </a:lnTo>
                  <a:lnTo>
                    <a:pt x="640803" y="798118"/>
                  </a:lnTo>
                  <a:lnTo>
                    <a:pt x="651967" y="809282"/>
                  </a:lnTo>
                  <a:lnTo>
                    <a:pt x="657009" y="809282"/>
                  </a:lnTo>
                  <a:lnTo>
                    <a:pt x="668159" y="798118"/>
                  </a:lnTo>
                  <a:lnTo>
                    <a:pt x="668159" y="793076"/>
                  </a:lnTo>
                  <a:close/>
                </a:path>
                <a:path w="1629410" h="1851025">
                  <a:moveTo>
                    <a:pt x="670687" y="882726"/>
                  </a:moveTo>
                  <a:lnTo>
                    <a:pt x="659523" y="871562"/>
                  </a:lnTo>
                  <a:lnTo>
                    <a:pt x="654481" y="871562"/>
                  </a:lnTo>
                  <a:lnTo>
                    <a:pt x="643331" y="882726"/>
                  </a:lnTo>
                  <a:lnTo>
                    <a:pt x="643331" y="885240"/>
                  </a:lnTo>
                  <a:lnTo>
                    <a:pt x="643331" y="887755"/>
                  </a:lnTo>
                  <a:lnTo>
                    <a:pt x="654481" y="898918"/>
                  </a:lnTo>
                  <a:lnTo>
                    <a:pt x="659523" y="898918"/>
                  </a:lnTo>
                  <a:lnTo>
                    <a:pt x="670687" y="887755"/>
                  </a:lnTo>
                  <a:lnTo>
                    <a:pt x="670687" y="882726"/>
                  </a:lnTo>
                  <a:close/>
                </a:path>
                <a:path w="1629410" h="1851025">
                  <a:moveTo>
                    <a:pt x="694804" y="163804"/>
                  </a:moveTo>
                  <a:lnTo>
                    <a:pt x="683641" y="152641"/>
                  </a:lnTo>
                  <a:lnTo>
                    <a:pt x="678611" y="152641"/>
                  </a:lnTo>
                  <a:lnTo>
                    <a:pt x="667448" y="163804"/>
                  </a:lnTo>
                  <a:lnTo>
                    <a:pt x="667448" y="166319"/>
                  </a:lnTo>
                  <a:lnTo>
                    <a:pt x="667448" y="168846"/>
                  </a:lnTo>
                  <a:lnTo>
                    <a:pt x="678611" y="179997"/>
                  </a:lnTo>
                  <a:lnTo>
                    <a:pt x="683641" y="179997"/>
                  </a:lnTo>
                  <a:lnTo>
                    <a:pt x="694804" y="168846"/>
                  </a:lnTo>
                  <a:lnTo>
                    <a:pt x="694804" y="163804"/>
                  </a:lnTo>
                  <a:close/>
                </a:path>
                <a:path w="1629410" h="1851025">
                  <a:moveTo>
                    <a:pt x="698411" y="429844"/>
                  </a:moveTo>
                  <a:lnTo>
                    <a:pt x="687247" y="418680"/>
                  </a:lnTo>
                  <a:lnTo>
                    <a:pt x="682205" y="418680"/>
                  </a:lnTo>
                  <a:lnTo>
                    <a:pt x="671042" y="429844"/>
                  </a:lnTo>
                  <a:lnTo>
                    <a:pt x="671042" y="432358"/>
                  </a:lnTo>
                  <a:lnTo>
                    <a:pt x="671042" y="434886"/>
                  </a:lnTo>
                  <a:lnTo>
                    <a:pt x="682205" y="446036"/>
                  </a:lnTo>
                  <a:lnTo>
                    <a:pt x="687247" y="446036"/>
                  </a:lnTo>
                  <a:lnTo>
                    <a:pt x="698411" y="434886"/>
                  </a:lnTo>
                  <a:lnTo>
                    <a:pt x="698411" y="429844"/>
                  </a:lnTo>
                  <a:close/>
                </a:path>
                <a:path w="1629410" h="1851025">
                  <a:moveTo>
                    <a:pt x="732967" y="1387081"/>
                  </a:moveTo>
                  <a:lnTo>
                    <a:pt x="721804" y="1375918"/>
                  </a:lnTo>
                  <a:lnTo>
                    <a:pt x="718375" y="1375918"/>
                  </a:lnTo>
                  <a:lnTo>
                    <a:pt x="717486" y="1374127"/>
                  </a:lnTo>
                  <a:lnTo>
                    <a:pt x="715683" y="1372323"/>
                  </a:lnTo>
                  <a:lnTo>
                    <a:pt x="711365" y="1370164"/>
                  </a:lnTo>
                  <a:lnTo>
                    <a:pt x="709206" y="1369441"/>
                  </a:lnTo>
                  <a:lnTo>
                    <a:pt x="704164" y="1369441"/>
                  </a:lnTo>
                  <a:lnTo>
                    <a:pt x="693000" y="1380604"/>
                  </a:lnTo>
                  <a:lnTo>
                    <a:pt x="693000" y="1383118"/>
                  </a:lnTo>
                  <a:lnTo>
                    <a:pt x="693000" y="1385646"/>
                  </a:lnTo>
                  <a:lnTo>
                    <a:pt x="704164" y="1396796"/>
                  </a:lnTo>
                  <a:lnTo>
                    <a:pt x="707580" y="1396796"/>
                  </a:lnTo>
                  <a:lnTo>
                    <a:pt x="708482" y="1398600"/>
                  </a:lnTo>
                  <a:lnTo>
                    <a:pt x="710285" y="1400403"/>
                  </a:lnTo>
                  <a:lnTo>
                    <a:pt x="714603" y="1402562"/>
                  </a:lnTo>
                  <a:lnTo>
                    <a:pt x="716762" y="1403286"/>
                  </a:lnTo>
                  <a:lnTo>
                    <a:pt x="721804" y="1403286"/>
                  </a:lnTo>
                  <a:lnTo>
                    <a:pt x="732967" y="1392123"/>
                  </a:lnTo>
                  <a:lnTo>
                    <a:pt x="732967" y="1387081"/>
                  </a:lnTo>
                  <a:close/>
                </a:path>
                <a:path w="1629410" h="1851025">
                  <a:moveTo>
                    <a:pt x="734047" y="226441"/>
                  </a:moveTo>
                  <a:lnTo>
                    <a:pt x="722884" y="215277"/>
                  </a:lnTo>
                  <a:lnTo>
                    <a:pt x="717842" y="215277"/>
                  </a:lnTo>
                  <a:lnTo>
                    <a:pt x="706691" y="226441"/>
                  </a:lnTo>
                  <a:lnTo>
                    <a:pt x="706691" y="228955"/>
                  </a:lnTo>
                  <a:lnTo>
                    <a:pt x="706691" y="231482"/>
                  </a:lnTo>
                  <a:lnTo>
                    <a:pt x="717842" y="242646"/>
                  </a:lnTo>
                  <a:lnTo>
                    <a:pt x="722884" y="242646"/>
                  </a:lnTo>
                  <a:lnTo>
                    <a:pt x="734047" y="231482"/>
                  </a:lnTo>
                  <a:lnTo>
                    <a:pt x="734047" y="226441"/>
                  </a:lnTo>
                  <a:close/>
                </a:path>
                <a:path w="1629410" h="1851025">
                  <a:moveTo>
                    <a:pt x="750608" y="845286"/>
                  </a:moveTo>
                  <a:lnTo>
                    <a:pt x="739444" y="834123"/>
                  </a:lnTo>
                  <a:lnTo>
                    <a:pt x="734402" y="834123"/>
                  </a:lnTo>
                  <a:lnTo>
                    <a:pt x="723252" y="845286"/>
                  </a:lnTo>
                  <a:lnTo>
                    <a:pt x="723252" y="847801"/>
                  </a:lnTo>
                  <a:lnTo>
                    <a:pt x="723252" y="850315"/>
                  </a:lnTo>
                  <a:lnTo>
                    <a:pt x="734402" y="861479"/>
                  </a:lnTo>
                  <a:lnTo>
                    <a:pt x="739444" y="861479"/>
                  </a:lnTo>
                  <a:lnTo>
                    <a:pt x="750608" y="850315"/>
                  </a:lnTo>
                  <a:lnTo>
                    <a:pt x="750608" y="845286"/>
                  </a:lnTo>
                  <a:close/>
                </a:path>
                <a:path w="1629410" h="1851025">
                  <a:moveTo>
                    <a:pt x="797052" y="113766"/>
                  </a:moveTo>
                  <a:lnTo>
                    <a:pt x="785888" y="102603"/>
                  </a:lnTo>
                  <a:lnTo>
                    <a:pt x="780846" y="102603"/>
                  </a:lnTo>
                  <a:lnTo>
                    <a:pt x="769683" y="113766"/>
                  </a:lnTo>
                  <a:lnTo>
                    <a:pt x="769683" y="116281"/>
                  </a:lnTo>
                  <a:lnTo>
                    <a:pt x="769683" y="118795"/>
                  </a:lnTo>
                  <a:lnTo>
                    <a:pt x="780846" y="129959"/>
                  </a:lnTo>
                  <a:lnTo>
                    <a:pt x="785888" y="129959"/>
                  </a:lnTo>
                  <a:lnTo>
                    <a:pt x="797052" y="118795"/>
                  </a:lnTo>
                  <a:lnTo>
                    <a:pt x="797052" y="113766"/>
                  </a:lnTo>
                  <a:close/>
                </a:path>
                <a:path w="1629410" h="1851025">
                  <a:moveTo>
                    <a:pt x="815047" y="172796"/>
                  </a:moveTo>
                  <a:lnTo>
                    <a:pt x="803884" y="161645"/>
                  </a:lnTo>
                  <a:lnTo>
                    <a:pt x="798842" y="161645"/>
                  </a:lnTo>
                  <a:lnTo>
                    <a:pt x="787692" y="172796"/>
                  </a:lnTo>
                  <a:lnTo>
                    <a:pt x="787692" y="175323"/>
                  </a:lnTo>
                  <a:lnTo>
                    <a:pt x="787692" y="177838"/>
                  </a:lnTo>
                  <a:lnTo>
                    <a:pt x="798842" y="189001"/>
                  </a:lnTo>
                  <a:lnTo>
                    <a:pt x="803884" y="189001"/>
                  </a:lnTo>
                  <a:lnTo>
                    <a:pt x="815047" y="177838"/>
                  </a:lnTo>
                  <a:lnTo>
                    <a:pt x="815047" y="172796"/>
                  </a:lnTo>
                  <a:close/>
                </a:path>
                <a:path w="1629410" h="1851025">
                  <a:moveTo>
                    <a:pt x="826922" y="414007"/>
                  </a:moveTo>
                  <a:lnTo>
                    <a:pt x="815771" y="402844"/>
                  </a:lnTo>
                  <a:lnTo>
                    <a:pt x="810729" y="402844"/>
                  </a:lnTo>
                  <a:lnTo>
                    <a:pt x="799566" y="414007"/>
                  </a:lnTo>
                  <a:lnTo>
                    <a:pt x="799566" y="416521"/>
                  </a:lnTo>
                  <a:lnTo>
                    <a:pt x="799566" y="419036"/>
                  </a:lnTo>
                  <a:lnTo>
                    <a:pt x="810729" y="430199"/>
                  </a:lnTo>
                  <a:lnTo>
                    <a:pt x="815771" y="430199"/>
                  </a:lnTo>
                  <a:lnTo>
                    <a:pt x="826922" y="419036"/>
                  </a:lnTo>
                  <a:lnTo>
                    <a:pt x="826922" y="414007"/>
                  </a:lnTo>
                  <a:close/>
                </a:path>
                <a:path w="1629410" h="1851025">
                  <a:moveTo>
                    <a:pt x="843838" y="460438"/>
                  </a:moveTo>
                  <a:lnTo>
                    <a:pt x="832688" y="449275"/>
                  </a:lnTo>
                  <a:lnTo>
                    <a:pt x="827646" y="449275"/>
                  </a:lnTo>
                  <a:lnTo>
                    <a:pt x="816483" y="460438"/>
                  </a:lnTo>
                  <a:lnTo>
                    <a:pt x="816483" y="462965"/>
                  </a:lnTo>
                  <a:lnTo>
                    <a:pt x="816483" y="465480"/>
                  </a:lnTo>
                  <a:lnTo>
                    <a:pt x="827646" y="476643"/>
                  </a:lnTo>
                  <a:lnTo>
                    <a:pt x="832688" y="476643"/>
                  </a:lnTo>
                  <a:lnTo>
                    <a:pt x="843838" y="465480"/>
                  </a:lnTo>
                  <a:lnTo>
                    <a:pt x="843838" y="460438"/>
                  </a:lnTo>
                  <a:close/>
                </a:path>
                <a:path w="1629410" h="1851025">
                  <a:moveTo>
                    <a:pt x="847801" y="1701723"/>
                  </a:moveTo>
                  <a:lnTo>
                    <a:pt x="836650" y="1690560"/>
                  </a:lnTo>
                  <a:lnTo>
                    <a:pt x="831608" y="1690560"/>
                  </a:lnTo>
                  <a:lnTo>
                    <a:pt x="820445" y="1701723"/>
                  </a:lnTo>
                  <a:lnTo>
                    <a:pt x="820445" y="1704238"/>
                  </a:lnTo>
                  <a:lnTo>
                    <a:pt x="820445" y="1706765"/>
                  </a:lnTo>
                  <a:lnTo>
                    <a:pt x="831608" y="1717916"/>
                  </a:lnTo>
                  <a:lnTo>
                    <a:pt x="836650" y="1717916"/>
                  </a:lnTo>
                  <a:lnTo>
                    <a:pt x="847801" y="1706765"/>
                  </a:lnTo>
                  <a:lnTo>
                    <a:pt x="847801" y="1701723"/>
                  </a:lnTo>
                  <a:close/>
                </a:path>
                <a:path w="1629410" h="1851025">
                  <a:moveTo>
                    <a:pt x="882726" y="976680"/>
                  </a:moveTo>
                  <a:lnTo>
                    <a:pt x="871562" y="965517"/>
                  </a:lnTo>
                  <a:lnTo>
                    <a:pt x="866508" y="965517"/>
                  </a:lnTo>
                  <a:lnTo>
                    <a:pt x="855370" y="976680"/>
                  </a:lnTo>
                  <a:lnTo>
                    <a:pt x="855370" y="979195"/>
                  </a:lnTo>
                  <a:lnTo>
                    <a:pt x="855370" y="981722"/>
                  </a:lnTo>
                  <a:lnTo>
                    <a:pt x="866508" y="992886"/>
                  </a:lnTo>
                  <a:lnTo>
                    <a:pt x="871562" y="992886"/>
                  </a:lnTo>
                  <a:lnTo>
                    <a:pt x="882726" y="981722"/>
                  </a:lnTo>
                  <a:lnTo>
                    <a:pt x="882726" y="976680"/>
                  </a:lnTo>
                  <a:close/>
                </a:path>
                <a:path w="1629410" h="1851025">
                  <a:moveTo>
                    <a:pt x="899287" y="1023124"/>
                  </a:moveTo>
                  <a:lnTo>
                    <a:pt x="888123" y="1011961"/>
                  </a:lnTo>
                  <a:lnTo>
                    <a:pt x="883081" y="1011961"/>
                  </a:lnTo>
                  <a:lnTo>
                    <a:pt x="871931" y="1023124"/>
                  </a:lnTo>
                  <a:lnTo>
                    <a:pt x="871931" y="1025639"/>
                  </a:lnTo>
                  <a:lnTo>
                    <a:pt x="871931" y="1028166"/>
                  </a:lnTo>
                  <a:lnTo>
                    <a:pt x="883081" y="1039317"/>
                  </a:lnTo>
                  <a:lnTo>
                    <a:pt x="888123" y="1039317"/>
                  </a:lnTo>
                  <a:lnTo>
                    <a:pt x="899287" y="1028166"/>
                  </a:lnTo>
                  <a:lnTo>
                    <a:pt x="899287" y="1023124"/>
                  </a:lnTo>
                  <a:close/>
                </a:path>
                <a:path w="1629410" h="1851025">
                  <a:moveTo>
                    <a:pt x="902525" y="1176845"/>
                  </a:moveTo>
                  <a:lnTo>
                    <a:pt x="891362" y="1165682"/>
                  </a:lnTo>
                  <a:lnTo>
                    <a:pt x="886320" y="1165682"/>
                  </a:lnTo>
                  <a:lnTo>
                    <a:pt x="875169" y="1176845"/>
                  </a:lnTo>
                  <a:lnTo>
                    <a:pt x="875169" y="1179360"/>
                  </a:lnTo>
                  <a:lnTo>
                    <a:pt x="875169" y="1181874"/>
                  </a:lnTo>
                  <a:lnTo>
                    <a:pt x="886320" y="1193038"/>
                  </a:lnTo>
                  <a:lnTo>
                    <a:pt x="891362" y="1193038"/>
                  </a:lnTo>
                  <a:lnTo>
                    <a:pt x="902525" y="1181874"/>
                  </a:lnTo>
                  <a:lnTo>
                    <a:pt x="902525" y="1176845"/>
                  </a:lnTo>
                  <a:close/>
                </a:path>
                <a:path w="1629410" h="1851025">
                  <a:moveTo>
                    <a:pt x="929525" y="1323365"/>
                  </a:moveTo>
                  <a:lnTo>
                    <a:pt x="918362" y="1312202"/>
                  </a:lnTo>
                  <a:lnTo>
                    <a:pt x="913320" y="1312202"/>
                  </a:lnTo>
                  <a:lnTo>
                    <a:pt x="902169" y="1323365"/>
                  </a:lnTo>
                  <a:lnTo>
                    <a:pt x="902169" y="1325880"/>
                  </a:lnTo>
                  <a:lnTo>
                    <a:pt x="902169" y="1328407"/>
                  </a:lnTo>
                  <a:lnTo>
                    <a:pt x="913320" y="1339557"/>
                  </a:lnTo>
                  <a:lnTo>
                    <a:pt x="918362" y="1339557"/>
                  </a:lnTo>
                  <a:lnTo>
                    <a:pt x="929525" y="1328407"/>
                  </a:lnTo>
                  <a:lnTo>
                    <a:pt x="929525" y="1323365"/>
                  </a:lnTo>
                  <a:close/>
                </a:path>
                <a:path w="1629410" h="1851025">
                  <a:moveTo>
                    <a:pt x="947166" y="1003325"/>
                  </a:moveTo>
                  <a:lnTo>
                    <a:pt x="936002" y="992162"/>
                  </a:lnTo>
                  <a:lnTo>
                    <a:pt x="930960" y="992162"/>
                  </a:lnTo>
                  <a:lnTo>
                    <a:pt x="919810" y="1003325"/>
                  </a:lnTo>
                  <a:lnTo>
                    <a:pt x="919810" y="1005840"/>
                  </a:lnTo>
                  <a:lnTo>
                    <a:pt x="919810" y="1008367"/>
                  </a:lnTo>
                  <a:lnTo>
                    <a:pt x="930960" y="1019517"/>
                  </a:lnTo>
                  <a:lnTo>
                    <a:pt x="936002" y="1019517"/>
                  </a:lnTo>
                  <a:lnTo>
                    <a:pt x="947166" y="1008367"/>
                  </a:lnTo>
                  <a:lnTo>
                    <a:pt x="947166" y="1003325"/>
                  </a:lnTo>
                  <a:close/>
                </a:path>
                <a:path w="1629410" h="1851025">
                  <a:moveTo>
                    <a:pt x="947889" y="1626844"/>
                  </a:moveTo>
                  <a:lnTo>
                    <a:pt x="936726" y="1615681"/>
                  </a:lnTo>
                  <a:lnTo>
                    <a:pt x="931684" y="1615681"/>
                  </a:lnTo>
                  <a:lnTo>
                    <a:pt x="920521" y="1626844"/>
                  </a:lnTo>
                  <a:lnTo>
                    <a:pt x="920521" y="1629359"/>
                  </a:lnTo>
                  <a:lnTo>
                    <a:pt x="920521" y="1631886"/>
                  </a:lnTo>
                  <a:lnTo>
                    <a:pt x="931684" y="1643037"/>
                  </a:lnTo>
                  <a:lnTo>
                    <a:pt x="936726" y="1643037"/>
                  </a:lnTo>
                  <a:lnTo>
                    <a:pt x="947889" y="1631886"/>
                  </a:lnTo>
                  <a:lnTo>
                    <a:pt x="947889" y="1626844"/>
                  </a:lnTo>
                  <a:close/>
                </a:path>
                <a:path w="1629410" h="1851025">
                  <a:moveTo>
                    <a:pt x="956170" y="962279"/>
                  </a:moveTo>
                  <a:lnTo>
                    <a:pt x="945007" y="951115"/>
                  </a:lnTo>
                  <a:lnTo>
                    <a:pt x="939965" y="951115"/>
                  </a:lnTo>
                  <a:lnTo>
                    <a:pt x="928801" y="962279"/>
                  </a:lnTo>
                  <a:lnTo>
                    <a:pt x="928801" y="964806"/>
                  </a:lnTo>
                  <a:lnTo>
                    <a:pt x="928801" y="967320"/>
                  </a:lnTo>
                  <a:lnTo>
                    <a:pt x="939965" y="978484"/>
                  </a:lnTo>
                  <a:lnTo>
                    <a:pt x="945007" y="978484"/>
                  </a:lnTo>
                  <a:lnTo>
                    <a:pt x="956170" y="967320"/>
                  </a:lnTo>
                  <a:lnTo>
                    <a:pt x="956170" y="962279"/>
                  </a:lnTo>
                  <a:close/>
                </a:path>
                <a:path w="1629410" h="1851025">
                  <a:moveTo>
                    <a:pt x="981367" y="1214996"/>
                  </a:moveTo>
                  <a:lnTo>
                    <a:pt x="970203" y="1203845"/>
                  </a:lnTo>
                  <a:lnTo>
                    <a:pt x="965161" y="1203845"/>
                  </a:lnTo>
                  <a:lnTo>
                    <a:pt x="954011" y="1214996"/>
                  </a:lnTo>
                  <a:lnTo>
                    <a:pt x="954011" y="1217523"/>
                  </a:lnTo>
                  <a:lnTo>
                    <a:pt x="954011" y="1220038"/>
                  </a:lnTo>
                  <a:lnTo>
                    <a:pt x="965161" y="1231201"/>
                  </a:lnTo>
                  <a:lnTo>
                    <a:pt x="970203" y="1231201"/>
                  </a:lnTo>
                  <a:lnTo>
                    <a:pt x="981367" y="1220038"/>
                  </a:lnTo>
                  <a:lnTo>
                    <a:pt x="981367" y="1214996"/>
                  </a:lnTo>
                  <a:close/>
                </a:path>
                <a:path w="1629410" h="1851025">
                  <a:moveTo>
                    <a:pt x="1004760" y="1834565"/>
                  </a:moveTo>
                  <a:lnTo>
                    <a:pt x="993609" y="1823402"/>
                  </a:lnTo>
                  <a:lnTo>
                    <a:pt x="988568" y="1823402"/>
                  </a:lnTo>
                  <a:lnTo>
                    <a:pt x="977404" y="1834565"/>
                  </a:lnTo>
                  <a:lnTo>
                    <a:pt x="977404" y="1837080"/>
                  </a:lnTo>
                  <a:lnTo>
                    <a:pt x="977404" y="1839595"/>
                  </a:lnTo>
                  <a:lnTo>
                    <a:pt x="988568" y="1850758"/>
                  </a:lnTo>
                  <a:lnTo>
                    <a:pt x="993609" y="1850758"/>
                  </a:lnTo>
                  <a:lnTo>
                    <a:pt x="1004760" y="1839595"/>
                  </a:lnTo>
                  <a:lnTo>
                    <a:pt x="1004760" y="1834565"/>
                  </a:lnTo>
                  <a:close/>
                </a:path>
                <a:path w="1629410" h="1851025">
                  <a:moveTo>
                    <a:pt x="1027811" y="1745640"/>
                  </a:moveTo>
                  <a:lnTo>
                    <a:pt x="1016647" y="1734477"/>
                  </a:lnTo>
                  <a:lnTo>
                    <a:pt x="1011605" y="1734477"/>
                  </a:lnTo>
                  <a:lnTo>
                    <a:pt x="1000442" y="1745640"/>
                  </a:lnTo>
                  <a:lnTo>
                    <a:pt x="1000442" y="1748155"/>
                  </a:lnTo>
                  <a:lnTo>
                    <a:pt x="1000442" y="1750682"/>
                  </a:lnTo>
                  <a:lnTo>
                    <a:pt x="1011605" y="1761845"/>
                  </a:lnTo>
                  <a:lnTo>
                    <a:pt x="1016647" y="1761845"/>
                  </a:lnTo>
                  <a:lnTo>
                    <a:pt x="1027811" y="1750682"/>
                  </a:lnTo>
                  <a:lnTo>
                    <a:pt x="1027811" y="1745640"/>
                  </a:lnTo>
                  <a:close/>
                </a:path>
                <a:path w="1629410" h="1851025">
                  <a:moveTo>
                    <a:pt x="1056246" y="1334160"/>
                  </a:moveTo>
                  <a:lnTo>
                    <a:pt x="1045083" y="1322997"/>
                  </a:lnTo>
                  <a:lnTo>
                    <a:pt x="1040041" y="1322997"/>
                  </a:lnTo>
                  <a:lnTo>
                    <a:pt x="1028890" y="1334160"/>
                  </a:lnTo>
                  <a:lnTo>
                    <a:pt x="1028890" y="1336675"/>
                  </a:lnTo>
                  <a:lnTo>
                    <a:pt x="1028890" y="1339202"/>
                  </a:lnTo>
                  <a:lnTo>
                    <a:pt x="1040041" y="1350365"/>
                  </a:lnTo>
                  <a:lnTo>
                    <a:pt x="1045083" y="1350365"/>
                  </a:lnTo>
                  <a:lnTo>
                    <a:pt x="1056246" y="1339202"/>
                  </a:lnTo>
                  <a:lnTo>
                    <a:pt x="1056246" y="1334160"/>
                  </a:lnTo>
                  <a:close/>
                </a:path>
                <a:path w="1629410" h="1851025">
                  <a:moveTo>
                    <a:pt x="1069568" y="434162"/>
                  </a:moveTo>
                  <a:lnTo>
                    <a:pt x="1058405" y="422998"/>
                  </a:lnTo>
                  <a:lnTo>
                    <a:pt x="1053363" y="422998"/>
                  </a:lnTo>
                  <a:lnTo>
                    <a:pt x="1042200" y="434162"/>
                  </a:lnTo>
                  <a:lnTo>
                    <a:pt x="1042200" y="436676"/>
                  </a:lnTo>
                  <a:lnTo>
                    <a:pt x="1042200" y="439204"/>
                  </a:lnTo>
                  <a:lnTo>
                    <a:pt x="1053363" y="450354"/>
                  </a:lnTo>
                  <a:lnTo>
                    <a:pt x="1058405" y="450354"/>
                  </a:lnTo>
                  <a:lnTo>
                    <a:pt x="1069568" y="439204"/>
                  </a:lnTo>
                  <a:lnTo>
                    <a:pt x="1069568" y="434162"/>
                  </a:lnTo>
                  <a:close/>
                </a:path>
                <a:path w="1629410" h="1851025">
                  <a:moveTo>
                    <a:pt x="1089012" y="981367"/>
                  </a:moveTo>
                  <a:lnTo>
                    <a:pt x="1077849" y="970203"/>
                  </a:lnTo>
                  <a:lnTo>
                    <a:pt x="1072807" y="970203"/>
                  </a:lnTo>
                  <a:lnTo>
                    <a:pt x="1061643" y="981367"/>
                  </a:lnTo>
                  <a:lnTo>
                    <a:pt x="1061643" y="983881"/>
                  </a:lnTo>
                  <a:lnTo>
                    <a:pt x="1061643" y="986396"/>
                  </a:lnTo>
                  <a:lnTo>
                    <a:pt x="1072807" y="997559"/>
                  </a:lnTo>
                  <a:lnTo>
                    <a:pt x="1077849" y="997559"/>
                  </a:lnTo>
                  <a:lnTo>
                    <a:pt x="1089012" y="986396"/>
                  </a:lnTo>
                  <a:lnTo>
                    <a:pt x="1089012" y="981367"/>
                  </a:lnTo>
                  <a:close/>
                </a:path>
                <a:path w="1629410" h="1851025">
                  <a:moveTo>
                    <a:pt x="1110970" y="632523"/>
                  </a:moveTo>
                  <a:lnTo>
                    <a:pt x="1099807" y="621360"/>
                  </a:lnTo>
                  <a:lnTo>
                    <a:pt x="1094765" y="621360"/>
                  </a:lnTo>
                  <a:lnTo>
                    <a:pt x="1083602" y="632523"/>
                  </a:lnTo>
                  <a:lnTo>
                    <a:pt x="1083602" y="635038"/>
                  </a:lnTo>
                  <a:lnTo>
                    <a:pt x="1083602" y="637565"/>
                  </a:lnTo>
                  <a:lnTo>
                    <a:pt x="1094765" y="648716"/>
                  </a:lnTo>
                  <a:lnTo>
                    <a:pt x="1099807" y="648716"/>
                  </a:lnTo>
                  <a:lnTo>
                    <a:pt x="1110970" y="637565"/>
                  </a:lnTo>
                  <a:lnTo>
                    <a:pt x="1110970" y="632523"/>
                  </a:lnTo>
                  <a:close/>
                </a:path>
                <a:path w="1629410" h="1851025">
                  <a:moveTo>
                    <a:pt x="1110970" y="11163"/>
                  </a:moveTo>
                  <a:lnTo>
                    <a:pt x="1099807" y="0"/>
                  </a:lnTo>
                  <a:lnTo>
                    <a:pt x="1094765" y="0"/>
                  </a:lnTo>
                  <a:lnTo>
                    <a:pt x="1083602" y="11163"/>
                  </a:lnTo>
                  <a:lnTo>
                    <a:pt x="1083602" y="13677"/>
                  </a:lnTo>
                  <a:lnTo>
                    <a:pt x="1083602" y="16205"/>
                  </a:lnTo>
                  <a:lnTo>
                    <a:pt x="1094765" y="27355"/>
                  </a:lnTo>
                  <a:lnTo>
                    <a:pt x="1099807" y="27355"/>
                  </a:lnTo>
                  <a:lnTo>
                    <a:pt x="1110970" y="16205"/>
                  </a:lnTo>
                  <a:lnTo>
                    <a:pt x="1110970" y="11163"/>
                  </a:lnTo>
                  <a:close/>
                </a:path>
                <a:path w="1629410" h="1851025">
                  <a:moveTo>
                    <a:pt x="1125728" y="581037"/>
                  </a:moveTo>
                  <a:lnTo>
                    <a:pt x="1114564" y="569887"/>
                  </a:lnTo>
                  <a:lnTo>
                    <a:pt x="1109522" y="569887"/>
                  </a:lnTo>
                  <a:lnTo>
                    <a:pt x="1098372" y="581037"/>
                  </a:lnTo>
                  <a:lnTo>
                    <a:pt x="1098372" y="583565"/>
                  </a:lnTo>
                  <a:lnTo>
                    <a:pt x="1098372" y="586079"/>
                  </a:lnTo>
                  <a:lnTo>
                    <a:pt x="1109522" y="597242"/>
                  </a:lnTo>
                  <a:lnTo>
                    <a:pt x="1114564" y="597242"/>
                  </a:lnTo>
                  <a:lnTo>
                    <a:pt x="1125728" y="586079"/>
                  </a:lnTo>
                  <a:lnTo>
                    <a:pt x="1125728" y="581037"/>
                  </a:lnTo>
                  <a:close/>
                </a:path>
                <a:path w="1629410" h="1851025">
                  <a:moveTo>
                    <a:pt x="1153452" y="331203"/>
                  </a:moveTo>
                  <a:lnTo>
                    <a:pt x="1142288" y="320040"/>
                  </a:lnTo>
                  <a:lnTo>
                    <a:pt x="1137246" y="320040"/>
                  </a:lnTo>
                  <a:lnTo>
                    <a:pt x="1126083" y="331203"/>
                  </a:lnTo>
                  <a:lnTo>
                    <a:pt x="1126083" y="333717"/>
                  </a:lnTo>
                  <a:lnTo>
                    <a:pt x="1126083" y="336245"/>
                  </a:lnTo>
                  <a:lnTo>
                    <a:pt x="1137246" y="347395"/>
                  </a:lnTo>
                  <a:lnTo>
                    <a:pt x="1142288" y="347395"/>
                  </a:lnTo>
                  <a:lnTo>
                    <a:pt x="1153452" y="336245"/>
                  </a:lnTo>
                  <a:lnTo>
                    <a:pt x="1153452" y="331203"/>
                  </a:lnTo>
                  <a:close/>
                </a:path>
                <a:path w="1629410" h="1851025">
                  <a:moveTo>
                    <a:pt x="1157046" y="1435684"/>
                  </a:moveTo>
                  <a:lnTo>
                    <a:pt x="1145882" y="1424520"/>
                  </a:lnTo>
                  <a:lnTo>
                    <a:pt x="1140841" y="1424520"/>
                  </a:lnTo>
                  <a:lnTo>
                    <a:pt x="1129690" y="1435684"/>
                  </a:lnTo>
                  <a:lnTo>
                    <a:pt x="1129690" y="1438198"/>
                  </a:lnTo>
                  <a:lnTo>
                    <a:pt x="1129690" y="1440726"/>
                  </a:lnTo>
                  <a:lnTo>
                    <a:pt x="1140841" y="1451876"/>
                  </a:lnTo>
                  <a:lnTo>
                    <a:pt x="1145882" y="1451876"/>
                  </a:lnTo>
                  <a:lnTo>
                    <a:pt x="1157046" y="1440726"/>
                  </a:lnTo>
                  <a:lnTo>
                    <a:pt x="1157046" y="1435684"/>
                  </a:lnTo>
                  <a:close/>
                </a:path>
                <a:path w="1629410" h="1851025">
                  <a:moveTo>
                    <a:pt x="1197000" y="1709635"/>
                  </a:moveTo>
                  <a:lnTo>
                    <a:pt x="1185849" y="1698485"/>
                  </a:lnTo>
                  <a:lnTo>
                    <a:pt x="1183690" y="1698485"/>
                  </a:lnTo>
                  <a:lnTo>
                    <a:pt x="1182966" y="1696326"/>
                  </a:lnTo>
                  <a:lnTo>
                    <a:pt x="1180807" y="1691995"/>
                  </a:lnTo>
                  <a:lnTo>
                    <a:pt x="1179004" y="1690204"/>
                  </a:lnTo>
                  <a:lnTo>
                    <a:pt x="1174686" y="1688045"/>
                  </a:lnTo>
                  <a:lnTo>
                    <a:pt x="1172527" y="1687322"/>
                  </a:lnTo>
                  <a:lnTo>
                    <a:pt x="1167485" y="1687322"/>
                  </a:lnTo>
                  <a:lnTo>
                    <a:pt x="1156322" y="1698485"/>
                  </a:lnTo>
                  <a:lnTo>
                    <a:pt x="1156322" y="1700999"/>
                  </a:lnTo>
                  <a:lnTo>
                    <a:pt x="1156322" y="1703527"/>
                  </a:lnTo>
                  <a:lnTo>
                    <a:pt x="1167485" y="1714677"/>
                  </a:lnTo>
                  <a:lnTo>
                    <a:pt x="1169644" y="1714677"/>
                  </a:lnTo>
                  <a:lnTo>
                    <a:pt x="1170368" y="1716836"/>
                  </a:lnTo>
                  <a:lnTo>
                    <a:pt x="1172527" y="1721154"/>
                  </a:lnTo>
                  <a:lnTo>
                    <a:pt x="1174330" y="1722958"/>
                  </a:lnTo>
                  <a:lnTo>
                    <a:pt x="1178648" y="1725117"/>
                  </a:lnTo>
                  <a:lnTo>
                    <a:pt x="1180807" y="1725841"/>
                  </a:lnTo>
                  <a:lnTo>
                    <a:pt x="1185849" y="1725841"/>
                  </a:lnTo>
                  <a:lnTo>
                    <a:pt x="1197000" y="1714677"/>
                  </a:lnTo>
                  <a:lnTo>
                    <a:pt x="1197000" y="1709635"/>
                  </a:lnTo>
                  <a:close/>
                </a:path>
                <a:path w="1629410" h="1851025">
                  <a:moveTo>
                    <a:pt x="1219327" y="28803"/>
                  </a:moveTo>
                  <a:lnTo>
                    <a:pt x="1208163" y="17640"/>
                  </a:lnTo>
                  <a:lnTo>
                    <a:pt x="1203121" y="17640"/>
                  </a:lnTo>
                  <a:lnTo>
                    <a:pt x="1191971" y="28803"/>
                  </a:lnTo>
                  <a:lnTo>
                    <a:pt x="1191971" y="31318"/>
                  </a:lnTo>
                  <a:lnTo>
                    <a:pt x="1191971" y="33845"/>
                  </a:lnTo>
                  <a:lnTo>
                    <a:pt x="1203121" y="44996"/>
                  </a:lnTo>
                  <a:lnTo>
                    <a:pt x="1208163" y="44996"/>
                  </a:lnTo>
                  <a:lnTo>
                    <a:pt x="1219327" y="33845"/>
                  </a:lnTo>
                  <a:lnTo>
                    <a:pt x="1219327" y="28803"/>
                  </a:lnTo>
                  <a:close/>
                </a:path>
                <a:path w="1629410" h="1851025">
                  <a:moveTo>
                    <a:pt x="1240561" y="1311846"/>
                  </a:moveTo>
                  <a:lnTo>
                    <a:pt x="1229410" y="1300683"/>
                  </a:lnTo>
                  <a:lnTo>
                    <a:pt x="1224368" y="1300683"/>
                  </a:lnTo>
                  <a:lnTo>
                    <a:pt x="1213205" y="1311846"/>
                  </a:lnTo>
                  <a:lnTo>
                    <a:pt x="1213205" y="1314361"/>
                  </a:lnTo>
                  <a:lnTo>
                    <a:pt x="1213205" y="1316875"/>
                  </a:lnTo>
                  <a:lnTo>
                    <a:pt x="1224368" y="1328039"/>
                  </a:lnTo>
                  <a:lnTo>
                    <a:pt x="1229410" y="1328039"/>
                  </a:lnTo>
                  <a:lnTo>
                    <a:pt x="1240561" y="1316875"/>
                  </a:lnTo>
                  <a:lnTo>
                    <a:pt x="1240561" y="1311846"/>
                  </a:lnTo>
                  <a:close/>
                </a:path>
                <a:path w="1629410" h="1851025">
                  <a:moveTo>
                    <a:pt x="1262519" y="466559"/>
                  </a:moveTo>
                  <a:lnTo>
                    <a:pt x="1251369" y="455396"/>
                  </a:lnTo>
                  <a:lnTo>
                    <a:pt x="1246327" y="455396"/>
                  </a:lnTo>
                  <a:lnTo>
                    <a:pt x="1235163" y="466559"/>
                  </a:lnTo>
                  <a:lnTo>
                    <a:pt x="1235163" y="469087"/>
                  </a:lnTo>
                  <a:lnTo>
                    <a:pt x="1235163" y="471601"/>
                  </a:lnTo>
                  <a:lnTo>
                    <a:pt x="1246327" y="482765"/>
                  </a:lnTo>
                  <a:lnTo>
                    <a:pt x="1251369" y="482765"/>
                  </a:lnTo>
                  <a:lnTo>
                    <a:pt x="1262519" y="471601"/>
                  </a:lnTo>
                  <a:lnTo>
                    <a:pt x="1262519" y="466559"/>
                  </a:lnTo>
                  <a:close/>
                </a:path>
                <a:path w="1629410" h="1851025">
                  <a:moveTo>
                    <a:pt x="1270800" y="428040"/>
                  </a:moveTo>
                  <a:lnTo>
                    <a:pt x="1259649" y="416877"/>
                  </a:lnTo>
                  <a:lnTo>
                    <a:pt x="1254607" y="416877"/>
                  </a:lnTo>
                  <a:lnTo>
                    <a:pt x="1243444" y="428040"/>
                  </a:lnTo>
                  <a:lnTo>
                    <a:pt x="1243444" y="430555"/>
                  </a:lnTo>
                  <a:lnTo>
                    <a:pt x="1243444" y="433082"/>
                  </a:lnTo>
                  <a:lnTo>
                    <a:pt x="1254607" y="444246"/>
                  </a:lnTo>
                  <a:lnTo>
                    <a:pt x="1259649" y="444246"/>
                  </a:lnTo>
                  <a:lnTo>
                    <a:pt x="1270800" y="433082"/>
                  </a:lnTo>
                  <a:lnTo>
                    <a:pt x="1270800" y="428040"/>
                  </a:lnTo>
                  <a:close/>
                </a:path>
                <a:path w="1629410" h="1851025">
                  <a:moveTo>
                    <a:pt x="1300327" y="841679"/>
                  </a:moveTo>
                  <a:lnTo>
                    <a:pt x="1289164" y="830516"/>
                  </a:lnTo>
                  <a:lnTo>
                    <a:pt x="1284122" y="830516"/>
                  </a:lnTo>
                  <a:lnTo>
                    <a:pt x="1272971" y="841679"/>
                  </a:lnTo>
                  <a:lnTo>
                    <a:pt x="1272971" y="844207"/>
                  </a:lnTo>
                  <a:lnTo>
                    <a:pt x="1272971" y="846721"/>
                  </a:lnTo>
                  <a:lnTo>
                    <a:pt x="1284122" y="857885"/>
                  </a:lnTo>
                  <a:lnTo>
                    <a:pt x="1289164" y="857885"/>
                  </a:lnTo>
                  <a:lnTo>
                    <a:pt x="1300327" y="846721"/>
                  </a:lnTo>
                  <a:lnTo>
                    <a:pt x="1300327" y="841679"/>
                  </a:lnTo>
                  <a:close/>
                </a:path>
                <a:path w="1629410" h="1851025">
                  <a:moveTo>
                    <a:pt x="1355407" y="1392123"/>
                  </a:moveTo>
                  <a:lnTo>
                    <a:pt x="1344244" y="1380959"/>
                  </a:lnTo>
                  <a:lnTo>
                    <a:pt x="1339202" y="1380959"/>
                  </a:lnTo>
                  <a:lnTo>
                    <a:pt x="1328051" y="1392123"/>
                  </a:lnTo>
                  <a:lnTo>
                    <a:pt x="1328051" y="1394637"/>
                  </a:lnTo>
                  <a:lnTo>
                    <a:pt x="1328051" y="1397165"/>
                  </a:lnTo>
                  <a:lnTo>
                    <a:pt x="1339202" y="1408315"/>
                  </a:lnTo>
                  <a:lnTo>
                    <a:pt x="1344244" y="1408315"/>
                  </a:lnTo>
                  <a:lnTo>
                    <a:pt x="1355407" y="1397165"/>
                  </a:lnTo>
                  <a:lnTo>
                    <a:pt x="1355407" y="1392123"/>
                  </a:lnTo>
                  <a:close/>
                </a:path>
                <a:path w="1629410" h="1851025">
                  <a:moveTo>
                    <a:pt x="1375206" y="1465922"/>
                  </a:moveTo>
                  <a:lnTo>
                    <a:pt x="1364043" y="1454759"/>
                  </a:lnTo>
                  <a:lnTo>
                    <a:pt x="1359001" y="1454759"/>
                  </a:lnTo>
                  <a:lnTo>
                    <a:pt x="1347851" y="1465922"/>
                  </a:lnTo>
                  <a:lnTo>
                    <a:pt x="1347851" y="1468437"/>
                  </a:lnTo>
                  <a:lnTo>
                    <a:pt x="1347851" y="1470964"/>
                  </a:lnTo>
                  <a:lnTo>
                    <a:pt x="1359001" y="1482115"/>
                  </a:lnTo>
                  <a:lnTo>
                    <a:pt x="1364043" y="1482115"/>
                  </a:lnTo>
                  <a:lnTo>
                    <a:pt x="1375206" y="1470964"/>
                  </a:lnTo>
                  <a:lnTo>
                    <a:pt x="1375206" y="1465922"/>
                  </a:lnTo>
                  <a:close/>
                </a:path>
                <a:path w="1629410" h="1851025">
                  <a:moveTo>
                    <a:pt x="1485011" y="281876"/>
                  </a:moveTo>
                  <a:lnTo>
                    <a:pt x="1473847" y="270725"/>
                  </a:lnTo>
                  <a:lnTo>
                    <a:pt x="1468805" y="270725"/>
                  </a:lnTo>
                  <a:lnTo>
                    <a:pt x="1457642" y="281876"/>
                  </a:lnTo>
                  <a:lnTo>
                    <a:pt x="1457642" y="284403"/>
                  </a:lnTo>
                  <a:lnTo>
                    <a:pt x="1457642" y="286918"/>
                  </a:lnTo>
                  <a:lnTo>
                    <a:pt x="1468805" y="298081"/>
                  </a:lnTo>
                  <a:lnTo>
                    <a:pt x="1473847" y="298081"/>
                  </a:lnTo>
                  <a:lnTo>
                    <a:pt x="1485011" y="286918"/>
                  </a:lnTo>
                  <a:lnTo>
                    <a:pt x="1485011" y="281876"/>
                  </a:lnTo>
                  <a:close/>
                </a:path>
                <a:path w="1629410" h="1851025">
                  <a:moveTo>
                    <a:pt x="1525320" y="805675"/>
                  </a:moveTo>
                  <a:lnTo>
                    <a:pt x="1514170" y="794524"/>
                  </a:lnTo>
                  <a:lnTo>
                    <a:pt x="1509128" y="794524"/>
                  </a:lnTo>
                  <a:lnTo>
                    <a:pt x="1497965" y="805675"/>
                  </a:lnTo>
                  <a:lnTo>
                    <a:pt x="1497965" y="808202"/>
                  </a:lnTo>
                  <a:lnTo>
                    <a:pt x="1497965" y="810717"/>
                  </a:lnTo>
                  <a:lnTo>
                    <a:pt x="1509128" y="821880"/>
                  </a:lnTo>
                  <a:lnTo>
                    <a:pt x="1514170" y="821880"/>
                  </a:lnTo>
                  <a:lnTo>
                    <a:pt x="1525320" y="810717"/>
                  </a:lnTo>
                  <a:lnTo>
                    <a:pt x="1525320" y="805675"/>
                  </a:lnTo>
                  <a:close/>
                </a:path>
                <a:path w="1629410" h="1851025">
                  <a:moveTo>
                    <a:pt x="1599488" y="1543316"/>
                  </a:moveTo>
                  <a:lnTo>
                    <a:pt x="1588325" y="1532166"/>
                  </a:lnTo>
                  <a:lnTo>
                    <a:pt x="1583283" y="1532166"/>
                  </a:lnTo>
                  <a:lnTo>
                    <a:pt x="1572120" y="1543316"/>
                  </a:lnTo>
                  <a:lnTo>
                    <a:pt x="1572120" y="1545844"/>
                  </a:lnTo>
                  <a:lnTo>
                    <a:pt x="1572120" y="1548358"/>
                  </a:lnTo>
                  <a:lnTo>
                    <a:pt x="1583283" y="1559521"/>
                  </a:lnTo>
                  <a:lnTo>
                    <a:pt x="1588325" y="1559521"/>
                  </a:lnTo>
                  <a:lnTo>
                    <a:pt x="1599488" y="1548358"/>
                  </a:lnTo>
                  <a:lnTo>
                    <a:pt x="1599488" y="1543316"/>
                  </a:lnTo>
                  <a:close/>
                </a:path>
                <a:path w="1629410" h="1851025">
                  <a:moveTo>
                    <a:pt x="1629371" y="1719719"/>
                  </a:moveTo>
                  <a:lnTo>
                    <a:pt x="1618208" y="1708556"/>
                  </a:lnTo>
                  <a:lnTo>
                    <a:pt x="1613166" y="1708556"/>
                  </a:lnTo>
                  <a:lnTo>
                    <a:pt x="1602003" y="1719719"/>
                  </a:lnTo>
                  <a:lnTo>
                    <a:pt x="1602003" y="1722247"/>
                  </a:lnTo>
                  <a:lnTo>
                    <a:pt x="1602003" y="1724761"/>
                  </a:lnTo>
                  <a:lnTo>
                    <a:pt x="1613166" y="1735924"/>
                  </a:lnTo>
                  <a:lnTo>
                    <a:pt x="1618208" y="1735924"/>
                  </a:lnTo>
                  <a:lnTo>
                    <a:pt x="1629371" y="1724761"/>
                  </a:lnTo>
                  <a:lnTo>
                    <a:pt x="1629371" y="1719719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2198" y="1483194"/>
              <a:ext cx="1785620" cy="1833880"/>
            </a:xfrm>
            <a:custGeom>
              <a:avLst/>
              <a:gdLst/>
              <a:ahLst/>
              <a:cxnLst/>
              <a:rect l="l" t="t" r="r" b="b"/>
              <a:pathLst>
                <a:path w="1785620" h="1833879">
                  <a:moveTo>
                    <a:pt x="39243" y="1265770"/>
                  </a:moveTo>
                  <a:lnTo>
                    <a:pt x="28079" y="1254607"/>
                  </a:lnTo>
                  <a:lnTo>
                    <a:pt x="23037" y="1254607"/>
                  </a:lnTo>
                  <a:lnTo>
                    <a:pt x="20878" y="1255318"/>
                  </a:lnTo>
                  <a:lnTo>
                    <a:pt x="18529" y="1256499"/>
                  </a:lnTo>
                  <a:lnTo>
                    <a:pt x="18364" y="1256411"/>
                  </a:lnTo>
                  <a:lnTo>
                    <a:pt x="16205" y="1255687"/>
                  </a:lnTo>
                  <a:lnTo>
                    <a:pt x="11163" y="1255687"/>
                  </a:lnTo>
                  <a:lnTo>
                    <a:pt x="0" y="1266850"/>
                  </a:lnTo>
                  <a:lnTo>
                    <a:pt x="0" y="1269365"/>
                  </a:lnTo>
                  <a:lnTo>
                    <a:pt x="0" y="1271879"/>
                  </a:lnTo>
                  <a:lnTo>
                    <a:pt x="11163" y="1283042"/>
                  </a:lnTo>
                  <a:lnTo>
                    <a:pt x="16205" y="1283042"/>
                  </a:lnTo>
                  <a:lnTo>
                    <a:pt x="18364" y="1282319"/>
                  </a:lnTo>
                  <a:lnTo>
                    <a:pt x="20701" y="1281150"/>
                  </a:lnTo>
                  <a:lnTo>
                    <a:pt x="20878" y="1281239"/>
                  </a:lnTo>
                  <a:lnTo>
                    <a:pt x="23037" y="1281963"/>
                  </a:lnTo>
                  <a:lnTo>
                    <a:pt x="28079" y="1281963"/>
                  </a:lnTo>
                  <a:lnTo>
                    <a:pt x="39243" y="1270800"/>
                  </a:lnTo>
                  <a:lnTo>
                    <a:pt x="39243" y="1265770"/>
                  </a:lnTo>
                  <a:close/>
                </a:path>
                <a:path w="1785620" h="1833879">
                  <a:moveTo>
                    <a:pt x="78841" y="1792084"/>
                  </a:moveTo>
                  <a:lnTo>
                    <a:pt x="67678" y="1780921"/>
                  </a:lnTo>
                  <a:lnTo>
                    <a:pt x="62636" y="1780921"/>
                  </a:lnTo>
                  <a:lnTo>
                    <a:pt x="51485" y="1792084"/>
                  </a:lnTo>
                  <a:lnTo>
                    <a:pt x="51485" y="1794598"/>
                  </a:lnTo>
                  <a:lnTo>
                    <a:pt x="51485" y="1797126"/>
                  </a:lnTo>
                  <a:lnTo>
                    <a:pt x="62636" y="1808289"/>
                  </a:lnTo>
                  <a:lnTo>
                    <a:pt x="67678" y="1808289"/>
                  </a:lnTo>
                  <a:lnTo>
                    <a:pt x="78841" y="1797126"/>
                  </a:lnTo>
                  <a:lnTo>
                    <a:pt x="78841" y="1792084"/>
                  </a:lnTo>
                  <a:close/>
                </a:path>
                <a:path w="1785620" h="1833879">
                  <a:moveTo>
                    <a:pt x="81000" y="1690928"/>
                  </a:moveTo>
                  <a:lnTo>
                    <a:pt x="69837" y="1679765"/>
                  </a:lnTo>
                  <a:lnTo>
                    <a:pt x="64808" y="1679765"/>
                  </a:lnTo>
                  <a:lnTo>
                    <a:pt x="53644" y="1690928"/>
                  </a:lnTo>
                  <a:lnTo>
                    <a:pt x="53644" y="1693443"/>
                  </a:lnTo>
                  <a:lnTo>
                    <a:pt x="53644" y="1695970"/>
                  </a:lnTo>
                  <a:lnTo>
                    <a:pt x="64808" y="1707121"/>
                  </a:lnTo>
                  <a:lnTo>
                    <a:pt x="69837" y="1707121"/>
                  </a:lnTo>
                  <a:lnTo>
                    <a:pt x="81000" y="1695970"/>
                  </a:lnTo>
                  <a:lnTo>
                    <a:pt x="81000" y="1690928"/>
                  </a:lnTo>
                  <a:close/>
                </a:path>
                <a:path w="1785620" h="1833879">
                  <a:moveTo>
                    <a:pt x="179641" y="1800720"/>
                  </a:moveTo>
                  <a:lnTo>
                    <a:pt x="168478" y="1789569"/>
                  </a:lnTo>
                  <a:lnTo>
                    <a:pt x="163436" y="1789569"/>
                  </a:lnTo>
                  <a:lnTo>
                    <a:pt x="152285" y="1800720"/>
                  </a:lnTo>
                  <a:lnTo>
                    <a:pt x="152285" y="1803247"/>
                  </a:lnTo>
                  <a:lnTo>
                    <a:pt x="152285" y="1805762"/>
                  </a:lnTo>
                  <a:lnTo>
                    <a:pt x="163436" y="1816925"/>
                  </a:lnTo>
                  <a:lnTo>
                    <a:pt x="168478" y="1816925"/>
                  </a:lnTo>
                  <a:lnTo>
                    <a:pt x="179641" y="1805762"/>
                  </a:lnTo>
                  <a:lnTo>
                    <a:pt x="179641" y="1800720"/>
                  </a:lnTo>
                  <a:close/>
                </a:path>
                <a:path w="1785620" h="1833879">
                  <a:moveTo>
                    <a:pt x="211683" y="1430286"/>
                  </a:moveTo>
                  <a:lnTo>
                    <a:pt x="200520" y="1419123"/>
                  </a:lnTo>
                  <a:lnTo>
                    <a:pt x="195478" y="1419123"/>
                  </a:lnTo>
                  <a:lnTo>
                    <a:pt x="184327" y="1430286"/>
                  </a:lnTo>
                  <a:lnTo>
                    <a:pt x="184327" y="1432801"/>
                  </a:lnTo>
                  <a:lnTo>
                    <a:pt x="184327" y="1435328"/>
                  </a:lnTo>
                  <a:lnTo>
                    <a:pt x="195478" y="1446479"/>
                  </a:lnTo>
                  <a:lnTo>
                    <a:pt x="200520" y="1446479"/>
                  </a:lnTo>
                  <a:lnTo>
                    <a:pt x="211683" y="1435328"/>
                  </a:lnTo>
                  <a:lnTo>
                    <a:pt x="211683" y="1430286"/>
                  </a:lnTo>
                  <a:close/>
                </a:path>
                <a:path w="1785620" h="1833879">
                  <a:moveTo>
                    <a:pt x="215277" y="1324444"/>
                  </a:moveTo>
                  <a:lnTo>
                    <a:pt x="204127" y="1313281"/>
                  </a:lnTo>
                  <a:lnTo>
                    <a:pt x="199085" y="1313281"/>
                  </a:lnTo>
                  <a:lnTo>
                    <a:pt x="187921" y="1324444"/>
                  </a:lnTo>
                  <a:lnTo>
                    <a:pt x="187921" y="1326959"/>
                  </a:lnTo>
                  <a:lnTo>
                    <a:pt x="187921" y="1329486"/>
                  </a:lnTo>
                  <a:lnTo>
                    <a:pt x="199085" y="1340650"/>
                  </a:lnTo>
                  <a:lnTo>
                    <a:pt x="204127" y="1340650"/>
                  </a:lnTo>
                  <a:lnTo>
                    <a:pt x="215277" y="1329486"/>
                  </a:lnTo>
                  <a:lnTo>
                    <a:pt x="215277" y="1324444"/>
                  </a:lnTo>
                  <a:close/>
                </a:path>
                <a:path w="1785620" h="1833879">
                  <a:moveTo>
                    <a:pt x="234721" y="1141920"/>
                  </a:moveTo>
                  <a:lnTo>
                    <a:pt x="223558" y="1130769"/>
                  </a:lnTo>
                  <a:lnTo>
                    <a:pt x="218516" y="1130769"/>
                  </a:lnTo>
                  <a:lnTo>
                    <a:pt x="207365" y="1141920"/>
                  </a:lnTo>
                  <a:lnTo>
                    <a:pt x="207365" y="1144447"/>
                  </a:lnTo>
                  <a:lnTo>
                    <a:pt x="207365" y="1146962"/>
                  </a:lnTo>
                  <a:lnTo>
                    <a:pt x="218516" y="1158125"/>
                  </a:lnTo>
                  <a:lnTo>
                    <a:pt x="223558" y="1158125"/>
                  </a:lnTo>
                  <a:lnTo>
                    <a:pt x="234721" y="1146962"/>
                  </a:lnTo>
                  <a:lnTo>
                    <a:pt x="234721" y="1141920"/>
                  </a:lnTo>
                  <a:close/>
                </a:path>
                <a:path w="1785620" h="1833879">
                  <a:moveTo>
                    <a:pt x="248399" y="923759"/>
                  </a:moveTo>
                  <a:lnTo>
                    <a:pt x="237236" y="912609"/>
                  </a:lnTo>
                  <a:lnTo>
                    <a:pt x="232206" y="912609"/>
                  </a:lnTo>
                  <a:lnTo>
                    <a:pt x="221043" y="923759"/>
                  </a:lnTo>
                  <a:lnTo>
                    <a:pt x="221043" y="926287"/>
                  </a:lnTo>
                  <a:lnTo>
                    <a:pt x="221043" y="928801"/>
                  </a:lnTo>
                  <a:lnTo>
                    <a:pt x="232206" y="939965"/>
                  </a:lnTo>
                  <a:lnTo>
                    <a:pt x="237236" y="939965"/>
                  </a:lnTo>
                  <a:lnTo>
                    <a:pt x="248399" y="928801"/>
                  </a:lnTo>
                  <a:lnTo>
                    <a:pt x="248399" y="923759"/>
                  </a:lnTo>
                  <a:close/>
                </a:path>
                <a:path w="1785620" h="1833879">
                  <a:moveTo>
                    <a:pt x="257403" y="866521"/>
                  </a:moveTo>
                  <a:lnTo>
                    <a:pt x="246240" y="855370"/>
                  </a:lnTo>
                  <a:lnTo>
                    <a:pt x="241198" y="855370"/>
                  </a:lnTo>
                  <a:lnTo>
                    <a:pt x="230047" y="866521"/>
                  </a:lnTo>
                  <a:lnTo>
                    <a:pt x="230047" y="869048"/>
                  </a:lnTo>
                  <a:lnTo>
                    <a:pt x="230047" y="871562"/>
                  </a:lnTo>
                  <a:lnTo>
                    <a:pt x="241198" y="882726"/>
                  </a:lnTo>
                  <a:lnTo>
                    <a:pt x="246240" y="882726"/>
                  </a:lnTo>
                  <a:lnTo>
                    <a:pt x="257403" y="871562"/>
                  </a:lnTo>
                  <a:lnTo>
                    <a:pt x="257403" y="866521"/>
                  </a:lnTo>
                  <a:close/>
                </a:path>
                <a:path w="1785620" h="1833879">
                  <a:moveTo>
                    <a:pt x="273596" y="610565"/>
                  </a:moveTo>
                  <a:lnTo>
                    <a:pt x="262445" y="599401"/>
                  </a:lnTo>
                  <a:lnTo>
                    <a:pt x="257403" y="599401"/>
                  </a:lnTo>
                  <a:lnTo>
                    <a:pt x="246240" y="610565"/>
                  </a:lnTo>
                  <a:lnTo>
                    <a:pt x="246240" y="613079"/>
                  </a:lnTo>
                  <a:lnTo>
                    <a:pt x="246240" y="615607"/>
                  </a:lnTo>
                  <a:lnTo>
                    <a:pt x="257403" y="626770"/>
                  </a:lnTo>
                  <a:lnTo>
                    <a:pt x="262445" y="626770"/>
                  </a:lnTo>
                  <a:lnTo>
                    <a:pt x="273596" y="615607"/>
                  </a:lnTo>
                  <a:lnTo>
                    <a:pt x="273596" y="610565"/>
                  </a:lnTo>
                  <a:close/>
                </a:path>
                <a:path w="1785620" h="1833879">
                  <a:moveTo>
                    <a:pt x="305282" y="391325"/>
                  </a:moveTo>
                  <a:lnTo>
                    <a:pt x="294119" y="380161"/>
                  </a:lnTo>
                  <a:lnTo>
                    <a:pt x="289077" y="380161"/>
                  </a:lnTo>
                  <a:lnTo>
                    <a:pt x="277926" y="391325"/>
                  </a:lnTo>
                  <a:lnTo>
                    <a:pt x="277926" y="393839"/>
                  </a:lnTo>
                  <a:lnTo>
                    <a:pt x="277926" y="396367"/>
                  </a:lnTo>
                  <a:lnTo>
                    <a:pt x="289077" y="407530"/>
                  </a:lnTo>
                  <a:lnTo>
                    <a:pt x="294119" y="407530"/>
                  </a:lnTo>
                  <a:lnTo>
                    <a:pt x="305282" y="396367"/>
                  </a:lnTo>
                  <a:lnTo>
                    <a:pt x="305282" y="391325"/>
                  </a:lnTo>
                  <a:close/>
                </a:path>
                <a:path w="1785620" h="1833879">
                  <a:moveTo>
                    <a:pt x="334797" y="14401"/>
                  </a:moveTo>
                  <a:lnTo>
                    <a:pt x="323646" y="3251"/>
                  </a:lnTo>
                  <a:lnTo>
                    <a:pt x="318604" y="3251"/>
                  </a:lnTo>
                  <a:lnTo>
                    <a:pt x="307441" y="14401"/>
                  </a:lnTo>
                  <a:lnTo>
                    <a:pt x="307441" y="16929"/>
                  </a:lnTo>
                  <a:lnTo>
                    <a:pt x="307441" y="19443"/>
                  </a:lnTo>
                  <a:lnTo>
                    <a:pt x="318604" y="30607"/>
                  </a:lnTo>
                  <a:lnTo>
                    <a:pt x="323646" y="30607"/>
                  </a:lnTo>
                  <a:lnTo>
                    <a:pt x="334797" y="19443"/>
                  </a:lnTo>
                  <a:lnTo>
                    <a:pt x="334797" y="14401"/>
                  </a:lnTo>
                  <a:close/>
                </a:path>
                <a:path w="1785620" h="1833879">
                  <a:moveTo>
                    <a:pt x="341287" y="66243"/>
                  </a:moveTo>
                  <a:lnTo>
                    <a:pt x="330123" y="55079"/>
                  </a:lnTo>
                  <a:lnTo>
                    <a:pt x="325081" y="55079"/>
                  </a:lnTo>
                  <a:lnTo>
                    <a:pt x="313918" y="66243"/>
                  </a:lnTo>
                  <a:lnTo>
                    <a:pt x="313918" y="68770"/>
                  </a:lnTo>
                  <a:lnTo>
                    <a:pt x="313918" y="71285"/>
                  </a:lnTo>
                  <a:lnTo>
                    <a:pt x="325081" y="82448"/>
                  </a:lnTo>
                  <a:lnTo>
                    <a:pt x="330123" y="82448"/>
                  </a:lnTo>
                  <a:lnTo>
                    <a:pt x="341287" y="71285"/>
                  </a:lnTo>
                  <a:lnTo>
                    <a:pt x="341287" y="66243"/>
                  </a:lnTo>
                  <a:close/>
                </a:path>
                <a:path w="1785620" h="1833879">
                  <a:moveTo>
                    <a:pt x="380517" y="477367"/>
                  </a:moveTo>
                  <a:lnTo>
                    <a:pt x="369366" y="466204"/>
                  </a:lnTo>
                  <a:lnTo>
                    <a:pt x="364324" y="466204"/>
                  </a:lnTo>
                  <a:lnTo>
                    <a:pt x="353161" y="477367"/>
                  </a:lnTo>
                  <a:lnTo>
                    <a:pt x="353161" y="479882"/>
                  </a:lnTo>
                  <a:lnTo>
                    <a:pt x="353161" y="482409"/>
                  </a:lnTo>
                  <a:lnTo>
                    <a:pt x="364324" y="493560"/>
                  </a:lnTo>
                  <a:lnTo>
                    <a:pt x="369366" y="493560"/>
                  </a:lnTo>
                  <a:lnTo>
                    <a:pt x="380517" y="482409"/>
                  </a:lnTo>
                  <a:lnTo>
                    <a:pt x="380517" y="477367"/>
                  </a:lnTo>
                  <a:close/>
                </a:path>
                <a:path w="1785620" h="1833879">
                  <a:moveTo>
                    <a:pt x="383400" y="383400"/>
                  </a:moveTo>
                  <a:lnTo>
                    <a:pt x="372237" y="372249"/>
                  </a:lnTo>
                  <a:lnTo>
                    <a:pt x="367207" y="372249"/>
                  </a:lnTo>
                  <a:lnTo>
                    <a:pt x="356044" y="383400"/>
                  </a:lnTo>
                  <a:lnTo>
                    <a:pt x="356044" y="385927"/>
                  </a:lnTo>
                  <a:lnTo>
                    <a:pt x="356044" y="388442"/>
                  </a:lnTo>
                  <a:lnTo>
                    <a:pt x="367207" y="399605"/>
                  </a:lnTo>
                  <a:lnTo>
                    <a:pt x="372237" y="399605"/>
                  </a:lnTo>
                  <a:lnTo>
                    <a:pt x="383400" y="388442"/>
                  </a:lnTo>
                  <a:lnTo>
                    <a:pt x="383400" y="383400"/>
                  </a:lnTo>
                  <a:close/>
                </a:path>
                <a:path w="1785620" h="1833879">
                  <a:moveTo>
                    <a:pt x="442798" y="983881"/>
                  </a:moveTo>
                  <a:lnTo>
                    <a:pt x="431647" y="972731"/>
                  </a:lnTo>
                  <a:lnTo>
                    <a:pt x="426605" y="972731"/>
                  </a:lnTo>
                  <a:lnTo>
                    <a:pt x="415442" y="983881"/>
                  </a:lnTo>
                  <a:lnTo>
                    <a:pt x="415442" y="986409"/>
                  </a:lnTo>
                  <a:lnTo>
                    <a:pt x="415442" y="988923"/>
                  </a:lnTo>
                  <a:lnTo>
                    <a:pt x="426605" y="1000086"/>
                  </a:lnTo>
                  <a:lnTo>
                    <a:pt x="431647" y="1000086"/>
                  </a:lnTo>
                  <a:lnTo>
                    <a:pt x="442798" y="988923"/>
                  </a:lnTo>
                  <a:lnTo>
                    <a:pt x="442798" y="983881"/>
                  </a:lnTo>
                  <a:close/>
                </a:path>
                <a:path w="1785620" h="1833879">
                  <a:moveTo>
                    <a:pt x="443522" y="223926"/>
                  </a:moveTo>
                  <a:lnTo>
                    <a:pt x="432358" y="212763"/>
                  </a:lnTo>
                  <a:lnTo>
                    <a:pt x="427316" y="212763"/>
                  </a:lnTo>
                  <a:lnTo>
                    <a:pt x="416166" y="223926"/>
                  </a:lnTo>
                  <a:lnTo>
                    <a:pt x="416166" y="226441"/>
                  </a:lnTo>
                  <a:lnTo>
                    <a:pt x="416166" y="228968"/>
                  </a:lnTo>
                  <a:lnTo>
                    <a:pt x="427316" y="240118"/>
                  </a:lnTo>
                  <a:lnTo>
                    <a:pt x="432358" y="240118"/>
                  </a:lnTo>
                  <a:lnTo>
                    <a:pt x="443522" y="228968"/>
                  </a:lnTo>
                  <a:lnTo>
                    <a:pt x="443522" y="223926"/>
                  </a:lnTo>
                  <a:close/>
                </a:path>
                <a:path w="1785620" h="1833879">
                  <a:moveTo>
                    <a:pt x="471957" y="511568"/>
                  </a:moveTo>
                  <a:lnTo>
                    <a:pt x="460806" y="500405"/>
                  </a:lnTo>
                  <a:lnTo>
                    <a:pt x="455764" y="500405"/>
                  </a:lnTo>
                  <a:lnTo>
                    <a:pt x="444601" y="511568"/>
                  </a:lnTo>
                  <a:lnTo>
                    <a:pt x="444601" y="514083"/>
                  </a:lnTo>
                  <a:lnTo>
                    <a:pt x="444601" y="516610"/>
                  </a:lnTo>
                  <a:lnTo>
                    <a:pt x="455764" y="527761"/>
                  </a:lnTo>
                  <a:lnTo>
                    <a:pt x="460806" y="527761"/>
                  </a:lnTo>
                  <a:lnTo>
                    <a:pt x="471957" y="516610"/>
                  </a:lnTo>
                  <a:lnTo>
                    <a:pt x="471957" y="511568"/>
                  </a:lnTo>
                  <a:close/>
                </a:path>
                <a:path w="1785620" h="1833879">
                  <a:moveTo>
                    <a:pt x="476643" y="1321562"/>
                  </a:moveTo>
                  <a:lnTo>
                    <a:pt x="465480" y="1310411"/>
                  </a:lnTo>
                  <a:lnTo>
                    <a:pt x="461518" y="1310411"/>
                  </a:lnTo>
                  <a:lnTo>
                    <a:pt x="461886" y="1309687"/>
                  </a:lnTo>
                  <a:lnTo>
                    <a:pt x="462597" y="1307528"/>
                  </a:lnTo>
                  <a:lnTo>
                    <a:pt x="462597" y="1302486"/>
                  </a:lnTo>
                  <a:lnTo>
                    <a:pt x="451446" y="1291323"/>
                  </a:lnTo>
                  <a:lnTo>
                    <a:pt x="446405" y="1291323"/>
                  </a:lnTo>
                  <a:lnTo>
                    <a:pt x="435241" y="1302486"/>
                  </a:lnTo>
                  <a:lnTo>
                    <a:pt x="435241" y="1305001"/>
                  </a:lnTo>
                  <a:lnTo>
                    <a:pt x="435241" y="1307528"/>
                  </a:lnTo>
                  <a:lnTo>
                    <a:pt x="446405" y="1318679"/>
                  </a:lnTo>
                  <a:lnTo>
                    <a:pt x="450354" y="1318679"/>
                  </a:lnTo>
                  <a:lnTo>
                    <a:pt x="449999" y="1319403"/>
                  </a:lnTo>
                  <a:lnTo>
                    <a:pt x="449287" y="1321562"/>
                  </a:lnTo>
                  <a:lnTo>
                    <a:pt x="449287" y="1324089"/>
                  </a:lnTo>
                  <a:lnTo>
                    <a:pt x="449287" y="1326603"/>
                  </a:lnTo>
                  <a:lnTo>
                    <a:pt x="460438" y="1337767"/>
                  </a:lnTo>
                  <a:lnTo>
                    <a:pt x="465480" y="1337767"/>
                  </a:lnTo>
                  <a:lnTo>
                    <a:pt x="476643" y="1326603"/>
                  </a:lnTo>
                  <a:lnTo>
                    <a:pt x="476643" y="1321562"/>
                  </a:lnTo>
                  <a:close/>
                </a:path>
                <a:path w="1785620" h="1833879">
                  <a:moveTo>
                    <a:pt x="489966" y="573125"/>
                  </a:moveTo>
                  <a:lnTo>
                    <a:pt x="478802" y="561962"/>
                  </a:lnTo>
                  <a:lnTo>
                    <a:pt x="473760" y="561962"/>
                  </a:lnTo>
                  <a:lnTo>
                    <a:pt x="462597" y="573125"/>
                  </a:lnTo>
                  <a:lnTo>
                    <a:pt x="462597" y="575640"/>
                  </a:lnTo>
                  <a:lnTo>
                    <a:pt x="462597" y="578167"/>
                  </a:lnTo>
                  <a:lnTo>
                    <a:pt x="473760" y="589330"/>
                  </a:lnTo>
                  <a:lnTo>
                    <a:pt x="478802" y="589330"/>
                  </a:lnTo>
                  <a:lnTo>
                    <a:pt x="489966" y="578167"/>
                  </a:lnTo>
                  <a:lnTo>
                    <a:pt x="489966" y="573125"/>
                  </a:lnTo>
                  <a:close/>
                </a:path>
                <a:path w="1785620" h="1833879">
                  <a:moveTo>
                    <a:pt x="491756" y="711720"/>
                  </a:moveTo>
                  <a:lnTo>
                    <a:pt x="480606" y="700570"/>
                  </a:lnTo>
                  <a:lnTo>
                    <a:pt x="475564" y="700570"/>
                  </a:lnTo>
                  <a:lnTo>
                    <a:pt x="464400" y="711720"/>
                  </a:lnTo>
                  <a:lnTo>
                    <a:pt x="464400" y="714248"/>
                  </a:lnTo>
                  <a:lnTo>
                    <a:pt x="464400" y="716762"/>
                  </a:lnTo>
                  <a:lnTo>
                    <a:pt x="475564" y="727925"/>
                  </a:lnTo>
                  <a:lnTo>
                    <a:pt x="480606" y="727925"/>
                  </a:lnTo>
                  <a:lnTo>
                    <a:pt x="491756" y="716762"/>
                  </a:lnTo>
                  <a:lnTo>
                    <a:pt x="491756" y="711720"/>
                  </a:lnTo>
                  <a:close/>
                </a:path>
                <a:path w="1785620" h="1833879">
                  <a:moveTo>
                    <a:pt x="508317" y="1765084"/>
                  </a:moveTo>
                  <a:lnTo>
                    <a:pt x="497166" y="1753920"/>
                  </a:lnTo>
                  <a:lnTo>
                    <a:pt x="492125" y="1753920"/>
                  </a:lnTo>
                  <a:lnTo>
                    <a:pt x="480961" y="1765084"/>
                  </a:lnTo>
                  <a:lnTo>
                    <a:pt x="480961" y="1767611"/>
                  </a:lnTo>
                  <a:lnTo>
                    <a:pt x="480961" y="1770126"/>
                  </a:lnTo>
                  <a:lnTo>
                    <a:pt x="492125" y="1781289"/>
                  </a:lnTo>
                  <a:lnTo>
                    <a:pt x="497166" y="1781289"/>
                  </a:lnTo>
                  <a:lnTo>
                    <a:pt x="508317" y="1770126"/>
                  </a:lnTo>
                  <a:lnTo>
                    <a:pt x="508317" y="1765084"/>
                  </a:lnTo>
                  <a:close/>
                </a:path>
                <a:path w="1785620" h="1833879">
                  <a:moveTo>
                    <a:pt x="521284" y="885609"/>
                  </a:moveTo>
                  <a:lnTo>
                    <a:pt x="510120" y="874445"/>
                  </a:lnTo>
                  <a:lnTo>
                    <a:pt x="505079" y="874445"/>
                  </a:lnTo>
                  <a:lnTo>
                    <a:pt x="493915" y="885609"/>
                  </a:lnTo>
                  <a:lnTo>
                    <a:pt x="493915" y="888123"/>
                  </a:lnTo>
                  <a:lnTo>
                    <a:pt x="493915" y="890651"/>
                  </a:lnTo>
                  <a:lnTo>
                    <a:pt x="505079" y="901801"/>
                  </a:lnTo>
                  <a:lnTo>
                    <a:pt x="510120" y="901801"/>
                  </a:lnTo>
                  <a:lnTo>
                    <a:pt x="521284" y="890651"/>
                  </a:lnTo>
                  <a:lnTo>
                    <a:pt x="521284" y="885609"/>
                  </a:lnTo>
                  <a:close/>
                </a:path>
                <a:path w="1785620" h="1833879">
                  <a:moveTo>
                    <a:pt x="531723" y="1112050"/>
                  </a:moveTo>
                  <a:lnTo>
                    <a:pt x="520560" y="1100886"/>
                  </a:lnTo>
                  <a:lnTo>
                    <a:pt x="515518" y="1100886"/>
                  </a:lnTo>
                  <a:lnTo>
                    <a:pt x="504367" y="1112050"/>
                  </a:lnTo>
                  <a:lnTo>
                    <a:pt x="504367" y="1114564"/>
                  </a:lnTo>
                  <a:lnTo>
                    <a:pt x="504367" y="1117079"/>
                  </a:lnTo>
                  <a:lnTo>
                    <a:pt x="515518" y="1128242"/>
                  </a:lnTo>
                  <a:lnTo>
                    <a:pt x="520560" y="1128242"/>
                  </a:lnTo>
                  <a:lnTo>
                    <a:pt x="531723" y="1117079"/>
                  </a:lnTo>
                  <a:lnTo>
                    <a:pt x="531723" y="1112050"/>
                  </a:lnTo>
                  <a:close/>
                </a:path>
                <a:path w="1785620" h="1833879">
                  <a:moveTo>
                    <a:pt x="588962" y="1686966"/>
                  </a:moveTo>
                  <a:lnTo>
                    <a:pt x="577799" y="1675803"/>
                  </a:lnTo>
                  <a:lnTo>
                    <a:pt x="572757" y="1675803"/>
                  </a:lnTo>
                  <a:lnTo>
                    <a:pt x="561606" y="1686966"/>
                  </a:lnTo>
                  <a:lnTo>
                    <a:pt x="561606" y="1689481"/>
                  </a:lnTo>
                  <a:lnTo>
                    <a:pt x="561606" y="1692008"/>
                  </a:lnTo>
                  <a:lnTo>
                    <a:pt x="572757" y="1703158"/>
                  </a:lnTo>
                  <a:lnTo>
                    <a:pt x="577799" y="1703158"/>
                  </a:lnTo>
                  <a:lnTo>
                    <a:pt x="588962" y="1692008"/>
                  </a:lnTo>
                  <a:lnTo>
                    <a:pt x="588962" y="1686966"/>
                  </a:lnTo>
                  <a:close/>
                </a:path>
                <a:path w="1785620" h="1833879">
                  <a:moveTo>
                    <a:pt x="603364" y="1711083"/>
                  </a:moveTo>
                  <a:lnTo>
                    <a:pt x="592201" y="1699920"/>
                  </a:lnTo>
                  <a:lnTo>
                    <a:pt x="587159" y="1699920"/>
                  </a:lnTo>
                  <a:lnTo>
                    <a:pt x="575995" y="1711083"/>
                  </a:lnTo>
                  <a:lnTo>
                    <a:pt x="575995" y="1713611"/>
                  </a:lnTo>
                  <a:lnTo>
                    <a:pt x="575995" y="1716125"/>
                  </a:lnTo>
                  <a:lnTo>
                    <a:pt x="587159" y="1727288"/>
                  </a:lnTo>
                  <a:lnTo>
                    <a:pt x="592201" y="1727288"/>
                  </a:lnTo>
                  <a:lnTo>
                    <a:pt x="603364" y="1716125"/>
                  </a:lnTo>
                  <a:lnTo>
                    <a:pt x="603364" y="1711083"/>
                  </a:lnTo>
                  <a:close/>
                </a:path>
                <a:path w="1785620" h="1833879">
                  <a:moveTo>
                    <a:pt x="651598" y="1271879"/>
                  </a:moveTo>
                  <a:lnTo>
                    <a:pt x="640435" y="1260729"/>
                  </a:lnTo>
                  <a:lnTo>
                    <a:pt x="635406" y="1260729"/>
                  </a:lnTo>
                  <a:lnTo>
                    <a:pt x="624243" y="1271879"/>
                  </a:lnTo>
                  <a:lnTo>
                    <a:pt x="624243" y="1274406"/>
                  </a:lnTo>
                  <a:lnTo>
                    <a:pt x="624243" y="1276921"/>
                  </a:lnTo>
                  <a:lnTo>
                    <a:pt x="635406" y="1288084"/>
                  </a:lnTo>
                  <a:lnTo>
                    <a:pt x="640435" y="1288084"/>
                  </a:lnTo>
                  <a:lnTo>
                    <a:pt x="651598" y="1276921"/>
                  </a:lnTo>
                  <a:lnTo>
                    <a:pt x="651598" y="1271879"/>
                  </a:lnTo>
                  <a:close/>
                </a:path>
                <a:path w="1785620" h="1833879">
                  <a:moveTo>
                    <a:pt x="777963" y="11163"/>
                  </a:moveTo>
                  <a:lnTo>
                    <a:pt x="766800" y="0"/>
                  </a:lnTo>
                  <a:lnTo>
                    <a:pt x="761758" y="0"/>
                  </a:lnTo>
                  <a:lnTo>
                    <a:pt x="750608" y="11163"/>
                  </a:lnTo>
                  <a:lnTo>
                    <a:pt x="750608" y="13690"/>
                  </a:lnTo>
                  <a:lnTo>
                    <a:pt x="750608" y="16205"/>
                  </a:lnTo>
                  <a:lnTo>
                    <a:pt x="761758" y="27368"/>
                  </a:lnTo>
                  <a:lnTo>
                    <a:pt x="766800" y="27368"/>
                  </a:lnTo>
                  <a:lnTo>
                    <a:pt x="777963" y="16205"/>
                  </a:lnTo>
                  <a:lnTo>
                    <a:pt x="777963" y="11163"/>
                  </a:lnTo>
                  <a:close/>
                </a:path>
                <a:path w="1785620" h="1833879">
                  <a:moveTo>
                    <a:pt x="783717" y="187566"/>
                  </a:moveTo>
                  <a:lnTo>
                    <a:pt x="772566" y="176403"/>
                  </a:lnTo>
                  <a:lnTo>
                    <a:pt x="767524" y="176403"/>
                  </a:lnTo>
                  <a:lnTo>
                    <a:pt x="756361" y="187566"/>
                  </a:lnTo>
                  <a:lnTo>
                    <a:pt x="756361" y="190080"/>
                  </a:lnTo>
                  <a:lnTo>
                    <a:pt x="756361" y="192608"/>
                  </a:lnTo>
                  <a:lnTo>
                    <a:pt x="767524" y="203758"/>
                  </a:lnTo>
                  <a:lnTo>
                    <a:pt x="772566" y="203758"/>
                  </a:lnTo>
                  <a:lnTo>
                    <a:pt x="783717" y="192608"/>
                  </a:lnTo>
                  <a:lnTo>
                    <a:pt x="783717" y="187566"/>
                  </a:lnTo>
                  <a:close/>
                </a:path>
                <a:path w="1785620" h="1833879">
                  <a:moveTo>
                    <a:pt x="846366" y="699122"/>
                  </a:moveTo>
                  <a:lnTo>
                    <a:pt x="835202" y="687959"/>
                  </a:lnTo>
                  <a:lnTo>
                    <a:pt x="830160" y="687959"/>
                  </a:lnTo>
                  <a:lnTo>
                    <a:pt x="818997" y="699122"/>
                  </a:lnTo>
                  <a:lnTo>
                    <a:pt x="818997" y="701649"/>
                  </a:lnTo>
                  <a:lnTo>
                    <a:pt x="818997" y="704164"/>
                  </a:lnTo>
                  <a:lnTo>
                    <a:pt x="819721" y="706323"/>
                  </a:lnTo>
                  <a:lnTo>
                    <a:pt x="821880" y="710641"/>
                  </a:lnTo>
                  <a:lnTo>
                    <a:pt x="823683" y="712444"/>
                  </a:lnTo>
                  <a:lnTo>
                    <a:pt x="827278" y="714248"/>
                  </a:lnTo>
                  <a:lnTo>
                    <a:pt x="826198" y="713879"/>
                  </a:lnTo>
                  <a:lnTo>
                    <a:pt x="821156" y="713879"/>
                  </a:lnTo>
                  <a:lnTo>
                    <a:pt x="818997" y="714603"/>
                  </a:lnTo>
                  <a:lnTo>
                    <a:pt x="814679" y="716762"/>
                  </a:lnTo>
                  <a:lnTo>
                    <a:pt x="812876" y="718566"/>
                  </a:lnTo>
                  <a:lnTo>
                    <a:pt x="810717" y="722884"/>
                  </a:lnTo>
                  <a:lnTo>
                    <a:pt x="810006" y="725043"/>
                  </a:lnTo>
                  <a:lnTo>
                    <a:pt x="810006" y="727570"/>
                  </a:lnTo>
                  <a:lnTo>
                    <a:pt x="810006" y="730084"/>
                  </a:lnTo>
                  <a:lnTo>
                    <a:pt x="821156" y="741248"/>
                  </a:lnTo>
                  <a:lnTo>
                    <a:pt x="826198" y="741248"/>
                  </a:lnTo>
                  <a:lnTo>
                    <a:pt x="837361" y="730084"/>
                  </a:lnTo>
                  <a:lnTo>
                    <a:pt x="837361" y="725043"/>
                  </a:lnTo>
                  <a:lnTo>
                    <a:pt x="836637" y="722884"/>
                  </a:lnTo>
                  <a:lnTo>
                    <a:pt x="834478" y="718566"/>
                  </a:lnTo>
                  <a:lnTo>
                    <a:pt x="832688" y="716762"/>
                  </a:lnTo>
                  <a:lnTo>
                    <a:pt x="829081" y="714971"/>
                  </a:lnTo>
                  <a:lnTo>
                    <a:pt x="830160" y="715327"/>
                  </a:lnTo>
                  <a:lnTo>
                    <a:pt x="835202" y="715327"/>
                  </a:lnTo>
                  <a:lnTo>
                    <a:pt x="837361" y="714603"/>
                  </a:lnTo>
                  <a:lnTo>
                    <a:pt x="841679" y="712444"/>
                  </a:lnTo>
                  <a:lnTo>
                    <a:pt x="843483" y="710641"/>
                  </a:lnTo>
                  <a:lnTo>
                    <a:pt x="845642" y="706323"/>
                  </a:lnTo>
                  <a:lnTo>
                    <a:pt x="846366" y="704164"/>
                  </a:lnTo>
                  <a:lnTo>
                    <a:pt x="846366" y="699122"/>
                  </a:lnTo>
                  <a:close/>
                </a:path>
                <a:path w="1785620" h="1833879">
                  <a:moveTo>
                    <a:pt x="876236" y="999007"/>
                  </a:moveTo>
                  <a:lnTo>
                    <a:pt x="865073" y="987844"/>
                  </a:lnTo>
                  <a:lnTo>
                    <a:pt x="860044" y="987844"/>
                  </a:lnTo>
                  <a:lnTo>
                    <a:pt x="848880" y="999007"/>
                  </a:lnTo>
                  <a:lnTo>
                    <a:pt x="848880" y="1001522"/>
                  </a:lnTo>
                  <a:lnTo>
                    <a:pt x="848880" y="1004049"/>
                  </a:lnTo>
                  <a:lnTo>
                    <a:pt x="860044" y="1015199"/>
                  </a:lnTo>
                  <a:lnTo>
                    <a:pt x="865073" y="1015199"/>
                  </a:lnTo>
                  <a:lnTo>
                    <a:pt x="876236" y="1004049"/>
                  </a:lnTo>
                  <a:lnTo>
                    <a:pt x="876236" y="999007"/>
                  </a:lnTo>
                  <a:close/>
                </a:path>
                <a:path w="1785620" h="1833879">
                  <a:moveTo>
                    <a:pt x="915123" y="1386725"/>
                  </a:moveTo>
                  <a:lnTo>
                    <a:pt x="903960" y="1375562"/>
                  </a:lnTo>
                  <a:lnTo>
                    <a:pt x="898918" y="1375562"/>
                  </a:lnTo>
                  <a:lnTo>
                    <a:pt x="887755" y="1386725"/>
                  </a:lnTo>
                  <a:lnTo>
                    <a:pt x="887755" y="1389240"/>
                  </a:lnTo>
                  <a:lnTo>
                    <a:pt x="887755" y="1391767"/>
                  </a:lnTo>
                  <a:lnTo>
                    <a:pt x="898918" y="1402930"/>
                  </a:lnTo>
                  <a:lnTo>
                    <a:pt x="903960" y="1402930"/>
                  </a:lnTo>
                  <a:lnTo>
                    <a:pt x="915123" y="1391767"/>
                  </a:lnTo>
                  <a:lnTo>
                    <a:pt x="915123" y="1386725"/>
                  </a:lnTo>
                  <a:close/>
                </a:path>
                <a:path w="1785620" h="1833879">
                  <a:moveTo>
                    <a:pt x="915479" y="1512722"/>
                  </a:moveTo>
                  <a:lnTo>
                    <a:pt x="904316" y="1501559"/>
                  </a:lnTo>
                  <a:lnTo>
                    <a:pt x="899287" y="1501559"/>
                  </a:lnTo>
                  <a:lnTo>
                    <a:pt x="888123" y="1512722"/>
                  </a:lnTo>
                  <a:lnTo>
                    <a:pt x="888123" y="1515249"/>
                  </a:lnTo>
                  <a:lnTo>
                    <a:pt x="888123" y="1517764"/>
                  </a:lnTo>
                  <a:lnTo>
                    <a:pt x="899287" y="1528927"/>
                  </a:lnTo>
                  <a:lnTo>
                    <a:pt x="904316" y="1528927"/>
                  </a:lnTo>
                  <a:lnTo>
                    <a:pt x="915479" y="1517764"/>
                  </a:lnTo>
                  <a:lnTo>
                    <a:pt x="915479" y="1512722"/>
                  </a:lnTo>
                  <a:close/>
                </a:path>
                <a:path w="1785620" h="1833879">
                  <a:moveTo>
                    <a:pt x="943559" y="901801"/>
                  </a:moveTo>
                  <a:lnTo>
                    <a:pt x="932395" y="890651"/>
                  </a:lnTo>
                  <a:lnTo>
                    <a:pt x="927366" y="890651"/>
                  </a:lnTo>
                  <a:lnTo>
                    <a:pt x="916203" y="901801"/>
                  </a:lnTo>
                  <a:lnTo>
                    <a:pt x="916203" y="904328"/>
                  </a:lnTo>
                  <a:lnTo>
                    <a:pt x="916203" y="906843"/>
                  </a:lnTo>
                  <a:lnTo>
                    <a:pt x="927366" y="918006"/>
                  </a:lnTo>
                  <a:lnTo>
                    <a:pt x="932395" y="918006"/>
                  </a:lnTo>
                  <a:lnTo>
                    <a:pt x="943559" y="906843"/>
                  </a:lnTo>
                  <a:lnTo>
                    <a:pt x="943559" y="901801"/>
                  </a:lnTo>
                  <a:close/>
                </a:path>
                <a:path w="1785620" h="1833879">
                  <a:moveTo>
                    <a:pt x="962279" y="1089367"/>
                  </a:moveTo>
                  <a:lnTo>
                    <a:pt x="951115" y="1078204"/>
                  </a:lnTo>
                  <a:lnTo>
                    <a:pt x="946086" y="1078204"/>
                  </a:lnTo>
                  <a:lnTo>
                    <a:pt x="934923" y="1089367"/>
                  </a:lnTo>
                  <a:lnTo>
                    <a:pt x="934923" y="1091882"/>
                  </a:lnTo>
                  <a:lnTo>
                    <a:pt x="934923" y="1094409"/>
                  </a:lnTo>
                  <a:lnTo>
                    <a:pt x="946086" y="1105560"/>
                  </a:lnTo>
                  <a:lnTo>
                    <a:pt x="951115" y="1105560"/>
                  </a:lnTo>
                  <a:lnTo>
                    <a:pt x="962279" y="1094409"/>
                  </a:lnTo>
                  <a:lnTo>
                    <a:pt x="962279" y="1089367"/>
                  </a:lnTo>
                  <a:close/>
                </a:path>
                <a:path w="1785620" h="1833879">
                  <a:moveTo>
                    <a:pt x="1005116" y="1514525"/>
                  </a:moveTo>
                  <a:lnTo>
                    <a:pt x="993965" y="1503362"/>
                  </a:lnTo>
                  <a:lnTo>
                    <a:pt x="988923" y="1503362"/>
                  </a:lnTo>
                  <a:lnTo>
                    <a:pt x="977760" y="1514525"/>
                  </a:lnTo>
                  <a:lnTo>
                    <a:pt x="977760" y="1517040"/>
                  </a:lnTo>
                  <a:lnTo>
                    <a:pt x="977760" y="1519567"/>
                  </a:lnTo>
                  <a:lnTo>
                    <a:pt x="988923" y="1530731"/>
                  </a:lnTo>
                  <a:lnTo>
                    <a:pt x="993965" y="1530731"/>
                  </a:lnTo>
                  <a:lnTo>
                    <a:pt x="1005116" y="1519567"/>
                  </a:lnTo>
                  <a:lnTo>
                    <a:pt x="1005116" y="1514525"/>
                  </a:lnTo>
                  <a:close/>
                </a:path>
                <a:path w="1785620" h="1833879">
                  <a:moveTo>
                    <a:pt x="1032484" y="1789925"/>
                  </a:moveTo>
                  <a:lnTo>
                    <a:pt x="1021321" y="1778762"/>
                  </a:lnTo>
                  <a:lnTo>
                    <a:pt x="1016279" y="1778762"/>
                  </a:lnTo>
                  <a:lnTo>
                    <a:pt x="1005116" y="1789925"/>
                  </a:lnTo>
                  <a:lnTo>
                    <a:pt x="1005116" y="1792439"/>
                  </a:lnTo>
                  <a:lnTo>
                    <a:pt x="1005116" y="1794967"/>
                  </a:lnTo>
                  <a:lnTo>
                    <a:pt x="1016279" y="1806130"/>
                  </a:lnTo>
                  <a:lnTo>
                    <a:pt x="1021321" y="1806130"/>
                  </a:lnTo>
                  <a:lnTo>
                    <a:pt x="1032484" y="1794967"/>
                  </a:lnTo>
                  <a:lnTo>
                    <a:pt x="1032484" y="1789925"/>
                  </a:lnTo>
                  <a:close/>
                </a:path>
                <a:path w="1785620" h="1833879">
                  <a:moveTo>
                    <a:pt x="1144803" y="151206"/>
                  </a:moveTo>
                  <a:lnTo>
                    <a:pt x="1133640" y="140042"/>
                  </a:lnTo>
                  <a:lnTo>
                    <a:pt x="1128598" y="140042"/>
                  </a:lnTo>
                  <a:lnTo>
                    <a:pt x="1117447" y="151206"/>
                  </a:lnTo>
                  <a:lnTo>
                    <a:pt x="1117447" y="153720"/>
                  </a:lnTo>
                  <a:lnTo>
                    <a:pt x="1117447" y="156248"/>
                  </a:lnTo>
                  <a:lnTo>
                    <a:pt x="1128598" y="167411"/>
                  </a:lnTo>
                  <a:lnTo>
                    <a:pt x="1133640" y="167411"/>
                  </a:lnTo>
                  <a:lnTo>
                    <a:pt x="1144803" y="156248"/>
                  </a:lnTo>
                  <a:lnTo>
                    <a:pt x="1144803" y="151206"/>
                  </a:lnTo>
                  <a:close/>
                </a:path>
                <a:path w="1785620" h="1833879">
                  <a:moveTo>
                    <a:pt x="1149845" y="322199"/>
                  </a:moveTo>
                  <a:lnTo>
                    <a:pt x="1138682" y="311048"/>
                  </a:lnTo>
                  <a:lnTo>
                    <a:pt x="1133640" y="311048"/>
                  </a:lnTo>
                  <a:lnTo>
                    <a:pt x="1122476" y="322199"/>
                  </a:lnTo>
                  <a:lnTo>
                    <a:pt x="1122476" y="324726"/>
                  </a:lnTo>
                  <a:lnTo>
                    <a:pt x="1122476" y="327240"/>
                  </a:lnTo>
                  <a:lnTo>
                    <a:pt x="1133640" y="338404"/>
                  </a:lnTo>
                  <a:lnTo>
                    <a:pt x="1138682" y="338404"/>
                  </a:lnTo>
                  <a:lnTo>
                    <a:pt x="1149845" y="327240"/>
                  </a:lnTo>
                  <a:lnTo>
                    <a:pt x="1149845" y="322199"/>
                  </a:lnTo>
                  <a:close/>
                </a:path>
                <a:path w="1785620" h="1833879">
                  <a:moveTo>
                    <a:pt x="1179004" y="501484"/>
                  </a:moveTo>
                  <a:lnTo>
                    <a:pt x="1167841" y="490321"/>
                  </a:lnTo>
                  <a:lnTo>
                    <a:pt x="1162799" y="490321"/>
                  </a:lnTo>
                  <a:lnTo>
                    <a:pt x="1151636" y="501484"/>
                  </a:lnTo>
                  <a:lnTo>
                    <a:pt x="1151636" y="503999"/>
                  </a:lnTo>
                  <a:lnTo>
                    <a:pt x="1151636" y="506526"/>
                  </a:lnTo>
                  <a:lnTo>
                    <a:pt x="1162799" y="517690"/>
                  </a:lnTo>
                  <a:lnTo>
                    <a:pt x="1167841" y="517690"/>
                  </a:lnTo>
                  <a:lnTo>
                    <a:pt x="1179004" y="506526"/>
                  </a:lnTo>
                  <a:lnTo>
                    <a:pt x="1179004" y="501484"/>
                  </a:lnTo>
                  <a:close/>
                </a:path>
                <a:path w="1785620" h="1833879">
                  <a:moveTo>
                    <a:pt x="1184402" y="672490"/>
                  </a:moveTo>
                  <a:lnTo>
                    <a:pt x="1173238" y="661327"/>
                  </a:lnTo>
                  <a:lnTo>
                    <a:pt x="1168196" y="661327"/>
                  </a:lnTo>
                  <a:lnTo>
                    <a:pt x="1157046" y="672490"/>
                  </a:lnTo>
                  <a:lnTo>
                    <a:pt x="1157046" y="675005"/>
                  </a:lnTo>
                  <a:lnTo>
                    <a:pt x="1157046" y="677519"/>
                  </a:lnTo>
                  <a:lnTo>
                    <a:pt x="1168196" y="688682"/>
                  </a:lnTo>
                  <a:lnTo>
                    <a:pt x="1173238" y="688682"/>
                  </a:lnTo>
                  <a:lnTo>
                    <a:pt x="1184402" y="677519"/>
                  </a:lnTo>
                  <a:lnTo>
                    <a:pt x="1184402" y="672490"/>
                  </a:lnTo>
                  <a:close/>
                </a:path>
                <a:path w="1785620" h="1833879">
                  <a:moveTo>
                    <a:pt x="1216444" y="1766519"/>
                  </a:moveTo>
                  <a:lnTo>
                    <a:pt x="1205280" y="1755368"/>
                  </a:lnTo>
                  <a:lnTo>
                    <a:pt x="1200238" y="1755368"/>
                  </a:lnTo>
                  <a:lnTo>
                    <a:pt x="1189075" y="1766519"/>
                  </a:lnTo>
                  <a:lnTo>
                    <a:pt x="1189075" y="1769046"/>
                  </a:lnTo>
                  <a:lnTo>
                    <a:pt x="1189075" y="1771561"/>
                  </a:lnTo>
                  <a:lnTo>
                    <a:pt x="1200238" y="1782724"/>
                  </a:lnTo>
                  <a:lnTo>
                    <a:pt x="1205280" y="1782724"/>
                  </a:lnTo>
                  <a:lnTo>
                    <a:pt x="1216444" y="1771561"/>
                  </a:lnTo>
                  <a:lnTo>
                    <a:pt x="1216444" y="1766519"/>
                  </a:lnTo>
                  <a:close/>
                </a:path>
                <a:path w="1785620" h="1833879">
                  <a:moveTo>
                    <a:pt x="1221486" y="926642"/>
                  </a:moveTo>
                  <a:lnTo>
                    <a:pt x="1210322" y="915479"/>
                  </a:lnTo>
                  <a:lnTo>
                    <a:pt x="1205280" y="915479"/>
                  </a:lnTo>
                  <a:lnTo>
                    <a:pt x="1194117" y="926642"/>
                  </a:lnTo>
                  <a:lnTo>
                    <a:pt x="1194117" y="929170"/>
                  </a:lnTo>
                  <a:lnTo>
                    <a:pt x="1194117" y="931684"/>
                  </a:lnTo>
                  <a:lnTo>
                    <a:pt x="1205280" y="942848"/>
                  </a:lnTo>
                  <a:lnTo>
                    <a:pt x="1210322" y="942848"/>
                  </a:lnTo>
                  <a:lnTo>
                    <a:pt x="1221486" y="931684"/>
                  </a:lnTo>
                  <a:lnTo>
                    <a:pt x="1221486" y="926642"/>
                  </a:lnTo>
                  <a:close/>
                </a:path>
                <a:path w="1785620" h="1833879">
                  <a:moveTo>
                    <a:pt x="1227963" y="1532890"/>
                  </a:moveTo>
                  <a:lnTo>
                    <a:pt x="1216799" y="1521726"/>
                  </a:lnTo>
                  <a:lnTo>
                    <a:pt x="1211757" y="1521726"/>
                  </a:lnTo>
                  <a:lnTo>
                    <a:pt x="1200607" y="1532890"/>
                  </a:lnTo>
                  <a:lnTo>
                    <a:pt x="1200607" y="1535404"/>
                  </a:lnTo>
                  <a:lnTo>
                    <a:pt x="1200607" y="1537919"/>
                  </a:lnTo>
                  <a:lnTo>
                    <a:pt x="1211757" y="1549082"/>
                  </a:lnTo>
                  <a:lnTo>
                    <a:pt x="1216799" y="1549082"/>
                  </a:lnTo>
                  <a:lnTo>
                    <a:pt x="1227963" y="1537919"/>
                  </a:lnTo>
                  <a:lnTo>
                    <a:pt x="1227963" y="1532890"/>
                  </a:lnTo>
                  <a:close/>
                </a:path>
                <a:path w="1785620" h="1833879">
                  <a:moveTo>
                    <a:pt x="1245247" y="1297800"/>
                  </a:moveTo>
                  <a:lnTo>
                    <a:pt x="1234084" y="1286649"/>
                  </a:lnTo>
                  <a:lnTo>
                    <a:pt x="1229042" y="1286649"/>
                  </a:lnTo>
                  <a:lnTo>
                    <a:pt x="1217879" y="1297800"/>
                  </a:lnTo>
                  <a:lnTo>
                    <a:pt x="1217879" y="1300327"/>
                  </a:lnTo>
                  <a:lnTo>
                    <a:pt x="1217879" y="1302842"/>
                  </a:lnTo>
                  <a:lnTo>
                    <a:pt x="1229042" y="1314005"/>
                  </a:lnTo>
                  <a:lnTo>
                    <a:pt x="1234084" y="1314005"/>
                  </a:lnTo>
                  <a:lnTo>
                    <a:pt x="1245247" y="1302842"/>
                  </a:lnTo>
                  <a:lnTo>
                    <a:pt x="1245247" y="1297800"/>
                  </a:lnTo>
                  <a:close/>
                </a:path>
                <a:path w="1785620" h="1833879">
                  <a:moveTo>
                    <a:pt x="1263243" y="1182611"/>
                  </a:moveTo>
                  <a:lnTo>
                    <a:pt x="1252080" y="1171448"/>
                  </a:lnTo>
                  <a:lnTo>
                    <a:pt x="1247038" y="1171448"/>
                  </a:lnTo>
                  <a:lnTo>
                    <a:pt x="1244879" y="1172159"/>
                  </a:lnTo>
                  <a:lnTo>
                    <a:pt x="1243926" y="1172641"/>
                  </a:lnTo>
                  <a:lnTo>
                    <a:pt x="1244523" y="1171448"/>
                  </a:lnTo>
                  <a:lnTo>
                    <a:pt x="1245247" y="1169289"/>
                  </a:lnTo>
                  <a:lnTo>
                    <a:pt x="1245247" y="1164247"/>
                  </a:lnTo>
                  <a:lnTo>
                    <a:pt x="1234084" y="1153083"/>
                  </a:lnTo>
                  <a:lnTo>
                    <a:pt x="1229042" y="1153083"/>
                  </a:lnTo>
                  <a:lnTo>
                    <a:pt x="1217879" y="1164247"/>
                  </a:lnTo>
                  <a:lnTo>
                    <a:pt x="1217879" y="1166761"/>
                  </a:lnTo>
                  <a:lnTo>
                    <a:pt x="1217879" y="1169289"/>
                  </a:lnTo>
                  <a:lnTo>
                    <a:pt x="1229042" y="1180439"/>
                  </a:lnTo>
                  <a:lnTo>
                    <a:pt x="1234084" y="1180439"/>
                  </a:lnTo>
                  <a:lnTo>
                    <a:pt x="1236243" y="1179728"/>
                  </a:lnTo>
                  <a:lnTo>
                    <a:pt x="1237183" y="1179258"/>
                  </a:lnTo>
                  <a:lnTo>
                    <a:pt x="1236599" y="1180439"/>
                  </a:lnTo>
                  <a:lnTo>
                    <a:pt x="1235887" y="1182611"/>
                  </a:lnTo>
                  <a:lnTo>
                    <a:pt x="1235887" y="1185125"/>
                  </a:lnTo>
                  <a:lnTo>
                    <a:pt x="1235887" y="1187640"/>
                  </a:lnTo>
                  <a:lnTo>
                    <a:pt x="1247038" y="1198803"/>
                  </a:lnTo>
                  <a:lnTo>
                    <a:pt x="1252080" y="1198803"/>
                  </a:lnTo>
                  <a:lnTo>
                    <a:pt x="1263243" y="1187640"/>
                  </a:lnTo>
                  <a:lnTo>
                    <a:pt x="1263243" y="1182611"/>
                  </a:lnTo>
                  <a:close/>
                </a:path>
                <a:path w="1785620" h="1833879">
                  <a:moveTo>
                    <a:pt x="1282319" y="1680845"/>
                  </a:moveTo>
                  <a:lnTo>
                    <a:pt x="1271155" y="1669681"/>
                  </a:lnTo>
                  <a:lnTo>
                    <a:pt x="1266126" y="1669681"/>
                  </a:lnTo>
                  <a:lnTo>
                    <a:pt x="1254963" y="1680845"/>
                  </a:lnTo>
                  <a:lnTo>
                    <a:pt x="1254963" y="1683359"/>
                  </a:lnTo>
                  <a:lnTo>
                    <a:pt x="1254963" y="1685886"/>
                  </a:lnTo>
                  <a:lnTo>
                    <a:pt x="1266126" y="1697050"/>
                  </a:lnTo>
                  <a:lnTo>
                    <a:pt x="1271155" y="1697050"/>
                  </a:lnTo>
                  <a:lnTo>
                    <a:pt x="1282319" y="1685886"/>
                  </a:lnTo>
                  <a:lnTo>
                    <a:pt x="1282319" y="1680845"/>
                  </a:lnTo>
                  <a:close/>
                </a:path>
                <a:path w="1785620" h="1833879">
                  <a:moveTo>
                    <a:pt x="1284478" y="1564208"/>
                  </a:moveTo>
                  <a:lnTo>
                    <a:pt x="1273327" y="1553044"/>
                  </a:lnTo>
                  <a:lnTo>
                    <a:pt x="1268285" y="1553044"/>
                  </a:lnTo>
                  <a:lnTo>
                    <a:pt x="1257122" y="1564208"/>
                  </a:lnTo>
                  <a:lnTo>
                    <a:pt x="1257122" y="1566722"/>
                  </a:lnTo>
                  <a:lnTo>
                    <a:pt x="1257122" y="1569250"/>
                  </a:lnTo>
                  <a:lnTo>
                    <a:pt x="1268285" y="1580400"/>
                  </a:lnTo>
                  <a:lnTo>
                    <a:pt x="1273327" y="1580400"/>
                  </a:lnTo>
                  <a:lnTo>
                    <a:pt x="1284478" y="1569250"/>
                  </a:lnTo>
                  <a:lnTo>
                    <a:pt x="1284478" y="1564208"/>
                  </a:lnTo>
                  <a:close/>
                </a:path>
                <a:path w="1785620" h="1833879">
                  <a:moveTo>
                    <a:pt x="1295641" y="857529"/>
                  </a:moveTo>
                  <a:lnTo>
                    <a:pt x="1284478" y="846366"/>
                  </a:lnTo>
                  <a:lnTo>
                    <a:pt x="1279436" y="846366"/>
                  </a:lnTo>
                  <a:lnTo>
                    <a:pt x="1268285" y="857529"/>
                  </a:lnTo>
                  <a:lnTo>
                    <a:pt x="1268285" y="860044"/>
                  </a:lnTo>
                  <a:lnTo>
                    <a:pt x="1268285" y="862571"/>
                  </a:lnTo>
                  <a:lnTo>
                    <a:pt x="1279436" y="873721"/>
                  </a:lnTo>
                  <a:lnTo>
                    <a:pt x="1284478" y="873721"/>
                  </a:lnTo>
                  <a:lnTo>
                    <a:pt x="1295641" y="862571"/>
                  </a:lnTo>
                  <a:lnTo>
                    <a:pt x="1295641" y="857529"/>
                  </a:lnTo>
                  <a:close/>
                </a:path>
                <a:path w="1785620" h="1833879">
                  <a:moveTo>
                    <a:pt x="1300683" y="928801"/>
                  </a:moveTo>
                  <a:lnTo>
                    <a:pt x="1289519" y="917651"/>
                  </a:lnTo>
                  <a:lnTo>
                    <a:pt x="1284478" y="917651"/>
                  </a:lnTo>
                  <a:lnTo>
                    <a:pt x="1273327" y="928801"/>
                  </a:lnTo>
                  <a:lnTo>
                    <a:pt x="1273327" y="931329"/>
                  </a:lnTo>
                  <a:lnTo>
                    <a:pt x="1273327" y="933843"/>
                  </a:lnTo>
                  <a:lnTo>
                    <a:pt x="1284478" y="945007"/>
                  </a:lnTo>
                  <a:lnTo>
                    <a:pt x="1289519" y="945007"/>
                  </a:lnTo>
                  <a:lnTo>
                    <a:pt x="1300683" y="933843"/>
                  </a:lnTo>
                  <a:lnTo>
                    <a:pt x="1300683" y="928801"/>
                  </a:lnTo>
                  <a:close/>
                </a:path>
                <a:path w="1785620" h="1833879">
                  <a:moveTo>
                    <a:pt x="1329118" y="641159"/>
                  </a:moveTo>
                  <a:lnTo>
                    <a:pt x="1317967" y="630008"/>
                  </a:lnTo>
                  <a:lnTo>
                    <a:pt x="1312926" y="630008"/>
                  </a:lnTo>
                  <a:lnTo>
                    <a:pt x="1301762" y="641159"/>
                  </a:lnTo>
                  <a:lnTo>
                    <a:pt x="1301762" y="643686"/>
                  </a:lnTo>
                  <a:lnTo>
                    <a:pt x="1301762" y="646201"/>
                  </a:lnTo>
                  <a:lnTo>
                    <a:pt x="1312926" y="657364"/>
                  </a:lnTo>
                  <a:lnTo>
                    <a:pt x="1317967" y="657364"/>
                  </a:lnTo>
                  <a:lnTo>
                    <a:pt x="1329118" y="646201"/>
                  </a:lnTo>
                  <a:lnTo>
                    <a:pt x="1329118" y="641159"/>
                  </a:lnTo>
                  <a:close/>
                </a:path>
                <a:path w="1785620" h="1833879">
                  <a:moveTo>
                    <a:pt x="1333080" y="482409"/>
                  </a:moveTo>
                  <a:lnTo>
                    <a:pt x="1321917" y="471246"/>
                  </a:lnTo>
                  <a:lnTo>
                    <a:pt x="1316875" y="471246"/>
                  </a:lnTo>
                  <a:lnTo>
                    <a:pt x="1305725" y="482409"/>
                  </a:lnTo>
                  <a:lnTo>
                    <a:pt x="1305725" y="484924"/>
                  </a:lnTo>
                  <a:lnTo>
                    <a:pt x="1305725" y="487451"/>
                  </a:lnTo>
                  <a:lnTo>
                    <a:pt x="1316875" y="498602"/>
                  </a:lnTo>
                  <a:lnTo>
                    <a:pt x="1321917" y="498602"/>
                  </a:lnTo>
                  <a:lnTo>
                    <a:pt x="1333080" y="487451"/>
                  </a:lnTo>
                  <a:lnTo>
                    <a:pt x="1333080" y="482409"/>
                  </a:lnTo>
                  <a:close/>
                </a:path>
                <a:path w="1785620" h="1833879">
                  <a:moveTo>
                    <a:pt x="1355039" y="272529"/>
                  </a:moveTo>
                  <a:lnTo>
                    <a:pt x="1343875" y="261366"/>
                  </a:lnTo>
                  <a:lnTo>
                    <a:pt x="1338846" y="261366"/>
                  </a:lnTo>
                  <a:lnTo>
                    <a:pt x="1327683" y="272529"/>
                  </a:lnTo>
                  <a:lnTo>
                    <a:pt x="1327683" y="275043"/>
                  </a:lnTo>
                  <a:lnTo>
                    <a:pt x="1327683" y="277571"/>
                  </a:lnTo>
                  <a:lnTo>
                    <a:pt x="1338846" y="288721"/>
                  </a:lnTo>
                  <a:lnTo>
                    <a:pt x="1343875" y="288721"/>
                  </a:lnTo>
                  <a:lnTo>
                    <a:pt x="1355039" y="277571"/>
                  </a:lnTo>
                  <a:lnTo>
                    <a:pt x="1355039" y="272529"/>
                  </a:lnTo>
                  <a:close/>
                </a:path>
                <a:path w="1785620" h="1833879">
                  <a:moveTo>
                    <a:pt x="1356487" y="244805"/>
                  </a:moveTo>
                  <a:lnTo>
                    <a:pt x="1345323" y="233641"/>
                  </a:lnTo>
                  <a:lnTo>
                    <a:pt x="1340281" y="233641"/>
                  </a:lnTo>
                  <a:lnTo>
                    <a:pt x="1329118" y="244805"/>
                  </a:lnTo>
                  <a:lnTo>
                    <a:pt x="1329118" y="247319"/>
                  </a:lnTo>
                  <a:lnTo>
                    <a:pt x="1329118" y="249847"/>
                  </a:lnTo>
                  <a:lnTo>
                    <a:pt x="1340281" y="261010"/>
                  </a:lnTo>
                  <a:lnTo>
                    <a:pt x="1345323" y="261010"/>
                  </a:lnTo>
                  <a:lnTo>
                    <a:pt x="1356487" y="249847"/>
                  </a:lnTo>
                  <a:lnTo>
                    <a:pt x="1356487" y="244805"/>
                  </a:lnTo>
                  <a:close/>
                </a:path>
                <a:path w="1785620" h="1833879">
                  <a:moveTo>
                    <a:pt x="1563116" y="18364"/>
                  </a:moveTo>
                  <a:lnTo>
                    <a:pt x="1551965" y="7200"/>
                  </a:lnTo>
                  <a:lnTo>
                    <a:pt x="1546923" y="7200"/>
                  </a:lnTo>
                  <a:lnTo>
                    <a:pt x="1535760" y="18364"/>
                  </a:lnTo>
                  <a:lnTo>
                    <a:pt x="1535760" y="20878"/>
                  </a:lnTo>
                  <a:lnTo>
                    <a:pt x="1535760" y="23406"/>
                  </a:lnTo>
                  <a:lnTo>
                    <a:pt x="1546923" y="34569"/>
                  </a:lnTo>
                  <a:lnTo>
                    <a:pt x="1551965" y="34569"/>
                  </a:lnTo>
                  <a:lnTo>
                    <a:pt x="1563116" y="23406"/>
                  </a:lnTo>
                  <a:lnTo>
                    <a:pt x="1563116" y="18364"/>
                  </a:lnTo>
                  <a:close/>
                </a:path>
                <a:path w="1785620" h="1833879">
                  <a:moveTo>
                    <a:pt x="1567802" y="197281"/>
                  </a:moveTo>
                  <a:lnTo>
                    <a:pt x="1556639" y="186131"/>
                  </a:lnTo>
                  <a:lnTo>
                    <a:pt x="1551597" y="186131"/>
                  </a:lnTo>
                  <a:lnTo>
                    <a:pt x="1540446" y="197281"/>
                  </a:lnTo>
                  <a:lnTo>
                    <a:pt x="1540446" y="199809"/>
                  </a:lnTo>
                  <a:lnTo>
                    <a:pt x="1540446" y="202323"/>
                  </a:lnTo>
                  <a:lnTo>
                    <a:pt x="1551597" y="213487"/>
                  </a:lnTo>
                  <a:lnTo>
                    <a:pt x="1556639" y="213487"/>
                  </a:lnTo>
                  <a:lnTo>
                    <a:pt x="1567802" y="202323"/>
                  </a:lnTo>
                  <a:lnTo>
                    <a:pt x="1567802" y="197281"/>
                  </a:lnTo>
                  <a:close/>
                </a:path>
                <a:path w="1785620" h="1833879">
                  <a:moveTo>
                    <a:pt x="1601647" y="418680"/>
                  </a:moveTo>
                  <a:lnTo>
                    <a:pt x="1590484" y="407530"/>
                  </a:lnTo>
                  <a:lnTo>
                    <a:pt x="1585442" y="407530"/>
                  </a:lnTo>
                  <a:lnTo>
                    <a:pt x="1574279" y="418680"/>
                  </a:lnTo>
                  <a:lnTo>
                    <a:pt x="1574279" y="421208"/>
                  </a:lnTo>
                  <a:lnTo>
                    <a:pt x="1574279" y="423722"/>
                  </a:lnTo>
                  <a:lnTo>
                    <a:pt x="1585442" y="434886"/>
                  </a:lnTo>
                  <a:lnTo>
                    <a:pt x="1590484" y="434886"/>
                  </a:lnTo>
                  <a:lnTo>
                    <a:pt x="1601647" y="423722"/>
                  </a:lnTo>
                  <a:lnTo>
                    <a:pt x="1601647" y="418680"/>
                  </a:lnTo>
                  <a:close/>
                </a:path>
                <a:path w="1785620" h="1833879">
                  <a:moveTo>
                    <a:pt x="1623606" y="759968"/>
                  </a:moveTo>
                  <a:lnTo>
                    <a:pt x="1612442" y="748804"/>
                  </a:lnTo>
                  <a:lnTo>
                    <a:pt x="1607400" y="748804"/>
                  </a:lnTo>
                  <a:lnTo>
                    <a:pt x="1596237" y="759968"/>
                  </a:lnTo>
                  <a:lnTo>
                    <a:pt x="1596237" y="762482"/>
                  </a:lnTo>
                  <a:lnTo>
                    <a:pt x="1596237" y="765009"/>
                  </a:lnTo>
                  <a:lnTo>
                    <a:pt x="1607400" y="776160"/>
                  </a:lnTo>
                  <a:lnTo>
                    <a:pt x="1612442" y="776160"/>
                  </a:lnTo>
                  <a:lnTo>
                    <a:pt x="1623606" y="765009"/>
                  </a:lnTo>
                  <a:lnTo>
                    <a:pt x="1623606" y="759968"/>
                  </a:lnTo>
                  <a:close/>
                </a:path>
                <a:path w="1785620" h="1833879">
                  <a:moveTo>
                    <a:pt x="1630807" y="706323"/>
                  </a:moveTo>
                  <a:lnTo>
                    <a:pt x="1619643" y="695159"/>
                  </a:lnTo>
                  <a:lnTo>
                    <a:pt x="1614601" y="695159"/>
                  </a:lnTo>
                  <a:lnTo>
                    <a:pt x="1603438" y="706323"/>
                  </a:lnTo>
                  <a:lnTo>
                    <a:pt x="1603438" y="708850"/>
                  </a:lnTo>
                  <a:lnTo>
                    <a:pt x="1603438" y="711365"/>
                  </a:lnTo>
                  <a:lnTo>
                    <a:pt x="1614601" y="722528"/>
                  </a:lnTo>
                  <a:lnTo>
                    <a:pt x="1619643" y="722528"/>
                  </a:lnTo>
                  <a:lnTo>
                    <a:pt x="1630807" y="711365"/>
                  </a:lnTo>
                  <a:lnTo>
                    <a:pt x="1630807" y="706323"/>
                  </a:lnTo>
                  <a:close/>
                </a:path>
                <a:path w="1785620" h="1833879">
                  <a:moveTo>
                    <a:pt x="1631162" y="1817649"/>
                  </a:moveTo>
                  <a:lnTo>
                    <a:pt x="1619999" y="1806486"/>
                  </a:lnTo>
                  <a:lnTo>
                    <a:pt x="1614957" y="1806486"/>
                  </a:lnTo>
                  <a:lnTo>
                    <a:pt x="1603806" y="1817649"/>
                  </a:lnTo>
                  <a:lnTo>
                    <a:pt x="1603806" y="1820164"/>
                  </a:lnTo>
                  <a:lnTo>
                    <a:pt x="1603806" y="1822691"/>
                  </a:lnTo>
                  <a:lnTo>
                    <a:pt x="1614957" y="1833841"/>
                  </a:lnTo>
                  <a:lnTo>
                    <a:pt x="1619999" y="1833841"/>
                  </a:lnTo>
                  <a:lnTo>
                    <a:pt x="1631162" y="1822691"/>
                  </a:lnTo>
                  <a:lnTo>
                    <a:pt x="1631162" y="1817649"/>
                  </a:lnTo>
                  <a:close/>
                </a:path>
                <a:path w="1785620" h="1833879">
                  <a:moveTo>
                    <a:pt x="1655648" y="1696326"/>
                  </a:moveTo>
                  <a:lnTo>
                    <a:pt x="1644484" y="1685163"/>
                  </a:lnTo>
                  <a:lnTo>
                    <a:pt x="1639443" y="1685163"/>
                  </a:lnTo>
                  <a:lnTo>
                    <a:pt x="1628279" y="1696326"/>
                  </a:lnTo>
                  <a:lnTo>
                    <a:pt x="1628279" y="1698840"/>
                  </a:lnTo>
                  <a:lnTo>
                    <a:pt x="1628279" y="1701368"/>
                  </a:lnTo>
                  <a:lnTo>
                    <a:pt x="1639443" y="1712518"/>
                  </a:lnTo>
                  <a:lnTo>
                    <a:pt x="1644484" y="1712518"/>
                  </a:lnTo>
                  <a:lnTo>
                    <a:pt x="1655648" y="1701368"/>
                  </a:lnTo>
                  <a:lnTo>
                    <a:pt x="1655648" y="1696326"/>
                  </a:lnTo>
                  <a:close/>
                </a:path>
                <a:path w="1785620" h="1833879">
                  <a:moveTo>
                    <a:pt x="1662125" y="1505165"/>
                  </a:moveTo>
                  <a:lnTo>
                    <a:pt x="1650961" y="1494002"/>
                  </a:lnTo>
                  <a:lnTo>
                    <a:pt x="1645920" y="1494002"/>
                  </a:lnTo>
                  <a:lnTo>
                    <a:pt x="1634756" y="1505165"/>
                  </a:lnTo>
                  <a:lnTo>
                    <a:pt x="1634756" y="1507680"/>
                  </a:lnTo>
                  <a:lnTo>
                    <a:pt x="1634756" y="1510207"/>
                  </a:lnTo>
                  <a:lnTo>
                    <a:pt x="1645920" y="1521371"/>
                  </a:lnTo>
                  <a:lnTo>
                    <a:pt x="1650961" y="1521371"/>
                  </a:lnTo>
                  <a:lnTo>
                    <a:pt x="1662125" y="1510207"/>
                  </a:lnTo>
                  <a:lnTo>
                    <a:pt x="1662125" y="1505165"/>
                  </a:lnTo>
                  <a:close/>
                </a:path>
                <a:path w="1785620" h="1833879">
                  <a:moveTo>
                    <a:pt x="1694167" y="1308608"/>
                  </a:moveTo>
                  <a:lnTo>
                    <a:pt x="1683004" y="1297444"/>
                  </a:lnTo>
                  <a:lnTo>
                    <a:pt x="1677962" y="1297444"/>
                  </a:lnTo>
                  <a:lnTo>
                    <a:pt x="1666798" y="1308608"/>
                  </a:lnTo>
                  <a:lnTo>
                    <a:pt x="1666798" y="1311122"/>
                  </a:lnTo>
                  <a:lnTo>
                    <a:pt x="1666798" y="1313649"/>
                  </a:lnTo>
                  <a:lnTo>
                    <a:pt x="1677962" y="1324800"/>
                  </a:lnTo>
                  <a:lnTo>
                    <a:pt x="1683004" y="1324800"/>
                  </a:lnTo>
                  <a:lnTo>
                    <a:pt x="1694167" y="1313649"/>
                  </a:lnTo>
                  <a:lnTo>
                    <a:pt x="1694167" y="1308608"/>
                  </a:lnTo>
                  <a:close/>
                </a:path>
                <a:path w="1785620" h="1833879">
                  <a:moveTo>
                    <a:pt x="1708200" y="1042200"/>
                  </a:moveTo>
                  <a:lnTo>
                    <a:pt x="1697037" y="1031049"/>
                  </a:lnTo>
                  <a:lnTo>
                    <a:pt x="1691995" y="1031049"/>
                  </a:lnTo>
                  <a:lnTo>
                    <a:pt x="1680845" y="1042200"/>
                  </a:lnTo>
                  <a:lnTo>
                    <a:pt x="1680845" y="1044727"/>
                  </a:lnTo>
                  <a:lnTo>
                    <a:pt x="1680845" y="1047242"/>
                  </a:lnTo>
                  <a:lnTo>
                    <a:pt x="1691995" y="1058405"/>
                  </a:lnTo>
                  <a:lnTo>
                    <a:pt x="1697037" y="1058405"/>
                  </a:lnTo>
                  <a:lnTo>
                    <a:pt x="1708200" y="1047242"/>
                  </a:lnTo>
                  <a:lnTo>
                    <a:pt x="1708200" y="1042200"/>
                  </a:lnTo>
                  <a:close/>
                </a:path>
                <a:path w="1785620" h="1833879">
                  <a:moveTo>
                    <a:pt x="1742046" y="704888"/>
                  </a:moveTo>
                  <a:lnTo>
                    <a:pt x="1730883" y="693724"/>
                  </a:lnTo>
                  <a:lnTo>
                    <a:pt x="1725841" y="693724"/>
                  </a:lnTo>
                  <a:lnTo>
                    <a:pt x="1714677" y="704888"/>
                  </a:lnTo>
                  <a:lnTo>
                    <a:pt x="1714677" y="707402"/>
                  </a:lnTo>
                  <a:lnTo>
                    <a:pt x="1714677" y="709930"/>
                  </a:lnTo>
                  <a:lnTo>
                    <a:pt x="1725841" y="721080"/>
                  </a:lnTo>
                  <a:lnTo>
                    <a:pt x="1730883" y="721080"/>
                  </a:lnTo>
                  <a:lnTo>
                    <a:pt x="1742046" y="709930"/>
                  </a:lnTo>
                  <a:lnTo>
                    <a:pt x="1742046" y="704888"/>
                  </a:lnTo>
                  <a:close/>
                </a:path>
                <a:path w="1785620" h="1833879">
                  <a:moveTo>
                    <a:pt x="1746364" y="783361"/>
                  </a:moveTo>
                  <a:lnTo>
                    <a:pt x="1735201" y="772210"/>
                  </a:lnTo>
                  <a:lnTo>
                    <a:pt x="1730159" y="772210"/>
                  </a:lnTo>
                  <a:lnTo>
                    <a:pt x="1718995" y="783361"/>
                  </a:lnTo>
                  <a:lnTo>
                    <a:pt x="1718995" y="785888"/>
                  </a:lnTo>
                  <a:lnTo>
                    <a:pt x="1718995" y="788403"/>
                  </a:lnTo>
                  <a:lnTo>
                    <a:pt x="1730159" y="799566"/>
                  </a:lnTo>
                  <a:lnTo>
                    <a:pt x="1735201" y="799566"/>
                  </a:lnTo>
                  <a:lnTo>
                    <a:pt x="1746364" y="788403"/>
                  </a:lnTo>
                  <a:lnTo>
                    <a:pt x="1746364" y="783361"/>
                  </a:lnTo>
                  <a:close/>
                </a:path>
                <a:path w="1785620" h="1833879">
                  <a:moveTo>
                    <a:pt x="1785239" y="267119"/>
                  </a:moveTo>
                  <a:lnTo>
                    <a:pt x="1774075" y="255968"/>
                  </a:lnTo>
                  <a:lnTo>
                    <a:pt x="1769046" y="255968"/>
                  </a:lnTo>
                  <a:lnTo>
                    <a:pt x="1757883" y="267119"/>
                  </a:lnTo>
                  <a:lnTo>
                    <a:pt x="1757883" y="269646"/>
                  </a:lnTo>
                  <a:lnTo>
                    <a:pt x="1757883" y="272161"/>
                  </a:lnTo>
                  <a:lnTo>
                    <a:pt x="1769046" y="283324"/>
                  </a:lnTo>
                  <a:lnTo>
                    <a:pt x="1774075" y="283324"/>
                  </a:lnTo>
                  <a:lnTo>
                    <a:pt x="1785239" y="272161"/>
                  </a:lnTo>
                  <a:lnTo>
                    <a:pt x="1785239" y="267119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348917" y="1448993"/>
              <a:ext cx="1293495" cy="1829435"/>
            </a:xfrm>
            <a:custGeom>
              <a:avLst/>
              <a:gdLst/>
              <a:ahLst/>
              <a:cxnLst/>
              <a:rect l="l" t="t" r="r" b="b"/>
              <a:pathLst>
                <a:path w="1293495" h="1829435">
                  <a:moveTo>
                    <a:pt x="27368" y="11163"/>
                  </a:moveTo>
                  <a:lnTo>
                    <a:pt x="16205" y="0"/>
                  </a:lnTo>
                  <a:lnTo>
                    <a:pt x="11163" y="0"/>
                  </a:lnTo>
                  <a:lnTo>
                    <a:pt x="0" y="11163"/>
                  </a:lnTo>
                  <a:lnTo>
                    <a:pt x="0" y="13690"/>
                  </a:lnTo>
                  <a:lnTo>
                    <a:pt x="0" y="16205"/>
                  </a:lnTo>
                  <a:lnTo>
                    <a:pt x="11163" y="27368"/>
                  </a:lnTo>
                  <a:lnTo>
                    <a:pt x="16205" y="27368"/>
                  </a:lnTo>
                  <a:lnTo>
                    <a:pt x="27368" y="16205"/>
                  </a:lnTo>
                  <a:lnTo>
                    <a:pt x="27368" y="11163"/>
                  </a:lnTo>
                  <a:close/>
                </a:path>
                <a:path w="1293495" h="1829435">
                  <a:moveTo>
                    <a:pt x="42125" y="279730"/>
                  </a:moveTo>
                  <a:lnTo>
                    <a:pt x="30962" y="268566"/>
                  </a:lnTo>
                  <a:lnTo>
                    <a:pt x="25920" y="268566"/>
                  </a:lnTo>
                  <a:lnTo>
                    <a:pt x="14757" y="279730"/>
                  </a:lnTo>
                  <a:lnTo>
                    <a:pt x="14757" y="282244"/>
                  </a:lnTo>
                  <a:lnTo>
                    <a:pt x="14757" y="284772"/>
                  </a:lnTo>
                  <a:lnTo>
                    <a:pt x="25920" y="295922"/>
                  </a:lnTo>
                  <a:lnTo>
                    <a:pt x="30962" y="295922"/>
                  </a:lnTo>
                  <a:lnTo>
                    <a:pt x="42125" y="284772"/>
                  </a:lnTo>
                  <a:lnTo>
                    <a:pt x="42125" y="279730"/>
                  </a:lnTo>
                  <a:close/>
                </a:path>
                <a:path w="1293495" h="1829435">
                  <a:moveTo>
                    <a:pt x="90716" y="648728"/>
                  </a:moveTo>
                  <a:lnTo>
                    <a:pt x="79565" y="637565"/>
                  </a:lnTo>
                  <a:lnTo>
                    <a:pt x="74523" y="637565"/>
                  </a:lnTo>
                  <a:lnTo>
                    <a:pt x="63360" y="648728"/>
                  </a:lnTo>
                  <a:lnTo>
                    <a:pt x="63360" y="651243"/>
                  </a:lnTo>
                  <a:lnTo>
                    <a:pt x="63360" y="653770"/>
                  </a:lnTo>
                  <a:lnTo>
                    <a:pt x="74523" y="664921"/>
                  </a:lnTo>
                  <a:lnTo>
                    <a:pt x="79565" y="664921"/>
                  </a:lnTo>
                  <a:lnTo>
                    <a:pt x="90716" y="653770"/>
                  </a:lnTo>
                  <a:lnTo>
                    <a:pt x="90716" y="648728"/>
                  </a:lnTo>
                  <a:close/>
                </a:path>
                <a:path w="1293495" h="1829435">
                  <a:moveTo>
                    <a:pt x="98285" y="842403"/>
                  </a:moveTo>
                  <a:lnTo>
                    <a:pt x="87122" y="831240"/>
                  </a:lnTo>
                  <a:lnTo>
                    <a:pt x="82080" y="831240"/>
                  </a:lnTo>
                  <a:lnTo>
                    <a:pt x="70916" y="842403"/>
                  </a:lnTo>
                  <a:lnTo>
                    <a:pt x="70916" y="844931"/>
                  </a:lnTo>
                  <a:lnTo>
                    <a:pt x="70916" y="847445"/>
                  </a:lnTo>
                  <a:lnTo>
                    <a:pt x="82080" y="858608"/>
                  </a:lnTo>
                  <a:lnTo>
                    <a:pt x="87122" y="858608"/>
                  </a:lnTo>
                  <a:lnTo>
                    <a:pt x="98285" y="847445"/>
                  </a:lnTo>
                  <a:lnTo>
                    <a:pt x="98285" y="842403"/>
                  </a:lnTo>
                  <a:close/>
                </a:path>
                <a:path w="1293495" h="1829435">
                  <a:moveTo>
                    <a:pt x="130683" y="1167841"/>
                  </a:moveTo>
                  <a:lnTo>
                    <a:pt x="119519" y="1156690"/>
                  </a:lnTo>
                  <a:lnTo>
                    <a:pt x="114477" y="1156690"/>
                  </a:lnTo>
                  <a:lnTo>
                    <a:pt x="103327" y="1167841"/>
                  </a:lnTo>
                  <a:lnTo>
                    <a:pt x="103327" y="1170368"/>
                  </a:lnTo>
                  <a:lnTo>
                    <a:pt x="103327" y="1172883"/>
                  </a:lnTo>
                  <a:lnTo>
                    <a:pt x="114477" y="1184046"/>
                  </a:lnTo>
                  <a:lnTo>
                    <a:pt x="119519" y="1184046"/>
                  </a:lnTo>
                  <a:lnTo>
                    <a:pt x="130683" y="1172883"/>
                  </a:lnTo>
                  <a:lnTo>
                    <a:pt x="130683" y="1167841"/>
                  </a:lnTo>
                  <a:close/>
                </a:path>
                <a:path w="1293495" h="1829435">
                  <a:moveTo>
                    <a:pt x="131762" y="1061643"/>
                  </a:moveTo>
                  <a:lnTo>
                    <a:pt x="120599" y="1050480"/>
                  </a:lnTo>
                  <a:lnTo>
                    <a:pt x="115557" y="1050480"/>
                  </a:lnTo>
                  <a:lnTo>
                    <a:pt x="104406" y="1061643"/>
                  </a:lnTo>
                  <a:lnTo>
                    <a:pt x="104406" y="1064171"/>
                  </a:lnTo>
                  <a:lnTo>
                    <a:pt x="104406" y="1066685"/>
                  </a:lnTo>
                  <a:lnTo>
                    <a:pt x="115557" y="1077849"/>
                  </a:lnTo>
                  <a:lnTo>
                    <a:pt x="120599" y="1077849"/>
                  </a:lnTo>
                  <a:lnTo>
                    <a:pt x="131762" y="1066685"/>
                  </a:lnTo>
                  <a:lnTo>
                    <a:pt x="131762" y="1061643"/>
                  </a:lnTo>
                  <a:close/>
                </a:path>
                <a:path w="1293495" h="1829435">
                  <a:moveTo>
                    <a:pt x="170637" y="1449006"/>
                  </a:moveTo>
                  <a:lnTo>
                    <a:pt x="159486" y="1437843"/>
                  </a:lnTo>
                  <a:lnTo>
                    <a:pt x="154444" y="1437843"/>
                  </a:lnTo>
                  <a:lnTo>
                    <a:pt x="143281" y="1449006"/>
                  </a:lnTo>
                  <a:lnTo>
                    <a:pt x="143281" y="1451521"/>
                  </a:lnTo>
                  <a:lnTo>
                    <a:pt x="143281" y="1454048"/>
                  </a:lnTo>
                  <a:lnTo>
                    <a:pt x="154444" y="1465211"/>
                  </a:lnTo>
                  <a:lnTo>
                    <a:pt x="159486" y="1465211"/>
                  </a:lnTo>
                  <a:lnTo>
                    <a:pt x="170637" y="1454048"/>
                  </a:lnTo>
                  <a:lnTo>
                    <a:pt x="170637" y="1449006"/>
                  </a:lnTo>
                  <a:close/>
                </a:path>
                <a:path w="1293495" h="1829435">
                  <a:moveTo>
                    <a:pt x="297345" y="235800"/>
                  </a:moveTo>
                  <a:lnTo>
                    <a:pt x="286207" y="224650"/>
                  </a:lnTo>
                  <a:lnTo>
                    <a:pt x="281165" y="224650"/>
                  </a:lnTo>
                  <a:lnTo>
                    <a:pt x="270002" y="235800"/>
                  </a:lnTo>
                  <a:lnTo>
                    <a:pt x="270002" y="238328"/>
                  </a:lnTo>
                  <a:lnTo>
                    <a:pt x="270002" y="240842"/>
                  </a:lnTo>
                  <a:lnTo>
                    <a:pt x="281165" y="252006"/>
                  </a:lnTo>
                  <a:lnTo>
                    <a:pt x="286207" y="252006"/>
                  </a:lnTo>
                  <a:lnTo>
                    <a:pt x="297345" y="240842"/>
                  </a:lnTo>
                  <a:lnTo>
                    <a:pt x="297345" y="235800"/>
                  </a:lnTo>
                  <a:close/>
                </a:path>
                <a:path w="1293495" h="1829435">
                  <a:moveTo>
                    <a:pt x="318604" y="448564"/>
                  </a:moveTo>
                  <a:lnTo>
                    <a:pt x="307441" y="437400"/>
                  </a:lnTo>
                  <a:lnTo>
                    <a:pt x="302399" y="437400"/>
                  </a:lnTo>
                  <a:lnTo>
                    <a:pt x="291223" y="448564"/>
                  </a:lnTo>
                  <a:lnTo>
                    <a:pt x="291223" y="451091"/>
                  </a:lnTo>
                  <a:lnTo>
                    <a:pt x="291223" y="453605"/>
                  </a:lnTo>
                  <a:lnTo>
                    <a:pt x="302399" y="464769"/>
                  </a:lnTo>
                  <a:lnTo>
                    <a:pt x="307441" y="464769"/>
                  </a:lnTo>
                  <a:lnTo>
                    <a:pt x="318604" y="453605"/>
                  </a:lnTo>
                  <a:lnTo>
                    <a:pt x="318604" y="448564"/>
                  </a:lnTo>
                  <a:close/>
                </a:path>
                <a:path w="1293495" h="1829435">
                  <a:moveTo>
                    <a:pt x="324002" y="374764"/>
                  </a:moveTo>
                  <a:lnTo>
                    <a:pt x="312839" y="363601"/>
                  </a:lnTo>
                  <a:lnTo>
                    <a:pt x="307784" y="363601"/>
                  </a:lnTo>
                  <a:lnTo>
                    <a:pt x="296646" y="374764"/>
                  </a:lnTo>
                  <a:lnTo>
                    <a:pt x="296646" y="377291"/>
                  </a:lnTo>
                  <a:lnTo>
                    <a:pt x="296646" y="379806"/>
                  </a:lnTo>
                  <a:lnTo>
                    <a:pt x="307784" y="390969"/>
                  </a:lnTo>
                  <a:lnTo>
                    <a:pt x="312839" y="390969"/>
                  </a:lnTo>
                  <a:lnTo>
                    <a:pt x="324002" y="379806"/>
                  </a:lnTo>
                  <a:lnTo>
                    <a:pt x="324002" y="374764"/>
                  </a:lnTo>
                  <a:close/>
                </a:path>
                <a:path w="1293495" h="1829435">
                  <a:moveTo>
                    <a:pt x="366839" y="936002"/>
                  </a:moveTo>
                  <a:lnTo>
                    <a:pt x="355676" y="924852"/>
                  </a:lnTo>
                  <a:lnTo>
                    <a:pt x="350647" y="924852"/>
                  </a:lnTo>
                  <a:lnTo>
                    <a:pt x="339483" y="936002"/>
                  </a:lnTo>
                  <a:lnTo>
                    <a:pt x="339483" y="938530"/>
                  </a:lnTo>
                  <a:lnTo>
                    <a:pt x="339483" y="941044"/>
                  </a:lnTo>
                  <a:lnTo>
                    <a:pt x="350647" y="952207"/>
                  </a:lnTo>
                  <a:lnTo>
                    <a:pt x="355676" y="952207"/>
                  </a:lnTo>
                  <a:lnTo>
                    <a:pt x="366839" y="941044"/>
                  </a:lnTo>
                  <a:lnTo>
                    <a:pt x="366839" y="936002"/>
                  </a:lnTo>
                  <a:close/>
                </a:path>
                <a:path w="1293495" h="1829435">
                  <a:moveTo>
                    <a:pt x="367207" y="812520"/>
                  </a:moveTo>
                  <a:lnTo>
                    <a:pt x="356044" y="801370"/>
                  </a:lnTo>
                  <a:lnTo>
                    <a:pt x="351002" y="801370"/>
                  </a:lnTo>
                  <a:lnTo>
                    <a:pt x="339839" y="812520"/>
                  </a:lnTo>
                  <a:lnTo>
                    <a:pt x="339839" y="815047"/>
                  </a:lnTo>
                  <a:lnTo>
                    <a:pt x="339839" y="817562"/>
                  </a:lnTo>
                  <a:lnTo>
                    <a:pt x="351002" y="828725"/>
                  </a:lnTo>
                  <a:lnTo>
                    <a:pt x="356044" y="828725"/>
                  </a:lnTo>
                  <a:lnTo>
                    <a:pt x="367207" y="817562"/>
                  </a:lnTo>
                  <a:lnTo>
                    <a:pt x="367207" y="812520"/>
                  </a:lnTo>
                  <a:close/>
                </a:path>
                <a:path w="1293495" h="1829435">
                  <a:moveTo>
                    <a:pt x="393484" y="1074966"/>
                  </a:moveTo>
                  <a:lnTo>
                    <a:pt x="382320" y="1063802"/>
                  </a:lnTo>
                  <a:lnTo>
                    <a:pt x="377278" y="1063802"/>
                  </a:lnTo>
                  <a:lnTo>
                    <a:pt x="366128" y="1074966"/>
                  </a:lnTo>
                  <a:lnTo>
                    <a:pt x="366128" y="1077480"/>
                  </a:lnTo>
                  <a:lnTo>
                    <a:pt x="366128" y="1080008"/>
                  </a:lnTo>
                  <a:lnTo>
                    <a:pt x="377278" y="1091171"/>
                  </a:lnTo>
                  <a:lnTo>
                    <a:pt x="382320" y="1091171"/>
                  </a:lnTo>
                  <a:lnTo>
                    <a:pt x="393484" y="1080008"/>
                  </a:lnTo>
                  <a:lnTo>
                    <a:pt x="393484" y="1074966"/>
                  </a:lnTo>
                  <a:close/>
                </a:path>
                <a:path w="1293495" h="1829435">
                  <a:moveTo>
                    <a:pt x="441007" y="1550162"/>
                  </a:moveTo>
                  <a:lnTo>
                    <a:pt x="429844" y="1539011"/>
                  </a:lnTo>
                  <a:lnTo>
                    <a:pt x="424802" y="1539011"/>
                  </a:lnTo>
                  <a:lnTo>
                    <a:pt x="413639" y="1550162"/>
                  </a:lnTo>
                  <a:lnTo>
                    <a:pt x="413639" y="1552689"/>
                  </a:lnTo>
                  <a:lnTo>
                    <a:pt x="413639" y="1555203"/>
                  </a:lnTo>
                  <a:lnTo>
                    <a:pt x="424802" y="1566367"/>
                  </a:lnTo>
                  <a:lnTo>
                    <a:pt x="429844" y="1566367"/>
                  </a:lnTo>
                  <a:lnTo>
                    <a:pt x="441007" y="1555203"/>
                  </a:lnTo>
                  <a:lnTo>
                    <a:pt x="441007" y="1550162"/>
                  </a:lnTo>
                  <a:close/>
                </a:path>
                <a:path w="1293495" h="1829435">
                  <a:moveTo>
                    <a:pt x="450367" y="34925"/>
                  </a:moveTo>
                  <a:lnTo>
                    <a:pt x="439204" y="23761"/>
                  </a:lnTo>
                  <a:lnTo>
                    <a:pt x="434162" y="23761"/>
                  </a:lnTo>
                  <a:lnTo>
                    <a:pt x="422998" y="34925"/>
                  </a:lnTo>
                  <a:lnTo>
                    <a:pt x="422998" y="37452"/>
                  </a:lnTo>
                  <a:lnTo>
                    <a:pt x="422998" y="39966"/>
                  </a:lnTo>
                  <a:lnTo>
                    <a:pt x="434162" y="51130"/>
                  </a:lnTo>
                  <a:lnTo>
                    <a:pt x="439204" y="51130"/>
                  </a:lnTo>
                  <a:lnTo>
                    <a:pt x="450367" y="39966"/>
                  </a:lnTo>
                  <a:lnTo>
                    <a:pt x="450367" y="34925"/>
                  </a:lnTo>
                  <a:close/>
                </a:path>
                <a:path w="1293495" h="1829435">
                  <a:moveTo>
                    <a:pt x="467283" y="1812963"/>
                  </a:moveTo>
                  <a:lnTo>
                    <a:pt x="456120" y="1801812"/>
                  </a:lnTo>
                  <a:lnTo>
                    <a:pt x="451078" y="1801812"/>
                  </a:lnTo>
                  <a:lnTo>
                    <a:pt x="439928" y="1812963"/>
                  </a:lnTo>
                  <a:lnTo>
                    <a:pt x="439928" y="1815490"/>
                  </a:lnTo>
                  <a:lnTo>
                    <a:pt x="439928" y="1818005"/>
                  </a:lnTo>
                  <a:lnTo>
                    <a:pt x="451078" y="1829168"/>
                  </a:lnTo>
                  <a:lnTo>
                    <a:pt x="456120" y="1829168"/>
                  </a:lnTo>
                  <a:lnTo>
                    <a:pt x="467283" y="1818005"/>
                  </a:lnTo>
                  <a:lnTo>
                    <a:pt x="467283" y="1812963"/>
                  </a:lnTo>
                  <a:close/>
                </a:path>
                <a:path w="1293495" h="1829435">
                  <a:moveTo>
                    <a:pt x="492125" y="333730"/>
                  </a:moveTo>
                  <a:lnTo>
                    <a:pt x="480961" y="322567"/>
                  </a:lnTo>
                  <a:lnTo>
                    <a:pt x="475919" y="322567"/>
                  </a:lnTo>
                  <a:lnTo>
                    <a:pt x="464756" y="333730"/>
                  </a:lnTo>
                  <a:lnTo>
                    <a:pt x="464756" y="336245"/>
                  </a:lnTo>
                  <a:lnTo>
                    <a:pt x="464756" y="338772"/>
                  </a:lnTo>
                  <a:lnTo>
                    <a:pt x="475919" y="349923"/>
                  </a:lnTo>
                  <a:lnTo>
                    <a:pt x="480961" y="349923"/>
                  </a:lnTo>
                  <a:lnTo>
                    <a:pt x="492125" y="338772"/>
                  </a:lnTo>
                  <a:lnTo>
                    <a:pt x="492125" y="333730"/>
                  </a:lnTo>
                  <a:close/>
                </a:path>
                <a:path w="1293495" h="1829435">
                  <a:moveTo>
                    <a:pt x="511200" y="647649"/>
                  </a:moveTo>
                  <a:lnTo>
                    <a:pt x="500037" y="636485"/>
                  </a:lnTo>
                  <a:lnTo>
                    <a:pt x="495007" y="636485"/>
                  </a:lnTo>
                  <a:lnTo>
                    <a:pt x="483844" y="647649"/>
                  </a:lnTo>
                  <a:lnTo>
                    <a:pt x="483844" y="650163"/>
                  </a:lnTo>
                  <a:lnTo>
                    <a:pt x="483844" y="652691"/>
                  </a:lnTo>
                  <a:lnTo>
                    <a:pt x="495007" y="663841"/>
                  </a:lnTo>
                  <a:lnTo>
                    <a:pt x="500037" y="663841"/>
                  </a:lnTo>
                  <a:lnTo>
                    <a:pt x="511200" y="652691"/>
                  </a:lnTo>
                  <a:lnTo>
                    <a:pt x="511200" y="647649"/>
                  </a:lnTo>
                  <a:close/>
                </a:path>
                <a:path w="1293495" h="1829435">
                  <a:moveTo>
                    <a:pt x="530644" y="721448"/>
                  </a:moveTo>
                  <a:lnTo>
                    <a:pt x="519480" y="710285"/>
                  </a:lnTo>
                  <a:lnTo>
                    <a:pt x="514438" y="710285"/>
                  </a:lnTo>
                  <a:lnTo>
                    <a:pt x="503288" y="721448"/>
                  </a:lnTo>
                  <a:lnTo>
                    <a:pt x="503288" y="723963"/>
                  </a:lnTo>
                  <a:lnTo>
                    <a:pt x="503288" y="726490"/>
                  </a:lnTo>
                  <a:lnTo>
                    <a:pt x="514438" y="737641"/>
                  </a:lnTo>
                  <a:lnTo>
                    <a:pt x="519480" y="737641"/>
                  </a:lnTo>
                  <a:lnTo>
                    <a:pt x="530644" y="726490"/>
                  </a:lnTo>
                  <a:lnTo>
                    <a:pt x="530644" y="721448"/>
                  </a:lnTo>
                  <a:close/>
                </a:path>
                <a:path w="1293495" h="1829435">
                  <a:moveTo>
                    <a:pt x="574560" y="1161732"/>
                  </a:moveTo>
                  <a:lnTo>
                    <a:pt x="563397" y="1150569"/>
                  </a:lnTo>
                  <a:lnTo>
                    <a:pt x="558368" y="1150569"/>
                  </a:lnTo>
                  <a:lnTo>
                    <a:pt x="547204" y="1161732"/>
                  </a:lnTo>
                  <a:lnTo>
                    <a:pt x="547204" y="1164247"/>
                  </a:lnTo>
                  <a:lnTo>
                    <a:pt x="547204" y="1166761"/>
                  </a:lnTo>
                  <a:lnTo>
                    <a:pt x="558368" y="1177925"/>
                  </a:lnTo>
                  <a:lnTo>
                    <a:pt x="563397" y="1177925"/>
                  </a:lnTo>
                  <a:lnTo>
                    <a:pt x="574560" y="1166761"/>
                  </a:lnTo>
                  <a:lnTo>
                    <a:pt x="574560" y="1161732"/>
                  </a:lnTo>
                  <a:close/>
                </a:path>
                <a:path w="1293495" h="1829435">
                  <a:moveTo>
                    <a:pt x="587527" y="1410487"/>
                  </a:moveTo>
                  <a:lnTo>
                    <a:pt x="576364" y="1399324"/>
                  </a:lnTo>
                  <a:lnTo>
                    <a:pt x="571322" y="1399324"/>
                  </a:lnTo>
                  <a:lnTo>
                    <a:pt x="560158" y="1410487"/>
                  </a:lnTo>
                  <a:lnTo>
                    <a:pt x="560158" y="1413002"/>
                  </a:lnTo>
                  <a:lnTo>
                    <a:pt x="560158" y="1415529"/>
                  </a:lnTo>
                  <a:lnTo>
                    <a:pt x="571322" y="1426679"/>
                  </a:lnTo>
                  <a:lnTo>
                    <a:pt x="576364" y="1426679"/>
                  </a:lnTo>
                  <a:lnTo>
                    <a:pt x="587527" y="1415529"/>
                  </a:lnTo>
                  <a:lnTo>
                    <a:pt x="587527" y="1410487"/>
                  </a:lnTo>
                  <a:close/>
                </a:path>
                <a:path w="1293495" h="1829435">
                  <a:moveTo>
                    <a:pt x="594728" y="1359369"/>
                  </a:moveTo>
                  <a:lnTo>
                    <a:pt x="583565" y="1348206"/>
                  </a:lnTo>
                  <a:lnTo>
                    <a:pt x="578523" y="1348206"/>
                  </a:lnTo>
                  <a:lnTo>
                    <a:pt x="567359" y="1359369"/>
                  </a:lnTo>
                  <a:lnTo>
                    <a:pt x="567359" y="1361884"/>
                  </a:lnTo>
                  <a:lnTo>
                    <a:pt x="567359" y="1364411"/>
                  </a:lnTo>
                  <a:lnTo>
                    <a:pt x="578523" y="1375562"/>
                  </a:lnTo>
                  <a:lnTo>
                    <a:pt x="583565" y="1375562"/>
                  </a:lnTo>
                  <a:lnTo>
                    <a:pt x="594728" y="1364411"/>
                  </a:lnTo>
                  <a:lnTo>
                    <a:pt x="594728" y="1359369"/>
                  </a:lnTo>
                  <a:close/>
                </a:path>
                <a:path w="1293495" h="1829435">
                  <a:moveTo>
                    <a:pt x="602284" y="356044"/>
                  </a:moveTo>
                  <a:lnTo>
                    <a:pt x="591121" y="344881"/>
                  </a:lnTo>
                  <a:lnTo>
                    <a:pt x="586079" y="344881"/>
                  </a:lnTo>
                  <a:lnTo>
                    <a:pt x="574916" y="356044"/>
                  </a:lnTo>
                  <a:lnTo>
                    <a:pt x="574916" y="358571"/>
                  </a:lnTo>
                  <a:lnTo>
                    <a:pt x="574916" y="361086"/>
                  </a:lnTo>
                  <a:lnTo>
                    <a:pt x="586079" y="372249"/>
                  </a:lnTo>
                  <a:lnTo>
                    <a:pt x="591121" y="372249"/>
                  </a:lnTo>
                  <a:lnTo>
                    <a:pt x="602284" y="361086"/>
                  </a:lnTo>
                  <a:lnTo>
                    <a:pt x="602284" y="356044"/>
                  </a:lnTo>
                  <a:close/>
                </a:path>
                <a:path w="1293495" h="1829435">
                  <a:moveTo>
                    <a:pt x="621004" y="1621802"/>
                  </a:moveTo>
                  <a:lnTo>
                    <a:pt x="609841" y="1610652"/>
                  </a:lnTo>
                  <a:lnTo>
                    <a:pt x="604799" y="1610652"/>
                  </a:lnTo>
                  <a:lnTo>
                    <a:pt x="593636" y="1621802"/>
                  </a:lnTo>
                  <a:lnTo>
                    <a:pt x="593636" y="1624330"/>
                  </a:lnTo>
                  <a:lnTo>
                    <a:pt x="593636" y="1626844"/>
                  </a:lnTo>
                  <a:lnTo>
                    <a:pt x="604799" y="1638007"/>
                  </a:lnTo>
                  <a:lnTo>
                    <a:pt x="609841" y="1638007"/>
                  </a:lnTo>
                  <a:lnTo>
                    <a:pt x="621004" y="1626844"/>
                  </a:lnTo>
                  <a:lnTo>
                    <a:pt x="621004" y="1621802"/>
                  </a:lnTo>
                  <a:close/>
                </a:path>
                <a:path w="1293495" h="1829435">
                  <a:moveTo>
                    <a:pt x="719277" y="120611"/>
                  </a:moveTo>
                  <a:lnTo>
                    <a:pt x="708126" y="109448"/>
                  </a:lnTo>
                  <a:lnTo>
                    <a:pt x="703084" y="109448"/>
                  </a:lnTo>
                  <a:lnTo>
                    <a:pt x="691921" y="120611"/>
                  </a:lnTo>
                  <a:lnTo>
                    <a:pt x="691921" y="123126"/>
                  </a:lnTo>
                  <a:lnTo>
                    <a:pt x="691921" y="125641"/>
                  </a:lnTo>
                  <a:lnTo>
                    <a:pt x="703084" y="136804"/>
                  </a:lnTo>
                  <a:lnTo>
                    <a:pt x="708126" y="136804"/>
                  </a:lnTo>
                  <a:lnTo>
                    <a:pt x="719277" y="125641"/>
                  </a:lnTo>
                  <a:lnTo>
                    <a:pt x="719277" y="120611"/>
                  </a:lnTo>
                  <a:close/>
                </a:path>
                <a:path w="1293495" h="1829435">
                  <a:moveTo>
                    <a:pt x="732967" y="144729"/>
                  </a:moveTo>
                  <a:lnTo>
                    <a:pt x="721804" y="133565"/>
                  </a:lnTo>
                  <a:lnTo>
                    <a:pt x="716762" y="133565"/>
                  </a:lnTo>
                  <a:lnTo>
                    <a:pt x="705599" y="144729"/>
                  </a:lnTo>
                  <a:lnTo>
                    <a:pt x="705599" y="147243"/>
                  </a:lnTo>
                  <a:lnTo>
                    <a:pt x="705599" y="149771"/>
                  </a:lnTo>
                  <a:lnTo>
                    <a:pt x="716762" y="160921"/>
                  </a:lnTo>
                  <a:lnTo>
                    <a:pt x="721804" y="160921"/>
                  </a:lnTo>
                  <a:lnTo>
                    <a:pt x="732967" y="149771"/>
                  </a:lnTo>
                  <a:lnTo>
                    <a:pt x="732967" y="144729"/>
                  </a:lnTo>
                  <a:close/>
                </a:path>
                <a:path w="1293495" h="1829435">
                  <a:moveTo>
                    <a:pt x="766076" y="591121"/>
                  </a:moveTo>
                  <a:lnTo>
                    <a:pt x="754926" y="579970"/>
                  </a:lnTo>
                  <a:lnTo>
                    <a:pt x="749884" y="579970"/>
                  </a:lnTo>
                  <a:lnTo>
                    <a:pt x="738720" y="591121"/>
                  </a:lnTo>
                  <a:lnTo>
                    <a:pt x="738720" y="593648"/>
                  </a:lnTo>
                  <a:lnTo>
                    <a:pt x="738720" y="596163"/>
                  </a:lnTo>
                  <a:lnTo>
                    <a:pt x="749884" y="607326"/>
                  </a:lnTo>
                  <a:lnTo>
                    <a:pt x="754926" y="607326"/>
                  </a:lnTo>
                  <a:lnTo>
                    <a:pt x="766076" y="596163"/>
                  </a:lnTo>
                  <a:lnTo>
                    <a:pt x="766076" y="591121"/>
                  </a:lnTo>
                  <a:close/>
                </a:path>
                <a:path w="1293495" h="1829435">
                  <a:moveTo>
                    <a:pt x="781926" y="632523"/>
                  </a:moveTo>
                  <a:lnTo>
                    <a:pt x="770763" y="621360"/>
                  </a:lnTo>
                  <a:lnTo>
                    <a:pt x="765721" y="621360"/>
                  </a:lnTo>
                  <a:lnTo>
                    <a:pt x="754557" y="632523"/>
                  </a:lnTo>
                  <a:lnTo>
                    <a:pt x="754557" y="635050"/>
                  </a:lnTo>
                  <a:lnTo>
                    <a:pt x="754557" y="637565"/>
                  </a:lnTo>
                  <a:lnTo>
                    <a:pt x="765721" y="648728"/>
                  </a:lnTo>
                  <a:lnTo>
                    <a:pt x="770763" y="648728"/>
                  </a:lnTo>
                  <a:lnTo>
                    <a:pt x="781926" y="637565"/>
                  </a:lnTo>
                  <a:lnTo>
                    <a:pt x="781926" y="632523"/>
                  </a:lnTo>
                  <a:close/>
                </a:path>
                <a:path w="1293495" h="1829435">
                  <a:moveTo>
                    <a:pt x="808926" y="1020965"/>
                  </a:moveTo>
                  <a:lnTo>
                    <a:pt x="797763" y="1009802"/>
                  </a:lnTo>
                  <a:lnTo>
                    <a:pt x="792721" y="1009802"/>
                  </a:lnTo>
                  <a:lnTo>
                    <a:pt x="781558" y="1020965"/>
                  </a:lnTo>
                  <a:lnTo>
                    <a:pt x="781558" y="1023480"/>
                  </a:lnTo>
                  <a:lnTo>
                    <a:pt x="781558" y="1026007"/>
                  </a:lnTo>
                  <a:lnTo>
                    <a:pt x="792721" y="1037170"/>
                  </a:lnTo>
                  <a:lnTo>
                    <a:pt x="797763" y="1037170"/>
                  </a:lnTo>
                  <a:lnTo>
                    <a:pt x="808926" y="1026007"/>
                  </a:lnTo>
                  <a:lnTo>
                    <a:pt x="808926" y="1020965"/>
                  </a:lnTo>
                  <a:close/>
                </a:path>
                <a:path w="1293495" h="1829435">
                  <a:moveTo>
                    <a:pt x="843127" y="1358646"/>
                  </a:moveTo>
                  <a:lnTo>
                    <a:pt x="831964" y="1347482"/>
                  </a:lnTo>
                  <a:lnTo>
                    <a:pt x="826922" y="1347482"/>
                  </a:lnTo>
                  <a:lnTo>
                    <a:pt x="815759" y="1358646"/>
                  </a:lnTo>
                  <a:lnTo>
                    <a:pt x="815759" y="1361160"/>
                  </a:lnTo>
                  <a:lnTo>
                    <a:pt x="815759" y="1363687"/>
                  </a:lnTo>
                  <a:lnTo>
                    <a:pt x="826922" y="1374851"/>
                  </a:lnTo>
                  <a:lnTo>
                    <a:pt x="831964" y="1374851"/>
                  </a:lnTo>
                  <a:lnTo>
                    <a:pt x="843127" y="1363687"/>
                  </a:lnTo>
                  <a:lnTo>
                    <a:pt x="843127" y="1358646"/>
                  </a:lnTo>
                  <a:close/>
                </a:path>
                <a:path w="1293495" h="1829435">
                  <a:moveTo>
                    <a:pt x="848156" y="1295285"/>
                  </a:moveTo>
                  <a:lnTo>
                    <a:pt x="837006" y="1284122"/>
                  </a:lnTo>
                  <a:lnTo>
                    <a:pt x="831964" y="1284122"/>
                  </a:lnTo>
                  <a:lnTo>
                    <a:pt x="820801" y="1295285"/>
                  </a:lnTo>
                  <a:lnTo>
                    <a:pt x="820801" y="1297800"/>
                  </a:lnTo>
                  <a:lnTo>
                    <a:pt x="820801" y="1300327"/>
                  </a:lnTo>
                  <a:lnTo>
                    <a:pt x="831964" y="1311490"/>
                  </a:lnTo>
                  <a:lnTo>
                    <a:pt x="837006" y="1311490"/>
                  </a:lnTo>
                  <a:lnTo>
                    <a:pt x="848156" y="1300327"/>
                  </a:lnTo>
                  <a:lnTo>
                    <a:pt x="848156" y="1295285"/>
                  </a:lnTo>
                  <a:close/>
                </a:path>
                <a:path w="1293495" h="1829435">
                  <a:moveTo>
                    <a:pt x="888479" y="1809000"/>
                  </a:moveTo>
                  <a:lnTo>
                    <a:pt x="877316" y="1797850"/>
                  </a:lnTo>
                  <a:lnTo>
                    <a:pt x="872286" y="1797850"/>
                  </a:lnTo>
                  <a:lnTo>
                    <a:pt x="861123" y="1809000"/>
                  </a:lnTo>
                  <a:lnTo>
                    <a:pt x="861123" y="1811528"/>
                  </a:lnTo>
                  <a:lnTo>
                    <a:pt x="861123" y="1814042"/>
                  </a:lnTo>
                  <a:lnTo>
                    <a:pt x="872286" y="1825205"/>
                  </a:lnTo>
                  <a:lnTo>
                    <a:pt x="877316" y="1825205"/>
                  </a:lnTo>
                  <a:lnTo>
                    <a:pt x="888479" y="1814042"/>
                  </a:lnTo>
                  <a:lnTo>
                    <a:pt x="888479" y="1809000"/>
                  </a:lnTo>
                  <a:close/>
                </a:path>
                <a:path w="1293495" h="1829435">
                  <a:moveTo>
                    <a:pt x="938161" y="587527"/>
                  </a:moveTo>
                  <a:lnTo>
                    <a:pt x="926998" y="576364"/>
                  </a:lnTo>
                  <a:lnTo>
                    <a:pt x="921956" y="576364"/>
                  </a:lnTo>
                  <a:lnTo>
                    <a:pt x="910805" y="587527"/>
                  </a:lnTo>
                  <a:lnTo>
                    <a:pt x="910805" y="590042"/>
                  </a:lnTo>
                  <a:lnTo>
                    <a:pt x="910805" y="592569"/>
                  </a:lnTo>
                  <a:lnTo>
                    <a:pt x="921956" y="603719"/>
                  </a:lnTo>
                  <a:lnTo>
                    <a:pt x="926998" y="603719"/>
                  </a:lnTo>
                  <a:lnTo>
                    <a:pt x="938161" y="592569"/>
                  </a:lnTo>
                  <a:lnTo>
                    <a:pt x="938161" y="587527"/>
                  </a:lnTo>
                  <a:close/>
                </a:path>
                <a:path w="1293495" h="1829435">
                  <a:moveTo>
                    <a:pt x="1001522" y="1212481"/>
                  </a:moveTo>
                  <a:lnTo>
                    <a:pt x="990358" y="1201331"/>
                  </a:lnTo>
                  <a:lnTo>
                    <a:pt x="985316" y="1201331"/>
                  </a:lnTo>
                  <a:lnTo>
                    <a:pt x="974166" y="1212481"/>
                  </a:lnTo>
                  <a:lnTo>
                    <a:pt x="974166" y="1215009"/>
                  </a:lnTo>
                  <a:lnTo>
                    <a:pt x="974166" y="1217523"/>
                  </a:lnTo>
                  <a:lnTo>
                    <a:pt x="985316" y="1228686"/>
                  </a:lnTo>
                  <a:lnTo>
                    <a:pt x="990358" y="1228686"/>
                  </a:lnTo>
                  <a:lnTo>
                    <a:pt x="1001522" y="1217523"/>
                  </a:lnTo>
                  <a:lnTo>
                    <a:pt x="1001522" y="1212481"/>
                  </a:lnTo>
                  <a:close/>
                </a:path>
                <a:path w="1293495" h="1829435">
                  <a:moveTo>
                    <a:pt x="1170724" y="177482"/>
                  </a:moveTo>
                  <a:lnTo>
                    <a:pt x="1159560" y="166331"/>
                  </a:lnTo>
                  <a:lnTo>
                    <a:pt x="1154518" y="166331"/>
                  </a:lnTo>
                  <a:lnTo>
                    <a:pt x="1143368" y="177482"/>
                  </a:lnTo>
                  <a:lnTo>
                    <a:pt x="1143368" y="180009"/>
                  </a:lnTo>
                  <a:lnTo>
                    <a:pt x="1143368" y="182524"/>
                  </a:lnTo>
                  <a:lnTo>
                    <a:pt x="1154518" y="193687"/>
                  </a:lnTo>
                  <a:lnTo>
                    <a:pt x="1159560" y="193687"/>
                  </a:lnTo>
                  <a:lnTo>
                    <a:pt x="1170724" y="182524"/>
                  </a:lnTo>
                  <a:lnTo>
                    <a:pt x="1170724" y="177482"/>
                  </a:lnTo>
                  <a:close/>
                </a:path>
                <a:path w="1293495" h="1829435">
                  <a:moveTo>
                    <a:pt x="1203121" y="502564"/>
                  </a:moveTo>
                  <a:lnTo>
                    <a:pt x="1191958" y="491401"/>
                  </a:lnTo>
                  <a:lnTo>
                    <a:pt x="1186916" y="491401"/>
                  </a:lnTo>
                  <a:lnTo>
                    <a:pt x="1175766" y="502564"/>
                  </a:lnTo>
                  <a:lnTo>
                    <a:pt x="1175766" y="505091"/>
                  </a:lnTo>
                  <a:lnTo>
                    <a:pt x="1175766" y="507606"/>
                  </a:lnTo>
                  <a:lnTo>
                    <a:pt x="1186916" y="518769"/>
                  </a:lnTo>
                  <a:lnTo>
                    <a:pt x="1191958" y="518769"/>
                  </a:lnTo>
                  <a:lnTo>
                    <a:pt x="1203121" y="507606"/>
                  </a:lnTo>
                  <a:lnTo>
                    <a:pt x="1203121" y="502564"/>
                  </a:lnTo>
                  <a:close/>
                </a:path>
                <a:path w="1293495" h="1829435">
                  <a:moveTo>
                    <a:pt x="1210322" y="671042"/>
                  </a:moveTo>
                  <a:lnTo>
                    <a:pt x="1199159" y="659892"/>
                  </a:lnTo>
                  <a:lnTo>
                    <a:pt x="1194117" y="659892"/>
                  </a:lnTo>
                  <a:lnTo>
                    <a:pt x="1182966" y="671042"/>
                  </a:lnTo>
                  <a:lnTo>
                    <a:pt x="1182966" y="673569"/>
                  </a:lnTo>
                  <a:lnTo>
                    <a:pt x="1182966" y="676084"/>
                  </a:lnTo>
                  <a:lnTo>
                    <a:pt x="1194117" y="687247"/>
                  </a:lnTo>
                  <a:lnTo>
                    <a:pt x="1199159" y="687247"/>
                  </a:lnTo>
                  <a:lnTo>
                    <a:pt x="1210322" y="676084"/>
                  </a:lnTo>
                  <a:lnTo>
                    <a:pt x="1210322" y="671042"/>
                  </a:lnTo>
                  <a:close/>
                </a:path>
                <a:path w="1293495" h="1829435">
                  <a:moveTo>
                    <a:pt x="1234084" y="802449"/>
                  </a:moveTo>
                  <a:lnTo>
                    <a:pt x="1222921" y="791286"/>
                  </a:lnTo>
                  <a:lnTo>
                    <a:pt x="1217879" y="791286"/>
                  </a:lnTo>
                  <a:lnTo>
                    <a:pt x="1206715" y="802449"/>
                  </a:lnTo>
                  <a:lnTo>
                    <a:pt x="1206715" y="804964"/>
                  </a:lnTo>
                  <a:lnTo>
                    <a:pt x="1206715" y="807491"/>
                  </a:lnTo>
                  <a:lnTo>
                    <a:pt x="1217879" y="818642"/>
                  </a:lnTo>
                  <a:lnTo>
                    <a:pt x="1222921" y="818642"/>
                  </a:lnTo>
                  <a:lnTo>
                    <a:pt x="1234084" y="807491"/>
                  </a:lnTo>
                  <a:lnTo>
                    <a:pt x="1234084" y="802449"/>
                  </a:lnTo>
                  <a:close/>
                </a:path>
                <a:path w="1293495" h="1829435">
                  <a:moveTo>
                    <a:pt x="1293482" y="1364767"/>
                  </a:moveTo>
                  <a:lnTo>
                    <a:pt x="1282319" y="1353604"/>
                  </a:lnTo>
                  <a:lnTo>
                    <a:pt x="1277810" y="1353604"/>
                  </a:lnTo>
                  <a:lnTo>
                    <a:pt x="1276921" y="1351800"/>
                  </a:lnTo>
                  <a:lnTo>
                    <a:pt x="1275118" y="1350010"/>
                  </a:lnTo>
                  <a:lnTo>
                    <a:pt x="1270800" y="1347851"/>
                  </a:lnTo>
                  <a:lnTo>
                    <a:pt x="1268641" y="1347127"/>
                  </a:lnTo>
                  <a:lnTo>
                    <a:pt x="1263599" y="1347127"/>
                  </a:lnTo>
                  <a:lnTo>
                    <a:pt x="1252435" y="1358290"/>
                  </a:lnTo>
                  <a:lnTo>
                    <a:pt x="1252435" y="1360805"/>
                  </a:lnTo>
                  <a:lnTo>
                    <a:pt x="1252435" y="1363332"/>
                  </a:lnTo>
                  <a:lnTo>
                    <a:pt x="1263599" y="1374482"/>
                  </a:lnTo>
                  <a:lnTo>
                    <a:pt x="1268095" y="1374482"/>
                  </a:lnTo>
                  <a:lnTo>
                    <a:pt x="1268996" y="1376286"/>
                  </a:lnTo>
                  <a:lnTo>
                    <a:pt x="1270800" y="1378089"/>
                  </a:lnTo>
                  <a:lnTo>
                    <a:pt x="1275118" y="1380248"/>
                  </a:lnTo>
                  <a:lnTo>
                    <a:pt x="1277277" y="1380959"/>
                  </a:lnTo>
                  <a:lnTo>
                    <a:pt x="1282319" y="1380959"/>
                  </a:lnTo>
                  <a:lnTo>
                    <a:pt x="1293482" y="1369809"/>
                  </a:lnTo>
                  <a:lnTo>
                    <a:pt x="1293482" y="1364767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865395" y="3629520"/>
              <a:ext cx="1936114" cy="1870710"/>
            </a:xfrm>
            <a:custGeom>
              <a:avLst/>
              <a:gdLst/>
              <a:ahLst/>
              <a:cxnLst/>
              <a:rect l="l" t="t" r="r" b="b"/>
              <a:pathLst>
                <a:path w="1936115" h="1870710">
                  <a:moveTo>
                    <a:pt x="27368" y="831964"/>
                  </a:moveTo>
                  <a:lnTo>
                    <a:pt x="16205" y="820801"/>
                  </a:lnTo>
                  <a:lnTo>
                    <a:pt x="11163" y="820801"/>
                  </a:lnTo>
                  <a:lnTo>
                    <a:pt x="0" y="831964"/>
                  </a:lnTo>
                  <a:lnTo>
                    <a:pt x="0" y="834478"/>
                  </a:lnTo>
                  <a:lnTo>
                    <a:pt x="0" y="836993"/>
                  </a:lnTo>
                  <a:lnTo>
                    <a:pt x="11163" y="848156"/>
                  </a:lnTo>
                  <a:lnTo>
                    <a:pt x="16205" y="848156"/>
                  </a:lnTo>
                  <a:lnTo>
                    <a:pt x="27368" y="836993"/>
                  </a:lnTo>
                  <a:lnTo>
                    <a:pt x="27368" y="831964"/>
                  </a:lnTo>
                  <a:close/>
                </a:path>
                <a:path w="1936115" h="1870710">
                  <a:moveTo>
                    <a:pt x="83883" y="1616405"/>
                  </a:moveTo>
                  <a:lnTo>
                    <a:pt x="72720" y="1605241"/>
                  </a:lnTo>
                  <a:lnTo>
                    <a:pt x="67678" y="1605241"/>
                  </a:lnTo>
                  <a:lnTo>
                    <a:pt x="56527" y="1616405"/>
                  </a:lnTo>
                  <a:lnTo>
                    <a:pt x="56527" y="1618919"/>
                  </a:lnTo>
                  <a:lnTo>
                    <a:pt x="56527" y="1621434"/>
                  </a:lnTo>
                  <a:lnTo>
                    <a:pt x="67678" y="1632597"/>
                  </a:lnTo>
                  <a:lnTo>
                    <a:pt x="72720" y="1632597"/>
                  </a:lnTo>
                  <a:lnTo>
                    <a:pt x="83883" y="1621434"/>
                  </a:lnTo>
                  <a:lnTo>
                    <a:pt x="83883" y="1616405"/>
                  </a:lnTo>
                  <a:close/>
                </a:path>
                <a:path w="1936115" h="1870710">
                  <a:moveTo>
                    <a:pt x="84239" y="1445044"/>
                  </a:moveTo>
                  <a:lnTo>
                    <a:pt x="73088" y="1433880"/>
                  </a:lnTo>
                  <a:lnTo>
                    <a:pt x="68046" y="1433880"/>
                  </a:lnTo>
                  <a:lnTo>
                    <a:pt x="56883" y="1445044"/>
                  </a:lnTo>
                  <a:lnTo>
                    <a:pt x="56883" y="1447558"/>
                  </a:lnTo>
                  <a:lnTo>
                    <a:pt x="56883" y="1450086"/>
                  </a:lnTo>
                  <a:lnTo>
                    <a:pt x="68046" y="1461236"/>
                  </a:lnTo>
                  <a:lnTo>
                    <a:pt x="73088" y="1461236"/>
                  </a:lnTo>
                  <a:lnTo>
                    <a:pt x="84239" y="1450086"/>
                  </a:lnTo>
                  <a:lnTo>
                    <a:pt x="84239" y="1445044"/>
                  </a:lnTo>
                  <a:close/>
                </a:path>
                <a:path w="1936115" h="1870710">
                  <a:moveTo>
                    <a:pt x="108724" y="1733042"/>
                  </a:moveTo>
                  <a:lnTo>
                    <a:pt x="97561" y="1721878"/>
                  </a:lnTo>
                  <a:lnTo>
                    <a:pt x="92519" y="1721878"/>
                  </a:lnTo>
                  <a:lnTo>
                    <a:pt x="81368" y="1733042"/>
                  </a:lnTo>
                  <a:lnTo>
                    <a:pt x="81368" y="1735556"/>
                  </a:lnTo>
                  <a:lnTo>
                    <a:pt x="81368" y="1738083"/>
                  </a:lnTo>
                  <a:lnTo>
                    <a:pt x="92519" y="1749234"/>
                  </a:lnTo>
                  <a:lnTo>
                    <a:pt x="97561" y="1749234"/>
                  </a:lnTo>
                  <a:lnTo>
                    <a:pt x="108724" y="1738083"/>
                  </a:lnTo>
                  <a:lnTo>
                    <a:pt x="108724" y="1733042"/>
                  </a:lnTo>
                  <a:close/>
                </a:path>
                <a:path w="1936115" h="1870710">
                  <a:moveTo>
                    <a:pt x="114122" y="1688045"/>
                  </a:moveTo>
                  <a:lnTo>
                    <a:pt x="102958" y="1676882"/>
                  </a:lnTo>
                  <a:lnTo>
                    <a:pt x="97929" y="1676882"/>
                  </a:lnTo>
                  <a:lnTo>
                    <a:pt x="86766" y="1688045"/>
                  </a:lnTo>
                  <a:lnTo>
                    <a:pt x="86766" y="1690560"/>
                  </a:lnTo>
                  <a:lnTo>
                    <a:pt x="86766" y="1693075"/>
                  </a:lnTo>
                  <a:lnTo>
                    <a:pt x="97929" y="1704238"/>
                  </a:lnTo>
                  <a:lnTo>
                    <a:pt x="102958" y="1704238"/>
                  </a:lnTo>
                  <a:lnTo>
                    <a:pt x="114122" y="1693075"/>
                  </a:lnTo>
                  <a:lnTo>
                    <a:pt x="114122" y="1688045"/>
                  </a:lnTo>
                  <a:close/>
                </a:path>
                <a:path w="1936115" h="1870710">
                  <a:moveTo>
                    <a:pt x="358559" y="13322"/>
                  </a:moveTo>
                  <a:lnTo>
                    <a:pt x="347408" y="2159"/>
                  </a:lnTo>
                  <a:lnTo>
                    <a:pt x="342366" y="2159"/>
                  </a:lnTo>
                  <a:lnTo>
                    <a:pt x="331203" y="13322"/>
                  </a:lnTo>
                  <a:lnTo>
                    <a:pt x="331203" y="15836"/>
                  </a:lnTo>
                  <a:lnTo>
                    <a:pt x="331203" y="18364"/>
                  </a:lnTo>
                  <a:lnTo>
                    <a:pt x="342366" y="29514"/>
                  </a:lnTo>
                  <a:lnTo>
                    <a:pt x="347408" y="29514"/>
                  </a:lnTo>
                  <a:lnTo>
                    <a:pt x="358559" y="18364"/>
                  </a:lnTo>
                  <a:lnTo>
                    <a:pt x="358559" y="13322"/>
                  </a:lnTo>
                  <a:close/>
                </a:path>
                <a:path w="1936115" h="1870710">
                  <a:moveTo>
                    <a:pt x="550443" y="1766163"/>
                  </a:moveTo>
                  <a:lnTo>
                    <a:pt x="539280" y="1755000"/>
                  </a:lnTo>
                  <a:lnTo>
                    <a:pt x="534250" y="1755000"/>
                  </a:lnTo>
                  <a:lnTo>
                    <a:pt x="523087" y="1766163"/>
                  </a:lnTo>
                  <a:lnTo>
                    <a:pt x="523087" y="1768678"/>
                  </a:lnTo>
                  <a:lnTo>
                    <a:pt x="523087" y="1771205"/>
                  </a:lnTo>
                  <a:lnTo>
                    <a:pt x="534250" y="1782356"/>
                  </a:lnTo>
                  <a:lnTo>
                    <a:pt x="539280" y="1782356"/>
                  </a:lnTo>
                  <a:lnTo>
                    <a:pt x="550443" y="1771205"/>
                  </a:lnTo>
                  <a:lnTo>
                    <a:pt x="550443" y="1766163"/>
                  </a:lnTo>
                  <a:close/>
                </a:path>
                <a:path w="1936115" h="1870710">
                  <a:moveTo>
                    <a:pt x="903960" y="205562"/>
                  </a:moveTo>
                  <a:lnTo>
                    <a:pt x="892810" y="194398"/>
                  </a:lnTo>
                  <a:lnTo>
                    <a:pt x="887768" y="194398"/>
                  </a:lnTo>
                  <a:lnTo>
                    <a:pt x="876604" y="205562"/>
                  </a:lnTo>
                  <a:lnTo>
                    <a:pt x="876604" y="208076"/>
                  </a:lnTo>
                  <a:lnTo>
                    <a:pt x="876604" y="210604"/>
                  </a:lnTo>
                  <a:lnTo>
                    <a:pt x="887768" y="221754"/>
                  </a:lnTo>
                  <a:lnTo>
                    <a:pt x="892810" y="221754"/>
                  </a:lnTo>
                  <a:lnTo>
                    <a:pt x="903960" y="210604"/>
                  </a:lnTo>
                  <a:lnTo>
                    <a:pt x="903960" y="205562"/>
                  </a:lnTo>
                  <a:close/>
                </a:path>
                <a:path w="1936115" h="1870710">
                  <a:moveTo>
                    <a:pt x="907567" y="129603"/>
                  </a:moveTo>
                  <a:lnTo>
                    <a:pt x="896404" y="118440"/>
                  </a:lnTo>
                  <a:lnTo>
                    <a:pt x="891362" y="118440"/>
                  </a:lnTo>
                  <a:lnTo>
                    <a:pt x="880198" y="129603"/>
                  </a:lnTo>
                  <a:lnTo>
                    <a:pt x="880198" y="132118"/>
                  </a:lnTo>
                  <a:lnTo>
                    <a:pt x="880198" y="134645"/>
                  </a:lnTo>
                  <a:lnTo>
                    <a:pt x="891362" y="145796"/>
                  </a:lnTo>
                  <a:lnTo>
                    <a:pt x="896404" y="145796"/>
                  </a:lnTo>
                  <a:lnTo>
                    <a:pt x="907567" y="134645"/>
                  </a:lnTo>
                  <a:lnTo>
                    <a:pt x="907567" y="129603"/>
                  </a:lnTo>
                  <a:close/>
                </a:path>
                <a:path w="1936115" h="1870710">
                  <a:moveTo>
                    <a:pt x="979563" y="854633"/>
                  </a:moveTo>
                  <a:lnTo>
                    <a:pt x="968400" y="843483"/>
                  </a:lnTo>
                  <a:lnTo>
                    <a:pt x="963358" y="843483"/>
                  </a:lnTo>
                  <a:lnTo>
                    <a:pt x="952207" y="854633"/>
                  </a:lnTo>
                  <a:lnTo>
                    <a:pt x="952207" y="857161"/>
                  </a:lnTo>
                  <a:lnTo>
                    <a:pt x="952207" y="859675"/>
                  </a:lnTo>
                  <a:lnTo>
                    <a:pt x="963358" y="870839"/>
                  </a:lnTo>
                  <a:lnTo>
                    <a:pt x="968400" y="870839"/>
                  </a:lnTo>
                  <a:lnTo>
                    <a:pt x="979563" y="859675"/>
                  </a:lnTo>
                  <a:lnTo>
                    <a:pt x="979563" y="854633"/>
                  </a:lnTo>
                  <a:close/>
                </a:path>
                <a:path w="1936115" h="1870710">
                  <a:moveTo>
                    <a:pt x="982802" y="1005840"/>
                  </a:moveTo>
                  <a:lnTo>
                    <a:pt x="971638" y="994676"/>
                  </a:lnTo>
                  <a:lnTo>
                    <a:pt x="966609" y="994676"/>
                  </a:lnTo>
                  <a:lnTo>
                    <a:pt x="955446" y="1005840"/>
                  </a:lnTo>
                  <a:lnTo>
                    <a:pt x="955446" y="1008354"/>
                  </a:lnTo>
                  <a:lnTo>
                    <a:pt x="955446" y="1010881"/>
                  </a:lnTo>
                  <a:lnTo>
                    <a:pt x="966609" y="1022045"/>
                  </a:lnTo>
                  <a:lnTo>
                    <a:pt x="971638" y="1022045"/>
                  </a:lnTo>
                  <a:lnTo>
                    <a:pt x="982802" y="1010881"/>
                  </a:lnTo>
                  <a:lnTo>
                    <a:pt x="982802" y="1005840"/>
                  </a:lnTo>
                  <a:close/>
                </a:path>
                <a:path w="1936115" h="1870710">
                  <a:moveTo>
                    <a:pt x="1011605" y="1293114"/>
                  </a:moveTo>
                  <a:lnTo>
                    <a:pt x="1000442" y="1281963"/>
                  </a:lnTo>
                  <a:lnTo>
                    <a:pt x="995400" y="1281963"/>
                  </a:lnTo>
                  <a:lnTo>
                    <a:pt x="984250" y="1293114"/>
                  </a:lnTo>
                  <a:lnTo>
                    <a:pt x="984250" y="1295641"/>
                  </a:lnTo>
                  <a:lnTo>
                    <a:pt x="984250" y="1298155"/>
                  </a:lnTo>
                  <a:lnTo>
                    <a:pt x="995400" y="1309319"/>
                  </a:lnTo>
                  <a:lnTo>
                    <a:pt x="1000442" y="1309319"/>
                  </a:lnTo>
                  <a:lnTo>
                    <a:pt x="1011605" y="1298155"/>
                  </a:lnTo>
                  <a:lnTo>
                    <a:pt x="1011605" y="1293114"/>
                  </a:lnTo>
                  <a:close/>
                </a:path>
                <a:path w="1936115" h="1870710">
                  <a:moveTo>
                    <a:pt x="1014120" y="1204556"/>
                  </a:moveTo>
                  <a:lnTo>
                    <a:pt x="1002969" y="1193393"/>
                  </a:lnTo>
                  <a:lnTo>
                    <a:pt x="997927" y="1193393"/>
                  </a:lnTo>
                  <a:lnTo>
                    <a:pt x="986764" y="1204556"/>
                  </a:lnTo>
                  <a:lnTo>
                    <a:pt x="986764" y="1207084"/>
                  </a:lnTo>
                  <a:lnTo>
                    <a:pt x="986764" y="1209598"/>
                  </a:lnTo>
                  <a:lnTo>
                    <a:pt x="997927" y="1220762"/>
                  </a:lnTo>
                  <a:lnTo>
                    <a:pt x="1002969" y="1220762"/>
                  </a:lnTo>
                  <a:lnTo>
                    <a:pt x="1014120" y="1209598"/>
                  </a:lnTo>
                  <a:lnTo>
                    <a:pt x="1014120" y="1204556"/>
                  </a:lnTo>
                  <a:close/>
                </a:path>
                <a:path w="1936115" h="1870710">
                  <a:moveTo>
                    <a:pt x="1034999" y="1530718"/>
                  </a:moveTo>
                  <a:lnTo>
                    <a:pt x="1023848" y="1519555"/>
                  </a:lnTo>
                  <a:lnTo>
                    <a:pt x="1018806" y="1519555"/>
                  </a:lnTo>
                  <a:lnTo>
                    <a:pt x="1007643" y="1530718"/>
                  </a:lnTo>
                  <a:lnTo>
                    <a:pt x="1007643" y="1533245"/>
                  </a:lnTo>
                  <a:lnTo>
                    <a:pt x="1007643" y="1535760"/>
                  </a:lnTo>
                  <a:lnTo>
                    <a:pt x="1018806" y="1546923"/>
                  </a:lnTo>
                  <a:lnTo>
                    <a:pt x="1023848" y="1546923"/>
                  </a:lnTo>
                  <a:lnTo>
                    <a:pt x="1034999" y="1535760"/>
                  </a:lnTo>
                  <a:lnTo>
                    <a:pt x="1034999" y="1530718"/>
                  </a:lnTo>
                  <a:close/>
                </a:path>
                <a:path w="1936115" h="1870710">
                  <a:moveTo>
                    <a:pt x="1052283" y="1706041"/>
                  </a:moveTo>
                  <a:lnTo>
                    <a:pt x="1041120" y="1694878"/>
                  </a:lnTo>
                  <a:lnTo>
                    <a:pt x="1036078" y="1694878"/>
                  </a:lnTo>
                  <a:lnTo>
                    <a:pt x="1024928" y="1706041"/>
                  </a:lnTo>
                  <a:lnTo>
                    <a:pt x="1024928" y="1708556"/>
                  </a:lnTo>
                  <a:lnTo>
                    <a:pt x="1024928" y="1711083"/>
                  </a:lnTo>
                  <a:lnTo>
                    <a:pt x="1036078" y="1722234"/>
                  </a:lnTo>
                  <a:lnTo>
                    <a:pt x="1041120" y="1722234"/>
                  </a:lnTo>
                  <a:lnTo>
                    <a:pt x="1052283" y="1711083"/>
                  </a:lnTo>
                  <a:lnTo>
                    <a:pt x="1052283" y="1706041"/>
                  </a:lnTo>
                  <a:close/>
                </a:path>
                <a:path w="1936115" h="1870710">
                  <a:moveTo>
                    <a:pt x="1056601" y="1629714"/>
                  </a:moveTo>
                  <a:lnTo>
                    <a:pt x="1045438" y="1618564"/>
                  </a:lnTo>
                  <a:lnTo>
                    <a:pt x="1040409" y="1618564"/>
                  </a:lnTo>
                  <a:lnTo>
                    <a:pt x="1029246" y="1629714"/>
                  </a:lnTo>
                  <a:lnTo>
                    <a:pt x="1029246" y="1632242"/>
                  </a:lnTo>
                  <a:lnTo>
                    <a:pt x="1029246" y="1634756"/>
                  </a:lnTo>
                  <a:lnTo>
                    <a:pt x="1040409" y="1645920"/>
                  </a:lnTo>
                  <a:lnTo>
                    <a:pt x="1045438" y="1645920"/>
                  </a:lnTo>
                  <a:lnTo>
                    <a:pt x="1056601" y="1634756"/>
                  </a:lnTo>
                  <a:lnTo>
                    <a:pt x="1056601" y="1629714"/>
                  </a:lnTo>
                  <a:close/>
                </a:path>
                <a:path w="1936115" h="1870710">
                  <a:moveTo>
                    <a:pt x="1217168" y="373684"/>
                  </a:moveTo>
                  <a:lnTo>
                    <a:pt x="1206004" y="362521"/>
                  </a:lnTo>
                  <a:lnTo>
                    <a:pt x="1200962" y="362521"/>
                  </a:lnTo>
                  <a:lnTo>
                    <a:pt x="1198803" y="363245"/>
                  </a:lnTo>
                  <a:lnTo>
                    <a:pt x="1195920" y="364693"/>
                  </a:lnTo>
                  <a:lnTo>
                    <a:pt x="1193761" y="363956"/>
                  </a:lnTo>
                  <a:lnTo>
                    <a:pt x="1188720" y="363956"/>
                  </a:lnTo>
                  <a:lnTo>
                    <a:pt x="1177569" y="375119"/>
                  </a:lnTo>
                  <a:lnTo>
                    <a:pt x="1177569" y="377634"/>
                  </a:lnTo>
                  <a:lnTo>
                    <a:pt x="1177569" y="380161"/>
                  </a:lnTo>
                  <a:lnTo>
                    <a:pt x="1188720" y="391325"/>
                  </a:lnTo>
                  <a:lnTo>
                    <a:pt x="1193761" y="391325"/>
                  </a:lnTo>
                  <a:lnTo>
                    <a:pt x="1195920" y="390601"/>
                  </a:lnTo>
                  <a:lnTo>
                    <a:pt x="1198803" y="389166"/>
                  </a:lnTo>
                  <a:lnTo>
                    <a:pt x="1200962" y="389877"/>
                  </a:lnTo>
                  <a:lnTo>
                    <a:pt x="1206004" y="389877"/>
                  </a:lnTo>
                  <a:lnTo>
                    <a:pt x="1208163" y="389153"/>
                  </a:lnTo>
                  <a:lnTo>
                    <a:pt x="1212481" y="386994"/>
                  </a:lnTo>
                  <a:lnTo>
                    <a:pt x="1214285" y="385203"/>
                  </a:lnTo>
                  <a:lnTo>
                    <a:pt x="1216444" y="380885"/>
                  </a:lnTo>
                  <a:lnTo>
                    <a:pt x="1217168" y="378714"/>
                  </a:lnTo>
                  <a:lnTo>
                    <a:pt x="1217168" y="373684"/>
                  </a:lnTo>
                  <a:close/>
                </a:path>
                <a:path w="1936115" h="1870710">
                  <a:moveTo>
                    <a:pt x="1237322" y="50038"/>
                  </a:moveTo>
                  <a:lnTo>
                    <a:pt x="1226159" y="38874"/>
                  </a:lnTo>
                  <a:lnTo>
                    <a:pt x="1221130" y="38874"/>
                  </a:lnTo>
                  <a:lnTo>
                    <a:pt x="1209967" y="50038"/>
                  </a:lnTo>
                  <a:lnTo>
                    <a:pt x="1209967" y="52565"/>
                  </a:lnTo>
                  <a:lnTo>
                    <a:pt x="1209967" y="55079"/>
                  </a:lnTo>
                  <a:lnTo>
                    <a:pt x="1221130" y="66243"/>
                  </a:lnTo>
                  <a:lnTo>
                    <a:pt x="1226159" y="66243"/>
                  </a:lnTo>
                  <a:lnTo>
                    <a:pt x="1237322" y="55079"/>
                  </a:lnTo>
                  <a:lnTo>
                    <a:pt x="1237322" y="50038"/>
                  </a:lnTo>
                  <a:close/>
                </a:path>
                <a:path w="1936115" h="1870710">
                  <a:moveTo>
                    <a:pt x="1248130" y="178917"/>
                  </a:moveTo>
                  <a:lnTo>
                    <a:pt x="1236967" y="167754"/>
                  </a:lnTo>
                  <a:lnTo>
                    <a:pt x="1231925" y="167754"/>
                  </a:lnTo>
                  <a:lnTo>
                    <a:pt x="1220762" y="178917"/>
                  </a:lnTo>
                  <a:lnTo>
                    <a:pt x="1220762" y="181444"/>
                  </a:lnTo>
                  <a:lnTo>
                    <a:pt x="1220762" y="183959"/>
                  </a:lnTo>
                  <a:lnTo>
                    <a:pt x="1231925" y="195122"/>
                  </a:lnTo>
                  <a:lnTo>
                    <a:pt x="1236967" y="195122"/>
                  </a:lnTo>
                  <a:lnTo>
                    <a:pt x="1248130" y="183959"/>
                  </a:lnTo>
                  <a:lnTo>
                    <a:pt x="1248130" y="178917"/>
                  </a:lnTo>
                  <a:close/>
                </a:path>
                <a:path w="1936115" h="1870710">
                  <a:moveTo>
                    <a:pt x="1252080" y="23393"/>
                  </a:moveTo>
                  <a:lnTo>
                    <a:pt x="1240929" y="12242"/>
                  </a:lnTo>
                  <a:lnTo>
                    <a:pt x="1235887" y="12242"/>
                  </a:lnTo>
                  <a:lnTo>
                    <a:pt x="1224724" y="23393"/>
                  </a:lnTo>
                  <a:lnTo>
                    <a:pt x="1224724" y="25920"/>
                  </a:lnTo>
                  <a:lnTo>
                    <a:pt x="1224724" y="28435"/>
                  </a:lnTo>
                  <a:lnTo>
                    <a:pt x="1235887" y="39598"/>
                  </a:lnTo>
                  <a:lnTo>
                    <a:pt x="1240929" y="39598"/>
                  </a:lnTo>
                  <a:lnTo>
                    <a:pt x="1252080" y="28435"/>
                  </a:lnTo>
                  <a:lnTo>
                    <a:pt x="1252080" y="23393"/>
                  </a:lnTo>
                  <a:close/>
                </a:path>
                <a:path w="1936115" h="1870710">
                  <a:moveTo>
                    <a:pt x="1286649" y="455764"/>
                  </a:moveTo>
                  <a:lnTo>
                    <a:pt x="1275486" y="444601"/>
                  </a:lnTo>
                  <a:lnTo>
                    <a:pt x="1270444" y="444601"/>
                  </a:lnTo>
                  <a:lnTo>
                    <a:pt x="1259281" y="455764"/>
                  </a:lnTo>
                  <a:lnTo>
                    <a:pt x="1259281" y="458279"/>
                  </a:lnTo>
                  <a:lnTo>
                    <a:pt x="1259281" y="460794"/>
                  </a:lnTo>
                  <a:lnTo>
                    <a:pt x="1270444" y="471957"/>
                  </a:lnTo>
                  <a:lnTo>
                    <a:pt x="1275486" y="471957"/>
                  </a:lnTo>
                  <a:lnTo>
                    <a:pt x="1286649" y="460794"/>
                  </a:lnTo>
                  <a:lnTo>
                    <a:pt x="1286649" y="455764"/>
                  </a:lnTo>
                  <a:close/>
                </a:path>
                <a:path w="1936115" h="1870710">
                  <a:moveTo>
                    <a:pt x="1316520" y="11163"/>
                  </a:moveTo>
                  <a:lnTo>
                    <a:pt x="1305369" y="0"/>
                  </a:lnTo>
                  <a:lnTo>
                    <a:pt x="1300327" y="0"/>
                  </a:lnTo>
                  <a:lnTo>
                    <a:pt x="1289164" y="11163"/>
                  </a:lnTo>
                  <a:lnTo>
                    <a:pt x="1289164" y="13677"/>
                  </a:lnTo>
                  <a:lnTo>
                    <a:pt x="1289164" y="16205"/>
                  </a:lnTo>
                  <a:lnTo>
                    <a:pt x="1300327" y="27355"/>
                  </a:lnTo>
                  <a:lnTo>
                    <a:pt x="1305369" y="27355"/>
                  </a:lnTo>
                  <a:lnTo>
                    <a:pt x="1316520" y="16205"/>
                  </a:lnTo>
                  <a:lnTo>
                    <a:pt x="1316520" y="11163"/>
                  </a:lnTo>
                  <a:close/>
                </a:path>
                <a:path w="1936115" h="1870710">
                  <a:moveTo>
                    <a:pt x="1344968" y="1154163"/>
                  </a:moveTo>
                  <a:lnTo>
                    <a:pt x="1333804" y="1143000"/>
                  </a:lnTo>
                  <a:lnTo>
                    <a:pt x="1328762" y="1143000"/>
                  </a:lnTo>
                  <a:lnTo>
                    <a:pt x="1317599" y="1154163"/>
                  </a:lnTo>
                  <a:lnTo>
                    <a:pt x="1317599" y="1156677"/>
                  </a:lnTo>
                  <a:lnTo>
                    <a:pt x="1317599" y="1159205"/>
                  </a:lnTo>
                  <a:lnTo>
                    <a:pt x="1328762" y="1170355"/>
                  </a:lnTo>
                  <a:lnTo>
                    <a:pt x="1333804" y="1170355"/>
                  </a:lnTo>
                  <a:lnTo>
                    <a:pt x="1344968" y="1159205"/>
                  </a:lnTo>
                  <a:lnTo>
                    <a:pt x="1344968" y="1154163"/>
                  </a:lnTo>
                  <a:close/>
                </a:path>
                <a:path w="1936115" h="1870710">
                  <a:moveTo>
                    <a:pt x="1354683" y="398881"/>
                  </a:moveTo>
                  <a:lnTo>
                    <a:pt x="1343520" y="387718"/>
                  </a:lnTo>
                  <a:lnTo>
                    <a:pt x="1338478" y="387718"/>
                  </a:lnTo>
                  <a:lnTo>
                    <a:pt x="1327327" y="398881"/>
                  </a:lnTo>
                  <a:lnTo>
                    <a:pt x="1327327" y="401396"/>
                  </a:lnTo>
                  <a:lnTo>
                    <a:pt x="1327327" y="403923"/>
                  </a:lnTo>
                  <a:lnTo>
                    <a:pt x="1338478" y="415074"/>
                  </a:lnTo>
                  <a:lnTo>
                    <a:pt x="1343520" y="415074"/>
                  </a:lnTo>
                  <a:lnTo>
                    <a:pt x="1354683" y="403923"/>
                  </a:lnTo>
                  <a:lnTo>
                    <a:pt x="1354683" y="398881"/>
                  </a:lnTo>
                  <a:close/>
                </a:path>
                <a:path w="1936115" h="1870710">
                  <a:moveTo>
                    <a:pt x="1363687" y="367919"/>
                  </a:moveTo>
                  <a:lnTo>
                    <a:pt x="1352524" y="356755"/>
                  </a:lnTo>
                  <a:lnTo>
                    <a:pt x="1347482" y="356755"/>
                  </a:lnTo>
                  <a:lnTo>
                    <a:pt x="1336319" y="367919"/>
                  </a:lnTo>
                  <a:lnTo>
                    <a:pt x="1336319" y="370433"/>
                  </a:lnTo>
                  <a:lnTo>
                    <a:pt x="1336319" y="372960"/>
                  </a:lnTo>
                  <a:lnTo>
                    <a:pt x="1347482" y="384124"/>
                  </a:lnTo>
                  <a:lnTo>
                    <a:pt x="1352524" y="384124"/>
                  </a:lnTo>
                  <a:lnTo>
                    <a:pt x="1363687" y="372960"/>
                  </a:lnTo>
                  <a:lnTo>
                    <a:pt x="1363687" y="367919"/>
                  </a:lnTo>
                  <a:close/>
                </a:path>
                <a:path w="1936115" h="1870710">
                  <a:moveTo>
                    <a:pt x="1373403" y="586435"/>
                  </a:moveTo>
                  <a:lnTo>
                    <a:pt x="1362240" y="575284"/>
                  </a:lnTo>
                  <a:lnTo>
                    <a:pt x="1357210" y="575284"/>
                  </a:lnTo>
                  <a:lnTo>
                    <a:pt x="1346047" y="586435"/>
                  </a:lnTo>
                  <a:lnTo>
                    <a:pt x="1346047" y="588962"/>
                  </a:lnTo>
                  <a:lnTo>
                    <a:pt x="1346047" y="591477"/>
                  </a:lnTo>
                  <a:lnTo>
                    <a:pt x="1357210" y="602640"/>
                  </a:lnTo>
                  <a:lnTo>
                    <a:pt x="1362240" y="602640"/>
                  </a:lnTo>
                  <a:lnTo>
                    <a:pt x="1373403" y="591477"/>
                  </a:lnTo>
                  <a:lnTo>
                    <a:pt x="1373403" y="586435"/>
                  </a:lnTo>
                  <a:close/>
                </a:path>
                <a:path w="1936115" h="1870710">
                  <a:moveTo>
                    <a:pt x="1393558" y="667804"/>
                  </a:moveTo>
                  <a:lnTo>
                    <a:pt x="1382407" y="656640"/>
                  </a:lnTo>
                  <a:lnTo>
                    <a:pt x="1377365" y="656640"/>
                  </a:lnTo>
                  <a:lnTo>
                    <a:pt x="1366202" y="667804"/>
                  </a:lnTo>
                  <a:lnTo>
                    <a:pt x="1366202" y="670318"/>
                  </a:lnTo>
                  <a:lnTo>
                    <a:pt x="1366202" y="672846"/>
                  </a:lnTo>
                  <a:lnTo>
                    <a:pt x="1377365" y="683996"/>
                  </a:lnTo>
                  <a:lnTo>
                    <a:pt x="1382407" y="683996"/>
                  </a:lnTo>
                  <a:lnTo>
                    <a:pt x="1393558" y="672846"/>
                  </a:lnTo>
                  <a:lnTo>
                    <a:pt x="1393558" y="667804"/>
                  </a:lnTo>
                  <a:close/>
                </a:path>
                <a:path w="1936115" h="1870710">
                  <a:moveTo>
                    <a:pt x="1427403" y="1124280"/>
                  </a:moveTo>
                  <a:lnTo>
                    <a:pt x="1416240" y="1113116"/>
                  </a:lnTo>
                  <a:lnTo>
                    <a:pt x="1411198" y="1113116"/>
                  </a:lnTo>
                  <a:lnTo>
                    <a:pt x="1400048" y="1124280"/>
                  </a:lnTo>
                  <a:lnTo>
                    <a:pt x="1400048" y="1126794"/>
                  </a:lnTo>
                  <a:lnTo>
                    <a:pt x="1400048" y="1129322"/>
                  </a:lnTo>
                  <a:lnTo>
                    <a:pt x="1411198" y="1140485"/>
                  </a:lnTo>
                  <a:lnTo>
                    <a:pt x="1416240" y="1140485"/>
                  </a:lnTo>
                  <a:lnTo>
                    <a:pt x="1427403" y="1129322"/>
                  </a:lnTo>
                  <a:lnTo>
                    <a:pt x="1427403" y="1124280"/>
                  </a:lnTo>
                  <a:close/>
                </a:path>
                <a:path w="1936115" h="1870710">
                  <a:moveTo>
                    <a:pt x="1459801" y="1448993"/>
                  </a:moveTo>
                  <a:lnTo>
                    <a:pt x="1448650" y="1437843"/>
                  </a:lnTo>
                  <a:lnTo>
                    <a:pt x="1443609" y="1437843"/>
                  </a:lnTo>
                  <a:lnTo>
                    <a:pt x="1432445" y="1448993"/>
                  </a:lnTo>
                  <a:lnTo>
                    <a:pt x="1432445" y="1451521"/>
                  </a:lnTo>
                  <a:lnTo>
                    <a:pt x="1432445" y="1454035"/>
                  </a:lnTo>
                  <a:lnTo>
                    <a:pt x="1443609" y="1465199"/>
                  </a:lnTo>
                  <a:lnTo>
                    <a:pt x="1448650" y="1465199"/>
                  </a:lnTo>
                  <a:lnTo>
                    <a:pt x="1459801" y="1454035"/>
                  </a:lnTo>
                  <a:lnTo>
                    <a:pt x="1459801" y="1448993"/>
                  </a:lnTo>
                  <a:close/>
                </a:path>
                <a:path w="1936115" h="1870710">
                  <a:moveTo>
                    <a:pt x="1460881" y="1343164"/>
                  </a:moveTo>
                  <a:lnTo>
                    <a:pt x="1449730" y="1332001"/>
                  </a:lnTo>
                  <a:lnTo>
                    <a:pt x="1444688" y="1332001"/>
                  </a:lnTo>
                  <a:lnTo>
                    <a:pt x="1433525" y="1343164"/>
                  </a:lnTo>
                  <a:lnTo>
                    <a:pt x="1433525" y="1345679"/>
                  </a:lnTo>
                  <a:lnTo>
                    <a:pt x="1433525" y="1348193"/>
                  </a:lnTo>
                  <a:lnTo>
                    <a:pt x="1444688" y="1359357"/>
                  </a:lnTo>
                  <a:lnTo>
                    <a:pt x="1449730" y="1359357"/>
                  </a:lnTo>
                  <a:lnTo>
                    <a:pt x="1460881" y="1348193"/>
                  </a:lnTo>
                  <a:lnTo>
                    <a:pt x="1460881" y="1343164"/>
                  </a:lnTo>
                  <a:close/>
                </a:path>
                <a:path w="1936115" h="1870710">
                  <a:moveTo>
                    <a:pt x="1488249" y="1736636"/>
                  </a:moveTo>
                  <a:lnTo>
                    <a:pt x="1477086" y="1725485"/>
                  </a:lnTo>
                  <a:lnTo>
                    <a:pt x="1472044" y="1725485"/>
                  </a:lnTo>
                  <a:lnTo>
                    <a:pt x="1460881" y="1736636"/>
                  </a:lnTo>
                  <a:lnTo>
                    <a:pt x="1460881" y="1739163"/>
                  </a:lnTo>
                  <a:lnTo>
                    <a:pt x="1460881" y="1741678"/>
                  </a:lnTo>
                  <a:lnTo>
                    <a:pt x="1472044" y="1752841"/>
                  </a:lnTo>
                  <a:lnTo>
                    <a:pt x="1477086" y="1752841"/>
                  </a:lnTo>
                  <a:lnTo>
                    <a:pt x="1488249" y="1741678"/>
                  </a:lnTo>
                  <a:lnTo>
                    <a:pt x="1488249" y="1736636"/>
                  </a:lnTo>
                  <a:close/>
                </a:path>
                <a:path w="1936115" h="1870710">
                  <a:moveTo>
                    <a:pt x="1512366" y="1643037"/>
                  </a:moveTo>
                  <a:lnTo>
                    <a:pt x="1501203" y="1631873"/>
                  </a:lnTo>
                  <a:lnTo>
                    <a:pt x="1496161" y="1631873"/>
                  </a:lnTo>
                  <a:lnTo>
                    <a:pt x="1484998" y="1643037"/>
                  </a:lnTo>
                  <a:lnTo>
                    <a:pt x="1484998" y="1645564"/>
                  </a:lnTo>
                  <a:lnTo>
                    <a:pt x="1484998" y="1648079"/>
                  </a:lnTo>
                  <a:lnTo>
                    <a:pt x="1496161" y="1659242"/>
                  </a:lnTo>
                  <a:lnTo>
                    <a:pt x="1501203" y="1659242"/>
                  </a:lnTo>
                  <a:lnTo>
                    <a:pt x="1512366" y="1648079"/>
                  </a:lnTo>
                  <a:lnTo>
                    <a:pt x="1512366" y="1643037"/>
                  </a:lnTo>
                  <a:close/>
                </a:path>
                <a:path w="1936115" h="1870710">
                  <a:moveTo>
                    <a:pt x="1533245" y="1542961"/>
                  </a:moveTo>
                  <a:lnTo>
                    <a:pt x="1522082" y="1531797"/>
                  </a:lnTo>
                  <a:lnTo>
                    <a:pt x="1517040" y="1531797"/>
                  </a:lnTo>
                  <a:lnTo>
                    <a:pt x="1505889" y="1542961"/>
                  </a:lnTo>
                  <a:lnTo>
                    <a:pt x="1505889" y="1545475"/>
                  </a:lnTo>
                  <a:lnTo>
                    <a:pt x="1505889" y="1548003"/>
                  </a:lnTo>
                  <a:lnTo>
                    <a:pt x="1517040" y="1559153"/>
                  </a:lnTo>
                  <a:lnTo>
                    <a:pt x="1522082" y="1559153"/>
                  </a:lnTo>
                  <a:lnTo>
                    <a:pt x="1533245" y="1548003"/>
                  </a:lnTo>
                  <a:lnTo>
                    <a:pt x="1533245" y="1542961"/>
                  </a:lnTo>
                  <a:close/>
                </a:path>
                <a:path w="1936115" h="1870710">
                  <a:moveTo>
                    <a:pt x="1537563" y="1392834"/>
                  </a:moveTo>
                  <a:lnTo>
                    <a:pt x="1527695" y="1382115"/>
                  </a:lnTo>
                  <a:lnTo>
                    <a:pt x="1527848" y="1381683"/>
                  </a:lnTo>
                  <a:lnTo>
                    <a:pt x="1527848" y="1376641"/>
                  </a:lnTo>
                  <a:lnTo>
                    <a:pt x="1527124" y="1374482"/>
                  </a:lnTo>
                  <a:lnTo>
                    <a:pt x="1524965" y="1370164"/>
                  </a:lnTo>
                  <a:lnTo>
                    <a:pt x="1523161" y="1368361"/>
                  </a:lnTo>
                  <a:lnTo>
                    <a:pt x="1518843" y="1366202"/>
                  </a:lnTo>
                  <a:lnTo>
                    <a:pt x="1516684" y="1365478"/>
                  </a:lnTo>
                  <a:lnTo>
                    <a:pt x="1511642" y="1365478"/>
                  </a:lnTo>
                  <a:lnTo>
                    <a:pt x="1500479" y="1376641"/>
                  </a:lnTo>
                  <a:lnTo>
                    <a:pt x="1500479" y="1379156"/>
                  </a:lnTo>
                  <a:lnTo>
                    <a:pt x="1500479" y="1381683"/>
                  </a:lnTo>
                  <a:lnTo>
                    <a:pt x="1510347" y="1392415"/>
                  </a:lnTo>
                  <a:lnTo>
                    <a:pt x="1510207" y="1392834"/>
                  </a:lnTo>
                  <a:lnTo>
                    <a:pt x="1510207" y="1395361"/>
                  </a:lnTo>
                  <a:lnTo>
                    <a:pt x="1510207" y="1397876"/>
                  </a:lnTo>
                  <a:lnTo>
                    <a:pt x="1510919" y="1400035"/>
                  </a:lnTo>
                  <a:lnTo>
                    <a:pt x="1513090" y="1404366"/>
                  </a:lnTo>
                  <a:lnTo>
                    <a:pt x="1514881" y="1406156"/>
                  </a:lnTo>
                  <a:lnTo>
                    <a:pt x="1519199" y="1408315"/>
                  </a:lnTo>
                  <a:lnTo>
                    <a:pt x="1521358" y="1409039"/>
                  </a:lnTo>
                  <a:lnTo>
                    <a:pt x="1526400" y="1409039"/>
                  </a:lnTo>
                  <a:lnTo>
                    <a:pt x="1537563" y="1397876"/>
                  </a:lnTo>
                  <a:lnTo>
                    <a:pt x="1537563" y="1392834"/>
                  </a:lnTo>
                  <a:close/>
                </a:path>
                <a:path w="1936115" h="1870710">
                  <a:moveTo>
                    <a:pt x="1540090" y="1341716"/>
                  </a:moveTo>
                  <a:lnTo>
                    <a:pt x="1528927" y="1330553"/>
                  </a:lnTo>
                  <a:lnTo>
                    <a:pt x="1523885" y="1330553"/>
                  </a:lnTo>
                  <a:lnTo>
                    <a:pt x="1512722" y="1341716"/>
                  </a:lnTo>
                  <a:lnTo>
                    <a:pt x="1512722" y="1344244"/>
                  </a:lnTo>
                  <a:lnTo>
                    <a:pt x="1512722" y="1346758"/>
                  </a:lnTo>
                  <a:lnTo>
                    <a:pt x="1523885" y="1357922"/>
                  </a:lnTo>
                  <a:lnTo>
                    <a:pt x="1528927" y="1357922"/>
                  </a:lnTo>
                  <a:lnTo>
                    <a:pt x="1540090" y="1346758"/>
                  </a:lnTo>
                  <a:lnTo>
                    <a:pt x="1540090" y="1341716"/>
                  </a:lnTo>
                  <a:close/>
                </a:path>
                <a:path w="1936115" h="1870710">
                  <a:moveTo>
                    <a:pt x="1555927" y="1317955"/>
                  </a:moveTo>
                  <a:lnTo>
                    <a:pt x="1544764" y="1306804"/>
                  </a:lnTo>
                  <a:lnTo>
                    <a:pt x="1539722" y="1306804"/>
                  </a:lnTo>
                  <a:lnTo>
                    <a:pt x="1528559" y="1317955"/>
                  </a:lnTo>
                  <a:lnTo>
                    <a:pt x="1528559" y="1320482"/>
                  </a:lnTo>
                  <a:lnTo>
                    <a:pt x="1528559" y="1322997"/>
                  </a:lnTo>
                  <a:lnTo>
                    <a:pt x="1539722" y="1334160"/>
                  </a:lnTo>
                  <a:lnTo>
                    <a:pt x="1544764" y="1334160"/>
                  </a:lnTo>
                  <a:lnTo>
                    <a:pt x="1555927" y="1322997"/>
                  </a:lnTo>
                  <a:lnTo>
                    <a:pt x="1555927" y="1317955"/>
                  </a:lnTo>
                  <a:close/>
                </a:path>
                <a:path w="1936115" h="1870710">
                  <a:moveTo>
                    <a:pt x="1560969" y="1051560"/>
                  </a:moveTo>
                  <a:lnTo>
                    <a:pt x="1549806" y="1040396"/>
                  </a:lnTo>
                  <a:lnTo>
                    <a:pt x="1544764" y="1040396"/>
                  </a:lnTo>
                  <a:lnTo>
                    <a:pt x="1533601" y="1051560"/>
                  </a:lnTo>
                  <a:lnTo>
                    <a:pt x="1533601" y="1054074"/>
                  </a:lnTo>
                  <a:lnTo>
                    <a:pt x="1533601" y="1056601"/>
                  </a:lnTo>
                  <a:lnTo>
                    <a:pt x="1544764" y="1067765"/>
                  </a:lnTo>
                  <a:lnTo>
                    <a:pt x="1549806" y="1067765"/>
                  </a:lnTo>
                  <a:lnTo>
                    <a:pt x="1560969" y="1056601"/>
                  </a:lnTo>
                  <a:lnTo>
                    <a:pt x="1560969" y="1051560"/>
                  </a:lnTo>
                  <a:close/>
                </a:path>
                <a:path w="1936115" h="1870710">
                  <a:moveTo>
                    <a:pt x="1563128" y="1168196"/>
                  </a:moveTo>
                  <a:lnTo>
                    <a:pt x="1551965" y="1157033"/>
                  </a:lnTo>
                  <a:lnTo>
                    <a:pt x="1546923" y="1157033"/>
                  </a:lnTo>
                  <a:lnTo>
                    <a:pt x="1535760" y="1168196"/>
                  </a:lnTo>
                  <a:lnTo>
                    <a:pt x="1535760" y="1170724"/>
                  </a:lnTo>
                  <a:lnTo>
                    <a:pt x="1535760" y="1173238"/>
                  </a:lnTo>
                  <a:lnTo>
                    <a:pt x="1546923" y="1184402"/>
                  </a:lnTo>
                  <a:lnTo>
                    <a:pt x="1551965" y="1184402"/>
                  </a:lnTo>
                  <a:lnTo>
                    <a:pt x="1563128" y="1173238"/>
                  </a:lnTo>
                  <a:lnTo>
                    <a:pt x="1563128" y="1168196"/>
                  </a:lnTo>
                  <a:close/>
                </a:path>
                <a:path w="1936115" h="1870710">
                  <a:moveTo>
                    <a:pt x="1584007" y="1030325"/>
                  </a:moveTo>
                  <a:lnTo>
                    <a:pt x="1572844" y="1019162"/>
                  </a:lnTo>
                  <a:lnTo>
                    <a:pt x="1567802" y="1019162"/>
                  </a:lnTo>
                  <a:lnTo>
                    <a:pt x="1556639" y="1030325"/>
                  </a:lnTo>
                  <a:lnTo>
                    <a:pt x="1556639" y="1032840"/>
                  </a:lnTo>
                  <a:lnTo>
                    <a:pt x="1556639" y="1035354"/>
                  </a:lnTo>
                  <a:lnTo>
                    <a:pt x="1567802" y="1046518"/>
                  </a:lnTo>
                  <a:lnTo>
                    <a:pt x="1572844" y="1046518"/>
                  </a:lnTo>
                  <a:lnTo>
                    <a:pt x="1584007" y="1035354"/>
                  </a:lnTo>
                  <a:lnTo>
                    <a:pt x="1584007" y="1030325"/>
                  </a:lnTo>
                  <a:close/>
                </a:path>
                <a:path w="1936115" h="1870710">
                  <a:moveTo>
                    <a:pt x="1585087" y="84963"/>
                  </a:moveTo>
                  <a:lnTo>
                    <a:pt x="1573923" y="73799"/>
                  </a:lnTo>
                  <a:lnTo>
                    <a:pt x="1568881" y="73799"/>
                  </a:lnTo>
                  <a:lnTo>
                    <a:pt x="1557718" y="84963"/>
                  </a:lnTo>
                  <a:lnTo>
                    <a:pt x="1557718" y="87477"/>
                  </a:lnTo>
                  <a:lnTo>
                    <a:pt x="1557718" y="90004"/>
                  </a:lnTo>
                  <a:lnTo>
                    <a:pt x="1568881" y="101155"/>
                  </a:lnTo>
                  <a:lnTo>
                    <a:pt x="1573923" y="101155"/>
                  </a:lnTo>
                  <a:lnTo>
                    <a:pt x="1585087" y="90004"/>
                  </a:lnTo>
                  <a:lnTo>
                    <a:pt x="1585087" y="84963"/>
                  </a:lnTo>
                  <a:close/>
                </a:path>
                <a:path w="1936115" h="1870710">
                  <a:moveTo>
                    <a:pt x="1591208" y="829081"/>
                  </a:moveTo>
                  <a:lnTo>
                    <a:pt x="1580045" y="817918"/>
                  </a:lnTo>
                  <a:lnTo>
                    <a:pt x="1575003" y="817918"/>
                  </a:lnTo>
                  <a:lnTo>
                    <a:pt x="1563839" y="829081"/>
                  </a:lnTo>
                  <a:lnTo>
                    <a:pt x="1563839" y="831596"/>
                  </a:lnTo>
                  <a:lnTo>
                    <a:pt x="1563839" y="834123"/>
                  </a:lnTo>
                  <a:lnTo>
                    <a:pt x="1575003" y="845273"/>
                  </a:lnTo>
                  <a:lnTo>
                    <a:pt x="1580045" y="845273"/>
                  </a:lnTo>
                  <a:lnTo>
                    <a:pt x="1591208" y="834123"/>
                  </a:lnTo>
                  <a:lnTo>
                    <a:pt x="1591208" y="829081"/>
                  </a:lnTo>
                  <a:close/>
                </a:path>
                <a:path w="1936115" h="1870710">
                  <a:moveTo>
                    <a:pt x="1597329" y="880922"/>
                  </a:moveTo>
                  <a:lnTo>
                    <a:pt x="1586166" y="869759"/>
                  </a:lnTo>
                  <a:lnTo>
                    <a:pt x="1581124" y="869759"/>
                  </a:lnTo>
                  <a:lnTo>
                    <a:pt x="1569961" y="880922"/>
                  </a:lnTo>
                  <a:lnTo>
                    <a:pt x="1569961" y="883437"/>
                  </a:lnTo>
                  <a:lnTo>
                    <a:pt x="1569961" y="885964"/>
                  </a:lnTo>
                  <a:lnTo>
                    <a:pt x="1581124" y="897115"/>
                  </a:lnTo>
                  <a:lnTo>
                    <a:pt x="1586166" y="897115"/>
                  </a:lnTo>
                  <a:lnTo>
                    <a:pt x="1597329" y="885964"/>
                  </a:lnTo>
                  <a:lnTo>
                    <a:pt x="1597329" y="880922"/>
                  </a:lnTo>
                  <a:close/>
                </a:path>
                <a:path w="1936115" h="1870710">
                  <a:moveTo>
                    <a:pt x="1621802" y="655205"/>
                  </a:moveTo>
                  <a:lnTo>
                    <a:pt x="1610639" y="644042"/>
                  </a:lnTo>
                  <a:lnTo>
                    <a:pt x="1605610" y="644042"/>
                  </a:lnTo>
                  <a:lnTo>
                    <a:pt x="1594446" y="655205"/>
                  </a:lnTo>
                  <a:lnTo>
                    <a:pt x="1594446" y="657720"/>
                  </a:lnTo>
                  <a:lnTo>
                    <a:pt x="1594446" y="660234"/>
                  </a:lnTo>
                  <a:lnTo>
                    <a:pt x="1605610" y="671398"/>
                  </a:lnTo>
                  <a:lnTo>
                    <a:pt x="1610639" y="671398"/>
                  </a:lnTo>
                  <a:lnTo>
                    <a:pt x="1621802" y="660234"/>
                  </a:lnTo>
                  <a:lnTo>
                    <a:pt x="1621802" y="655205"/>
                  </a:lnTo>
                  <a:close/>
                </a:path>
                <a:path w="1936115" h="1870710">
                  <a:moveTo>
                    <a:pt x="1632242" y="568439"/>
                  </a:moveTo>
                  <a:lnTo>
                    <a:pt x="1621078" y="557276"/>
                  </a:lnTo>
                  <a:lnTo>
                    <a:pt x="1616049" y="557276"/>
                  </a:lnTo>
                  <a:lnTo>
                    <a:pt x="1604886" y="568439"/>
                  </a:lnTo>
                  <a:lnTo>
                    <a:pt x="1604886" y="570953"/>
                  </a:lnTo>
                  <a:lnTo>
                    <a:pt x="1604886" y="573481"/>
                  </a:lnTo>
                  <a:lnTo>
                    <a:pt x="1616049" y="584644"/>
                  </a:lnTo>
                  <a:lnTo>
                    <a:pt x="1621078" y="584644"/>
                  </a:lnTo>
                  <a:lnTo>
                    <a:pt x="1632242" y="573481"/>
                  </a:lnTo>
                  <a:lnTo>
                    <a:pt x="1632242" y="568439"/>
                  </a:lnTo>
                  <a:close/>
                </a:path>
                <a:path w="1936115" h="1870710">
                  <a:moveTo>
                    <a:pt x="1641957" y="352437"/>
                  </a:moveTo>
                  <a:lnTo>
                    <a:pt x="1630807" y="341274"/>
                  </a:lnTo>
                  <a:lnTo>
                    <a:pt x="1625765" y="341274"/>
                  </a:lnTo>
                  <a:lnTo>
                    <a:pt x="1614601" y="352437"/>
                  </a:lnTo>
                  <a:lnTo>
                    <a:pt x="1614601" y="354965"/>
                  </a:lnTo>
                  <a:lnTo>
                    <a:pt x="1614601" y="357479"/>
                  </a:lnTo>
                  <a:lnTo>
                    <a:pt x="1625765" y="368642"/>
                  </a:lnTo>
                  <a:lnTo>
                    <a:pt x="1630807" y="368642"/>
                  </a:lnTo>
                  <a:lnTo>
                    <a:pt x="1641957" y="357479"/>
                  </a:lnTo>
                  <a:lnTo>
                    <a:pt x="1641957" y="352437"/>
                  </a:lnTo>
                  <a:close/>
                </a:path>
                <a:path w="1936115" h="1870710">
                  <a:moveTo>
                    <a:pt x="1644827" y="291604"/>
                  </a:moveTo>
                  <a:lnTo>
                    <a:pt x="1633689" y="280441"/>
                  </a:lnTo>
                  <a:lnTo>
                    <a:pt x="1628648" y="280441"/>
                  </a:lnTo>
                  <a:lnTo>
                    <a:pt x="1617484" y="291604"/>
                  </a:lnTo>
                  <a:lnTo>
                    <a:pt x="1617484" y="294119"/>
                  </a:lnTo>
                  <a:lnTo>
                    <a:pt x="1617484" y="296633"/>
                  </a:lnTo>
                  <a:lnTo>
                    <a:pt x="1628648" y="307797"/>
                  </a:lnTo>
                  <a:lnTo>
                    <a:pt x="1633689" y="307797"/>
                  </a:lnTo>
                  <a:lnTo>
                    <a:pt x="1644827" y="296633"/>
                  </a:lnTo>
                  <a:lnTo>
                    <a:pt x="1644827" y="291604"/>
                  </a:lnTo>
                  <a:close/>
                </a:path>
                <a:path w="1936115" h="1870710">
                  <a:moveTo>
                    <a:pt x="1663560" y="230035"/>
                  </a:moveTo>
                  <a:lnTo>
                    <a:pt x="1652397" y="218884"/>
                  </a:lnTo>
                  <a:lnTo>
                    <a:pt x="1647367" y="218884"/>
                  </a:lnTo>
                  <a:lnTo>
                    <a:pt x="1636204" y="230035"/>
                  </a:lnTo>
                  <a:lnTo>
                    <a:pt x="1636204" y="232562"/>
                  </a:lnTo>
                  <a:lnTo>
                    <a:pt x="1636204" y="235077"/>
                  </a:lnTo>
                  <a:lnTo>
                    <a:pt x="1647367" y="246240"/>
                  </a:lnTo>
                  <a:lnTo>
                    <a:pt x="1652397" y="246240"/>
                  </a:lnTo>
                  <a:lnTo>
                    <a:pt x="1663560" y="235077"/>
                  </a:lnTo>
                  <a:lnTo>
                    <a:pt x="1663560" y="230035"/>
                  </a:lnTo>
                  <a:close/>
                </a:path>
                <a:path w="1936115" h="1870710">
                  <a:moveTo>
                    <a:pt x="1679752" y="68033"/>
                  </a:moveTo>
                  <a:lnTo>
                    <a:pt x="1668602" y="56883"/>
                  </a:lnTo>
                  <a:lnTo>
                    <a:pt x="1667878" y="56883"/>
                  </a:lnTo>
                  <a:lnTo>
                    <a:pt x="1667522" y="56515"/>
                  </a:lnTo>
                  <a:lnTo>
                    <a:pt x="1663204" y="54356"/>
                  </a:lnTo>
                  <a:lnTo>
                    <a:pt x="1661045" y="53644"/>
                  </a:lnTo>
                  <a:lnTo>
                    <a:pt x="1656003" y="53644"/>
                  </a:lnTo>
                  <a:lnTo>
                    <a:pt x="1644827" y="64795"/>
                  </a:lnTo>
                  <a:lnTo>
                    <a:pt x="1644827" y="67322"/>
                  </a:lnTo>
                  <a:lnTo>
                    <a:pt x="1644827" y="69837"/>
                  </a:lnTo>
                  <a:lnTo>
                    <a:pt x="1656003" y="81000"/>
                  </a:lnTo>
                  <a:lnTo>
                    <a:pt x="1656715" y="81000"/>
                  </a:lnTo>
                  <a:lnTo>
                    <a:pt x="1657083" y="81356"/>
                  </a:lnTo>
                  <a:lnTo>
                    <a:pt x="1661401" y="83515"/>
                  </a:lnTo>
                  <a:lnTo>
                    <a:pt x="1663560" y="84239"/>
                  </a:lnTo>
                  <a:lnTo>
                    <a:pt x="1668602" y="84239"/>
                  </a:lnTo>
                  <a:lnTo>
                    <a:pt x="1679752" y="73075"/>
                  </a:lnTo>
                  <a:lnTo>
                    <a:pt x="1679752" y="68033"/>
                  </a:lnTo>
                  <a:close/>
                </a:path>
                <a:path w="1936115" h="1870710">
                  <a:moveTo>
                    <a:pt x="1711807" y="353517"/>
                  </a:moveTo>
                  <a:lnTo>
                    <a:pt x="1700631" y="342353"/>
                  </a:lnTo>
                  <a:lnTo>
                    <a:pt x="1695602" y="342353"/>
                  </a:lnTo>
                  <a:lnTo>
                    <a:pt x="1684439" y="353517"/>
                  </a:lnTo>
                  <a:lnTo>
                    <a:pt x="1684439" y="356044"/>
                  </a:lnTo>
                  <a:lnTo>
                    <a:pt x="1684439" y="358559"/>
                  </a:lnTo>
                  <a:lnTo>
                    <a:pt x="1695602" y="369722"/>
                  </a:lnTo>
                  <a:lnTo>
                    <a:pt x="1700631" y="369722"/>
                  </a:lnTo>
                  <a:lnTo>
                    <a:pt x="1711807" y="358559"/>
                  </a:lnTo>
                  <a:lnTo>
                    <a:pt x="1711807" y="353517"/>
                  </a:lnTo>
                  <a:close/>
                </a:path>
                <a:path w="1936115" h="1870710">
                  <a:moveTo>
                    <a:pt x="1715401" y="1397876"/>
                  </a:moveTo>
                  <a:lnTo>
                    <a:pt x="1704238" y="1386725"/>
                  </a:lnTo>
                  <a:lnTo>
                    <a:pt x="1699209" y="1386725"/>
                  </a:lnTo>
                  <a:lnTo>
                    <a:pt x="1688045" y="1397876"/>
                  </a:lnTo>
                  <a:lnTo>
                    <a:pt x="1688045" y="1400403"/>
                  </a:lnTo>
                  <a:lnTo>
                    <a:pt x="1688045" y="1402918"/>
                  </a:lnTo>
                  <a:lnTo>
                    <a:pt x="1699209" y="1414081"/>
                  </a:lnTo>
                  <a:lnTo>
                    <a:pt x="1704238" y="1414081"/>
                  </a:lnTo>
                  <a:lnTo>
                    <a:pt x="1715401" y="1402918"/>
                  </a:lnTo>
                  <a:lnTo>
                    <a:pt x="1715401" y="1397876"/>
                  </a:lnTo>
                  <a:close/>
                </a:path>
                <a:path w="1936115" h="1870710">
                  <a:moveTo>
                    <a:pt x="1737004" y="489966"/>
                  </a:moveTo>
                  <a:lnTo>
                    <a:pt x="1725841" y="478802"/>
                  </a:lnTo>
                  <a:lnTo>
                    <a:pt x="1720786" y="478802"/>
                  </a:lnTo>
                  <a:lnTo>
                    <a:pt x="1709648" y="489966"/>
                  </a:lnTo>
                  <a:lnTo>
                    <a:pt x="1709648" y="492480"/>
                  </a:lnTo>
                  <a:lnTo>
                    <a:pt x="1709648" y="494995"/>
                  </a:lnTo>
                  <a:lnTo>
                    <a:pt x="1720786" y="506158"/>
                  </a:lnTo>
                  <a:lnTo>
                    <a:pt x="1725841" y="506158"/>
                  </a:lnTo>
                  <a:lnTo>
                    <a:pt x="1737004" y="494995"/>
                  </a:lnTo>
                  <a:lnTo>
                    <a:pt x="1737004" y="489966"/>
                  </a:lnTo>
                  <a:close/>
                </a:path>
                <a:path w="1936115" h="1870710">
                  <a:moveTo>
                    <a:pt x="1750682" y="32042"/>
                  </a:moveTo>
                  <a:lnTo>
                    <a:pt x="1739519" y="20878"/>
                  </a:lnTo>
                  <a:lnTo>
                    <a:pt x="1734489" y="20878"/>
                  </a:lnTo>
                  <a:lnTo>
                    <a:pt x="1723326" y="32042"/>
                  </a:lnTo>
                  <a:lnTo>
                    <a:pt x="1723326" y="34556"/>
                  </a:lnTo>
                  <a:lnTo>
                    <a:pt x="1723326" y="37084"/>
                  </a:lnTo>
                  <a:lnTo>
                    <a:pt x="1734489" y="48234"/>
                  </a:lnTo>
                  <a:lnTo>
                    <a:pt x="1739519" y="48234"/>
                  </a:lnTo>
                  <a:lnTo>
                    <a:pt x="1750682" y="37084"/>
                  </a:lnTo>
                  <a:lnTo>
                    <a:pt x="1750682" y="32042"/>
                  </a:lnTo>
                  <a:close/>
                </a:path>
                <a:path w="1936115" h="1870710">
                  <a:moveTo>
                    <a:pt x="1765808" y="777595"/>
                  </a:moveTo>
                  <a:lnTo>
                    <a:pt x="1754644" y="766445"/>
                  </a:lnTo>
                  <a:lnTo>
                    <a:pt x="1749602" y="766445"/>
                  </a:lnTo>
                  <a:lnTo>
                    <a:pt x="1738426" y="777595"/>
                  </a:lnTo>
                  <a:lnTo>
                    <a:pt x="1738426" y="780122"/>
                  </a:lnTo>
                  <a:lnTo>
                    <a:pt x="1738426" y="782637"/>
                  </a:lnTo>
                  <a:lnTo>
                    <a:pt x="1739163" y="784796"/>
                  </a:lnTo>
                  <a:lnTo>
                    <a:pt x="1741322" y="789114"/>
                  </a:lnTo>
                  <a:lnTo>
                    <a:pt x="1743125" y="790917"/>
                  </a:lnTo>
                  <a:lnTo>
                    <a:pt x="1745996" y="792365"/>
                  </a:lnTo>
                  <a:lnTo>
                    <a:pt x="1740966" y="792365"/>
                  </a:lnTo>
                  <a:lnTo>
                    <a:pt x="1729803" y="803516"/>
                  </a:lnTo>
                  <a:lnTo>
                    <a:pt x="1729803" y="806043"/>
                  </a:lnTo>
                  <a:lnTo>
                    <a:pt x="1729803" y="808558"/>
                  </a:lnTo>
                  <a:lnTo>
                    <a:pt x="1740966" y="819721"/>
                  </a:lnTo>
                  <a:lnTo>
                    <a:pt x="1745996" y="819721"/>
                  </a:lnTo>
                  <a:lnTo>
                    <a:pt x="1757159" y="808558"/>
                  </a:lnTo>
                  <a:lnTo>
                    <a:pt x="1757159" y="803516"/>
                  </a:lnTo>
                  <a:lnTo>
                    <a:pt x="1756448" y="801357"/>
                  </a:lnTo>
                  <a:lnTo>
                    <a:pt x="1754289" y="797039"/>
                  </a:lnTo>
                  <a:lnTo>
                    <a:pt x="1752473" y="795235"/>
                  </a:lnTo>
                  <a:lnTo>
                    <a:pt x="1749602" y="793800"/>
                  </a:lnTo>
                  <a:lnTo>
                    <a:pt x="1754644" y="793800"/>
                  </a:lnTo>
                  <a:lnTo>
                    <a:pt x="1765808" y="782637"/>
                  </a:lnTo>
                  <a:lnTo>
                    <a:pt x="1765808" y="777595"/>
                  </a:lnTo>
                  <a:close/>
                </a:path>
                <a:path w="1936115" h="1870710">
                  <a:moveTo>
                    <a:pt x="1789569" y="419404"/>
                  </a:moveTo>
                  <a:lnTo>
                    <a:pt x="1778406" y="408241"/>
                  </a:lnTo>
                  <a:lnTo>
                    <a:pt x="1773351" y="408241"/>
                  </a:lnTo>
                  <a:lnTo>
                    <a:pt x="1762188" y="419404"/>
                  </a:lnTo>
                  <a:lnTo>
                    <a:pt x="1762188" y="421919"/>
                  </a:lnTo>
                  <a:lnTo>
                    <a:pt x="1762188" y="424434"/>
                  </a:lnTo>
                  <a:lnTo>
                    <a:pt x="1773351" y="435597"/>
                  </a:lnTo>
                  <a:lnTo>
                    <a:pt x="1778406" y="435597"/>
                  </a:lnTo>
                  <a:lnTo>
                    <a:pt x="1789569" y="424434"/>
                  </a:lnTo>
                  <a:lnTo>
                    <a:pt x="1789569" y="419404"/>
                  </a:lnTo>
                  <a:close/>
                </a:path>
                <a:path w="1936115" h="1870710">
                  <a:moveTo>
                    <a:pt x="1794243" y="351002"/>
                  </a:moveTo>
                  <a:lnTo>
                    <a:pt x="1783067" y="339839"/>
                  </a:lnTo>
                  <a:lnTo>
                    <a:pt x="1778050" y="339839"/>
                  </a:lnTo>
                  <a:lnTo>
                    <a:pt x="1766887" y="351002"/>
                  </a:lnTo>
                  <a:lnTo>
                    <a:pt x="1766887" y="353517"/>
                  </a:lnTo>
                  <a:lnTo>
                    <a:pt x="1766887" y="356044"/>
                  </a:lnTo>
                  <a:lnTo>
                    <a:pt x="1778050" y="367195"/>
                  </a:lnTo>
                  <a:lnTo>
                    <a:pt x="1783067" y="367195"/>
                  </a:lnTo>
                  <a:lnTo>
                    <a:pt x="1794243" y="356044"/>
                  </a:lnTo>
                  <a:lnTo>
                    <a:pt x="1794243" y="351002"/>
                  </a:lnTo>
                  <a:close/>
                </a:path>
                <a:path w="1936115" h="1870710">
                  <a:moveTo>
                    <a:pt x="1802523" y="1140117"/>
                  </a:moveTo>
                  <a:lnTo>
                    <a:pt x="1791360" y="1128953"/>
                  </a:lnTo>
                  <a:lnTo>
                    <a:pt x="1786305" y="1128953"/>
                  </a:lnTo>
                  <a:lnTo>
                    <a:pt x="1775167" y="1140117"/>
                  </a:lnTo>
                  <a:lnTo>
                    <a:pt x="1775167" y="1142644"/>
                  </a:lnTo>
                  <a:lnTo>
                    <a:pt x="1775167" y="1145159"/>
                  </a:lnTo>
                  <a:lnTo>
                    <a:pt x="1786305" y="1156322"/>
                  </a:lnTo>
                  <a:lnTo>
                    <a:pt x="1791360" y="1156322"/>
                  </a:lnTo>
                  <a:lnTo>
                    <a:pt x="1802523" y="1145159"/>
                  </a:lnTo>
                  <a:lnTo>
                    <a:pt x="1802523" y="1140117"/>
                  </a:lnTo>
                  <a:close/>
                </a:path>
                <a:path w="1936115" h="1870710">
                  <a:moveTo>
                    <a:pt x="1824126" y="1478876"/>
                  </a:moveTo>
                  <a:lnTo>
                    <a:pt x="1812963" y="1467713"/>
                  </a:lnTo>
                  <a:lnTo>
                    <a:pt x="1807921" y="1467713"/>
                  </a:lnTo>
                  <a:lnTo>
                    <a:pt x="1796770" y="1478876"/>
                  </a:lnTo>
                  <a:lnTo>
                    <a:pt x="1796770" y="1481404"/>
                  </a:lnTo>
                  <a:lnTo>
                    <a:pt x="1796770" y="1483918"/>
                  </a:lnTo>
                  <a:lnTo>
                    <a:pt x="1807921" y="1495082"/>
                  </a:lnTo>
                  <a:lnTo>
                    <a:pt x="1812963" y="1495082"/>
                  </a:lnTo>
                  <a:lnTo>
                    <a:pt x="1824126" y="1483918"/>
                  </a:lnTo>
                  <a:lnTo>
                    <a:pt x="1824126" y="1478876"/>
                  </a:lnTo>
                  <a:close/>
                </a:path>
                <a:path w="1936115" h="1870710">
                  <a:moveTo>
                    <a:pt x="1837448" y="894600"/>
                  </a:moveTo>
                  <a:lnTo>
                    <a:pt x="1826285" y="883437"/>
                  </a:lnTo>
                  <a:lnTo>
                    <a:pt x="1821243" y="883437"/>
                  </a:lnTo>
                  <a:lnTo>
                    <a:pt x="1810080" y="894600"/>
                  </a:lnTo>
                  <a:lnTo>
                    <a:pt x="1810080" y="897115"/>
                  </a:lnTo>
                  <a:lnTo>
                    <a:pt x="1810080" y="899642"/>
                  </a:lnTo>
                  <a:lnTo>
                    <a:pt x="1821243" y="910805"/>
                  </a:lnTo>
                  <a:lnTo>
                    <a:pt x="1826285" y="910805"/>
                  </a:lnTo>
                  <a:lnTo>
                    <a:pt x="1837448" y="899642"/>
                  </a:lnTo>
                  <a:lnTo>
                    <a:pt x="1837448" y="894600"/>
                  </a:lnTo>
                  <a:close/>
                </a:path>
                <a:path w="1936115" h="1870710">
                  <a:moveTo>
                    <a:pt x="1847164" y="1590116"/>
                  </a:moveTo>
                  <a:lnTo>
                    <a:pt x="1836000" y="1578965"/>
                  </a:lnTo>
                  <a:lnTo>
                    <a:pt x="1830959" y="1578965"/>
                  </a:lnTo>
                  <a:lnTo>
                    <a:pt x="1819808" y="1590116"/>
                  </a:lnTo>
                  <a:lnTo>
                    <a:pt x="1819808" y="1592643"/>
                  </a:lnTo>
                  <a:lnTo>
                    <a:pt x="1819808" y="1595158"/>
                  </a:lnTo>
                  <a:lnTo>
                    <a:pt x="1830959" y="1606321"/>
                  </a:lnTo>
                  <a:lnTo>
                    <a:pt x="1836000" y="1606321"/>
                  </a:lnTo>
                  <a:lnTo>
                    <a:pt x="1847164" y="1595158"/>
                  </a:lnTo>
                  <a:lnTo>
                    <a:pt x="1847164" y="1590116"/>
                  </a:lnTo>
                  <a:close/>
                </a:path>
                <a:path w="1936115" h="1870710">
                  <a:moveTo>
                    <a:pt x="1865528" y="1063802"/>
                  </a:moveTo>
                  <a:lnTo>
                    <a:pt x="1854365" y="1052639"/>
                  </a:lnTo>
                  <a:lnTo>
                    <a:pt x="1849323" y="1052639"/>
                  </a:lnTo>
                  <a:lnTo>
                    <a:pt x="1838159" y="1063802"/>
                  </a:lnTo>
                  <a:lnTo>
                    <a:pt x="1838159" y="1066317"/>
                  </a:lnTo>
                  <a:lnTo>
                    <a:pt x="1838159" y="1068844"/>
                  </a:lnTo>
                  <a:lnTo>
                    <a:pt x="1849323" y="1079995"/>
                  </a:lnTo>
                  <a:lnTo>
                    <a:pt x="1854365" y="1079995"/>
                  </a:lnTo>
                  <a:lnTo>
                    <a:pt x="1865528" y="1068844"/>
                  </a:lnTo>
                  <a:lnTo>
                    <a:pt x="1865528" y="1063802"/>
                  </a:lnTo>
                  <a:close/>
                </a:path>
                <a:path w="1936115" h="1870710">
                  <a:moveTo>
                    <a:pt x="1872005" y="1840318"/>
                  </a:moveTo>
                  <a:lnTo>
                    <a:pt x="1860842" y="1829155"/>
                  </a:lnTo>
                  <a:lnTo>
                    <a:pt x="1855800" y="1829155"/>
                  </a:lnTo>
                  <a:lnTo>
                    <a:pt x="1844649" y="1840318"/>
                  </a:lnTo>
                  <a:lnTo>
                    <a:pt x="1844649" y="1842833"/>
                  </a:lnTo>
                  <a:lnTo>
                    <a:pt x="1842490" y="1843557"/>
                  </a:lnTo>
                  <a:lnTo>
                    <a:pt x="1838159" y="1845716"/>
                  </a:lnTo>
                  <a:lnTo>
                    <a:pt x="1836369" y="1847519"/>
                  </a:lnTo>
                  <a:lnTo>
                    <a:pt x="1834210" y="1851837"/>
                  </a:lnTo>
                  <a:lnTo>
                    <a:pt x="1833486" y="1853996"/>
                  </a:lnTo>
                  <a:lnTo>
                    <a:pt x="1833486" y="1856524"/>
                  </a:lnTo>
                  <a:lnTo>
                    <a:pt x="1833486" y="1859038"/>
                  </a:lnTo>
                  <a:lnTo>
                    <a:pt x="1844649" y="1870202"/>
                  </a:lnTo>
                  <a:lnTo>
                    <a:pt x="1849678" y="1870202"/>
                  </a:lnTo>
                  <a:lnTo>
                    <a:pt x="1860842" y="1859038"/>
                  </a:lnTo>
                  <a:lnTo>
                    <a:pt x="1860842" y="1856524"/>
                  </a:lnTo>
                  <a:lnTo>
                    <a:pt x="1863001" y="1855800"/>
                  </a:lnTo>
                  <a:lnTo>
                    <a:pt x="1867319" y="1853641"/>
                  </a:lnTo>
                  <a:lnTo>
                    <a:pt x="1869122" y="1851837"/>
                  </a:lnTo>
                  <a:lnTo>
                    <a:pt x="1871281" y="1847519"/>
                  </a:lnTo>
                  <a:lnTo>
                    <a:pt x="1872005" y="1845360"/>
                  </a:lnTo>
                  <a:lnTo>
                    <a:pt x="1872005" y="1840318"/>
                  </a:lnTo>
                  <a:close/>
                </a:path>
                <a:path w="1936115" h="1870710">
                  <a:moveTo>
                    <a:pt x="1882800" y="1344599"/>
                  </a:moveTo>
                  <a:lnTo>
                    <a:pt x="1871649" y="1333436"/>
                  </a:lnTo>
                  <a:lnTo>
                    <a:pt x="1866607" y="1333436"/>
                  </a:lnTo>
                  <a:lnTo>
                    <a:pt x="1855444" y="1344599"/>
                  </a:lnTo>
                  <a:lnTo>
                    <a:pt x="1855444" y="1347114"/>
                  </a:lnTo>
                  <a:lnTo>
                    <a:pt x="1855444" y="1349641"/>
                  </a:lnTo>
                  <a:lnTo>
                    <a:pt x="1866607" y="1360805"/>
                  </a:lnTo>
                  <a:lnTo>
                    <a:pt x="1871649" y="1360805"/>
                  </a:lnTo>
                  <a:lnTo>
                    <a:pt x="1882800" y="1349641"/>
                  </a:lnTo>
                  <a:lnTo>
                    <a:pt x="1882800" y="1344599"/>
                  </a:lnTo>
                  <a:close/>
                </a:path>
                <a:path w="1936115" h="1870710">
                  <a:moveTo>
                    <a:pt x="1907286" y="1476362"/>
                  </a:moveTo>
                  <a:lnTo>
                    <a:pt x="1896122" y="1465199"/>
                  </a:lnTo>
                  <a:lnTo>
                    <a:pt x="1891080" y="1465199"/>
                  </a:lnTo>
                  <a:lnTo>
                    <a:pt x="1879930" y="1476362"/>
                  </a:lnTo>
                  <a:lnTo>
                    <a:pt x="1879930" y="1478876"/>
                  </a:lnTo>
                  <a:lnTo>
                    <a:pt x="1879930" y="1481404"/>
                  </a:lnTo>
                  <a:lnTo>
                    <a:pt x="1891080" y="1492554"/>
                  </a:lnTo>
                  <a:lnTo>
                    <a:pt x="1896122" y="1492554"/>
                  </a:lnTo>
                  <a:lnTo>
                    <a:pt x="1907286" y="1481404"/>
                  </a:lnTo>
                  <a:lnTo>
                    <a:pt x="1907286" y="1476362"/>
                  </a:lnTo>
                  <a:close/>
                </a:path>
                <a:path w="1936115" h="1870710">
                  <a:moveTo>
                    <a:pt x="1913763" y="1657438"/>
                  </a:moveTo>
                  <a:lnTo>
                    <a:pt x="1902599" y="1646275"/>
                  </a:lnTo>
                  <a:lnTo>
                    <a:pt x="1897570" y="1646275"/>
                  </a:lnTo>
                  <a:lnTo>
                    <a:pt x="1886407" y="1657438"/>
                  </a:lnTo>
                  <a:lnTo>
                    <a:pt x="1886407" y="1659953"/>
                  </a:lnTo>
                  <a:lnTo>
                    <a:pt x="1886407" y="1662480"/>
                  </a:lnTo>
                  <a:lnTo>
                    <a:pt x="1897570" y="1673644"/>
                  </a:lnTo>
                  <a:lnTo>
                    <a:pt x="1902599" y="1673644"/>
                  </a:lnTo>
                  <a:lnTo>
                    <a:pt x="1913763" y="1662480"/>
                  </a:lnTo>
                  <a:lnTo>
                    <a:pt x="1913763" y="1657438"/>
                  </a:lnTo>
                  <a:close/>
                </a:path>
                <a:path w="1936115" h="1870710">
                  <a:moveTo>
                    <a:pt x="1932127" y="1845005"/>
                  </a:moveTo>
                  <a:lnTo>
                    <a:pt x="1920963" y="1833841"/>
                  </a:lnTo>
                  <a:lnTo>
                    <a:pt x="1915922" y="1833841"/>
                  </a:lnTo>
                  <a:lnTo>
                    <a:pt x="1904758" y="1845005"/>
                  </a:lnTo>
                  <a:lnTo>
                    <a:pt x="1904758" y="1847519"/>
                  </a:lnTo>
                  <a:lnTo>
                    <a:pt x="1904758" y="1850034"/>
                  </a:lnTo>
                  <a:lnTo>
                    <a:pt x="1915922" y="1861197"/>
                  </a:lnTo>
                  <a:lnTo>
                    <a:pt x="1920963" y="1861197"/>
                  </a:lnTo>
                  <a:lnTo>
                    <a:pt x="1932127" y="1850034"/>
                  </a:lnTo>
                  <a:lnTo>
                    <a:pt x="1932127" y="1845005"/>
                  </a:lnTo>
                  <a:close/>
                </a:path>
                <a:path w="1936115" h="1870710">
                  <a:moveTo>
                    <a:pt x="1936089" y="1735556"/>
                  </a:moveTo>
                  <a:lnTo>
                    <a:pt x="1924926" y="1724406"/>
                  </a:lnTo>
                  <a:lnTo>
                    <a:pt x="1919884" y="1724406"/>
                  </a:lnTo>
                  <a:lnTo>
                    <a:pt x="1908721" y="1735556"/>
                  </a:lnTo>
                  <a:lnTo>
                    <a:pt x="1908721" y="1738083"/>
                  </a:lnTo>
                  <a:lnTo>
                    <a:pt x="1908721" y="1740598"/>
                  </a:lnTo>
                  <a:lnTo>
                    <a:pt x="1919884" y="1751761"/>
                  </a:lnTo>
                  <a:lnTo>
                    <a:pt x="1924926" y="1751761"/>
                  </a:lnTo>
                  <a:lnTo>
                    <a:pt x="1936089" y="1740598"/>
                  </a:lnTo>
                  <a:lnTo>
                    <a:pt x="1936089" y="1735556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950714" y="3627005"/>
              <a:ext cx="1884045" cy="1850389"/>
            </a:xfrm>
            <a:custGeom>
              <a:avLst/>
              <a:gdLst/>
              <a:ahLst/>
              <a:cxnLst/>
              <a:rect l="l" t="t" r="r" b="b"/>
              <a:pathLst>
                <a:path w="1884045" h="1850389">
                  <a:moveTo>
                    <a:pt x="27368" y="1710715"/>
                  </a:moveTo>
                  <a:lnTo>
                    <a:pt x="16205" y="1699552"/>
                  </a:lnTo>
                  <a:lnTo>
                    <a:pt x="11163" y="1699552"/>
                  </a:lnTo>
                  <a:lnTo>
                    <a:pt x="0" y="1710715"/>
                  </a:lnTo>
                  <a:lnTo>
                    <a:pt x="0" y="1713230"/>
                  </a:lnTo>
                  <a:lnTo>
                    <a:pt x="0" y="1715757"/>
                  </a:lnTo>
                  <a:lnTo>
                    <a:pt x="11163" y="1726920"/>
                  </a:lnTo>
                  <a:lnTo>
                    <a:pt x="16205" y="1726920"/>
                  </a:lnTo>
                  <a:lnTo>
                    <a:pt x="27368" y="1715757"/>
                  </a:lnTo>
                  <a:lnTo>
                    <a:pt x="27368" y="1710715"/>
                  </a:lnTo>
                  <a:close/>
                </a:path>
                <a:path w="1884045" h="1850389">
                  <a:moveTo>
                    <a:pt x="28079" y="1826996"/>
                  </a:moveTo>
                  <a:lnTo>
                    <a:pt x="16929" y="1815833"/>
                  </a:lnTo>
                  <a:lnTo>
                    <a:pt x="11887" y="1815833"/>
                  </a:lnTo>
                  <a:lnTo>
                    <a:pt x="723" y="1826996"/>
                  </a:lnTo>
                  <a:lnTo>
                    <a:pt x="723" y="1829511"/>
                  </a:lnTo>
                  <a:lnTo>
                    <a:pt x="723" y="1832038"/>
                  </a:lnTo>
                  <a:lnTo>
                    <a:pt x="11887" y="1843189"/>
                  </a:lnTo>
                  <a:lnTo>
                    <a:pt x="16929" y="1843189"/>
                  </a:lnTo>
                  <a:lnTo>
                    <a:pt x="28079" y="1832038"/>
                  </a:lnTo>
                  <a:lnTo>
                    <a:pt x="28079" y="1826996"/>
                  </a:lnTo>
                  <a:close/>
                </a:path>
                <a:path w="1884045" h="1850389">
                  <a:moveTo>
                    <a:pt x="36728" y="1610639"/>
                  </a:moveTo>
                  <a:lnTo>
                    <a:pt x="25565" y="1599476"/>
                  </a:lnTo>
                  <a:lnTo>
                    <a:pt x="20523" y="1599476"/>
                  </a:lnTo>
                  <a:lnTo>
                    <a:pt x="9359" y="1610639"/>
                  </a:lnTo>
                  <a:lnTo>
                    <a:pt x="9359" y="1613154"/>
                  </a:lnTo>
                  <a:lnTo>
                    <a:pt x="9359" y="1615668"/>
                  </a:lnTo>
                  <a:lnTo>
                    <a:pt x="20523" y="1626831"/>
                  </a:lnTo>
                  <a:lnTo>
                    <a:pt x="25565" y="1626831"/>
                  </a:lnTo>
                  <a:lnTo>
                    <a:pt x="36728" y="1615668"/>
                  </a:lnTo>
                  <a:lnTo>
                    <a:pt x="36728" y="1610639"/>
                  </a:lnTo>
                  <a:close/>
                </a:path>
                <a:path w="1884045" h="1850389">
                  <a:moveTo>
                    <a:pt x="69126" y="1285557"/>
                  </a:moveTo>
                  <a:lnTo>
                    <a:pt x="57962" y="1274394"/>
                  </a:lnTo>
                  <a:lnTo>
                    <a:pt x="52920" y="1274394"/>
                  </a:lnTo>
                  <a:lnTo>
                    <a:pt x="41770" y="1285557"/>
                  </a:lnTo>
                  <a:lnTo>
                    <a:pt x="41770" y="1288072"/>
                  </a:lnTo>
                  <a:lnTo>
                    <a:pt x="41770" y="1290599"/>
                  </a:lnTo>
                  <a:lnTo>
                    <a:pt x="52920" y="1301750"/>
                  </a:lnTo>
                  <a:lnTo>
                    <a:pt x="57962" y="1301750"/>
                  </a:lnTo>
                  <a:lnTo>
                    <a:pt x="69126" y="1290599"/>
                  </a:lnTo>
                  <a:lnTo>
                    <a:pt x="69126" y="1285557"/>
                  </a:lnTo>
                  <a:close/>
                </a:path>
                <a:path w="1884045" h="1850389">
                  <a:moveTo>
                    <a:pt x="78841" y="1311478"/>
                  </a:moveTo>
                  <a:lnTo>
                    <a:pt x="67691" y="1300314"/>
                  </a:lnTo>
                  <a:lnTo>
                    <a:pt x="62649" y="1300314"/>
                  </a:lnTo>
                  <a:lnTo>
                    <a:pt x="60490" y="1301038"/>
                  </a:lnTo>
                  <a:lnTo>
                    <a:pt x="56172" y="1303197"/>
                  </a:lnTo>
                  <a:lnTo>
                    <a:pt x="54368" y="1304988"/>
                  </a:lnTo>
                  <a:lnTo>
                    <a:pt x="53467" y="1306791"/>
                  </a:lnTo>
                  <a:lnTo>
                    <a:pt x="50761" y="1306791"/>
                  </a:lnTo>
                  <a:lnTo>
                    <a:pt x="39611" y="1317955"/>
                  </a:lnTo>
                  <a:lnTo>
                    <a:pt x="39611" y="1320469"/>
                  </a:lnTo>
                  <a:lnTo>
                    <a:pt x="39611" y="1322997"/>
                  </a:lnTo>
                  <a:lnTo>
                    <a:pt x="50761" y="1334160"/>
                  </a:lnTo>
                  <a:lnTo>
                    <a:pt x="55803" y="1334160"/>
                  </a:lnTo>
                  <a:lnTo>
                    <a:pt x="57962" y="1333436"/>
                  </a:lnTo>
                  <a:lnTo>
                    <a:pt x="62280" y="1331277"/>
                  </a:lnTo>
                  <a:lnTo>
                    <a:pt x="64084" y="1329474"/>
                  </a:lnTo>
                  <a:lnTo>
                    <a:pt x="64985" y="1327670"/>
                  </a:lnTo>
                  <a:lnTo>
                    <a:pt x="67691" y="1327670"/>
                  </a:lnTo>
                  <a:lnTo>
                    <a:pt x="78841" y="1316520"/>
                  </a:lnTo>
                  <a:lnTo>
                    <a:pt x="78841" y="1311478"/>
                  </a:lnTo>
                  <a:close/>
                </a:path>
                <a:path w="1884045" h="1850389">
                  <a:moveTo>
                    <a:pt x="111963" y="867956"/>
                  </a:moveTo>
                  <a:lnTo>
                    <a:pt x="100799" y="856792"/>
                  </a:lnTo>
                  <a:lnTo>
                    <a:pt x="95770" y="856792"/>
                  </a:lnTo>
                  <a:lnTo>
                    <a:pt x="84607" y="867956"/>
                  </a:lnTo>
                  <a:lnTo>
                    <a:pt x="84607" y="870470"/>
                  </a:lnTo>
                  <a:lnTo>
                    <a:pt x="84607" y="872998"/>
                  </a:lnTo>
                  <a:lnTo>
                    <a:pt x="95770" y="884148"/>
                  </a:lnTo>
                  <a:lnTo>
                    <a:pt x="100799" y="884148"/>
                  </a:lnTo>
                  <a:lnTo>
                    <a:pt x="111963" y="872998"/>
                  </a:lnTo>
                  <a:lnTo>
                    <a:pt x="111963" y="867956"/>
                  </a:lnTo>
                  <a:close/>
                </a:path>
                <a:path w="1884045" h="1850389">
                  <a:moveTo>
                    <a:pt x="130327" y="672833"/>
                  </a:moveTo>
                  <a:lnTo>
                    <a:pt x="119164" y="661670"/>
                  </a:lnTo>
                  <a:lnTo>
                    <a:pt x="114122" y="661670"/>
                  </a:lnTo>
                  <a:lnTo>
                    <a:pt x="102971" y="672833"/>
                  </a:lnTo>
                  <a:lnTo>
                    <a:pt x="102971" y="675360"/>
                  </a:lnTo>
                  <a:lnTo>
                    <a:pt x="102971" y="677875"/>
                  </a:lnTo>
                  <a:lnTo>
                    <a:pt x="114122" y="689038"/>
                  </a:lnTo>
                  <a:lnTo>
                    <a:pt x="119164" y="689038"/>
                  </a:lnTo>
                  <a:lnTo>
                    <a:pt x="130327" y="677875"/>
                  </a:lnTo>
                  <a:lnTo>
                    <a:pt x="130327" y="672833"/>
                  </a:lnTo>
                  <a:close/>
                </a:path>
                <a:path w="1884045" h="1850389">
                  <a:moveTo>
                    <a:pt x="132130" y="789114"/>
                  </a:moveTo>
                  <a:lnTo>
                    <a:pt x="120967" y="777951"/>
                  </a:lnTo>
                  <a:lnTo>
                    <a:pt x="115925" y="777951"/>
                  </a:lnTo>
                  <a:lnTo>
                    <a:pt x="104762" y="789114"/>
                  </a:lnTo>
                  <a:lnTo>
                    <a:pt x="104762" y="791629"/>
                  </a:lnTo>
                  <a:lnTo>
                    <a:pt x="104762" y="794156"/>
                  </a:lnTo>
                  <a:lnTo>
                    <a:pt x="115925" y="805319"/>
                  </a:lnTo>
                  <a:lnTo>
                    <a:pt x="120967" y="805319"/>
                  </a:lnTo>
                  <a:lnTo>
                    <a:pt x="132130" y="794156"/>
                  </a:lnTo>
                  <a:lnTo>
                    <a:pt x="132130" y="789114"/>
                  </a:lnTo>
                  <a:close/>
                </a:path>
                <a:path w="1884045" h="1850389">
                  <a:moveTo>
                    <a:pt x="137160" y="617753"/>
                  </a:moveTo>
                  <a:lnTo>
                    <a:pt x="126009" y="606590"/>
                  </a:lnTo>
                  <a:lnTo>
                    <a:pt x="120967" y="606590"/>
                  </a:lnTo>
                  <a:lnTo>
                    <a:pt x="109804" y="617753"/>
                  </a:lnTo>
                  <a:lnTo>
                    <a:pt x="109804" y="620268"/>
                  </a:lnTo>
                  <a:lnTo>
                    <a:pt x="109804" y="622795"/>
                  </a:lnTo>
                  <a:lnTo>
                    <a:pt x="120967" y="633958"/>
                  </a:lnTo>
                  <a:lnTo>
                    <a:pt x="126009" y="633958"/>
                  </a:lnTo>
                  <a:lnTo>
                    <a:pt x="137160" y="622795"/>
                  </a:lnTo>
                  <a:lnTo>
                    <a:pt x="137160" y="617753"/>
                  </a:lnTo>
                  <a:close/>
                </a:path>
                <a:path w="1884045" h="1850389">
                  <a:moveTo>
                    <a:pt x="152285" y="513359"/>
                  </a:moveTo>
                  <a:lnTo>
                    <a:pt x="141122" y="502196"/>
                  </a:lnTo>
                  <a:lnTo>
                    <a:pt x="136080" y="502196"/>
                  </a:lnTo>
                  <a:lnTo>
                    <a:pt x="124929" y="513359"/>
                  </a:lnTo>
                  <a:lnTo>
                    <a:pt x="124929" y="515874"/>
                  </a:lnTo>
                  <a:lnTo>
                    <a:pt x="124929" y="518388"/>
                  </a:lnTo>
                  <a:lnTo>
                    <a:pt x="136080" y="529551"/>
                  </a:lnTo>
                  <a:lnTo>
                    <a:pt x="141122" y="529551"/>
                  </a:lnTo>
                  <a:lnTo>
                    <a:pt x="152285" y="518388"/>
                  </a:lnTo>
                  <a:lnTo>
                    <a:pt x="152285" y="513359"/>
                  </a:lnTo>
                  <a:close/>
                </a:path>
                <a:path w="1884045" h="1850389">
                  <a:moveTo>
                    <a:pt x="158051" y="447116"/>
                  </a:moveTo>
                  <a:lnTo>
                    <a:pt x="146888" y="435952"/>
                  </a:lnTo>
                  <a:lnTo>
                    <a:pt x="141846" y="435952"/>
                  </a:lnTo>
                  <a:lnTo>
                    <a:pt x="130683" y="447116"/>
                  </a:lnTo>
                  <a:lnTo>
                    <a:pt x="130683" y="449630"/>
                  </a:lnTo>
                  <a:lnTo>
                    <a:pt x="130683" y="452158"/>
                  </a:lnTo>
                  <a:lnTo>
                    <a:pt x="141846" y="463308"/>
                  </a:lnTo>
                  <a:lnTo>
                    <a:pt x="146888" y="463308"/>
                  </a:lnTo>
                  <a:lnTo>
                    <a:pt x="158051" y="452158"/>
                  </a:lnTo>
                  <a:lnTo>
                    <a:pt x="158051" y="447116"/>
                  </a:lnTo>
                  <a:close/>
                </a:path>
                <a:path w="1884045" h="1850389">
                  <a:moveTo>
                    <a:pt x="178930" y="185039"/>
                  </a:moveTo>
                  <a:lnTo>
                    <a:pt x="167767" y="173875"/>
                  </a:lnTo>
                  <a:lnTo>
                    <a:pt x="162725" y="173875"/>
                  </a:lnTo>
                  <a:lnTo>
                    <a:pt x="151561" y="185039"/>
                  </a:lnTo>
                  <a:lnTo>
                    <a:pt x="151561" y="187553"/>
                  </a:lnTo>
                  <a:lnTo>
                    <a:pt x="151561" y="190068"/>
                  </a:lnTo>
                  <a:lnTo>
                    <a:pt x="162725" y="201231"/>
                  </a:lnTo>
                  <a:lnTo>
                    <a:pt x="167767" y="201231"/>
                  </a:lnTo>
                  <a:lnTo>
                    <a:pt x="178930" y="190068"/>
                  </a:lnTo>
                  <a:lnTo>
                    <a:pt x="178930" y="185039"/>
                  </a:lnTo>
                  <a:close/>
                </a:path>
                <a:path w="1884045" h="1850389">
                  <a:moveTo>
                    <a:pt x="198005" y="126352"/>
                  </a:moveTo>
                  <a:lnTo>
                    <a:pt x="186842" y="115189"/>
                  </a:lnTo>
                  <a:lnTo>
                    <a:pt x="181800" y="115189"/>
                  </a:lnTo>
                  <a:lnTo>
                    <a:pt x="170649" y="126352"/>
                  </a:lnTo>
                  <a:lnTo>
                    <a:pt x="170649" y="128879"/>
                  </a:lnTo>
                  <a:lnTo>
                    <a:pt x="170649" y="131013"/>
                  </a:lnTo>
                  <a:lnTo>
                    <a:pt x="169202" y="133908"/>
                  </a:lnTo>
                  <a:lnTo>
                    <a:pt x="168490" y="136080"/>
                  </a:lnTo>
                  <a:lnTo>
                    <a:pt x="168490" y="138595"/>
                  </a:lnTo>
                  <a:lnTo>
                    <a:pt x="168490" y="141109"/>
                  </a:lnTo>
                  <a:lnTo>
                    <a:pt x="179641" y="152273"/>
                  </a:lnTo>
                  <a:lnTo>
                    <a:pt x="184683" y="152273"/>
                  </a:lnTo>
                  <a:lnTo>
                    <a:pt x="195846" y="141109"/>
                  </a:lnTo>
                  <a:lnTo>
                    <a:pt x="195846" y="136423"/>
                  </a:lnTo>
                  <a:lnTo>
                    <a:pt x="197281" y="133553"/>
                  </a:lnTo>
                  <a:lnTo>
                    <a:pt x="198005" y="131394"/>
                  </a:lnTo>
                  <a:lnTo>
                    <a:pt x="198005" y="126352"/>
                  </a:lnTo>
                  <a:close/>
                </a:path>
                <a:path w="1884045" h="1850389">
                  <a:moveTo>
                    <a:pt x="234010" y="1288072"/>
                  </a:moveTo>
                  <a:lnTo>
                    <a:pt x="222846" y="1276908"/>
                  </a:lnTo>
                  <a:lnTo>
                    <a:pt x="217805" y="1276908"/>
                  </a:lnTo>
                  <a:lnTo>
                    <a:pt x="206641" y="1288072"/>
                  </a:lnTo>
                  <a:lnTo>
                    <a:pt x="206641" y="1290599"/>
                  </a:lnTo>
                  <a:lnTo>
                    <a:pt x="206641" y="1293114"/>
                  </a:lnTo>
                  <a:lnTo>
                    <a:pt x="217805" y="1304277"/>
                  </a:lnTo>
                  <a:lnTo>
                    <a:pt x="222846" y="1304277"/>
                  </a:lnTo>
                  <a:lnTo>
                    <a:pt x="234010" y="1293114"/>
                  </a:lnTo>
                  <a:lnTo>
                    <a:pt x="234010" y="1288072"/>
                  </a:lnTo>
                  <a:close/>
                </a:path>
                <a:path w="1884045" h="1850389">
                  <a:moveTo>
                    <a:pt x="302768" y="1834197"/>
                  </a:moveTo>
                  <a:lnTo>
                    <a:pt x="291604" y="1823034"/>
                  </a:lnTo>
                  <a:lnTo>
                    <a:pt x="286562" y="1823034"/>
                  </a:lnTo>
                  <a:lnTo>
                    <a:pt x="275412" y="1834197"/>
                  </a:lnTo>
                  <a:lnTo>
                    <a:pt x="275412" y="1836712"/>
                  </a:lnTo>
                  <a:lnTo>
                    <a:pt x="275412" y="1839239"/>
                  </a:lnTo>
                  <a:lnTo>
                    <a:pt x="286562" y="1850390"/>
                  </a:lnTo>
                  <a:lnTo>
                    <a:pt x="291604" y="1850390"/>
                  </a:lnTo>
                  <a:lnTo>
                    <a:pt x="302768" y="1839239"/>
                  </a:lnTo>
                  <a:lnTo>
                    <a:pt x="302768" y="1834197"/>
                  </a:lnTo>
                  <a:close/>
                </a:path>
                <a:path w="1884045" h="1850389">
                  <a:moveTo>
                    <a:pt x="316445" y="1575727"/>
                  </a:moveTo>
                  <a:lnTo>
                    <a:pt x="305282" y="1564551"/>
                  </a:lnTo>
                  <a:lnTo>
                    <a:pt x="300240" y="1564551"/>
                  </a:lnTo>
                  <a:lnTo>
                    <a:pt x="289090" y="1575727"/>
                  </a:lnTo>
                  <a:lnTo>
                    <a:pt x="289090" y="1578229"/>
                  </a:lnTo>
                  <a:lnTo>
                    <a:pt x="289090" y="1580756"/>
                  </a:lnTo>
                  <a:lnTo>
                    <a:pt x="300240" y="1591919"/>
                  </a:lnTo>
                  <a:lnTo>
                    <a:pt x="305282" y="1591919"/>
                  </a:lnTo>
                  <a:lnTo>
                    <a:pt x="316445" y="1580756"/>
                  </a:lnTo>
                  <a:lnTo>
                    <a:pt x="316445" y="1575727"/>
                  </a:lnTo>
                  <a:close/>
                </a:path>
                <a:path w="1884045" h="1850389">
                  <a:moveTo>
                    <a:pt x="464769" y="1778749"/>
                  </a:moveTo>
                  <a:lnTo>
                    <a:pt x="453605" y="1767598"/>
                  </a:lnTo>
                  <a:lnTo>
                    <a:pt x="448564" y="1767598"/>
                  </a:lnTo>
                  <a:lnTo>
                    <a:pt x="437400" y="1778749"/>
                  </a:lnTo>
                  <a:lnTo>
                    <a:pt x="437400" y="1781276"/>
                  </a:lnTo>
                  <a:lnTo>
                    <a:pt x="437400" y="1783791"/>
                  </a:lnTo>
                  <a:lnTo>
                    <a:pt x="448564" y="1794954"/>
                  </a:lnTo>
                  <a:lnTo>
                    <a:pt x="453605" y="1794954"/>
                  </a:lnTo>
                  <a:lnTo>
                    <a:pt x="464769" y="1783791"/>
                  </a:lnTo>
                  <a:lnTo>
                    <a:pt x="464769" y="1778749"/>
                  </a:lnTo>
                  <a:close/>
                </a:path>
                <a:path w="1884045" h="1850389">
                  <a:moveTo>
                    <a:pt x="482765" y="1606308"/>
                  </a:moveTo>
                  <a:lnTo>
                    <a:pt x="471601" y="1595158"/>
                  </a:lnTo>
                  <a:lnTo>
                    <a:pt x="466559" y="1595158"/>
                  </a:lnTo>
                  <a:lnTo>
                    <a:pt x="455409" y="1606308"/>
                  </a:lnTo>
                  <a:lnTo>
                    <a:pt x="455409" y="1608836"/>
                  </a:lnTo>
                  <a:lnTo>
                    <a:pt x="455409" y="1611350"/>
                  </a:lnTo>
                  <a:lnTo>
                    <a:pt x="466559" y="1622513"/>
                  </a:lnTo>
                  <a:lnTo>
                    <a:pt x="471601" y="1622513"/>
                  </a:lnTo>
                  <a:lnTo>
                    <a:pt x="482765" y="1611350"/>
                  </a:lnTo>
                  <a:lnTo>
                    <a:pt x="482765" y="1606308"/>
                  </a:lnTo>
                  <a:close/>
                </a:path>
                <a:path w="1884045" h="1850389">
                  <a:moveTo>
                    <a:pt x="484924" y="1462671"/>
                  </a:moveTo>
                  <a:lnTo>
                    <a:pt x="473760" y="1451508"/>
                  </a:lnTo>
                  <a:lnTo>
                    <a:pt x="468731" y="1451508"/>
                  </a:lnTo>
                  <a:lnTo>
                    <a:pt x="457568" y="1462671"/>
                  </a:lnTo>
                  <a:lnTo>
                    <a:pt x="457568" y="1465199"/>
                  </a:lnTo>
                  <a:lnTo>
                    <a:pt x="457568" y="1467713"/>
                  </a:lnTo>
                  <a:lnTo>
                    <a:pt x="468731" y="1478876"/>
                  </a:lnTo>
                  <a:lnTo>
                    <a:pt x="473760" y="1478876"/>
                  </a:lnTo>
                  <a:lnTo>
                    <a:pt x="484924" y="1467713"/>
                  </a:lnTo>
                  <a:lnTo>
                    <a:pt x="484924" y="1462671"/>
                  </a:lnTo>
                  <a:close/>
                </a:path>
                <a:path w="1884045" h="1850389">
                  <a:moveTo>
                    <a:pt x="512279" y="1187640"/>
                  </a:moveTo>
                  <a:lnTo>
                    <a:pt x="501129" y="1176477"/>
                  </a:lnTo>
                  <a:lnTo>
                    <a:pt x="496087" y="1176477"/>
                  </a:lnTo>
                  <a:lnTo>
                    <a:pt x="484924" y="1187640"/>
                  </a:lnTo>
                  <a:lnTo>
                    <a:pt x="484924" y="1190155"/>
                  </a:lnTo>
                  <a:lnTo>
                    <a:pt x="484924" y="1192669"/>
                  </a:lnTo>
                  <a:lnTo>
                    <a:pt x="496087" y="1203833"/>
                  </a:lnTo>
                  <a:lnTo>
                    <a:pt x="501129" y="1203833"/>
                  </a:lnTo>
                  <a:lnTo>
                    <a:pt x="512279" y="1192669"/>
                  </a:lnTo>
                  <a:lnTo>
                    <a:pt x="512279" y="1187640"/>
                  </a:lnTo>
                  <a:close/>
                </a:path>
                <a:path w="1884045" h="1850389">
                  <a:moveTo>
                    <a:pt x="516966" y="1253515"/>
                  </a:moveTo>
                  <a:lnTo>
                    <a:pt x="505802" y="1242352"/>
                  </a:lnTo>
                  <a:lnTo>
                    <a:pt x="500761" y="1242352"/>
                  </a:lnTo>
                  <a:lnTo>
                    <a:pt x="489610" y="1253515"/>
                  </a:lnTo>
                  <a:lnTo>
                    <a:pt x="489610" y="1256030"/>
                  </a:lnTo>
                  <a:lnTo>
                    <a:pt x="489610" y="1258557"/>
                  </a:lnTo>
                  <a:lnTo>
                    <a:pt x="500761" y="1269720"/>
                  </a:lnTo>
                  <a:lnTo>
                    <a:pt x="505802" y="1269720"/>
                  </a:lnTo>
                  <a:lnTo>
                    <a:pt x="516966" y="1258557"/>
                  </a:lnTo>
                  <a:lnTo>
                    <a:pt x="516966" y="1253515"/>
                  </a:lnTo>
                  <a:close/>
                </a:path>
                <a:path w="1884045" h="1850389">
                  <a:moveTo>
                    <a:pt x="553681" y="893508"/>
                  </a:moveTo>
                  <a:lnTo>
                    <a:pt x="542531" y="882357"/>
                  </a:lnTo>
                  <a:lnTo>
                    <a:pt x="540372" y="882357"/>
                  </a:lnTo>
                  <a:lnTo>
                    <a:pt x="539648" y="880910"/>
                  </a:lnTo>
                  <a:lnTo>
                    <a:pt x="537845" y="879119"/>
                  </a:lnTo>
                  <a:lnTo>
                    <a:pt x="533527" y="876960"/>
                  </a:lnTo>
                  <a:lnTo>
                    <a:pt x="531368" y="876236"/>
                  </a:lnTo>
                  <a:lnTo>
                    <a:pt x="526326" y="876236"/>
                  </a:lnTo>
                  <a:lnTo>
                    <a:pt x="515162" y="887399"/>
                  </a:lnTo>
                  <a:lnTo>
                    <a:pt x="515162" y="889914"/>
                  </a:lnTo>
                  <a:lnTo>
                    <a:pt x="515162" y="892429"/>
                  </a:lnTo>
                  <a:lnTo>
                    <a:pt x="515810" y="894372"/>
                  </a:lnTo>
                  <a:lnTo>
                    <a:pt x="514083" y="897839"/>
                  </a:lnTo>
                  <a:lnTo>
                    <a:pt x="513372" y="899998"/>
                  </a:lnTo>
                  <a:lnTo>
                    <a:pt x="513372" y="902512"/>
                  </a:lnTo>
                  <a:lnTo>
                    <a:pt x="513372" y="905040"/>
                  </a:lnTo>
                  <a:lnTo>
                    <a:pt x="514083" y="907199"/>
                  </a:lnTo>
                  <a:lnTo>
                    <a:pt x="516242" y="911517"/>
                  </a:lnTo>
                  <a:lnTo>
                    <a:pt x="518045" y="913320"/>
                  </a:lnTo>
                  <a:lnTo>
                    <a:pt x="522363" y="915479"/>
                  </a:lnTo>
                  <a:lnTo>
                    <a:pt x="524522" y="916190"/>
                  </a:lnTo>
                  <a:lnTo>
                    <a:pt x="529564" y="916190"/>
                  </a:lnTo>
                  <a:lnTo>
                    <a:pt x="531723" y="915479"/>
                  </a:lnTo>
                  <a:lnTo>
                    <a:pt x="536041" y="913320"/>
                  </a:lnTo>
                  <a:lnTo>
                    <a:pt x="537845" y="911517"/>
                  </a:lnTo>
                  <a:lnTo>
                    <a:pt x="538746" y="909713"/>
                  </a:lnTo>
                  <a:lnTo>
                    <a:pt x="542531" y="909713"/>
                  </a:lnTo>
                  <a:lnTo>
                    <a:pt x="553681" y="898550"/>
                  </a:lnTo>
                  <a:lnTo>
                    <a:pt x="553681" y="893508"/>
                  </a:lnTo>
                  <a:close/>
                </a:path>
                <a:path w="1884045" h="1850389">
                  <a:moveTo>
                    <a:pt x="557644" y="241909"/>
                  </a:moveTo>
                  <a:lnTo>
                    <a:pt x="546481" y="230759"/>
                  </a:lnTo>
                  <a:lnTo>
                    <a:pt x="541451" y="230759"/>
                  </a:lnTo>
                  <a:lnTo>
                    <a:pt x="530288" y="241909"/>
                  </a:lnTo>
                  <a:lnTo>
                    <a:pt x="530288" y="244436"/>
                  </a:lnTo>
                  <a:lnTo>
                    <a:pt x="530288" y="246951"/>
                  </a:lnTo>
                  <a:lnTo>
                    <a:pt x="541451" y="258114"/>
                  </a:lnTo>
                  <a:lnTo>
                    <a:pt x="546481" y="258114"/>
                  </a:lnTo>
                  <a:lnTo>
                    <a:pt x="557644" y="246951"/>
                  </a:lnTo>
                  <a:lnTo>
                    <a:pt x="557644" y="241909"/>
                  </a:lnTo>
                  <a:close/>
                </a:path>
                <a:path w="1884045" h="1850389">
                  <a:moveTo>
                    <a:pt x="571690" y="703440"/>
                  </a:moveTo>
                  <a:lnTo>
                    <a:pt x="560527" y="692277"/>
                  </a:lnTo>
                  <a:lnTo>
                    <a:pt x="555485" y="692277"/>
                  </a:lnTo>
                  <a:lnTo>
                    <a:pt x="544322" y="703440"/>
                  </a:lnTo>
                  <a:lnTo>
                    <a:pt x="544322" y="705954"/>
                  </a:lnTo>
                  <a:lnTo>
                    <a:pt x="544322" y="708469"/>
                  </a:lnTo>
                  <a:lnTo>
                    <a:pt x="555485" y="719632"/>
                  </a:lnTo>
                  <a:lnTo>
                    <a:pt x="560527" y="719632"/>
                  </a:lnTo>
                  <a:lnTo>
                    <a:pt x="571690" y="708469"/>
                  </a:lnTo>
                  <a:lnTo>
                    <a:pt x="571690" y="703440"/>
                  </a:lnTo>
                  <a:close/>
                </a:path>
                <a:path w="1884045" h="1850389">
                  <a:moveTo>
                    <a:pt x="599046" y="667080"/>
                  </a:moveTo>
                  <a:lnTo>
                    <a:pt x="587883" y="655916"/>
                  </a:lnTo>
                  <a:lnTo>
                    <a:pt x="582841" y="655916"/>
                  </a:lnTo>
                  <a:lnTo>
                    <a:pt x="571690" y="667080"/>
                  </a:lnTo>
                  <a:lnTo>
                    <a:pt x="571690" y="669594"/>
                  </a:lnTo>
                  <a:lnTo>
                    <a:pt x="571690" y="672109"/>
                  </a:lnTo>
                  <a:lnTo>
                    <a:pt x="582841" y="683272"/>
                  </a:lnTo>
                  <a:lnTo>
                    <a:pt x="587883" y="683272"/>
                  </a:lnTo>
                  <a:lnTo>
                    <a:pt x="599046" y="672109"/>
                  </a:lnTo>
                  <a:lnTo>
                    <a:pt x="599046" y="667080"/>
                  </a:lnTo>
                  <a:close/>
                </a:path>
                <a:path w="1884045" h="1850389">
                  <a:moveTo>
                    <a:pt x="606971" y="237236"/>
                  </a:moveTo>
                  <a:lnTo>
                    <a:pt x="595807" y="226072"/>
                  </a:lnTo>
                  <a:lnTo>
                    <a:pt x="590765" y="226072"/>
                  </a:lnTo>
                  <a:lnTo>
                    <a:pt x="579602" y="237236"/>
                  </a:lnTo>
                  <a:lnTo>
                    <a:pt x="579602" y="239750"/>
                  </a:lnTo>
                  <a:lnTo>
                    <a:pt x="579602" y="242277"/>
                  </a:lnTo>
                  <a:lnTo>
                    <a:pt x="580326" y="244436"/>
                  </a:lnTo>
                  <a:lnTo>
                    <a:pt x="582485" y="248754"/>
                  </a:lnTo>
                  <a:lnTo>
                    <a:pt x="583793" y="250075"/>
                  </a:lnTo>
                  <a:lnTo>
                    <a:pt x="581406" y="251269"/>
                  </a:lnTo>
                  <a:lnTo>
                    <a:pt x="579602" y="253072"/>
                  </a:lnTo>
                  <a:lnTo>
                    <a:pt x="577443" y="257390"/>
                  </a:lnTo>
                  <a:lnTo>
                    <a:pt x="576719" y="259549"/>
                  </a:lnTo>
                  <a:lnTo>
                    <a:pt x="576719" y="262077"/>
                  </a:lnTo>
                  <a:lnTo>
                    <a:pt x="576719" y="264591"/>
                  </a:lnTo>
                  <a:lnTo>
                    <a:pt x="587883" y="275755"/>
                  </a:lnTo>
                  <a:lnTo>
                    <a:pt x="592924" y="275755"/>
                  </a:lnTo>
                  <a:lnTo>
                    <a:pt x="604088" y="264591"/>
                  </a:lnTo>
                  <a:lnTo>
                    <a:pt x="604088" y="259549"/>
                  </a:lnTo>
                  <a:lnTo>
                    <a:pt x="603364" y="257390"/>
                  </a:lnTo>
                  <a:lnTo>
                    <a:pt x="601205" y="253072"/>
                  </a:lnTo>
                  <a:lnTo>
                    <a:pt x="599884" y="251764"/>
                  </a:lnTo>
                  <a:lnTo>
                    <a:pt x="602284" y="250558"/>
                  </a:lnTo>
                  <a:lnTo>
                    <a:pt x="604088" y="248754"/>
                  </a:lnTo>
                  <a:lnTo>
                    <a:pt x="606247" y="244436"/>
                  </a:lnTo>
                  <a:lnTo>
                    <a:pt x="606971" y="242277"/>
                  </a:lnTo>
                  <a:lnTo>
                    <a:pt x="606971" y="237236"/>
                  </a:lnTo>
                  <a:close/>
                </a:path>
                <a:path w="1884045" h="1850389">
                  <a:moveTo>
                    <a:pt x="622808" y="793432"/>
                  </a:moveTo>
                  <a:lnTo>
                    <a:pt x="611644" y="782269"/>
                  </a:lnTo>
                  <a:lnTo>
                    <a:pt x="606602" y="782269"/>
                  </a:lnTo>
                  <a:lnTo>
                    <a:pt x="595452" y="793432"/>
                  </a:lnTo>
                  <a:lnTo>
                    <a:pt x="595452" y="795959"/>
                  </a:lnTo>
                  <a:lnTo>
                    <a:pt x="595452" y="798474"/>
                  </a:lnTo>
                  <a:lnTo>
                    <a:pt x="606602" y="809637"/>
                  </a:lnTo>
                  <a:lnTo>
                    <a:pt x="611644" y="809637"/>
                  </a:lnTo>
                  <a:lnTo>
                    <a:pt x="622808" y="798474"/>
                  </a:lnTo>
                  <a:lnTo>
                    <a:pt x="622808" y="793432"/>
                  </a:lnTo>
                  <a:close/>
                </a:path>
                <a:path w="1884045" h="1850389">
                  <a:moveTo>
                    <a:pt x="635050" y="1004392"/>
                  </a:moveTo>
                  <a:lnTo>
                    <a:pt x="623887" y="993228"/>
                  </a:lnTo>
                  <a:lnTo>
                    <a:pt x="618845" y="993228"/>
                  </a:lnTo>
                  <a:lnTo>
                    <a:pt x="607682" y="1004392"/>
                  </a:lnTo>
                  <a:lnTo>
                    <a:pt x="607682" y="1006919"/>
                  </a:lnTo>
                  <a:lnTo>
                    <a:pt x="607682" y="1009434"/>
                  </a:lnTo>
                  <a:lnTo>
                    <a:pt x="618845" y="1020597"/>
                  </a:lnTo>
                  <a:lnTo>
                    <a:pt x="623887" y="1020597"/>
                  </a:lnTo>
                  <a:lnTo>
                    <a:pt x="635050" y="1009434"/>
                  </a:lnTo>
                  <a:lnTo>
                    <a:pt x="635050" y="1004392"/>
                  </a:lnTo>
                  <a:close/>
                </a:path>
                <a:path w="1884045" h="1850389">
                  <a:moveTo>
                    <a:pt x="666724" y="1218590"/>
                  </a:moveTo>
                  <a:lnTo>
                    <a:pt x="655561" y="1207439"/>
                  </a:lnTo>
                  <a:lnTo>
                    <a:pt x="650532" y="1207439"/>
                  </a:lnTo>
                  <a:lnTo>
                    <a:pt x="639368" y="1218590"/>
                  </a:lnTo>
                  <a:lnTo>
                    <a:pt x="639368" y="1221117"/>
                  </a:lnTo>
                  <a:lnTo>
                    <a:pt x="639368" y="1223632"/>
                  </a:lnTo>
                  <a:lnTo>
                    <a:pt x="650532" y="1234795"/>
                  </a:lnTo>
                  <a:lnTo>
                    <a:pt x="655561" y="1234795"/>
                  </a:lnTo>
                  <a:lnTo>
                    <a:pt x="666724" y="1223632"/>
                  </a:lnTo>
                  <a:lnTo>
                    <a:pt x="666724" y="1218590"/>
                  </a:lnTo>
                  <a:close/>
                </a:path>
                <a:path w="1884045" h="1850389">
                  <a:moveTo>
                    <a:pt x="690486" y="1516672"/>
                  </a:moveTo>
                  <a:lnTo>
                    <a:pt x="679323" y="1505508"/>
                  </a:lnTo>
                  <a:lnTo>
                    <a:pt x="674281" y="1505508"/>
                  </a:lnTo>
                  <a:lnTo>
                    <a:pt x="663130" y="1516672"/>
                  </a:lnTo>
                  <a:lnTo>
                    <a:pt x="663130" y="1519199"/>
                  </a:lnTo>
                  <a:lnTo>
                    <a:pt x="663130" y="1521714"/>
                  </a:lnTo>
                  <a:lnTo>
                    <a:pt x="674281" y="1532877"/>
                  </a:lnTo>
                  <a:lnTo>
                    <a:pt x="679323" y="1532877"/>
                  </a:lnTo>
                  <a:lnTo>
                    <a:pt x="690486" y="1521714"/>
                  </a:lnTo>
                  <a:lnTo>
                    <a:pt x="690486" y="1516672"/>
                  </a:lnTo>
                  <a:close/>
                </a:path>
                <a:path w="1884045" h="1850389">
                  <a:moveTo>
                    <a:pt x="718210" y="1693075"/>
                  </a:moveTo>
                  <a:lnTo>
                    <a:pt x="707047" y="1681911"/>
                  </a:lnTo>
                  <a:lnTo>
                    <a:pt x="702005" y="1681911"/>
                  </a:lnTo>
                  <a:lnTo>
                    <a:pt x="690841" y="1693075"/>
                  </a:lnTo>
                  <a:lnTo>
                    <a:pt x="690841" y="1693989"/>
                  </a:lnTo>
                  <a:lnTo>
                    <a:pt x="686892" y="1695958"/>
                  </a:lnTo>
                  <a:lnTo>
                    <a:pt x="685088" y="1697748"/>
                  </a:lnTo>
                  <a:lnTo>
                    <a:pt x="682929" y="1702079"/>
                  </a:lnTo>
                  <a:lnTo>
                    <a:pt x="682205" y="1704238"/>
                  </a:lnTo>
                  <a:lnTo>
                    <a:pt x="682205" y="1706753"/>
                  </a:lnTo>
                  <a:lnTo>
                    <a:pt x="682205" y="1709280"/>
                  </a:lnTo>
                  <a:lnTo>
                    <a:pt x="693369" y="1720430"/>
                  </a:lnTo>
                  <a:lnTo>
                    <a:pt x="698411" y="1720430"/>
                  </a:lnTo>
                  <a:lnTo>
                    <a:pt x="709561" y="1709280"/>
                  </a:lnTo>
                  <a:lnTo>
                    <a:pt x="709561" y="1708378"/>
                  </a:lnTo>
                  <a:lnTo>
                    <a:pt x="713524" y="1706397"/>
                  </a:lnTo>
                  <a:lnTo>
                    <a:pt x="715327" y="1704594"/>
                  </a:lnTo>
                  <a:lnTo>
                    <a:pt x="717486" y="1700276"/>
                  </a:lnTo>
                  <a:lnTo>
                    <a:pt x="718210" y="1698117"/>
                  </a:lnTo>
                  <a:lnTo>
                    <a:pt x="718210" y="1693075"/>
                  </a:lnTo>
                  <a:close/>
                </a:path>
                <a:path w="1884045" h="1850389">
                  <a:moveTo>
                    <a:pt x="1020610" y="459714"/>
                  </a:moveTo>
                  <a:lnTo>
                    <a:pt x="1009446" y="448551"/>
                  </a:lnTo>
                  <a:lnTo>
                    <a:pt x="1004404" y="448551"/>
                  </a:lnTo>
                  <a:lnTo>
                    <a:pt x="993241" y="459714"/>
                  </a:lnTo>
                  <a:lnTo>
                    <a:pt x="993241" y="462229"/>
                  </a:lnTo>
                  <a:lnTo>
                    <a:pt x="993241" y="464756"/>
                  </a:lnTo>
                  <a:lnTo>
                    <a:pt x="1004404" y="475919"/>
                  </a:lnTo>
                  <a:lnTo>
                    <a:pt x="1009446" y="475919"/>
                  </a:lnTo>
                  <a:lnTo>
                    <a:pt x="1020610" y="464756"/>
                  </a:lnTo>
                  <a:lnTo>
                    <a:pt x="1020610" y="459714"/>
                  </a:lnTo>
                  <a:close/>
                </a:path>
                <a:path w="1884045" h="1850389">
                  <a:moveTo>
                    <a:pt x="1036802" y="737997"/>
                  </a:moveTo>
                  <a:lnTo>
                    <a:pt x="1025652" y="726833"/>
                  </a:lnTo>
                  <a:lnTo>
                    <a:pt x="1020610" y="726833"/>
                  </a:lnTo>
                  <a:lnTo>
                    <a:pt x="1009446" y="737997"/>
                  </a:lnTo>
                  <a:lnTo>
                    <a:pt x="1009446" y="740511"/>
                  </a:lnTo>
                  <a:lnTo>
                    <a:pt x="1009446" y="743038"/>
                  </a:lnTo>
                  <a:lnTo>
                    <a:pt x="1020610" y="754189"/>
                  </a:lnTo>
                  <a:lnTo>
                    <a:pt x="1025652" y="754189"/>
                  </a:lnTo>
                  <a:lnTo>
                    <a:pt x="1036802" y="743038"/>
                  </a:lnTo>
                  <a:lnTo>
                    <a:pt x="1036802" y="737997"/>
                  </a:lnTo>
                  <a:close/>
                </a:path>
                <a:path w="1884045" h="1850389">
                  <a:moveTo>
                    <a:pt x="1056601" y="822236"/>
                  </a:moveTo>
                  <a:lnTo>
                    <a:pt x="1045451" y="811072"/>
                  </a:lnTo>
                  <a:lnTo>
                    <a:pt x="1040409" y="811072"/>
                  </a:lnTo>
                  <a:lnTo>
                    <a:pt x="1029246" y="822236"/>
                  </a:lnTo>
                  <a:lnTo>
                    <a:pt x="1029246" y="824750"/>
                  </a:lnTo>
                  <a:lnTo>
                    <a:pt x="1029246" y="827278"/>
                  </a:lnTo>
                  <a:lnTo>
                    <a:pt x="1040409" y="838428"/>
                  </a:lnTo>
                  <a:lnTo>
                    <a:pt x="1045451" y="838428"/>
                  </a:lnTo>
                  <a:lnTo>
                    <a:pt x="1056601" y="827278"/>
                  </a:lnTo>
                  <a:lnTo>
                    <a:pt x="1056601" y="822236"/>
                  </a:lnTo>
                  <a:close/>
                </a:path>
                <a:path w="1884045" h="1850389">
                  <a:moveTo>
                    <a:pt x="1064171" y="987831"/>
                  </a:moveTo>
                  <a:lnTo>
                    <a:pt x="1053007" y="976668"/>
                  </a:lnTo>
                  <a:lnTo>
                    <a:pt x="1047965" y="976668"/>
                  </a:lnTo>
                  <a:lnTo>
                    <a:pt x="1036802" y="987831"/>
                  </a:lnTo>
                  <a:lnTo>
                    <a:pt x="1036802" y="990358"/>
                  </a:lnTo>
                  <a:lnTo>
                    <a:pt x="1036802" y="992873"/>
                  </a:lnTo>
                  <a:lnTo>
                    <a:pt x="1047965" y="1004036"/>
                  </a:lnTo>
                  <a:lnTo>
                    <a:pt x="1053007" y="1004036"/>
                  </a:lnTo>
                  <a:lnTo>
                    <a:pt x="1064171" y="992873"/>
                  </a:lnTo>
                  <a:lnTo>
                    <a:pt x="1064171" y="987831"/>
                  </a:lnTo>
                  <a:close/>
                </a:path>
                <a:path w="1884045" h="1850389">
                  <a:moveTo>
                    <a:pt x="1086485" y="1109510"/>
                  </a:moveTo>
                  <a:lnTo>
                    <a:pt x="1075321" y="1098359"/>
                  </a:lnTo>
                  <a:lnTo>
                    <a:pt x="1070279" y="1098359"/>
                  </a:lnTo>
                  <a:lnTo>
                    <a:pt x="1059129" y="1109510"/>
                  </a:lnTo>
                  <a:lnTo>
                    <a:pt x="1059129" y="1112037"/>
                  </a:lnTo>
                  <a:lnTo>
                    <a:pt x="1059129" y="1114552"/>
                  </a:lnTo>
                  <a:lnTo>
                    <a:pt x="1070279" y="1125715"/>
                  </a:lnTo>
                  <a:lnTo>
                    <a:pt x="1075321" y="1125715"/>
                  </a:lnTo>
                  <a:lnTo>
                    <a:pt x="1086485" y="1114552"/>
                  </a:lnTo>
                  <a:lnTo>
                    <a:pt x="1086485" y="1109510"/>
                  </a:lnTo>
                  <a:close/>
                </a:path>
                <a:path w="1884045" h="1850389">
                  <a:moveTo>
                    <a:pt x="1110602" y="1412633"/>
                  </a:moveTo>
                  <a:lnTo>
                    <a:pt x="1099451" y="1401470"/>
                  </a:lnTo>
                  <a:lnTo>
                    <a:pt x="1094409" y="1401470"/>
                  </a:lnTo>
                  <a:lnTo>
                    <a:pt x="1083246" y="1412633"/>
                  </a:lnTo>
                  <a:lnTo>
                    <a:pt x="1083246" y="1415148"/>
                  </a:lnTo>
                  <a:lnTo>
                    <a:pt x="1083246" y="1417675"/>
                  </a:lnTo>
                  <a:lnTo>
                    <a:pt x="1094409" y="1428838"/>
                  </a:lnTo>
                  <a:lnTo>
                    <a:pt x="1099451" y="1428838"/>
                  </a:lnTo>
                  <a:lnTo>
                    <a:pt x="1110602" y="1417675"/>
                  </a:lnTo>
                  <a:lnTo>
                    <a:pt x="1110602" y="1412633"/>
                  </a:lnTo>
                  <a:close/>
                </a:path>
                <a:path w="1884045" h="1850389">
                  <a:moveTo>
                    <a:pt x="1134364" y="1546910"/>
                  </a:moveTo>
                  <a:lnTo>
                    <a:pt x="1123200" y="1535760"/>
                  </a:lnTo>
                  <a:lnTo>
                    <a:pt x="1118171" y="1535760"/>
                  </a:lnTo>
                  <a:lnTo>
                    <a:pt x="1107008" y="1546910"/>
                  </a:lnTo>
                  <a:lnTo>
                    <a:pt x="1107008" y="1549438"/>
                  </a:lnTo>
                  <a:lnTo>
                    <a:pt x="1107008" y="1551952"/>
                  </a:lnTo>
                  <a:lnTo>
                    <a:pt x="1118171" y="1563116"/>
                  </a:lnTo>
                  <a:lnTo>
                    <a:pt x="1123200" y="1563116"/>
                  </a:lnTo>
                  <a:lnTo>
                    <a:pt x="1134364" y="1551952"/>
                  </a:lnTo>
                  <a:lnTo>
                    <a:pt x="1134364" y="1546910"/>
                  </a:lnTo>
                  <a:close/>
                </a:path>
                <a:path w="1884045" h="1850389">
                  <a:moveTo>
                    <a:pt x="1135087" y="1650238"/>
                  </a:moveTo>
                  <a:lnTo>
                    <a:pt x="1123924" y="1639074"/>
                  </a:lnTo>
                  <a:lnTo>
                    <a:pt x="1118882" y="1639074"/>
                  </a:lnTo>
                  <a:lnTo>
                    <a:pt x="1107732" y="1650238"/>
                  </a:lnTo>
                  <a:lnTo>
                    <a:pt x="1107732" y="1652752"/>
                  </a:lnTo>
                  <a:lnTo>
                    <a:pt x="1107732" y="1655279"/>
                  </a:lnTo>
                  <a:lnTo>
                    <a:pt x="1118882" y="1666430"/>
                  </a:lnTo>
                  <a:lnTo>
                    <a:pt x="1123924" y="1666430"/>
                  </a:lnTo>
                  <a:lnTo>
                    <a:pt x="1135087" y="1655279"/>
                  </a:lnTo>
                  <a:lnTo>
                    <a:pt x="1135087" y="1650238"/>
                  </a:lnTo>
                  <a:close/>
                </a:path>
                <a:path w="1884045" h="1850389">
                  <a:moveTo>
                    <a:pt x="1152359" y="1825193"/>
                  </a:moveTo>
                  <a:lnTo>
                    <a:pt x="1141209" y="1814029"/>
                  </a:lnTo>
                  <a:lnTo>
                    <a:pt x="1136167" y="1814029"/>
                  </a:lnTo>
                  <a:lnTo>
                    <a:pt x="1125004" y="1825193"/>
                  </a:lnTo>
                  <a:lnTo>
                    <a:pt x="1125004" y="1827720"/>
                  </a:lnTo>
                  <a:lnTo>
                    <a:pt x="1125004" y="1830235"/>
                  </a:lnTo>
                  <a:lnTo>
                    <a:pt x="1136167" y="1841398"/>
                  </a:lnTo>
                  <a:lnTo>
                    <a:pt x="1141209" y="1841398"/>
                  </a:lnTo>
                  <a:lnTo>
                    <a:pt x="1152359" y="1830235"/>
                  </a:lnTo>
                  <a:lnTo>
                    <a:pt x="1152359" y="1825193"/>
                  </a:lnTo>
                  <a:close/>
                </a:path>
                <a:path w="1884045" h="1850389">
                  <a:moveTo>
                    <a:pt x="1201331" y="458279"/>
                  </a:moveTo>
                  <a:lnTo>
                    <a:pt x="1190167" y="447116"/>
                  </a:lnTo>
                  <a:lnTo>
                    <a:pt x="1185125" y="447116"/>
                  </a:lnTo>
                  <a:lnTo>
                    <a:pt x="1173962" y="458279"/>
                  </a:lnTo>
                  <a:lnTo>
                    <a:pt x="1173962" y="460794"/>
                  </a:lnTo>
                  <a:lnTo>
                    <a:pt x="1173962" y="463308"/>
                  </a:lnTo>
                  <a:lnTo>
                    <a:pt x="1185125" y="474472"/>
                  </a:lnTo>
                  <a:lnTo>
                    <a:pt x="1190167" y="474472"/>
                  </a:lnTo>
                  <a:lnTo>
                    <a:pt x="1201331" y="463308"/>
                  </a:lnTo>
                  <a:lnTo>
                    <a:pt x="1201331" y="458279"/>
                  </a:lnTo>
                  <a:close/>
                </a:path>
                <a:path w="1884045" h="1850389">
                  <a:moveTo>
                    <a:pt x="1203121" y="1273314"/>
                  </a:moveTo>
                  <a:lnTo>
                    <a:pt x="1191971" y="1262151"/>
                  </a:lnTo>
                  <a:lnTo>
                    <a:pt x="1186929" y="1262151"/>
                  </a:lnTo>
                  <a:lnTo>
                    <a:pt x="1175766" y="1273314"/>
                  </a:lnTo>
                  <a:lnTo>
                    <a:pt x="1175766" y="1275829"/>
                  </a:lnTo>
                  <a:lnTo>
                    <a:pt x="1175766" y="1278356"/>
                  </a:lnTo>
                  <a:lnTo>
                    <a:pt x="1186929" y="1289519"/>
                  </a:lnTo>
                  <a:lnTo>
                    <a:pt x="1191971" y="1289519"/>
                  </a:lnTo>
                  <a:lnTo>
                    <a:pt x="1203121" y="1278356"/>
                  </a:lnTo>
                  <a:lnTo>
                    <a:pt x="1203121" y="1273314"/>
                  </a:lnTo>
                  <a:close/>
                </a:path>
                <a:path w="1884045" h="1850389">
                  <a:moveTo>
                    <a:pt x="1227963" y="1149477"/>
                  </a:moveTo>
                  <a:lnTo>
                    <a:pt x="1216799" y="1138313"/>
                  </a:lnTo>
                  <a:lnTo>
                    <a:pt x="1211770" y="1138313"/>
                  </a:lnTo>
                  <a:lnTo>
                    <a:pt x="1200607" y="1149477"/>
                  </a:lnTo>
                  <a:lnTo>
                    <a:pt x="1200607" y="1151991"/>
                  </a:lnTo>
                  <a:lnTo>
                    <a:pt x="1200607" y="1154518"/>
                  </a:lnTo>
                  <a:lnTo>
                    <a:pt x="1211770" y="1165669"/>
                  </a:lnTo>
                  <a:lnTo>
                    <a:pt x="1216799" y="1165669"/>
                  </a:lnTo>
                  <a:lnTo>
                    <a:pt x="1227963" y="1154518"/>
                  </a:lnTo>
                  <a:lnTo>
                    <a:pt x="1227963" y="1149477"/>
                  </a:lnTo>
                  <a:close/>
                </a:path>
                <a:path w="1884045" h="1850389">
                  <a:moveTo>
                    <a:pt x="1255331" y="748436"/>
                  </a:moveTo>
                  <a:lnTo>
                    <a:pt x="1244168" y="737273"/>
                  </a:lnTo>
                  <a:lnTo>
                    <a:pt x="1239126" y="737273"/>
                  </a:lnTo>
                  <a:lnTo>
                    <a:pt x="1227963" y="748436"/>
                  </a:lnTo>
                  <a:lnTo>
                    <a:pt x="1227963" y="750951"/>
                  </a:lnTo>
                  <a:lnTo>
                    <a:pt x="1227963" y="753478"/>
                  </a:lnTo>
                  <a:lnTo>
                    <a:pt x="1239126" y="764628"/>
                  </a:lnTo>
                  <a:lnTo>
                    <a:pt x="1244168" y="764628"/>
                  </a:lnTo>
                  <a:lnTo>
                    <a:pt x="1255331" y="753478"/>
                  </a:lnTo>
                  <a:lnTo>
                    <a:pt x="1255331" y="748436"/>
                  </a:lnTo>
                  <a:close/>
                </a:path>
                <a:path w="1884045" h="1850389">
                  <a:moveTo>
                    <a:pt x="1508404" y="51473"/>
                  </a:moveTo>
                  <a:lnTo>
                    <a:pt x="1497241" y="40309"/>
                  </a:lnTo>
                  <a:lnTo>
                    <a:pt x="1492211" y="40309"/>
                  </a:lnTo>
                  <a:lnTo>
                    <a:pt x="1481048" y="51473"/>
                  </a:lnTo>
                  <a:lnTo>
                    <a:pt x="1481048" y="54000"/>
                  </a:lnTo>
                  <a:lnTo>
                    <a:pt x="1481048" y="56515"/>
                  </a:lnTo>
                  <a:lnTo>
                    <a:pt x="1492211" y="67678"/>
                  </a:lnTo>
                  <a:lnTo>
                    <a:pt x="1497241" y="67678"/>
                  </a:lnTo>
                  <a:lnTo>
                    <a:pt x="1508404" y="56515"/>
                  </a:lnTo>
                  <a:lnTo>
                    <a:pt x="1508404" y="51473"/>
                  </a:lnTo>
                  <a:close/>
                </a:path>
                <a:path w="1884045" h="1850389">
                  <a:moveTo>
                    <a:pt x="1509852" y="81711"/>
                  </a:moveTo>
                  <a:lnTo>
                    <a:pt x="1498688" y="70548"/>
                  </a:lnTo>
                  <a:lnTo>
                    <a:pt x="1493647" y="70548"/>
                  </a:lnTo>
                  <a:lnTo>
                    <a:pt x="1482483" y="81711"/>
                  </a:lnTo>
                  <a:lnTo>
                    <a:pt x="1482483" y="84239"/>
                  </a:lnTo>
                  <a:lnTo>
                    <a:pt x="1482483" y="86753"/>
                  </a:lnTo>
                  <a:lnTo>
                    <a:pt x="1493647" y="97917"/>
                  </a:lnTo>
                  <a:lnTo>
                    <a:pt x="1498688" y="97917"/>
                  </a:lnTo>
                  <a:lnTo>
                    <a:pt x="1509852" y="86753"/>
                  </a:lnTo>
                  <a:lnTo>
                    <a:pt x="1509852" y="81711"/>
                  </a:lnTo>
                  <a:close/>
                </a:path>
                <a:path w="1884045" h="1850389">
                  <a:moveTo>
                    <a:pt x="1521726" y="300228"/>
                  </a:moveTo>
                  <a:lnTo>
                    <a:pt x="1510563" y="289077"/>
                  </a:lnTo>
                  <a:lnTo>
                    <a:pt x="1505521" y="289077"/>
                  </a:lnTo>
                  <a:lnTo>
                    <a:pt x="1494370" y="300228"/>
                  </a:lnTo>
                  <a:lnTo>
                    <a:pt x="1494370" y="302755"/>
                  </a:lnTo>
                  <a:lnTo>
                    <a:pt x="1494370" y="305269"/>
                  </a:lnTo>
                  <a:lnTo>
                    <a:pt x="1505521" y="316433"/>
                  </a:lnTo>
                  <a:lnTo>
                    <a:pt x="1510563" y="316433"/>
                  </a:lnTo>
                  <a:lnTo>
                    <a:pt x="1521726" y="305269"/>
                  </a:lnTo>
                  <a:lnTo>
                    <a:pt x="1521726" y="300228"/>
                  </a:lnTo>
                  <a:close/>
                </a:path>
                <a:path w="1884045" h="1850389">
                  <a:moveTo>
                    <a:pt x="1527124" y="375475"/>
                  </a:moveTo>
                  <a:lnTo>
                    <a:pt x="1515960" y="364312"/>
                  </a:lnTo>
                  <a:lnTo>
                    <a:pt x="1510931" y="364312"/>
                  </a:lnTo>
                  <a:lnTo>
                    <a:pt x="1499768" y="375475"/>
                  </a:lnTo>
                  <a:lnTo>
                    <a:pt x="1499768" y="377990"/>
                  </a:lnTo>
                  <a:lnTo>
                    <a:pt x="1499768" y="380517"/>
                  </a:lnTo>
                  <a:lnTo>
                    <a:pt x="1510931" y="391668"/>
                  </a:lnTo>
                  <a:lnTo>
                    <a:pt x="1515960" y="391668"/>
                  </a:lnTo>
                  <a:lnTo>
                    <a:pt x="1527124" y="380517"/>
                  </a:lnTo>
                  <a:lnTo>
                    <a:pt x="1527124" y="375475"/>
                  </a:lnTo>
                  <a:close/>
                </a:path>
                <a:path w="1884045" h="1850389">
                  <a:moveTo>
                    <a:pt x="1545488" y="444233"/>
                  </a:moveTo>
                  <a:lnTo>
                    <a:pt x="1534325" y="433070"/>
                  </a:lnTo>
                  <a:lnTo>
                    <a:pt x="1529283" y="433070"/>
                  </a:lnTo>
                  <a:lnTo>
                    <a:pt x="1518119" y="444233"/>
                  </a:lnTo>
                  <a:lnTo>
                    <a:pt x="1518119" y="446760"/>
                  </a:lnTo>
                  <a:lnTo>
                    <a:pt x="1518119" y="449275"/>
                  </a:lnTo>
                  <a:lnTo>
                    <a:pt x="1529283" y="460438"/>
                  </a:lnTo>
                  <a:lnTo>
                    <a:pt x="1534325" y="460438"/>
                  </a:lnTo>
                  <a:lnTo>
                    <a:pt x="1545488" y="449275"/>
                  </a:lnTo>
                  <a:lnTo>
                    <a:pt x="1545488" y="444233"/>
                  </a:lnTo>
                  <a:close/>
                </a:path>
                <a:path w="1884045" h="1850389">
                  <a:moveTo>
                    <a:pt x="1561680" y="589318"/>
                  </a:moveTo>
                  <a:lnTo>
                    <a:pt x="1550530" y="578154"/>
                  </a:lnTo>
                  <a:lnTo>
                    <a:pt x="1545488" y="578154"/>
                  </a:lnTo>
                  <a:lnTo>
                    <a:pt x="1534325" y="589318"/>
                  </a:lnTo>
                  <a:lnTo>
                    <a:pt x="1534325" y="591832"/>
                  </a:lnTo>
                  <a:lnTo>
                    <a:pt x="1534325" y="594360"/>
                  </a:lnTo>
                  <a:lnTo>
                    <a:pt x="1545488" y="605510"/>
                  </a:lnTo>
                  <a:lnTo>
                    <a:pt x="1550530" y="605510"/>
                  </a:lnTo>
                  <a:lnTo>
                    <a:pt x="1561680" y="594360"/>
                  </a:lnTo>
                  <a:lnTo>
                    <a:pt x="1561680" y="589318"/>
                  </a:lnTo>
                  <a:close/>
                </a:path>
                <a:path w="1884045" h="1850389">
                  <a:moveTo>
                    <a:pt x="1589049" y="881989"/>
                  </a:moveTo>
                  <a:lnTo>
                    <a:pt x="1577886" y="870839"/>
                  </a:lnTo>
                  <a:lnTo>
                    <a:pt x="1572844" y="870839"/>
                  </a:lnTo>
                  <a:lnTo>
                    <a:pt x="1561680" y="881989"/>
                  </a:lnTo>
                  <a:lnTo>
                    <a:pt x="1561680" y="884516"/>
                  </a:lnTo>
                  <a:lnTo>
                    <a:pt x="1561680" y="887031"/>
                  </a:lnTo>
                  <a:lnTo>
                    <a:pt x="1562404" y="889190"/>
                  </a:lnTo>
                  <a:lnTo>
                    <a:pt x="1560601" y="889914"/>
                  </a:lnTo>
                  <a:lnTo>
                    <a:pt x="1556270" y="892073"/>
                  </a:lnTo>
                  <a:lnTo>
                    <a:pt x="1554480" y="893876"/>
                  </a:lnTo>
                  <a:lnTo>
                    <a:pt x="1552308" y="898194"/>
                  </a:lnTo>
                  <a:lnTo>
                    <a:pt x="1551609" y="900353"/>
                  </a:lnTo>
                  <a:lnTo>
                    <a:pt x="1551609" y="902868"/>
                  </a:lnTo>
                  <a:lnTo>
                    <a:pt x="1551609" y="905395"/>
                  </a:lnTo>
                  <a:lnTo>
                    <a:pt x="1562747" y="916559"/>
                  </a:lnTo>
                  <a:lnTo>
                    <a:pt x="1567802" y="916559"/>
                  </a:lnTo>
                  <a:lnTo>
                    <a:pt x="1578965" y="905395"/>
                  </a:lnTo>
                  <a:lnTo>
                    <a:pt x="1578965" y="900353"/>
                  </a:lnTo>
                  <a:lnTo>
                    <a:pt x="1578241" y="898194"/>
                  </a:lnTo>
                  <a:lnTo>
                    <a:pt x="1580032" y="897470"/>
                  </a:lnTo>
                  <a:lnTo>
                    <a:pt x="1584363" y="895311"/>
                  </a:lnTo>
                  <a:lnTo>
                    <a:pt x="1586166" y="893508"/>
                  </a:lnTo>
                  <a:lnTo>
                    <a:pt x="1588325" y="889190"/>
                  </a:lnTo>
                  <a:lnTo>
                    <a:pt x="1589049" y="887031"/>
                  </a:lnTo>
                  <a:lnTo>
                    <a:pt x="1589049" y="881989"/>
                  </a:lnTo>
                  <a:close/>
                </a:path>
                <a:path w="1884045" h="1850389">
                  <a:moveTo>
                    <a:pt x="1589405" y="11150"/>
                  </a:moveTo>
                  <a:lnTo>
                    <a:pt x="1578241" y="0"/>
                  </a:lnTo>
                  <a:lnTo>
                    <a:pt x="1573187" y="0"/>
                  </a:lnTo>
                  <a:lnTo>
                    <a:pt x="1562049" y="11150"/>
                  </a:lnTo>
                  <a:lnTo>
                    <a:pt x="1562049" y="13677"/>
                  </a:lnTo>
                  <a:lnTo>
                    <a:pt x="1562049" y="16192"/>
                  </a:lnTo>
                  <a:lnTo>
                    <a:pt x="1573187" y="27355"/>
                  </a:lnTo>
                  <a:lnTo>
                    <a:pt x="1578241" y="27355"/>
                  </a:lnTo>
                  <a:lnTo>
                    <a:pt x="1589405" y="16192"/>
                  </a:lnTo>
                  <a:lnTo>
                    <a:pt x="1589405" y="11150"/>
                  </a:lnTo>
                  <a:close/>
                </a:path>
                <a:path w="1884045" h="1850389">
                  <a:moveTo>
                    <a:pt x="1605965" y="1147673"/>
                  </a:moveTo>
                  <a:lnTo>
                    <a:pt x="1594802" y="1136510"/>
                  </a:lnTo>
                  <a:lnTo>
                    <a:pt x="1589760" y="1136510"/>
                  </a:lnTo>
                  <a:lnTo>
                    <a:pt x="1578610" y="1147673"/>
                  </a:lnTo>
                  <a:lnTo>
                    <a:pt x="1578610" y="1150188"/>
                  </a:lnTo>
                  <a:lnTo>
                    <a:pt x="1578610" y="1152715"/>
                  </a:lnTo>
                  <a:lnTo>
                    <a:pt x="1589760" y="1163878"/>
                  </a:lnTo>
                  <a:lnTo>
                    <a:pt x="1594802" y="1163878"/>
                  </a:lnTo>
                  <a:lnTo>
                    <a:pt x="1605965" y="1152715"/>
                  </a:lnTo>
                  <a:lnTo>
                    <a:pt x="1605965" y="1147673"/>
                  </a:lnTo>
                  <a:close/>
                </a:path>
                <a:path w="1884045" h="1850389">
                  <a:moveTo>
                    <a:pt x="1622526" y="1338110"/>
                  </a:moveTo>
                  <a:lnTo>
                    <a:pt x="1611350" y="1326959"/>
                  </a:lnTo>
                  <a:lnTo>
                    <a:pt x="1606321" y="1326959"/>
                  </a:lnTo>
                  <a:lnTo>
                    <a:pt x="1595170" y="1338110"/>
                  </a:lnTo>
                  <a:lnTo>
                    <a:pt x="1595170" y="1340637"/>
                  </a:lnTo>
                  <a:lnTo>
                    <a:pt x="1595170" y="1343152"/>
                  </a:lnTo>
                  <a:lnTo>
                    <a:pt x="1606321" y="1354315"/>
                  </a:lnTo>
                  <a:lnTo>
                    <a:pt x="1611350" y="1354315"/>
                  </a:lnTo>
                  <a:lnTo>
                    <a:pt x="1622526" y="1343152"/>
                  </a:lnTo>
                  <a:lnTo>
                    <a:pt x="1622526" y="1338110"/>
                  </a:lnTo>
                  <a:close/>
                </a:path>
                <a:path w="1884045" h="1850389">
                  <a:moveTo>
                    <a:pt x="1622526" y="1201674"/>
                  </a:moveTo>
                  <a:lnTo>
                    <a:pt x="1611350" y="1190510"/>
                  </a:lnTo>
                  <a:lnTo>
                    <a:pt x="1606321" y="1190510"/>
                  </a:lnTo>
                  <a:lnTo>
                    <a:pt x="1595170" y="1201674"/>
                  </a:lnTo>
                  <a:lnTo>
                    <a:pt x="1595170" y="1204188"/>
                  </a:lnTo>
                  <a:lnTo>
                    <a:pt x="1595170" y="1206715"/>
                  </a:lnTo>
                  <a:lnTo>
                    <a:pt x="1606321" y="1217879"/>
                  </a:lnTo>
                  <a:lnTo>
                    <a:pt x="1611350" y="1217879"/>
                  </a:lnTo>
                  <a:lnTo>
                    <a:pt x="1622526" y="1206715"/>
                  </a:lnTo>
                  <a:lnTo>
                    <a:pt x="1622526" y="1201674"/>
                  </a:lnTo>
                  <a:close/>
                </a:path>
                <a:path w="1884045" h="1850389">
                  <a:moveTo>
                    <a:pt x="1644840" y="1444675"/>
                  </a:moveTo>
                  <a:lnTo>
                    <a:pt x="1633689" y="1433512"/>
                  </a:lnTo>
                  <a:lnTo>
                    <a:pt x="1628635" y="1433512"/>
                  </a:lnTo>
                  <a:lnTo>
                    <a:pt x="1617484" y="1444675"/>
                  </a:lnTo>
                  <a:lnTo>
                    <a:pt x="1617484" y="1447190"/>
                  </a:lnTo>
                  <a:lnTo>
                    <a:pt x="1617484" y="1449717"/>
                  </a:lnTo>
                  <a:lnTo>
                    <a:pt x="1628635" y="1460868"/>
                  </a:lnTo>
                  <a:lnTo>
                    <a:pt x="1633689" y="1460868"/>
                  </a:lnTo>
                  <a:lnTo>
                    <a:pt x="1644840" y="1449717"/>
                  </a:lnTo>
                  <a:lnTo>
                    <a:pt x="1644840" y="1444675"/>
                  </a:lnTo>
                  <a:close/>
                </a:path>
                <a:path w="1884045" h="1850389">
                  <a:moveTo>
                    <a:pt x="1650238" y="742315"/>
                  </a:moveTo>
                  <a:lnTo>
                    <a:pt x="1639074" y="731151"/>
                  </a:lnTo>
                  <a:lnTo>
                    <a:pt x="1634045" y="731151"/>
                  </a:lnTo>
                  <a:lnTo>
                    <a:pt x="1622882" y="742315"/>
                  </a:lnTo>
                  <a:lnTo>
                    <a:pt x="1622882" y="744829"/>
                  </a:lnTo>
                  <a:lnTo>
                    <a:pt x="1622882" y="747356"/>
                  </a:lnTo>
                  <a:lnTo>
                    <a:pt x="1634045" y="758520"/>
                  </a:lnTo>
                  <a:lnTo>
                    <a:pt x="1639074" y="758520"/>
                  </a:lnTo>
                  <a:lnTo>
                    <a:pt x="1650238" y="747356"/>
                  </a:lnTo>
                  <a:lnTo>
                    <a:pt x="1650238" y="742315"/>
                  </a:lnTo>
                  <a:close/>
                </a:path>
                <a:path w="1884045" h="1850389">
                  <a:moveTo>
                    <a:pt x="1678330" y="1782000"/>
                  </a:moveTo>
                  <a:lnTo>
                    <a:pt x="1667154" y="1770837"/>
                  </a:lnTo>
                  <a:lnTo>
                    <a:pt x="1662125" y="1770837"/>
                  </a:lnTo>
                  <a:lnTo>
                    <a:pt x="1650961" y="1782000"/>
                  </a:lnTo>
                  <a:lnTo>
                    <a:pt x="1650961" y="1784515"/>
                  </a:lnTo>
                  <a:lnTo>
                    <a:pt x="1650961" y="1787029"/>
                  </a:lnTo>
                  <a:lnTo>
                    <a:pt x="1662125" y="1798193"/>
                  </a:lnTo>
                  <a:lnTo>
                    <a:pt x="1667154" y="1798193"/>
                  </a:lnTo>
                  <a:lnTo>
                    <a:pt x="1678330" y="1787029"/>
                  </a:lnTo>
                  <a:lnTo>
                    <a:pt x="1678330" y="1782000"/>
                  </a:lnTo>
                  <a:close/>
                </a:path>
                <a:path w="1884045" h="1850389">
                  <a:moveTo>
                    <a:pt x="1709280" y="1211389"/>
                  </a:moveTo>
                  <a:lnTo>
                    <a:pt x="1698117" y="1200238"/>
                  </a:lnTo>
                  <a:lnTo>
                    <a:pt x="1693087" y="1200238"/>
                  </a:lnTo>
                  <a:lnTo>
                    <a:pt x="1681924" y="1211389"/>
                  </a:lnTo>
                  <a:lnTo>
                    <a:pt x="1681924" y="1213916"/>
                  </a:lnTo>
                  <a:lnTo>
                    <a:pt x="1681924" y="1216431"/>
                  </a:lnTo>
                  <a:lnTo>
                    <a:pt x="1693087" y="1227594"/>
                  </a:lnTo>
                  <a:lnTo>
                    <a:pt x="1698117" y="1227594"/>
                  </a:lnTo>
                  <a:lnTo>
                    <a:pt x="1709280" y="1216431"/>
                  </a:lnTo>
                  <a:lnTo>
                    <a:pt x="1709280" y="1211389"/>
                  </a:lnTo>
                  <a:close/>
                </a:path>
                <a:path w="1884045" h="1850389">
                  <a:moveTo>
                    <a:pt x="1721523" y="1455115"/>
                  </a:moveTo>
                  <a:lnTo>
                    <a:pt x="1710359" y="1443951"/>
                  </a:lnTo>
                  <a:lnTo>
                    <a:pt x="1705317" y="1443951"/>
                  </a:lnTo>
                  <a:lnTo>
                    <a:pt x="1694167" y="1455115"/>
                  </a:lnTo>
                  <a:lnTo>
                    <a:pt x="1694167" y="1457629"/>
                  </a:lnTo>
                  <a:lnTo>
                    <a:pt x="1694167" y="1460157"/>
                  </a:lnTo>
                  <a:lnTo>
                    <a:pt x="1705317" y="1471320"/>
                  </a:lnTo>
                  <a:lnTo>
                    <a:pt x="1710359" y="1471320"/>
                  </a:lnTo>
                  <a:lnTo>
                    <a:pt x="1721523" y="1460157"/>
                  </a:lnTo>
                  <a:lnTo>
                    <a:pt x="1721523" y="1455115"/>
                  </a:lnTo>
                  <a:close/>
                </a:path>
                <a:path w="1884045" h="1850389">
                  <a:moveTo>
                    <a:pt x="1846084" y="23037"/>
                  </a:moveTo>
                  <a:lnTo>
                    <a:pt x="1834921" y="11874"/>
                  </a:lnTo>
                  <a:lnTo>
                    <a:pt x="1829892" y="11874"/>
                  </a:lnTo>
                  <a:lnTo>
                    <a:pt x="1818728" y="23037"/>
                  </a:lnTo>
                  <a:lnTo>
                    <a:pt x="1818728" y="25552"/>
                  </a:lnTo>
                  <a:lnTo>
                    <a:pt x="1818728" y="28079"/>
                  </a:lnTo>
                  <a:lnTo>
                    <a:pt x="1829892" y="39230"/>
                  </a:lnTo>
                  <a:lnTo>
                    <a:pt x="1834921" y="39230"/>
                  </a:lnTo>
                  <a:lnTo>
                    <a:pt x="1846084" y="28079"/>
                  </a:lnTo>
                  <a:lnTo>
                    <a:pt x="1846084" y="23037"/>
                  </a:lnTo>
                  <a:close/>
                </a:path>
                <a:path w="1884045" h="1850389">
                  <a:moveTo>
                    <a:pt x="1854009" y="1688033"/>
                  </a:moveTo>
                  <a:lnTo>
                    <a:pt x="1842846" y="1676869"/>
                  </a:lnTo>
                  <a:lnTo>
                    <a:pt x="1837804" y="1676869"/>
                  </a:lnTo>
                  <a:lnTo>
                    <a:pt x="1826641" y="1688033"/>
                  </a:lnTo>
                  <a:lnTo>
                    <a:pt x="1826641" y="1690560"/>
                  </a:lnTo>
                  <a:lnTo>
                    <a:pt x="1826641" y="1693075"/>
                  </a:lnTo>
                  <a:lnTo>
                    <a:pt x="1837804" y="1704238"/>
                  </a:lnTo>
                  <a:lnTo>
                    <a:pt x="1842846" y="1704238"/>
                  </a:lnTo>
                  <a:lnTo>
                    <a:pt x="1854009" y="1693075"/>
                  </a:lnTo>
                  <a:lnTo>
                    <a:pt x="1854009" y="1688033"/>
                  </a:lnTo>
                  <a:close/>
                </a:path>
                <a:path w="1884045" h="1850389">
                  <a:moveTo>
                    <a:pt x="1876323" y="433793"/>
                  </a:moveTo>
                  <a:lnTo>
                    <a:pt x="1865160" y="422630"/>
                  </a:lnTo>
                  <a:lnTo>
                    <a:pt x="1860130" y="422630"/>
                  </a:lnTo>
                  <a:lnTo>
                    <a:pt x="1848967" y="433793"/>
                  </a:lnTo>
                  <a:lnTo>
                    <a:pt x="1848967" y="436308"/>
                  </a:lnTo>
                  <a:lnTo>
                    <a:pt x="1848967" y="438835"/>
                  </a:lnTo>
                  <a:lnTo>
                    <a:pt x="1860130" y="449999"/>
                  </a:lnTo>
                  <a:lnTo>
                    <a:pt x="1865160" y="449999"/>
                  </a:lnTo>
                  <a:lnTo>
                    <a:pt x="1876323" y="438835"/>
                  </a:lnTo>
                  <a:lnTo>
                    <a:pt x="1876323" y="433793"/>
                  </a:lnTo>
                  <a:close/>
                </a:path>
                <a:path w="1884045" h="1850389">
                  <a:moveTo>
                    <a:pt x="1883879" y="395274"/>
                  </a:moveTo>
                  <a:lnTo>
                    <a:pt x="1872729" y="384111"/>
                  </a:lnTo>
                  <a:lnTo>
                    <a:pt x="1867687" y="384111"/>
                  </a:lnTo>
                  <a:lnTo>
                    <a:pt x="1856524" y="395274"/>
                  </a:lnTo>
                  <a:lnTo>
                    <a:pt x="1856524" y="397789"/>
                  </a:lnTo>
                  <a:lnTo>
                    <a:pt x="1856524" y="400316"/>
                  </a:lnTo>
                  <a:lnTo>
                    <a:pt x="1867687" y="411480"/>
                  </a:lnTo>
                  <a:lnTo>
                    <a:pt x="1872729" y="411480"/>
                  </a:lnTo>
                  <a:lnTo>
                    <a:pt x="1883879" y="400316"/>
                  </a:lnTo>
                  <a:lnTo>
                    <a:pt x="1883879" y="395274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971605" y="3638880"/>
              <a:ext cx="1825625" cy="1841500"/>
            </a:xfrm>
            <a:custGeom>
              <a:avLst/>
              <a:gdLst/>
              <a:ahLst/>
              <a:cxnLst/>
              <a:rect l="l" t="t" r="r" b="b"/>
              <a:pathLst>
                <a:path w="1825625" h="1841500">
                  <a:moveTo>
                    <a:pt x="27355" y="199085"/>
                  </a:moveTo>
                  <a:lnTo>
                    <a:pt x="16192" y="187921"/>
                  </a:lnTo>
                  <a:lnTo>
                    <a:pt x="11150" y="187921"/>
                  </a:lnTo>
                  <a:lnTo>
                    <a:pt x="0" y="199085"/>
                  </a:lnTo>
                  <a:lnTo>
                    <a:pt x="0" y="201599"/>
                  </a:lnTo>
                  <a:lnTo>
                    <a:pt x="0" y="204114"/>
                  </a:lnTo>
                  <a:lnTo>
                    <a:pt x="11150" y="215277"/>
                  </a:lnTo>
                  <a:lnTo>
                    <a:pt x="16192" y="215277"/>
                  </a:lnTo>
                  <a:lnTo>
                    <a:pt x="27355" y="204114"/>
                  </a:lnTo>
                  <a:lnTo>
                    <a:pt x="27355" y="199085"/>
                  </a:lnTo>
                  <a:close/>
                </a:path>
                <a:path w="1825625" h="1841500">
                  <a:moveTo>
                    <a:pt x="50749" y="557999"/>
                  </a:moveTo>
                  <a:lnTo>
                    <a:pt x="39598" y="546836"/>
                  </a:lnTo>
                  <a:lnTo>
                    <a:pt x="34556" y="546836"/>
                  </a:lnTo>
                  <a:lnTo>
                    <a:pt x="23393" y="557999"/>
                  </a:lnTo>
                  <a:lnTo>
                    <a:pt x="23393" y="560514"/>
                  </a:lnTo>
                  <a:lnTo>
                    <a:pt x="23393" y="563041"/>
                  </a:lnTo>
                  <a:lnTo>
                    <a:pt x="34556" y="574205"/>
                  </a:lnTo>
                  <a:lnTo>
                    <a:pt x="39598" y="574205"/>
                  </a:lnTo>
                  <a:lnTo>
                    <a:pt x="50749" y="563041"/>
                  </a:lnTo>
                  <a:lnTo>
                    <a:pt x="50749" y="557999"/>
                  </a:lnTo>
                  <a:close/>
                </a:path>
                <a:path w="1825625" h="1841500">
                  <a:moveTo>
                    <a:pt x="82791" y="749160"/>
                  </a:moveTo>
                  <a:lnTo>
                    <a:pt x="71640" y="737997"/>
                  </a:lnTo>
                  <a:lnTo>
                    <a:pt x="66598" y="737997"/>
                  </a:lnTo>
                  <a:lnTo>
                    <a:pt x="55435" y="749160"/>
                  </a:lnTo>
                  <a:lnTo>
                    <a:pt x="55435" y="751674"/>
                  </a:lnTo>
                  <a:lnTo>
                    <a:pt x="55435" y="754202"/>
                  </a:lnTo>
                  <a:lnTo>
                    <a:pt x="66598" y="765365"/>
                  </a:lnTo>
                  <a:lnTo>
                    <a:pt x="71640" y="765365"/>
                  </a:lnTo>
                  <a:lnTo>
                    <a:pt x="82791" y="754202"/>
                  </a:lnTo>
                  <a:lnTo>
                    <a:pt x="82791" y="749160"/>
                  </a:lnTo>
                  <a:close/>
                </a:path>
                <a:path w="1825625" h="1841500">
                  <a:moveTo>
                    <a:pt x="169557" y="1624685"/>
                  </a:moveTo>
                  <a:lnTo>
                    <a:pt x="158394" y="1613522"/>
                  </a:lnTo>
                  <a:lnTo>
                    <a:pt x="153352" y="1613522"/>
                  </a:lnTo>
                  <a:lnTo>
                    <a:pt x="142189" y="1624685"/>
                  </a:lnTo>
                  <a:lnTo>
                    <a:pt x="142189" y="1627200"/>
                  </a:lnTo>
                  <a:lnTo>
                    <a:pt x="142189" y="1629714"/>
                  </a:lnTo>
                  <a:lnTo>
                    <a:pt x="153352" y="1640878"/>
                  </a:lnTo>
                  <a:lnTo>
                    <a:pt x="158394" y="1640878"/>
                  </a:lnTo>
                  <a:lnTo>
                    <a:pt x="169557" y="1629714"/>
                  </a:lnTo>
                  <a:lnTo>
                    <a:pt x="169557" y="1624685"/>
                  </a:lnTo>
                  <a:close/>
                </a:path>
                <a:path w="1825625" h="1841500">
                  <a:moveTo>
                    <a:pt x="201955" y="1484642"/>
                  </a:moveTo>
                  <a:lnTo>
                    <a:pt x="190792" y="1473479"/>
                  </a:lnTo>
                  <a:lnTo>
                    <a:pt x="185750" y="1473479"/>
                  </a:lnTo>
                  <a:lnTo>
                    <a:pt x="174599" y="1484642"/>
                  </a:lnTo>
                  <a:lnTo>
                    <a:pt x="174599" y="1487157"/>
                  </a:lnTo>
                  <a:lnTo>
                    <a:pt x="174599" y="1489684"/>
                  </a:lnTo>
                  <a:lnTo>
                    <a:pt x="185750" y="1500835"/>
                  </a:lnTo>
                  <a:lnTo>
                    <a:pt x="190792" y="1500835"/>
                  </a:lnTo>
                  <a:lnTo>
                    <a:pt x="201955" y="1489684"/>
                  </a:lnTo>
                  <a:lnTo>
                    <a:pt x="201955" y="1484642"/>
                  </a:lnTo>
                  <a:close/>
                </a:path>
                <a:path w="1825625" h="1841500">
                  <a:moveTo>
                    <a:pt x="203758" y="1585798"/>
                  </a:moveTo>
                  <a:lnTo>
                    <a:pt x="192595" y="1574634"/>
                  </a:lnTo>
                  <a:lnTo>
                    <a:pt x="187553" y="1574634"/>
                  </a:lnTo>
                  <a:lnTo>
                    <a:pt x="176390" y="1585798"/>
                  </a:lnTo>
                  <a:lnTo>
                    <a:pt x="176390" y="1588338"/>
                  </a:lnTo>
                  <a:lnTo>
                    <a:pt x="176390" y="1590840"/>
                  </a:lnTo>
                  <a:lnTo>
                    <a:pt x="187553" y="1602003"/>
                  </a:lnTo>
                  <a:lnTo>
                    <a:pt x="192595" y="1602003"/>
                  </a:lnTo>
                  <a:lnTo>
                    <a:pt x="203758" y="1590840"/>
                  </a:lnTo>
                  <a:lnTo>
                    <a:pt x="203758" y="1585798"/>
                  </a:lnTo>
                  <a:close/>
                </a:path>
                <a:path w="1825625" h="1841500">
                  <a:moveTo>
                    <a:pt x="274675" y="872998"/>
                  </a:moveTo>
                  <a:lnTo>
                    <a:pt x="263512" y="861834"/>
                  </a:lnTo>
                  <a:lnTo>
                    <a:pt x="258470" y="861834"/>
                  </a:lnTo>
                  <a:lnTo>
                    <a:pt x="247319" y="872998"/>
                  </a:lnTo>
                  <a:lnTo>
                    <a:pt x="247319" y="875525"/>
                  </a:lnTo>
                  <a:lnTo>
                    <a:pt x="247319" y="878039"/>
                  </a:lnTo>
                  <a:lnTo>
                    <a:pt x="258470" y="889203"/>
                  </a:lnTo>
                  <a:lnTo>
                    <a:pt x="263512" y="889203"/>
                  </a:lnTo>
                  <a:lnTo>
                    <a:pt x="274675" y="878039"/>
                  </a:lnTo>
                  <a:lnTo>
                    <a:pt x="274675" y="872998"/>
                  </a:lnTo>
                  <a:close/>
                </a:path>
                <a:path w="1825625" h="1841500">
                  <a:moveTo>
                    <a:pt x="277914" y="1643037"/>
                  </a:moveTo>
                  <a:lnTo>
                    <a:pt x="266750" y="1631873"/>
                  </a:lnTo>
                  <a:lnTo>
                    <a:pt x="261708" y="1631873"/>
                  </a:lnTo>
                  <a:lnTo>
                    <a:pt x="250558" y="1643037"/>
                  </a:lnTo>
                  <a:lnTo>
                    <a:pt x="250558" y="1645564"/>
                  </a:lnTo>
                  <a:lnTo>
                    <a:pt x="250558" y="1648079"/>
                  </a:lnTo>
                  <a:lnTo>
                    <a:pt x="261708" y="1659242"/>
                  </a:lnTo>
                  <a:lnTo>
                    <a:pt x="266750" y="1659242"/>
                  </a:lnTo>
                  <a:lnTo>
                    <a:pt x="277914" y="1648079"/>
                  </a:lnTo>
                  <a:lnTo>
                    <a:pt x="277914" y="1643037"/>
                  </a:lnTo>
                  <a:close/>
                </a:path>
                <a:path w="1825625" h="1841500">
                  <a:moveTo>
                    <a:pt x="317157" y="447840"/>
                  </a:moveTo>
                  <a:lnTo>
                    <a:pt x="305993" y="436676"/>
                  </a:lnTo>
                  <a:lnTo>
                    <a:pt x="300951" y="436676"/>
                  </a:lnTo>
                  <a:lnTo>
                    <a:pt x="289788" y="447840"/>
                  </a:lnTo>
                  <a:lnTo>
                    <a:pt x="289788" y="450354"/>
                  </a:lnTo>
                  <a:lnTo>
                    <a:pt x="289788" y="452882"/>
                  </a:lnTo>
                  <a:lnTo>
                    <a:pt x="300951" y="464045"/>
                  </a:lnTo>
                  <a:lnTo>
                    <a:pt x="305993" y="464045"/>
                  </a:lnTo>
                  <a:lnTo>
                    <a:pt x="317157" y="452882"/>
                  </a:lnTo>
                  <a:lnTo>
                    <a:pt x="317157" y="447840"/>
                  </a:lnTo>
                  <a:close/>
                </a:path>
                <a:path w="1825625" h="1841500">
                  <a:moveTo>
                    <a:pt x="331558" y="184315"/>
                  </a:moveTo>
                  <a:lnTo>
                    <a:pt x="320395" y="173164"/>
                  </a:lnTo>
                  <a:lnTo>
                    <a:pt x="315353" y="173164"/>
                  </a:lnTo>
                  <a:lnTo>
                    <a:pt x="304190" y="184315"/>
                  </a:lnTo>
                  <a:lnTo>
                    <a:pt x="304190" y="186842"/>
                  </a:lnTo>
                  <a:lnTo>
                    <a:pt x="304190" y="189357"/>
                  </a:lnTo>
                  <a:lnTo>
                    <a:pt x="315353" y="200520"/>
                  </a:lnTo>
                  <a:lnTo>
                    <a:pt x="320395" y="200520"/>
                  </a:lnTo>
                  <a:lnTo>
                    <a:pt x="331558" y="189357"/>
                  </a:lnTo>
                  <a:lnTo>
                    <a:pt x="331558" y="184315"/>
                  </a:lnTo>
                  <a:close/>
                </a:path>
                <a:path w="1825625" h="1841500">
                  <a:moveTo>
                    <a:pt x="344868" y="1038606"/>
                  </a:moveTo>
                  <a:lnTo>
                    <a:pt x="333717" y="1027442"/>
                  </a:lnTo>
                  <a:lnTo>
                    <a:pt x="328676" y="1027442"/>
                  </a:lnTo>
                  <a:lnTo>
                    <a:pt x="317512" y="1038606"/>
                  </a:lnTo>
                  <a:lnTo>
                    <a:pt x="317512" y="1041120"/>
                  </a:lnTo>
                  <a:lnTo>
                    <a:pt x="317512" y="1043635"/>
                  </a:lnTo>
                  <a:lnTo>
                    <a:pt x="328676" y="1054798"/>
                  </a:lnTo>
                  <a:lnTo>
                    <a:pt x="333717" y="1054798"/>
                  </a:lnTo>
                  <a:lnTo>
                    <a:pt x="344868" y="1043635"/>
                  </a:lnTo>
                  <a:lnTo>
                    <a:pt x="344868" y="1038606"/>
                  </a:lnTo>
                  <a:close/>
                </a:path>
                <a:path w="1825625" h="1841500">
                  <a:moveTo>
                    <a:pt x="345960" y="904684"/>
                  </a:moveTo>
                  <a:lnTo>
                    <a:pt x="334797" y="893521"/>
                  </a:lnTo>
                  <a:lnTo>
                    <a:pt x="329755" y="893521"/>
                  </a:lnTo>
                  <a:lnTo>
                    <a:pt x="318592" y="904684"/>
                  </a:lnTo>
                  <a:lnTo>
                    <a:pt x="318592" y="907199"/>
                  </a:lnTo>
                  <a:lnTo>
                    <a:pt x="318592" y="909713"/>
                  </a:lnTo>
                  <a:lnTo>
                    <a:pt x="329755" y="920877"/>
                  </a:lnTo>
                  <a:lnTo>
                    <a:pt x="334797" y="920877"/>
                  </a:lnTo>
                  <a:lnTo>
                    <a:pt x="345960" y="909713"/>
                  </a:lnTo>
                  <a:lnTo>
                    <a:pt x="345960" y="904684"/>
                  </a:lnTo>
                  <a:close/>
                </a:path>
                <a:path w="1825625" h="1841500">
                  <a:moveTo>
                    <a:pt x="434873" y="42481"/>
                  </a:moveTo>
                  <a:lnTo>
                    <a:pt x="423710" y="31318"/>
                  </a:lnTo>
                  <a:lnTo>
                    <a:pt x="418668" y="31318"/>
                  </a:lnTo>
                  <a:lnTo>
                    <a:pt x="407517" y="42481"/>
                  </a:lnTo>
                  <a:lnTo>
                    <a:pt x="407517" y="44996"/>
                  </a:lnTo>
                  <a:lnTo>
                    <a:pt x="407517" y="47523"/>
                  </a:lnTo>
                  <a:lnTo>
                    <a:pt x="418668" y="58674"/>
                  </a:lnTo>
                  <a:lnTo>
                    <a:pt x="423710" y="58674"/>
                  </a:lnTo>
                  <a:lnTo>
                    <a:pt x="434873" y="47523"/>
                  </a:lnTo>
                  <a:lnTo>
                    <a:pt x="434873" y="42481"/>
                  </a:lnTo>
                  <a:close/>
                </a:path>
                <a:path w="1825625" h="1841500">
                  <a:moveTo>
                    <a:pt x="471589" y="276123"/>
                  </a:moveTo>
                  <a:lnTo>
                    <a:pt x="460438" y="264960"/>
                  </a:lnTo>
                  <a:lnTo>
                    <a:pt x="455396" y="264960"/>
                  </a:lnTo>
                  <a:lnTo>
                    <a:pt x="444233" y="276123"/>
                  </a:lnTo>
                  <a:lnTo>
                    <a:pt x="444233" y="278638"/>
                  </a:lnTo>
                  <a:lnTo>
                    <a:pt x="444233" y="281165"/>
                  </a:lnTo>
                  <a:lnTo>
                    <a:pt x="455396" y="292315"/>
                  </a:lnTo>
                  <a:lnTo>
                    <a:pt x="460438" y="292315"/>
                  </a:lnTo>
                  <a:lnTo>
                    <a:pt x="471589" y="281165"/>
                  </a:lnTo>
                  <a:lnTo>
                    <a:pt x="471589" y="276123"/>
                  </a:lnTo>
                  <a:close/>
                </a:path>
                <a:path w="1825625" h="1841500">
                  <a:moveTo>
                    <a:pt x="534238" y="901446"/>
                  </a:moveTo>
                  <a:lnTo>
                    <a:pt x="523074" y="890282"/>
                  </a:lnTo>
                  <a:lnTo>
                    <a:pt x="518033" y="890282"/>
                  </a:lnTo>
                  <a:lnTo>
                    <a:pt x="506869" y="901446"/>
                  </a:lnTo>
                  <a:lnTo>
                    <a:pt x="506869" y="903960"/>
                  </a:lnTo>
                  <a:lnTo>
                    <a:pt x="506869" y="906475"/>
                  </a:lnTo>
                  <a:lnTo>
                    <a:pt x="518033" y="917638"/>
                  </a:lnTo>
                  <a:lnTo>
                    <a:pt x="523074" y="917638"/>
                  </a:lnTo>
                  <a:lnTo>
                    <a:pt x="534238" y="906475"/>
                  </a:lnTo>
                  <a:lnTo>
                    <a:pt x="534238" y="901446"/>
                  </a:lnTo>
                  <a:close/>
                </a:path>
                <a:path w="1825625" h="1841500">
                  <a:moveTo>
                    <a:pt x="540715" y="1092593"/>
                  </a:moveTo>
                  <a:lnTo>
                    <a:pt x="529551" y="1081443"/>
                  </a:lnTo>
                  <a:lnTo>
                    <a:pt x="524510" y="1081443"/>
                  </a:lnTo>
                  <a:lnTo>
                    <a:pt x="513359" y="1092593"/>
                  </a:lnTo>
                  <a:lnTo>
                    <a:pt x="513359" y="1095121"/>
                  </a:lnTo>
                  <a:lnTo>
                    <a:pt x="513359" y="1097635"/>
                  </a:lnTo>
                  <a:lnTo>
                    <a:pt x="524510" y="1108798"/>
                  </a:lnTo>
                  <a:lnTo>
                    <a:pt x="529551" y="1108798"/>
                  </a:lnTo>
                  <a:lnTo>
                    <a:pt x="540715" y="1097635"/>
                  </a:lnTo>
                  <a:lnTo>
                    <a:pt x="540715" y="1092593"/>
                  </a:lnTo>
                  <a:close/>
                </a:path>
                <a:path w="1825625" h="1841500">
                  <a:moveTo>
                    <a:pt x="590753" y="1464119"/>
                  </a:moveTo>
                  <a:lnTo>
                    <a:pt x="579589" y="1452956"/>
                  </a:lnTo>
                  <a:lnTo>
                    <a:pt x="574560" y="1452956"/>
                  </a:lnTo>
                  <a:lnTo>
                    <a:pt x="574116" y="1453108"/>
                  </a:lnTo>
                  <a:lnTo>
                    <a:pt x="575640" y="1450086"/>
                  </a:lnTo>
                  <a:lnTo>
                    <a:pt x="576351" y="1447914"/>
                  </a:lnTo>
                  <a:lnTo>
                    <a:pt x="576351" y="1442885"/>
                  </a:lnTo>
                  <a:lnTo>
                    <a:pt x="565200" y="1431721"/>
                  </a:lnTo>
                  <a:lnTo>
                    <a:pt x="560158" y="1431721"/>
                  </a:lnTo>
                  <a:lnTo>
                    <a:pt x="548995" y="1442885"/>
                  </a:lnTo>
                  <a:lnTo>
                    <a:pt x="548995" y="1445399"/>
                  </a:lnTo>
                  <a:lnTo>
                    <a:pt x="548995" y="1447914"/>
                  </a:lnTo>
                  <a:lnTo>
                    <a:pt x="560158" y="1459077"/>
                  </a:lnTo>
                  <a:lnTo>
                    <a:pt x="565200" y="1459077"/>
                  </a:lnTo>
                  <a:lnTo>
                    <a:pt x="565619" y="1458937"/>
                  </a:lnTo>
                  <a:lnTo>
                    <a:pt x="564108" y="1461960"/>
                  </a:lnTo>
                  <a:lnTo>
                    <a:pt x="563397" y="1464119"/>
                  </a:lnTo>
                  <a:lnTo>
                    <a:pt x="563397" y="1466634"/>
                  </a:lnTo>
                  <a:lnTo>
                    <a:pt x="563397" y="1469161"/>
                  </a:lnTo>
                  <a:lnTo>
                    <a:pt x="574560" y="1480324"/>
                  </a:lnTo>
                  <a:lnTo>
                    <a:pt x="579589" y="1480324"/>
                  </a:lnTo>
                  <a:lnTo>
                    <a:pt x="590753" y="1469161"/>
                  </a:lnTo>
                  <a:lnTo>
                    <a:pt x="590753" y="1464119"/>
                  </a:lnTo>
                  <a:close/>
                </a:path>
                <a:path w="1825625" h="1841500">
                  <a:moveTo>
                    <a:pt x="610196" y="1825205"/>
                  </a:moveTo>
                  <a:lnTo>
                    <a:pt x="599033" y="1814042"/>
                  </a:lnTo>
                  <a:lnTo>
                    <a:pt x="593991" y="1814042"/>
                  </a:lnTo>
                  <a:lnTo>
                    <a:pt x="582828" y="1825205"/>
                  </a:lnTo>
                  <a:lnTo>
                    <a:pt x="582828" y="1827720"/>
                  </a:lnTo>
                  <a:lnTo>
                    <a:pt x="582828" y="1830235"/>
                  </a:lnTo>
                  <a:lnTo>
                    <a:pt x="593991" y="1841398"/>
                  </a:lnTo>
                  <a:lnTo>
                    <a:pt x="599033" y="1841398"/>
                  </a:lnTo>
                  <a:lnTo>
                    <a:pt x="610196" y="1830235"/>
                  </a:lnTo>
                  <a:lnTo>
                    <a:pt x="610196" y="1825205"/>
                  </a:lnTo>
                  <a:close/>
                </a:path>
                <a:path w="1825625" h="1841500">
                  <a:moveTo>
                    <a:pt x="619188" y="1621434"/>
                  </a:moveTo>
                  <a:lnTo>
                    <a:pt x="608037" y="1610283"/>
                  </a:lnTo>
                  <a:lnTo>
                    <a:pt x="602996" y="1610283"/>
                  </a:lnTo>
                  <a:lnTo>
                    <a:pt x="591832" y="1621434"/>
                  </a:lnTo>
                  <a:lnTo>
                    <a:pt x="591832" y="1623961"/>
                  </a:lnTo>
                  <a:lnTo>
                    <a:pt x="591832" y="1626476"/>
                  </a:lnTo>
                  <a:lnTo>
                    <a:pt x="602996" y="1637639"/>
                  </a:lnTo>
                  <a:lnTo>
                    <a:pt x="608037" y="1637639"/>
                  </a:lnTo>
                  <a:lnTo>
                    <a:pt x="619188" y="1626476"/>
                  </a:lnTo>
                  <a:lnTo>
                    <a:pt x="619188" y="1621434"/>
                  </a:lnTo>
                  <a:close/>
                </a:path>
                <a:path w="1825625" h="1841500">
                  <a:moveTo>
                    <a:pt x="635038" y="1575003"/>
                  </a:moveTo>
                  <a:lnTo>
                    <a:pt x="623874" y="1563852"/>
                  </a:lnTo>
                  <a:lnTo>
                    <a:pt x="618832" y="1563852"/>
                  </a:lnTo>
                  <a:lnTo>
                    <a:pt x="607669" y="1575003"/>
                  </a:lnTo>
                  <a:lnTo>
                    <a:pt x="607669" y="1577530"/>
                  </a:lnTo>
                  <a:lnTo>
                    <a:pt x="607669" y="1580045"/>
                  </a:lnTo>
                  <a:lnTo>
                    <a:pt x="618832" y="1591195"/>
                  </a:lnTo>
                  <a:lnTo>
                    <a:pt x="623874" y="1591195"/>
                  </a:lnTo>
                  <a:lnTo>
                    <a:pt x="635038" y="1580045"/>
                  </a:lnTo>
                  <a:lnTo>
                    <a:pt x="635038" y="1575003"/>
                  </a:lnTo>
                  <a:close/>
                </a:path>
                <a:path w="1825625" h="1841500">
                  <a:moveTo>
                    <a:pt x="677151" y="1033564"/>
                  </a:moveTo>
                  <a:lnTo>
                    <a:pt x="666000" y="1022400"/>
                  </a:lnTo>
                  <a:lnTo>
                    <a:pt x="660958" y="1022400"/>
                  </a:lnTo>
                  <a:lnTo>
                    <a:pt x="649795" y="1033564"/>
                  </a:lnTo>
                  <a:lnTo>
                    <a:pt x="649795" y="1036078"/>
                  </a:lnTo>
                  <a:lnTo>
                    <a:pt x="649795" y="1038606"/>
                  </a:lnTo>
                  <a:lnTo>
                    <a:pt x="660958" y="1049756"/>
                  </a:lnTo>
                  <a:lnTo>
                    <a:pt x="666000" y="1049756"/>
                  </a:lnTo>
                  <a:lnTo>
                    <a:pt x="677151" y="1038606"/>
                  </a:lnTo>
                  <a:lnTo>
                    <a:pt x="677151" y="1033564"/>
                  </a:lnTo>
                  <a:close/>
                </a:path>
                <a:path w="1825625" h="1841500">
                  <a:moveTo>
                    <a:pt x="692277" y="999718"/>
                  </a:moveTo>
                  <a:lnTo>
                    <a:pt x="681113" y="988555"/>
                  </a:lnTo>
                  <a:lnTo>
                    <a:pt x="676071" y="988555"/>
                  </a:lnTo>
                  <a:lnTo>
                    <a:pt x="664908" y="999718"/>
                  </a:lnTo>
                  <a:lnTo>
                    <a:pt x="664908" y="1002245"/>
                  </a:lnTo>
                  <a:lnTo>
                    <a:pt x="664908" y="1004760"/>
                  </a:lnTo>
                  <a:lnTo>
                    <a:pt x="676071" y="1015923"/>
                  </a:lnTo>
                  <a:lnTo>
                    <a:pt x="681113" y="1015923"/>
                  </a:lnTo>
                  <a:lnTo>
                    <a:pt x="692277" y="1004760"/>
                  </a:lnTo>
                  <a:lnTo>
                    <a:pt x="692277" y="999718"/>
                  </a:lnTo>
                  <a:close/>
                </a:path>
                <a:path w="1825625" h="1841500">
                  <a:moveTo>
                    <a:pt x="745197" y="461873"/>
                  </a:moveTo>
                  <a:lnTo>
                    <a:pt x="734034" y="450723"/>
                  </a:lnTo>
                  <a:lnTo>
                    <a:pt x="728992" y="450723"/>
                  </a:lnTo>
                  <a:lnTo>
                    <a:pt x="717829" y="461873"/>
                  </a:lnTo>
                  <a:lnTo>
                    <a:pt x="717829" y="464400"/>
                  </a:lnTo>
                  <a:lnTo>
                    <a:pt x="717829" y="466915"/>
                  </a:lnTo>
                  <a:lnTo>
                    <a:pt x="728992" y="478078"/>
                  </a:lnTo>
                  <a:lnTo>
                    <a:pt x="734034" y="478078"/>
                  </a:lnTo>
                  <a:lnTo>
                    <a:pt x="745197" y="466915"/>
                  </a:lnTo>
                  <a:lnTo>
                    <a:pt x="745197" y="461873"/>
                  </a:lnTo>
                  <a:close/>
                </a:path>
                <a:path w="1825625" h="1841500">
                  <a:moveTo>
                    <a:pt x="760310" y="195834"/>
                  </a:moveTo>
                  <a:lnTo>
                    <a:pt x="749160" y="184683"/>
                  </a:lnTo>
                  <a:lnTo>
                    <a:pt x="744118" y="184683"/>
                  </a:lnTo>
                  <a:lnTo>
                    <a:pt x="732955" y="195834"/>
                  </a:lnTo>
                  <a:lnTo>
                    <a:pt x="732955" y="198361"/>
                  </a:lnTo>
                  <a:lnTo>
                    <a:pt x="732955" y="200875"/>
                  </a:lnTo>
                  <a:lnTo>
                    <a:pt x="744118" y="212039"/>
                  </a:lnTo>
                  <a:lnTo>
                    <a:pt x="749160" y="212039"/>
                  </a:lnTo>
                  <a:lnTo>
                    <a:pt x="760310" y="200875"/>
                  </a:lnTo>
                  <a:lnTo>
                    <a:pt x="760310" y="195834"/>
                  </a:lnTo>
                  <a:close/>
                </a:path>
                <a:path w="1825625" h="1841500">
                  <a:moveTo>
                    <a:pt x="781558" y="965161"/>
                  </a:moveTo>
                  <a:lnTo>
                    <a:pt x="770394" y="953998"/>
                  </a:lnTo>
                  <a:lnTo>
                    <a:pt x="765352" y="953998"/>
                  </a:lnTo>
                  <a:lnTo>
                    <a:pt x="754189" y="965161"/>
                  </a:lnTo>
                  <a:lnTo>
                    <a:pt x="754189" y="967676"/>
                  </a:lnTo>
                  <a:lnTo>
                    <a:pt x="754189" y="970203"/>
                  </a:lnTo>
                  <a:lnTo>
                    <a:pt x="765352" y="981354"/>
                  </a:lnTo>
                  <a:lnTo>
                    <a:pt x="770394" y="981354"/>
                  </a:lnTo>
                  <a:lnTo>
                    <a:pt x="781558" y="970203"/>
                  </a:lnTo>
                  <a:lnTo>
                    <a:pt x="781558" y="965161"/>
                  </a:lnTo>
                  <a:close/>
                </a:path>
                <a:path w="1825625" h="1841500">
                  <a:moveTo>
                    <a:pt x="1070279" y="307441"/>
                  </a:moveTo>
                  <a:lnTo>
                    <a:pt x="1059116" y="296278"/>
                  </a:lnTo>
                  <a:lnTo>
                    <a:pt x="1054074" y="296278"/>
                  </a:lnTo>
                  <a:lnTo>
                    <a:pt x="1042911" y="307441"/>
                  </a:lnTo>
                  <a:lnTo>
                    <a:pt x="1042911" y="309956"/>
                  </a:lnTo>
                  <a:lnTo>
                    <a:pt x="1042911" y="312483"/>
                  </a:lnTo>
                  <a:lnTo>
                    <a:pt x="1054074" y="323634"/>
                  </a:lnTo>
                  <a:lnTo>
                    <a:pt x="1059116" y="323634"/>
                  </a:lnTo>
                  <a:lnTo>
                    <a:pt x="1070279" y="312483"/>
                  </a:lnTo>
                  <a:lnTo>
                    <a:pt x="1070279" y="307441"/>
                  </a:lnTo>
                  <a:close/>
                </a:path>
                <a:path w="1825625" h="1841500">
                  <a:moveTo>
                    <a:pt x="1155954" y="1549438"/>
                  </a:moveTo>
                  <a:lnTo>
                    <a:pt x="1144790" y="1538274"/>
                  </a:lnTo>
                  <a:lnTo>
                    <a:pt x="1139748" y="1538274"/>
                  </a:lnTo>
                  <a:lnTo>
                    <a:pt x="1128598" y="1549438"/>
                  </a:lnTo>
                  <a:lnTo>
                    <a:pt x="1128598" y="1551965"/>
                  </a:lnTo>
                  <a:lnTo>
                    <a:pt x="1128598" y="1554480"/>
                  </a:lnTo>
                  <a:lnTo>
                    <a:pt x="1139748" y="1565643"/>
                  </a:lnTo>
                  <a:lnTo>
                    <a:pt x="1144790" y="1565643"/>
                  </a:lnTo>
                  <a:lnTo>
                    <a:pt x="1155954" y="1554480"/>
                  </a:lnTo>
                  <a:lnTo>
                    <a:pt x="1155954" y="1549438"/>
                  </a:lnTo>
                  <a:close/>
                </a:path>
                <a:path w="1825625" h="1841500">
                  <a:moveTo>
                    <a:pt x="1175029" y="1235519"/>
                  </a:moveTo>
                  <a:lnTo>
                    <a:pt x="1163878" y="1224356"/>
                  </a:lnTo>
                  <a:lnTo>
                    <a:pt x="1158836" y="1224356"/>
                  </a:lnTo>
                  <a:lnTo>
                    <a:pt x="1147673" y="1235519"/>
                  </a:lnTo>
                  <a:lnTo>
                    <a:pt x="1147673" y="1238034"/>
                  </a:lnTo>
                  <a:lnTo>
                    <a:pt x="1147673" y="1240561"/>
                  </a:lnTo>
                  <a:lnTo>
                    <a:pt x="1158836" y="1251724"/>
                  </a:lnTo>
                  <a:lnTo>
                    <a:pt x="1163878" y="1251724"/>
                  </a:lnTo>
                  <a:lnTo>
                    <a:pt x="1175029" y="1240561"/>
                  </a:lnTo>
                  <a:lnTo>
                    <a:pt x="1175029" y="1235519"/>
                  </a:lnTo>
                  <a:close/>
                </a:path>
                <a:path w="1825625" h="1841500">
                  <a:moveTo>
                    <a:pt x="1189799" y="1186561"/>
                  </a:moveTo>
                  <a:lnTo>
                    <a:pt x="1178636" y="1175397"/>
                  </a:lnTo>
                  <a:lnTo>
                    <a:pt x="1173594" y="1175397"/>
                  </a:lnTo>
                  <a:lnTo>
                    <a:pt x="1162431" y="1186561"/>
                  </a:lnTo>
                  <a:lnTo>
                    <a:pt x="1162431" y="1189075"/>
                  </a:lnTo>
                  <a:lnTo>
                    <a:pt x="1162431" y="1191602"/>
                  </a:lnTo>
                  <a:lnTo>
                    <a:pt x="1173594" y="1202753"/>
                  </a:lnTo>
                  <a:lnTo>
                    <a:pt x="1178636" y="1202753"/>
                  </a:lnTo>
                  <a:lnTo>
                    <a:pt x="1189799" y="1191602"/>
                  </a:lnTo>
                  <a:lnTo>
                    <a:pt x="1189799" y="1186561"/>
                  </a:lnTo>
                  <a:close/>
                </a:path>
                <a:path w="1825625" h="1841500">
                  <a:moveTo>
                    <a:pt x="1223276" y="848880"/>
                  </a:moveTo>
                  <a:lnTo>
                    <a:pt x="1212113" y="837717"/>
                  </a:lnTo>
                  <a:lnTo>
                    <a:pt x="1207071" y="837717"/>
                  </a:lnTo>
                  <a:lnTo>
                    <a:pt x="1195908" y="848880"/>
                  </a:lnTo>
                  <a:lnTo>
                    <a:pt x="1195908" y="851395"/>
                  </a:lnTo>
                  <a:lnTo>
                    <a:pt x="1195908" y="853922"/>
                  </a:lnTo>
                  <a:lnTo>
                    <a:pt x="1207071" y="865085"/>
                  </a:lnTo>
                  <a:lnTo>
                    <a:pt x="1212113" y="865085"/>
                  </a:lnTo>
                  <a:lnTo>
                    <a:pt x="1223276" y="853922"/>
                  </a:lnTo>
                  <a:lnTo>
                    <a:pt x="1223276" y="848880"/>
                  </a:lnTo>
                  <a:close/>
                </a:path>
                <a:path w="1825625" h="1841500">
                  <a:moveTo>
                    <a:pt x="1238758" y="572757"/>
                  </a:moveTo>
                  <a:lnTo>
                    <a:pt x="1227594" y="561594"/>
                  </a:lnTo>
                  <a:lnTo>
                    <a:pt x="1222552" y="561594"/>
                  </a:lnTo>
                  <a:lnTo>
                    <a:pt x="1211389" y="572757"/>
                  </a:lnTo>
                  <a:lnTo>
                    <a:pt x="1211389" y="575284"/>
                  </a:lnTo>
                  <a:lnTo>
                    <a:pt x="1211389" y="577799"/>
                  </a:lnTo>
                  <a:lnTo>
                    <a:pt x="1222552" y="588962"/>
                  </a:lnTo>
                  <a:lnTo>
                    <a:pt x="1227594" y="588962"/>
                  </a:lnTo>
                  <a:lnTo>
                    <a:pt x="1238758" y="577799"/>
                  </a:lnTo>
                  <a:lnTo>
                    <a:pt x="1238758" y="572757"/>
                  </a:lnTo>
                  <a:close/>
                </a:path>
                <a:path w="1825625" h="1841500">
                  <a:moveTo>
                    <a:pt x="1268996" y="411480"/>
                  </a:moveTo>
                  <a:lnTo>
                    <a:pt x="1257833" y="400316"/>
                  </a:lnTo>
                  <a:lnTo>
                    <a:pt x="1252791" y="400316"/>
                  </a:lnTo>
                  <a:lnTo>
                    <a:pt x="1241628" y="411480"/>
                  </a:lnTo>
                  <a:lnTo>
                    <a:pt x="1241628" y="413994"/>
                  </a:lnTo>
                  <a:lnTo>
                    <a:pt x="1241628" y="416521"/>
                  </a:lnTo>
                  <a:lnTo>
                    <a:pt x="1252791" y="427685"/>
                  </a:lnTo>
                  <a:lnTo>
                    <a:pt x="1257833" y="427685"/>
                  </a:lnTo>
                  <a:lnTo>
                    <a:pt x="1268996" y="416521"/>
                  </a:lnTo>
                  <a:lnTo>
                    <a:pt x="1268996" y="411480"/>
                  </a:lnTo>
                  <a:close/>
                </a:path>
                <a:path w="1825625" h="1841500">
                  <a:moveTo>
                    <a:pt x="1298879" y="124206"/>
                  </a:moveTo>
                  <a:lnTo>
                    <a:pt x="1287716" y="113042"/>
                  </a:lnTo>
                  <a:lnTo>
                    <a:pt x="1282674" y="113042"/>
                  </a:lnTo>
                  <a:lnTo>
                    <a:pt x="1271511" y="124206"/>
                  </a:lnTo>
                  <a:lnTo>
                    <a:pt x="1271511" y="126720"/>
                  </a:lnTo>
                  <a:lnTo>
                    <a:pt x="1271511" y="129235"/>
                  </a:lnTo>
                  <a:lnTo>
                    <a:pt x="1282674" y="140398"/>
                  </a:lnTo>
                  <a:lnTo>
                    <a:pt x="1287716" y="140398"/>
                  </a:lnTo>
                  <a:lnTo>
                    <a:pt x="1298879" y="129235"/>
                  </a:lnTo>
                  <a:lnTo>
                    <a:pt x="1298879" y="124206"/>
                  </a:lnTo>
                  <a:close/>
                </a:path>
                <a:path w="1825625" h="1841500">
                  <a:moveTo>
                    <a:pt x="1661033" y="1644840"/>
                  </a:moveTo>
                  <a:lnTo>
                    <a:pt x="1649869" y="1633677"/>
                  </a:lnTo>
                  <a:lnTo>
                    <a:pt x="1644840" y="1633677"/>
                  </a:lnTo>
                  <a:lnTo>
                    <a:pt x="1633677" y="1644840"/>
                  </a:lnTo>
                  <a:lnTo>
                    <a:pt x="1633677" y="1647355"/>
                  </a:lnTo>
                  <a:lnTo>
                    <a:pt x="1633677" y="1649882"/>
                  </a:lnTo>
                  <a:lnTo>
                    <a:pt x="1644840" y="1661045"/>
                  </a:lnTo>
                  <a:lnTo>
                    <a:pt x="1649869" y="1661045"/>
                  </a:lnTo>
                  <a:lnTo>
                    <a:pt x="1661033" y="1649882"/>
                  </a:lnTo>
                  <a:lnTo>
                    <a:pt x="1661033" y="1644840"/>
                  </a:lnTo>
                  <a:close/>
                </a:path>
                <a:path w="1825625" h="1841500">
                  <a:moveTo>
                    <a:pt x="1662836" y="1740954"/>
                  </a:moveTo>
                  <a:lnTo>
                    <a:pt x="1651673" y="1729803"/>
                  </a:lnTo>
                  <a:lnTo>
                    <a:pt x="1646631" y="1729803"/>
                  </a:lnTo>
                  <a:lnTo>
                    <a:pt x="1635480" y="1740954"/>
                  </a:lnTo>
                  <a:lnTo>
                    <a:pt x="1635480" y="1743481"/>
                  </a:lnTo>
                  <a:lnTo>
                    <a:pt x="1635480" y="1745996"/>
                  </a:lnTo>
                  <a:lnTo>
                    <a:pt x="1646631" y="1757159"/>
                  </a:lnTo>
                  <a:lnTo>
                    <a:pt x="1651673" y="1757159"/>
                  </a:lnTo>
                  <a:lnTo>
                    <a:pt x="1662836" y="1745996"/>
                  </a:lnTo>
                  <a:lnTo>
                    <a:pt x="1662836" y="1740954"/>
                  </a:lnTo>
                  <a:close/>
                </a:path>
                <a:path w="1825625" h="1841500">
                  <a:moveTo>
                    <a:pt x="1685150" y="1515960"/>
                  </a:moveTo>
                  <a:lnTo>
                    <a:pt x="1673987" y="1504797"/>
                  </a:lnTo>
                  <a:lnTo>
                    <a:pt x="1668957" y="1504797"/>
                  </a:lnTo>
                  <a:lnTo>
                    <a:pt x="1657794" y="1515960"/>
                  </a:lnTo>
                  <a:lnTo>
                    <a:pt x="1657794" y="1518475"/>
                  </a:lnTo>
                  <a:lnTo>
                    <a:pt x="1657794" y="1521002"/>
                  </a:lnTo>
                  <a:lnTo>
                    <a:pt x="1668957" y="1532166"/>
                  </a:lnTo>
                  <a:lnTo>
                    <a:pt x="1673987" y="1532166"/>
                  </a:lnTo>
                  <a:lnTo>
                    <a:pt x="1685150" y="1521002"/>
                  </a:lnTo>
                  <a:lnTo>
                    <a:pt x="1685150" y="1515960"/>
                  </a:lnTo>
                  <a:close/>
                </a:path>
                <a:path w="1825625" h="1841500">
                  <a:moveTo>
                    <a:pt x="1692719" y="1332357"/>
                  </a:moveTo>
                  <a:lnTo>
                    <a:pt x="1681556" y="1321193"/>
                  </a:lnTo>
                  <a:lnTo>
                    <a:pt x="1676514" y="1321193"/>
                  </a:lnTo>
                  <a:lnTo>
                    <a:pt x="1665351" y="1332357"/>
                  </a:lnTo>
                  <a:lnTo>
                    <a:pt x="1665351" y="1334884"/>
                  </a:lnTo>
                  <a:lnTo>
                    <a:pt x="1665351" y="1337398"/>
                  </a:lnTo>
                  <a:lnTo>
                    <a:pt x="1676514" y="1348562"/>
                  </a:lnTo>
                  <a:lnTo>
                    <a:pt x="1681556" y="1348562"/>
                  </a:lnTo>
                  <a:lnTo>
                    <a:pt x="1692719" y="1337398"/>
                  </a:lnTo>
                  <a:lnTo>
                    <a:pt x="1692719" y="1332357"/>
                  </a:lnTo>
                  <a:close/>
                </a:path>
                <a:path w="1825625" h="1841500">
                  <a:moveTo>
                    <a:pt x="1714309" y="1228318"/>
                  </a:moveTo>
                  <a:lnTo>
                    <a:pt x="1703158" y="1217155"/>
                  </a:lnTo>
                  <a:lnTo>
                    <a:pt x="1698117" y="1217155"/>
                  </a:lnTo>
                  <a:lnTo>
                    <a:pt x="1686953" y="1228318"/>
                  </a:lnTo>
                  <a:lnTo>
                    <a:pt x="1686953" y="1230845"/>
                  </a:lnTo>
                  <a:lnTo>
                    <a:pt x="1686953" y="1233360"/>
                  </a:lnTo>
                  <a:lnTo>
                    <a:pt x="1698117" y="1244523"/>
                  </a:lnTo>
                  <a:lnTo>
                    <a:pt x="1703158" y="1244523"/>
                  </a:lnTo>
                  <a:lnTo>
                    <a:pt x="1714309" y="1233360"/>
                  </a:lnTo>
                  <a:lnTo>
                    <a:pt x="1714309" y="1228318"/>
                  </a:lnTo>
                  <a:close/>
                </a:path>
                <a:path w="1825625" h="1841500">
                  <a:moveTo>
                    <a:pt x="1825193" y="11163"/>
                  </a:moveTo>
                  <a:lnTo>
                    <a:pt x="1814029" y="0"/>
                  </a:lnTo>
                  <a:lnTo>
                    <a:pt x="1809000" y="0"/>
                  </a:lnTo>
                  <a:lnTo>
                    <a:pt x="1797837" y="11163"/>
                  </a:lnTo>
                  <a:lnTo>
                    <a:pt x="1797837" y="13677"/>
                  </a:lnTo>
                  <a:lnTo>
                    <a:pt x="1797837" y="16205"/>
                  </a:lnTo>
                  <a:lnTo>
                    <a:pt x="1809000" y="27355"/>
                  </a:lnTo>
                  <a:lnTo>
                    <a:pt x="1814029" y="27355"/>
                  </a:lnTo>
                  <a:lnTo>
                    <a:pt x="1825193" y="16205"/>
                  </a:lnTo>
                  <a:lnTo>
                    <a:pt x="1825193" y="11163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63099" y="5699061"/>
            <a:ext cx="68199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00">
                <a:solidFill>
                  <a:schemeClr val="tx1"/>
                </a:solidFill>
                <a:latin typeface="Arial"/>
                <a:cs typeface="Arial"/>
              </a:rPr>
              <a:t>Longitud</a:t>
            </a:r>
            <a:r>
              <a:rPr lang="es-ES" sz="10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000" spc="-25">
                <a:solidFill>
                  <a:schemeClr val="tx1"/>
                </a:solidFill>
                <a:latin typeface="Arial"/>
                <a:cs typeface="Arial"/>
              </a:rPr>
              <a:t>(°)</a:t>
            </a:r>
            <a:endParaRPr lang="es-E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9512" y="3186416"/>
            <a:ext cx="153888" cy="575945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s-ES" sz="1000">
                <a:solidFill>
                  <a:schemeClr val="tx1"/>
                </a:solidFill>
                <a:latin typeface="Arial"/>
                <a:cs typeface="Arial"/>
              </a:rPr>
              <a:t>Latitud</a:t>
            </a:r>
            <a:r>
              <a:rPr lang="es-ES" sz="10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000" spc="-25">
                <a:solidFill>
                  <a:schemeClr val="tx1"/>
                </a:solidFill>
                <a:latin typeface="Arial"/>
                <a:cs typeface="Arial"/>
              </a:rPr>
              <a:t>(°)</a:t>
            </a:r>
            <a:endParaRPr lang="es-E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544" y="5507189"/>
            <a:ext cx="34099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1000" spc="-10">
                <a:solidFill>
                  <a:schemeClr val="tx1"/>
                </a:solidFill>
                <a:latin typeface="Arial"/>
                <a:cs typeface="Arial"/>
              </a:rPr>
              <a:t>-71.59</a:t>
            </a:r>
            <a:endParaRPr lang="es-E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93586" y="5507189"/>
            <a:ext cx="34099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1000" spc="-10">
                <a:solidFill>
                  <a:schemeClr val="tx1"/>
                </a:solidFill>
                <a:latin typeface="Arial"/>
                <a:cs typeface="Arial"/>
              </a:rPr>
              <a:t>-71.03</a:t>
            </a:r>
            <a:endParaRPr lang="es-E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7106" y="1419745"/>
            <a:ext cx="34099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1000" spc="-10">
                <a:solidFill>
                  <a:schemeClr val="tx1"/>
                </a:solidFill>
                <a:latin typeface="Arial"/>
                <a:cs typeface="Arial"/>
              </a:rPr>
              <a:t>-42.56</a:t>
            </a:r>
            <a:endParaRPr lang="es-E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7106" y="5397385"/>
            <a:ext cx="34099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1000" spc="-10">
                <a:solidFill>
                  <a:schemeClr val="tx1"/>
                </a:solidFill>
                <a:latin typeface="Arial"/>
                <a:cs typeface="Arial"/>
              </a:rPr>
              <a:t>-42.85</a:t>
            </a:r>
            <a:endParaRPr lang="es-E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66591" y="1627200"/>
            <a:ext cx="960119" cy="91440"/>
            <a:chOff x="968755" y="1627200"/>
            <a:chExt cx="960119" cy="91440"/>
          </a:xfrm>
        </p:grpSpPr>
        <p:sp>
          <p:nvSpPr>
            <p:cNvPr id="20" name="object 20"/>
            <p:cNvSpPr/>
            <p:nvPr/>
          </p:nvSpPr>
          <p:spPr>
            <a:xfrm>
              <a:off x="968755" y="162720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39">
                  <a:moveTo>
                    <a:pt x="53644" y="0"/>
                  </a:moveTo>
                  <a:lnTo>
                    <a:pt x="37807" y="0"/>
                  </a:lnTo>
                  <a:lnTo>
                    <a:pt x="29883" y="2159"/>
                  </a:lnTo>
                  <a:lnTo>
                    <a:pt x="15849" y="10083"/>
                  </a:lnTo>
                  <a:lnTo>
                    <a:pt x="10083" y="15836"/>
                  </a:lnTo>
                  <a:lnTo>
                    <a:pt x="2159" y="29883"/>
                  </a:lnTo>
                  <a:lnTo>
                    <a:pt x="0" y="37795"/>
                  </a:lnTo>
                  <a:lnTo>
                    <a:pt x="0" y="45720"/>
                  </a:lnTo>
                  <a:lnTo>
                    <a:pt x="0" y="53644"/>
                  </a:lnTo>
                  <a:lnTo>
                    <a:pt x="29883" y="89281"/>
                  </a:lnTo>
                  <a:lnTo>
                    <a:pt x="37807" y="91440"/>
                  </a:lnTo>
                  <a:lnTo>
                    <a:pt x="53644" y="91440"/>
                  </a:lnTo>
                  <a:lnTo>
                    <a:pt x="89281" y="61556"/>
                  </a:lnTo>
                  <a:lnTo>
                    <a:pt x="91440" y="53644"/>
                  </a:lnTo>
                  <a:lnTo>
                    <a:pt x="91440" y="37795"/>
                  </a:lnTo>
                  <a:lnTo>
                    <a:pt x="89281" y="29883"/>
                  </a:lnTo>
                  <a:lnTo>
                    <a:pt x="85318" y="23037"/>
                  </a:lnTo>
                  <a:lnTo>
                    <a:pt x="81368" y="15836"/>
                  </a:lnTo>
                  <a:lnTo>
                    <a:pt x="75603" y="10083"/>
                  </a:lnTo>
                  <a:lnTo>
                    <a:pt x="61569" y="2159"/>
                  </a:lnTo>
                  <a:lnTo>
                    <a:pt x="53644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837436" y="162720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39" h="91439">
                  <a:moveTo>
                    <a:pt x="53644" y="0"/>
                  </a:moveTo>
                  <a:lnTo>
                    <a:pt x="37807" y="0"/>
                  </a:lnTo>
                  <a:lnTo>
                    <a:pt x="29883" y="2159"/>
                  </a:lnTo>
                  <a:lnTo>
                    <a:pt x="15849" y="10083"/>
                  </a:lnTo>
                  <a:lnTo>
                    <a:pt x="10083" y="15836"/>
                  </a:lnTo>
                  <a:lnTo>
                    <a:pt x="2158" y="29883"/>
                  </a:lnTo>
                  <a:lnTo>
                    <a:pt x="0" y="37795"/>
                  </a:lnTo>
                  <a:lnTo>
                    <a:pt x="0" y="45720"/>
                  </a:lnTo>
                  <a:lnTo>
                    <a:pt x="0" y="53644"/>
                  </a:lnTo>
                  <a:lnTo>
                    <a:pt x="29883" y="89281"/>
                  </a:lnTo>
                  <a:lnTo>
                    <a:pt x="37807" y="91440"/>
                  </a:lnTo>
                  <a:lnTo>
                    <a:pt x="53644" y="91440"/>
                  </a:lnTo>
                  <a:lnTo>
                    <a:pt x="89281" y="61556"/>
                  </a:lnTo>
                  <a:lnTo>
                    <a:pt x="91439" y="53644"/>
                  </a:lnTo>
                  <a:lnTo>
                    <a:pt x="91439" y="37795"/>
                  </a:lnTo>
                  <a:lnTo>
                    <a:pt x="89281" y="29883"/>
                  </a:lnTo>
                  <a:lnTo>
                    <a:pt x="85318" y="23037"/>
                  </a:lnTo>
                  <a:lnTo>
                    <a:pt x="81368" y="15836"/>
                  </a:lnTo>
                  <a:lnTo>
                    <a:pt x="75603" y="10083"/>
                  </a:lnTo>
                  <a:lnTo>
                    <a:pt x="61569" y="2159"/>
                  </a:lnTo>
                  <a:lnTo>
                    <a:pt x="53644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700780" y="1589658"/>
            <a:ext cx="5111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00" b="1" spc="-10">
                <a:solidFill>
                  <a:schemeClr val="tx1"/>
                </a:solidFill>
                <a:latin typeface="Arial"/>
                <a:cs typeface="Arial"/>
              </a:rPr>
              <a:t>Bosque</a:t>
            </a:r>
            <a:endParaRPr lang="es-E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69460" y="1589658"/>
            <a:ext cx="45974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00" b="1" spc="-10">
                <a:solidFill>
                  <a:schemeClr val="tx1"/>
                </a:solidFill>
                <a:latin typeface="Arial"/>
                <a:cs typeface="Arial"/>
              </a:rPr>
              <a:t>Estepa</a:t>
            </a:r>
            <a:endParaRPr lang="es-E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24" name="object 24" descr="/mnt/data/icesat2_work/unzip/ppt/media/image7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8040" y="1298155"/>
            <a:ext cx="1965604" cy="1965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object 25" descr="/mnt/data/icesat2_work/unzip/ppt/media/image8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82404" y="1298155"/>
            <a:ext cx="1965604" cy="1965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9CE75035-A8EB-6091-507D-24514A83F2E1}"/>
              </a:ext>
            </a:extLst>
          </p:cNvPr>
          <p:cNvGrpSpPr/>
          <p:nvPr/>
        </p:nvGrpSpPr>
        <p:grpSpPr>
          <a:xfrm>
            <a:off x="7173000" y="3352800"/>
            <a:ext cx="1976120" cy="1107440"/>
            <a:chOff x="7173000" y="3450960"/>
            <a:chExt cx="1976120" cy="1107440"/>
          </a:xfrm>
        </p:grpSpPr>
        <p:grpSp>
          <p:nvGrpSpPr>
            <p:cNvPr id="26" name="object 26"/>
            <p:cNvGrpSpPr/>
            <p:nvPr/>
          </p:nvGrpSpPr>
          <p:grpSpPr>
            <a:xfrm>
              <a:off x="7173000" y="3450960"/>
              <a:ext cx="1976120" cy="1107440"/>
              <a:chOff x="7173000" y="3450960"/>
              <a:chExt cx="1976120" cy="1107440"/>
            </a:xfrm>
          </p:grpSpPr>
          <p:sp>
            <p:nvSpPr>
              <p:cNvPr id="27" name="object 27"/>
              <p:cNvSpPr/>
              <p:nvPr/>
            </p:nvSpPr>
            <p:spPr>
              <a:xfrm>
                <a:off x="7178040" y="3456000"/>
                <a:ext cx="196596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1965959" h="1097279">
                    <a:moveTo>
                      <a:pt x="1927796" y="0"/>
                    </a:moveTo>
                    <a:lnTo>
                      <a:pt x="37795" y="0"/>
                    </a:lnTo>
                    <a:lnTo>
                      <a:pt x="29883" y="2159"/>
                    </a:lnTo>
                    <a:lnTo>
                      <a:pt x="23037" y="6121"/>
                    </a:lnTo>
                    <a:lnTo>
                      <a:pt x="15836" y="10083"/>
                    </a:lnTo>
                    <a:lnTo>
                      <a:pt x="10083" y="15836"/>
                    </a:lnTo>
                    <a:lnTo>
                      <a:pt x="6121" y="22682"/>
                    </a:lnTo>
                    <a:lnTo>
                      <a:pt x="2158" y="29883"/>
                    </a:lnTo>
                    <a:lnTo>
                      <a:pt x="0" y="37795"/>
                    </a:lnTo>
                    <a:lnTo>
                      <a:pt x="0" y="1059484"/>
                    </a:lnTo>
                    <a:lnTo>
                      <a:pt x="2061" y="1067041"/>
                    </a:lnTo>
                    <a:lnTo>
                      <a:pt x="2158" y="1067396"/>
                    </a:lnTo>
                    <a:lnTo>
                      <a:pt x="6121" y="1074242"/>
                    </a:lnTo>
                    <a:lnTo>
                      <a:pt x="10083" y="1081443"/>
                    </a:lnTo>
                    <a:lnTo>
                      <a:pt x="15836" y="1087196"/>
                    </a:lnTo>
                    <a:lnTo>
                      <a:pt x="22682" y="1091158"/>
                    </a:lnTo>
                    <a:lnTo>
                      <a:pt x="29883" y="1095121"/>
                    </a:lnTo>
                    <a:lnTo>
                      <a:pt x="37795" y="1097280"/>
                    </a:lnTo>
                    <a:lnTo>
                      <a:pt x="1928164" y="1096924"/>
                    </a:lnTo>
                    <a:lnTo>
                      <a:pt x="1936076" y="1094765"/>
                    </a:lnTo>
                    <a:lnTo>
                      <a:pt x="1942922" y="1090803"/>
                    </a:lnTo>
                    <a:lnTo>
                      <a:pt x="1950123" y="1086840"/>
                    </a:lnTo>
                    <a:lnTo>
                      <a:pt x="1965959" y="1051204"/>
                    </a:lnTo>
                    <a:lnTo>
                      <a:pt x="1965607" y="45720"/>
                    </a:lnTo>
                    <a:lnTo>
                      <a:pt x="1965604" y="37795"/>
                    </a:lnTo>
                    <a:lnTo>
                      <a:pt x="1963445" y="29883"/>
                    </a:lnTo>
                    <a:lnTo>
                      <a:pt x="1959482" y="23037"/>
                    </a:lnTo>
                    <a:lnTo>
                      <a:pt x="1955520" y="15836"/>
                    </a:lnTo>
                    <a:lnTo>
                      <a:pt x="1949754" y="10083"/>
                    </a:lnTo>
                    <a:lnTo>
                      <a:pt x="1942922" y="6121"/>
                    </a:lnTo>
                    <a:lnTo>
                      <a:pt x="1935721" y="2159"/>
                    </a:lnTo>
                    <a:lnTo>
                      <a:pt x="1927796" y="0"/>
                    </a:lnTo>
                    <a:close/>
                  </a:path>
                </a:pathLst>
              </a:custGeom>
              <a:solidFill>
                <a:srgbClr val="E9F0E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7178040" y="3456000"/>
                <a:ext cx="196596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1965959" h="1097279">
                    <a:moveTo>
                      <a:pt x="0" y="45720"/>
                    </a:moveTo>
                    <a:lnTo>
                      <a:pt x="0" y="37795"/>
                    </a:lnTo>
                    <a:lnTo>
                      <a:pt x="2158" y="29883"/>
                    </a:lnTo>
                    <a:lnTo>
                      <a:pt x="6121" y="22682"/>
                    </a:lnTo>
                    <a:lnTo>
                      <a:pt x="10083" y="15836"/>
                    </a:lnTo>
                    <a:lnTo>
                      <a:pt x="15836" y="10083"/>
                    </a:lnTo>
                    <a:lnTo>
                      <a:pt x="23037" y="6121"/>
                    </a:lnTo>
                    <a:lnTo>
                      <a:pt x="29883" y="2159"/>
                    </a:lnTo>
                    <a:lnTo>
                      <a:pt x="37795" y="0"/>
                    </a:lnTo>
                    <a:lnTo>
                      <a:pt x="45719" y="0"/>
                    </a:lnTo>
                    <a:lnTo>
                      <a:pt x="1919884" y="0"/>
                    </a:lnTo>
                    <a:lnTo>
                      <a:pt x="1927796" y="0"/>
                    </a:lnTo>
                    <a:lnTo>
                      <a:pt x="1935721" y="2159"/>
                    </a:lnTo>
                    <a:lnTo>
                      <a:pt x="1942922" y="6121"/>
                    </a:lnTo>
                    <a:lnTo>
                      <a:pt x="1949754" y="10083"/>
                    </a:lnTo>
                    <a:lnTo>
                      <a:pt x="1955520" y="15836"/>
                    </a:lnTo>
                    <a:lnTo>
                      <a:pt x="1959482" y="23037"/>
                    </a:lnTo>
                    <a:lnTo>
                      <a:pt x="1963445" y="29883"/>
                    </a:lnTo>
                    <a:lnTo>
                      <a:pt x="1965604" y="37795"/>
                    </a:lnTo>
                    <a:lnTo>
                      <a:pt x="1965604" y="45720"/>
                    </a:lnTo>
                    <a:lnTo>
                      <a:pt x="1965959" y="1051204"/>
                    </a:lnTo>
                    <a:lnTo>
                      <a:pt x="1965959" y="1059116"/>
                    </a:lnTo>
                    <a:lnTo>
                      <a:pt x="1963801" y="1067041"/>
                    </a:lnTo>
                    <a:lnTo>
                      <a:pt x="1959838" y="1074242"/>
                    </a:lnTo>
                    <a:lnTo>
                      <a:pt x="1955876" y="1081074"/>
                    </a:lnTo>
                    <a:lnTo>
                      <a:pt x="1950123" y="1086840"/>
                    </a:lnTo>
                    <a:lnTo>
                      <a:pt x="1942922" y="1090803"/>
                    </a:lnTo>
                    <a:lnTo>
                      <a:pt x="1936076" y="1094765"/>
                    </a:lnTo>
                    <a:lnTo>
                      <a:pt x="1928164" y="1096924"/>
                    </a:lnTo>
                    <a:lnTo>
                      <a:pt x="1920239" y="1096924"/>
                    </a:lnTo>
                    <a:lnTo>
                      <a:pt x="45719" y="1097280"/>
                    </a:lnTo>
                    <a:lnTo>
                      <a:pt x="37795" y="1097280"/>
                    </a:lnTo>
                    <a:lnTo>
                      <a:pt x="29883" y="1095121"/>
                    </a:lnTo>
                    <a:lnTo>
                      <a:pt x="22682" y="1091158"/>
                    </a:lnTo>
                    <a:lnTo>
                      <a:pt x="15836" y="1087196"/>
                    </a:lnTo>
                    <a:lnTo>
                      <a:pt x="10083" y="1081443"/>
                    </a:lnTo>
                    <a:lnTo>
                      <a:pt x="6121" y="1074242"/>
                    </a:lnTo>
                    <a:lnTo>
                      <a:pt x="2158" y="1067396"/>
                    </a:lnTo>
                    <a:lnTo>
                      <a:pt x="0" y="1059484"/>
                    </a:lnTo>
                    <a:lnTo>
                      <a:pt x="0" y="1051560"/>
                    </a:lnTo>
                    <a:lnTo>
                      <a:pt x="0" y="45720"/>
                    </a:lnTo>
                    <a:close/>
                  </a:path>
                </a:pathLst>
              </a:custGeom>
              <a:ln w="10079">
                <a:solidFill>
                  <a:srgbClr val="2E6A46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7389977" y="3635184"/>
              <a:ext cx="1541145" cy="82073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450" b="1" spc="-10">
                  <a:solidFill>
                    <a:srgbClr val="2E6A46"/>
                  </a:solidFill>
                  <a:latin typeface="Arial"/>
                  <a:cs typeface="Arial"/>
                </a:rPr>
                <a:t>BOSQUE_NW_02</a:t>
              </a:r>
              <a:endParaRPr lang="es-ES" sz="1450">
                <a:latin typeface="Arial"/>
                <a:cs typeface="Arial"/>
              </a:endParaRPr>
            </a:p>
            <a:p>
              <a:pPr marL="29209">
                <a:lnSpc>
                  <a:spcPct val="100000"/>
                </a:lnSpc>
                <a:spcBef>
                  <a:spcPts val="1215"/>
                </a:spcBef>
              </a:pPr>
              <a:r>
                <a:rPr lang="es-ES" sz="1400">
                  <a:solidFill>
                    <a:srgbClr val="64726B"/>
                  </a:solidFill>
                  <a:latin typeface="Arial"/>
                  <a:cs typeface="Arial"/>
                </a:rPr>
                <a:t>20</a:t>
              </a:r>
              <a:r>
                <a:rPr lang="es-ES" sz="1400" spc="-15">
                  <a:solidFill>
                    <a:srgbClr val="64726B"/>
                  </a:solidFill>
                  <a:latin typeface="Arial"/>
                  <a:cs typeface="Arial"/>
                </a:rPr>
                <a:t> </a:t>
              </a:r>
              <a:r>
                <a:rPr lang="es-ES" sz="1400">
                  <a:solidFill>
                    <a:srgbClr val="64726B"/>
                  </a:solidFill>
                  <a:latin typeface="Arial"/>
                  <a:cs typeface="Arial"/>
                </a:rPr>
                <a:t>gránulos</a:t>
              </a:r>
              <a:r>
                <a:rPr lang="es-ES" sz="1400" spc="-10">
                  <a:solidFill>
                    <a:srgbClr val="64726B"/>
                  </a:solidFill>
                  <a:latin typeface="Arial"/>
                  <a:cs typeface="Arial"/>
                </a:rPr>
                <a:t> operacionales</a:t>
              </a:r>
              <a:endParaRPr lang="es-ES" sz="1400">
                <a:latin typeface="Arial"/>
                <a:cs typeface="Arial"/>
              </a:endParaRP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8D8C78A-1E8E-FF08-CE3F-0BC006404F02}"/>
              </a:ext>
            </a:extLst>
          </p:cNvPr>
          <p:cNvGrpSpPr/>
          <p:nvPr/>
        </p:nvGrpSpPr>
        <p:grpSpPr>
          <a:xfrm>
            <a:off x="9477364" y="3352800"/>
            <a:ext cx="1976120" cy="1107440"/>
            <a:chOff x="9477364" y="3450960"/>
            <a:chExt cx="1976120" cy="1107440"/>
          </a:xfrm>
        </p:grpSpPr>
        <p:grpSp>
          <p:nvGrpSpPr>
            <p:cNvPr id="30" name="object 30"/>
            <p:cNvGrpSpPr/>
            <p:nvPr/>
          </p:nvGrpSpPr>
          <p:grpSpPr>
            <a:xfrm>
              <a:off x="9477364" y="3450960"/>
              <a:ext cx="1976120" cy="1107440"/>
              <a:chOff x="9477364" y="3450960"/>
              <a:chExt cx="1976120" cy="1107440"/>
            </a:xfrm>
          </p:grpSpPr>
          <p:sp>
            <p:nvSpPr>
              <p:cNvPr id="31" name="object 31"/>
              <p:cNvSpPr/>
              <p:nvPr/>
            </p:nvSpPr>
            <p:spPr>
              <a:xfrm>
                <a:off x="9482404" y="3456000"/>
                <a:ext cx="196596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1965959" h="1097279">
                    <a:moveTo>
                      <a:pt x="1927796" y="0"/>
                    </a:moveTo>
                    <a:lnTo>
                      <a:pt x="37795" y="0"/>
                    </a:lnTo>
                    <a:lnTo>
                      <a:pt x="29870" y="2159"/>
                    </a:lnTo>
                    <a:lnTo>
                      <a:pt x="23037" y="6121"/>
                    </a:lnTo>
                    <a:lnTo>
                      <a:pt x="15836" y="10083"/>
                    </a:lnTo>
                    <a:lnTo>
                      <a:pt x="10071" y="15836"/>
                    </a:lnTo>
                    <a:lnTo>
                      <a:pt x="6121" y="22682"/>
                    </a:lnTo>
                    <a:lnTo>
                      <a:pt x="2159" y="29883"/>
                    </a:lnTo>
                    <a:lnTo>
                      <a:pt x="0" y="37795"/>
                    </a:lnTo>
                    <a:lnTo>
                      <a:pt x="0" y="1059484"/>
                    </a:lnTo>
                    <a:lnTo>
                      <a:pt x="2061" y="1067041"/>
                    </a:lnTo>
                    <a:lnTo>
                      <a:pt x="2159" y="1067396"/>
                    </a:lnTo>
                    <a:lnTo>
                      <a:pt x="6121" y="1074242"/>
                    </a:lnTo>
                    <a:lnTo>
                      <a:pt x="10071" y="1081443"/>
                    </a:lnTo>
                    <a:lnTo>
                      <a:pt x="15836" y="1087196"/>
                    </a:lnTo>
                    <a:lnTo>
                      <a:pt x="22669" y="1091158"/>
                    </a:lnTo>
                    <a:lnTo>
                      <a:pt x="29870" y="1095121"/>
                    </a:lnTo>
                    <a:lnTo>
                      <a:pt x="37795" y="1097280"/>
                    </a:lnTo>
                    <a:lnTo>
                      <a:pt x="1928152" y="1096924"/>
                    </a:lnTo>
                    <a:lnTo>
                      <a:pt x="1936076" y="1094765"/>
                    </a:lnTo>
                    <a:lnTo>
                      <a:pt x="1942909" y="1090803"/>
                    </a:lnTo>
                    <a:lnTo>
                      <a:pt x="1950110" y="1086840"/>
                    </a:lnTo>
                    <a:lnTo>
                      <a:pt x="1965960" y="1051204"/>
                    </a:lnTo>
                    <a:lnTo>
                      <a:pt x="1965594" y="45720"/>
                    </a:lnTo>
                    <a:lnTo>
                      <a:pt x="1965591" y="37795"/>
                    </a:lnTo>
                    <a:lnTo>
                      <a:pt x="1963432" y="29883"/>
                    </a:lnTo>
                    <a:lnTo>
                      <a:pt x="1959470" y="23037"/>
                    </a:lnTo>
                    <a:lnTo>
                      <a:pt x="1955520" y="15836"/>
                    </a:lnTo>
                    <a:lnTo>
                      <a:pt x="1949754" y="10083"/>
                    </a:lnTo>
                    <a:lnTo>
                      <a:pt x="1942909" y="6121"/>
                    </a:lnTo>
                    <a:lnTo>
                      <a:pt x="1935721" y="2159"/>
                    </a:lnTo>
                    <a:lnTo>
                      <a:pt x="1927796" y="0"/>
                    </a:lnTo>
                    <a:close/>
                  </a:path>
                </a:pathLst>
              </a:custGeom>
              <a:solidFill>
                <a:srgbClr val="F1E3C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9482404" y="3456000"/>
                <a:ext cx="196596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1965959" h="1097279">
                    <a:moveTo>
                      <a:pt x="0" y="45720"/>
                    </a:moveTo>
                    <a:lnTo>
                      <a:pt x="0" y="37795"/>
                    </a:lnTo>
                    <a:lnTo>
                      <a:pt x="2159" y="29883"/>
                    </a:lnTo>
                    <a:lnTo>
                      <a:pt x="6121" y="22682"/>
                    </a:lnTo>
                    <a:lnTo>
                      <a:pt x="10071" y="15836"/>
                    </a:lnTo>
                    <a:lnTo>
                      <a:pt x="15836" y="10083"/>
                    </a:lnTo>
                    <a:lnTo>
                      <a:pt x="23037" y="6121"/>
                    </a:lnTo>
                    <a:lnTo>
                      <a:pt x="29870" y="2159"/>
                    </a:lnTo>
                    <a:lnTo>
                      <a:pt x="37795" y="0"/>
                    </a:lnTo>
                    <a:lnTo>
                      <a:pt x="45720" y="0"/>
                    </a:lnTo>
                    <a:lnTo>
                      <a:pt x="1919871" y="0"/>
                    </a:lnTo>
                    <a:lnTo>
                      <a:pt x="1927796" y="0"/>
                    </a:lnTo>
                    <a:lnTo>
                      <a:pt x="1935721" y="2159"/>
                    </a:lnTo>
                    <a:lnTo>
                      <a:pt x="1942909" y="6121"/>
                    </a:lnTo>
                    <a:lnTo>
                      <a:pt x="1949754" y="10083"/>
                    </a:lnTo>
                    <a:lnTo>
                      <a:pt x="1955520" y="15836"/>
                    </a:lnTo>
                    <a:lnTo>
                      <a:pt x="1959470" y="23037"/>
                    </a:lnTo>
                    <a:lnTo>
                      <a:pt x="1963432" y="29883"/>
                    </a:lnTo>
                    <a:lnTo>
                      <a:pt x="1965591" y="37795"/>
                    </a:lnTo>
                    <a:lnTo>
                      <a:pt x="1965591" y="45720"/>
                    </a:lnTo>
                    <a:lnTo>
                      <a:pt x="1965960" y="1051204"/>
                    </a:lnTo>
                    <a:lnTo>
                      <a:pt x="1965960" y="1059116"/>
                    </a:lnTo>
                    <a:lnTo>
                      <a:pt x="1963801" y="1067041"/>
                    </a:lnTo>
                    <a:lnTo>
                      <a:pt x="1959838" y="1074242"/>
                    </a:lnTo>
                    <a:lnTo>
                      <a:pt x="1955876" y="1081074"/>
                    </a:lnTo>
                    <a:lnTo>
                      <a:pt x="1950110" y="1086840"/>
                    </a:lnTo>
                    <a:lnTo>
                      <a:pt x="1942909" y="1090803"/>
                    </a:lnTo>
                    <a:lnTo>
                      <a:pt x="1936076" y="1094765"/>
                    </a:lnTo>
                    <a:lnTo>
                      <a:pt x="1928152" y="1096924"/>
                    </a:lnTo>
                    <a:lnTo>
                      <a:pt x="1920240" y="1096924"/>
                    </a:lnTo>
                    <a:lnTo>
                      <a:pt x="45720" y="1097280"/>
                    </a:lnTo>
                    <a:lnTo>
                      <a:pt x="37795" y="1097280"/>
                    </a:lnTo>
                    <a:lnTo>
                      <a:pt x="29870" y="1095121"/>
                    </a:lnTo>
                    <a:lnTo>
                      <a:pt x="22669" y="1091158"/>
                    </a:lnTo>
                    <a:lnTo>
                      <a:pt x="15836" y="1087196"/>
                    </a:lnTo>
                    <a:lnTo>
                      <a:pt x="10071" y="1081443"/>
                    </a:lnTo>
                    <a:lnTo>
                      <a:pt x="6121" y="1074242"/>
                    </a:lnTo>
                    <a:lnTo>
                      <a:pt x="2159" y="1067396"/>
                    </a:lnTo>
                    <a:lnTo>
                      <a:pt x="0" y="1059484"/>
                    </a:lnTo>
                    <a:lnTo>
                      <a:pt x="0" y="1051560"/>
                    </a:lnTo>
                    <a:lnTo>
                      <a:pt x="0" y="45720"/>
                    </a:lnTo>
                    <a:close/>
                  </a:path>
                </a:pathLst>
              </a:custGeom>
              <a:ln w="10079">
                <a:solidFill>
                  <a:srgbClr val="C3862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3" name="object 33"/>
            <p:cNvSpPr txBox="1"/>
            <p:nvPr/>
          </p:nvSpPr>
          <p:spPr>
            <a:xfrm>
              <a:off x="9710902" y="3635184"/>
              <a:ext cx="1511300" cy="82073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3655">
                <a:lnSpc>
                  <a:spcPct val="100000"/>
                </a:lnSpc>
                <a:spcBef>
                  <a:spcPts val="100"/>
                </a:spcBef>
              </a:pPr>
              <a:r>
                <a:rPr lang="es-MX" sz="1450" b="1" spc="-10">
                  <a:solidFill>
                    <a:srgbClr val="C3862D"/>
                  </a:solidFill>
                  <a:latin typeface="Arial"/>
                  <a:cs typeface="Arial"/>
                </a:rPr>
                <a:t>ESTEPA_NW_02</a:t>
              </a:r>
              <a:endParaRPr lang="es-MX" sz="145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1215"/>
                </a:spcBef>
              </a:pPr>
              <a:r>
                <a:rPr lang="es-MX" sz="1400">
                  <a:solidFill>
                    <a:srgbClr val="64726B"/>
                  </a:solidFill>
                  <a:latin typeface="Arial"/>
                  <a:cs typeface="Arial"/>
                </a:rPr>
                <a:t>26</a:t>
              </a:r>
              <a:r>
                <a:rPr lang="es-MX" sz="1400" spc="-15">
                  <a:solidFill>
                    <a:srgbClr val="64726B"/>
                  </a:solidFill>
                  <a:latin typeface="Arial"/>
                  <a:cs typeface="Arial"/>
                </a:rPr>
                <a:t> </a:t>
              </a:r>
              <a:r>
                <a:rPr lang="es-MX" sz="1400">
                  <a:solidFill>
                    <a:srgbClr val="64726B"/>
                  </a:solidFill>
                  <a:latin typeface="Arial"/>
                  <a:cs typeface="Arial"/>
                </a:rPr>
                <a:t>gránulos</a:t>
              </a:r>
              <a:r>
                <a:rPr lang="es-MX" sz="1400" spc="-10">
                  <a:solidFill>
                    <a:srgbClr val="64726B"/>
                  </a:solidFill>
                  <a:latin typeface="Arial"/>
                  <a:cs typeface="Arial"/>
                </a:rPr>
                <a:t> operacionales</a:t>
              </a:r>
              <a:endParaRPr lang="es-MX" sz="1400">
                <a:latin typeface="Arial"/>
                <a:cs typeface="Arial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181820" y="4572000"/>
            <a:ext cx="4270375" cy="1476000"/>
            <a:chOff x="7181820" y="4823100"/>
            <a:chExt cx="4270375" cy="814069"/>
          </a:xfrm>
        </p:grpSpPr>
        <p:sp>
          <p:nvSpPr>
            <p:cNvPr id="35" name="object 35"/>
            <p:cNvSpPr/>
            <p:nvPr/>
          </p:nvSpPr>
          <p:spPr>
            <a:xfrm>
              <a:off x="7186320" y="4827600"/>
              <a:ext cx="4261485" cy="805180"/>
            </a:xfrm>
            <a:custGeom>
              <a:avLst/>
              <a:gdLst/>
              <a:ahLst/>
              <a:cxnLst/>
              <a:rect l="l" t="t" r="r" b="b"/>
              <a:pathLst>
                <a:path w="4261484" h="805179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740879"/>
                  </a:lnTo>
                  <a:lnTo>
                    <a:pt x="540" y="749227"/>
                  </a:lnTo>
                  <a:lnTo>
                    <a:pt x="18737" y="786104"/>
                  </a:lnTo>
                  <a:lnTo>
                    <a:pt x="55734" y="804423"/>
                  </a:lnTo>
                  <a:lnTo>
                    <a:pt x="64084" y="804964"/>
                  </a:lnTo>
                  <a:lnTo>
                    <a:pt x="4197235" y="804964"/>
                  </a:lnTo>
                  <a:lnTo>
                    <a:pt x="4236272" y="791599"/>
                  </a:lnTo>
                  <a:lnTo>
                    <a:pt x="4259159" y="757439"/>
                  </a:lnTo>
                  <a:lnTo>
                    <a:pt x="4261319" y="740879"/>
                  </a:lnTo>
                  <a:lnTo>
                    <a:pt x="4261296" y="64084"/>
                  </a:lnTo>
                  <a:lnTo>
                    <a:pt x="4247960" y="25402"/>
                  </a:lnTo>
                  <a:lnTo>
                    <a:pt x="4213799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86320" y="4827600"/>
              <a:ext cx="4261485" cy="805180"/>
            </a:xfrm>
            <a:custGeom>
              <a:avLst/>
              <a:gdLst/>
              <a:ahLst/>
              <a:cxnLst/>
              <a:rect l="l" t="t" r="r" b="b"/>
              <a:pathLst>
                <a:path w="4261484" h="805179">
                  <a:moveTo>
                    <a:pt x="355" y="64084"/>
                  </a:moveTo>
                  <a:lnTo>
                    <a:pt x="896" y="55734"/>
                  </a:lnTo>
                  <a:lnTo>
                    <a:pt x="2517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4197235" y="355"/>
                  </a:lnTo>
                  <a:lnTo>
                    <a:pt x="4236222" y="13570"/>
                  </a:lnTo>
                  <a:lnTo>
                    <a:pt x="4259159" y="47880"/>
                  </a:lnTo>
                  <a:lnTo>
                    <a:pt x="4261319" y="64439"/>
                  </a:lnTo>
                  <a:lnTo>
                    <a:pt x="4261319" y="740879"/>
                  </a:lnTo>
                  <a:lnTo>
                    <a:pt x="4260779" y="749227"/>
                  </a:lnTo>
                  <a:lnTo>
                    <a:pt x="4259159" y="757439"/>
                  </a:lnTo>
                  <a:lnTo>
                    <a:pt x="4236272" y="791599"/>
                  </a:lnTo>
                  <a:lnTo>
                    <a:pt x="4197235" y="804964"/>
                  </a:lnTo>
                  <a:lnTo>
                    <a:pt x="64084" y="804964"/>
                  </a:lnTo>
                  <a:lnTo>
                    <a:pt x="25091" y="791749"/>
                  </a:lnTo>
                  <a:lnTo>
                    <a:pt x="2160" y="757439"/>
                  </a:lnTo>
                  <a:lnTo>
                    <a:pt x="0" y="74087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87044" y="4827955"/>
              <a:ext cx="82550" cy="804545"/>
            </a:xfrm>
            <a:custGeom>
              <a:avLst/>
              <a:gdLst/>
              <a:ahLst/>
              <a:cxnLst/>
              <a:rect l="l" t="t" r="r" b="b"/>
              <a:pathLst>
                <a:path w="82550" h="804545">
                  <a:moveTo>
                    <a:pt x="82080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41033" y="804240"/>
                  </a:lnTo>
                  <a:lnTo>
                    <a:pt x="82080" y="80424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420940" y="4677555"/>
            <a:ext cx="3812540" cy="128047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/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separación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espacial</a:t>
            </a:r>
            <a:r>
              <a:rPr lang="es-MX" sz="16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implica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10">
                <a:solidFill>
                  <a:srgbClr val="1F2F28"/>
                </a:solidFill>
                <a:latin typeface="Arial"/>
                <a:cs typeface="Arial"/>
              </a:rPr>
              <a:t>diferencias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potenciales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cobertura,</a:t>
            </a:r>
            <a:r>
              <a:rPr lang="es-MX" sz="16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relieve,</a:t>
            </a:r>
            <a:r>
              <a:rPr lang="es-MX" sz="16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clima,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fecha,</a:t>
            </a:r>
            <a:r>
              <a:rPr lang="es-MX" sz="16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haz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50">
                <a:solidFill>
                  <a:srgbClr val="1F2F28"/>
                </a:solidFill>
                <a:latin typeface="Arial"/>
                <a:cs typeface="Arial"/>
              </a:rPr>
              <a:t>y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condiciones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solares.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6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contraste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debe</a:t>
            </a:r>
            <a:r>
              <a:rPr lang="es-MX" sz="16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leerse</a:t>
            </a:r>
            <a:r>
              <a:rPr lang="es-MX" sz="16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20">
                <a:solidFill>
                  <a:srgbClr val="1F2F28"/>
                </a:solidFill>
                <a:latin typeface="Arial"/>
                <a:cs typeface="Arial"/>
              </a:rPr>
              <a:t>como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comparación</a:t>
            </a:r>
            <a:r>
              <a:rPr lang="es-MX" sz="1600" b="1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entre</a:t>
            </a:r>
            <a:r>
              <a:rPr lang="es-MX" sz="1600" b="1" spc="-8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20">
                <a:solidFill>
                  <a:srgbClr val="1F2F28"/>
                </a:solidFill>
                <a:latin typeface="Arial"/>
                <a:cs typeface="Arial"/>
              </a:rPr>
              <a:t>AOI.</a:t>
            </a:r>
            <a:endParaRPr lang="es-MX" sz="1600">
              <a:latin typeface="Arial"/>
              <a:cs typeface="Arial"/>
            </a:endParaRPr>
          </a:p>
        </p:txBody>
      </p:sp>
      <p:sp>
        <p:nvSpPr>
          <p:cNvPr id="45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6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7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17/43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Jerarquía</a:t>
            </a:r>
            <a:r>
              <a:rPr spc="-75"/>
              <a:t> </a:t>
            </a:r>
            <a:r>
              <a:t>de</a:t>
            </a:r>
            <a:r>
              <a:rPr spc="-75"/>
              <a:t> </a:t>
            </a:r>
            <a:r>
              <a:t>observaciones</a:t>
            </a:r>
            <a:r>
              <a:rPr spc="-70"/>
              <a:t> </a:t>
            </a:r>
            <a:r>
              <a:t>y</a:t>
            </a:r>
            <a:r>
              <a:rPr spc="-75"/>
              <a:t> </a:t>
            </a:r>
            <a:r>
              <a:t>riesgo</a:t>
            </a:r>
            <a:r>
              <a:rPr spc="-70"/>
              <a:t> </a:t>
            </a:r>
            <a:r>
              <a:t>de</a:t>
            </a:r>
            <a:r>
              <a:rPr spc="-75"/>
              <a:t> </a:t>
            </a:r>
            <a:r>
              <a:rPr spc="-10"/>
              <a:t>pseudorreplicación</a:t>
            </a: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0E059199-4099-7820-9CF7-953818B89B8C}"/>
              </a:ext>
            </a:extLst>
          </p:cNvPr>
          <p:cNvGrpSpPr/>
          <p:nvPr/>
        </p:nvGrpSpPr>
        <p:grpSpPr>
          <a:xfrm>
            <a:off x="1197610" y="1438020"/>
            <a:ext cx="9796780" cy="3148965"/>
            <a:chOff x="725220" y="1438020"/>
            <a:chExt cx="9796780" cy="3148965"/>
          </a:xfrm>
        </p:grpSpPr>
        <p:grpSp>
          <p:nvGrpSpPr>
            <p:cNvPr id="5" name="object 5"/>
            <p:cNvGrpSpPr/>
            <p:nvPr/>
          </p:nvGrpSpPr>
          <p:grpSpPr>
            <a:xfrm>
              <a:off x="725220" y="1438020"/>
              <a:ext cx="2252980" cy="3148965"/>
              <a:chOff x="725220" y="1438020"/>
              <a:chExt cx="2252980" cy="3148965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object 6"/>
              <p:cNvSpPr/>
              <p:nvPr/>
            </p:nvSpPr>
            <p:spPr>
              <a:xfrm>
                <a:off x="731520" y="1444320"/>
                <a:ext cx="2240280" cy="3136900"/>
              </a:xfrm>
              <a:custGeom>
                <a:avLst/>
                <a:gdLst/>
                <a:ahLst/>
                <a:cxnLst/>
                <a:rect l="l" t="t" r="r" b="b"/>
                <a:pathLst>
                  <a:path w="2240280" h="3136900">
                    <a:moveTo>
                      <a:pt x="2166835" y="0"/>
                    </a:moveTo>
                    <a:lnTo>
                      <a:pt x="73075" y="0"/>
                    </a:lnTo>
                    <a:lnTo>
                      <a:pt x="63599" y="607"/>
                    </a:lnTo>
                    <a:lnTo>
                      <a:pt x="21428" y="21467"/>
                    </a:lnTo>
                    <a:lnTo>
                      <a:pt x="607" y="63443"/>
                    </a:lnTo>
                    <a:lnTo>
                      <a:pt x="0" y="73075"/>
                    </a:lnTo>
                    <a:lnTo>
                      <a:pt x="0" y="3063240"/>
                    </a:lnTo>
                    <a:lnTo>
                      <a:pt x="594" y="3072516"/>
                    </a:lnTo>
                    <a:lnTo>
                      <a:pt x="607" y="3072718"/>
                    </a:lnTo>
                    <a:lnTo>
                      <a:pt x="2393" y="3081913"/>
                    </a:lnTo>
                    <a:lnTo>
                      <a:pt x="2428" y="3082096"/>
                    </a:lnTo>
                    <a:lnTo>
                      <a:pt x="28555" y="3121218"/>
                    </a:lnTo>
                    <a:lnTo>
                      <a:pt x="73075" y="3136315"/>
                    </a:lnTo>
                    <a:lnTo>
                      <a:pt x="2167204" y="3135960"/>
                    </a:lnTo>
                    <a:lnTo>
                      <a:pt x="2211574" y="3120861"/>
                    </a:lnTo>
                    <a:lnTo>
                      <a:pt x="2234735" y="3091136"/>
                    </a:lnTo>
                    <a:lnTo>
                      <a:pt x="2234815" y="3090975"/>
                    </a:lnTo>
                    <a:lnTo>
                      <a:pt x="2240257" y="3063240"/>
                    </a:lnTo>
                    <a:lnTo>
                      <a:pt x="2240280" y="3062884"/>
                    </a:lnTo>
                    <a:lnTo>
                      <a:pt x="2239924" y="73075"/>
                    </a:lnTo>
                    <a:lnTo>
                      <a:pt x="2224820" y="28705"/>
                    </a:lnTo>
                    <a:lnTo>
                      <a:pt x="2185876" y="2428"/>
                    </a:lnTo>
                    <a:lnTo>
                      <a:pt x="2176475" y="607"/>
                    </a:lnTo>
                    <a:lnTo>
                      <a:pt x="2166835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731520" y="1444320"/>
                <a:ext cx="2240280" cy="3136900"/>
              </a:xfrm>
              <a:custGeom>
                <a:avLst/>
                <a:gdLst/>
                <a:ahLst/>
                <a:cxnLst/>
                <a:rect l="l" t="t" r="r" b="b"/>
                <a:pathLst>
                  <a:path w="2240280" h="3136900">
                    <a:moveTo>
                      <a:pt x="0" y="73075"/>
                    </a:moveTo>
                    <a:lnTo>
                      <a:pt x="607" y="63443"/>
                    </a:lnTo>
                    <a:lnTo>
                      <a:pt x="2428" y="54046"/>
                    </a:lnTo>
                    <a:lnTo>
                      <a:pt x="28705" y="15098"/>
                    </a:lnTo>
                    <a:lnTo>
                      <a:pt x="73075" y="0"/>
                    </a:lnTo>
                    <a:lnTo>
                      <a:pt x="2166835" y="0"/>
                    </a:lnTo>
                    <a:lnTo>
                      <a:pt x="2211368" y="15104"/>
                    </a:lnTo>
                    <a:lnTo>
                      <a:pt x="2237493" y="54224"/>
                    </a:lnTo>
                    <a:lnTo>
                      <a:pt x="2239924" y="73075"/>
                    </a:lnTo>
                    <a:lnTo>
                      <a:pt x="2240280" y="3062884"/>
                    </a:lnTo>
                    <a:lnTo>
                      <a:pt x="2239672" y="3072516"/>
                    </a:lnTo>
                    <a:lnTo>
                      <a:pt x="2237851" y="3081913"/>
                    </a:lnTo>
                    <a:lnTo>
                      <a:pt x="2211574" y="3120861"/>
                    </a:lnTo>
                    <a:lnTo>
                      <a:pt x="2167204" y="3135960"/>
                    </a:lnTo>
                    <a:lnTo>
                      <a:pt x="73075" y="3136315"/>
                    </a:lnTo>
                    <a:lnTo>
                      <a:pt x="28555" y="3121218"/>
                    </a:lnTo>
                    <a:lnTo>
                      <a:pt x="2428" y="3082096"/>
                    </a:lnTo>
                    <a:lnTo>
                      <a:pt x="0" y="3063240"/>
                    </a:lnTo>
                    <a:lnTo>
                      <a:pt x="0" y="73075"/>
                    </a:lnTo>
                    <a:close/>
                  </a:path>
                </a:pathLst>
              </a:custGeom>
              <a:ln w="12599">
                <a:solidFill>
                  <a:srgbClr val="2E6E9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1444675" y="1718995"/>
                <a:ext cx="814069" cy="814069"/>
              </a:xfrm>
              <a:custGeom>
                <a:avLst/>
                <a:gdLst/>
                <a:ahLst/>
                <a:cxnLst/>
                <a:rect l="l" t="t" r="r" b="b"/>
                <a:pathLst>
                  <a:path w="814069" h="814069">
                    <a:moveTo>
                      <a:pt x="407161" y="0"/>
                    </a:moveTo>
                    <a:lnTo>
                      <a:pt x="353809" y="3481"/>
                    </a:lnTo>
                    <a:lnTo>
                      <a:pt x="301639" y="13816"/>
                    </a:lnTo>
                    <a:lnTo>
                      <a:pt x="251290" y="30834"/>
                    </a:lnTo>
                    <a:lnTo>
                      <a:pt x="203403" y="54368"/>
                    </a:lnTo>
                    <a:lnTo>
                      <a:pt x="159053" y="83981"/>
                    </a:lnTo>
                    <a:lnTo>
                      <a:pt x="119160" y="119027"/>
                    </a:lnTo>
                    <a:lnTo>
                      <a:pt x="84131" y="159003"/>
                    </a:lnTo>
                    <a:lnTo>
                      <a:pt x="54368" y="203403"/>
                    </a:lnTo>
                    <a:lnTo>
                      <a:pt x="30834" y="251285"/>
                    </a:lnTo>
                    <a:lnTo>
                      <a:pt x="13816" y="301594"/>
                    </a:lnTo>
                    <a:lnTo>
                      <a:pt x="3481" y="353659"/>
                    </a:lnTo>
                    <a:lnTo>
                      <a:pt x="0" y="406806"/>
                    </a:lnTo>
                    <a:lnTo>
                      <a:pt x="3481" y="459947"/>
                    </a:lnTo>
                    <a:lnTo>
                      <a:pt x="13816" y="512013"/>
                    </a:lnTo>
                    <a:lnTo>
                      <a:pt x="30834" y="562325"/>
                    </a:lnTo>
                    <a:lnTo>
                      <a:pt x="54368" y="610209"/>
                    </a:lnTo>
                    <a:lnTo>
                      <a:pt x="84131" y="654604"/>
                    </a:lnTo>
                    <a:lnTo>
                      <a:pt x="119160" y="694580"/>
                    </a:lnTo>
                    <a:lnTo>
                      <a:pt x="159053" y="729629"/>
                    </a:lnTo>
                    <a:lnTo>
                      <a:pt x="203403" y="759244"/>
                    </a:lnTo>
                    <a:lnTo>
                      <a:pt x="251290" y="782828"/>
                    </a:lnTo>
                    <a:lnTo>
                      <a:pt x="301639" y="799969"/>
                    </a:lnTo>
                    <a:lnTo>
                      <a:pt x="353809" y="810429"/>
                    </a:lnTo>
                    <a:lnTo>
                      <a:pt x="407161" y="813968"/>
                    </a:lnTo>
                    <a:lnTo>
                      <a:pt x="460308" y="810429"/>
                    </a:lnTo>
                    <a:lnTo>
                      <a:pt x="512373" y="799969"/>
                    </a:lnTo>
                    <a:lnTo>
                      <a:pt x="562683" y="782828"/>
                    </a:lnTo>
                    <a:lnTo>
                      <a:pt x="610565" y="759244"/>
                    </a:lnTo>
                    <a:lnTo>
                      <a:pt x="654915" y="729629"/>
                    </a:lnTo>
                    <a:lnTo>
                      <a:pt x="694807" y="694580"/>
                    </a:lnTo>
                    <a:lnTo>
                      <a:pt x="729837" y="654604"/>
                    </a:lnTo>
                    <a:lnTo>
                      <a:pt x="759599" y="610209"/>
                    </a:lnTo>
                    <a:lnTo>
                      <a:pt x="783134" y="562325"/>
                    </a:lnTo>
                    <a:lnTo>
                      <a:pt x="800152" y="512013"/>
                    </a:lnTo>
                    <a:lnTo>
                      <a:pt x="810486" y="459947"/>
                    </a:lnTo>
                    <a:lnTo>
                      <a:pt x="813968" y="406806"/>
                    </a:lnTo>
                    <a:lnTo>
                      <a:pt x="810486" y="353659"/>
                    </a:lnTo>
                    <a:lnTo>
                      <a:pt x="800152" y="301594"/>
                    </a:lnTo>
                    <a:lnTo>
                      <a:pt x="783134" y="251285"/>
                    </a:lnTo>
                    <a:lnTo>
                      <a:pt x="759599" y="203403"/>
                    </a:lnTo>
                    <a:lnTo>
                      <a:pt x="729837" y="159003"/>
                    </a:lnTo>
                    <a:lnTo>
                      <a:pt x="694807" y="119027"/>
                    </a:lnTo>
                    <a:lnTo>
                      <a:pt x="654915" y="83981"/>
                    </a:lnTo>
                    <a:lnTo>
                      <a:pt x="610565" y="54368"/>
                    </a:lnTo>
                    <a:lnTo>
                      <a:pt x="562683" y="30834"/>
                    </a:lnTo>
                    <a:lnTo>
                      <a:pt x="512373" y="13816"/>
                    </a:lnTo>
                    <a:lnTo>
                      <a:pt x="460308" y="3481"/>
                    </a:lnTo>
                    <a:lnTo>
                      <a:pt x="407161" y="0"/>
                    </a:lnTo>
                    <a:close/>
                  </a:path>
                </a:pathLst>
              </a:custGeom>
              <a:solidFill>
                <a:srgbClr val="2E6E9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" name="object 9"/>
            <p:cNvSpPr txBox="1"/>
            <p:nvPr/>
          </p:nvSpPr>
          <p:spPr>
            <a:xfrm>
              <a:off x="1754174" y="1930590"/>
              <a:ext cx="195580" cy="3917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2400" b="1" spc="-50">
                  <a:solidFill>
                    <a:srgbClr val="FFFFFF"/>
                  </a:solidFill>
                  <a:latin typeface="Arial"/>
                  <a:cs typeface="Arial"/>
                </a:rPr>
                <a:t>1</a:t>
              </a:r>
              <a:endParaRPr lang="es-ES" sz="2400"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344142" y="2604847"/>
              <a:ext cx="1013460" cy="728980"/>
            </a:xfrm>
            <a:prstGeom prst="rect">
              <a:avLst/>
            </a:prstGeom>
          </p:spPr>
          <p:txBody>
            <a:bodyPr vert="horz" wrap="square" lIns="0" tIns="12763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5"/>
                </a:spcBef>
              </a:pPr>
              <a:r>
                <a:rPr lang="es-ES" sz="2000" b="1" spc="-10">
                  <a:solidFill>
                    <a:srgbClr val="2E6E9D"/>
                  </a:solidFill>
                  <a:latin typeface="Arial"/>
                  <a:cs typeface="Arial"/>
                </a:rPr>
                <a:t>Fotones</a:t>
              </a:r>
              <a:endParaRPr lang="es-ES" sz="2000">
                <a:latin typeface="Arial"/>
                <a:cs typeface="Arial"/>
              </a:endParaRPr>
            </a:p>
            <a:p>
              <a:pPr marL="1905" algn="ctr">
                <a:lnSpc>
                  <a:spcPct val="100000"/>
                </a:lnSpc>
                <a:spcBef>
                  <a:spcPts val="615"/>
                </a:spcBef>
              </a:pPr>
              <a:r>
                <a:rPr lang="es-ES" sz="1350" b="1" spc="-10">
                  <a:solidFill>
                    <a:srgbClr val="64726B"/>
                  </a:solidFill>
                  <a:latin typeface="Arial"/>
                  <a:cs typeface="Arial"/>
                </a:rPr>
                <a:t>eventos</a:t>
              </a:r>
              <a:endParaRPr lang="es-ES" sz="1350">
                <a:latin typeface="Arial"/>
                <a:cs typeface="Aria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001420" y="3552380"/>
              <a:ext cx="1700530" cy="92773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10"/>
                </a:spcBef>
              </a:pPr>
              <a:r>
                <a:rPr lang="es-ES" sz="1350">
                  <a:solidFill>
                    <a:srgbClr val="1F2F28"/>
                  </a:solidFill>
                  <a:latin typeface="Arial"/>
                  <a:cs typeface="Arial"/>
                </a:rPr>
                <a:t>Clasificados</a:t>
              </a:r>
              <a:r>
                <a:rPr lang="es-ES" sz="1350" spc="-7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ES" sz="1350" spc="-20">
                  <a:solidFill>
                    <a:srgbClr val="1F2F28"/>
                  </a:solidFill>
                  <a:latin typeface="Arial"/>
                  <a:cs typeface="Arial"/>
                </a:rPr>
                <a:t>como </a:t>
              </a:r>
              <a:r>
                <a:rPr lang="es-ES" sz="1350">
                  <a:solidFill>
                    <a:srgbClr val="1F2F28"/>
                  </a:solidFill>
                  <a:latin typeface="Arial"/>
                  <a:cs typeface="Arial"/>
                </a:rPr>
                <a:t>ruido,</a:t>
              </a:r>
              <a:r>
                <a:rPr lang="es-ES" sz="1350" spc="-3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ES" sz="1350">
                  <a:solidFill>
                    <a:srgbClr val="1F2F28"/>
                  </a:solidFill>
                  <a:latin typeface="Arial"/>
                  <a:cs typeface="Arial"/>
                </a:rPr>
                <a:t>terreno,</a:t>
              </a:r>
              <a:r>
                <a:rPr lang="es-ES" sz="1350" spc="-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ES" sz="1350">
                  <a:solidFill>
                    <a:srgbClr val="1F2F28"/>
                  </a:solidFill>
                  <a:latin typeface="Arial"/>
                  <a:cs typeface="Arial"/>
                </a:rPr>
                <a:t>dosel</a:t>
              </a:r>
              <a:r>
                <a:rPr lang="es-ES" sz="1350" spc="-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ES" sz="1350" spc="-50">
                  <a:solidFill>
                    <a:srgbClr val="1F2F28"/>
                  </a:solidFill>
                  <a:latin typeface="Arial"/>
                  <a:cs typeface="Arial"/>
                </a:rPr>
                <a:t>o </a:t>
              </a:r>
              <a:r>
                <a:rPr lang="es-ES" sz="1350" spc="-10">
                  <a:solidFill>
                    <a:srgbClr val="1F2F28"/>
                  </a:solidFill>
                  <a:latin typeface="Arial"/>
                  <a:cs typeface="Arial"/>
                </a:rPr>
                <a:t>tope.</a:t>
              </a:r>
              <a:endParaRPr lang="es-ES" sz="1350"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855"/>
                </a:spcBef>
              </a:pPr>
              <a:r>
                <a:rPr lang="es-ES" sz="1150" b="1" spc="-10">
                  <a:solidFill>
                    <a:srgbClr val="2E6E9D"/>
                  </a:solidFill>
                  <a:latin typeface="Arial"/>
                  <a:cs typeface="Arial"/>
                </a:rPr>
                <a:t>millones</a:t>
              </a:r>
              <a:endParaRPr lang="es-ES" sz="1150">
                <a:latin typeface="Arial"/>
                <a:cs typeface="Arial"/>
              </a:endParaRPr>
            </a:p>
          </p:txBody>
        </p:sp>
        <p:grpSp>
          <p:nvGrpSpPr>
            <p:cNvPr id="12" name="object 12"/>
            <p:cNvGrpSpPr/>
            <p:nvPr/>
          </p:nvGrpSpPr>
          <p:grpSpPr>
            <a:xfrm>
              <a:off x="3044875" y="2979724"/>
              <a:ext cx="128270" cy="76200"/>
              <a:chOff x="3044875" y="2979724"/>
              <a:chExt cx="128270" cy="76200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3044875" y="3017519"/>
                <a:ext cx="577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57785">
                    <a:moveTo>
                      <a:pt x="0" y="0"/>
                    </a:moveTo>
                    <a:lnTo>
                      <a:pt x="57238" y="0"/>
                    </a:lnTo>
                  </a:path>
                </a:pathLst>
              </a:custGeom>
              <a:ln w="23039">
                <a:solidFill>
                  <a:srgbClr val="C3862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3097085" y="2979724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0" y="75590"/>
                    </a:lnTo>
                    <a:lnTo>
                      <a:pt x="75590" y="38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862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5" name="object 15"/>
            <p:cNvGrpSpPr/>
            <p:nvPr/>
          </p:nvGrpSpPr>
          <p:grpSpPr>
            <a:xfrm>
              <a:off x="3239820" y="1438020"/>
              <a:ext cx="2252980" cy="3148965"/>
              <a:chOff x="3239820" y="1438020"/>
              <a:chExt cx="2252980" cy="3148965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6" name="object 16"/>
              <p:cNvSpPr/>
              <p:nvPr/>
            </p:nvSpPr>
            <p:spPr>
              <a:xfrm>
                <a:off x="3246119" y="1444320"/>
                <a:ext cx="2240280" cy="3136900"/>
              </a:xfrm>
              <a:custGeom>
                <a:avLst/>
                <a:gdLst/>
                <a:ahLst/>
                <a:cxnLst/>
                <a:rect l="l" t="t" r="r" b="b"/>
                <a:pathLst>
                  <a:path w="2240279" h="3136900">
                    <a:moveTo>
                      <a:pt x="2166835" y="0"/>
                    </a:moveTo>
                    <a:lnTo>
                      <a:pt x="73075" y="0"/>
                    </a:lnTo>
                    <a:lnTo>
                      <a:pt x="63599" y="607"/>
                    </a:lnTo>
                    <a:lnTo>
                      <a:pt x="21428" y="21467"/>
                    </a:lnTo>
                    <a:lnTo>
                      <a:pt x="607" y="63443"/>
                    </a:lnTo>
                    <a:lnTo>
                      <a:pt x="0" y="73075"/>
                    </a:lnTo>
                    <a:lnTo>
                      <a:pt x="0" y="3063240"/>
                    </a:lnTo>
                    <a:lnTo>
                      <a:pt x="594" y="3072516"/>
                    </a:lnTo>
                    <a:lnTo>
                      <a:pt x="607" y="3072718"/>
                    </a:lnTo>
                    <a:lnTo>
                      <a:pt x="2393" y="3081913"/>
                    </a:lnTo>
                    <a:lnTo>
                      <a:pt x="2428" y="3082096"/>
                    </a:lnTo>
                    <a:lnTo>
                      <a:pt x="5410" y="3090975"/>
                    </a:lnTo>
                    <a:lnTo>
                      <a:pt x="5464" y="3091136"/>
                    </a:lnTo>
                    <a:lnTo>
                      <a:pt x="9715" y="3099600"/>
                    </a:lnTo>
                    <a:lnTo>
                      <a:pt x="44984" y="3130850"/>
                    </a:lnTo>
                    <a:lnTo>
                      <a:pt x="73075" y="3136315"/>
                    </a:lnTo>
                    <a:lnTo>
                      <a:pt x="2167204" y="3135960"/>
                    </a:lnTo>
                    <a:lnTo>
                      <a:pt x="2211574" y="3120861"/>
                    </a:lnTo>
                    <a:lnTo>
                      <a:pt x="2237789" y="3082096"/>
                    </a:lnTo>
                    <a:lnTo>
                      <a:pt x="2237851" y="3081913"/>
                    </a:lnTo>
                    <a:lnTo>
                      <a:pt x="2239633" y="3072718"/>
                    </a:lnTo>
                    <a:lnTo>
                      <a:pt x="2239672" y="3072516"/>
                    </a:lnTo>
                    <a:lnTo>
                      <a:pt x="2240257" y="3063240"/>
                    </a:lnTo>
                    <a:lnTo>
                      <a:pt x="2240280" y="3062884"/>
                    </a:lnTo>
                    <a:lnTo>
                      <a:pt x="2239924" y="73075"/>
                    </a:lnTo>
                    <a:lnTo>
                      <a:pt x="2224820" y="28705"/>
                    </a:lnTo>
                    <a:lnTo>
                      <a:pt x="2185876" y="2428"/>
                    </a:lnTo>
                    <a:lnTo>
                      <a:pt x="2176475" y="607"/>
                    </a:lnTo>
                    <a:lnTo>
                      <a:pt x="2166835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3246119" y="1444320"/>
                <a:ext cx="2240280" cy="3136900"/>
              </a:xfrm>
              <a:custGeom>
                <a:avLst/>
                <a:gdLst/>
                <a:ahLst/>
                <a:cxnLst/>
                <a:rect l="l" t="t" r="r" b="b"/>
                <a:pathLst>
                  <a:path w="2240279" h="3136900">
                    <a:moveTo>
                      <a:pt x="0" y="73075"/>
                    </a:moveTo>
                    <a:lnTo>
                      <a:pt x="607" y="63443"/>
                    </a:lnTo>
                    <a:lnTo>
                      <a:pt x="2428" y="54046"/>
                    </a:lnTo>
                    <a:lnTo>
                      <a:pt x="28705" y="15098"/>
                    </a:lnTo>
                    <a:lnTo>
                      <a:pt x="73075" y="0"/>
                    </a:lnTo>
                    <a:lnTo>
                      <a:pt x="2166835" y="0"/>
                    </a:lnTo>
                    <a:lnTo>
                      <a:pt x="2211368" y="15104"/>
                    </a:lnTo>
                    <a:lnTo>
                      <a:pt x="2237493" y="54224"/>
                    </a:lnTo>
                    <a:lnTo>
                      <a:pt x="2239924" y="73075"/>
                    </a:lnTo>
                    <a:lnTo>
                      <a:pt x="2240280" y="3062884"/>
                    </a:lnTo>
                    <a:lnTo>
                      <a:pt x="2239672" y="3072516"/>
                    </a:lnTo>
                    <a:lnTo>
                      <a:pt x="2237851" y="3081913"/>
                    </a:lnTo>
                    <a:lnTo>
                      <a:pt x="2211574" y="3120861"/>
                    </a:lnTo>
                    <a:lnTo>
                      <a:pt x="2167204" y="3135960"/>
                    </a:lnTo>
                    <a:lnTo>
                      <a:pt x="73075" y="3136315"/>
                    </a:lnTo>
                    <a:lnTo>
                      <a:pt x="28555" y="3121218"/>
                    </a:lnTo>
                    <a:lnTo>
                      <a:pt x="2428" y="3082096"/>
                    </a:lnTo>
                    <a:lnTo>
                      <a:pt x="0" y="3063240"/>
                    </a:lnTo>
                    <a:lnTo>
                      <a:pt x="0" y="73075"/>
                    </a:lnTo>
                    <a:close/>
                  </a:path>
                </a:pathLst>
              </a:custGeom>
              <a:ln w="12599">
                <a:solidFill>
                  <a:srgbClr val="296D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3959275" y="1718995"/>
                <a:ext cx="814069" cy="814069"/>
              </a:xfrm>
              <a:custGeom>
                <a:avLst/>
                <a:gdLst/>
                <a:ahLst/>
                <a:cxnLst/>
                <a:rect l="l" t="t" r="r" b="b"/>
                <a:pathLst>
                  <a:path w="814070" h="814069">
                    <a:moveTo>
                      <a:pt x="407162" y="0"/>
                    </a:moveTo>
                    <a:lnTo>
                      <a:pt x="353809" y="3481"/>
                    </a:lnTo>
                    <a:lnTo>
                      <a:pt x="301639" y="13816"/>
                    </a:lnTo>
                    <a:lnTo>
                      <a:pt x="251290" y="30834"/>
                    </a:lnTo>
                    <a:lnTo>
                      <a:pt x="203403" y="54368"/>
                    </a:lnTo>
                    <a:lnTo>
                      <a:pt x="159053" y="83981"/>
                    </a:lnTo>
                    <a:lnTo>
                      <a:pt x="119160" y="119027"/>
                    </a:lnTo>
                    <a:lnTo>
                      <a:pt x="84131" y="159003"/>
                    </a:lnTo>
                    <a:lnTo>
                      <a:pt x="54368" y="203403"/>
                    </a:lnTo>
                    <a:lnTo>
                      <a:pt x="30834" y="251285"/>
                    </a:lnTo>
                    <a:lnTo>
                      <a:pt x="13816" y="301594"/>
                    </a:lnTo>
                    <a:lnTo>
                      <a:pt x="3481" y="353659"/>
                    </a:lnTo>
                    <a:lnTo>
                      <a:pt x="0" y="406806"/>
                    </a:lnTo>
                    <a:lnTo>
                      <a:pt x="3481" y="459947"/>
                    </a:lnTo>
                    <a:lnTo>
                      <a:pt x="13816" y="512013"/>
                    </a:lnTo>
                    <a:lnTo>
                      <a:pt x="30834" y="562325"/>
                    </a:lnTo>
                    <a:lnTo>
                      <a:pt x="54368" y="610209"/>
                    </a:lnTo>
                    <a:lnTo>
                      <a:pt x="84131" y="654604"/>
                    </a:lnTo>
                    <a:lnTo>
                      <a:pt x="119160" y="694580"/>
                    </a:lnTo>
                    <a:lnTo>
                      <a:pt x="159053" y="729629"/>
                    </a:lnTo>
                    <a:lnTo>
                      <a:pt x="203403" y="759244"/>
                    </a:lnTo>
                    <a:lnTo>
                      <a:pt x="251290" y="782828"/>
                    </a:lnTo>
                    <a:lnTo>
                      <a:pt x="301639" y="799969"/>
                    </a:lnTo>
                    <a:lnTo>
                      <a:pt x="353809" y="810429"/>
                    </a:lnTo>
                    <a:lnTo>
                      <a:pt x="407162" y="813968"/>
                    </a:lnTo>
                    <a:lnTo>
                      <a:pt x="460308" y="810429"/>
                    </a:lnTo>
                    <a:lnTo>
                      <a:pt x="512373" y="799969"/>
                    </a:lnTo>
                    <a:lnTo>
                      <a:pt x="562683" y="782828"/>
                    </a:lnTo>
                    <a:lnTo>
                      <a:pt x="610565" y="759244"/>
                    </a:lnTo>
                    <a:lnTo>
                      <a:pt x="654915" y="729629"/>
                    </a:lnTo>
                    <a:lnTo>
                      <a:pt x="694807" y="694580"/>
                    </a:lnTo>
                    <a:lnTo>
                      <a:pt x="729837" y="654604"/>
                    </a:lnTo>
                    <a:lnTo>
                      <a:pt x="759599" y="610209"/>
                    </a:lnTo>
                    <a:lnTo>
                      <a:pt x="783134" y="562325"/>
                    </a:lnTo>
                    <a:lnTo>
                      <a:pt x="800152" y="512013"/>
                    </a:lnTo>
                    <a:lnTo>
                      <a:pt x="810486" y="459947"/>
                    </a:lnTo>
                    <a:lnTo>
                      <a:pt x="813968" y="406806"/>
                    </a:lnTo>
                    <a:lnTo>
                      <a:pt x="810486" y="353659"/>
                    </a:lnTo>
                    <a:lnTo>
                      <a:pt x="800152" y="301594"/>
                    </a:lnTo>
                    <a:lnTo>
                      <a:pt x="783134" y="251285"/>
                    </a:lnTo>
                    <a:lnTo>
                      <a:pt x="759599" y="203403"/>
                    </a:lnTo>
                    <a:lnTo>
                      <a:pt x="729837" y="159003"/>
                    </a:lnTo>
                    <a:lnTo>
                      <a:pt x="694807" y="119027"/>
                    </a:lnTo>
                    <a:lnTo>
                      <a:pt x="654915" y="83981"/>
                    </a:lnTo>
                    <a:lnTo>
                      <a:pt x="610565" y="54368"/>
                    </a:lnTo>
                    <a:lnTo>
                      <a:pt x="562683" y="30834"/>
                    </a:lnTo>
                    <a:lnTo>
                      <a:pt x="512373" y="13816"/>
                    </a:lnTo>
                    <a:lnTo>
                      <a:pt x="460308" y="3481"/>
                    </a:lnTo>
                    <a:lnTo>
                      <a:pt x="407162" y="0"/>
                    </a:lnTo>
                    <a:close/>
                  </a:path>
                </a:pathLst>
              </a:custGeom>
              <a:solidFill>
                <a:srgbClr val="296D6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4268774" y="1930590"/>
              <a:ext cx="195580" cy="3917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2400" b="1" spc="-50">
                  <a:solidFill>
                    <a:srgbClr val="FFFFFF"/>
                  </a:solidFill>
                  <a:latin typeface="Arial"/>
                  <a:cs typeface="Arial"/>
                </a:rPr>
                <a:t>2</a:t>
              </a:r>
              <a:endParaRPr lang="es-ES" sz="2400"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3667582" y="2604847"/>
              <a:ext cx="1395095" cy="728980"/>
            </a:xfrm>
            <a:prstGeom prst="rect">
              <a:avLst/>
            </a:prstGeom>
          </p:spPr>
          <p:txBody>
            <a:bodyPr vert="horz" wrap="square" lIns="0" tIns="12763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5"/>
                </a:spcBef>
              </a:pPr>
              <a:r>
                <a:rPr lang="es-ES" sz="2000" b="1" spc="-10">
                  <a:solidFill>
                    <a:srgbClr val="296D6F"/>
                  </a:solidFill>
                  <a:latin typeface="Arial"/>
                  <a:cs typeface="Arial"/>
                </a:rPr>
                <a:t>Segmentos</a:t>
              </a:r>
              <a:endParaRPr lang="es-ES" sz="2000">
                <a:latin typeface="Arial"/>
                <a:cs typeface="Arial"/>
              </a:endParaRPr>
            </a:p>
            <a:p>
              <a:pPr marL="2540" algn="ctr">
                <a:lnSpc>
                  <a:spcPct val="100000"/>
                </a:lnSpc>
                <a:spcBef>
                  <a:spcPts val="615"/>
                </a:spcBef>
              </a:pPr>
              <a:r>
                <a:rPr lang="es-ES" sz="1350" b="1">
                  <a:solidFill>
                    <a:srgbClr val="64726B"/>
                  </a:solidFill>
                  <a:latin typeface="Arial"/>
                  <a:cs typeface="Arial"/>
                </a:rPr>
                <a:t>100</a:t>
              </a:r>
              <a:r>
                <a:rPr lang="es-ES" sz="1350" b="1" spc="-25">
                  <a:solidFill>
                    <a:srgbClr val="64726B"/>
                  </a:solidFill>
                  <a:latin typeface="Arial"/>
                  <a:cs typeface="Arial"/>
                </a:rPr>
                <a:t> </a:t>
              </a:r>
              <a:r>
                <a:rPr lang="es-ES" sz="1350" b="1" spc="-50">
                  <a:solidFill>
                    <a:srgbClr val="64726B"/>
                  </a:solidFill>
                  <a:latin typeface="Arial"/>
                  <a:cs typeface="Arial"/>
                </a:rPr>
                <a:t>m</a:t>
              </a:r>
              <a:endParaRPr lang="es-ES" sz="1350">
                <a:latin typeface="Arial"/>
                <a:cs typeface="Aria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3501974" y="3552380"/>
              <a:ext cx="1729739" cy="92773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10"/>
                </a:spcBef>
              </a:pP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Resumen</a:t>
              </a:r>
              <a:r>
                <a:rPr lang="es-MX" sz="1350" spc="-3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de</a:t>
              </a:r>
              <a:r>
                <a:rPr lang="es-MX" sz="1350" spc="-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terreno</a:t>
              </a:r>
              <a:r>
                <a:rPr lang="es-MX" sz="1350" spc="-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 spc="-50">
                  <a:solidFill>
                    <a:srgbClr val="1F2F28"/>
                  </a:solidFill>
                  <a:latin typeface="Arial"/>
                  <a:cs typeface="Arial"/>
                </a:rPr>
                <a:t>y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vegetación</a:t>
              </a:r>
              <a:r>
                <a:rPr lang="es-MX" sz="1350" spc="-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a</a:t>
              </a:r>
              <a:r>
                <a:rPr lang="es-MX" sz="1350" spc="-2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lo</a:t>
              </a:r>
              <a:r>
                <a:rPr lang="es-MX" sz="1350" spc="-20">
                  <a:solidFill>
                    <a:srgbClr val="1F2F28"/>
                  </a:solidFill>
                  <a:latin typeface="Arial"/>
                  <a:cs typeface="Arial"/>
                </a:rPr>
                <a:t> largo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de</a:t>
              </a:r>
              <a:r>
                <a:rPr lang="es-MX" sz="1350" spc="-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una</a:t>
              </a:r>
              <a:r>
                <a:rPr lang="es-MX" sz="1350" spc="-10">
                  <a:solidFill>
                    <a:srgbClr val="1F2F28"/>
                  </a:solidFill>
                  <a:latin typeface="Arial"/>
                  <a:cs typeface="Arial"/>
                </a:rPr>
                <a:t> traza.</a:t>
              </a:r>
              <a:endParaRPr lang="es-MX" sz="1350"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855"/>
                </a:spcBef>
              </a:pPr>
              <a:r>
                <a:rPr lang="es-MX" sz="1150" b="1">
                  <a:solidFill>
                    <a:srgbClr val="296D6F"/>
                  </a:solidFill>
                  <a:latin typeface="Arial"/>
                  <a:cs typeface="Arial"/>
                </a:rPr>
                <a:t>3.872</a:t>
              </a:r>
              <a:r>
                <a:rPr lang="es-MX" sz="1150" b="1" spc="-30">
                  <a:solidFill>
                    <a:srgbClr val="296D6F"/>
                  </a:solidFill>
                  <a:latin typeface="Arial"/>
                  <a:cs typeface="Arial"/>
                </a:rPr>
                <a:t> </a:t>
              </a:r>
              <a:r>
                <a:rPr lang="es-MX" sz="1150" b="1" spc="-10">
                  <a:solidFill>
                    <a:srgbClr val="296D6F"/>
                  </a:solidFill>
                  <a:latin typeface="Arial"/>
                  <a:cs typeface="Arial"/>
                </a:rPr>
                <a:t>operacionales</a:t>
              </a:r>
              <a:endParaRPr lang="es-MX" sz="1150">
                <a:latin typeface="Arial"/>
                <a:cs typeface="Arial"/>
              </a:endParaRPr>
            </a:p>
          </p:txBody>
        </p:sp>
        <p:grpSp>
          <p:nvGrpSpPr>
            <p:cNvPr id="22" name="object 22"/>
            <p:cNvGrpSpPr/>
            <p:nvPr/>
          </p:nvGrpSpPr>
          <p:grpSpPr>
            <a:xfrm>
              <a:off x="5559475" y="2979724"/>
              <a:ext cx="128270" cy="76200"/>
              <a:chOff x="5559475" y="2979724"/>
              <a:chExt cx="128270" cy="76200"/>
            </a:xfrm>
          </p:grpSpPr>
          <p:sp>
            <p:nvSpPr>
              <p:cNvPr id="23" name="object 23"/>
              <p:cNvSpPr/>
              <p:nvPr/>
            </p:nvSpPr>
            <p:spPr>
              <a:xfrm>
                <a:off x="5559475" y="3017519"/>
                <a:ext cx="577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57785">
                    <a:moveTo>
                      <a:pt x="0" y="0"/>
                    </a:moveTo>
                    <a:lnTo>
                      <a:pt x="57238" y="0"/>
                    </a:lnTo>
                  </a:path>
                </a:pathLst>
              </a:custGeom>
              <a:ln w="23039">
                <a:solidFill>
                  <a:srgbClr val="C3862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5611685" y="2979724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0" y="75590"/>
                    </a:lnTo>
                    <a:lnTo>
                      <a:pt x="75590" y="38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862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5" name="object 25"/>
            <p:cNvGrpSpPr/>
            <p:nvPr/>
          </p:nvGrpSpPr>
          <p:grpSpPr>
            <a:xfrm>
              <a:off x="5754420" y="1438020"/>
              <a:ext cx="2252980" cy="3148965"/>
              <a:chOff x="5754420" y="1438020"/>
              <a:chExt cx="2252980" cy="3148965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26" name="object 26"/>
              <p:cNvSpPr/>
              <p:nvPr/>
            </p:nvSpPr>
            <p:spPr>
              <a:xfrm>
                <a:off x="5760719" y="1444320"/>
                <a:ext cx="2240280" cy="3136900"/>
              </a:xfrm>
              <a:custGeom>
                <a:avLst/>
                <a:gdLst/>
                <a:ahLst/>
                <a:cxnLst/>
                <a:rect l="l" t="t" r="r" b="b"/>
                <a:pathLst>
                  <a:path w="2240279" h="3136900">
                    <a:moveTo>
                      <a:pt x="2166835" y="0"/>
                    </a:moveTo>
                    <a:lnTo>
                      <a:pt x="73075" y="0"/>
                    </a:lnTo>
                    <a:lnTo>
                      <a:pt x="63599" y="607"/>
                    </a:lnTo>
                    <a:lnTo>
                      <a:pt x="21428" y="21467"/>
                    </a:lnTo>
                    <a:lnTo>
                      <a:pt x="607" y="63443"/>
                    </a:lnTo>
                    <a:lnTo>
                      <a:pt x="0" y="73075"/>
                    </a:lnTo>
                    <a:lnTo>
                      <a:pt x="0" y="3063240"/>
                    </a:lnTo>
                    <a:lnTo>
                      <a:pt x="594" y="3072516"/>
                    </a:lnTo>
                    <a:lnTo>
                      <a:pt x="607" y="3072718"/>
                    </a:lnTo>
                    <a:lnTo>
                      <a:pt x="2393" y="3081913"/>
                    </a:lnTo>
                    <a:lnTo>
                      <a:pt x="2428" y="3082096"/>
                    </a:lnTo>
                    <a:lnTo>
                      <a:pt x="5410" y="3090975"/>
                    </a:lnTo>
                    <a:lnTo>
                      <a:pt x="36360" y="3126600"/>
                    </a:lnTo>
                    <a:lnTo>
                      <a:pt x="73075" y="3136315"/>
                    </a:lnTo>
                    <a:lnTo>
                      <a:pt x="2167204" y="3135960"/>
                    </a:lnTo>
                    <a:lnTo>
                      <a:pt x="2211574" y="3120861"/>
                    </a:lnTo>
                    <a:lnTo>
                      <a:pt x="2237789" y="3082096"/>
                    </a:lnTo>
                    <a:lnTo>
                      <a:pt x="2237851" y="3081913"/>
                    </a:lnTo>
                    <a:lnTo>
                      <a:pt x="2239633" y="3072718"/>
                    </a:lnTo>
                    <a:lnTo>
                      <a:pt x="2239672" y="3072516"/>
                    </a:lnTo>
                    <a:lnTo>
                      <a:pt x="2240257" y="3063240"/>
                    </a:lnTo>
                    <a:lnTo>
                      <a:pt x="2239924" y="73075"/>
                    </a:lnTo>
                    <a:lnTo>
                      <a:pt x="2224820" y="28705"/>
                    </a:lnTo>
                    <a:lnTo>
                      <a:pt x="2185876" y="2428"/>
                    </a:lnTo>
                    <a:lnTo>
                      <a:pt x="2176475" y="607"/>
                    </a:lnTo>
                    <a:lnTo>
                      <a:pt x="2166835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5760719" y="1444320"/>
                <a:ext cx="2240280" cy="3136900"/>
              </a:xfrm>
              <a:custGeom>
                <a:avLst/>
                <a:gdLst/>
                <a:ahLst/>
                <a:cxnLst/>
                <a:rect l="l" t="t" r="r" b="b"/>
                <a:pathLst>
                  <a:path w="2240279" h="3136900">
                    <a:moveTo>
                      <a:pt x="0" y="73075"/>
                    </a:moveTo>
                    <a:lnTo>
                      <a:pt x="607" y="63443"/>
                    </a:lnTo>
                    <a:lnTo>
                      <a:pt x="2428" y="54046"/>
                    </a:lnTo>
                    <a:lnTo>
                      <a:pt x="28705" y="15098"/>
                    </a:lnTo>
                    <a:lnTo>
                      <a:pt x="73075" y="0"/>
                    </a:lnTo>
                    <a:lnTo>
                      <a:pt x="2166835" y="0"/>
                    </a:lnTo>
                    <a:lnTo>
                      <a:pt x="2211368" y="15104"/>
                    </a:lnTo>
                    <a:lnTo>
                      <a:pt x="2237493" y="54224"/>
                    </a:lnTo>
                    <a:lnTo>
                      <a:pt x="2239924" y="73075"/>
                    </a:lnTo>
                    <a:lnTo>
                      <a:pt x="2240279" y="3062884"/>
                    </a:lnTo>
                    <a:lnTo>
                      <a:pt x="2239672" y="3072516"/>
                    </a:lnTo>
                    <a:lnTo>
                      <a:pt x="2237851" y="3081913"/>
                    </a:lnTo>
                    <a:lnTo>
                      <a:pt x="2211574" y="3120861"/>
                    </a:lnTo>
                    <a:lnTo>
                      <a:pt x="2167204" y="3135960"/>
                    </a:lnTo>
                    <a:lnTo>
                      <a:pt x="73075" y="3136315"/>
                    </a:lnTo>
                    <a:lnTo>
                      <a:pt x="28555" y="3121218"/>
                    </a:lnTo>
                    <a:lnTo>
                      <a:pt x="2428" y="3082096"/>
                    </a:lnTo>
                    <a:lnTo>
                      <a:pt x="0" y="3063240"/>
                    </a:lnTo>
                    <a:lnTo>
                      <a:pt x="0" y="73075"/>
                    </a:lnTo>
                    <a:close/>
                  </a:path>
                </a:pathLst>
              </a:custGeom>
              <a:ln w="12599">
                <a:solidFill>
                  <a:srgbClr val="1D493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6473875" y="1718995"/>
                <a:ext cx="814069" cy="814069"/>
              </a:xfrm>
              <a:custGeom>
                <a:avLst/>
                <a:gdLst/>
                <a:ahLst/>
                <a:cxnLst/>
                <a:rect l="l" t="t" r="r" b="b"/>
                <a:pathLst>
                  <a:path w="814070" h="814069">
                    <a:moveTo>
                      <a:pt x="407161" y="0"/>
                    </a:moveTo>
                    <a:lnTo>
                      <a:pt x="353809" y="3481"/>
                    </a:lnTo>
                    <a:lnTo>
                      <a:pt x="301639" y="13816"/>
                    </a:lnTo>
                    <a:lnTo>
                      <a:pt x="251290" y="30834"/>
                    </a:lnTo>
                    <a:lnTo>
                      <a:pt x="203403" y="54368"/>
                    </a:lnTo>
                    <a:lnTo>
                      <a:pt x="159053" y="83981"/>
                    </a:lnTo>
                    <a:lnTo>
                      <a:pt x="119160" y="119027"/>
                    </a:lnTo>
                    <a:lnTo>
                      <a:pt x="84131" y="159003"/>
                    </a:lnTo>
                    <a:lnTo>
                      <a:pt x="54368" y="203403"/>
                    </a:lnTo>
                    <a:lnTo>
                      <a:pt x="30834" y="251285"/>
                    </a:lnTo>
                    <a:lnTo>
                      <a:pt x="13816" y="301594"/>
                    </a:lnTo>
                    <a:lnTo>
                      <a:pt x="3481" y="353659"/>
                    </a:lnTo>
                    <a:lnTo>
                      <a:pt x="0" y="406806"/>
                    </a:lnTo>
                    <a:lnTo>
                      <a:pt x="3481" y="459947"/>
                    </a:lnTo>
                    <a:lnTo>
                      <a:pt x="13816" y="512013"/>
                    </a:lnTo>
                    <a:lnTo>
                      <a:pt x="30834" y="562325"/>
                    </a:lnTo>
                    <a:lnTo>
                      <a:pt x="54368" y="610209"/>
                    </a:lnTo>
                    <a:lnTo>
                      <a:pt x="84131" y="654604"/>
                    </a:lnTo>
                    <a:lnTo>
                      <a:pt x="119160" y="694580"/>
                    </a:lnTo>
                    <a:lnTo>
                      <a:pt x="159053" y="729629"/>
                    </a:lnTo>
                    <a:lnTo>
                      <a:pt x="203403" y="759244"/>
                    </a:lnTo>
                    <a:lnTo>
                      <a:pt x="251290" y="782828"/>
                    </a:lnTo>
                    <a:lnTo>
                      <a:pt x="301639" y="799969"/>
                    </a:lnTo>
                    <a:lnTo>
                      <a:pt x="353809" y="810429"/>
                    </a:lnTo>
                    <a:lnTo>
                      <a:pt x="407161" y="813968"/>
                    </a:lnTo>
                    <a:lnTo>
                      <a:pt x="460308" y="810429"/>
                    </a:lnTo>
                    <a:lnTo>
                      <a:pt x="512373" y="799969"/>
                    </a:lnTo>
                    <a:lnTo>
                      <a:pt x="562683" y="782828"/>
                    </a:lnTo>
                    <a:lnTo>
                      <a:pt x="610565" y="759244"/>
                    </a:lnTo>
                    <a:lnTo>
                      <a:pt x="654915" y="729629"/>
                    </a:lnTo>
                    <a:lnTo>
                      <a:pt x="694807" y="694580"/>
                    </a:lnTo>
                    <a:lnTo>
                      <a:pt x="729837" y="654604"/>
                    </a:lnTo>
                    <a:lnTo>
                      <a:pt x="759599" y="610209"/>
                    </a:lnTo>
                    <a:lnTo>
                      <a:pt x="783134" y="562325"/>
                    </a:lnTo>
                    <a:lnTo>
                      <a:pt x="800152" y="512013"/>
                    </a:lnTo>
                    <a:lnTo>
                      <a:pt x="810486" y="459947"/>
                    </a:lnTo>
                    <a:lnTo>
                      <a:pt x="813968" y="406806"/>
                    </a:lnTo>
                    <a:lnTo>
                      <a:pt x="810486" y="353659"/>
                    </a:lnTo>
                    <a:lnTo>
                      <a:pt x="800152" y="301594"/>
                    </a:lnTo>
                    <a:lnTo>
                      <a:pt x="783134" y="251285"/>
                    </a:lnTo>
                    <a:lnTo>
                      <a:pt x="759599" y="203403"/>
                    </a:lnTo>
                    <a:lnTo>
                      <a:pt x="729837" y="159003"/>
                    </a:lnTo>
                    <a:lnTo>
                      <a:pt x="694807" y="119027"/>
                    </a:lnTo>
                    <a:lnTo>
                      <a:pt x="654915" y="83981"/>
                    </a:lnTo>
                    <a:lnTo>
                      <a:pt x="610565" y="54368"/>
                    </a:lnTo>
                    <a:lnTo>
                      <a:pt x="562683" y="30834"/>
                    </a:lnTo>
                    <a:lnTo>
                      <a:pt x="512373" y="13816"/>
                    </a:lnTo>
                    <a:lnTo>
                      <a:pt x="460308" y="3481"/>
                    </a:lnTo>
                    <a:lnTo>
                      <a:pt x="407161" y="0"/>
                    </a:lnTo>
                    <a:close/>
                  </a:path>
                </a:pathLst>
              </a:custGeom>
              <a:solidFill>
                <a:srgbClr val="1D493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6783375" y="1930590"/>
              <a:ext cx="195580" cy="3917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2400" b="1" spc="-50">
                  <a:solidFill>
                    <a:srgbClr val="FFFFFF"/>
                  </a:solidFill>
                  <a:latin typeface="Arial"/>
                  <a:cs typeface="Arial"/>
                </a:rPr>
                <a:t>3</a:t>
              </a:r>
              <a:endParaRPr lang="es-ES" sz="2400">
                <a:latin typeface="Arial"/>
                <a:cs typeface="Arial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6019456" y="2604847"/>
              <a:ext cx="1722755" cy="728980"/>
            </a:xfrm>
            <a:prstGeom prst="rect">
              <a:avLst/>
            </a:prstGeom>
          </p:spPr>
          <p:txBody>
            <a:bodyPr vert="horz" wrap="square" lIns="0" tIns="12763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5"/>
                </a:spcBef>
              </a:pPr>
              <a:r>
                <a:rPr lang="es-ES" sz="2000" b="1" spc="-10">
                  <a:solidFill>
                    <a:srgbClr val="1D4938"/>
                  </a:solidFill>
                  <a:latin typeface="Arial"/>
                  <a:cs typeface="Arial"/>
                </a:rPr>
                <a:t>Gránulos</a:t>
              </a:r>
              <a:endParaRPr lang="es-ES" sz="2000"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r>
                <a:rPr lang="es-ES" sz="1350" b="1">
                  <a:solidFill>
                    <a:srgbClr val="64726B"/>
                  </a:solidFill>
                  <a:latin typeface="Arial"/>
                  <a:cs typeface="Arial"/>
                </a:rPr>
                <a:t>archivo</a:t>
              </a:r>
              <a:r>
                <a:rPr lang="es-ES" sz="1350" b="1" spc="-40">
                  <a:solidFill>
                    <a:srgbClr val="64726B"/>
                  </a:solidFill>
                  <a:latin typeface="Arial"/>
                  <a:cs typeface="Arial"/>
                </a:rPr>
                <a:t> </a:t>
              </a:r>
              <a:r>
                <a:rPr lang="es-ES" sz="1350" b="1">
                  <a:solidFill>
                    <a:srgbClr val="64726B"/>
                  </a:solidFill>
                  <a:latin typeface="Arial"/>
                  <a:cs typeface="Arial"/>
                </a:rPr>
                <a:t>/</a:t>
              </a:r>
              <a:r>
                <a:rPr lang="es-ES" sz="1350" b="1" spc="-40">
                  <a:solidFill>
                    <a:srgbClr val="64726B"/>
                  </a:solidFill>
                  <a:latin typeface="Arial"/>
                  <a:cs typeface="Arial"/>
                </a:rPr>
                <a:t> </a:t>
              </a:r>
              <a:r>
                <a:rPr lang="es-ES" sz="1350" b="1" spc="-10">
                  <a:solidFill>
                    <a:srgbClr val="64726B"/>
                  </a:solidFill>
                  <a:latin typeface="Arial"/>
                  <a:cs typeface="Arial"/>
                </a:rPr>
                <a:t>adquisición</a:t>
              </a:r>
              <a:endParaRPr lang="es-ES" sz="1350">
                <a:latin typeface="Arial"/>
                <a:cs typeface="Aria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6246253" y="3546614"/>
              <a:ext cx="1271270" cy="21287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300">
                  <a:solidFill>
                    <a:srgbClr val="1F2F28"/>
                  </a:solidFill>
                  <a:latin typeface="Arial"/>
                  <a:cs typeface="Arial"/>
                </a:rPr>
                <a:t>Agrupan</a:t>
              </a:r>
              <a:r>
                <a:rPr lang="es-ES" sz="1300" spc="-8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ES" sz="1300" spc="-10">
                  <a:solidFill>
                    <a:srgbClr val="1F2F28"/>
                  </a:solidFill>
                  <a:latin typeface="Arial"/>
                  <a:cs typeface="Arial"/>
                </a:rPr>
                <a:t>muchos</a:t>
              </a:r>
              <a:endParaRPr lang="es-ES" sz="1300">
                <a:latin typeface="Arial"/>
                <a:cs typeface="Arial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6118097" y="3705377"/>
              <a:ext cx="1527175" cy="38290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ts val="1405"/>
                </a:lnSpc>
                <a:spcBef>
                  <a:spcPts val="100"/>
                </a:spcBef>
              </a:pPr>
              <a:r>
                <a:rPr lang="es-ES" sz="1300" spc="-10">
                  <a:solidFill>
                    <a:srgbClr val="1F2F28"/>
                  </a:solidFill>
                  <a:latin typeface="Arial"/>
                  <a:cs typeface="Arial"/>
                </a:rPr>
                <a:t>segmentos</a:t>
              </a:r>
              <a:endParaRPr lang="es-ES" sz="1300">
                <a:latin typeface="Arial"/>
                <a:cs typeface="Arial"/>
              </a:endParaRPr>
            </a:p>
            <a:p>
              <a:pPr algn="ctr">
                <a:lnSpc>
                  <a:spcPts val="1405"/>
                </a:lnSpc>
                <a:tabLst>
                  <a:tab pos="1189990" algn="l"/>
                </a:tabLst>
              </a:pPr>
              <a:r>
                <a:rPr lang="es-ES" sz="1300" spc="-25">
                  <a:solidFill>
                    <a:srgbClr val="1F2F28"/>
                  </a:solidFill>
                  <a:latin typeface="Arial"/>
                  <a:cs typeface="Arial"/>
                </a:rPr>
                <a:t>com</a:t>
              </a:r>
              <a:r>
                <a:rPr lang="es-ES" sz="1300">
                  <a:solidFill>
                    <a:srgbClr val="1F2F28"/>
                  </a:solidFill>
                  <a:latin typeface="Arial"/>
                  <a:cs typeface="Arial"/>
                </a:rPr>
                <a:t>	</a:t>
              </a:r>
              <a:r>
                <a:rPr lang="es-ES" sz="1300" spc="-10">
                  <a:solidFill>
                    <a:srgbClr val="1F2F28"/>
                  </a:solidFill>
                  <a:latin typeface="Arial"/>
                  <a:cs typeface="Arial"/>
                </a:rPr>
                <a:t>bita,</a:t>
              </a:r>
              <a:endParaRPr lang="es-ES" sz="1300">
                <a:latin typeface="Arial"/>
                <a:cs typeface="Arial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122415" y="3864140"/>
              <a:ext cx="1518285" cy="382905"/>
            </a:xfrm>
            <a:prstGeom prst="rect">
              <a:avLst/>
            </a:prstGeom>
          </p:spPr>
          <p:txBody>
            <a:bodyPr vert="horz" wrap="square" lIns="0" tIns="50800" rIns="0" bIns="0" rtlCol="0">
              <a:spAutoFit/>
            </a:bodyPr>
            <a:lstStyle/>
            <a:p>
              <a:pPr marL="12700" marR="5080" indent="306070">
                <a:lnSpc>
                  <a:spcPts val="1250"/>
                </a:lnSpc>
                <a:spcBef>
                  <a:spcPts val="400"/>
                </a:spcBef>
              </a:pPr>
              <a:r>
                <a:rPr lang="es-MX" sz="1300" spc="-10">
                  <a:solidFill>
                    <a:srgbClr val="1F2F28"/>
                  </a:solidFill>
                  <a:latin typeface="Arial"/>
                  <a:cs typeface="Arial"/>
                </a:rPr>
                <a:t>partiendo</a:t>
              </a:r>
              <a:r>
                <a:rPr lang="es-MX" sz="1300" spc="-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00" spc="-25">
                  <a:solidFill>
                    <a:srgbClr val="1F2F28"/>
                  </a:solidFill>
                  <a:latin typeface="Arial"/>
                  <a:cs typeface="Arial"/>
                </a:rPr>
                <a:t>ór </a:t>
              </a:r>
              <a:r>
                <a:rPr lang="es-MX" sz="1300">
                  <a:solidFill>
                    <a:srgbClr val="1F2F28"/>
                  </a:solidFill>
                  <a:latin typeface="Arial"/>
                  <a:cs typeface="Arial"/>
                </a:rPr>
                <a:t>fecha</a:t>
              </a:r>
              <a:r>
                <a:rPr lang="es-MX" sz="1300" spc="-3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00">
                  <a:solidFill>
                    <a:srgbClr val="1F2F28"/>
                  </a:solidFill>
                  <a:latin typeface="Arial"/>
                  <a:cs typeface="Arial"/>
                </a:rPr>
                <a:t>y</a:t>
              </a:r>
              <a:r>
                <a:rPr lang="es-MX" sz="1300" spc="-3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00" spc="-10">
                  <a:solidFill>
                    <a:srgbClr val="1F2F28"/>
                  </a:solidFill>
                  <a:latin typeface="Arial"/>
                  <a:cs typeface="Arial"/>
                </a:rPr>
                <a:t>condiciones.</a:t>
              </a:r>
              <a:endParaRPr lang="es-MX" sz="1300">
                <a:latin typeface="Arial"/>
                <a:cs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6274701" y="4279214"/>
              <a:ext cx="1211580" cy="18979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150" b="1">
                  <a:solidFill>
                    <a:srgbClr val="1D4938"/>
                  </a:solidFill>
                  <a:latin typeface="Arial"/>
                  <a:cs typeface="Arial"/>
                </a:rPr>
                <a:t>46</a:t>
              </a:r>
              <a:r>
                <a:rPr lang="es-ES" sz="1150" b="1" spc="-10">
                  <a:solidFill>
                    <a:srgbClr val="1D4938"/>
                  </a:solidFill>
                  <a:latin typeface="Arial"/>
                  <a:cs typeface="Arial"/>
                </a:rPr>
                <a:t> operacionales</a:t>
              </a:r>
              <a:endParaRPr lang="es-ES" sz="1150">
                <a:latin typeface="Arial"/>
                <a:cs typeface="Arial"/>
              </a:endParaRPr>
            </a:p>
          </p:txBody>
        </p:sp>
        <p:grpSp>
          <p:nvGrpSpPr>
            <p:cNvPr id="35" name="object 35"/>
            <p:cNvGrpSpPr/>
            <p:nvPr/>
          </p:nvGrpSpPr>
          <p:grpSpPr>
            <a:xfrm>
              <a:off x="8074076" y="2979724"/>
              <a:ext cx="128270" cy="76200"/>
              <a:chOff x="8074076" y="2979724"/>
              <a:chExt cx="128270" cy="76200"/>
            </a:xfrm>
          </p:grpSpPr>
          <p:sp>
            <p:nvSpPr>
              <p:cNvPr id="36" name="object 36"/>
              <p:cNvSpPr/>
              <p:nvPr/>
            </p:nvSpPr>
            <p:spPr>
              <a:xfrm>
                <a:off x="8074076" y="3017519"/>
                <a:ext cx="577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57784">
                    <a:moveTo>
                      <a:pt x="0" y="0"/>
                    </a:moveTo>
                    <a:lnTo>
                      <a:pt x="57238" y="0"/>
                    </a:lnTo>
                  </a:path>
                </a:pathLst>
              </a:custGeom>
              <a:ln w="23039">
                <a:solidFill>
                  <a:srgbClr val="C3862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8126285" y="2979724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0" y="75590"/>
                    </a:lnTo>
                    <a:lnTo>
                      <a:pt x="75590" y="38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862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8" name="object 38"/>
            <p:cNvGrpSpPr/>
            <p:nvPr/>
          </p:nvGrpSpPr>
          <p:grpSpPr>
            <a:xfrm>
              <a:off x="8269020" y="1438020"/>
              <a:ext cx="2252980" cy="3148965"/>
              <a:chOff x="8269020" y="1438020"/>
              <a:chExt cx="2252980" cy="3148965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9" name="object 39"/>
              <p:cNvSpPr/>
              <p:nvPr/>
            </p:nvSpPr>
            <p:spPr>
              <a:xfrm>
                <a:off x="8275319" y="1444320"/>
                <a:ext cx="2240280" cy="3136900"/>
              </a:xfrm>
              <a:custGeom>
                <a:avLst/>
                <a:gdLst/>
                <a:ahLst/>
                <a:cxnLst/>
                <a:rect l="l" t="t" r="r" b="b"/>
                <a:pathLst>
                  <a:path w="2240279" h="3136900">
                    <a:moveTo>
                      <a:pt x="2166835" y="0"/>
                    </a:moveTo>
                    <a:lnTo>
                      <a:pt x="73075" y="0"/>
                    </a:lnTo>
                    <a:lnTo>
                      <a:pt x="63599" y="607"/>
                    </a:lnTo>
                    <a:lnTo>
                      <a:pt x="21428" y="21467"/>
                    </a:lnTo>
                    <a:lnTo>
                      <a:pt x="607" y="63443"/>
                    </a:lnTo>
                    <a:lnTo>
                      <a:pt x="0" y="73075"/>
                    </a:lnTo>
                    <a:lnTo>
                      <a:pt x="0" y="3063240"/>
                    </a:lnTo>
                    <a:lnTo>
                      <a:pt x="594" y="3072516"/>
                    </a:lnTo>
                    <a:lnTo>
                      <a:pt x="607" y="3072718"/>
                    </a:lnTo>
                    <a:lnTo>
                      <a:pt x="2393" y="3081913"/>
                    </a:lnTo>
                    <a:lnTo>
                      <a:pt x="2428" y="3082096"/>
                    </a:lnTo>
                    <a:lnTo>
                      <a:pt x="5410" y="3090975"/>
                    </a:lnTo>
                    <a:lnTo>
                      <a:pt x="36360" y="3126600"/>
                    </a:lnTo>
                    <a:lnTo>
                      <a:pt x="73075" y="3136315"/>
                    </a:lnTo>
                    <a:lnTo>
                      <a:pt x="2167204" y="3135960"/>
                    </a:lnTo>
                    <a:lnTo>
                      <a:pt x="2211574" y="3120861"/>
                    </a:lnTo>
                    <a:lnTo>
                      <a:pt x="2237789" y="3082096"/>
                    </a:lnTo>
                    <a:lnTo>
                      <a:pt x="2237851" y="3081913"/>
                    </a:lnTo>
                    <a:lnTo>
                      <a:pt x="2239633" y="3072718"/>
                    </a:lnTo>
                    <a:lnTo>
                      <a:pt x="2239672" y="3072516"/>
                    </a:lnTo>
                    <a:lnTo>
                      <a:pt x="2240257" y="3063240"/>
                    </a:lnTo>
                    <a:lnTo>
                      <a:pt x="2239924" y="73075"/>
                    </a:lnTo>
                    <a:lnTo>
                      <a:pt x="2224820" y="28705"/>
                    </a:lnTo>
                    <a:lnTo>
                      <a:pt x="2185876" y="2428"/>
                    </a:lnTo>
                    <a:lnTo>
                      <a:pt x="2176475" y="607"/>
                    </a:lnTo>
                    <a:lnTo>
                      <a:pt x="2166835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8275319" y="1444320"/>
                <a:ext cx="2240280" cy="3136900"/>
              </a:xfrm>
              <a:custGeom>
                <a:avLst/>
                <a:gdLst/>
                <a:ahLst/>
                <a:cxnLst/>
                <a:rect l="l" t="t" r="r" b="b"/>
                <a:pathLst>
                  <a:path w="2240279" h="3136900">
                    <a:moveTo>
                      <a:pt x="0" y="73075"/>
                    </a:moveTo>
                    <a:lnTo>
                      <a:pt x="607" y="63443"/>
                    </a:lnTo>
                    <a:lnTo>
                      <a:pt x="2428" y="54046"/>
                    </a:lnTo>
                    <a:lnTo>
                      <a:pt x="28705" y="15098"/>
                    </a:lnTo>
                    <a:lnTo>
                      <a:pt x="73075" y="0"/>
                    </a:lnTo>
                    <a:lnTo>
                      <a:pt x="2166835" y="0"/>
                    </a:lnTo>
                    <a:lnTo>
                      <a:pt x="2211368" y="15104"/>
                    </a:lnTo>
                    <a:lnTo>
                      <a:pt x="2237493" y="54224"/>
                    </a:lnTo>
                    <a:lnTo>
                      <a:pt x="2239924" y="73075"/>
                    </a:lnTo>
                    <a:lnTo>
                      <a:pt x="2240279" y="3062884"/>
                    </a:lnTo>
                    <a:lnTo>
                      <a:pt x="2239672" y="3072516"/>
                    </a:lnTo>
                    <a:lnTo>
                      <a:pt x="2237851" y="3081913"/>
                    </a:lnTo>
                    <a:lnTo>
                      <a:pt x="2211574" y="3120861"/>
                    </a:lnTo>
                    <a:lnTo>
                      <a:pt x="2167204" y="3135960"/>
                    </a:lnTo>
                    <a:lnTo>
                      <a:pt x="73075" y="3136315"/>
                    </a:lnTo>
                    <a:lnTo>
                      <a:pt x="28555" y="3121218"/>
                    </a:lnTo>
                    <a:lnTo>
                      <a:pt x="2428" y="3082096"/>
                    </a:lnTo>
                    <a:lnTo>
                      <a:pt x="0" y="3063240"/>
                    </a:lnTo>
                    <a:lnTo>
                      <a:pt x="0" y="73075"/>
                    </a:lnTo>
                    <a:close/>
                  </a:path>
                </a:pathLst>
              </a:custGeom>
              <a:ln w="12599">
                <a:solidFill>
                  <a:srgbClr val="C3862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8988475" y="1718995"/>
                <a:ext cx="814069" cy="814069"/>
              </a:xfrm>
              <a:custGeom>
                <a:avLst/>
                <a:gdLst/>
                <a:ahLst/>
                <a:cxnLst/>
                <a:rect l="l" t="t" r="r" b="b"/>
                <a:pathLst>
                  <a:path w="814070" h="814069">
                    <a:moveTo>
                      <a:pt x="407161" y="0"/>
                    </a:moveTo>
                    <a:lnTo>
                      <a:pt x="353809" y="3481"/>
                    </a:lnTo>
                    <a:lnTo>
                      <a:pt x="301639" y="13816"/>
                    </a:lnTo>
                    <a:lnTo>
                      <a:pt x="251290" y="30834"/>
                    </a:lnTo>
                    <a:lnTo>
                      <a:pt x="203403" y="54368"/>
                    </a:lnTo>
                    <a:lnTo>
                      <a:pt x="159053" y="83981"/>
                    </a:lnTo>
                    <a:lnTo>
                      <a:pt x="119160" y="119027"/>
                    </a:lnTo>
                    <a:lnTo>
                      <a:pt x="84131" y="159003"/>
                    </a:lnTo>
                    <a:lnTo>
                      <a:pt x="54368" y="203403"/>
                    </a:lnTo>
                    <a:lnTo>
                      <a:pt x="30834" y="251285"/>
                    </a:lnTo>
                    <a:lnTo>
                      <a:pt x="13816" y="301594"/>
                    </a:lnTo>
                    <a:lnTo>
                      <a:pt x="3481" y="353659"/>
                    </a:lnTo>
                    <a:lnTo>
                      <a:pt x="0" y="406806"/>
                    </a:lnTo>
                    <a:lnTo>
                      <a:pt x="3481" y="459947"/>
                    </a:lnTo>
                    <a:lnTo>
                      <a:pt x="13816" y="512013"/>
                    </a:lnTo>
                    <a:lnTo>
                      <a:pt x="30834" y="562325"/>
                    </a:lnTo>
                    <a:lnTo>
                      <a:pt x="54368" y="610209"/>
                    </a:lnTo>
                    <a:lnTo>
                      <a:pt x="84131" y="654604"/>
                    </a:lnTo>
                    <a:lnTo>
                      <a:pt x="119160" y="694580"/>
                    </a:lnTo>
                    <a:lnTo>
                      <a:pt x="159053" y="729629"/>
                    </a:lnTo>
                    <a:lnTo>
                      <a:pt x="203403" y="759244"/>
                    </a:lnTo>
                    <a:lnTo>
                      <a:pt x="251290" y="782828"/>
                    </a:lnTo>
                    <a:lnTo>
                      <a:pt x="301639" y="799969"/>
                    </a:lnTo>
                    <a:lnTo>
                      <a:pt x="353809" y="810429"/>
                    </a:lnTo>
                    <a:lnTo>
                      <a:pt x="407161" y="813968"/>
                    </a:lnTo>
                    <a:lnTo>
                      <a:pt x="460308" y="810429"/>
                    </a:lnTo>
                    <a:lnTo>
                      <a:pt x="512373" y="799969"/>
                    </a:lnTo>
                    <a:lnTo>
                      <a:pt x="562683" y="782828"/>
                    </a:lnTo>
                    <a:lnTo>
                      <a:pt x="610565" y="759244"/>
                    </a:lnTo>
                    <a:lnTo>
                      <a:pt x="654915" y="729629"/>
                    </a:lnTo>
                    <a:lnTo>
                      <a:pt x="694807" y="694580"/>
                    </a:lnTo>
                    <a:lnTo>
                      <a:pt x="729837" y="654604"/>
                    </a:lnTo>
                    <a:lnTo>
                      <a:pt x="759599" y="610209"/>
                    </a:lnTo>
                    <a:lnTo>
                      <a:pt x="783134" y="562325"/>
                    </a:lnTo>
                    <a:lnTo>
                      <a:pt x="800152" y="512013"/>
                    </a:lnTo>
                    <a:lnTo>
                      <a:pt x="810486" y="459947"/>
                    </a:lnTo>
                    <a:lnTo>
                      <a:pt x="813968" y="406806"/>
                    </a:lnTo>
                    <a:lnTo>
                      <a:pt x="810486" y="353659"/>
                    </a:lnTo>
                    <a:lnTo>
                      <a:pt x="800152" y="301594"/>
                    </a:lnTo>
                    <a:lnTo>
                      <a:pt x="783134" y="251285"/>
                    </a:lnTo>
                    <a:lnTo>
                      <a:pt x="759599" y="203403"/>
                    </a:lnTo>
                    <a:lnTo>
                      <a:pt x="729837" y="159003"/>
                    </a:lnTo>
                    <a:lnTo>
                      <a:pt x="694807" y="119027"/>
                    </a:lnTo>
                    <a:lnTo>
                      <a:pt x="654915" y="83981"/>
                    </a:lnTo>
                    <a:lnTo>
                      <a:pt x="610565" y="54368"/>
                    </a:lnTo>
                    <a:lnTo>
                      <a:pt x="562683" y="30834"/>
                    </a:lnTo>
                    <a:lnTo>
                      <a:pt x="512373" y="13816"/>
                    </a:lnTo>
                    <a:lnTo>
                      <a:pt x="460308" y="3481"/>
                    </a:lnTo>
                    <a:lnTo>
                      <a:pt x="407161" y="0"/>
                    </a:lnTo>
                    <a:close/>
                  </a:path>
                </a:pathLst>
              </a:custGeom>
              <a:solidFill>
                <a:srgbClr val="C3862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2" name="object 42"/>
            <p:cNvSpPr txBox="1"/>
            <p:nvPr/>
          </p:nvSpPr>
          <p:spPr>
            <a:xfrm>
              <a:off x="9297975" y="1930590"/>
              <a:ext cx="195580" cy="3917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2400" b="1" spc="-50">
                  <a:solidFill>
                    <a:srgbClr val="FFFFFF"/>
                  </a:solidFill>
                  <a:latin typeface="Arial"/>
                  <a:cs typeface="Arial"/>
                </a:rPr>
                <a:t>4</a:t>
              </a:r>
              <a:endParaRPr lang="es-ES" sz="24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8718740" y="2604847"/>
              <a:ext cx="1353185" cy="728980"/>
            </a:xfrm>
            <a:prstGeom prst="rect">
              <a:avLst/>
            </a:prstGeom>
          </p:spPr>
          <p:txBody>
            <a:bodyPr vert="horz" wrap="square" lIns="0" tIns="12763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5"/>
                </a:spcBef>
              </a:pPr>
              <a:r>
                <a:rPr lang="es-ES" sz="2000" b="1" spc="-25">
                  <a:solidFill>
                    <a:srgbClr val="C3862D"/>
                  </a:solidFill>
                  <a:latin typeface="Arial"/>
                  <a:cs typeface="Arial"/>
                </a:rPr>
                <a:t>AOI</a:t>
              </a:r>
              <a:endParaRPr lang="es-ES" sz="2000"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r>
                <a:rPr lang="es-ES" sz="1350" b="1">
                  <a:solidFill>
                    <a:srgbClr val="64726B"/>
                  </a:solidFill>
                  <a:latin typeface="Arial"/>
                  <a:cs typeface="Arial"/>
                </a:rPr>
                <a:t>Bosque</a:t>
              </a:r>
              <a:r>
                <a:rPr lang="es-ES" sz="1350" b="1" spc="-45">
                  <a:solidFill>
                    <a:srgbClr val="64726B"/>
                  </a:solidFill>
                  <a:latin typeface="Arial"/>
                  <a:cs typeface="Arial"/>
                </a:rPr>
                <a:t> </a:t>
              </a:r>
              <a:r>
                <a:rPr lang="es-ES" sz="1350" b="1">
                  <a:solidFill>
                    <a:srgbClr val="64726B"/>
                  </a:solidFill>
                  <a:latin typeface="Arial"/>
                  <a:cs typeface="Arial"/>
                </a:rPr>
                <a:t>/</a:t>
              </a:r>
              <a:r>
                <a:rPr lang="es-ES" sz="1350" b="1" spc="-45">
                  <a:solidFill>
                    <a:srgbClr val="64726B"/>
                  </a:solidFill>
                  <a:latin typeface="Arial"/>
                  <a:cs typeface="Arial"/>
                </a:rPr>
                <a:t> </a:t>
              </a:r>
              <a:r>
                <a:rPr lang="es-ES" sz="1350" b="1" spc="-10">
                  <a:solidFill>
                    <a:srgbClr val="64726B"/>
                  </a:solidFill>
                  <a:latin typeface="Arial"/>
                  <a:cs typeface="Arial"/>
                </a:rPr>
                <a:t>Estepa</a:t>
              </a:r>
              <a:endParaRPr lang="es-ES" sz="135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8569337" y="3552380"/>
              <a:ext cx="1652905" cy="92773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10"/>
                </a:spcBef>
              </a:pP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Dos</a:t>
              </a:r>
              <a:r>
                <a:rPr lang="es-MX" sz="1350" spc="-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áreas</a:t>
              </a:r>
              <a:r>
                <a:rPr lang="es-MX" sz="1350" spc="-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de</a:t>
              </a:r>
              <a:r>
                <a:rPr lang="es-MX" sz="1350" spc="-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 spc="-10">
                  <a:solidFill>
                    <a:srgbClr val="1F2F28"/>
                  </a:solidFill>
                  <a:latin typeface="Arial"/>
                  <a:cs typeface="Arial"/>
                </a:rPr>
                <a:t>estudio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con</a:t>
              </a:r>
              <a:r>
                <a:rPr lang="es-MX" sz="1350" spc="-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 spc="-10">
                  <a:solidFill>
                    <a:srgbClr val="1F2F28"/>
                  </a:solidFill>
                  <a:latin typeface="Arial"/>
                  <a:cs typeface="Arial"/>
                </a:rPr>
                <a:t>composición </a:t>
              </a:r>
              <a:r>
                <a:rPr lang="es-MX" sz="1350">
                  <a:solidFill>
                    <a:srgbClr val="1F2F28"/>
                  </a:solidFill>
                  <a:latin typeface="Arial"/>
                  <a:cs typeface="Arial"/>
                </a:rPr>
                <a:t>ambiental</a:t>
              </a:r>
              <a:r>
                <a:rPr lang="es-MX" sz="1350" spc="-4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350" spc="-10">
                  <a:solidFill>
                    <a:srgbClr val="1F2F28"/>
                  </a:solidFill>
                  <a:latin typeface="Arial"/>
                  <a:cs typeface="Arial"/>
                </a:rPr>
                <a:t>distinta.</a:t>
              </a:r>
              <a:endParaRPr lang="es-MX" sz="1350"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855"/>
                </a:spcBef>
              </a:pPr>
              <a:r>
                <a:rPr lang="es-MX" sz="1150" b="1">
                  <a:solidFill>
                    <a:srgbClr val="C3862D"/>
                  </a:solidFill>
                  <a:latin typeface="Arial"/>
                  <a:cs typeface="Arial"/>
                </a:rPr>
                <a:t>2</a:t>
              </a:r>
              <a:r>
                <a:rPr lang="es-MX" sz="1150" b="1" spc="-5">
                  <a:solidFill>
                    <a:srgbClr val="C3862D"/>
                  </a:solidFill>
                  <a:latin typeface="Arial"/>
                  <a:cs typeface="Arial"/>
                </a:rPr>
                <a:t> </a:t>
              </a:r>
              <a:r>
                <a:rPr lang="es-MX" sz="1150" b="1" spc="-10">
                  <a:solidFill>
                    <a:srgbClr val="C3862D"/>
                  </a:solidFill>
                  <a:latin typeface="Arial"/>
                  <a:cs typeface="Arial"/>
                </a:rPr>
                <a:t>recintos</a:t>
              </a:r>
              <a:endParaRPr lang="es-MX" sz="1150">
                <a:latin typeface="Arial"/>
                <a:cs typeface="Arial"/>
              </a:endParaRPr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863824" y="5069696"/>
            <a:ext cx="10479405" cy="832485"/>
            <a:chOff x="863824" y="5069696"/>
            <a:chExt cx="10479405" cy="832485"/>
          </a:xfrm>
        </p:grpSpPr>
        <p:sp>
          <p:nvSpPr>
            <p:cNvPr id="46" name="object 46"/>
            <p:cNvSpPr/>
            <p:nvPr/>
          </p:nvSpPr>
          <p:spPr>
            <a:xfrm>
              <a:off x="868324" y="5074196"/>
              <a:ext cx="10470515" cy="823594"/>
            </a:xfrm>
            <a:custGeom>
              <a:avLst/>
              <a:gdLst/>
              <a:ahLst/>
              <a:cxnLst/>
              <a:rect l="l" t="t" r="r" b="b"/>
              <a:pathLst>
                <a:path w="10470515" h="823595">
                  <a:moveTo>
                    <a:pt x="64439" y="0"/>
                  </a:moveTo>
                  <a:lnTo>
                    <a:pt x="25397" y="13364"/>
                  </a:lnTo>
                  <a:lnTo>
                    <a:pt x="2516" y="47520"/>
                  </a:lnTo>
                  <a:lnTo>
                    <a:pt x="0" y="759244"/>
                  </a:lnTo>
                  <a:lnTo>
                    <a:pt x="538" y="767592"/>
                  </a:lnTo>
                  <a:lnTo>
                    <a:pt x="18735" y="804468"/>
                  </a:lnTo>
                  <a:lnTo>
                    <a:pt x="18851" y="804602"/>
                  </a:lnTo>
                  <a:lnTo>
                    <a:pt x="55728" y="822787"/>
                  </a:lnTo>
                  <a:lnTo>
                    <a:pt x="64071" y="823328"/>
                  </a:lnTo>
                  <a:lnTo>
                    <a:pt x="10406151" y="823328"/>
                  </a:lnTo>
                  <a:lnTo>
                    <a:pt x="10445193" y="809963"/>
                  </a:lnTo>
                  <a:lnTo>
                    <a:pt x="10468075" y="775803"/>
                  </a:lnTo>
                  <a:lnTo>
                    <a:pt x="10470235" y="759244"/>
                  </a:lnTo>
                  <a:lnTo>
                    <a:pt x="10470212" y="64084"/>
                  </a:lnTo>
                  <a:lnTo>
                    <a:pt x="10456877" y="25402"/>
                  </a:lnTo>
                  <a:lnTo>
                    <a:pt x="10422715" y="2524"/>
                  </a:lnTo>
                  <a:lnTo>
                    <a:pt x="10406151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68324" y="5074196"/>
              <a:ext cx="10470515" cy="823594"/>
            </a:xfrm>
            <a:custGeom>
              <a:avLst/>
              <a:gdLst/>
              <a:ahLst/>
              <a:cxnLst/>
              <a:rect l="l" t="t" r="r" b="b"/>
              <a:pathLst>
                <a:path w="10470515" h="823595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64"/>
                  </a:lnTo>
                  <a:lnTo>
                    <a:pt x="64439" y="0"/>
                  </a:lnTo>
                  <a:lnTo>
                    <a:pt x="10406151" y="368"/>
                  </a:lnTo>
                  <a:lnTo>
                    <a:pt x="10445143" y="13570"/>
                  </a:lnTo>
                  <a:lnTo>
                    <a:pt x="10468075" y="47885"/>
                  </a:lnTo>
                  <a:lnTo>
                    <a:pt x="10470235" y="64439"/>
                  </a:lnTo>
                  <a:lnTo>
                    <a:pt x="10470235" y="759244"/>
                  </a:lnTo>
                  <a:lnTo>
                    <a:pt x="10469695" y="767592"/>
                  </a:lnTo>
                  <a:lnTo>
                    <a:pt x="10468075" y="775803"/>
                  </a:lnTo>
                  <a:lnTo>
                    <a:pt x="10445193" y="809963"/>
                  </a:lnTo>
                  <a:lnTo>
                    <a:pt x="10406151" y="823328"/>
                  </a:lnTo>
                  <a:lnTo>
                    <a:pt x="64071" y="823328"/>
                  </a:lnTo>
                  <a:lnTo>
                    <a:pt x="25086" y="810113"/>
                  </a:lnTo>
                  <a:lnTo>
                    <a:pt x="2155" y="775803"/>
                  </a:lnTo>
                  <a:lnTo>
                    <a:pt x="0" y="759244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68680" y="5074564"/>
              <a:ext cx="82550" cy="822960"/>
            </a:xfrm>
            <a:custGeom>
              <a:avLst/>
              <a:gdLst/>
              <a:ahLst/>
              <a:cxnLst/>
              <a:rect l="l" t="t" r="r" b="b"/>
              <a:pathLst>
                <a:path w="82550" h="822960">
                  <a:moveTo>
                    <a:pt x="82080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41033" y="822591"/>
                  </a:lnTo>
                  <a:lnTo>
                    <a:pt x="82080" y="822591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522704" y="5235384"/>
            <a:ext cx="9260205" cy="4940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5660" marR="5080" indent="-822960">
              <a:lnSpc>
                <a:spcPct val="101299"/>
              </a:lnSpc>
              <a:spcBef>
                <a:spcPts val="95"/>
              </a:spcBef>
            </a:pP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Miles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mismo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gránulo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son</a:t>
            </a:r>
            <a:r>
              <a:rPr lang="es-MX" sz="1600" b="1" spc="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miles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réplicas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independientes.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10">
                <a:solidFill>
                  <a:srgbClr val="1F2F28"/>
                </a:solidFill>
                <a:latin typeface="Arial"/>
                <a:cs typeface="Arial"/>
              </a:rPr>
              <a:t>inferencia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principal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resume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por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gránulo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para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reducir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dependencia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10">
                <a:solidFill>
                  <a:srgbClr val="1F2F28"/>
                </a:solidFill>
                <a:latin typeface="Arial"/>
                <a:cs typeface="Arial"/>
              </a:rPr>
              <a:t>pseudorreplicación.</a:t>
            </a:r>
            <a:endParaRPr lang="es-MX" sz="1600">
              <a:latin typeface="Arial"/>
              <a:cs typeface="Arial"/>
            </a:endParaRPr>
          </a:p>
        </p:txBody>
      </p:sp>
      <p:sp>
        <p:nvSpPr>
          <p:cNvPr id="55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6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7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18/43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Cadena</a:t>
            </a:r>
            <a:r>
              <a:rPr spc="-60"/>
              <a:t> </a:t>
            </a:r>
            <a:r>
              <a:t>de</a:t>
            </a:r>
            <a:r>
              <a:rPr spc="-60"/>
              <a:t> </a:t>
            </a:r>
            <a:r>
              <a:t>control</a:t>
            </a:r>
            <a:r>
              <a:rPr spc="-55"/>
              <a:t> </a:t>
            </a:r>
            <a:r>
              <a:t>de</a:t>
            </a:r>
            <a:r>
              <a:rPr spc="-60"/>
              <a:t> </a:t>
            </a:r>
            <a:r>
              <a:t>calidad</a:t>
            </a:r>
            <a:r>
              <a:rPr spc="-60"/>
              <a:t> </a:t>
            </a:r>
            <a:r>
              <a:t>y</a:t>
            </a:r>
            <a:r>
              <a:rPr spc="-55"/>
              <a:t> </a:t>
            </a:r>
            <a:r>
              <a:rPr spc="-10"/>
              <a:t>retención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76B7C5B6-7AE1-5B60-F3F2-BA0C829C25FF}"/>
              </a:ext>
            </a:extLst>
          </p:cNvPr>
          <p:cNvGrpSpPr/>
          <p:nvPr/>
        </p:nvGrpSpPr>
        <p:grpSpPr>
          <a:xfrm>
            <a:off x="909168" y="1502104"/>
            <a:ext cx="10373665" cy="4400801"/>
            <a:chOff x="752113" y="1502104"/>
            <a:chExt cx="10373665" cy="4400801"/>
          </a:xfrm>
        </p:grpSpPr>
        <p:grpSp>
          <p:nvGrpSpPr>
            <p:cNvPr id="5" name="object 5"/>
            <p:cNvGrpSpPr/>
            <p:nvPr/>
          </p:nvGrpSpPr>
          <p:grpSpPr>
            <a:xfrm>
              <a:off x="752113" y="1502104"/>
              <a:ext cx="2390140" cy="2847340"/>
              <a:chOff x="706500" y="1502104"/>
              <a:chExt cx="2390140" cy="284734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object 6"/>
              <p:cNvSpPr/>
              <p:nvPr/>
            </p:nvSpPr>
            <p:spPr>
              <a:xfrm>
                <a:off x="712800" y="1508404"/>
                <a:ext cx="2377440" cy="2834640"/>
              </a:xfrm>
              <a:custGeom>
                <a:avLst/>
                <a:gdLst/>
                <a:ahLst/>
                <a:cxnLst/>
                <a:rect l="l" t="t" r="r" b="b"/>
                <a:pathLst>
                  <a:path w="2377440" h="2834640">
                    <a:moveTo>
                      <a:pt x="2303995" y="0"/>
                    </a:moveTo>
                    <a:lnTo>
                      <a:pt x="73075" y="0"/>
                    </a:lnTo>
                    <a:lnTo>
                      <a:pt x="63599" y="607"/>
                    </a:lnTo>
                    <a:lnTo>
                      <a:pt x="21428" y="21458"/>
                    </a:lnTo>
                    <a:lnTo>
                      <a:pt x="607" y="63442"/>
                    </a:lnTo>
                    <a:lnTo>
                      <a:pt x="0" y="73075"/>
                    </a:lnTo>
                    <a:lnTo>
                      <a:pt x="0" y="2761551"/>
                    </a:lnTo>
                    <a:lnTo>
                      <a:pt x="594" y="2770829"/>
                    </a:lnTo>
                    <a:lnTo>
                      <a:pt x="607" y="2771029"/>
                    </a:lnTo>
                    <a:lnTo>
                      <a:pt x="2394" y="2780230"/>
                    </a:lnTo>
                    <a:lnTo>
                      <a:pt x="2428" y="2780407"/>
                    </a:lnTo>
                    <a:lnTo>
                      <a:pt x="5412" y="2789292"/>
                    </a:lnTo>
                    <a:lnTo>
                      <a:pt x="5464" y="2789447"/>
                    </a:lnTo>
                    <a:lnTo>
                      <a:pt x="9715" y="2797911"/>
                    </a:lnTo>
                    <a:lnTo>
                      <a:pt x="44984" y="2829169"/>
                    </a:lnTo>
                    <a:lnTo>
                      <a:pt x="73075" y="2834640"/>
                    </a:lnTo>
                    <a:lnTo>
                      <a:pt x="2304364" y="2834271"/>
                    </a:lnTo>
                    <a:lnTo>
                      <a:pt x="2348734" y="2819180"/>
                    </a:lnTo>
                    <a:lnTo>
                      <a:pt x="2371898" y="2789447"/>
                    </a:lnTo>
                    <a:lnTo>
                      <a:pt x="2371975" y="2789292"/>
                    </a:lnTo>
                    <a:lnTo>
                      <a:pt x="2377440" y="2761195"/>
                    </a:lnTo>
                    <a:lnTo>
                      <a:pt x="2377084" y="73075"/>
                    </a:lnTo>
                    <a:lnTo>
                      <a:pt x="2361980" y="28698"/>
                    </a:lnTo>
                    <a:lnTo>
                      <a:pt x="2323036" y="2428"/>
                    </a:lnTo>
                    <a:lnTo>
                      <a:pt x="2313635" y="607"/>
                    </a:lnTo>
                    <a:lnTo>
                      <a:pt x="2303995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712800" y="1508404"/>
                <a:ext cx="2377440" cy="2834640"/>
              </a:xfrm>
              <a:custGeom>
                <a:avLst/>
                <a:gdLst/>
                <a:ahLst/>
                <a:cxnLst/>
                <a:rect l="l" t="t" r="r" b="b"/>
                <a:pathLst>
                  <a:path w="2377440" h="2834640">
                    <a:moveTo>
                      <a:pt x="0" y="73075"/>
                    </a:moveTo>
                    <a:lnTo>
                      <a:pt x="607" y="63442"/>
                    </a:lnTo>
                    <a:lnTo>
                      <a:pt x="2428" y="54041"/>
                    </a:lnTo>
                    <a:lnTo>
                      <a:pt x="28705" y="15091"/>
                    </a:lnTo>
                    <a:lnTo>
                      <a:pt x="73075" y="0"/>
                    </a:lnTo>
                    <a:lnTo>
                      <a:pt x="2303995" y="0"/>
                    </a:lnTo>
                    <a:lnTo>
                      <a:pt x="2348528" y="15096"/>
                    </a:lnTo>
                    <a:lnTo>
                      <a:pt x="2374653" y="54219"/>
                    </a:lnTo>
                    <a:lnTo>
                      <a:pt x="2377084" y="73075"/>
                    </a:lnTo>
                    <a:lnTo>
                      <a:pt x="2377440" y="2761195"/>
                    </a:lnTo>
                    <a:lnTo>
                      <a:pt x="2376832" y="2770829"/>
                    </a:lnTo>
                    <a:lnTo>
                      <a:pt x="2375011" y="2780230"/>
                    </a:lnTo>
                    <a:lnTo>
                      <a:pt x="2348734" y="2819180"/>
                    </a:lnTo>
                    <a:lnTo>
                      <a:pt x="2304364" y="2834271"/>
                    </a:lnTo>
                    <a:lnTo>
                      <a:pt x="73075" y="2834640"/>
                    </a:lnTo>
                    <a:lnTo>
                      <a:pt x="28555" y="2819530"/>
                    </a:lnTo>
                    <a:lnTo>
                      <a:pt x="2428" y="2780407"/>
                    </a:lnTo>
                    <a:lnTo>
                      <a:pt x="0" y="2761551"/>
                    </a:lnTo>
                    <a:lnTo>
                      <a:pt x="0" y="73075"/>
                    </a:lnTo>
                    <a:close/>
                  </a:path>
                </a:pathLst>
              </a:custGeom>
              <a:ln w="12599">
                <a:solidFill>
                  <a:srgbClr val="173A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877315" y="1682280"/>
                <a:ext cx="365760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365759" h="365760">
                    <a:moveTo>
                      <a:pt x="365404" y="0"/>
                    </a:moveTo>
                    <a:lnTo>
                      <a:pt x="0" y="0"/>
                    </a:lnTo>
                    <a:lnTo>
                      <a:pt x="0" y="365404"/>
                    </a:lnTo>
                    <a:lnTo>
                      <a:pt x="182880" y="365404"/>
                    </a:lnTo>
                    <a:lnTo>
                      <a:pt x="365404" y="365404"/>
                    </a:lnTo>
                    <a:lnTo>
                      <a:pt x="365404" y="0"/>
                    </a:lnTo>
                    <a:close/>
                  </a:path>
                </a:pathLst>
              </a:custGeom>
              <a:solidFill>
                <a:srgbClr val="173A5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" name="object 9"/>
            <p:cNvSpPr txBox="1"/>
            <p:nvPr/>
          </p:nvSpPr>
          <p:spPr>
            <a:xfrm>
              <a:off x="994575" y="1738338"/>
              <a:ext cx="131445" cy="2436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500" b="1" spc="-50">
                  <a:solidFill>
                    <a:srgbClr val="FFFFFF"/>
                  </a:solidFill>
                  <a:latin typeface="Arial"/>
                  <a:cs typeface="Arial"/>
                </a:rPr>
                <a:t>1</a:t>
              </a:r>
              <a:endParaRPr lang="es-ES" sz="1500"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932294" y="2302103"/>
              <a:ext cx="1939925" cy="28765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lang="es-ES" sz="1700" b="1">
                  <a:solidFill>
                    <a:srgbClr val="173A54"/>
                  </a:solidFill>
                  <a:latin typeface="Arial"/>
                  <a:cs typeface="Arial"/>
                </a:rPr>
                <a:t>Segmentos</a:t>
              </a:r>
              <a:r>
                <a:rPr lang="es-ES" sz="1700" b="1" spc="15">
                  <a:solidFill>
                    <a:srgbClr val="173A54"/>
                  </a:solidFill>
                  <a:latin typeface="Arial"/>
                  <a:cs typeface="Arial"/>
                </a:rPr>
                <a:t> </a:t>
              </a:r>
              <a:r>
                <a:rPr lang="es-ES" sz="1700" b="1" spc="-10">
                  <a:solidFill>
                    <a:srgbClr val="173A54"/>
                  </a:solidFill>
                  <a:latin typeface="Arial"/>
                  <a:cs typeface="Arial"/>
                </a:rPr>
                <a:t>brutos</a:t>
              </a:r>
              <a:endParaRPr lang="es-ES" sz="1700">
                <a:latin typeface="Arial"/>
                <a:cs typeface="Aria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950658" y="2965221"/>
              <a:ext cx="1902460" cy="68223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  <a:tabLst>
                  <a:tab pos="1023619" algn="l"/>
                </a:tabLst>
              </a:pPr>
              <a:r>
                <a:rPr lang="es-ES" sz="2200" b="1" spc="-10">
                  <a:solidFill>
                    <a:srgbClr val="2E6A46"/>
                  </a:solidFill>
                  <a:latin typeface="Arial"/>
                  <a:cs typeface="Arial"/>
                </a:rPr>
                <a:t>17.694</a:t>
              </a:r>
              <a:r>
                <a:rPr lang="es-ES" sz="2200" b="1">
                  <a:solidFill>
                    <a:srgbClr val="2E6A46"/>
                  </a:solidFill>
                  <a:latin typeface="Arial"/>
                  <a:cs typeface="Arial"/>
                </a:rPr>
                <a:t>	</a:t>
              </a:r>
              <a:r>
                <a:rPr lang="es-ES" sz="2200" b="1" spc="-10">
                  <a:solidFill>
                    <a:srgbClr val="C3862D"/>
                  </a:solidFill>
                  <a:latin typeface="Arial"/>
                  <a:cs typeface="Arial"/>
                </a:rPr>
                <a:t>19.912</a:t>
              </a:r>
              <a:endParaRPr lang="es-ES" sz="2200">
                <a:latin typeface="Arial"/>
                <a:cs typeface="Arial"/>
              </a:endParaRPr>
            </a:p>
            <a:p>
              <a:pPr marR="12065" algn="ctr">
                <a:lnSpc>
                  <a:spcPct val="100000"/>
                </a:lnSpc>
                <a:spcBef>
                  <a:spcPts val="905"/>
                </a:spcBef>
                <a:tabLst>
                  <a:tab pos="1043940" algn="l"/>
                </a:tabLst>
              </a:pPr>
              <a:r>
                <a:rPr lang="es-ES" sz="1400" spc="-10">
                  <a:solidFill>
                    <a:schemeClr val="tx1"/>
                  </a:solidFill>
                  <a:latin typeface="Arial"/>
                  <a:cs typeface="Arial"/>
                </a:rPr>
                <a:t>Bosque</a:t>
              </a:r>
              <a:r>
                <a:rPr lang="es-ES" sz="1400">
                  <a:solidFill>
                    <a:schemeClr val="tx1"/>
                  </a:solidFill>
                  <a:latin typeface="Arial"/>
                  <a:cs typeface="Arial"/>
                </a:rPr>
                <a:t>	</a:t>
              </a:r>
              <a:r>
                <a:rPr lang="es-ES" sz="1400" spc="-10">
                  <a:solidFill>
                    <a:schemeClr val="tx1"/>
                  </a:solidFill>
                  <a:latin typeface="Arial"/>
                  <a:cs typeface="Arial"/>
                </a:rPr>
                <a:t>Estepa</a:t>
              </a:r>
              <a:endParaRPr lang="es-ES" sz="14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12" name="object 12"/>
            <p:cNvGrpSpPr/>
            <p:nvPr/>
          </p:nvGrpSpPr>
          <p:grpSpPr>
            <a:xfrm>
              <a:off x="3170515" y="2888640"/>
              <a:ext cx="231140" cy="76200"/>
              <a:chOff x="3170515" y="2888640"/>
              <a:chExt cx="231140" cy="76200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3182035" y="2926079"/>
                <a:ext cx="149225" cy="635"/>
              </a:xfrm>
              <a:custGeom>
                <a:avLst/>
                <a:gdLst/>
                <a:ahLst/>
                <a:cxnLst/>
                <a:rect l="l" t="t" r="r" b="b"/>
                <a:pathLst>
                  <a:path w="149225" h="635">
                    <a:moveTo>
                      <a:pt x="0" y="0"/>
                    </a:moveTo>
                    <a:lnTo>
                      <a:pt x="148678" y="355"/>
                    </a:lnTo>
                  </a:path>
                </a:pathLst>
              </a:custGeom>
              <a:ln w="23039">
                <a:solidFill>
                  <a:srgbClr val="C3862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3325685" y="288864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0" y="75603"/>
                    </a:lnTo>
                    <a:lnTo>
                      <a:pt x="75590" y="377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862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5" name="object 15"/>
            <p:cNvGrpSpPr/>
            <p:nvPr/>
          </p:nvGrpSpPr>
          <p:grpSpPr>
            <a:xfrm>
              <a:off x="3532028" y="1502104"/>
              <a:ext cx="2271395" cy="2847340"/>
              <a:chOff x="3486415" y="1502104"/>
              <a:chExt cx="2271395" cy="284734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6" name="object 16"/>
              <p:cNvSpPr/>
              <p:nvPr/>
            </p:nvSpPr>
            <p:spPr>
              <a:xfrm>
                <a:off x="3492715" y="1508404"/>
                <a:ext cx="2258695" cy="2834640"/>
              </a:xfrm>
              <a:custGeom>
                <a:avLst/>
                <a:gdLst/>
                <a:ahLst/>
                <a:cxnLst/>
                <a:rect l="l" t="t" r="r" b="b"/>
                <a:pathLst>
                  <a:path w="2258695" h="2834640">
                    <a:moveTo>
                      <a:pt x="2185200" y="0"/>
                    </a:moveTo>
                    <a:lnTo>
                      <a:pt x="73088" y="0"/>
                    </a:lnTo>
                    <a:lnTo>
                      <a:pt x="63610" y="607"/>
                    </a:lnTo>
                    <a:lnTo>
                      <a:pt x="21431" y="21458"/>
                    </a:lnTo>
                    <a:lnTo>
                      <a:pt x="607" y="63442"/>
                    </a:lnTo>
                    <a:lnTo>
                      <a:pt x="0" y="73075"/>
                    </a:lnTo>
                    <a:lnTo>
                      <a:pt x="0" y="2761551"/>
                    </a:lnTo>
                    <a:lnTo>
                      <a:pt x="594" y="2770829"/>
                    </a:lnTo>
                    <a:lnTo>
                      <a:pt x="607" y="2771029"/>
                    </a:lnTo>
                    <a:lnTo>
                      <a:pt x="2395" y="2780230"/>
                    </a:lnTo>
                    <a:lnTo>
                      <a:pt x="2430" y="2780407"/>
                    </a:lnTo>
                    <a:lnTo>
                      <a:pt x="5418" y="2789292"/>
                    </a:lnTo>
                    <a:lnTo>
                      <a:pt x="36360" y="2824911"/>
                    </a:lnTo>
                    <a:lnTo>
                      <a:pt x="73088" y="2834640"/>
                    </a:lnTo>
                    <a:lnTo>
                      <a:pt x="2185568" y="2834271"/>
                    </a:lnTo>
                    <a:lnTo>
                      <a:pt x="2229938" y="2819180"/>
                    </a:lnTo>
                    <a:lnTo>
                      <a:pt x="2256155" y="2780407"/>
                    </a:lnTo>
                    <a:lnTo>
                      <a:pt x="2256215" y="2780230"/>
                    </a:lnTo>
                    <a:lnTo>
                      <a:pt x="2257998" y="2771029"/>
                    </a:lnTo>
                    <a:lnTo>
                      <a:pt x="2258036" y="2770829"/>
                    </a:lnTo>
                    <a:lnTo>
                      <a:pt x="2258621" y="2761551"/>
                    </a:lnTo>
                    <a:lnTo>
                      <a:pt x="2258644" y="2761195"/>
                    </a:lnTo>
                    <a:lnTo>
                      <a:pt x="2258288" y="73075"/>
                    </a:lnTo>
                    <a:lnTo>
                      <a:pt x="2243184" y="28698"/>
                    </a:lnTo>
                    <a:lnTo>
                      <a:pt x="2204240" y="2428"/>
                    </a:lnTo>
                    <a:lnTo>
                      <a:pt x="2194839" y="607"/>
                    </a:lnTo>
                    <a:lnTo>
                      <a:pt x="2185200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3492715" y="1508404"/>
                <a:ext cx="2258695" cy="2834640"/>
              </a:xfrm>
              <a:custGeom>
                <a:avLst/>
                <a:gdLst/>
                <a:ahLst/>
                <a:cxnLst/>
                <a:rect l="l" t="t" r="r" b="b"/>
                <a:pathLst>
                  <a:path w="2258695" h="2834640">
                    <a:moveTo>
                      <a:pt x="0" y="73075"/>
                    </a:moveTo>
                    <a:lnTo>
                      <a:pt x="607" y="63442"/>
                    </a:lnTo>
                    <a:lnTo>
                      <a:pt x="2430" y="54041"/>
                    </a:lnTo>
                    <a:lnTo>
                      <a:pt x="28710" y="15091"/>
                    </a:lnTo>
                    <a:lnTo>
                      <a:pt x="73088" y="0"/>
                    </a:lnTo>
                    <a:lnTo>
                      <a:pt x="2185200" y="0"/>
                    </a:lnTo>
                    <a:lnTo>
                      <a:pt x="2229733" y="15096"/>
                    </a:lnTo>
                    <a:lnTo>
                      <a:pt x="2255858" y="54219"/>
                    </a:lnTo>
                    <a:lnTo>
                      <a:pt x="2258288" y="73075"/>
                    </a:lnTo>
                    <a:lnTo>
                      <a:pt x="2258644" y="2761195"/>
                    </a:lnTo>
                    <a:lnTo>
                      <a:pt x="2258036" y="2770829"/>
                    </a:lnTo>
                    <a:lnTo>
                      <a:pt x="2256215" y="2780230"/>
                    </a:lnTo>
                    <a:lnTo>
                      <a:pt x="2229938" y="2819180"/>
                    </a:lnTo>
                    <a:lnTo>
                      <a:pt x="2185568" y="2834271"/>
                    </a:lnTo>
                    <a:lnTo>
                      <a:pt x="73088" y="2834640"/>
                    </a:lnTo>
                    <a:lnTo>
                      <a:pt x="28555" y="2819530"/>
                    </a:lnTo>
                    <a:lnTo>
                      <a:pt x="2430" y="2780407"/>
                    </a:lnTo>
                    <a:lnTo>
                      <a:pt x="0" y="2761551"/>
                    </a:lnTo>
                    <a:lnTo>
                      <a:pt x="0" y="73075"/>
                    </a:lnTo>
                    <a:close/>
                  </a:path>
                </a:pathLst>
              </a:custGeom>
              <a:ln w="12599">
                <a:solidFill>
                  <a:srgbClr val="2E6E9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3657244" y="1682280"/>
                <a:ext cx="365760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365760">
                    <a:moveTo>
                      <a:pt x="365391" y="0"/>
                    </a:moveTo>
                    <a:lnTo>
                      <a:pt x="0" y="0"/>
                    </a:lnTo>
                    <a:lnTo>
                      <a:pt x="0" y="365404"/>
                    </a:lnTo>
                    <a:lnTo>
                      <a:pt x="182880" y="365404"/>
                    </a:lnTo>
                    <a:lnTo>
                      <a:pt x="365391" y="365404"/>
                    </a:lnTo>
                    <a:lnTo>
                      <a:pt x="365391" y="0"/>
                    </a:lnTo>
                    <a:close/>
                  </a:path>
                </a:pathLst>
              </a:custGeom>
              <a:solidFill>
                <a:srgbClr val="2E6E9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3774503" y="1738338"/>
              <a:ext cx="131445" cy="2436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500" b="1" spc="-50">
                  <a:solidFill>
                    <a:srgbClr val="FFFFFF"/>
                  </a:solidFill>
                  <a:latin typeface="Arial"/>
                  <a:cs typeface="Arial"/>
                </a:rPr>
                <a:t>2</a:t>
              </a:r>
              <a:endParaRPr lang="es-ES" sz="1500"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3955580" y="2302103"/>
              <a:ext cx="1334770" cy="28765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lang="es-ES" sz="1700" b="1">
                  <a:solidFill>
                    <a:srgbClr val="2E6E9D"/>
                  </a:solidFill>
                  <a:latin typeface="Arial"/>
                  <a:cs typeface="Arial"/>
                </a:rPr>
                <a:t>Altura</a:t>
              </a:r>
              <a:r>
                <a:rPr lang="es-ES" sz="1700" b="1" spc="25">
                  <a:solidFill>
                    <a:srgbClr val="2E6E9D"/>
                  </a:solidFill>
                  <a:latin typeface="Arial"/>
                  <a:cs typeface="Arial"/>
                </a:rPr>
                <a:t> </a:t>
              </a:r>
              <a:r>
                <a:rPr lang="es-ES" sz="1700" b="1" spc="-10">
                  <a:solidFill>
                    <a:srgbClr val="2E6E9D"/>
                  </a:solidFill>
                  <a:latin typeface="Arial"/>
                  <a:cs typeface="Arial"/>
                </a:rPr>
                <a:t>válida</a:t>
              </a:r>
              <a:endParaRPr lang="es-ES" sz="1700">
                <a:latin typeface="Arial"/>
                <a:cs typeface="Aria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3701059" y="2965221"/>
              <a:ext cx="1842770" cy="68223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2200" b="1">
                  <a:solidFill>
                    <a:srgbClr val="2E6A46"/>
                  </a:solidFill>
                  <a:latin typeface="Arial"/>
                  <a:cs typeface="Arial"/>
                </a:rPr>
                <a:t>17.051</a:t>
              </a:r>
              <a:r>
                <a:rPr lang="es-ES" sz="2200" b="1" spc="170">
                  <a:solidFill>
                    <a:srgbClr val="2E6A46"/>
                  </a:solidFill>
                  <a:latin typeface="Arial"/>
                  <a:cs typeface="Arial"/>
                </a:rPr>
                <a:t> </a:t>
              </a:r>
              <a:r>
                <a:rPr lang="es-ES" sz="2200" b="1" spc="-10">
                  <a:solidFill>
                    <a:srgbClr val="C3862D"/>
                  </a:solidFill>
                  <a:latin typeface="Arial"/>
                  <a:cs typeface="Arial"/>
                </a:rPr>
                <a:t>16.196</a:t>
              </a:r>
              <a:endParaRPr lang="es-ES" sz="2200">
                <a:latin typeface="Arial"/>
                <a:cs typeface="Arial"/>
              </a:endParaRPr>
            </a:p>
            <a:p>
              <a:pPr marL="196215">
                <a:lnSpc>
                  <a:spcPct val="100000"/>
                </a:lnSpc>
                <a:spcBef>
                  <a:spcPts val="905"/>
                </a:spcBef>
                <a:tabLst>
                  <a:tab pos="1180465" algn="l"/>
                </a:tabLst>
              </a:pPr>
              <a:r>
                <a:rPr lang="es-ES" sz="1400" spc="-10">
                  <a:solidFill>
                    <a:schemeClr val="tx1"/>
                  </a:solidFill>
                  <a:latin typeface="Arial"/>
                  <a:cs typeface="Arial"/>
                </a:rPr>
                <a:t>Bosque</a:t>
              </a:r>
              <a:r>
                <a:rPr lang="es-ES" sz="1400">
                  <a:solidFill>
                    <a:schemeClr val="tx1"/>
                  </a:solidFill>
                  <a:latin typeface="Arial"/>
                  <a:cs typeface="Arial"/>
                </a:rPr>
                <a:t>	</a:t>
              </a:r>
              <a:r>
                <a:rPr lang="es-ES" sz="1400" spc="-10">
                  <a:solidFill>
                    <a:schemeClr val="tx1"/>
                  </a:solidFill>
                  <a:latin typeface="Arial"/>
                  <a:cs typeface="Arial"/>
                </a:rPr>
                <a:t>Estepa</a:t>
              </a:r>
              <a:endParaRPr lang="es-ES" sz="14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22" name="object 22"/>
            <p:cNvGrpSpPr/>
            <p:nvPr/>
          </p:nvGrpSpPr>
          <p:grpSpPr>
            <a:xfrm>
              <a:off x="5831280" y="2888640"/>
              <a:ext cx="350520" cy="76200"/>
              <a:chOff x="5831280" y="2888640"/>
              <a:chExt cx="350520" cy="76200"/>
            </a:xfrm>
          </p:grpSpPr>
          <p:sp>
            <p:nvSpPr>
              <p:cNvPr id="23" name="object 23"/>
              <p:cNvSpPr/>
              <p:nvPr/>
            </p:nvSpPr>
            <p:spPr>
              <a:xfrm>
                <a:off x="5842800" y="2926079"/>
                <a:ext cx="267970" cy="635"/>
              </a:xfrm>
              <a:custGeom>
                <a:avLst/>
                <a:gdLst/>
                <a:ahLst/>
                <a:cxnLst/>
                <a:rect l="l" t="t" r="r" b="b"/>
                <a:pathLst>
                  <a:path w="267970" h="635">
                    <a:moveTo>
                      <a:pt x="0" y="0"/>
                    </a:moveTo>
                    <a:lnTo>
                      <a:pt x="267843" y="355"/>
                    </a:lnTo>
                  </a:path>
                </a:pathLst>
              </a:custGeom>
              <a:ln w="23039">
                <a:solidFill>
                  <a:srgbClr val="C3862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6105601" y="288864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0" y="75603"/>
                    </a:lnTo>
                    <a:lnTo>
                      <a:pt x="75603" y="377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862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5" name="object 25"/>
            <p:cNvGrpSpPr/>
            <p:nvPr/>
          </p:nvGrpSpPr>
          <p:grpSpPr>
            <a:xfrm>
              <a:off x="6311589" y="1502104"/>
              <a:ext cx="2152650" cy="2847340"/>
              <a:chOff x="6265976" y="1502104"/>
              <a:chExt cx="2152650" cy="284734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26" name="object 26"/>
              <p:cNvSpPr/>
              <p:nvPr/>
            </p:nvSpPr>
            <p:spPr>
              <a:xfrm>
                <a:off x="6272275" y="1508404"/>
                <a:ext cx="2139950" cy="2834640"/>
              </a:xfrm>
              <a:custGeom>
                <a:avLst/>
                <a:gdLst/>
                <a:ahLst/>
                <a:cxnLst/>
                <a:rect l="l" t="t" r="r" b="b"/>
                <a:pathLst>
                  <a:path w="2139950" h="2834640">
                    <a:moveTo>
                      <a:pt x="2066404" y="0"/>
                    </a:moveTo>
                    <a:lnTo>
                      <a:pt x="73088" y="0"/>
                    </a:lnTo>
                    <a:lnTo>
                      <a:pt x="63660" y="607"/>
                    </a:lnTo>
                    <a:lnTo>
                      <a:pt x="21470" y="21280"/>
                    </a:lnTo>
                    <a:lnTo>
                      <a:pt x="607" y="63442"/>
                    </a:lnTo>
                    <a:lnTo>
                      <a:pt x="0" y="73075"/>
                    </a:lnTo>
                    <a:lnTo>
                      <a:pt x="0" y="2761551"/>
                    </a:lnTo>
                    <a:lnTo>
                      <a:pt x="15053" y="2805929"/>
                    </a:lnTo>
                    <a:lnTo>
                      <a:pt x="54048" y="2832209"/>
                    </a:lnTo>
                    <a:lnTo>
                      <a:pt x="73088" y="2834640"/>
                    </a:lnTo>
                    <a:lnTo>
                      <a:pt x="2066759" y="2834271"/>
                    </a:lnTo>
                    <a:lnTo>
                      <a:pt x="2111137" y="2819230"/>
                    </a:lnTo>
                    <a:lnTo>
                      <a:pt x="2137403" y="2780274"/>
                    </a:lnTo>
                    <a:lnTo>
                      <a:pt x="2139825" y="2761551"/>
                    </a:lnTo>
                    <a:lnTo>
                      <a:pt x="2139848" y="2761195"/>
                    </a:lnTo>
                    <a:lnTo>
                      <a:pt x="2139480" y="73075"/>
                    </a:lnTo>
                    <a:lnTo>
                      <a:pt x="2124438" y="28698"/>
                    </a:lnTo>
                    <a:lnTo>
                      <a:pt x="2085438" y="2428"/>
                    </a:lnTo>
                    <a:lnTo>
                      <a:pt x="2076038" y="607"/>
                    </a:lnTo>
                    <a:lnTo>
                      <a:pt x="2066404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6272275" y="1508404"/>
                <a:ext cx="2139950" cy="2834640"/>
              </a:xfrm>
              <a:custGeom>
                <a:avLst/>
                <a:gdLst/>
                <a:ahLst/>
                <a:cxnLst/>
                <a:rect l="l" t="t" r="r" b="b"/>
                <a:pathLst>
                  <a:path w="2139950" h="2834640">
                    <a:moveTo>
                      <a:pt x="0" y="73075"/>
                    </a:moveTo>
                    <a:lnTo>
                      <a:pt x="607" y="63442"/>
                    </a:lnTo>
                    <a:lnTo>
                      <a:pt x="2430" y="54041"/>
                    </a:lnTo>
                    <a:lnTo>
                      <a:pt x="28710" y="15041"/>
                    </a:lnTo>
                    <a:lnTo>
                      <a:pt x="73088" y="0"/>
                    </a:lnTo>
                    <a:lnTo>
                      <a:pt x="2066404" y="0"/>
                    </a:lnTo>
                    <a:lnTo>
                      <a:pt x="2111081" y="15096"/>
                    </a:lnTo>
                    <a:lnTo>
                      <a:pt x="2137051" y="54357"/>
                    </a:lnTo>
                    <a:lnTo>
                      <a:pt x="2139480" y="73075"/>
                    </a:lnTo>
                    <a:lnTo>
                      <a:pt x="2139848" y="2761195"/>
                    </a:lnTo>
                    <a:lnTo>
                      <a:pt x="2139240" y="2770829"/>
                    </a:lnTo>
                    <a:lnTo>
                      <a:pt x="2137417" y="2780230"/>
                    </a:lnTo>
                    <a:lnTo>
                      <a:pt x="2111137" y="2819230"/>
                    </a:lnTo>
                    <a:lnTo>
                      <a:pt x="2066759" y="2834271"/>
                    </a:lnTo>
                    <a:lnTo>
                      <a:pt x="73088" y="2834640"/>
                    </a:lnTo>
                    <a:lnTo>
                      <a:pt x="28405" y="2819530"/>
                    </a:lnTo>
                    <a:lnTo>
                      <a:pt x="2430" y="2780274"/>
                    </a:lnTo>
                    <a:lnTo>
                      <a:pt x="0" y="2761551"/>
                    </a:lnTo>
                    <a:lnTo>
                      <a:pt x="0" y="73075"/>
                    </a:lnTo>
                    <a:close/>
                  </a:path>
                </a:pathLst>
              </a:custGeom>
              <a:ln w="12599">
                <a:solidFill>
                  <a:srgbClr val="1D493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6437160" y="1682280"/>
                <a:ext cx="365760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365759" h="365760">
                    <a:moveTo>
                      <a:pt x="365404" y="0"/>
                    </a:moveTo>
                    <a:lnTo>
                      <a:pt x="0" y="0"/>
                    </a:lnTo>
                    <a:lnTo>
                      <a:pt x="0" y="365404"/>
                    </a:lnTo>
                    <a:lnTo>
                      <a:pt x="182880" y="365404"/>
                    </a:lnTo>
                    <a:lnTo>
                      <a:pt x="365404" y="365404"/>
                    </a:lnTo>
                    <a:lnTo>
                      <a:pt x="365404" y="0"/>
                    </a:lnTo>
                    <a:close/>
                  </a:path>
                </a:pathLst>
              </a:custGeom>
              <a:solidFill>
                <a:srgbClr val="1D493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6554419" y="1738338"/>
              <a:ext cx="131445" cy="2436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500" b="1" spc="-50">
                  <a:solidFill>
                    <a:srgbClr val="FFFFFF"/>
                  </a:solidFill>
                  <a:latin typeface="Arial"/>
                  <a:cs typeface="Arial"/>
                </a:rPr>
                <a:t>3</a:t>
              </a:r>
              <a:endParaRPr lang="es-ES" sz="1500">
                <a:latin typeface="Arial"/>
                <a:cs typeface="Arial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6699859" y="2302103"/>
              <a:ext cx="1286510" cy="28765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lang="es-ES" sz="1700" b="1" spc="-10">
                  <a:solidFill>
                    <a:srgbClr val="1D4938"/>
                  </a:solidFill>
                  <a:latin typeface="Arial"/>
                  <a:cs typeface="Arial"/>
                </a:rPr>
                <a:t>Operacional</a:t>
              </a:r>
              <a:endParaRPr lang="es-ES" sz="1700">
                <a:latin typeface="Arial"/>
                <a:cs typeface="Arial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6528142" y="2965221"/>
              <a:ext cx="1628775" cy="68223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  <a:tabLst>
                  <a:tab pos="904875" algn="l"/>
                </a:tabLst>
              </a:pPr>
              <a:r>
                <a:rPr lang="es-ES" sz="2200" b="1" spc="-10">
                  <a:solidFill>
                    <a:srgbClr val="2E6A46"/>
                  </a:solidFill>
                  <a:latin typeface="Arial"/>
                  <a:cs typeface="Arial"/>
                </a:rPr>
                <a:t>1.949</a:t>
              </a:r>
              <a:r>
                <a:rPr lang="es-ES" sz="2200" b="1">
                  <a:solidFill>
                    <a:srgbClr val="2E6A46"/>
                  </a:solidFill>
                  <a:latin typeface="Arial"/>
                  <a:cs typeface="Arial"/>
                </a:rPr>
                <a:t>	</a:t>
              </a:r>
              <a:r>
                <a:rPr lang="es-ES" sz="2200" b="1" spc="-20">
                  <a:solidFill>
                    <a:srgbClr val="C3862D"/>
                  </a:solidFill>
                  <a:latin typeface="Arial"/>
                  <a:cs typeface="Arial"/>
                </a:rPr>
                <a:t>1.923</a:t>
              </a:r>
              <a:endParaRPr lang="es-ES" sz="2200">
                <a:latin typeface="Arial"/>
                <a:cs typeface="Arial"/>
              </a:endParaRPr>
            </a:p>
            <a:p>
              <a:pPr marR="11430" algn="ctr">
                <a:lnSpc>
                  <a:spcPct val="100000"/>
                </a:lnSpc>
                <a:spcBef>
                  <a:spcPts val="905"/>
                </a:spcBef>
                <a:tabLst>
                  <a:tab pos="924560" algn="l"/>
                </a:tabLst>
              </a:pPr>
              <a:r>
                <a:rPr lang="es-ES" sz="1400" spc="-10">
                  <a:solidFill>
                    <a:schemeClr val="tx1"/>
                  </a:solidFill>
                  <a:latin typeface="Arial"/>
                  <a:cs typeface="Arial"/>
                </a:rPr>
                <a:t>Bosque</a:t>
              </a:r>
              <a:r>
                <a:rPr lang="es-ES" sz="1400">
                  <a:solidFill>
                    <a:schemeClr val="tx1"/>
                  </a:solidFill>
                  <a:latin typeface="Arial"/>
                  <a:cs typeface="Arial"/>
                </a:rPr>
                <a:t>	</a:t>
              </a:r>
              <a:r>
                <a:rPr lang="es-ES" sz="1400" spc="-10">
                  <a:solidFill>
                    <a:schemeClr val="tx1"/>
                  </a:solidFill>
                  <a:latin typeface="Arial"/>
                  <a:cs typeface="Arial"/>
                </a:rPr>
                <a:t>Estepa</a:t>
              </a:r>
              <a:endParaRPr lang="es-ES" sz="14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32" name="object 32"/>
            <p:cNvGrpSpPr/>
            <p:nvPr/>
          </p:nvGrpSpPr>
          <p:grpSpPr>
            <a:xfrm>
              <a:off x="8492400" y="2888640"/>
              <a:ext cx="469265" cy="76200"/>
              <a:chOff x="8492400" y="2888640"/>
              <a:chExt cx="469265" cy="76200"/>
            </a:xfrm>
          </p:grpSpPr>
          <p:sp>
            <p:nvSpPr>
              <p:cNvPr id="33" name="object 33"/>
              <p:cNvSpPr/>
              <p:nvPr/>
            </p:nvSpPr>
            <p:spPr>
              <a:xfrm>
                <a:off x="8503920" y="2926079"/>
                <a:ext cx="386715" cy="635"/>
              </a:xfrm>
              <a:custGeom>
                <a:avLst/>
                <a:gdLst/>
                <a:ahLst/>
                <a:cxnLst/>
                <a:rect l="l" t="t" r="r" b="b"/>
                <a:pathLst>
                  <a:path w="386715" h="635">
                    <a:moveTo>
                      <a:pt x="0" y="0"/>
                    </a:moveTo>
                    <a:lnTo>
                      <a:pt x="386638" y="355"/>
                    </a:lnTo>
                  </a:path>
                </a:pathLst>
              </a:custGeom>
              <a:ln w="23039">
                <a:solidFill>
                  <a:srgbClr val="C3862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8885516" y="288864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0" y="75603"/>
                    </a:lnTo>
                    <a:lnTo>
                      <a:pt x="75603" y="377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862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5" name="object 35"/>
            <p:cNvGrpSpPr/>
            <p:nvPr/>
          </p:nvGrpSpPr>
          <p:grpSpPr>
            <a:xfrm>
              <a:off x="9091873" y="1502104"/>
              <a:ext cx="2033905" cy="2847340"/>
              <a:chOff x="9046260" y="1502104"/>
              <a:chExt cx="2033905" cy="284734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object 36"/>
              <p:cNvSpPr/>
              <p:nvPr/>
            </p:nvSpPr>
            <p:spPr>
              <a:xfrm>
                <a:off x="9052560" y="1508404"/>
                <a:ext cx="2021205" cy="2834640"/>
              </a:xfrm>
              <a:custGeom>
                <a:avLst/>
                <a:gdLst/>
                <a:ahLst/>
                <a:cxnLst/>
                <a:rect l="l" t="t" r="r" b="b"/>
                <a:pathLst>
                  <a:path w="2021204" h="2834640">
                    <a:moveTo>
                      <a:pt x="1947240" y="0"/>
                    </a:moveTo>
                    <a:lnTo>
                      <a:pt x="73075" y="0"/>
                    </a:lnTo>
                    <a:lnTo>
                      <a:pt x="63599" y="607"/>
                    </a:lnTo>
                    <a:lnTo>
                      <a:pt x="21428" y="21458"/>
                    </a:lnTo>
                    <a:lnTo>
                      <a:pt x="607" y="63442"/>
                    </a:lnTo>
                    <a:lnTo>
                      <a:pt x="0" y="73075"/>
                    </a:lnTo>
                    <a:lnTo>
                      <a:pt x="0" y="2761551"/>
                    </a:lnTo>
                    <a:lnTo>
                      <a:pt x="594" y="2770829"/>
                    </a:lnTo>
                    <a:lnTo>
                      <a:pt x="607" y="2771029"/>
                    </a:lnTo>
                    <a:lnTo>
                      <a:pt x="2394" y="2780230"/>
                    </a:lnTo>
                    <a:lnTo>
                      <a:pt x="2428" y="2780407"/>
                    </a:lnTo>
                    <a:lnTo>
                      <a:pt x="5412" y="2789292"/>
                    </a:lnTo>
                    <a:lnTo>
                      <a:pt x="5464" y="2789447"/>
                    </a:lnTo>
                    <a:lnTo>
                      <a:pt x="36360" y="2824911"/>
                    </a:lnTo>
                    <a:lnTo>
                      <a:pt x="73075" y="2834640"/>
                    </a:lnTo>
                    <a:lnTo>
                      <a:pt x="1947595" y="2834271"/>
                    </a:lnTo>
                    <a:lnTo>
                      <a:pt x="1991973" y="2819180"/>
                    </a:lnTo>
                    <a:lnTo>
                      <a:pt x="2018194" y="2780407"/>
                    </a:lnTo>
                    <a:lnTo>
                      <a:pt x="2020038" y="2771029"/>
                    </a:lnTo>
                    <a:lnTo>
                      <a:pt x="2020076" y="2770829"/>
                    </a:lnTo>
                    <a:lnTo>
                      <a:pt x="2020661" y="2761551"/>
                    </a:lnTo>
                    <a:lnTo>
                      <a:pt x="2020684" y="2761195"/>
                    </a:lnTo>
                    <a:lnTo>
                      <a:pt x="2020316" y="73075"/>
                    </a:lnTo>
                    <a:lnTo>
                      <a:pt x="2005224" y="28698"/>
                    </a:lnTo>
                    <a:lnTo>
                      <a:pt x="1966274" y="2428"/>
                    </a:lnTo>
                    <a:lnTo>
                      <a:pt x="1956873" y="607"/>
                    </a:lnTo>
                    <a:lnTo>
                      <a:pt x="1947240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9052560" y="1508404"/>
                <a:ext cx="2021205" cy="2834640"/>
              </a:xfrm>
              <a:custGeom>
                <a:avLst/>
                <a:gdLst/>
                <a:ahLst/>
                <a:cxnLst/>
                <a:rect l="l" t="t" r="r" b="b"/>
                <a:pathLst>
                  <a:path w="2021204" h="2834640">
                    <a:moveTo>
                      <a:pt x="0" y="73075"/>
                    </a:moveTo>
                    <a:lnTo>
                      <a:pt x="607" y="63442"/>
                    </a:lnTo>
                    <a:lnTo>
                      <a:pt x="2428" y="54041"/>
                    </a:lnTo>
                    <a:lnTo>
                      <a:pt x="28705" y="15091"/>
                    </a:lnTo>
                    <a:lnTo>
                      <a:pt x="73075" y="0"/>
                    </a:lnTo>
                    <a:lnTo>
                      <a:pt x="1947240" y="0"/>
                    </a:lnTo>
                    <a:lnTo>
                      <a:pt x="1991767" y="15096"/>
                    </a:lnTo>
                    <a:lnTo>
                      <a:pt x="2017887" y="54219"/>
                    </a:lnTo>
                    <a:lnTo>
                      <a:pt x="2020316" y="73075"/>
                    </a:lnTo>
                    <a:lnTo>
                      <a:pt x="2020684" y="2761195"/>
                    </a:lnTo>
                    <a:lnTo>
                      <a:pt x="2020076" y="2770829"/>
                    </a:lnTo>
                    <a:lnTo>
                      <a:pt x="2018253" y="2780230"/>
                    </a:lnTo>
                    <a:lnTo>
                      <a:pt x="1991973" y="2819180"/>
                    </a:lnTo>
                    <a:lnTo>
                      <a:pt x="1947595" y="2834271"/>
                    </a:lnTo>
                    <a:lnTo>
                      <a:pt x="73075" y="2834640"/>
                    </a:lnTo>
                    <a:lnTo>
                      <a:pt x="28555" y="2819530"/>
                    </a:lnTo>
                    <a:lnTo>
                      <a:pt x="2428" y="2780407"/>
                    </a:lnTo>
                    <a:lnTo>
                      <a:pt x="0" y="2761551"/>
                    </a:lnTo>
                    <a:lnTo>
                      <a:pt x="0" y="73075"/>
                    </a:lnTo>
                    <a:close/>
                  </a:path>
                </a:pathLst>
              </a:custGeom>
              <a:ln w="12599">
                <a:solidFill>
                  <a:srgbClr val="A8503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9216720" y="1682280"/>
                <a:ext cx="365760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365759" h="365760">
                    <a:moveTo>
                      <a:pt x="365404" y="0"/>
                    </a:moveTo>
                    <a:lnTo>
                      <a:pt x="0" y="0"/>
                    </a:lnTo>
                    <a:lnTo>
                      <a:pt x="0" y="365404"/>
                    </a:lnTo>
                    <a:lnTo>
                      <a:pt x="182879" y="365404"/>
                    </a:lnTo>
                    <a:lnTo>
                      <a:pt x="365404" y="365404"/>
                    </a:lnTo>
                    <a:lnTo>
                      <a:pt x="365404" y="0"/>
                    </a:lnTo>
                    <a:close/>
                  </a:path>
                </a:pathLst>
              </a:custGeom>
              <a:solidFill>
                <a:srgbClr val="A8503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9" name="object 39"/>
            <p:cNvSpPr txBox="1"/>
            <p:nvPr/>
          </p:nvSpPr>
          <p:spPr>
            <a:xfrm>
              <a:off x="9333979" y="1738338"/>
              <a:ext cx="131445" cy="2436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1500" b="1" spc="-50">
                  <a:solidFill>
                    <a:srgbClr val="FFFFFF"/>
                  </a:solidFill>
                  <a:latin typeface="Arial"/>
                  <a:cs typeface="Arial"/>
                </a:rPr>
                <a:t>4</a:t>
              </a:r>
              <a:endParaRPr lang="es-ES" sz="15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9377895" y="2302103"/>
              <a:ext cx="1370330" cy="28765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lang="es-ES" sz="1700" b="1" spc="-10">
                  <a:solidFill>
                    <a:srgbClr val="A8503B"/>
                  </a:solidFill>
                  <a:latin typeface="Arial"/>
                  <a:cs typeface="Arial"/>
                </a:rPr>
                <a:t>Conservador</a:t>
              </a:r>
              <a:endParaRPr lang="es-ES" sz="17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9384017" y="2965221"/>
              <a:ext cx="1463040" cy="68223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2860">
                <a:lnSpc>
                  <a:spcPct val="100000"/>
                </a:lnSpc>
                <a:spcBef>
                  <a:spcPts val="100"/>
                </a:spcBef>
                <a:tabLst>
                  <a:tab pos="751840" algn="l"/>
                </a:tabLst>
              </a:pPr>
              <a:r>
                <a:rPr lang="es-ES" sz="2200" b="1" spc="-25">
                  <a:solidFill>
                    <a:srgbClr val="2E6A46"/>
                  </a:solidFill>
                  <a:latin typeface="Arial"/>
                  <a:cs typeface="Arial"/>
                </a:rPr>
                <a:t>905</a:t>
              </a:r>
              <a:r>
                <a:rPr lang="es-ES" sz="2200" b="1">
                  <a:solidFill>
                    <a:srgbClr val="2E6A46"/>
                  </a:solidFill>
                  <a:latin typeface="Arial"/>
                  <a:cs typeface="Arial"/>
                </a:rPr>
                <a:t>	</a:t>
              </a:r>
              <a:r>
                <a:rPr lang="es-ES" sz="2200" b="1" spc="-20">
                  <a:solidFill>
                    <a:srgbClr val="C3862D"/>
                  </a:solidFill>
                  <a:latin typeface="Arial"/>
                  <a:cs typeface="Arial"/>
                </a:rPr>
                <a:t>1.482</a:t>
              </a:r>
              <a:endParaRPr lang="es-ES" sz="220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905"/>
                </a:spcBef>
                <a:tabLst>
                  <a:tab pos="878205" algn="l"/>
                </a:tabLst>
              </a:pPr>
              <a:r>
                <a:rPr lang="es-ES" sz="1400" spc="-10">
                  <a:solidFill>
                    <a:schemeClr val="tx1"/>
                  </a:solidFill>
                  <a:latin typeface="Arial"/>
                  <a:cs typeface="Arial"/>
                </a:rPr>
                <a:t>Bosque</a:t>
              </a:r>
              <a:r>
                <a:rPr lang="es-ES" sz="1400">
                  <a:solidFill>
                    <a:schemeClr val="tx1"/>
                  </a:solidFill>
                  <a:latin typeface="Arial"/>
                  <a:cs typeface="Arial"/>
                </a:rPr>
                <a:t>	</a:t>
              </a:r>
              <a:r>
                <a:rPr lang="es-ES" sz="1400" spc="-10">
                  <a:solidFill>
                    <a:schemeClr val="tx1"/>
                  </a:solidFill>
                  <a:latin typeface="Arial"/>
                  <a:cs typeface="Arial"/>
                </a:rPr>
                <a:t>Estepa</a:t>
              </a:r>
              <a:endParaRPr lang="es-ES" sz="14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42" name="object 42"/>
            <p:cNvGrpSpPr/>
            <p:nvPr/>
          </p:nvGrpSpPr>
          <p:grpSpPr>
            <a:xfrm>
              <a:off x="1001340" y="4750380"/>
              <a:ext cx="1975485" cy="1152525"/>
              <a:chOff x="1001340" y="4750380"/>
              <a:chExt cx="1975485" cy="1152525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43" name="object 43"/>
              <p:cNvSpPr/>
              <p:nvPr/>
            </p:nvSpPr>
            <p:spPr>
              <a:xfrm>
                <a:off x="1005839" y="4754880"/>
                <a:ext cx="196596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965960" h="1143000">
                    <a:moveTo>
                      <a:pt x="1892515" y="0"/>
                    </a:moveTo>
                    <a:lnTo>
                      <a:pt x="73075" y="0"/>
                    </a:lnTo>
                    <a:lnTo>
                      <a:pt x="63599" y="607"/>
                    </a:lnTo>
                    <a:lnTo>
                      <a:pt x="21428" y="21467"/>
                    </a:lnTo>
                    <a:lnTo>
                      <a:pt x="607" y="63443"/>
                    </a:lnTo>
                    <a:lnTo>
                      <a:pt x="0" y="73075"/>
                    </a:lnTo>
                    <a:lnTo>
                      <a:pt x="0" y="1069924"/>
                    </a:lnTo>
                    <a:lnTo>
                      <a:pt x="594" y="1079195"/>
                    </a:lnTo>
                    <a:lnTo>
                      <a:pt x="607" y="1079400"/>
                    </a:lnTo>
                    <a:lnTo>
                      <a:pt x="2394" y="1088596"/>
                    </a:lnTo>
                    <a:lnTo>
                      <a:pt x="2428" y="1088775"/>
                    </a:lnTo>
                    <a:lnTo>
                      <a:pt x="5412" y="1097659"/>
                    </a:lnTo>
                    <a:lnTo>
                      <a:pt x="5464" y="1097815"/>
                    </a:lnTo>
                    <a:lnTo>
                      <a:pt x="9715" y="1106284"/>
                    </a:lnTo>
                    <a:lnTo>
                      <a:pt x="44984" y="1137535"/>
                    </a:lnTo>
                    <a:lnTo>
                      <a:pt x="73075" y="1143000"/>
                    </a:lnTo>
                    <a:lnTo>
                      <a:pt x="1892884" y="1142644"/>
                    </a:lnTo>
                    <a:lnTo>
                      <a:pt x="1937254" y="1127540"/>
                    </a:lnTo>
                    <a:lnTo>
                      <a:pt x="1963471" y="1088775"/>
                    </a:lnTo>
                    <a:lnTo>
                      <a:pt x="1965936" y="1069924"/>
                    </a:lnTo>
                    <a:lnTo>
                      <a:pt x="1965960" y="1069555"/>
                    </a:lnTo>
                    <a:lnTo>
                      <a:pt x="1965604" y="73075"/>
                    </a:lnTo>
                    <a:lnTo>
                      <a:pt x="1950500" y="28705"/>
                    </a:lnTo>
                    <a:lnTo>
                      <a:pt x="1911556" y="2428"/>
                    </a:lnTo>
                    <a:lnTo>
                      <a:pt x="1902155" y="607"/>
                    </a:lnTo>
                    <a:lnTo>
                      <a:pt x="1892515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1005839" y="4754880"/>
                <a:ext cx="196596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965960" h="1143000">
                    <a:moveTo>
                      <a:pt x="0" y="73075"/>
                    </a:moveTo>
                    <a:lnTo>
                      <a:pt x="607" y="63443"/>
                    </a:lnTo>
                    <a:lnTo>
                      <a:pt x="2428" y="54046"/>
                    </a:lnTo>
                    <a:lnTo>
                      <a:pt x="28705" y="15098"/>
                    </a:lnTo>
                    <a:lnTo>
                      <a:pt x="73075" y="0"/>
                    </a:lnTo>
                    <a:lnTo>
                      <a:pt x="1892515" y="0"/>
                    </a:lnTo>
                    <a:lnTo>
                      <a:pt x="1937048" y="15104"/>
                    </a:lnTo>
                    <a:lnTo>
                      <a:pt x="1963173" y="54224"/>
                    </a:lnTo>
                    <a:lnTo>
                      <a:pt x="1965604" y="73075"/>
                    </a:lnTo>
                    <a:lnTo>
                      <a:pt x="1965960" y="1069555"/>
                    </a:lnTo>
                    <a:lnTo>
                      <a:pt x="1965352" y="1079195"/>
                    </a:lnTo>
                    <a:lnTo>
                      <a:pt x="1963531" y="1088596"/>
                    </a:lnTo>
                    <a:lnTo>
                      <a:pt x="1937254" y="1127540"/>
                    </a:lnTo>
                    <a:lnTo>
                      <a:pt x="1892884" y="1142644"/>
                    </a:lnTo>
                    <a:lnTo>
                      <a:pt x="73075" y="1143000"/>
                    </a:lnTo>
                    <a:lnTo>
                      <a:pt x="28555" y="1127895"/>
                    </a:lnTo>
                    <a:lnTo>
                      <a:pt x="2428" y="1088775"/>
                    </a:lnTo>
                    <a:lnTo>
                      <a:pt x="0" y="1069924"/>
                    </a:lnTo>
                    <a:lnTo>
                      <a:pt x="0" y="73075"/>
                    </a:lnTo>
                    <a:close/>
                  </a:path>
                </a:pathLst>
              </a:custGeom>
              <a:ln w="8999">
                <a:solidFill>
                  <a:srgbClr val="CED6D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1005839" y="4754880"/>
                <a:ext cx="730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143000">
                    <a:moveTo>
                      <a:pt x="72720" y="0"/>
                    </a:moveTo>
                    <a:lnTo>
                      <a:pt x="0" y="0"/>
                    </a:lnTo>
                    <a:lnTo>
                      <a:pt x="0" y="1142644"/>
                    </a:lnTo>
                    <a:lnTo>
                      <a:pt x="36360" y="1142644"/>
                    </a:lnTo>
                    <a:lnTo>
                      <a:pt x="72720" y="1142644"/>
                    </a:lnTo>
                    <a:lnTo>
                      <a:pt x="72720" y="0"/>
                    </a:lnTo>
                    <a:close/>
                  </a:path>
                </a:pathLst>
              </a:custGeom>
              <a:solidFill>
                <a:srgbClr val="2E6A4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6" name="object 46"/>
            <p:cNvSpPr txBox="1"/>
            <p:nvPr/>
          </p:nvSpPr>
          <p:spPr>
            <a:xfrm>
              <a:off x="1240104" y="4869611"/>
              <a:ext cx="1417955" cy="102893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2500" b="1" spc="-10">
                  <a:solidFill>
                    <a:srgbClr val="2E6A46"/>
                  </a:solidFill>
                  <a:latin typeface="Arial"/>
                  <a:cs typeface="Arial"/>
                </a:rPr>
                <a:t>11,0%</a:t>
              </a:r>
              <a:endParaRPr lang="es-ES" sz="2500">
                <a:latin typeface="Arial"/>
                <a:cs typeface="Arial"/>
              </a:endParaRPr>
            </a:p>
            <a:p>
              <a:pPr marL="12700" marR="5080">
                <a:lnSpc>
                  <a:spcPts val="960"/>
                </a:lnSpc>
                <a:spcBef>
                  <a:spcPts val="1875"/>
                </a:spcBef>
              </a:pPr>
              <a:r>
                <a:rPr lang="es-ES" sz="1200" b="1">
                  <a:solidFill>
                    <a:srgbClr val="1F2F28"/>
                  </a:solidFill>
                  <a:latin typeface="Arial"/>
                  <a:cs typeface="Arial"/>
                </a:rPr>
                <a:t>retención</a:t>
              </a:r>
              <a:r>
                <a:rPr lang="es-ES" sz="1200" b="1" spc="-5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ES" sz="1200" b="1">
                  <a:solidFill>
                    <a:srgbClr val="1F2F28"/>
                  </a:solidFill>
                  <a:latin typeface="Arial"/>
                  <a:cs typeface="Arial"/>
                </a:rPr>
                <a:t>operacional</a:t>
              </a:r>
              <a:r>
                <a:rPr lang="es-ES" sz="1200" b="1" spc="-4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ES" sz="1200" b="1" spc="-50">
                  <a:solidFill>
                    <a:srgbClr val="1F2F28"/>
                  </a:solidFill>
                  <a:latin typeface="Arial"/>
                  <a:cs typeface="Arial"/>
                </a:rPr>
                <a:t>· </a:t>
              </a:r>
              <a:r>
                <a:rPr lang="es-ES" sz="1200" b="1" spc="-10">
                  <a:solidFill>
                    <a:srgbClr val="1F2F28"/>
                  </a:solidFill>
                  <a:latin typeface="Arial"/>
                  <a:cs typeface="Arial"/>
                </a:rPr>
                <a:t>Bosque</a:t>
              </a:r>
              <a:endParaRPr lang="es-ES" sz="1200">
                <a:latin typeface="Arial"/>
                <a:cs typeface="Arial"/>
              </a:endParaRPr>
            </a:p>
          </p:txBody>
        </p:sp>
        <p:grpSp>
          <p:nvGrpSpPr>
            <p:cNvPr id="47" name="object 47"/>
            <p:cNvGrpSpPr/>
            <p:nvPr/>
          </p:nvGrpSpPr>
          <p:grpSpPr>
            <a:xfrm>
              <a:off x="3241620" y="4750380"/>
              <a:ext cx="1975485" cy="1152525"/>
              <a:chOff x="3241620" y="4750380"/>
              <a:chExt cx="1975485" cy="1152525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48" name="object 48"/>
              <p:cNvSpPr/>
              <p:nvPr/>
            </p:nvSpPr>
            <p:spPr>
              <a:xfrm>
                <a:off x="3246120" y="4754880"/>
                <a:ext cx="196596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965960" h="1143000">
                    <a:moveTo>
                      <a:pt x="1892515" y="0"/>
                    </a:moveTo>
                    <a:lnTo>
                      <a:pt x="73075" y="0"/>
                    </a:lnTo>
                    <a:lnTo>
                      <a:pt x="63599" y="607"/>
                    </a:lnTo>
                    <a:lnTo>
                      <a:pt x="21428" y="21467"/>
                    </a:lnTo>
                    <a:lnTo>
                      <a:pt x="607" y="63443"/>
                    </a:lnTo>
                    <a:lnTo>
                      <a:pt x="0" y="73075"/>
                    </a:lnTo>
                    <a:lnTo>
                      <a:pt x="0" y="1069924"/>
                    </a:lnTo>
                    <a:lnTo>
                      <a:pt x="15098" y="1114294"/>
                    </a:lnTo>
                    <a:lnTo>
                      <a:pt x="54046" y="1140571"/>
                    </a:lnTo>
                    <a:lnTo>
                      <a:pt x="73075" y="1143000"/>
                    </a:lnTo>
                    <a:lnTo>
                      <a:pt x="1892884" y="1142644"/>
                    </a:lnTo>
                    <a:lnTo>
                      <a:pt x="1937254" y="1127540"/>
                    </a:lnTo>
                    <a:lnTo>
                      <a:pt x="1963471" y="1088775"/>
                    </a:lnTo>
                    <a:lnTo>
                      <a:pt x="1963531" y="1088596"/>
                    </a:lnTo>
                    <a:lnTo>
                      <a:pt x="1965312" y="1079400"/>
                    </a:lnTo>
                    <a:lnTo>
                      <a:pt x="1965352" y="1079195"/>
                    </a:lnTo>
                    <a:lnTo>
                      <a:pt x="1965936" y="1069924"/>
                    </a:lnTo>
                    <a:lnTo>
                      <a:pt x="1965959" y="1069555"/>
                    </a:lnTo>
                    <a:lnTo>
                      <a:pt x="1965604" y="73075"/>
                    </a:lnTo>
                    <a:lnTo>
                      <a:pt x="1950500" y="28705"/>
                    </a:lnTo>
                    <a:lnTo>
                      <a:pt x="1911556" y="2428"/>
                    </a:lnTo>
                    <a:lnTo>
                      <a:pt x="1902155" y="607"/>
                    </a:lnTo>
                    <a:lnTo>
                      <a:pt x="1892515" y="0"/>
                    </a:lnTo>
                    <a:close/>
                  </a:path>
                </a:pathLst>
              </a:custGeom>
              <a:solidFill>
                <a:srgbClr val="FBFA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3246120" y="4754880"/>
                <a:ext cx="196596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965960" h="1143000">
                    <a:moveTo>
                      <a:pt x="0" y="73075"/>
                    </a:moveTo>
                    <a:lnTo>
                      <a:pt x="607" y="63443"/>
                    </a:lnTo>
                    <a:lnTo>
                      <a:pt x="2428" y="54046"/>
                    </a:lnTo>
                    <a:lnTo>
                      <a:pt x="28705" y="15098"/>
                    </a:lnTo>
                    <a:lnTo>
                      <a:pt x="73075" y="0"/>
                    </a:lnTo>
                    <a:lnTo>
                      <a:pt x="1892515" y="0"/>
                    </a:lnTo>
                    <a:lnTo>
                      <a:pt x="1937048" y="15104"/>
                    </a:lnTo>
                    <a:lnTo>
                      <a:pt x="1963173" y="54224"/>
                    </a:lnTo>
                    <a:lnTo>
                      <a:pt x="1965604" y="73075"/>
                    </a:lnTo>
                    <a:lnTo>
                      <a:pt x="1965959" y="1069555"/>
                    </a:lnTo>
                    <a:lnTo>
                      <a:pt x="1965352" y="1079195"/>
                    </a:lnTo>
                    <a:lnTo>
                      <a:pt x="1963531" y="1088596"/>
                    </a:lnTo>
                    <a:lnTo>
                      <a:pt x="1937254" y="1127540"/>
                    </a:lnTo>
                    <a:lnTo>
                      <a:pt x="1892884" y="1142644"/>
                    </a:lnTo>
                    <a:lnTo>
                      <a:pt x="73075" y="1143000"/>
                    </a:lnTo>
                    <a:lnTo>
                      <a:pt x="28555" y="1127895"/>
                    </a:lnTo>
                    <a:lnTo>
                      <a:pt x="2428" y="1088775"/>
                    </a:lnTo>
                    <a:lnTo>
                      <a:pt x="0" y="1069924"/>
                    </a:lnTo>
                    <a:lnTo>
                      <a:pt x="0" y="73075"/>
                    </a:lnTo>
                    <a:close/>
                  </a:path>
                </a:pathLst>
              </a:custGeom>
              <a:ln w="8999">
                <a:solidFill>
                  <a:srgbClr val="CED6D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3246120" y="4754880"/>
                <a:ext cx="730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143000">
                    <a:moveTo>
                      <a:pt x="72720" y="0"/>
                    </a:moveTo>
                    <a:lnTo>
                      <a:pt x="0" y="0"/>
                    </a:lnTo>
                    <a:lnTo>
                      <a:pt x="0" y="1142644"/>
                    </a:lnTo>
                    <a:lnTo>
                      <a:pt x="36360" y="1142644"/>
                    </a:lnTo>
                    <a:lnTo>
                      <a:pt x="72720" y="1142644"/>
                    </a:lnTo>
                    <a:lnTo>
                      <a:pt x="72720" y="0"/>
                    </a:lnTo>
                    <a:close/>
                  </a:path>
                </a:pathLst>
              </a:custGeom>
              <a:solidFill>
                <a:srgbClr val="C3862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1" name="object 51"/>
            <p:cNvSpPr txBox="1"/>
            <p:nvPr/>
          </p:nvSpPr>
          <p:spPr>
            <a:xfrm>
              <a:off x="3480384" y="4869611"/>
              <a:ext cx="1513840" cy="94361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s-ES" sz="2500" b="1" spc="-20">
                  <a:solidFill>
                    <a:srgbClr val="C3862D"/>
                  </a:solidFill>
                  <a:latin typeface="Arial"/>
                  <a:cs typeface="Arial"/>
                </a:rPr>
                <a:t>9,7%</a:t>
              </a:r>
              <a:endParaRPr lang="es-ES" sz="2500">
                <a:latin typeface="Arial"/>
                <a:cs typeface="Arial"/>
              </a:endParaRPr>
            </a:p>
            <a:p>
              <a:pPr marL="12700" marR="5080">
                <a:lnSpc>
                  <a:spcPct val="79900"/>
                </a:lnSpc>
                <a:spcBef>
                  <a:spcPts val="1925"/>
                </a:spcBef>
              </a:pPr>
              <a:r>
                <a:rPr lang="es-ES" sz="1200" b="1" spc="-10">
                  <a:solidFill>
                    <a:srgbClr val="1F2F28"/>
                  </a:solidFill>
                  <a:latin typeface="Arial"/>
                  <a:cs typeface="Arial"/>
                </a:rPr>
                <a:t>retención </a:t>
              </a:r>
              <a:r>
                <a:rPr lang="es-ES" sz="1200" b="1">
                  <a:solidFill>
                    <a:srgbClr val="1F2F28"/>
                  </a:solidFill>
                  <a:latin typeface="Arial"/>
                  <a:cs typeface="Arial"/>
                </a:rPr>
                <a:t>operacional</a:t>
              </a:r>
              <a:r>
                <a:rPr lang="es-ES" sz="1200" b="1" spc="-4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ES" sz="1200" b="1">
                  <a:solidFill>
                    <a:srgbClr val="1F2F28"/>
                  </a:solidFill>
                  <a:latin typeface="Arial"/>
                  <a:cs typeface="Arial"/>
                </a:rPr>
                <a:t>·</a:t>
              </a:r>
              <a:r>
                <a:rPr lang="es-ES" sz="1200" b="1" spc="-4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ES" sz="1200" b="1" spc="-10">
                  <a:solidFill>
                    <a:srgbClr val="1F2F28"/>
                  </a:solidFill>
                  <a:latin typeface="Arial"/>
                  <a:cs typeface="Arial"/>
                </a:rPr>
                <a:t>Estepa</a:t>
              </a:r>
              <a:endParaRPr lang="es-ES" sz="1200">
                <a:latin typeface="Arial"/>
                <a:cs typeface="Arial"/>
              </a:endParaRPr>
            </a:p>
          </p:txBody>
        </p:sp>
        <p:grpSp>
          <p:nvGrpSpPr>
            <p:cNvPr id="52" name="object 52"/>
            <p:cNvGrpSpPr/>
            <p:nvPr/>
          </p:nvGrpSpPr>
          <p:grpSpPr>
            <a:xfrm>
              <a:off x="5646060" y="4750024"/>
              <a:ext cx="4320000" cy="1152525"/>
              <a:chOff x="5646060" y="4750024"/>
              <a:chExt cx="5175885" cy="1152525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53" name="object 53"/>
              <p:cNvSpPr/>
              <p:nvPr/>
            </p:nvSpPr>
            <p:spPr>
              <a:xfrm>
                <a:off x="5650560" y="4754524"/>
                <a:ext cx="5166995" cy="1143635"/>
              </a:xfrm>
              <a:custGeom>
                <a:avLst/>
                <a:gdLst/>
                <a:ahLst/>
                <a:cxnLst/>
                <a:rect l="l" t="t" r="r" b="b"/>
                <a:pathLst>
                  <a:path w="5166995" h="1143635">
                    <a:moveTo>
                      <a:pt x="64439" y="0"/>
                    </a:moveTo>
                    <a:lnTo>
                      <a:pt x="25402" y="13357"/>
                    </a:lnTo>
                    <a:lnTo>
                      <a:pt x="2517" y="47517"/>
                    </a:lnTo>
                    <a:lnTo>
                      <a:pt x="0" y="1079271"/>
                    </a:lnTo>
                    <a:lnTo>
                      <a:pt x="540" y="1087621"/>
                    </a:lnTo>
                    <a:lnTo>
                      <a:pt x="18737" y="1124502"/>
                    </a:lnTo>
                    <a:lnTo>
                      <a:pt x="55734" y="1142815"/>
                    </a:lnTo>
                    <a:lnTo>
                      <a:pt x="64084" y="1143355"/>
                    </a:lnTo>
                    <a:lnTo>
                      <a:pt x="5102644" y="1143355"/>
                    </a:lnTo>
                    <a:lnTo>
                      <a:pt x="5141675" y="1129997"/>
                    </a:lnTo>
                    <a:lnTo>
                      <a:pt x="5164559" y="1095835"/>
                    </a:lnTo>
                    <a:lnTo>
                      <a:pt x="5166715" y="1079271"/>
                    </a:lnTo>
                    <a:lnTo>
                      <a:pt x="5166691" y="64071"/>
                    </a:lnTo>
                    <a:lnTo>
                      <a:pt x="5153357" y="25397"/>
                    </a:lnTo>
                    <a:lnTo>
                      <a:pt x="5119196" y="2516"/>
                    </a:lnTo>
                    <a:lnTo>
                      <a:pt x="64439" y="0"/>
                    </a:lnTo>
                    <a:close/>
                  </a:path>
                </a:pathLst>
              </a:custGeom>
              <a:solidFill>
                <a:srgbClr val="EFDBD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5650560" y="4754524"/>
                <a:ext cx="5166995" cy="1143635"/>
              </a:xfrm>
              <a:custGeom>
                <a:avLst/>
                <a:gdLst/>
                <a:ahLst/>
                <a:cxnLst/>
                <a:rect l="l" t="t" r="r" b="b"/>
                <a:pathLst>
                  <a:path w="5166995" h="1143635">
                    <a:moveTo>
                      <a:pt x="355" y="64071"/>
                    </a:moveTo>
                    <a:lnTo>
                      <a:pt x="896" y="55728"/>
                    </a:lnTo>
                    <a:lnTo>
                      <a:pt x="2517" y="47517"/>
                    </a:lnTo>
                    <a:lnTo>
                      <a:pt x="25402" y="13357"/>
                    </a:lnTo>
                    <a:lnTo>
                      <a:pt x="64439" y="0"/>
                    </a:lnTo>
                    <a:lnTo>
                      <a:pt x="5102644" y="355"/>
                    </a:lnTo>
                    <a:lnTo>
                      <a:pt x="5141623" y="13563"/>
                    </a:lnTo>
                    <a:lnTo>
                      <a:pt x="5164559" y="47875"/>
                    </a:lnTo>
                    <a:lnTo>
                      <a:pt x="5166715" y="64439"/>
                    </a:lnTo>
                    <a:lnTo>
                      <a:pt x="5166715" y="1079271"/>
                    </a:lnTo>
                    <a:lnTo>
                      <a:pt x="5166177" y="1087621"/>
                    </a:lnTo>
                    <a:lnTo>
                      <a:pt x="5164559" y="1095835"/>
                    </a:lnTo>
                    <a:lnTo>
                      <a:pt x="5141675" y="1129997"/>
                    </a:lnTo>
                    <a:lnTo>
                      <a:pt x="5102644" y="1143355"/>
                    </a:lnTo>
                    <a:lnTo>
                      <a:pt x="64084" y="1143355"/>
                    </a:lnTo>
                    <a:lnTo>
                      <a:pt x="25091" y="1130147"/>
                    </a:lnTo>
                    <a:lnTo>
                      <a:pt x="2160" y="1095835"/>
                    </a:lnTo>
                    <a:lnTo>
                      <a:pt x="0" y="1079271"/>
                    </a:lnTo>
                    <a:lnTo>
                      <a:pt x="355" y="64071"/>
                    </a:lnTo>
                    <a:close/>
                  </a:path>
                </a:pathLst>
              </a:custGeom>
              <a:ln w="8999">
                <a:solidFill>
                  <a:srgbClr val="A8503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5650915" y="4754879"/>
                <a:ext cx="825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143000">
                    <a:moveTo>
                      <a:pt x="82080" y="0"/>
                    </a:moveTo>
                    <a:lnTo>
                      <a:pt x="0" y="0"/>
                    </a:lnTo>
                    <a:lnTo>
                      <a:pt x="0" y="1142644"/>
                    </a:lnTo>
                    <a:lnTo>
                      <a:pt x="41046" y="1142644"/>
                    </a:lnTo>
                    <a:lnTo>
                      <a:pt x="82080" y="1142644"/>
                    </a:lnTo>
                    <a:lnTo>
                      <a:pt x="82080" y="0"/>
                    </a:lnTo>
                    <a:close/>
                  </a:path>
                </a:pathLst>
              </a:custGeom>
              <a:solidFill>
                <a:srgbClr val="A8503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6" name="object 56"/>
            <p:cNvSpPr txBox="1"/>
            <p:nvPr/>
          </p:nvSpPr>
          <p:spPr>
            <a:xfrm>
              <a:off x="5885179" y="4858461"/>
              <a:ext cx="3964940" cy="955040"/>
            </a:xfrm>
            <a:prstGeom prst="rect">
              <a:avLst/>
            </a:prstGeom>
          </p:spPr>
          <p:txBody>
            <a:bodyPr vert="horz" wrap="square" lIns="0" tIns="10795" rIns="0" bIns="0" rtlCol="0">
              <a:spAutoFit/>
            </a:bodyPr>
            <a:lstStyle/>
            <a:p>
              <a:pPr marL="12700" marR="5080">
                <a:lnSpc>
                  <a:spcPct val="101699"/>
                </a:lnSpc>
                <a:spcBef>
                  <a:spcPts val="85"/>
                </a:spcBef>
              </a:pP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Punto</a:t>
              </a:r>
              <a:r>
                <a:rPr lang="es-MX" sz="1500" b="1" spc="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crítico:</a:t>
              </a:r>
              <a:r>
                <a:rPr lang="es-MX" sz="1500" b="1" spc="3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el</a:t>
              </a:r>
              <a:r>
                <a:rPr lang="es-MX" sz="1500" b="1" spc="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nivel</a:t>
              </a:r>
              <a:r>
                <a:rPr lang="es-MX" sz="1500" b="1" spc="3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conservador</a:t>
              </a:r>
              <a:r>
                <a:rPr lang="es-MX" sz="1500" b="1" spc="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 spc="-10">
                  <a:solidFill>
                    <a:srgbClr val="1F2F28"/>
                  </a:solidFill>
                  <a:latin typeface="Arial"/>
                  <a:cs typeface="Arial"/>
                </a:rPr>
                <a:t>exige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disponibilidad</a:t>
              </a:r>
              <a:r>
                <a:rPr lang="es-MX" sz="1500" b="1" spc="6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de</a:t>
              </a:r>
              <a:r>
                <a:rPr lang="es-MX" sz="1500" b="1" spc="6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incertidumbres.</a:t>
              </a:r>
              <a:r>
                <a:rPr lang="es-MX" sz="1500" b="1" spc="60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 spc="-25">
                  <a:solidFill>
                    <a:srgbClr val="1F2F28"/>
                  </a:solidFill>
                  <a:latin typeface="Arial"/>
                  <a:cs typeface="Arial"/>
                </a:rPr>
                <a:t>Esa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disponibilidad</a:t>
              </a:r>
              <a:r>
                <a:rPr lang="es-MX" sz="1500" b="1" spc="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no</a:t>
              </a:r>
              <a:r>
                <a:rPr lang="es-MX" sz="1500" b="1" spc="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es</a:t>
              </a:r>
              <a:r>
                <a:rPr lang="es-MX" sz="1500" b="1" spc="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aleatoria</a:t>
              </a:r>
              <a:r>
                <a:rPr lang="es-MX" sz="1500" b="1" spc="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y</a:t>
              </a:r>
              <a:r>
                <a:rPr lang="es-MX" sz="1500" b="1" spc="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modifica</a:t>
              </a:r>
              <a:r>
                <a:rPr lang="es-MX" sz="1500" b="1" spc="3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 spc="-25">
                  <a:solidFill>
                    <a:srgbClr val="1F2F28"/>
                  </a:solidFill>
                  <a:latin typeface="Arial"/>
                  <a:cs typeface="Arial"/>
                </a:rPr>
                <a:t>la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distribución</a:t>
              </a:r>
              <a:r>
                <a:rPr lang="es-MX" sz="1500" b="1" spc="1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de</a:t>
              </a:r>
              <a:r>
                <a:rPr lang="es-MX" sz="1500" b="1" spc="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>
                  <a:solidFill>
                    <a:srgbClr val="1F2F28"/>
                  </a:solidFill>
                  <a:latin typeface="Arial"/>
                  <a:cs typeface="Arial"/>
                </a:rPr>
                <a:t>alturas</a:t>
              </a:r>
              <a:r>
                <a:rPr lang="es-MX" sz="1500" b="1" spc="25">
                  <a:solidFill>
                    <a:srgbClr val="1F2F28"/>
                  </a:solidFill>
                  <a:latin typeface="Arial"/>
                  <a:cs typeface="Arial"/>
                </a:rPr>
                <a:t> </a:t>
              </a:r>
              <a:r>
                <a:rPr lang="es-MX" sz="1500" b="1" spc="-10">
                  <a:solidFill>
                    <a:srgbClr val="1F2F28"/>
                  </a:solidFill>
                  <a:latin typeface="Arial"/>
                  <a:cs typeface="Arial"/>
                </a:rPr>
                <a:t>retenida.</a:t>
              </a:r>
              <a:endParaRPr lang="es-MX" sz="1500">
                <a:latin typeface="Arial"/>
                <a:cs typeface="Arial"/>
              </a:endParaRPr>
            </a:p>
          </p:txBody>
        </p:sp>
      </p:grpSp>
      <p:sp>
        <p:nvSpPr>
          <p:cNvPr id="63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64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5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19/43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Operacional</a:t>
            </a:r>
            <a:r>
              <a:rPr spc="-110"/>
              <a:t> </a:t>
            </a:r>
            <a:r>
              <a:t>y</a:t>
            </a:r>
            <a:r>
              <a:rPr spc="-110"/>
              <a:t> </a:t>
            </a:r>
            <a:r>
              <a:t>conservador</a:t>
            </a:r>
            <a:r>
              <a:rPr spc="-110"/>
              <a:t> </a:t>
            </a:r>
            <a:r>
              <a:t>responden</a:t>
            </a:r>
            <a:r>
              <a:rPr spc="-105"/>
              <a:t> </a:t>
            </a:r>
            <a:r>
              <a:t>preguntas</a:t>
            </a:r>
            <a:r>
              <a:rPr spc="-110"/>
              <a:t> </a:t>
            </a:r>
            <a:r>
              <a:rPr spc="-10"/>
              <a:t>distintas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5415" y="1026795"/>
            <a:ext cx="5361940" cy="4383405"/>
            <a:chOff x="615415" y="1310575"/>
            <a:chExt cx="5361940" cy="4383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21715" y="1316875"/>
              <a:ext cx="5349240" cy="4371340"/>
            </a:xfrm>
            <a:custGeom>
              <a:avLst/>
              <a:gdLst/>
              <a:ahLst/>
              <a:cxnLst/>
              <a:rect l="l" t="t" r="r" b="b"/>
              <a:pathLst>
                <a:path w="5349240" h="4371340">
                  <a:moveTo>
                    <a:pt x="527580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4297680"/>
                  </a:lnTo>
                  <a:lnTo>
                    <a:pt x="597" y="4306958"/>
                  </a:lnTo>
                  <a:lnTo>
                    <a:pt x="607" y="4307108"/>
                  </a:lnTo>
                  <a:lnTo>
                    <a:pt x="21291" y="4349297"/>
                  </a:lnTo>
                  <a:lnTo>
                    <a:pt x="63449" y="4370161"/>
                  </a:lnTo>
                  <a:lnTo>
                    <a:pt x="73088" y="4370768"/>
                  </a:lnTo>
                  <a:lnTo>
                    <a:pt x="5276164" y="4370400"/>
                  </a:lnTo>
                  <a:lnTo>
                    <a:pt x="5320541" y="4355358"/>
                  </a:lnTo>
                  <a:lnTo>
                    <a:pt x="5346796" y="4316402"/>
                  </a:lnTo>
                  <a:lnTo>
                    <a:pt x="5349217" y="4297680"/>
                  </a:lnTo>
                  <a:lnTo>
                    <a:pt x="5349240" y="4297324"/>
                  </a:lnTo>
                  <a:lnTo>
                    <a:pt x="5348884" y="73088"/>
                  </a:lnTo>
                  <a:lnTo>
                    <a:pt x="5333837" y="28710"/>
                  </a:lnTo>
                  <a:lnTo>
                    <a:pt x="5294837" y="2430"/>
                  </a:lnTo>
                  <a:lnTo>
                    <a:pt x="5285440" y="607"/>
                  </a:lnTo>
                  <a:lnTo>
                    <a:pt x="5275808" y="0"/>
                  </a:lnTo>
                  <a:close/>
                </a:path>
              </a:pathLst>
            </a:custGeom>
            <a:solidFill>
              <a:srgbClr val="E9F0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715" y="1316875"/>
              <a:ext cx="5349240" cy="4371340"/>
            </a:xfrm>
            <a:custGeom>
              <a:avLst/>
              <a:gdLst/>
              <a:ahLst/>
              <a:cxnLst/>
              <a:rect l="l" t="t" r="r" b="b"/>
              <a:pathLst>
                <a:path w="5349240" h="437134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053"/>
                  </a:lnTo>
                  <a:lnTo>
                    <a:pt x="73088" y="0"/>
                  </a:lnTo>
                  <a:lnTo>
                    <a:pt x="5275808" y="0"/>
                  </a:lnTo>
                  <a:lnTo>
                    <a:pt x="5320484" y="15109"/>
                  </a:lnTo>
                  <a:lnTo>
                    <a:pt x="5346455" y="54365"/>
                  </a:lnTo>
                  <a:lnTo>
                    <a:pt x="5348884" y="73088"/>
                  </a:lnTo>
                  <a:lnTo>
                    <a:pt x="5349240" y="4297324"/>
                  </a:lnTo>
                  <a:lnTo>
                    <a:pt x="5348632" y="4306958"/>
                  </a:lnTo>
                  <a:lnTo>
                    <a:pt x="5346811" y="4316358"/>
                  </a:lnTo>
                  <a:lnTo>
                    <a:pt x="5320541" y="4355358"/>
                  </a:lnTo>
                  <a:lnTo>
                    <a:pt x="5276164" y="4370400"/>
                  </a:lnTo>
                  <a:lnTo>
                    <a:pt x="73088" y="4370768"/>
                  </a:lnTo>
                  <a:lnTo>
                    <a:pt x="28405" y="4355658"/>
                  </a:lnTo>
                  <a:lnTo>
                    <a:pt x="2430" y="4316402"/>
                  </a:lnTo>
                  <a:lnTo>
                    <a:pt x="0" y="4297680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7064" y="1349440"/>
            <a:ext cx="2546350" cy="55114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>
                <a:solidFill>
                  <a:srgbClr val="1D4938"/>
                </a:solidFill>
                <a:latin typeface="Arial"/>
                <a:cs typeface="Arial"/>
              </a:rPr>
              <a:t>Nivel</a:t>
            </a:r>
            <a:r>
              <a:rPr lang="es-ES" sz="2400" b="1" spc="-8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2400" b="1" spc="-10">
                <a:solidFill>
                  <a:srgbClr val="1D4938"/>
                </a:solidFill>
                <a:latin typeface="Arial"/>
                <a:cs typeface="Arial"/>
              </a:rPr>
              <a:t>operacional</a:t>
            </a:r>
            <a:endParaRPr lang="es-ES"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7419" y="1928020"/>
            <a:ext cx="4483735" cy="9124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s-MX" sz="1300" b="1" spc="-10">
                <a:solidFill>
                  <a:srgbClr val="1D4938"/>
                </a:solidFill>
                <a:latin typeface="Arial"/>
                <a:cs typeface="Arial"/>
              </a:rPr>
              <a:t>Objetivo</a:t>
            </a:r>
            <a:endParaRPr lang="es-MX" sz="1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875"/>
              </a:spcBef>
            </a:pP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Conservar</a:t>
            </a:r>
            <a:r>
              <a:rPr lang="es-MX" sz="16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una</a:t>
            </a:r>
            <a:r>
              <a:rPr lang="es-MX" sz="16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muestra</a:t>
            </a:r>
            <a:r>
              <a:rPr lang="es-MX" sz="16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amplia</a:t>
            </a:r>
            <a:r>
              <a:rPr lang="es-MX" sz="16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6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altura</a:t>
            </a:r>
            <a:r>
              <a:rPr lang="es-MX" sz="16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válida</a:t>
            </a:r>
            <a:r>
              <a:rPr lang="es-MX" sz="16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spc="-50">
                <a:solidFill>
                  <a:srgbClr val="1F2F28"/>
                </a:solidFill>
                <a:latin typeface="Arial"/>
                <a:cs typeface="Arial"/>
              </a:rPr>
              <a:t>y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filtros</a:t>
            </a:r>
            <a:r>
              <a:rPr lang="es-MX" sz="16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básicos</a:t>
            </a:r>
            <a:r>
              <a:rPr lang="es-MX" sz="16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para</a:t>
            </a:r>
            <a:r>
              <a:rPr lang="es-MX" sz="16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describir</a:t>
            </a:r>
            <a:r>
              <a:rPr lang="es-MX" sz="16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e</a:t>
            </a:r>
            <a:r>
              <a:rPr lang="es-MX" sz="16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inferir</a:t>
            </a:r>
            <a:r>
              <a:rPr lang="es-MX" sz="16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por</a:t>
            </a:r>
            <a:r>
              <a:rPr lang="es-MX" sz="16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spc="-10">
                <a:solidFill>
                  <a:srgbClr val="1F2F28"/>
                </a:solidFill>
                <a:latin typeface="Arial"/>
                <a:cs typeface="Arial"/>
              </a:rPr>
              <a:t>gránulo.</a:t>
            </a:r>
            <a:endParaRPr lang="es-MX"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7064" y="3132183"/>
            <a:ext cx="4356735" cy="7207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lang="es-MX" sz="1300" b="1" spc="-10">
                <a:solidFill>
                  <a:srgbClr val="1D4938"/>
                </a:solidFill>
                <a:latin typeface="Arial"/>
                <a:cs typeface="Arial"/>
              </a:rPr>
              <a:t>Población</a:t>
            </a:r>
            <a:r>
              <a:rPr lang="es-MX" sz="1300" b="1" spc="-1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300" b="1" spc="-10">
                <a:solidFill>
                  <a:srgbClr val="1D4938"/>
                </a:solidFill>
                <a:latin typeface="Arial"/>
                <a:cs typeface="Arial"/>
              </a:rPr>
              <a:t>retenida</a:t>
            </a:r>
            <a:endParaRPr lang="es-MX"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1.949</a:t>
            </a:r>
            <a:r>
              <a:rPr lang="es-MX" sz="18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r>
              <a:rPr lang="es-MX" sz="18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r>
              <a:rPr lang="es-MX" sz="18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·</a:t>
            </a:r>
            <a:r>
              <a:rPr lang="es-MX" sz="18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1.923</a:t>
            </a:r>
            <a:r>
              <a:rPr lang="es-MX" sz="18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 spc="-10">
                <a:solidFill>
                  <a:srgbClr val="1F2F28"/>
                </a:solidFill>
                <a:latin typeface="Arial"/>
                <a:cs typeface="Arial"/>
              </a:rPr>
              <a:t>Estepa</a:t>
            </a:r>
            <a:endParaRPr lang="es-MX"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419" y="4033529"/>
            <a:ext cx="4608000" cy="8788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lang="es-MX" sz="1300" b="1" spc="-10">
                <a:solidFill>
                  <a:schemeClr val="tx1"/>
                </a:solidFill>
                <a:latin typeface="Arial"/>
                <a:cs typeface="Arial"/>
              </a:rPr>
              <a:t>Interpretación</a:t>
            </a:r>
            <a:endParaRPr lang="es-MX" sz="13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01699"/>
              </a:lnSpc>
              <a:spcBef>
                <a:spcPts val="800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Análisis</a:t>
            </a:r>
            <a:r>
              <a:rPr lang="es-MX" sz="1500" spc="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principal:</a:t>
            </a:r>
            <a:r>
              <a:rPr lang="es-MX" sz="1500" spc="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mayor</a:t>
            </a:r>
            <a:r>
              <a:rPr lang="es-MX" sz="1500" spc="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cobertura,</a:t>
            </a:r>
            <a:r>
              <a:rPr lang="es-MX" sz="1500" spc="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pero</a:t>
            </a:r>
            <a:r>
              <a:rPr lang="es-MX" sz="1500" spc="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todavía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dependiente</a:t>
            </a:r>
            <a:r>
              <a:rPr lang="es-MX" sz="1500" spc="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500" spc="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500" spc="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definición</a:t>
            </a:r>
            <a:r>
              <a:rPr lang="es-MX" sz="1500" spc="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operacional</a:t>
            </a:r>
            <a:r>
              <a:rPr lang="es-MX" sz="1500" spc="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500" spc="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calidad.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11620" y="1026795"/>
            <a:ext cx="5361940" cy="4383405"/>
            <a:chOff x="6211620" y="1310575"/>
            <a:chExt cx="5361940" cy="4383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" name="object 13"/>
            <p:cNvSpPr/>
            <p:nvPr/>
          </p:nvSpPr>
          <p:spPr>
            <a:xfrm>
              <a:off x="6217919" y="1316875"/>
              <a:ext cx="5349240" cy="4371340"/>
            </a:xfrm>
            <a:custGeom>
              <a:avLst/>
              <a:gdLst/>
              <a:ahLst/>
              <a:cxnLst/>
              <a:rect l="l" t="t" r="r" b="b"/>
              <a:pathLst>
                <a:path w="5349240" h="4371340">
                  <a:moveTo>
                    <a:pt x="52757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4297680"/>
                  </a:lnTo>
                  <a:lnTo>
                    <a:pt x="15046" y="4342057"/>
                  </a:lnTo>
                  <a:lnTo>
                    <a:pt x="54046" y="4368338"/>
                  </a:lnTo>
                  <a:lnTo>
                    <a:pt x="73075" y="4370768"/>
                  </a:lnTo>
                  <a:lnTo>
                    <a:pt x="5276164" y="4370400"/>
                  </a:lnTo>
                  <a:lnTo>
                    <a:pt x="5320534" y="4355358"/>
                  </a:lnTo>
                  <a:lnTo>
                    <a:pt x="5346796" y="4316402"/>
                  </a:lnTo>
                  <a:lnTo>
                    <a:pt x="5349217" y="4297680"/>
                  </a:lnTo>
                  <a:lnTo>
                    <a:pt x="5349239" y="4297324"/>
                  </a:lnTo>
                  <a:lnTo>
                    <a:pt x="5348884" y="73088"/>
                  </a:lnTo>
                  <a:lnTo>
                    <a:pt x="5333830" y="28710"/>
                  </a:lnTo>
                  <a:lnTo>
                    <a:pt x="5294836" y="2430"/>
                  </a:lnTo>
                  <a:lnTo>
                    <a:pt x="5285435" y="607"/>
                  </a:lnTo>
                  <a:lnTo>
                    <a:pt x="5275795" y="0"/>
                  </a:lnTo>
                  <a:close/>
                </a:path>
              </a:pathLst>
            </a:custGeom>
            <a:solidFill>
              <a:srgbClr val="F4E9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17919" y="1316875"/>
              <a:ext cx="5349240" cy="4371340"/>
            </a:xfrm>
            <a:custGeom>
              <a:avLst/>
              <a:gdLst/>
              <a:ahLst/>
              <a:cxnLst/>
              <a:rect l="l" t="t" r="r" b="b"/>
              <a:pathLst>
                <a:path w="5349240" h="437134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053"/>
                  </a:lnTo>
                  <a:lnTo>
                    <a:pt x="73075" y="0"/>
                  </a:lnTo>
                  <a:lnTo>
                    <a:pt x="5275795" y="0"/>
                  </a:lnTo>
                  <a:lnTo>
                    <a:pt x="5320478" y="15109"/>
                  </a:lnTo>
                  <a:lnTo>
                    <a:pt x="5346453" y="54365"/>
                  </a:lnTo>
                  <a:lnTo>
                    <a:pt x="5348884" y="73088"/>
                  </a:lnTo>
                  <a:lnTo>
                    <a:pt x="5349239" y="4297324"/>
                  </a:lnTo>
                  <a:lnTo>
                    <a:pt x="5348632" y="4306958"/>
                  </a:lnTo>
                  <a:lnTo>
                    <a:pt x="5346811" y="4316358"/>
                  </a:lnTo>
                  <a:lnTo>
                    <a:pt x="5320534" y="4355358"/>
                  </a:lnTo>
                  <a:lnTo>
                    <a:pt x="5276164" y="4370400"/>
                  </a:lnTo>
                  <a:lnTo>
                    <a:pt x="73075" y="4370768"/>
                  </a:lnTo>
                  <a:lnTo>
                    <a:pt x="28399" y="4355658"/>
                  </a:lnTo>
                  <a:lnTo>
                    <a:pt x="2428" y="4316402"/>
                  </a:lnTo>
                  <a:lnTo>
                    <a:pt x="0" y="4297680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43255" y="1349440"/>
            <a:ext cx="2667000" cy="55114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>
                <a:solidFill>
                  <a:srgbClr val="A8503B"/>
                </a:solidFill>
                <a:latin typeface="Arial"/>
                <a:cs typeface="Arial"/>
              </a:rPr>
              <a:t>Nivel</a:t>
            </a:r>
            <a:r>
              <a:rPr lang="es-ES" sz="2400" b="1" spc="-8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ES" sz="2400" b="1" spc="-10">
                <a:solidFill>
                  <a:srgbClr val="A8503B"/>
                </a:solidFill>
                <a:latin typeface="Arial"/>
                <a:cs typeface="Arial"/>
              </a:rPr>
              <a:t>conservador</a:t>
            </a:r>
            <a:endParaRPr lang="es-ES"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43623" y="1928020"/>
            <a:ext cx="4517390" cy="912494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s-MX" sz="1300" b="1" spc="-10">
                <a:solidFill>
                  <a:srgbClr val="A8503B"/>
                </a:solidFill>
                <a:latin typeface="Arial"/>
                <a:cs typeface="Arial"/>
              </a:rPr>
              <a:t>Objetivo</a:t>
            </a:r>
            <a:endParaRPr lang="es-MX" sz="1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875"/>
              </a:spcBef>
            </a:pP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Evaluar</a:t>
            </a:r>
            <a:r>
              <a:rPr lang="es-MX" sz="16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sensibilidad</a:t>
            </a:r>
            <a:r>
              <a:rPr lang="es-MX" sz="16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al</a:t>
            </a:r>
            <a:r>
              <a:rPr lang="es-MX" sz="16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exigir</a:t>
            </a:r>
            <a:r>
              <a:rPr lang="es-MX" sz="16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spc="-10">
                <a:solidFill>
                  <a:srgbClr val="1F2F28"/>
                </a:solidFill>
                <a:latin typeface="Arial"/>
                <a:cs typeface="Arial"/>
              </a:rPr>
              <a:t>incertidumbres</a:t>
            </a:r>
            <a:r>
              <a:rPr lang="es-MX" sz="16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600" spc="-25">
                <a:solidFill>
                  <a:srgbClr val="1F2F28"/>
                </a:solidFill>
                <a:latin typeface="Arial"/>
                <a:cs typeface="Arial"/>
              </a:rPr>
              <a:t> una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submuestra</a:t>
            </a:r>
            <a:r>
              <a:rPr lang="es-MX" sz="16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6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>
                <a:solidFill>
                  <a:srgbClr val="1F2F28"/>
                </a:solidFill>
                <a:latin typeface="Arial"/>
                <a:cs typeface="Arial"/>
              </a:rPr>
              <a:t>información</a:t>
            </a:r>
            <a:r>
              <a:rPr lang="es-MX" sz="16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spc="-10">
                <a:solidFill>
                  <a:srgbClr val="1F2F28"/>
                </a:solidFill>
                <a:latin typeface="Arial"/>
                <a:cs typeface="Arial"/>
              </a:rPr>
              <a:t>adicional.</a:t>
            </a:r>
            <a:endParaRPr lang="es-MX"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43255" y="3132183"/>
            <a:ext cx="4165600" cy="7207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lang="es-MX" sz="1300" b="1" spc="-10">
                <a:solidFill>
                  <a:srgbClr val="A8503B"/>
                </a:solidFill>
                <a:latin typeface="Arial"/>
                <a:cs typeface="Arial"/>
              </a:rPr>
              <a:t>Población</a:t>
            </a:r>
            <a:r>
              <a:rPr lang="es-MX" sz="1300" b="1" spc="-1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300" b="1" spc="-10">
                <a:solidFill>
                  <a:srgbClr val="A8503B"/>
                </a:solidFill>
                <a:latin typeface="Arial"/>
                <a:cs typeface="Arial"/>
              </a:rPr>
              <a:t>retenida</a:t>
            </a:r>
            <a:endParaRPr lang="es-MX"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905</a:t>
            </a:r>
            <a:r>
              <a:rPr lang="es-MX" sz="18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r>
              <a:rPr lang="es-MX" sz="18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r>
              <a:rPr lang="es-MX" sz="18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·</a:t>
            </a:r>
            <a:r>
              <a:rPr lang="es-MX" sz="18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1F2F28"/>
                </a:solidFill>
                <a:latin typeface="Arial"/>
                <a:cs typeface="Arial"/>
              </a:rPr>
              <a:t>1.482</a:t>
            </a:r>
            <a:r>
              <a:rPr lang="es-MX" sz="18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800" b="1" spc="-10">
                <a:solidFill>
                  <a:srgbClr val="1F2F28"/>
                </a:solidFill>
                <a:latin typeface="Arial"/>
                <a:cs typeface="Arial"/>
              </a:rPr>
              <a:t>Estepa</a:t>
            </a:r>
            <a:endParaRPr lang="es-MX"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43622" y="4026713"/>
            <a:ext cx="4536000" cy="1013738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es-MX" sz="1300" b="1" spc="-10">
                <a:solidFill>
                  <a:schemeClr val="tx1"/>
                </a:solidFill>
                <a:latin typeface="Arial"/>
                <a:cs typeface="Arial"/>
              </a:rPr>
              <a:t>Interpretación</a:t>
            </a:r>
            <a:endParaRPr lang="es-MX" sz="130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ts val="1510"/>
              </a:lnSpc>
              <a:spcBef>
                <a:spcPts val="994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Análisis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sensibilidad:</a:t>
            </a:r>
            <a:r>
              <a:rPr lang="es-MX" sz="15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no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es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automáticamente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“más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correcto”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si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mecanismo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disponibilidad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selecciona alturas.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21024" y="5562600"/>
            <a:ext cx="9565005" cy="684000"/>
            <a:chOff x="1321024" y="5893024"/>
            <a:chExt cx="9565005" cy="393700"/>
          </a:xfrm>
        </p:grpSpPr>
        <p:sp>
          <p:nvSpPr>
            <p:cNvPr id="20" name="object 20"/>
            <p:cNvSpPr/>
            <p:nvPr/>
          </p:nvSpPr>
          <p:spPr>
            <a:xfrm>
              <a:off x="1325524" y="5897524"/>
              <a:ext cx="9556115" cy="384810"/>
            </a:xfrm>
            <a:custGeom>
              <a:avLst/>
              <a:gdLst/>
              <a:ahLst/>
              <a:cxnLst/>
              <a:rect l="l" t="t" r="r" b="b"/>
              <a:pathLst>
                <a:path w="955611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320395"/>
                  </a:lnTo>
                  <a:lnTo>
                    <a:pt x="538" y="328743"/>
                  </a:lnTo>
                  <a:lnTo>
                    <a:pt x="18735" y="365620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9491751" y="384479"/>
                  </a:lnTo>
                  <a:lnTo>
                    <a:pt x="9530793" y="371115"/>
                  </a:lnTo>
                  <a:lnTo>
                    <a:pt x="9553675" y="336954"/>
                  </a:lnTo>
                  <a:lnTo>
                    <a:pt x="9555835" y="320395"/>
                  </a:lnTo>
                  <a:lnTo>
                    <a:pt x="9555811" y="64071"/>
                  </a:lnTo>
                  <a:lnTo>
                    <a:pt x="9542477" y="25397"/>
                  </a:lnTo>
                  <a:lnTo>
                    <a:pt x="9508315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1E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5524" y="5897524"/>
              <a:ext cx="9556115" cy="384810"/>
            </a:xfrm>
            <a:custGeom>
              <a:avLst/>
              <a:gdLst/>
              <a:ahLst/>
              <a:cxnLst/>
              <a:rect l="l" t="t" r="r" b="b"/>
              <a:pathLst>
                <a:path w="9556115" h="384810">
                  <a:moveTo>
                    <a:pt x="355" y="64071"/>
                  </a:moveTo>
                  <a:lnTo>
                    <a:pt x="895" y="55728"/>
                  </a:lnTo>
                  <a:lnTo>
                    <a:pt x="2516" y="47517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9491751" y="355"/>
                  </a:lnTo>
                  <a:lnTo>
                    <a:pt x="9530743" y="13563"/>
                  </a:lnTo>
                  <a:lnTo>
                    <a:pt x="9553675" y="47875"/>
                  </a:lnTo>
                  <a:lnTo>
                    <a:pt x="9555835" y="64439"/>
                  </a:lnTo>
                  <a:lnTo>
                    <a:pt x="9555835" y="320395"/>
                  </a:lnTo>
                  <a:lnTo>
                    <a:pt x="9555295" y="328743"/>
                  </a:lnTo>
                  <a:lnTo>
                    <a:pt x="9553675" y="336954"/>
                  </a:lnTo>
                  <a:lnTo>
                    <a:pt x="9530793" y="371115"/>
                  </a:lnTo>
                  <a:lnTo>
                    <a:pt x="9491751" y="384479"/>
                  </a:lnTo>
                  <a:lnTo>
                    <a:pt x="64071" y="384479"/>
                  </a:lnTo>
                  <a:lnTo>
                    <a:pt x="25086" y="371265"/>
                  </a:lnTo>
                  <a:lnTo>
                    <a:pt x="2155" y="336954"/>
                  </a:lnTo>
                  <a:lnTo>
                    <a:pt x="0" y="320395"/>
                  </a:lnTo>
                  <a:lnTo>
                    <a:pt x="355" y="64071"/>
                  </a:lnTo>
                  <a:close/>
                </a:path>
              </a:pathLst>
            </a:custGeom>
            <a:ln w="89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5880" y="5897879"/>
              <a:ext cx="82550" cy="384175"/>
            </a:xfrm>
            <a:custGeom>
              <a:avLst/>
              <a:gdLst/>
              <a:ahLst/>
              <a:cxnLst/>
              <a:rect l="l" t="t" r="r" b="b"/>
              <a:pathLst>
                <a:path w="82550" h="384175">
                  <a:moveTo>
                    <a:pt x="82080" y="0"/>
                  </a:moveTo>
                  <a:lnTo>
                    <a:pt x="0" y="0"/>
                  </a:lnTo>
                  <a:lnTo>
                    <a:pt x="0" y="383755"/>
                  </a:lnTo>
                  <a:lnTo>
                    <a:pt x="41033" y="383755"/>
                  </a:lnTo>
                  <a:lnTo>
                    <a:pt x="82080" y="383755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10596" y="5683279"/>
            <a:ext cx="87858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calidad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se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resume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“más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filtros”.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Debe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conservarse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trazabilidad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entre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condición,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población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retenida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afirmación</a:t>
            </a:r>
            <a:r>
              <a:rPr lang="es-MX" sz="14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científica.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24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25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26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20/43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Estrategia</a:t>
            </a:r>
            <a:r>
              <a:rPr spc="-100"/>
              <a:t> </a:t>
            </a:r>
            <a:r>
              <a:t>estadística</a:t>
            </a:r>
            <a:r>
              <a:rPr spc="-95"/>
              <a:t> </a:t>
            </a:r>
            <a:r>
              <a:t>y</a:t>
            </a:r>
            <a:r>
              <a:rPr spc="-95"/>
              <a:t> </a:t>
            </a:r>
            <a:r>
              <a:t>reglas</a:t>
            </a:r>
            <a:r>
              <a:rPr spc="-95"/>
              <a:t> </a:t>
            </a:r>
            <a:r>
              <a:t>de</a:t>
            </a:r>
            <a:r>
              <a:rPr spc="-100"/>
              <a:t> </a:t>
            </a:r>
            <a:r>
              <a:rPr spc="-10"/>
              <a:t>lectura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6860" y="1293656"/>
            <a:ext cx="2661285" cy="1381125"/>
            <a:chOff x="616860" y="1293656"/>
            <a:chExt cx="2661285" cy="13811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21360" y="1298155"/>
              <a:ext cx="2651760" cy="1371600"/>
            </a:xfrm>
            <a:custGeom>
              <a:avLst/>
              <a:gdLst/>
              <a:ahLst/>
              <a:cxnLst/>
              <a:rect l="l" t="t" r="r" b="b"/>
              <a:pathLst>
                <a:path w="2651760" h="1371600">
                  <a:moveTo>
                    <a:pt x="257831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98524"/>
                  </a:lnTo>
                  <a:lnTo>
                    <a:pt x="594" y="1307800"/>
                  </a:lnTo>
                  <a:lnTo>
                    <a:pt x="607" y="1308002"/>
                  </a:lnTo>
                  <a:lnTo>
                    <a:pt x="2393" y="1317197"/>
                  </a:lnTo>
                  <a:lnTo>
                    <a:pt x="2428" y="1317380"/>
                  </a:lnTo>
                  <a:lnTo>
                    <a:pt x="5410" y="1326259"/>
                  </a:lnTo>
                  <a:lnTo>
                    <a:pt x="36360" y="1361884"/>
                  </a:lnTo>
                  <a:lnTo>
                    <a:pt x="73075" y="1371600"/>
                  </a:lnTo>
                  <a:lnTo>
                    <a:pt x="2578684" y="1371244"/>
                  </a:lnTo>
                  <a:lnTo>
                    <a:pt x="2623054" y="1356145"/>
                  </a:lnTo>
                  <a:lnTo>
                    <a:pt x="2649269" y="1317380"/>
                  </a:lnTo>
                  <a:lnTo>
                    <a:pt x="2649331" y="1317197"/>
                  </a:lnTo>
                  <a:lnTo>
                    <a:pt x="2651113" y="1308002"/>
                  </a:lnTo>
                  <a:lnTo>
                    <a:pt x="2651152" y="1307800"/>
                  </a:lnTo>
                  <a:lnTo>
                    <a:pt x="2651737" y="1298524"/>
                  </a:lnTo>
                  <a:lnTo>
                    <a:pt x="2651760" y="1298168"/>
                  </a:lnTo>
                  <a:lnTo>
                    <a:pt x="2651404" y="73088"/>
                  </a:lnTo>
                  <a:lnTo>
                    <a:pt x="2636300" y="28710"/>
                  </a:lnTo>
                  <a:lnTo>
                    <a:pt x="2597356" y="2430"/>
                  </a:lnTo>
                  <a:lnTo>
                    <a:pt x="2587955" y="607"/>
                  </a:lnTo>
                  <a:lnTo>
                    <a:pt x="257831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360" y="1298155"/>
              <a:ext cx="2651760" cy="1371600"/>
            </a:xfrm>
            <a:custGeom>
              <a:avLst/>
              <a:gdLst/>
              <a:ahLst/>
              <a:cxnLst/>
              <a:rect l="l" t="t" r="r" b="b"/>
              <a:pathLst>
                <a:path w="2651760" h="13716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2578315" y="0"/>
                  </a:lnTo>
                  <a:lnTo>
                    <a:pt x="2622848" y="15109"/>
                  </a:lnTo>
                  <a:lnTo>
                    <a:pt x="2648973" y="54232"/>
                  </a:lnTo>
                  <a:lnTo>
                    <a:pt x="2651404" y="73088"/>
                  </a:lnTo>
                  <a:lnTo>
                    <a:pt x="2651760" y="1298168"/>
                  </a:lnTo>
                  <a:lnTo>
                    <a:pt x="2651152" y="1307800"/>
                  </a:lnTo>
                  <a:lnTo>
                    <a:pt x="2649331" y="1317197"/>
                  </a:lnTo>
                  <a:lnTo>
                    <a:pt x="2623054" y="1356145"/>
                  </a:lnTo>
                  <a:lnTo>
                    <a:pt x="2578684" y="1371244"/>
                  </a:lnTo>
                  <a:lnTo>
                    <a:pt x="73075" y="1371600"/>
                  </a:lnTo>
                  <a:lnTo>
                    <a:pt x="28555" y="1356503"/>
                  </a:lnTo>
                  <a:lnTo>
                    <a:pt x="2428" y="1317380"/>
                  </a:lnTo>
                  <a:lnTo>
                    <a:pt x="0" y="1298524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1595" y="149940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9" y="397316"/>
                  </a:lnTo>
                  <a:lnTo>
                    <a:pt x="96606" y="442833"/>
                  </a:lnTo>
                  <a:lnTo>
                    <a:pt x="152495" y="475082"/>
                  </a:lnTo>
                  <a:lnTo>
                    <a:pt x="214707" y="491778"/>
                  </a:lnTo>
                  <a:lnTo>
                    <a:pt x="246964" y="493915"/>
                  </a:lnTo>
                  <a:lnTo>
                    <a:pt x="279220" y="491778"/>
                  </a:lnTo>
                  <a:lnTo>
                    <a:pt x="341433" y="475082"/>
                  </a:lnTo>
                  <a:lnTo>
                    <a:pt x="397322" y="442833"/>
                  </a:lnTo>
                  <a:lnTo>
                    <a:pt x="442839" y="397316"/>
                  </a:lnTo>
                  <a:lnTo>
                    <a:pt x="475095" y="341420"/>
                  </a:lnTo>
                  <a:lnTo>
                    <a:pt x="491791" y="279213"/>
                  </a:lnTo>
                  <a:lnTo>
                    <a:pt x="493928" y="246964"/>
                  </a:lnTo>
                  <a:lnTo>
                    <a:pt x="491791" y="214707"/>
                  </a:lnTo>
                  <a:lnTo>
                    <a:pt x="475095" y="152495"/>
                  </a:lnTo>
                  <a:lnTo>
                    <a:pt x="442839" y="96606"/>
                  </a:lnTo>
                  <a:lnTo>
                    <a:pt x="397322" y="51089"/>
                  </a:lnTo>
                  <a:lnTo>
                    <a:pt x="341433" y="18832"/>
                  </a:lnTo>
                  <a:lnTo>
                    <a:pt x="279220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05738" y="159505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0339" y="1468704"/>
            <a:ext cx="1572895" cy="156674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 spc="-10">
                <a:solidFill>
                  <a:srgbClr val="1F2F28"/>
                </a:solidFill>
                <a:latin typeface="Arial"/>
                <a:cs typeface="Arial"/>
              </a:rPr>
              <a:t>Descripción</a:t>
            </a:r>
            <a:endParaRPr lang="es-MX" sz="1700">
              <a:latin typeface="Arial"/>
              <a:cs typeface="Arial"/>
            </a:endParaRPr>
          </a:p>
          <a:p>
            <a:pPr marL="12700" marR="5080">
              <a:lnSpc>
                <a:spcPct val="79900"/>
              </a:lnSpc>
              <a:spcBef>
                <a:spcPts val="1580"/>
              </a:spcBef>
            </a:pP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Mediana</a:t>
            </a:r>
            <a:r>
              <a:rPr lang="es-MX" sz="1200" spc="-2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e</a:t>
            </a:r>
            <a:r>
              <a:rPr lang="es-MX" sz="1200" spc="-2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64726B"/>
                </a:solidFill>
                <a:latin typeface="Arial"/>
                <a:cs typeface="Arial"/>
              </a:rPr>
              <a:t>intervalo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intercuartílico</a:t>
            </a:r>
            <a:r>
              <a:rPr lang="es-MX" sz="1200" spc="-4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de</a:t>
            </a:r>
            <a:r>
              <a:rPr lang="es-MX" sz="1200" spc="-4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 spc="-20">
                <a:solidFill>
                  <a:srgbClr val="64726B"/>
                </a:solidFill>
                <a:latin typeface="Arial"/>
                <a:cs typeface="Arial"/>
              </a:rPr>
              <a:t>RH98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a</a:t>
            </a:r>
            <a:r>
              <a:rPr lang="es-MX" sz="1200" spc="-1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nivel</a:t>
            </a:r>
            <a:r>
              <a:rPr lang="es-MX" sz="1200" spc="-1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de</a:t>
            </a:r>
            <a:r>
              <a:rPr lang="es-MX" sz="1200" spc="-1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64726B"/>
                </a:solidFill>
                <a:latin typeface="Arial"/>
                <a:cs typeface="Arial"/>
              </a:rPr>
              <a:t>segmento.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42496" y="1293656"/>
            <a:ext cx="2661285" cy="1381125"/>
            <a:chOff x="3442496" y="1293656"/>
            <a:chExt cx="2661285" cy="13811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2" name="object 12"/>
            <p:cNvSpPr/>
            <p:nvPr/>
          </p:nvSpPr>
          <p:spPr>
            <a:xfrm>
              <a:off x="3446996" y="1298155"/>
              <a:ext cx="2651760" cy="1371600"/>
            </a:xfrm>
            <a:custGeom>
              <a:avLst/>
              <a:gdLst/>
              <a:ahLst/>
              <a:cxnLst/>
              <a:rect l="l" t="t" r="r" b="b"/>
              <a:pathLst>
                <a:path w="2651760" h="1371600">
                  <a:moveTo>
                    <a:pt x="257832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98524"/>
                  </a:lnTo>
                  <a:lnTo>
                    <a:pt x="594" y="1307800"/>
                  </a:lnTo>
                  <a:lnTo>
                    <a:pt x="607" y="1308002"/>
                  </a:lnTo>
                  <a:lnTo>
                    <a:pt x="2394" y="1317197"/>
                  </a:lnTo>
                  <a:lnTo>
                    <a:pt x="2430" y="1317380"/>
                  </a:lnTo>
                  <a:lnTo>
                    <a:pt x="5416" y="1326259"/>
                  </a:lnTo>
                  <a:lnTo>
                    <a:pt x="36360" y="1361884"/>
                  </a:lnTo>
                  <a:lnTo>
                    <a:pt x="73088" y="1371600"/>
                  </a:lnTo>
                  <a:lnTo>
                    <a:pt x="2578684" y="1371244"/>
                  </a:lnTo>
                  <a:lnTo>
                    <a:pt x="2623061" y="1356145"/>
                  </a:lnTo>
                  <a:lnTo>
                    <a:pt x="2649269" y="1317380"/>
                  </a:lnTo>
                  <a:lnTo>
                    <a:pt x="2649331" y="1317197"/>
                  </a:lnTo>
                  <a:lnTo>
                    <a:pt x="2651113" y="1308002"/>
                  </a:lnTo>
                  <a:lnTo>
                    <a:pt x="2651152" y="1307800"/>
                  </a:lnTo>
                  <a:lnTo>
                    <a:pt x="2651737" y="1298524"/>
                  </a:lnTo>
                  <a:lnTo>
                    <a:pt x="2651760" y="1298168"/>
                  </a:lnTo>
                  <a:lnTo>
                    <a:pt x="2651404" y="73088"/>
                  </a:lnTo>
                  <a:lnTo>
                    <a:pt x="2636305" y="28710"/>
                  </a:lnTo>
                  <a:lnTo>
                    <a:pt x="2597357" y="2430"/>
                  </a:lnTo>
                  <a:lnTo>
                    <a:pt x="2587960" y="607"/>
                  </a:lnTo>
                  <a:lnTo>
                    <a:pt x="257832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46996" y="1298155"/>
              <a:ext cx="2651760" cy="1371600"/>
            </a:xfrm>
            <a:custGeom>
              <a:avLst/>
              <a:gdLst/>
              <a:ahLst/>
              <a:cxnLst/>
              <a:rect l="l" t="t" r="r" b="b"/>
              <a:pathLst>
                <a:path w="2651760" h="137160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2578328" y="0"/>
                  </a:lnTo>
                  <a:lnTo>
                    <a:pt x="2622849" y="15109"/>
                  </a:lnTo>
                  <a:lnTo>
                    <a:pt x="2648975" y="54232"/>
                  </a:lnTo>
                  <a:lnTo>
                    <a:pt x="2651404" y="73088"/>
                  </a:lnTo>
                  <a:lnTo>
                    <a:pt x="2651760" y="1298168"/>
                  </a:lnTo>
                  <a:lnTo>
                    <a:pt x="2651152" y="1307800"/>
                  </a:lnTo>
                  <a:lnTo>
                    <a:pt x="2649331" y="1317197"/>
                  </a:lnTo>
                  <a:lnTo>
                    <a:pt x="2623061" y="1356145"/>
                  </a:lnTo>
                  <a:lnTo>
                    <a:pt x="2578684" y="1371244"/>
                  </a:lnTo>
                  <a:lnTo>
                    <a:pt x="73088" y="1371600"/>
                  </a:lnTo>
                  <a:lnTo>
                    <a:pt x="28555" y="1356503"/>
                  </a:lnTo>
                  <a:lnTo>
                    <a:pt x="2430" y="1317380"/>
                  </a:lnTo>
                  <a:lnTo>
                    <a:pt x="0" y="1298524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57244" y="149940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951" y="0"/>
                  </a:moveTo>
                  <a:lnTo>
                    <a:pt x="183057" y="8459"/>
                  </a:lnTo>
                  <a:lnTo>
                    <a:pt x="123469" y="33121"/>
                  </a:lnTo>
                  <a:lnTo>
                    <a:pt x="72351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1" y="397316"/>
                  </a:lnTo>
                  <a:lnTo>
                    <a:pt x="96593" y="442833"/>
                  </a:lnTo>
                  <a:lnTo>
                    <a:pt x="152489" y="475082"/>
                  </a:lnTo>
                  <a:lnTo>
                    <a:pt x="214702" y="491778"/>
                  </a:lnTo>
                  <a:lnTo>
                    <a:pt x="246951" y="493915"/>
                  </a:lnTo>
                  <a:lnTo>
                    <a:pt x="279207" y="491778"/>
                  </a:lnTo>
                  <a:lnTo>
                    <a:pt x="341420" y="475082"/>
                  </a:lnTo>
                  <a:lnTo>
                    <a:pt x="397309" y="442833"/>
                  </a:lnTo>
                  <a:lnTo>
                    <a:pt x="442826" y="397316"/>
                  </a:lnTo>
                  <a:lnTo>
                    <a:pt x="475082" y="341420"/>
                  </a:lnTo>
                  <a:lnTo>
                    <a:pt x="491778" y="279213"/>
                  </a:lnTo>
                  <a:lnTo>
                    <a:pt x="493915" y="246964"/>
                  </a:lnTo>
                  <a:lnTo>
                    <a:pt x="491778" y="214707"/>
                  </a:lnTo>
                  <a:lnTo>
                    <a:pt x="475082" y="152495"/>
                  </a:lnTo>
                  <a:lnTo>
                    <a:pt x="442826" y="96606"/>
                  </a:lnTo>
                  <a:lnTo>
                    <a:pt x="397309" y="51089"/>
                  </a:lnTo>
                  <a:lnTo>
                    <a:pt x="341420" y="18832"/>
                  </a:lnTo>
                  <a:lnTo>
                    <a:pt x="279207" y="2137"/>
                  </a:lnTo>
                  <a:lnTo>
                    <a:pt x="246951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31374" y="159505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5975" y="1461859"/>
            <a:ext cx="160845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300" b="1">
                <a:solidFill>
                  <a:srgbClr val="1F2F28"/>
                </a:solidFill>
                <a:latin typeface="Arial"/>
                <a:cs typeface="Arial"/>
              </a:rPr>
              <a:t>Unidad</a:t>
            </a:r>
            <a:r>
              <a:rPr lang="es-ES" sz="130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ES" sz="13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b="1" spc="-10">
                <a:solidFill>
                  <a:srgbClr val="1F2F28"/>
                </a:solidFill>
                <a:latin typeface="Arial"/>
                <a:cs typeface="Arial"/>
              </a:rPr>
              <a:t>contraste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5975" y="1898180"/>
            <a:ext cx="1569085" cy="6235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Mediana</a:t>
            </a:r>
            <a:r>
              <a:rPr lang="es-MX" sz="1400" spc="-2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400" spc="-25">
                <a:solidFill>
                  <a:srgbClr val="64726B"/>
                </a:solidFill>
                <a:latin typeface="Arial"/>
                <a:cs typeface="Arial"/>
              </a:rPr>
              <a:t>por </a:t>
            </a: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gránulo:</a:t>
            </a:r>
            <a:r>
              <a:rPr lang="es-MX" sz="1400" spc="-2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20</a:t>
            </a:r>
            <a:r>
              <a:rPr lang="es-MX" sz="1400" spc="-1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400" spc="-10">
                <a:solidFill>
                  <a:srgbClr val="64726B"/>
                </a:solidFill>
                <a:latin typeface="Arial"/>
                <a:cs typeface="Arial"/>
              </a:rPr>
              <a:t>Bosque</a:t>
            </a:r>
            <a:endParaRPr lang="es-MX" sz="1400">
              <a:latin typeface="Arial"/>
              <a:cs typeface="Arial"/>
            </a:endParaRPr>
          </a:p>
          <a:p>
            <a:pPr marL="12700">
              <a:lnSpc>
                <a:spcPts val="1495"/>
              </a:lnSpc>
            </a:pP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y</a:t>
            </a:r>
            <a:r>
              <a:rPr lang="es-MX" sz="1400" spc="-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26 </a:t>
            </a:r>
            <a:r>
              <a:rPr lang="es-MX" sz="1400" spc="-10">
                <a:solidFill>
                  <a:srgbClr val="64726B"/>
                </a:solidFill>
                <a:latin typeface="Arial"/>
                <a:cs typeface="Arial"/>
              </a:rPr>
              <a:t>Estepa.</a:t>
            </a:r>
            <a:endParaRPr lang="es-MX"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67775" y="1293656"/>
            <a:ext cx="2661285" cy="1381125"/>
            <a:chOff x="6267775" y="1293656"/>
            <a:chExt cx="2661285" cy="13811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9" name="object 19"/>
            <p:cNvSpPr/>
            <p:nvPr/>
          </p:nvSpPr>
          <p:spPr>
            <a:xfrm>
              <a:off x="6272275" y="1298155"/>
              <a:ext cx="2651760" cy="1371600"/>
            </a:xfrm>
            <a:custGeom>
              <a:avLst/>
              <a:gdLst/>
              <a:ahLst/>
              <a:cxnLst/>
              <a:rect l="l" t="t" r="r" b="b"/>
              <a:pathLst>
                <a:path w="2651759" h="1371600">
                  <a:moveTo>
                    <a:pt x="257832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98524"/>
                  </a:lnTo>
                  <a:lnTo>
                    <a:pt x="594" y="1307800"/>
                  </a:lnTo>
                  <a:lnTo>
                    <a:pt x="607" y="1308002"/>
                  </a:lnTo>
                  <a:lnTo>
                    <a:pt x="2394" y="1317197"/>
                  </a:lnTo>
                  <a:lnTo>
                    <a:pt x="2430" y="1317380"/>
                  </a:lnTo>
                  <a:lnTo>
                    <a:pt x="5416" y="1326259"/>
                  </a:lnTo>
                  <a:lnTo>
                    <a:pt x="36360" y="1361884"/>
                  </a:lnTo>
                  <a:lnTo>
                    <a:pt x="73088" y="1371600"/>
                  </a:lnTo>
                  <a:lnTo>
                    <a:pt x="2578684" y="1371244"/>
                  </a:lnTo>
                  <a:lnTo>
                    <a:pt x="2623061" y="1356145"/>
                  </a:lnTo>
                  <a:lnTo>
                    <a:pt x="2649269" y="1317380"/>
                  </a:lnTo>
                  <a:lnTo>
                    <a:pt x="2649331" y="1317197"/>
                  </a:lnTo>
                  <a:lnTo>
                    <a:pt x="2651113" y="1308002"/>
                  </a:lnTo>
                  <a:lnTo>
                    <a:pt x="2651152" y="1307800"/>
                  </a:lnTo>
                  <a:lnTo>
                    <a:pt x="2651737" y="1298524"/>
                  </a:lnTo>
                  <a:lnTo>
                    <a:pt x="2651404" y="73088"/>
                  </a:lnTo>
                  <a:lnTo>
                    <a:pt x="2636305" y="28710"/>
                  </a:lnTo>
                  <a:lnTo>
                    <a:pt x="2597357" y="2430"/>
                  </a:lnTo>
                  <a:lnTo>
                    <a:pt x="2587960" y="607"/>
                  </a:lnTo>
                  <a:lnTo>
                    <a:pt x="257832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72275" y="1298155"/>
              <a:ext cx="2651760" cy="1371600"/>
            </a:xfrm>
            <a:custGeom>
              <a:avLst/>
              <a:gdLst/>
              <a:ahLst/>
              <a:cxnLst/>
              <a:rect l="l" t="t" r="r" b="b"/>
              <a:pathLst>
                <a:path w="2651759" h="137160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2578328" y="0"/>
                  </a:lnTo>
                  <a:lnTo>
                    <a:pt x="2622849" y="15109"/>
                  </a:lnTo>
                  <a:lnTo>
                    <a:pt x="2648975" y="54232"/>
                  </a:lnTo>
                  <a:lnTo>
                    <a:pt x="2651404" y="73088"/>
                  </a:lnTo>
                  <a:lnTo>
                    <a:pt x="2651759" y="1298168"/>
                  </a:lnTo>
                  <a:lnTo>
                    <a:pt x="2651152" y="1307800"/>
                  </a:lnTo>
                  <a:lnTo>
                    <a:pt x="2649331" y="1317197"/>
                  </a:lnTo>
                  <a:lnTo>
                    <a:pt x="2623061" y="1356145"/>
                  </a:lnTo>
                  <a:lnTo>
                    <a:pt x="2578684" y="1371244"/>
                  </a:lnTo>
                  <a:lnTo>
                    <a:pt x="73088" y="1371600"/>
                  </a:lnTo>
                  <a:lnTo>
                    <a:pt x="28555" y="1356503"/>
                  </a:lnTo>
                  <a:lnTo>
                    <a:pt x="2430" y="1317380"/>
                  </a:lnTo>
                  <a:lnTo>
                    <a:pt x="0" y="1298524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82879" y="149940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9" y="397316"/>
                  </a:lnTo>
                  <a:lnTo>
                    <a:pt x="96606" y="442833"/>
                  </a:lnTo>
                  <a:lnTo>
                    <a:pt x="152495" y="475082"/>
                  </a:lnTo>
                  <a:lnTo>
                    <a:pt x="214707" y="491778"/>
                  </a:lnTo>
                  <a:lnTo>
                    <a:pt x="246964" y="493915"/>
                  </a:lnTo>
                  <a:lnTo>
                    <a:pt x="279213" y="491778"/>
                  </a:lnTo>
                  <a:lnTo>
                    <a:pt x="341420" y="475082"/>
                  </a:lnTo>
                  <a:lnTo>
                    <a:pt x="397316" y="442833"/>
                  </a:lnTo>
                  <a:lnTo>
                    <a:pt x="442833" y="397316"/>
                  </a:lnTo>
                  <a:lnTo>
                    <a:pt x="475082" y="341420"/>
                  </a:lnTo>
                  <a:lnTo>
                    <a:pt x="491778" y="279213"/>
                  </a:lnTo>
                  <a:lnTo>
                    <a:pt x="493915" y="246964"/>
                  </a:lnTo>
                  <a:lnTo>
                    <a:pt x="491778" y="214707"/>
                  </a:lnTo>
                  <a:lnTo>
                    <a:pt x="475082" y="152495"/>
                  </a:lnTo>
                  <a:lnTo>
                    <a:pt x="442833" y="96606"/>
                  </a:lnTo>
                  <a:lnTo>
                    <a:pt x="397316" y="51089"/>
                  </a:lnTo>
                  <a:lnTo>
                    <a:pt x="341420" y="18832"/>
                  </a:lnTo>
                  <a:lnTo>
                    <a:pt x="279213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2E6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657022" y="159505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01255" y="1468704"/>
            <a:ext cx="1564005" cy="92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 spc="-10">
                <a:solidFill>
                  <a:srgbClr val="1F2F28"/>
                </a:solidFill>
                <a:latin typeface="Arial"/>
                <a:cs typeface="Arial"/>
              </a:rPr>
              <a:t>Incertidumbre</a:t>
            </a:r>
            <a:endParaRPr lang="es-MX" sz="1700">
              <a:latin typeface="Arial"/>
              <a:cs typeface="Arial"/>
            </a:endParaRPr>
          </a:p>
          <a:p>
            <a:pPr marL="12700" marR="5080">
              <a:lnSpc>
                <a:spcPct val="79900"/>
              </a:lnSpc>
              <a:spcBef>
                <a:spcPts val="1580"/>
              </a:spcBef>
            </a:pP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Bootstrap</a:t>
            </a:r>
            <a:r>
              <a:rPr lang="es-MX" sz="1200" spc="-3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de</a:t>
            </a:r>
            <a:r>
              <a:rPr lang="es-MX" sz="1200" spc="-3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 spc="-25">
                <a:solidFill>
                  <a:srgbClr val="64726B"/>
                </a:solidFill>
                <a:latin typeface="Arial"/>
                <a:cs typeface="Arial"/>
              </a:rPr>
              <a:t>la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diferencia</a:t>
            </a:r>
            <a:r>
              <a:rPr lang="es-MX" sz="1200" spc="-4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64726B"/>
                </a:solidFill>
                <a:latin typeface="Arial"/>
                <a:cs typeface="Arial"/>
              </a:rPr>
              <a:t>entre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medianas</a:t>
            </a:r>
            <a:r>
              <a:rPr lang="es-MX" sz="1200" spc="-3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64726B"/>
                </a:solidFill>
                <a:latin typeface="Arial"/>
                <a:cs typeface="Arial"/>
              </a:rPr>
              <a:t>de</a:t>
            </a:r>
            <a:r>
              <a:rPr lang="es-MX" sz="1200" spc="-2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64726B"/>
                </a:solidFill>
                <a:latin typeface="Arial"/>
                <a:cs typeface="Arial"/>
              </a:rPr>
              <a:t>gránulos.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093424" y="1293656"/>
            <a:ext cx="2478405" cy="1381125"/>
            <a:chOff x="9093424" y="1293656"/>
            <a:chExt cx="2478405" cy="13811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5" name="object 25"/>
            <p:cNvSpPr/>
            <p:nvPr/>
          </p:nvSpPr>
          <p:spPr>
            <a:xfrm>
              <a:off x="9097924" y="1298155"/>
              <a:ext cx="2468880" cy="1371600"/>
            </a:xfrm>
            <a:custGeom>
              <a:avLst/>
              <a:gdLst/>
              <a:ahLst/>
              <a:cxnLst/>
              <a:rect l="l" t="t" r="r" b="b"/>
              <a:pathLst>
                <a:path w="2468879" h="1371600">
                  <a:moveTo>
                    <a:pt x="23954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98524"/>
                  </a:lnTo>
                  <a:lnTo>
                    <a:pt x="594" y="1307800"/>
                  </a:lnTo>
                  <a:lnTo>
                    <a:pt x="607" y="1308002"/>
                  </a:lnTo>
                  <a:lnTo>
                    <a:pt x="2393" y="1317197"/>
                  </a:lnTo>
                  <a:lnTo>
                    <a:pt x="2428" y="1317380"/>
                  </a:lnTo>
                  <a:lnTo>
                    <a:pt x="5410" y="1326259"/>
                  </a:lnTo>
                  <a:lnTo>
                    <a:pt x="36360" y="1361884"/>
                  </a:lnTo>
                  <a:lnTo>
                    <a:pt x="73075" y="1371600"/>
                  </a:lnTo>
                  <a:lnTo>
                    <a:pt x="2395791" y="1371244"/>
                  </a:lnTo>
                  <a:lnTo>
                    <a:pt x="2440169" y="1356145"/>
                  </a:lnTo>
                  <a:lnTo>
                    <a:pt x="2466388" y="1317380"/>
                  </a:lnTo>
                  <a:lnTo>
                    <a:pt x="2466449" y="1317197"/>
                  </a:lnTo>
                  <a:lnTo>
                    <a:pt x="2468233" y="1308002"/>
                  </a:lnTo>
                  <a:lnTo>
                    <a:pt x="2468272" y="1307800"/>
                  </a:lnTo>
                  <a:lnTo>
                    <a:pt x="2468857" y="1298524"/>
                  </a:lnTo>
                  <a:lnTo>
                    <a:pt x="2468880" y="1298168"/>
                  </a:lnTo>
                  <a:lnTo>
                    <a:pt x="2468511" y="73088"/>
                  </a:lnTo>
                  <a:lnTo>
                    <a:pt x="2453420" y="28710"/>
                  </a:lnTo>
                  <a:lnTo>
                    <a:pt x="2414470" y="2430"/>
                  </a:lnTo>
                  <a:lnTo>
                    <a:pt x="2405069" y="607"/>
                  </a:lnTo>
                  <a:lnTo>
                    <a:pt x="239543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97924" y="1298155"/>
              <a:ext cx="2468880" cy="1371600"/>
            </a:xfrm>
            <a:custGeom>
              <a:avLst/>
              <a:gdLst/>
              <a:ahLst/>
              <a:cxnLst/>
              <a:rect l="l" t="t" r="r" b="b"/>
              <a:pathLst>
                <a:path w="2468879" h="13716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395435" y="0"/>
                  </a:lnTo>
                  <a:lnTo>
                    <a:pt x="2439963" y="15109"/>
                  </a:lnTo>
                  <a:lnTo>
                    <a:pt x="2466082" y="54232"/>
                  </a:lnTo>
                  <a:lnTo>
                    <a:pt x="2468511" y="73088"/>
                  </a:lnTo>
                  <a:lnTo>
                    <a:pt x="2468880" y="1298168"/>
                  </a:lnTo>
                  <a:lnTo>
                    <a:pt x="2468272" y="1307800"/>
                  </a:lnTo>
                  <a:lnTo>
                    <a:pt x="2466449" y="1317197"/>
                  </a:lnTo>
                  <a:lnTo>
                    <a:pt x="2440169" y="1356145"/>
                  </a:lnTo>
                  <a:lnTo>
                    <a:pt x="2395791" y="1371244"/>
                  </a:lnTo>
                  <a:lnTo>
                    <a:pt x="73075" y="1371600"/>
                  </a:lnTo>
                  <a:lnTo>
                    <a:pt x="28548" y="1356503"/>
                  </a:lnTo>
                  <a:lnTo>
                    <a:pt x="2428" y="1317380"/>
                  </a:lnTo>
                  <a:lnTo>
                    <a:pt x="0" y="1298524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08160" y="1499400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13"/>
                  </a:lnTo>
                  <a:lnTo>
                    <a:pt x="18832" y="341420"/>
                  </a:lnTo>
                  <a:lnTo>
                    <a:pt x="51089" y="397316"/>
                  </a:lnTo>
                  <a:lnTo>
                    <a:pt x="96606" y="442833"/>
                  </a:lnTo>
                  <a:lnTo>
                    <a:pt x="152495" y="475082"/>
                  </a:lnTo>
                  <a:lnTo>
                    <a:pt x="214707" y="491778"/>
                  </a:lnTo>
                  <a:lnTo>
                    <a:pt x="246964" y="493915"/>
                  </a:lnTo>
                  <a:lnTo>
                    <a:pt x="279213" y="491778"/>
                  </a:lnTo>
                  <a:lnTo>
                    <a:pt x="341420" y="475082"/>
                  </a:lnTo>
                  <a:lnTo>
                    <a:pt x="397316" y="442833"/>
                  </a:lnTo>
                  <a:lnTo>
                    <a:pt x="442833" y="397316"/>
                  </a:lnTo>
                  <a:lnTo>
                    <a:pt x="475082" y="341420"/>
                  </a:lnTo>
                  <a:lnTo>
                    <a:pt x="491778" y="279213"/>
                  </a:lnTo>
                  <a:lnTo>
                    <a:pt x="493915" y="246964"/>
                  </a:lnTo>
                  <a:lnTo>
                    <a:pt x="491778" y="214707"/>
                  </a:lnTo>
                  <a:lnTo>
                    <a:pt x="475082" y="152495"/>
                  </a:lnTo>
                  <a:lnTo>
                    <a:pt x="442833" y="96606"/>
                  </a:lnTo>
                  <a:lnTo>
                    <a:pt x="397316" y="51089"/>
                  </a:lnTo>
                  <a:lnTo>
                    <a:pt x="341420" y="18832"/>
                  </a:lnTo>
                  <a:lnTo>
                    <a:pt x="279213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482302" y="159505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26904" y="1468704"/>
            <a:ext cx="1381760" cy="105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 spc="-10">
                <a:solidFill>
                  <a:srgbClr val="1F2F28"/>
                </a:solidFill>
                <a:latin typeface="Arial"/>
                <a:cs typeface="Arial"/>
              </a:rPr>
              <a:t>Magnitud</a:t>
            </a:r>
            <a:endParaRPr lang="es-MX" sz="1700"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1535"/>
              </a:spcBef>
            </a:pP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Delta</a:t>
            </a:r>
            <a:r>
              <a:rPr lang="es-MX" sz="1400" spc="-3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de</a:t>
            </a:r>
            <a:r>
              <a:rPr lang="es-MX" sz="1400" spc="-2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Cliff</a:t>
            </a:r>
            <a:r>
              <a:rPr lang="es-MX" sz="1400" spc="-2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400" spc="-50">
                <a:solidFill>
                  <a:srgbClr val="64726B"/>
                </a:solidFill>
                <a:latin typeface="Arial"/>
                <a:cs typeface="Arial"/>
              </a:rPr>
              <a:t>y </a:t>
            </a: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prueba</a:t>
            </a:r>
            <a:r>
              <a:rPr lang="es-MX" sz="1400" spc="-1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64726B"/>
                </a:solidFill>
                <a:latin typeface="Arial"/>
                <a:cs typeface="Arial"/>
              </a:rPr>
              <a:t>de</a:t>
            </a:r>
            <a:r>
              <a:rPr lang="es-MX" sz="1400" spc="-1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MX" sz="1400" spc="-20">
                <a:solidFill>
                  <a:srgbClr val="64726B"/>
                </a:solidFill>
                <a:latin typeface="Arial"/>
                <a:cs typeface="Arial"/>
              </a:rPr>
              <a:t>Mann-</a:t>
            </a:r>
            <a:r>
              <a:rPr lang="es-MX" sz="1400" spc="-10">
                <a:solidFill>
                  <a:srgbClr val="64726B"/>
                </a:solidFill>
                <a:latin typeface="Arial"/>
                <a:cs typeface="Arial"/>
              </a:rPr>
              <a:t>Whitney.</a:t>
            </a:r>
            <a:endParaRPr lang="es-MX" sz="1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76884" y="3062884"/>
            <a:ext cx="10469880" cy="2468880"/>
            <a:chOff x="776884" y="3062884"/>
            <a:chExt cx="10469880" cy="2468880"/>
          </a:xfrm>
        </p:grpSpPr>
        <p:sp>
          <p:nvSpPr>
            <p:cNvPr id="31" name="object 31"/>
            <p:cNvSpPr/>
            <p:nvPr/>
          </p:nvSpPr>
          <p:spPr>
            <a:xfrm>
              <a:off x="776884" y="3062884"/>
              <a:ext cx="10469880" cy="494030"/>
            </a:xfrm>
            <a:custGeom>
              <a:avLst/>
              <a:gdLst/>
              <a:ahLst/>
              <a:cxnLst/>
              <a:rect l="l" t="t" r="r" b="b"/>
              <a:pathLst>
                <a:path w="10469880" h="494029">
                  <a:moveTo>
                    <a:pt x="1919871" y="0"/>
                  </a:moveTo>
                  <a:lnTo>
                    <a:pt x="0" y="0"/>
                  </a:lnTo>
                  <a:lnTo>
                    <a:pt x="0" y="493572"/>
                  </a:lnTo>
                  <a:lnTo>
                    <a:pt x="960120" y="493572"/>
                  </a:lnTo>
                  <a:lnTo>
                    <a:pt x="1919871" y="493572"/>
                  </a:lnTo>
                  <a:lnTo>
                    <a:pt x="1919871" y="0"/>
                  </a:lnTo>
                  <a:close/>
                </a:path>
                <a:path w="10469880" h="494029">
                  <a:moveTo>
                    <a:pt x="4571631" y="0"/>
                  </a:moveTo>
                  <a:lnTo>
                    <a:pt x="1920240" y="0"/>
                  </a:lnTo>
                  <a:lnTo>
                    <a:pt x="1920240" y="493572"/>
                  </a:lnTo>
                  <a:lnTo>
                    <a:pt x="3246120" y="493572"/>
                  </a:lnTo>
                  <a:lnTo>
                    <a:pt x="4571631" y="493572"/>
                  </a:lnTo>
                  <a:lnTo>
                    <a:pt x="4571631" y="0"/>
                  </a:lnTo>
                  <a:close/>
                </a:path>
                <a:path w="10469880" h="494029">
                  <a:moveTo>
                    <a:pt x="10469880" y="0"/>
                  </a:moveTo>
                  <a:lnTo>
                    <a:pt x="4572355" y="0"/>
                  </a:lnTo>
                  <a:lnTo>
                    <a:pt x="4572355" y="493572"/>
                  </a:lnTo>
                  <a:lnTo>
                    <a:pt x="7521118" y="493572"/>
                  </a:lnTo>
                  <a:lnTo>
                    <a:pt x="10469880" y="493572"/>
                  </a:lnTo>
                  <a:lnTo>
                    <a:pt x="1046988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6884" y="3556799"/>
              <a:ext cx="10469880" cy="494030"/>
            </a:xfrm>
            <a:custGeom>
              <a:avLst/>
              <a:gdLst/>
              <a:ahLst/>
              <a:cxnLst/>
              <a:rect l="l" t="t" r="r" b="b"/>
              <a:pathLst>
                <a:path w="10469880" h="494029">
                  <a:moveTo>
                    <a:pt x="1919871" y="0"/>
                  </a:moveTo>
                  <a:lnTo>
                    <a:pt x="0" y="0"/>
                  </a:lnTo>
                  <a:lnTo>
                    <a:pt x="0" y="493560"/>
                  </a:lnTo>
                  <a:lnTo>
                    <a:pt x="960120" y="493560"/>
                  </a:lnTo>
                  <a:lnTo>
                    <a:pt x="1919871" y="493560"/>
                  </a:lnTo>
                  <a:lnTo>
                    <a:pt x="1919871" y="0"/>
                  </a:lnTo>
                  <a:close/>
                </a:path>
                <a:path w="10469880" h="494029">
                  <a:moveTo>
                    <a:pt x="4571631" y="0"/>
                  </a:moveTo>
                  <a:lnTo>
                    <a:pt x="1920240" y="0"/>
                  </a:lnTo>
                  <a:lnTo>
                    <a:pt x="1920240" y="493560"/>
                  </a:lnTo>
                  <a:lnTo>
                    <a:pt x="3246120" y="493560"/>
                  </a:lnTo>
                  <a:lnTo>
                    <a:pt x="4571631" y="493560"/>
                  </a:lnTo>
                  <a:lnTo>
                    <a:pt x="4571631" y="0"/>
                  </a:lnTo>
                  <a:close/>
                </a:path>
                <a:path w="10469880" h="494029">
                  <a:moveTo>
                    <a:pt x="10469880" y="0"/>
                  </a:moveTo>
                  <a:lnTo>
                    <a:pt x="4572355" y="0"/>
                  </a:lnTo>
                  <a:lnTo>
                    <a:pt x="4572355" y="493560"/>
                  </a:lnTo>
                  <a:lnTo>
                    <a:pt x="7521118" y="493560"/>
                  </a:lnTo>
                  <a:lnTo>
                    <a:pt x="10469880" y="493560"/>
                  </a:lnTo>
                  <a:lnTo>
                    <a:pt x="1046988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6884" y="4050360"/>
              <a:ext cx="10469880" cy="494030"/>
            </a:xfrm>
            <a:custGeom>
              <a:avLst/>
              <a:gdLst/>
              <a:ahLst/>
              <a:cxnLst/>
              <a:rect l="l" t="t" r="r" b="b"/>
              <a:pathLst>
                <a:path w="10469880" h="494029">
                  <a:moveTo>
                    <a:pt x="1919871" y="0"/>
                  </a:moveTo>
                  <a:lnTo>
                    <a:pt x="0" y="0"/>
                  </a:lnTo>
                  <a:lnTo>
                    <a:pt x="0" y="493560"/>
                  </a:lnTo>
                  <a:lnTo>
                    <a:pt x="960120" y="493560"/>
                  </a:lnTo>
                  <a:lnTo>
                    <a:pt x="1919871" y="493560"/>
                  </a:lnTo>
                  <a:lnTo>
                    <a:pt x="1919871" y="0"/>
                  </a:lnTo>
                  <a:close/>
                </a:path>
                <a:path w="10469880" h="494029">
                  <a:moveTo>
                    <a:pt x="4571631" y="0"/>
                  </a:moveTo>
                  <a:lnTo>
                    <a:pt x="1920240" y="0"/>
                  </a:lnTo>
                  <a:lnTo>
                    <a:pt x="1920240" y="493560"/>
                  </a:lnTo>
                  <a:lnTo>
                    <a:pt x="3246120" y="493560"/>
                  </a:lnTo>
                  <a:lnTo>
                    <a:pt x="4571631" y="493560"/>
                  </a:lnTo>
                  <a:lnTo>
                    <a:pt x="4571631" y="0"/>
                  </a:lnTo>
                  <a:close/>
                </a:path>
                <a:path w="10469880" h="494029">
                  <a:moveTo>
                    <a:pt x="10469880" y="0"/>
                  </a:moveTo>
                  <a:lnTo>
                    <a:pt x="4572355" y="0"/>
                  </a:lnTo>
                  <a:lnTo>
                    <a:pt x="4572355" y="493560"/>
                  </a:lnTo>
                  <a:lnTo>
                    <a:pt x="7521118" y="493560"/>
                  </a:lnTo>
                  <a:lnTo>
                    <a:pt x="10469880" y="493560"/>
                  </a:lnTo>
                  <a:lnTo>
                    <a:pt x="10469880" y="0"/>
                  </a:lnTo>
                  <a:close/>
                </a:path>
              </a:pathLst>
            </a:custGeom>
            <a:solidFill>
              <a:srgbClr val="F0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6884" y="4544275"/>
              <a:ext cx="10469880" cy="494030"/>
            </a:xfrm>
            <a:custGeom>
              <a:avLst/>
              <a:gdLst/>
              <a:ahLst/>
              <a:cxnLst/>
              <a:rect l="l" t="t" r="r" b="b"/>
              <a:pathLst>
                <a:path w="10469880" h="494029">
                  <a:moveTo>
                    <a:pt x="1919871" y="0"/>
                  </a:moveTo>
                  <a:lnTo>
                    <a:pt x="0" y="0"/>
                  </a:lnTo>
                  <a:lnTo>
                    <a:pt x="0" y="493560"/>
                  </a:lnTo>
                  <a:lnTo>
                    <a:pt x="960120" y="493560"/>
                  </a:lnTo>
                  <a:lnTo>
                    <a:pt x="1919871" y="493560"/>
                  </a:lnTo>
                  <a:lnTo>
                    <a:pt x="1919871" y="0"/>
                  </a:lnTo>
                  <a:close/>
                </a:path>
                <a:path w="10469880" h="494029">
                  <a:moveTo>
                    <a:pt x="4571631" y="0"/>
                  </a:moveTo>
                  <a:lnTo>
                    <a:pt x="1920240" y="0"/>
                  </a:lnTo>
                  <a:lnTo>
                    <a:pt x="1920240" y="493560"/>
                  </a:lnTo>
                  <a:lnTo>
                    <a:pt x="3246120" y="493560"/>
                  </a:lnTo>
                  <a:lnTo>
                    <a:pt x="4571631" y="493560"/>
                  </a:lnTo>
                  <a:lnTo>
                    <a:pt x="4571631" y="0"/>
                  </a:lnTo>
                  <a:close/>
                </a:path>
                <a:path w="10469880" h="494029">
                  <a:moveTo>
                    <a:pt x="10469880" y="0"/>
                  </a:moveTo>
                  <a:lnTo>
                    <a:pt x="4572355" y="0"/>
                  </a:lnTo>
                  <a:lnTo>
                    <a:pt x="4572355" y="493560"/>
                  </a:lnTo>
                  <a:lnTo>
                    <a:pt x="7521118" y="493560"/>
                  </a:lnTo>
                  <a:lnTo>
                    <a:pt x="10469880" y="493560"/>
                  </a:lnTo>
                  <a:lnTo>
                    <a:pt x="1046988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6884" y="5037835"/>
              <a:ext cx="10469880" cy="494030"/>
            </a:xfrm>
            <a:custGeom>
              <a:avLst/>
              <a:gdLst/>
              <a:ahLst/>
              <a:cxnLst/>
              <a:rect l="l" t="t" r="r" b="b"/>
              <a:pathLst>
                <a:path w="10469880" h="494029">
                  <a:moveTo>
                    <a:pt x="1919871" y="0"/>
                  </a:moveTo>
                  <a:lnTo>
                    <a:pt x="0" y="0"/>
                  </a:lnTo>
                  <a:lnTo>
                    <a:pt x="0" y="493560"/>
                  </a:lnTo>
                  <a:lnTo>
                    <a:pt x="960120" y="493560"/>
                  </a:lnTo>
                  <a:lnTo>
                    <a:pt x="1919871" y="493560"/>
                  </a:lnTo>
                  <a:lnTo>
                    <a:pt x="1919871" y="0"/>
                  </a:lnTo>
                  <a:close/>
                </a:path>
                <a:path w="10469880" h="494029">
                  <a:moveTo>
                    <a:pt x="4571631" y="0"/>
                  </a:moveTo>
                  <a:lnTo>
                    <a:pt x="1920240" y="0"/>
                  </a:lnTo>
                  <a:lnTo>
                    <a:pt x="1920240" y="493560"/>
                  </a:lnTo>
                  <a:lnTo>
                    <a:pt x="3246120" y="493560"/>
                  </a:lnTo>
                  <a:lnTo>
                    <a:pt x="4571631" y="493560"/>
                  </a:lnTo>
                  <a:lnTo>
                    <a:pt x="4571631" y="0"/>
                  </a:lnTo>
                  <a:close/>
                </a:path>
                <a:path w="10469880" h="494029">
                  <a:moveTo>
                    <a:pt x="10469880" y="0"/>
                  </a:moveTo>
                  <a:lnTo>
                    <a:pt x="4572355" y="0"/>
                  </a:lnTo>
                  <a:lnTo>
                    <a:pt x="4572355" y="493560"/>
                  </a:lnTo>
                  <a:lnTo>
                    <a:pt x="7521118" y="493560"/>
                  </a:lnTo>
                  <a:lnTo>
                    <a:pt x="10469880" y="493560"/>
                  </a:lnTo>
                  <a:lnTo>
                    <a:pt x="10469880" y="0"/>
                  </a:lnTo>
                  <a:close/>
                </a:path>
              </a:pathLst>
            </a:custGeom>
            <a:solidFill>
              <a:srgbClr val="F0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6" name="object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688382"/>
              </p:ext>
            </p:extLst>
          </p:nvPr>
        </p:nvGraphicFramePr>
        <p:xfrm>
          <a:off x="773104" y="3059104"/>
          <a:ext cx="10471148" cy="2466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8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lang="es-ES" sz="1300" b="1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Indicador</a:t>
                      </a:r>
                      <a:endParaRPr lang="es-ES" sz="13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lang="es-E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Qué</a:t>
                      </a:r>
                      <a:r>
                        <a:rPr lang="es-ES" sz="1300" b="1" spc="-4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b="1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informa</a:t>
                      </a:r>
                      <a:endParaRPr lang="es-ES" sz="13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lang="es-E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Cómo</a:t>
                      </a:r>
                      <a:r>
                        <a:rPr lang="es-ES" sz="1300" b="1" spc="-4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300" b="1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leerlo</a:t>
                      </a:r>
                      <a:endParaRPr lang="es-ES" sz="13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ES" sz="1250" b="1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Mediana</a:t>
                      </a:r>
                      <a:r>
                        <a:rPr lang="es-ES" sz="1250" b="1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b="1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lang="es-ES" sz="1250" b="1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b="1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IQR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Centro</a:t>
                      </a:r>
                      <a:r>
                        <a:rPr lang="es-ES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lang="es-ES" sz="1250" spc="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dispersión</a:t>
                      </a:r>
                      <a:r>
                        <a:rPr lang="es-ES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robustos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Resume</a:t>
                      </a:r>
                      <a:r>
                        <a:rPr lang="es-MX" sz="1250" spc="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distribución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sin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depender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valores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extremos.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ES" sz="1250" b="1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IC95%</a:t>
                      </a:r>
                      <a:r>
                        <a:rPr lang="es-ES" sz="1250" b="1" spc="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bootstrap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Incertidumbre</a:t>
                      </a:r>
                      <a:r>
                        <a:rPr lang="es-ES" sz="1250" spc="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ES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lang="es-ES" sz="1250" spc="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diferencia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lang="es-MX" sz="1250" spc="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incluye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cero,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diferencia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es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distinguible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muestra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unidad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elegidas.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ES" sz="1250" b="1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Delta</a:t>
                      </a:r>
                      <a:r>
                        <a:rPr lang="es-ES" sz="1250" b="1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b="1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ES" sz="1250" b="1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Cliff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Tamaño</a:t>
                      </a:r>
                      <a:r>
                        <a:rPr lang="es-ES" sz="1250" spc="-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ES" sz="1250" spc="-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efecto</a:t>
                      </a:r>
                      <a:r>
                        <a:rPr lang="es-ES" sz="1250" spc="-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ordinal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Describe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cuánto</a:t>
                      </a:r>
                      <a:r>
                        <a:rPr lang="es-MX" sz="1250" spc="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lang="es-MX" sz="1250" spc="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separan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las</a:t>
                      </a:r>
                      <a:r>
                        <a:rPr lang="es-MX" sz="1250" spc="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distribuciones;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prueba</a:t>
                      </a:r>
                      <a:r>
                        <a:rPr lang="es-MX" sz="1250" spc="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causalidad.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ES" sz="1250" b="1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lang="es-ES" sz="1250" b="1" spc="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b="1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ES" sz="1250" b="1" spc="3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b="1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Mann-</a:t>
                      </a:r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Whitney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6940" marR="193675" indent="-718820">
                        <a:lnSpc>
                          <a:spcPct val="101899"/>
                        </a:lnSpc>
                        <a:spcBef>
                          <a:spcPts val="409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Compatibilidad</a:t>
                      </a:r>
                      <a:r>
                        <a:rPr lang="es-MX" sz="1250" spc="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con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igualdad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distribución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Una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pequeña</a:t>
                      </a:r>
                      <a:r>
                        <a:rPr lang="es-MX" sz="1250" spc="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transforma</a:t>
                      </a:r>
                      <a:r>
                        <a:rPr lang="es-MX" sz="1250" spc="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una</a:t>
                      </a:r>
                      <a:r>
                        <a:rPr lang="es-MX" sz="1250" spc="1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comparación</a:t>
                      </a:r>
                      <a:r>
                        <a:rPr lang="es-MX" sz="1250" spc="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observacional</a:t>
                      </a:r>
                      <a:r>
                        <a:rPr lang="es-MX" sz="1250" spc="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lang="es-MX" sz="1250" spc="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experimento.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7" name="object 37"/>
          <p:cNvGrpSpPr/>
          <p:nvPr/>
        </p:nvGrpSpPr>
        <p:grpSpPr>
          <a:xfrm>
            <a:off x="1503904" y="5664056"/>
            <a:ext cx="9199245" cy="594995"/>
            <a:chOff x="1503904" y="5664056"/>
            <a:chExt cx="9199245" cy="594995"/>
          </a:xfrm>
        </p:grpSpPr>
        <p:sp>
          <p:nvSpPr>
            <p:cNvPr id="38" name="object 38"/>
            <p:cNvSpPr/>
            <p:nvPr/>
          </p:nvSpPr>
          <p:spPr>
            <a:xfrm>
              <a:off x="1508404" y="5668556"/>
              <a:ext cx="9190355" cy="586105"/>
            </a:xfrm>
            <a:custGeom>
              <a:avLst/>
              <a:gdLst/>
              <a:ahLst/>
              <a:cxnLst/>
              <a:rect l="l" t="t" r="r" b="b"/>
              <a:pathLst>
                <a:path w="9190355" h="586104">
                  <a:moveTo>
                    <a:pt x="64439" y="0"/>
                  </a:moveTo>
                  <a:lnTo>
                    <a:pt x="25397" y="13364"/>
                  </a:lnTo>
                  <a:lnTo>
                    <a:pt x="2516" y="47520"/>
                  </a:lnTo>
                  <a:lnTo>
                    <a:pt x="0" y="521639"/>
                  </a:lnTo>
                  <a:lnTo>
                    <a:pt x="538" y="529989"/>
                  </a:lnTo>
                  <a:lnTo>
                    <a:pt x="18735" y="566870"/>
                  </a:lnTo>
                  <a:lnTo>
                    <a:pt x="55728" y="585183"/>
                  </a:lnTo>
                  <a:lnTo>
                    <a:pt x="64071" y="585723"/>
                  </a:lnTo>
                  <a:lnTo>
                    <a:pt x="9125991" y="585723"/>
                  </a:lnTo>
                  <a:lnTo>
                    <a:pt x="9165033" y="572366"/>
                  </a:lnTo>
                  <a:lnTo>
                    <a:pt x="9187915" y="538203"/>
                  </a:lnTo>
                  <a:lnTo>
                    <a:pt x="9190075" y="521639"/>
                  </a:lnTo>
                  <a:lnTo>
                    <a:pt x="9190052" y="64084"/>
                  </a:lnTo>
                  <a:lnTo>
                    <a:pt x="9176717" y="25402"/>
                  </a:lnTo>
                  <a:lnTo>
                    <a:pt x="9142555" y="2524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08404" y="5668556"/>
              <a:ext cx="9190355" cy="586105"/>
            </a:xfrm>
            <a:custGeom>
              <a:avLst/>
              <a:gdLst/>
              <a:ahLst/>
              <a:cxnLst/>
              <a:rect l="l" t="t" r="r" b="b"/>
              <a:pathLst>
                <a:path w="9190355" h="586104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64"/>
                  </a:lnTo>
                  <a:lnTo>
                    <a:pt x="64439" y="0"/>
                  </a:lnTo>
                  <a:lnTo>
                    <a:pt x="9125991" y="368"/>
                  </a:lnTo>
                  <a:lnTo>
                    <a:pt x="9164983" y="13570"/>
                  </a:lnTo>
                  <a:lnTo>
                    <a:pt x="9187915" y="47885"/>
                  </a:lnTo>
                  <a:lnTo>
                    <a:pt x="9190075" y="64439"/>
                  </a:lnTo>
                  <a:lnTo>
                    <a:pt x="9190075" y="521639"/>
                  </a:lnTo>
                  <a:lnTo>
                    <a:pt x="9189535" y="529989"/>
                  </a:lnTo>
                  <a:lnTo>
                    <a:pt x="9187915" y="538203"/>
                  </a:lnTo>
                  <a:lnTo>
                    <a:pt x="9165033" y="572366"/>
                  </a:lnTo>
                  <a:lnTo>
                    <a:pt x="9125991" y="585723"/>
                  </a:lnTo>
                  <a:lnTo>
                    <a:pt x="64071" y="585723"/>
                  </a:lnTo>
                  <a:lnTo>
                    <a:pt x="25086" y="572516"/>
                  </a:lnTo>
                  <a:lnTo>
                    <a:pt x="2155" y="538203"/>
                  </a:lnTo>
                  <a:lnTo>
                    <a:pt x="0" y="52163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08759" y="5668924"/>
              <a:ext cx="82550" cy="585470"/>
            </a:xfrm>
            <a:custGeom>
              <a:avLst/>
              <a:gdLst/>
              <a:ahLst/>
              <a:cxnLst/>
              <a:rect l="l" t="t" r="r" b="b"/>
              <a:pathLst>
                <a:path w="82550" h="585470">
                  <a:moveTo>
                    <a:pt x="82080" y="0"/>
                  </a:moveTo>
                  <a:lnTo>
                    <a:pt x="0" y="0"/>
                  </a:lnTo>
                  <a:lnTo>
                    <a:pt x="0" y="585000"/>
                  </a:lnTo>
                  <a:lnTo>
                    <a:pt x="41033" y="585000"/>
                  </a:lnTo>
                  <a:lnTo>
                    <a:pt x="82080" y="58500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826539" y="5753062"/>
            <a:ext cx="8665210" cy="4464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956050" marR="5080" indent="-3943985">
              <a:lnSpc>
                <a:spcPts val="1510"/>
              </a:lnSpc>
              <a:spcBef>
                <a:spcPts val="390"/>
              </a:spcBef>
            </a:pPr>
            <a:r>
              <a:rPr lang="es-MX" sz="1500" b="1" spc="-50">
                <a:solidFill>
                  <a:srgbClr val="1F2F28"/>
                </a:solidFill>
                <a:latin typeface="Arial"/>
                <a:cs typeface="Arial"/>
              </a:rPr>
              <a:t>Regla central:</a:t>
            </a:r>
            <a:r>
              <a:rPr lang="es-MX" sz="15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 spc="-55">
                <a:solidFill>
                  <a:srgbClr val="1F2F28"/>
                </a:solidFill>
                <a:latin typeface="Arial"/>
                <a:cs typeface="Arial"/>
              </a:rPr>
              <a:t>primero</a:t>
            </a:r>
            <a:r>
              <a:rPr lang="es-MX" sz="1500" b="1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 spc="-50">
                <a:solidFill>
                  <a:srgbClr val="1F2F28"/>
                </a:solidFill>
                <a:latin typeface="Arial"/>
                <a:cs typeface="Arial"/>
              </a:rPr>
              <a:t>definir</a:t>
            </a:r>
            <a:r>
              <a:rPr lang="es-MX" sz="15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 spc="-2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500" b="1" spc="-50">
                <a:solidFill>
                  <a:srgbClr val="1F2F28"/>
                </a:solidFill>
                <a:latin typeface="Arial"/>
                <a:cs typeface="Arial"/>
              </a:rPr>
              <a:t> población</a:t>
            </a:r>
            <a:r>
              <a:rPr lang="es-MX" sz="1500" b="1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50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 spc="-2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500" b="1" spc="-50">
                <a:solidFill>
                  <a:srgbClr val="1F2F28"/>
                </a:solidFill>
                <a:latin typeface="Arial"/>
                <a:cs typeface="Arial"/>
              </a:rPr>
              <a:t> unidad</a:t>
            </a:r>
            <a:r>
              <a:rPr lang="es-MX" sz="1500" b="1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 spc="-55">
                <a:solidFill>
                  <a:srgbClr val="1F2F28"/>
                </a:solidFill>
                <a:latin typeface="Arial"/>
                <a:cs typeface="Arial"/>
              </a:rPr>
              <a:t>independiente;</a:t>
            </a:r>
            <a:r>
              <a:rPr lang="es-MX" sz="15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 spc="-60">
                <a:solidFill>
                  <a:srgbClr val="1F2F28"/>
                </a:solidFill>
                <a:latin typeface="Arial"/>
                <a:cs typeface="Arial"/>
              </a:rPr>
              <a:t>después</a:t>
            </a:r>
            <a:r>
              <a:rPr lang="es-MX" sz="1500" b="1" spc="-50">
                <a:solidFill>
                  <a:srgbClr val="1F2F28"/>
                </a:solidFill>
                <a:latin typeface="Arial"/>
                <a:cs typeface="Arial"/>
              </a:rPr>
              <a:t> interpretar</a:t>
            </a:r>
            <a:r>
              <a:rPr lang="es-MX" sz="15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500" b="1" spc="-50">
                <a:solidFill>
                  <a:srgbClr val="1F2F28"/>
                </a:solidFill>
                <a:latin typeface="Arial"/>
                <a:cs typeface="Arial"/>
              </a:rPr>
              <a:t>intervalos y </a:t>
            </a:r>
            <a:r>
              <a:rPr lang="es-MX" sz="1500" b="1" spc="-10">
                <a:solidFill>
                  <a:srgbClr val="1F2F28"/>
                </a:solidFill>
                <a:latin typeface="Arial"/>
                <a:cs typeface="Arial"/>
              </a:rPr>
              <a:t>pruebas.</a:t>
            </a:r>
            <a:endParaRPr lang="es-MX" sz="1500">
              <a:latin typeface="Arial"/>
              <a:cs typeface="Arial"/>
            </a:endParaRPr>
          </a:p>
        </p:txBody>
      </p:sp>
      <p:sp>
        <p:nvSpPr>
          <p:cNvPr id="42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3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4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21/43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32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811924" y="-355"/>
            <a:ext cx="5380075" cy="6858000"/>
            <a:chOff x="6811924" y="-355"/>
            <a:chExt cx="5380075" cy="6858000"/>
          </a:xfrm>
        </p:grpSpPr>
        <p:pic>
          <p:nvPicPr>
            <p:cNvPr id="4" name="object 4" descr="/mnt/data/icesat2_work/unzip/ppt/media/image8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5147" y="12"/>
              <a:ext cx="5196230" cy="68572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95159" y="-355"/>
              <a:ext cx="5196840" cy="6858000"/>
            </a:xfrm>
            <a:custGeom>
              <a:avLst/>
              <a:gdLst/>
              <a:ahLst/>
              <a:cxnLst/>
              <a:rect l="l" t="t" r="r" b="b"/>
              <a:pathLst>
                <a:path w="5196840" h="6858000">
                  <a:moveTo>
                    <a:pt x="5196243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598115" y="6857631"/>
                  </a:lnTo>
                  <a:lnTo>
                    <a:pt x="5196243" y="6857631"/>
                  </a:lnTo>
                  <a:lnTo>
                    <a:pt x="5196243" y="0"/>
                  </a:lnTo>
                  <a:close/>
                </a:path>
              </a:pathLst>
            </a:custGeom>
            <a:solidFill>
              <a:srgbClr val="13261F">
                <a:alpha val="6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1924" y="-355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79" h="6858000">
                  <a:moveTo>
                    <a:pt x="1825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91440" y="6857631"/>
                  </a:lnTo>
                  <a:lnTo>
                    <a:pt x="182511" y="6857631"/>
                  </a:lnTo>
                  <a:lnTo>
                    <a:pt x="182511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8660" y="947419"/>
            <a:ext cx="89789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l-PL" sz="11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Ó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1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1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U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1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L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</a:t>
            </a:r>
            <a:r>
              <a:rPr lang="pl-PL" sz="1100" b="1" spc="30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5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3</a:t>
            </a:r>
            <a:endParaRPr lang="pl-PL" sz="11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09015" y="1403908"/>
            <a:ext cx="531876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Resultados</a:t>
            </a:r>
            <a:r>
              <a:rPr sz="3400" spc="-6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sz="3400" spc="-6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400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sensibilidad</a:t>
            </a:r>
            <a:endParaRPr sz="3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024" y="2748140"/>
            <a:ext cx="49085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Contraste</a:t>
            </a:r>
            <a:r>
              <a:rPr lang="es-MX" sz="1900" spc="-8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 spc="-1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operacional,</a:t>
            </a:r>
            <a:r>
              <a:rPr lang="es-MX" sz="1900" spc="-8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robustez,</a:t>
            </a:r>
            <a:r>
              <a:rPr lang="es-MX" sz="1900" spc="-9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selección</a:t>
            </a:r>
            <a:r>
              <a:rPr lang="es-MX" sz="1900" spc="-8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 spc="-2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de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calidad</a:t>
            </a:r>
            <a:r>
              <a:rPr lang="es-MX" sz="1900" spc="-5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y</a:t>
            </a:r>
            <a:r>
              <a:rPr lang="es-MX" sz="1900" spc="-5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alcance</a:t>
            </a:r>
            <a:r>
              <a:rPr lang="es-MX" sz="1900" spc="-5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de</a:t>
            </a:r>
            <a:r>
              <a:rPr lang="es-MX" sz="1900" spc="-5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las</a:t>
            </a:r>
            <a:r>
              <a:rPr lang="es-MX" sz="1900" spc="-5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 spc="-1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conclusiones.</a:t>
            </a:r>
            <a:endParaRPr lang="es-MX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0080" y="4069079"/>
            <a:ext cx="5669280" cy="635"/>
          </a:xfrm>
          <a:custGeom>
            <a:avLst/>
            <a:gdLst/>
            <a:ahLst/>
            <a:cxnLst/>
            <a:rect l="l" t="t" r="r" b="b"/>
            <a:pathLst>
              <a:path w="5669280" h="635">
                <a:moveTo>
                  <a:pt x="0" y="0"/>
                </a:moveTo>
                <a:lnTo>
                  <a:pt x="5669280" y="355"/>
                </a:lnTo>
              </a:path>
            </a:pathLst>
          </a:custGeom>
          <a:ln w="12599">
            <a:solidFill>
              <a:srgbClr val="547066"/>
            </a:solidFill>
          </a:ln>
        </p:spPr>
        <p:txBody>
          <a:bodyPr wrap="square" lIns="0" tIns="0" rIns="0" bIns="0" rtlCol="0"/>
          <a:lstStyle/>
          <a:p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024" y="4311980"/>
            <a:ext cx="5585460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2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Preguntas</a:t>
            </a:r>
            <a:r>
              <a:rPr lang="es-MX" sz="1200" b="1" spc="-6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200" b="1" spc="-2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guía</a:t>
            </a:r>
            <a:endParaRPr lang="es-MX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s-MX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¿Qué</a:t>
            </a:r>
            <a:r>
              <a:rPr lang="es-MX" sz="1650" spc="-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evidencia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es</a:t>
            </a:r>
            <a:r>
              <a:rPr lang="es-MX" sz="1650" spc="-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robusta?</a:t>
            </a:r>
            <a:r>
              <a:rPr lang="es-MX" sz="1650" spc="39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¿Qué</a:t>
            </a:r>
            <a:r>
              <a:rPr lang="es-MX" sz="1650" spc="-4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cambia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</a:t>
            </a:r>
            <a:r>
              <a:rPr lang="es-MX" sz="1650" spc="-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selección</a:t>
            </a:r>
            <a:r>
              <a:rPr lang="es-MX" sz="1650" spc="-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 spc="-2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de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calidad?</a:t>
            </a:r>
            <a:r>
              <a:rPr lang="es-MX" sz="1650" spc="40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¿Qué</a:t>
            </a:r>
            <a:r>
              <a:rPr lang="es-MX" sz="1650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no</a:t>
            </a:r>
            <a:r>
              <a:rPr lang="es-MX" sz="1650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puede</a:t>
            </a:r>
            <a:r>
              <a:rPr lang="es-MX" sz="1650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afirmarse?</a:t>
            </a:r>
            <a:endParaRPr lang="es-MX" sz="16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Panorama</a:t>
            </a:r>
            <a:r>
              <a:rPr spc="-75"/>
              <a:t> </a:t>
            </a:r>
            <a:r>
              <a:t>de</a:t>
            </a:r>
            <a:r>
              <a:rPr spc="-75"/>
              <a:t> </a:t>
            </a:r>
            <a:r>
              <a:t>la</a:t>
            </a:r>
            <a:r>
              <a:rPr spc="-75"/>
              <a:t> </a:t>
            </a:r>
            <a:r>
              <a:t>muestra</a:t>
            </a:r>
            <a:r>
              <a:rPr spc="-75"/>
              <a:t> </a:t>
            </a:r>
            <a:r>
              <a:rPr spc="-10"/>
              <a:t>retenida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1177" y="1000582"/>
            <a:ext cx="100393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100" b="1" spc="-10">
                <a:solidFill>
                  <a:srgbClr val="2E6A46"/>
                </a:solidFill>
                <a:latin typeface="Arial"/>
                <a:cs typeface="Arial"/>
              </a:rPr>
              <a:t>Bosque</a:t>
            </a:r>
            <a:endParaRPr lang="es-ES"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0938" y="1000582"/>
            <a:ext cx="9004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100" b="1" spc="-10">
                <a:solidFill>
                  <a:srgbClr val="C3862D"/>
                </a:solidFill>
                <a:latin typeface="Arial"/>
                <a:cs typeface="Arial"/>
              </a:rPr>
              <a:t>Estepa</a:t>
            </a:r>
            <a:endParaRPr lang="es-ES" sz="21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7682" y="1515402"/>
            <a:ext cx="3942079" cy="558800"/>
            <a:chOff x="707682" y="1804962"/>
            <a:chExt cx="3942079" cy="558800"/>
          </a:xfrm>
        </p:grpSpPr>
        <p:sp>
          <p:nvSpPr>
            <p:cNvPr id="8" name="object 8"/>
            <p:cNvSpPr/>
            <p:nvPr/>
          </p:nvSpPr>
          <p:spPr>
            <a:xfrm>
              <a:off x="712444" y="1809724"/>
              <a:ext cx="3932554" cy="549275"/>
            </a:xfrm>
            <a:custGeom>
              <a:avLst/>
              <a:gdLst/>
              <a:ahLst/>
              <a:cxnLst/>
              <a:rect l="l" t="t" r="r" b="b"/>
              <a:pathLst>
                <a:path w="3932554" h="549275">
                  <a:moveTo>
                    <a:pt x="38150" y="0"/>
                  </a:move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511200"/>
                  </a:lnTo>
                  <a:lnTo>
                    <a:pt x="2159" y="519112"/>
                  </a:lnTo>
                  <a:lnTo>
                    <a:pt x="6121" y="526313"/>
                  </a:lnTo>
                  <a:lnTo>
                    <a:pt x="10071" y="533158"/>
                  </a:lnTo>
                  <a:lnTo>
                    <a:pt x="15836" y="538911"/>
                  </a:lnTo>
                  <a:lnTo>
                    <a:pt x="23037" y="542874"/>
                  </a:lnTo>
                  <a:lnTo>
                    <a:pt x="29870" y="546836"/>
                  </a:lnTo>
                  <a:lnTo>
                    <a:pt x="37795" y="548995"/>
                  </a:lnTo>
                  <a:lnTo>
                    <a:pt x="3894480" y="548995"/>
                  </a:lnTo>
                  <a:lnTo>
                    <a:pt x="3926154" y="525957"/>
                  </a:lnTo>
                  <a:lnTo>
                    <a:pt x="3930116" y="519112"/>
                  </a:lnTo>
                  <a:lnTo>
                    <a:pt x="3932275" y="511200"/>
                  </a:lnTo>
                  <a:lnTo>
                    <a:pt x="3932178" y="37795"/>
                  </a:lnTo>
                  <a:lnTo>
                    <a:pt x="3930116" y="30238"/>
                  </a:lnTo>
                  <a:lnTo>
                    <a:pt x="3926154" y="23037"/>
                  </a:lnTo>
                  <a:lnTo>
                    <a:pt x="3922191" y="16192"/>
                  </a:lnTo>
                  <a:lnTo>
                    <a:pt x="3916438" y="10439"/>
                  </a:lnTo>
                  <a:lnTo>
                    <a:pt x="3909237" y="6476"/>
                  </a:lnTo>
                  <a:lnTo>
                    <a:pt x="3902392" y="2514"/>
                  </a:lnTo>
                  <a:lnTo>
                    <a:pt x="3894480" y="355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12444" y="1809724"/>
              <a:ext cx="3932554" cy="549275"/>
            </a:xfrm>
            <a:custGeom>
              <a:avLst/>
              <a:gdLst/>
              <a:ahLst/>
              <a:cxnLst/>
              <a:rect l="l" t="t" r="r" b="b"/>
              <a:pathLst>
                <a:path w="3932554" h="549275">
                  <a:moveTo>
                    <a:pt x="355" y="45720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192" y="10071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3886555" y="355"/>
                  </a:lnTo>
                  <a:lnTo>
                    <a:pt x="3894480" y="355"/>
                  </a:lnTo>
                  <a:lnTo>
                    <a:pt x="3902392" y="2514"/>
                  </a:lnTo>
                  <a:lnTo>
                    <a:pt x="3909237" y="6476"/>
                  </a:lnTo>
                  <a:lnTo>
                    <a:pt x="3916438" y="10439"/>
                  </a:lnTo>
                  <a:lnTo>
                    <a:pt x="3922191" y="16192"/>
                  </a:lnTo>
                  <a:lnTo>
                    <a:pt x="3926154" y="23037"/>
                  </a:lnTo>
                  <a:lnTo>
                    <a:pt x="3930116" y="30238"/>
                  </a:lnTo>
                  <a:lnTo>
                    <a:pt x="3932275" y="38150"/>
                  </a:lnTo>
                  <a:lnTo>
                    <a:pt x="3932275" y="46075"/>
                  </a:lnTo>
                  <a:lnTo>
                    <a:pt x="3932275" y="503275"/>
                  </a:lnTo>
                  <a:lnTo>
                    <a:pt x="3932275" y="511200"/>
                  </a:lnTo>
                  <a:lnTo>
                    <a:pt x="3930116" y="519112"/>
                  </a:lnTo>
                  <a:lnTo>
                    <a:pt x="3926154" y="525957"/>
                  </a:lnTo>
                  <a:lnTo>
                    <a:pt x="3922191" y="533158"/>
                  </a:lnTo>
                  <a:lnTo>
                    <a:pt x="3916438" y="538911"/>
                  </a:lnTo>
                  <a:lnTo>
                    <a:pt x="3909593" y="542874"/>
                  </a:lnTo>
                  <a:lnTo>
                    <a:pt x="3902392" y="546836"/>
                  </a:lnTo>
                  <a:lnTo>
                    <a:pt x="3894480" y="548995"/>
                  </a:lnTo>
                  <a:lnTo>
                    <a:pt x="3886555" y="548995"/>
                  </a:lnTo>
                  <a:lnTo>
                    <a:pt x="45720" y="548995"/>
                  </a:lnTo>
                  <a:lnTo>
                    <a:pt x="37795" y="548995"/>
                  </a:lnTo>
                  <a:lnTo>
                    <a:pt x="29870" y="546836"/>
                  </a:lnTo>
                  <a:lnTo>
                    <a:pt x="23037" y="542874"/>
                  </a:lnTo>
                  <a:lnTo>
                    <a:pt x="15836" y="538911"/>
                  </a:lnTo>
                  <a:lnTo>
                    <a:pt x="10071" y="533158"/>
                  </a:lnTo>
                  <a:lnTo>
                    <a:pt x="6121" y="526313"/>
                  </a:lnTo>
                  <a:lnTo>
                    <a:pt x="2159" y="519112"/>
                  </a:lnTo>
                  <a:lnTo>
                    <a:pt x="0" y="511200"/>
                  </a:lnTo>
                  <a:lnTo>
                    <a:pt x="0" y="503275"/>
                  </a:lnTo>
                  <a:lnTo>
                    <a:pt x="355" y="45720"/>
                  </a:lnTo>
                  <a:close/>
                </a:path>
              </a:pathLst>
            </a:custGeom>
            <a:ln w="899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78102" y="1636344"/>
            <a:ext cx="724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17.694</a:t>
            </a:r>
            <a:endParaRPr lang="es-E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88653" y="1672704"/>
            <a:ext cx="1497330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3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Segmentos</a:t>
            </a:r>
            <a:r>
              <a:rPr lang="es-ES" sz="1300" b="1" spc="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sz="13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brutos</a:t>
            </a:r>
            <a:endParaRPr lang="es-ES" sz="1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81913" y="2080260"/>
            <a:ext cx="3594735" cy="753110"/>
            <a:chOff x="881913" y="2369820"/>
            <a:chExt cx="3594735" cy="753110"/>
          </a:xfrm>
        </p:grpSpPr>
        <p:sp>
          <p:nvSpPr>
            <p:cNvPr id="13" name="object 13"/>
            <p:cNvSpPr/>
            <p:nvPr/>
          </p:nvSpPr>
          <p:spPr>
            <a:xfrm>
              <a:off x="2679115" y="2377440"/>
              <a:ext cx="635" cy="112395"/>
            </a:xfrm>
            <a:custGeom>
              <a:avLst/>
              <a:gdLst/>
              <a:ahLst/>
              <a:cxnLst/>
              <a:rect l="l" t="t" r="r" b="b"/>
              <a:pathLst>
                <a:path w="635" h="112394">
                  <a:moveTo>
                    <a:pt x="0" y="0"/>
                  </a:moveTo>
                  <a:lnTo>
                    <a:pt x="368" y="112318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641676" y="24847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86675" y="2568600"/>
              <a:ext cx="3585210" cy="549275"/>
            </a:xfrm>
            <a:custGeom>
              <a:avLst/>
              <a:gdLst/>
              <a:ahLst/>
              <a:cxnLst/>
              <a:rect l="l" t="t" r="r" b="b"/>
              <a:pathLst>
                <a:path w="3585210" h="549275">
                  <a:moveTo>
                    <a:pt x="38163" y="0"/>
                  </a:move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511200"/>
                  </a:lnTo>
                  <a:lnTo>
                    <a:pt x="2159" y="519125"/>
                  </a:lnTo>
                  <a:lnTo>
                    <a:pt x="6121" y="526313"/>
                  </a:lnTo>
                  <a:lnTo>
                    <a:pt x="10083" y="533158"/>
                  </a:lnTo>
                  <a:lnTo>
                    <a:pt x="15849" y="538924"/>
                  </a:lnTo>
                  <a:lnTo>
                    <a:pt x="23037" y="542874"/>
                  </a:lnTo>
                  <a:lnTo>
                    <a:pt x="29883" y="546836"/>
                  </a:lnTo>
                  <a:lnTo>
                    <a:pt x="37807" y="548995"/>
                  </a:lnTo>
                  <a:lnTo>
                    <a:pt x="3547084" y="548995"/>
                  </a:lnTo>
                  <a:lnTo>
                    <a:pt x="3578758" y="525957"/>
                  </a:lnTo>
                  <a:lnTo>
                    <a:pt x="3582720" y="519125"/>
                  </a:lnTo>
                  <a:lnTo>
                    <a:pt x="3584879" y="511200"/>
                  </a:lnTo>
                  <a:lnTo>
                    <a:pt x="3584779" y="37795"/>
                  </a:lnTo>
                  <a:lnTo>
                    <a:pt x="3582720" y="30238"/>
                  </a:lnTo>
                  <a:lnTo>
                    <a:pt x="3578758" y="23037"/>
                  </a:lnTo>
                  <a:lnTo>
                    <a:pt x="3574808" y="16205"/>
                  </a:lnTo>
                  <a:lnTo>
                    <a:pt x="3569042" y="10439"/>
                  </a:lnTo>
                  <a:lnTo>
                    <a:pt x="3561841" y="6476"/>
                  </a:lnTo>
                  <a:lnTo>
                    <a:pt x="3555009" y="2514"/>
                  </a:lnTo>
                  <a:lnTo>
                    <a:pt x="3547084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2E6A46">
                <a:alpha val="86999"/>
              </a:srgb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86675" y="2568600"/>
              <a:ext cx="3585210" cy="549275"/>
            </a:xfrm>
            <a:custGeom>
              <a:avLst/>
              <a:gdLst/>
              <a:ahLst/>
              <a:cxnLst/>
              <a:rect l="l" t="t" r="r" b="b"/>
              <a:pathLst>
                <a:path w="3585210" h="549275">
                  <a:moveTo>
                    <a:pt x="368" y="45719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3539159" y="355"/>
                  </a:lnTo>
                  <a:lnTo>
                    <a:pt x="3547084" y="355"/>
                  </a:lnTo>
                  <a:lnTo>
                    <a:pt x="3555009" y="2514"/>
                  </a:lnTo>
                  <a:lnTo>
                    <a:pt x="3561841" y="6476"/>
                  </a:lnTo>
                  <a:lnTo>
                    <a:pt x="3569042" y="10439"/>
                  </a:lnTo>
                  <a:lnTo>
                    <a:pt x="3574808" y="16205"/>
                  </a:lnTo>
                  <a:lnTo>
                    <a:pt x="3578758" y="23037"/>
                  </a:lnTo>
                  <a:lnTo>
                    <a:pt x="3582720" y="30238"/>
                  </a:lnTo>
                  <a:lnTo>
                    <a:pt x="3584879" y="38163"/>
                  </a:lnTo>
                  <a:lnTo>
                    <a:pt x="3584879" y="46075"/>
                  </a:lnTo>
                  <a:lnTo>
                    <a:pt x="3584879" y="503275"/>
                  </a:lnTo>
                  <a:lnTo>
                    <a:pt x="3584879" y="511200"/>
                  </a:lnTo>
                  <a:lnTo>
                    <a:pt x="3582720" y="519125"/>
                  </a:lnTo>
                  <a:lnTo>
                    <a:pt x="3578758" y="525957"/>
                  </a:lnTo>
                  <a:lnTo>
                    <a:pt x="3574808" y="533158"/>
                  </a:lnTo>
                  <a:lnTo>
                    <a:pt x="3569042" y="538924"/>
                  </a:lnTo>
                  <a:lnTo>
                    <a:pt x="3562210" y="542874"/>
                  </a:lnTo>
                  <a:lnTo>
                    <a:pt x="3555009" y="546836"/>
                  </a:lnTo>
                  <a:lnTo>
                    <a:pt x="3547084" y="548995"/>
                  </a:lnTo>
                  <a:lnTo>
                    <a:pt x="3539159" y="548995"/>
                  </a:lnTo>
                  <a:lnTo>
                    <a:pt x="45720" y="548995"/>
                  </a:lnTo>
                  <a:lnTo>
                    <a:pt x="37807" y="548995"/>
                  </a:lnTo>
                  <a:lnTo>
                    <a:pt x="29883" y="546836"/>
                  </a:lnTo>
                  <a:lnTo>
                    <a:pt x="23037" y="542874"/>
                  </a:lnTo>
                  <a:lnTo>
                    <a:pt x="15849" y="538924"/>
                  </a:lnTo>
                  <a:lnTo>
                    <a:pt x="10083" y="533158"/>
                  </a:lnTo>
                  <a:lnTo>
                    <a:pt x="6121" y="526313"/>
                  </a:lnTo>
                  <a:lnTo>
                    <a:pt x="2159" y="519125"/>
                  </a:lnTo>
                  <a:lnTo>
                    <a:pt x="0" y="511200"/>
                  </a:lnTo>
                  <a:lnTo>
                    <a:pt x="0" y="503275"/>
                  </a:lnTo>
                  <a:lnTo>
                    <a:pt x="368" y="45719"/>
                  </a:lnTo>
                  <a:close/>
                </a:path>
              </a:pathLst>
            </a:custGeom>
            <a:ln w="89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51978" y="2395219"/>
            <a:ext cx="724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17.051</a:t>
            </a:r>
            <a:endParaRPr lang="es-E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21939" y="2431579"/>
            <a:ext cx="1031875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3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Altura</a:t>
            </a:r>
            <a:r>
              <a:rPr lang="es-ES" sz="1300" b="1" spc="1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sz="13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válida</a:t>
            </a:r>
            <a:endParaRPr lang="es-ES" sz="1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55077" y="2839135"/>
            <a:ext cx="3247390" cy="753110"/>
            <a:chOff x="1055077" y="3128695"/>
            <a:chExt cx="3247390" cy="753110"/>
          </a:xfrm>
        </p:grpSpPr>
        <p:sp>
          <p:nvSpPr>
            <p:cNvPr id="20" name="object 20"/>
            <p:cNvSpPr/>
            <p:nvPr/>
          </p:nvSpPr>
          <p:spPr>
            <a:xfrm>
              <a:off x="2679115" y="3136315"/>
              <a:ext cx="635" cy="112395"/>
            </a:xfrm>
            <a:custGeom>
              <a:avLst/>
              <a:gdLst/>
              <a:ahLst/>
              <a:cxnLst/>
              <a:rect l="l" t="t" r="r" b="b"/>
              <a:pathLst>
                <a:path w="635" h="112394">
                  <a:moveTo>
                    <a:pt x="0" y="0"/>
                  </a:moveTo>
                  <a:lnTo>
                    <a:pt x="368" y="112318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641676" y="32436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590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059840" y="3327844"/>
              <a:ext cx="3237865" cy="549275"/>
            </a:xfrm>
            <a:custGeom>
              <a:avLst/>
              <a:gdLst/>
              <a:ahLst/>
              <a:cxnLst/>
              <a:rect l="l" t="t" r="r" b="b"/>
              <a:pathLst>
                <a:path w="3237865" h="549275">
                  <a:moveTo>
                    <a:pt x="38163" y="0"/>
                  </a:moveTo>
                  <a:lnTo>
                    <a:pt x="6477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511200"/>
                  </a:lnTo>
                  <a:lnTo>
                    <a:pt x="2159" y="519112"/>
                  </a:lnTo>
                  <a:lnTo>
                    <a:pt x="6121" y="526313"/>
                  </a:lnTo>
                  <a:lnTo>
                    <a:pt x="10083" y="533158"/>
                  </a:lnTo>
                  <a:lnTo>
                    <a:pt x="15836" y="538911"/>
                  </a:lnTo>
                  <a:lnTo>
                    <a:pt x="23037" y="542874"/>
                  </a:lnTo>
                  <a:lnTo>
                    <a:pt x="29883" y="546836"/>
                  </a:lnTo>
                  <a:lnTo>
                    <a:pt x="37795" y="548995"/>
                  </a:lnTo>
                  <a:lnTo>
                    <a:pt x="3199676" y="548995"/>
                  </a:lnTo>
                  <a:lnTo>
                    <a:pt x="3231362" y="525957"/>
                  </a:lnTo>
                  <a:lnTo>
                    <a:pt x="3235325" y="519112"/>
                  </a:lnTo>
                  <a:lnTo>
                    <a:pt x="3237484" y="511200"/>
                  </a:lnTo>
                  <a:lnTo>
                    <a:pt x="3237386" y="37795"/>
                  </a:lnTo>
                  <a:lnTo>
                    <a:pt x="3235325" y="30238"/>
                  </a:lnTo>
                  <a:lnTo>
                    <a:pt x="3231362" y="23037"/>
                  </a:lnTo>
                  <a:lnTo>
                    <a:pt x="3227400" y="16192"/>
                  </a:lnTo>
                  <a:lnTo>
                    <a:pt x="3221634" y="10439"/>
                  </a:lnTo>
                  <a:lnTo>
                    <a:pt x="3214433" y="6476"/>
                  </a:lnTo>
                  <a:lnTo>
                    <a:pt x="3207600" y="2514"/>
                  </a:lnTo>
                  <a:lnTo>
                    <a:pt x="3199676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2E6A46">
                <a:alpha val="73999"/>
              </a:srgb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059840" y="3327844"/>
              <a:ext cx="3237865" cy="549275"/>
            </a:xfrm>
            <a:custGeom>
              <a:avLst/>
              <a:gdLst/>
              <a:ahLst/>
              <a:cxnLst/>
              <a:rect l="l" t="t" r="r" b="b"/>
              <a:pathLst>
                <a:path w="3237865" h="549275">
                  <a:moveTo>
                    <a:pt x="355" y="45719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3191764" y="355"/>
                  </a:lnTo>
                  <a:lnTo>
                    <a:pt x="3199676" y="355"/>
                  </a:lnTo>
                  <a:lnTo>
                    <a:pt x="3207600" y="2514"/>
                  </a:lnTo>
                  <a:lnTo>
                    <a:pt x="3214433" y="6476"/>
                  </a:lnTo>
                  <a:lnTo>
                    <a:pt x="3221634" y="10439"/>
                  </a:lnTo>
                  <a:lnTo>
                    <a:pt x="3227400" y="16192"/>
                  </a:lnTo>
                  <a:lnTo>
                    <a:pt x="3231362" y="23037"/>
                  </a:lnTo>
                  <a:lnTo>
                    <a:pt x="3235325" y="30238"/>
                  </a:lnTo>
                  <a:lnTo>
                    <a:pt x="3237484" y="38150"/>
                  </a:lnTo>
                  <a:lnTo>
                    <a:pt x="3237484" y="46075"/>
                  </a:lnTo>
                  <a:lnTo>
                    <a:pt x="3237484" y="503275"/>
                  </a:lnTo>
                  <a:lnTo>
                    <a:pt x="3237484" y="511200"/>
                  </a:lnTo>
                  <a:lnTo>
                    <a:pt x="3235325" y="519112"/>
                  </a:lnTo>
                  <a:lnTo>
                    <a:pt x="3231362" y="525957"/>
                  </a:lnTo>
                  <a:lnTo>
                    <a:pt x="3227400" y="533158"/>
                  </a:lnTo>
                  <a:lnTo>
                    <a:pt x="3221634" y="538911"/>
                  </a:lnTo>
                  <a:lnTo>
                    <a:pt x="3214801" y="542874"/>
                  </a:lnTo>
                  <a:lnTo>
                    <a:pt x="3207600" y="546836"/>
                  </a:lnTo>
                  <a:lnTo>
                    <a:pt x="3199676" y="548995"/>
                  </a:lnTo>
                  <a:lnTo>
                    <a:pt x="3191764" y="548995"/>
                  </a:lnTo>
                  <a:lnTo>
                    <a:pt x="45720" y="548995"/>
                  </a:lnTo>
                  <a:lnTo>
                    <a:pt x="37795" y="548995"/>
                  </a:lnTo>
                  <a:lnTo>
                    <a:pt x="29883" y="546836"/>
                  </a:lnTo>
                  <a:lnTo>
                    <a:pt x="23037" y="542874"/>
                  </a:lnTo>
                  <a:lnTo>
                    <a:pt x="15836" y="538911"/>
                  </a:lnTo>
                  <a:lnTo>
                    <a:pt x="10083" y="533158"/>
                  </a:lnTo>
                  <a:lnTo>
                    <a:pt x="6121" y="526313"/>
                  </a:lnTo>
                  <a:lnTo>
                    <a:pt x="2159" y="519112"/>
                  </a:lnTo>
                  <a:lnTo>
                    <a:pt x="0" y="511200"/>
                  </a:lnTo>
                  <a:lnTo>
                    <a:pt x="0" y="503275"/>
                  </a:lnTo>
                  <a:lnTo>
                    <a:pt x="355" y="45719"/>
                  </a:lnTo>
                  <a:close/>
                </a:path>
              </a:pathLst>
            </a:custGeom>
            <a:ln w="89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488859" y="3154463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1.949</a:t>
            </a:r>
            <a:endParaRPr lang="es-ES" sz="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40304" y="3190824"/>
            <a:ext cx="994410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300" b="1" spc="-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Operacional</a:t>
            </a:r>
            <a:endParaRPr lang="es-ES" sz="1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29216" y="3598084"/>
            <a:ext cx="2898775" cy="753110"/>
            <a:chOff x="1229216" y="3887644"/>
            <a:chExt cx="2898775" cy="753110"/>
          </a:xfrm>
        </p:grpSpPr>
        <p:sp>
          <p:nvSpPr>
            <p:cNvPr id="27" name="object 27"/>
            <p:cNvSpPr/>
            <p:nvPr/>
          </p:nvSpPr>
          <p:spPr>
            <a:xfrm>
              <a:off x="2679115" y="3895204"/>
              <a:ext cx="635" cy="112395"/>
            </a:xfrm>
            <a:custGeom>
              <a:avLst/>
              <a:gdLst/>
              <a:ahLst/>
              <a:cxnLst/>
              <a:rect l="l" t="t" r="r" b="b"/>
              <a:pathLst>
                <a:path w="635" h="112395">
                  <a:moveTo>
                    <a:pt x="0" y="0"/>
                  </a:moveTo>
                  <a:lnTo>
                    <a:pt x="368" y="112318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641676" y="40024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233716" y="4086720"/>
              <a:ext cx="2889885" cy="549275"/>
            </a:xfrm>
            <a:custGeom>
              <a:avLst/>
              <a:gdLst/>
              <a:ahLst/>
              <a:cxnLst/>
              <a:rect l="l" t="t" r="r" b="b"/>
              <a:pathLst>
                <a:path w="2889885" h="549275">
                  <a:moveTo>
                    <a:pt x="38163" y="0"/>
                  </a:move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511200"/>
                  </a:lnTo>
                  <a:lnTo>
                    <a:pt x="2159" y="519125"/>
                  </a:lnTo>
                  <a:lnTo>
                    <a:pt x="6121" y="526313"/>
                  </a:lnTo>
                  <a:lnTo>
                    <a:pt x="10083" y="533158"/>
                  </a:lnTo>
                  <a:lnTo>
                    <a:pt x="15849" y="538924"/>
                  </a:lnTo>
                  <a:lnTo>
                    <a:pt x="23037" y="542874"/>
                  </a:lnTo>
                  <a:lnTo>
                    <a:pt x="29883" y="546836"/>
                  </a:lnTo>
                  <a:lnTo>
                    <a:pt x="37807" y="548995"/>
                  </a:lnTo>
                  <a:lnTo>
                    <a:pt x="2851924" y="548995"/>
                  </a:lnTo>
                  <a:lnTo>
                    <a:pt x="2883598" y="525957"/>
                  </a:lnTo>
                  <a:lnTo>
                    <a:pt x="2887560" y="519125"/>
                  </a:lnTo>
                  <a:lnTo>
                    <a:pt x="2889719" y="511200"/>
                  </a:lnTo>
                  <a:lnTo>
                    <a:pt x="2889619" y="37795"/>
                  </a:lnTo>
                  <a:lnTo>
                    <a:pt x="2887560" y="30238"/>
                  </a:lnTo>
                  <a:lnTo>
                    <a:pt x="2883598" y="23037"/>
                  </a:lnTo>
                  <a:lnTo>
                    <a:pt x="2879648" y="16205"/>
                  </a:lnTo>
                  <a:lnTo>
                    <a:pt x="2873883" y="10439"/>
                  </a:lnTo>
                  <a:lnTo>
                    <a:pt x="2866682" y="6477"/>
                  </a:lnTo>
                  <a:lnTo>
                    <a:pt x="2859849" y="2514"/>
                  </a:lnTo>
                  <a:lnTo>
                    <a:pt x="2851924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2E6A46">
                <a:alpha val="60998"/>
              </a:srgb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233716" y="4086720"/>
              <a:ext cx="2889885" cy="549275"/>
            </a:xfrm>
            <a:custGeom>
              <a:avLst/>
              <a:gdLst/>
              <a:ahLst/>
              <a:cxnLst/>
              <a:rect l="l" t="t" r="r" b="b"/>
              <a:pathLst>
                <a:path w="2889885" h="549275">
                  <a:moveTo>
                    <a:pt x="368" y="45720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2843999" y="355"/>
                  </a:lnTo>
                  <a:lnTo>
                    <a:pt x="2851924" y="355"/>
                  </a:lnTo>
                  <a:lnTo>
                    <a:pt x="2859849" y="2514"/>
                  </a:lnTo>
                  <a:lnTo>
                    <a:pt x="2866682" y="6477"/>
                  </a:lnTo>
                  <a:lnTo>
                    <a:pt x="2873883" y="10439"/>
                  </a:lnTo>
                  <a:lnTo>
                    <a:pt x="2879648" y="16205"/>
                  </a:lnTo>
                  <a:lnTo>
                    <a:pt x="2883598" y="23037"/>
                  </a:lnTo>
                  <a:lnTo>
                    <a:pt x="2887560" y="30238"/>
                  </a:lnTo>
                  <a:lnTo>
                    <a:pt x="2889719" y="38163"/>
                  </a:lnTo>
                  <a:lnTo>
                    <a:pt x="2889719" y="46075"/>
                  </a:lnTo>
                  <a:lnTo>
                    <a:pt x="2889719" y="503275"/>
                  </a:lnTo>
                  <a:lnTo>
                    <a:pt x="2889719" y="511200"/>
                  </a:lnTo>
                  <a:lnTo>
                    <a:pt x="2887560" y="519125"/>
                  </a:lnTo>
                  <a:lnTo>
                    <a:pt x="2883598" y="525957"/>
                  </a:lnTo>
                  <a:lnTo>
                    <a:pt x="2879648" y="533158"/>
                  </a:lnTo>
                  <a:lnTo>
                    <a:pt x="2873883" y="538924"/>
                  </a:lnTo>
                  <a:lnTo>
                    <a:pt x="2867037" y="542874"/>
                  </a:lnTo>
                  <a:lnTo>
                    <a:pt x="2859849" y="546836"/>
                  </a:lnTo>
                  <a:lnTo>
                    <a:pt x="2851924" y="548995"/>
                  </a:lnTo>
                  <a:lnTo>
                    <a:pt x="2843999" y="548995"/>
                  </a:lnTo>
                  <a:lnTo>
                    <a:pt x="45719" y="548995"/>
                  </a:lnTo>
                  <a:lnTo>
                    <a:pt x="37807" y="548995"/>
                  </a:lnTo>
                  <a:lnTo>
                    <a:pt x="29883" y="546836"/>
                  </a:lnTo>
                  <a:lnTo>
                    <a:pt x="23037" y="542874"/>
                  </a:lnTo>
                  <a:lnTo>
                    <a:pt x="15849" y="538924"/>
                  </a:lnTo>
                  <a:lnTo>
                    <a:pt x="10083" y="533158"/>
                  </a:lnTo>
                  <a:lnTo>
                    <a:pt x="6121" y="526313"/>
                  </a:lnTo>
                  <a:lnTo>
                    <a:pt x="2159" y="519125"/>
                  </a:lnTo>
                  <a:lnTo>
                    <a:pt x="0" y="511200"/>
                  </a:lnTo>
                  <a:lnTo>
                    <a:pt x="0" y="503275"/>
                  </a:lnTo>
                  <a:lnTo>
                    <a:pt x="368" y="45720"/>
                  </a:lnTo>
                  <a:close/>
                </a:path>
              </a:pathLst>
            </a:custGeom>
            <a:ln w="89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758137" y="3913340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25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905</a:t>
            </a:r>
            <a:endParaRPr lang="es-ES" sz="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07538" y="3949699"/>
            <a:ext cx="1059180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300" b="1" spc="-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Conservador</a:t>
            </a:r>
            <a:endParaRPr lang="es-ES" sz="1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53757" y="1515402"/>
            <a:ext cx="3942079" cy="558800"/>
            <a:chOff x="7053757" y="1804962"/>
            <a:chExt cx="3942079" cy="558800"/>
          </a:xfrm>
        </p:grpSpPr>
        <p:sp>
          <p:nvSpPr>
            <p:cNvPr id="34" name="object 34"/>
            <p:cNvSpPr/>
            <p:nvPr/>
          </p:nvSpPr>
          <p:spPr>
            <a:xfrm>
              <a:off x="7058520" y="1809724"/>
              <a:ext cx="3932554" cy="549275"/>
            </a:xfrm>
            <a:custGeom>
              <a:avLst/>
              <a:gdLst/>
              <a:ahLst/>
              <a:cxnLst/>
              <a:rect l="l" t="t" r="r" b="b"/>
              <a:pathLst>
                <a:path w="3932554" h="549275">
                  <a:moveTo>
                    <a:pt x="38163" y="0"/>
                  </a:move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511200"/>
                  </a:lnTo>
                  <a:lnTo>
                    <a:pt x="2158" y="519112"/>
                  </a:lnTo>
                  <a:lnTo>
                    <a:pt x="6121" y="526313"/>
                  </a:lnTo>
                  <a:lnTo>
                    <a:pt x="10083" y="533158"/>
                  </a:lnTo>
                  <a:lnTo>
                    <a:pt x="15836" y="538911"/>
                  </a:lnTo>
                  <a:lnTo>
                    <a:pt x="23037" y="542874"/>
                  </a:lnTo>
                  <a:lnTo>
                    <a:pt x="29883" y="546836"/>
                  </a:lnTo>
                  <a:lnTo>
                    <a:pt x="37795" y="548995"/>
                  </a:lnTo>
                  <a:lnTo>
                    <a:pt x="3894480" y="548995"/>
                  </a:lnTo>
                  <a:lnTo>
                    <a:pt x="3926154" y="525957"/>
                  </a:lnTo>
                  <a:lnTo>
                    <a:pt x="3930116" y="519112"/>
                  </a:lnTo>
                  <a:lnTo>
                    <a:pt x="3932275" y="511200"/>
                  </a:lnTo>
                  <a:lnTo>
                    <a:pt x="3932178" y="37795"/>
                  </a:lnTo>
                  <a:lnTo>
                    <a:pt x="3930116" y="30238"/>
                  </a:lnTo>
                  <a:lnTo>
                    <a:pt x="3926154" y="23037"/>
                  </a:lnTo>
                  <a:lnTo>
                    <a:pt x="3922204" y="16192"/>
                  </a:lnTo>
                  <a:lnTo>
                    <a:pt x="3916438" y="10439"/>
                  </a:lnTo>
                  <a:lnTo>
                    <a:pt x="3909237" y="6476"/>
                  </a:lnTo>
                  <a:lnTo>
                    <a:pt x="3902405" y="2514"/>
                  </a:lnTo>
                  <a:lnTo>
                    <a:pt x="3894480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058520" y="1809724"/>
              <a:ext cx="3932554" cy="549275"/>
            </a:xfrm>
            <a:custGeom>
              <a:avLst/>
              <a:gdLst/>
              <a:ahLst/>
              <a:cxnLst/>
              <a:rect l="l" t="t" r="r" b="b"/>
              <a:pathLst>
                <a:path w="3932554" h="549275">
                  <a:moveTo>
                    <a:pt x="355" y="45720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3886555" y="355"/>
                  </a:lnTo>
                  <a:lnTo>
                    <a:pt x="3894480" y="355"/>
                  </a:lnTo>
                  <a:lnTo>
                    <a:pt x="3902405" y="2514"/>
                  </a:lnTo>
                  <a:lnTo>
                    <a:pt x="3909237" y="6476"/>
                  </a:lnTo>
                  <a:lnTo>
                    <a:pt x="3916438" y="10439"/>
                  </a:lnTo>
                  <a:lnTo>
                    <a:pt x="3922204" y="16192"/>
                  </a:lnTo>
                  <a:lnTo>
                    <a:pt x="3926154" y="23037"/>
                  </a:lnTo>
                  <a:lnTo>
                    <a:pt x="3930116" y="30238"/>
                  </a:lnTo>
                  <a:lnTo>
                    <a:pt x="3932275" y="38150"/>
                  </a:lnTo>
                  <a:lnTo>
                    <a:pt x="3932275" y="46075"/>
                  </a:lnTo>
                  <a:lnTo>
                    <a:pt x="3932275" y="503275"/>
                  </a:lnTo>
                  <a:lnTo>
                    <a:pt x="3932275" y="511200"/>
                  </a:lnTo>
                  <a:lnTo>
                    <a:pt x="3930116" y="519112"/>
                  </a:lnTo>
                  <a:lnTo>
                    <a:pt x="3926154" y="525957"/>
                  </a:lnTo>
                  <a:lnTo>
                    <a:pt x="3922204" y="533158"/>
                  </a:lnTo>
                  <a:lnTo>
                    <a:pt x="3916438" y="538911"/>
                  </a:lnTo>
                  <a:lnTo>
                    <a:pt x="3909593" y="542874"/>
                  </a:lnTo>
                  <a:lnTo>
                    <a:pt x="3902405" y="546836"/>
                  </a:lnTo>
                  <a:lnTo>
                    <a:pt x="3894480" y="548995"/>
                  </a:lnTo>
                  <a:lnTo>
                    <a:pt x="3886555" y="548995"/>
                  </a:lnTo>
                  <a:lnTo>
                    <a:pt x="45720" y="548995"/>
                  </a:lnTo>
                  <a:lnTo>
                    <a:pt x="37795" y="548995"/>
                  </a:lnTo>
                  <a:lnTo>
                    <a:pt x="29883" y="546836"/>
                  </a:lnTo>
                  <a:lnTo>
                    <a:pt x="23037" y="542874"/>
                  </a:lnTo>
                  <a:lnTo>
                    <a:pt x="15836" y="538911"/>
                  </a:lnTo>
                  <a:lnTo>
                    <a:pt x="10083" y="533158"/>
                  </a:lnTo>
                  <a:lnTo>
                    <a:pt x="6121" y="526313"/>
                  </a:lnTo>
                  <a:lnTo>
                    <a:pt x="2158" y="519112"/>
                  </a:lnTo>
                  <a:lnTo>
                    <a:pt x="0" y="511200"/>
                  </a:lnTo>
                  <a:lnTo>
                    <a:pt x="0" y="503275"/>
                  </a:lnTo>
                  <a:lnTo>
                    <a:pt x="355" y="45720"/>
                  </a:lnTo>
                  <a:close/>
                </a:path>
              </a:pathLst>
            </a:custGeom>
            <a:ln w="89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424178" y="1636344"/>
            <a:ext cx="724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19.912</a:t>
            </a:r>
            <a:endParaRPr lang="es-E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934742" y="1672704"/>
            <a:ext cx="1497330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3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Segmentos</a:t>
            </a:r>
            <a:r>
              <a:rPr lang="es-ES" sz="1300" b="1" spc="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sz="13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brutos</a:t>
            </a:r>
            <a:endParaRPr lang="es-ES" sz="1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227633" y="2080260"/>
            <a:ext cx="3594735" cy="753110"/>
            <a:chOff x="7227633" y="2369820"/>
            <a:chExt cx="3594735" cy="753110"/>
          </a:xfrm>
        </p:grpSpPr>
        <p:sp>
          <p:nvSpPr>
            <p:cNvPr id="39" name="object 39"/>
            <p:cNvSpPr/>
            <p:nvPr/>
          </p:nvSpPr>
          <p:spPr>
            <a:xfrm>
              <a:off x="9024835" y="2377440"/>
              <a:ext cx="635" cy="112395"/>
            </a:xfrm>
            <a:custGeom>
              <a:avLst/>
              <a:gdLst/>
              <a:ahLst/>
              <a:cxnLst/>
              <a:rect l="l" t="t" r="r" b="b"/>
              <a:pathLst>
                <a:path w="634" h="112394">
                  <a:moveTo>
                    <a:pt x="0" y="0"/>
                  </a:moveTo>
                  <a:lnTo>
                    <a:pt x="368" y="112318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8987395" y="24847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232395" y="2568600"/>
              <a:ext cx="3585210" cy="549275"/>
            </a:xfrm>
            <a:custGeom>
              <a:avLst/>
              <a:gdLst/>
              <a:ahLst/>
              <a:cxnLst/>
              <a:rect l="l" t="t" r="r" b="b"/>
              <a:pathLst>
                <a:path w="3585209" h="549275">
                  <a:moveTo>
                    <a:pt x="38163" y="0"/>
                  </a:move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511200"/>
                  </a:lnTo>
                  <a:lnTo>
                    <a:pt x="2158" y="519125"/>
                  </a:lnTo>
                  <a:lnTo>
                    <a:pt x="6121" y="526313"/>
                  </a:lnTo>
                  <a:lnTo>
                    <a:pt x="10083" y="533158"/>
                  </a:lnTo>
                  <a:lnTo>
                    <a:pt x="15849" y="538924"/>
                  </a:lnTo>
                  <a:lnTo>
                    <a:pt x="23037" y="542874"/>
                  </a:lnTo>
                  <a:lnTo>
                    <a:pt x="29883" y="546836"/>
                  </a:lnTo>
                  <a:lnTo>
                    <a:pt x="37807" y="548995"/>
                  </a:lnTo>
                  <a:lnTo>
                    <a:pt x="3547084" y="548995"/>
                  </a:lnTo>
                  <a:lnTo>
                    <a:pt x="3578758" y="525957"/>
                  </a:lnTo>
                  <a:lnTo>
                    <a:pt x="3582720" y="519125"/>
                  </a:lnTo>
                  <a:lnTo>
                    <a:pt x="3584879" y="511200"/>
                  </a:lnTo>
                  <a:lnTo>
                    <a:pt x="3584779" y="37795"/>
                  </a:lnTo>
                  <a:lnTo>
                    <a:pt x="3582720" y="30238"/>
                  </a:lnTo>
                  <a:lnTo>
                    <a:pt x="3578758" y="23037"/>
                  </a:lnTo>
                  <a:lnTo>
                    <a:pt x="3574808" y="16205"/>
                  </a:lnTo>
                  <a:lnTo>
                    <a:pt x="3569042" y="10439"/>
                  </a:lnTo>
                  <a:lnTo>
                    <a:pt x="3561842" y="6476"/>
                  </a:lnTo>
                  <a:lnTo>
                    <a:pt x="3555009" y="2514"/>
                  </a:lnTo>
                  <a:lnTo>
                    <a:pt x="3547084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C3862D">
                <a:alpha val="86999"/>
              </a:srgb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7232395" y="2568600"/>
              <a:ext cx="3585210" cy="549275"/>
            </a:xfrm>
            <a:custGeom>
              <a:avLst/>
              <a:gdLst/>
              <a:ahLst/>
              <a:cxnLst/>
              <a:rect l="l" t="t" r="r" b="b"/>
              <a:pathLst>
                <a:path w="3585209" h="549275">
                  <a:moveTo>
                    <a:pt x="368" y="45719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3539159" y="355"/>
                  </a:lnTo>
                  <a:lnTo>
                    <a:pt x="3547084" y="355"/>
                  </a:lnTo>
                  <a:lnTo>
                    <a:pt x="3555009" y="2514"/>
                  </a:lnTo>
                  <a:lnTo>
                    <a:pt x="3561842" y="6476"/>
                  </a:lnTo>
                  <a:lnTo>
                    <a:pt x="3569042" y="10439"/>
                  </a:lnTo>
                  <a:lnTo>
                    <a:pt x="3574808" y="16205"/>
                  </a:lnTo>
                  <a:lnTo>
                    <a:pt x="3578758" y="23037"/>
                  </a:lnTo>
                  <a:lnTo>
                    <a:pt x="3582720" y="30238"/>
                  </a:lnTo>
                  <a:lnTo>
                    <a:pt x="3584879" y="38163"/>
                  </a:lnTo>
                  <a:lnTo>
                    <a:pt x="3584879" y="46075"/>
                  </a:lnTo>
                  <a:lnTo>
                    <a:pt x="3584879" y="503275"/>
                  </a:lnTo>
                  <a:lnTo>
                    <a:pt x="3584879" y="511200"/>
                  </a:lnTo>
                  <a:lnTo>
                    <a:pt x="3582720" y="519125"/>
                  </a:lnTo>
                  <a:lnTo>
                    <a:pt x="3578758" y="525957"/>
                  </a:lnTo>
                  <a:lnTo>
                    <a:pt x="3574808" y="533158"/>
                  </a:lnTo>
                  <a:lnTo>
                    <a:pt x="3569042" y="538924"/>
                  </a:lnTo>
                  <a:lnTo>
                    <a:pt x="3562210" y="542874"/>
                  </a:lnTo>
                  <a:lnTo>
                    <a:pt x="3555009" y="546836"/>
                  </a:lnTo>
                  <a:lnTo>
                    <a:pt x="3547084" y="548995"/>
                  </a:lnTo>
                  <a:lnTo>
                    <a:pt x="3539159" y="548995"/>
                  </a:lnTo>
                  <a:lnTo>
                    <a:pt x="45720" y="548995"/>
                  </a:lnTo>
                  <a:lnTo>
                    <a:pt x="37807" y="548995"/>
                  </a:lnTo>
                  <a:lnTo>
                    <a:pt x="29883" y="546836"/>
                  </a:lnTo>
                  <a:lnTo>
                    <a:pt x="23037" y="542874"/>
                  </a:lnTo>
                  <a:lnTo>
                    <a:pt x="15849" y="538924"/>
                  </a:lnTo>
                  <a:lnTo>
                    <a:pt x="10083" y="533158"/>
                  </a:lnTo>
                  <a:lnTo>
                    <a:pt x="6121" y="526313"/>
                  </a:lnTo>
                  <a:lnTo>
                    <a:pt x="2158" y="519125"/>
                  </a:lnTo>
                  <a:lnTo>
                    <a:pt x="0" y="511200"/>
                  </a:lnTo>
                  <a:lnTo>
                    <a:pt x="0" y="503275"/>
                  </a:lnTo>
                  <a:lnTo>
                    <a:pt x="368" y="45719"/>
                  </a:lnTo>
                  <a:close/>
                </a:path>
              </a:pathLst>
            </a:custGeom>
            <a:ln w="89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597699" y="2395219"/>
            <a:ext cx="724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16.196</a:t>
            </a:r>
            <a:endParaRPr lang="es-E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167659" y="2431579"/>
            <a:ext cx="1031875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3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Altura</a:t>
            </a:r>
            <a:r>
              <a:rPr lang="es-ES" sz="1300" b="1" spc="1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ES" sz="130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válida</a:t>
            </a:r>
            <a:endParaRPr lang="es-ES" sz="1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401153" y="2839135"/>
            <a:ext cx="3247390" cy="753110"/>
            <a:chOff x="7401153" y="3128695"/>
            <a:chExt cx="3247390" cy="753110"/>
          </a:xfrm>
        </p:grpSpPr>
        <p:sp>
          <p:nvSpPr>
            <p:cNvPr id="46" name="object 46"/>
            <p:cNvSpPr/>
            <p:nvPr/>
          </p:nvSpPr>
          <p:spPr>
            <a:xfrm>
              <a:off x="9024835" y="3136315"/>
              <a:ext cx="635" cy="112395"/>
            </a:xfrm>
            <a:custGeom>
              <a:avLst/>
              <a:gdLst/>
              <a:ahLst/>
              <a:cxnLst/>
              <a:rect l="l" t="t" r="r" b="b"/>
              <a:pathLst>
                <a:path w="634" h="112394">
                  <a:moveTo>
                    <a:pt x="0" y="0"/>
                  </a:moveTo>
                  <a:lnTo>
                    <a:pt x="368" y="112318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8987396" y="32436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590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7405916" y="3327844"/>
              <a:ext cx="3237865" cy="549275"/>
            </a:xfrm>
            <a:custGeom>
              <a:avLst/>
              <a:gdLst/>
              <a:ahLst/>
              <a:cxnLst/>
              <a:rect l="l" t="t" r="r" b="b"/>
              <a:pathLst>
                <a:path w="3237865" h="549275">
                  <a:moveTo>
                    <a:pt x="38163" y="0"/>
                  </a:moveTo>
                  <a:lnTo>
                    <a:pt x="6489" y="23037"/>
                  </a:lnTo>
                  <a:lnTo>
                    <a:pt x="2527" y="29870"/>
                  </a:lnTo>
                  <a:lnTo>
                    <a:pt x="368" y="37795"/>
                  </a:lnTo>
                  <a:lnTo>
                    <a:pt x="0" y="511200"/>
                  </a:lnTo>
                  <a:lnTo>
                    <a:pt x="2158" y="519112"/>
                  </a:lnTo>
                  <a:lnTo>
                    <a:pt x="6121" y="526313"/>
                  </a:lnTo>
                  <a:lnTo>
                    <a:pt x="10083" y="533158"/>
                  </a:lnTo>
                  <a:lnTo>
                    <a:pt x="15849" y="538911"/>
                  </a:lnTo>
                  <a:lnTo>
                    <a:pt x="23037" y="542874"/>
                  </a:lnTo>
                  <a:lnTo>
                    <a:pt x="29883" y="546836"/>
                  </a:lnTo>
                  <a:lnTo>
                    <a:pt x="37807" y="548995"/>
                  </a:lnTo>
                  <a:lnTo>
                    <a:pt x="3199688" y="548995"/>
                  </a:lnTo>
                  <a:lnTo>
                    <a:pt x="3231362" y="525957"/>
                  </a:lnTo>
                  <a:lnTo>
                    <a:pt x="3235325" y="519112"/>
                  </a:lnTo>
                  <a:lnTo>
                    <a:pt x="3237483" y="511200"/>
                  </a:lnTo>
                  <a:lnTo>
                    <a:pt x="3237386" y="37795"/>
                  </a:lnTo>
                  <a:lnTo>
                    <a:pt x="3235325" y="30238"/>
                  </a:lnTo>
                  <a:lnTo>
                    <a:pt x="3231362" y="23037"/>
                  </a:lnTo>
                  <a:lnTo>
                    <a:pt x="3227400" y="16192"/>
                  </a:lnTo>
                  <a:lnTo>
                    <a:pt x="3221647" y="10439"/>
                  </a:lnTo>
                  <a:lnTo>
                    <a:pt x="3214446" y="6476"/>
                  </a:lnTo>
                  <a:lnTo>
                    <a:pt x="3207600" y="2514"/>
                  </a:lnTo>
                  <a:lnTo>
                    <a:pt x="3199688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C3862D">
                <a:alpha val="73999"/>
              </a:srgb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405916" y="3327844"/>
              <a:ext cx="3237865" cy="549275"/>
            </a:xfrm>
            <a:custGeom>
              <a:avLst/>
              <a:gdLst/>
              <a:ahLst/>
              <a:cxnLst/>
              <a:rect l="l" t="t" r="r" b="b"/>
              <a:pathLst>
                <a:path w="3237865" h="549275">
                  <a:moveTo>
                    <a:pt x="368" y="45719"/>
                  </a:moveTo>
                  <a:lnTo>
                    <a:pt x="368" y="37795"/>
                  </a:lnTo>
                  <a:lnTo>
                    <a:pt x="2527" y="29870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3191763" y="355"/>
                  </a:lnTo>
                  <a:lnTo>
                    <a:pt x="3199688" y="355"/>
                  </a:lnTo>
                  <a:lnTo>
                    <a:pt x="3207600" y="2514"/>
                  </a:lnTo>
                  <a:lnTo>
                    <a:pt x="3214446" y="6476"/>
                  </a:lnTo>
                  <a:lnTo>
                    <a:pt x="3221647" y="10439"/>
                  </a:lnTo>
                  <a:lnTo>
                    <a:pt x="3227400" y="16192"/>
                  </a:lnTo>
                  <a:lnTo>
                    <a:pt x="3231362" y="23037"/>
                  </a:lnTo>
                  <a:lnTo>
                    <a:pt x="3235325" y="30238"/>
                  </a:lnTo>
                  <a:lnTo>
                    <a:pt x="3237483" y="38150"/>
                  </a:lnTo>
                  <a:lnTo>
                    <a:pt x="3237483" y="46075"/>
                  </a:lnTo>
                  <a:lnTo>
                    <a:pt x="3237483" y="503275"/>
                  </a:lnTo>
                  <a:lnTo>
                    <a:pt x="3237483" y="511200"/>
                  </a:lnTo>
                  <a:lnTo>
                    <a:pt x="3235325" y="519112"/>
                  </a:lnTo>
                  <a:lnTo>
                    <a:pt x="3231362" y="525957"/>
                  </a:lnTo>
                  <a:lnTo>
                    <a:pt x="3227400" y="533158"/>
                  </a:lnTo>
                  <a:lnTo>
                    <a:pt x="3221647" y="538911"/>
                  </a:lnTo>
                  <a:lnTo>
                    <a:pt x="3214801" y="542874"/>
                  </a:lnTo>
                  <a:lnTo>
                    <a:pt x="3207600" y="546836"/>
                  </a:lnTo>
                  <a:lnTo>
                    <a:pt x="3199688" y="548995"/>
                  </a:lnTo>
                  <a:lnTo>
                    <a:pt x="3191763" y="548995"/>
                  </a:lnTo>
                  <a:lnTo>
                    <a:pt x="45720" y="548995"/>
                  </a:lnTo>
                  <a:lnTo>
                    <a:pt x="37807" y="548995"/>
                  </a:lnTo>
                  <a:lnTo>
                    <a:pt x="29883" y="546836"/>
                  </a:lnTo>
                  <a:lnTo>
                    <a:pt x="23037" y="542874"/>
                  </a:lnTo>
                  <a:lnTo>
                    <a:pt x="15849" y="538911"/>
                  </a:lnTo>
                  <a:lnTo>
                    <a:pt x="10083" y="533158"/>
                  </a:lnTo>
                  <a:lnTo>
                    <a:pt x="6121" y="526313"/>
                  </a:lnTo>
                  <a:lnTo>
                    <a:pt x="2158" y="519112"/>
                  </a:lnTo>
                  <a:lnTo>
                    <a:pt x="0" y="511200"/>
                  </a:lnTo>
                  <a:lnTo>
                    <a:pt x="0" y="503275"/>
                  </a:lnTo>
                  <a:lnTo>
                    <a:pt x="368" y="45719"/>
                  </a:lnTo>
                  <a:close/>
                </a:path>
              </a:pathLst>
            </a:custGeom>
            <a:ln w="89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847634" y="3154463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s-ES" sz="1800" b="1" spc="-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1.923</a:t>
            </a:r>
            <a:endParaRPr lang="es-ES" sz="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199079" y="3190824"/>
            <a:ext cx="981710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lang="es-ES" sz="1300" b="1" spc="-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Operacional</a:t>
            </a:r>
            <a:endParaRPr lang="es-ES" sz="1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575304" y="3598084"/>
            <a:ext cx="2898775" cy="753110"/>
            <a:chOff x="7575304" y="3887644"/>
            <a:chExt cx="2898775" cy="753110"/>
          </a:xfrm>
        </p:grpSpPr>
        <p:sp>
          <p:nvSpPr>
            <p:cNvPr id="53" name="object 53"/>
            <p:cNvSpPr/>
            <p:nvPr/>
          </p:nvSpPr>
          <p:spPr>
            <a:xfrm>
              <a:off x="9024835" y="3895204"/>
              <a:ext cx="635" cy="112395"/>
            </a:xfrm>
            <a:custGeom>
              <a:avLst/>
              <a:gdLst/>
              <a:ahLst/>
              <a:cxnLst/>
              <a:rect l="l" t="t" r="r" b="b"/>
              <a:pathLst>
                <a:path w="634" h="112395">
                  <a:moveTo>
                    <a:pt x="0" y="0"/>
                  </a:moveTo>
                  <a:lnTo>
                    <a:pt x="368" y="112318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8987395" y="40024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7579804" y="4086720"/>
              <a:ext cx="2889885" cy="549275"/>
            </a:xfrm>
            <a:custGeom>
              <a:avLst/>
              <a:gdLst/>
              <a:ahLst/>
              <a:cxnLst/>
              <a:rect l="l" t="t" r="r" b="b"/>
              <a:pathLst>
                <a:path w="2889884" h="549275">
                  <a:moveTo>
                    <a:pt x="38150" y="0"/>
                  </a:moveTo>
                  <a:lnTo>
                    <a:pt x="6476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511200"/>
                  </a:lnTo>
                  <a:lnTo>
                    <a:pt x="2158" y="519125"/>
                  </a:lnTo>
                  <a:lnTo>
                    <a:pt x="6121" y="526313"/>
                  </a:lnTo>
                  <a:lnTo>
                    <a:pt x="10071" y="533158"/>
                  </a:lnTo>
                  <a:lnTo>
                    <a:pt x="15836" y="538924"/>
                  </a:lnTo>
                  <a:lnTo>
                    <a:pt x="23037" y="542874"/>
                  </a:lnTo>
                  <a:lnTo>
                    <a:pt x="29870" y="546836"/>
                  </a:lnTo>
                  <a:lnTo>
                    <a:pt x="37795" y="548995"/>
                  </a:lnTo>
                  <a:lnTo>
                    <a:pt x="2851911" y="548995"/>
                  </a:lnTo>
                  <a:lnTo>
                    <a:pt x="2883598" y="525957"/>
                  </a:lnTo>
                  <a:lnTo>
                    <a:pt x="2887560" y="519125"/>
                  </a:lnTo>
                  <a:lnTo>
                    <a:pt x="2889719" y="511200"/>
                  </a:lnTo>
                  <a:lnTo>
                    <a:pt x="2889619" y="37795"/>
                  </a:lnTo>
                  <a:lnTo>
                    <a:pt x="2887560" y="30238"/>
                  </a:lnTo>
                  <a:lnTo>
                    <a:pt x="2883598" y="23037"/>
                  </a:lnTo>
                  <a:lnTo>
                    <a:pt x="2879636" y="16205"/>
                  </a:lnTo>
                  <a:lnTo>
                    <a:pt x="2873870" y="10439"/>
                  </a:lnTo>
                  <a:lnTo>
                    <a:pt x="2866669" y="6477"/>
                  </a:lnTo>
                  <a:lnTo>
                    <a:pt x="2859836" y="2514"/>
                  </a:lnTo>
                  <a:lnTo>
                    <a:pt x="2851911" y="355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C3862D">
                <a:alpha val="60998"/>
              </a:srgb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7579804" y="4086720"/>
              <a:ext cx="2889885" cy="549275"/>
            </a:xfrm>
            <a:custGeom>
              <a:avLst/>
              <a:gdLst/>
              <a:ahLst/>
              <a:cxnLst/>
              <a:rect l="l" t="t" r="r" b="b"/>
              <a:pathLst>
                <a:path w="2889884" h="549275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2843999" y="355"/>
                  </a:lnTo>
                  <a:lnTo>
                    <a:pt x="2851911" y="355"/>
                  </a:lnTo>
                  <a:lnTo>
                    <a:pt x="2859836" y="2514"/>
                  </a:lnTo>
                  <a:lnTo>
                    <a:pt x="2866669" y="6477"/>
                  </a:lnTo>
                  <a:lnTo>
                    <a:pt x="2873870" y="10439"/>
                  </a:lnTo>
                  <a:lnTo>
                    <a:pt x="2879636" y="16205"/>
                  </a:lnTo>
                  <a:lnTo>
                    <a:pt x="2883598" y="23037"/>
                  </a:lnTo>
                  <a:lnTo>
                    <a:pt x="2887560" y="30238"/>
                  </a:lnTo>
                  <a:lnTo>
                    <a:pt x="2889719" y="38163"/>
                  </a:lnTo>
                  <a:lnTo>
                    <a:pt x="2889719" y="46075"/>
                  </a:lnTo>
                  <a:lnTo>
                    <a:pt x="2889719" y="503275"/>
                  </a:lnTo>
                  <a:lnTo>
                    <a:pt x="2889719" y="511200"/>
                  </a:lnTo>
                  <a:lnTo>
                    <a:pt x="2887560" y="519125"/>
                  </a:lnTo>
                  <a:lnTo>
                    <a:pt x="2883598" y="525957"/>
                  </a:lnTo>
                  <a:lnTo>
                    <a:pt x="2879636" y="533158"/>
                  </a:lnTo>
                  <a:lnTo>
                    <a:pt x="2873870" y="538924"/>
                  </a:lnTo>
                  <a:lnTo>
                    <a:pt x="2867037" y="542874"/>
                  </a:lnTo>
                  <a:lnTo>
                    <a:pt x="2859836" y="546836"/>
                  </a:lnTo>
                  <a:lnTo>
                    <a:pt x="2851911" y="548995"/>
                  </a:lnTo>
                  <a:lnTo>
                    <a:pt x="2843999" y="548995"/>
                  </a:lnTo>
                  <a:lnTo>
                    <a:pt x="45719" y="548995"/>
                  </a:lnTo>
                  <a:lnTo>
                    <a:pt x="37795" y="548995"/>
                  </a:lnTo>
                  <a:lnTo>
                    <a:pt x="29870" y="546836"/>
                  </a:lnTo>
                  <a:lnTo>
                    <a:pt x="23037" y="542874"/>
                  </a:lnTo>
                  <a:lnTo>
                    <a:pt x="15836" y="538924"/>
                  </a:lnTo>
                  <a:lnTo>
                    <a:pt x="10071" y="533158"/>
                  </a:lnTo>
                  <a:lnTo>
                    <a:pt x="6121" y="526313"/>
                  </a:lnTo>
                  <a:lnTo>
                    <a:pt x="2158" y="519125"/>
                  </a:lnTo>
                  <a:lnTo>
                    <a:pt x="0" y="511200"/>
                  </a:lnTo>
                  <a:lnTo>
                    <a:pt x="0" y="503275"/>
                  </a:lnTo>
                  <a:lnTo>
                    <a:pt x="355" y="45720"/>
                  </a:lnTo>
                  <a:close/>
                </a:path>
              </a:pathLst>
            </a:custGeom>
            <a:ln w="89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008454" y="3913340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1.482</a:t>
            </a:r>
            <a:endParaRPr lang="es-ES" sz="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153258" y="3949699"/>
            <a:ext cx="1059180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300" b="1" spc="-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Conservador</a:t>
            </a:r>
            <a:endParaRPr lang="es-ES" sz="1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098756" y="990600"/>
            <a:ext cx="635" cy="4846320"/>
          </a:xfrm>
          <a:custGeom>
            <a:avLst/>
            <a:gdLst/>
            <a:ahLst/>
            <a:cxnLst/>
            <a:rect l="l" t="t" r="r" b="b"/>
            <a:pathLst>
              <a:path w="635" h="4846320">
                <a:moveTo>
                  <a:pt x="0" y="0"/>
                </a:moveTo>
                <a:lnTo>
                  <a:pt x="368" y="4846320"/>
                </a:lnTo>
              </a:path>
            </a:pathLst>
          </a:custGeom>
          <a:ln w="10079">
            <a:solidFill>
              <a:schemeClr val="tx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836824" y="4807859"/>
            <a:ext cx="1884045" cy="1260000"/>
            <a:chOff x="836824" y="5097420"/>
            <a:chExt cx="1884045" cy="97853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1" name="object 61"/>
            <p:cNvSpPr/>
            <p:nvPr/>
          </p:nvSpPr>
          <p:spPr>
            <a:xfrm>
              <a:off x="841324" y="5101920"/>
              <a:ext cx="1874520" cy="969644"/>
            </a:xfrm>
            <a:custGeom>
              <a:avLst/>
              <a:gdLst/>
              <a:ahLst/>
              <a:cxnLst/>
              <a:rect l="l" t="t" r="r" b="b"/>
              <a:pathLst>
                <a:path w="1874520" h="969645">
                  <a:moveTo>
                    <a:pt x="18010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96035"/>
                  </a:lnTo>
                  <a:lnTo>
                    <a:pt x="594" y="905313"/>
                  </a:lnTo>
                  <a:lnTo>
                    <a:pt x="607" y="905513"/>
                  </a:lnTo>
                  <a:lnTo>
                    <a:pt x="21413" y="947653"/>
                  </a:lnTo>
                  <a:lnTo>
                    <a:pt x="63442" y="968516"/>
                  </a:lnTo>
                  <a:lnTo>
                    <a:pt x="73075" y="969124"/>
                  </a:lnTo>
                  <a:lnTo>
                    <a:pt x="1801431" y="968756"/>
                  </a:lnTo>
                  <a:lnTo>
                    <a:pt x="1845809" y="953664"/>
                  </a:lnTo>
                  <a:lnTo>
                    <a:pt x="1872029" y="914892"/>
                  </a:lnTo>
                  <a:lnTo>
                    <a:pt x="1872089" y="914714"/>
                  </a:lnTo>
                  <a:lnTo>
                    <a:pt x="1873873" y="905513"/>
                  </a:lnTo>
                  <a:lnTo>
                    <a:pt x="1873912" y="905313"/>
                  </a:lnTo>
                  <a:lnTo>
                    <a:pt x="1874497" y="896035"/>
                  </a:lnTo>
                  <a:lnTo>
                    <a:pt x="1874520" y="895680"/>
                  </a:lnTo>
                  <a:lnTo>
                    <a:pt x="1874151" y="73075"/>
                  </a:lnTo>
                  <a:lnTo>
                    <a:pt x="1859060" y="28705"/>
                  </a:lnTo>
                  <a:lnTo>
                    <a:pt x="1820110" y="2428"/>
                  </a:lnTo>
                  <a:lnTo>
                    <a:pt x="1810709" y="607"/>
                  </a:lnTo>
                  <a:lnTo>
                    <a:pt x="180107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41324" y="5101920"/>
              <a:ext cx="1874520" cy="969644"/>
            </a:xfrm>
            <a:custGeom>
              <a:avLst/>
              <a:gdLst/>
              <a:ahLst/>
              <a:cxnLst/>
              <a:rect l="l" t="t" r="r" b="b"/>
              <a:pathLst>
                <a:path w="1874520" h="96964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801075" y="0"/>
                  </a:lnTo>
                  <a:lnTo>
                    <a:pt x="1845603" y="15104"/>
                  </a:lnTo>
                  <a:lnTo>
                    <a:pt x="1871722" y="54224"/>
                  </a:lnTo>
                  <a:lnTo>
                    <a:pt x="1874151" y="73075"/>
                  </a:lnTo>
                  <a:lnTo>
                    <a:pt x="1874520" y="895680"/>
                  </a:lnTo>
                  <a:lnTo>
                    <a:pt x="1873912" y="905313"/>
                  </a:lnTo>
                  <a:lnTo>
                    <a:pt x="1872089" y="914714"/>
                  </a:lnTo>
                  <a:lnTo>
                    <a:pt x="1845809" y="953664"/>
                  </a:lnTo>
                  <a:lnTo>
                    <a:pt x="1801431" y="968756"/>
                  </a:lnTo>
                  <a:lnTo>
                    <a:pt x="73075" y="969124"/>
                  </a:lnTo>
                  <a:lnTo>
                    <a:pt x="28548" y="954014"/>
                  </a:lnTo>
                  <a:lnTo>
                    <a:pt x="2428" y="914892"/>
                  </a:lnTo>
                  <a:lnTo>
                    <a:pt x="0" y="896035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41324" y="5101920"/>
              <a:ext cx="73025" cy="969010"/>
            </a:xfrm>
            <a:custGeom>
              <a:avLst/>
              <a:gdLst/>
              <a:ahLst/>
              <a:cxnLst/>
              <a:rect l="l" t="t" r="r" b="b"/>
              <a:pathLst>
                <a:path w="73025" h="969010">
                  <a:moveTo>
                    <a:pt x="72720" y="0"/>
                  </a:moveTo>
                  <a:lnTo>
                    <a:pt x="0" y="0"/>
                  </a:lnTo>
                  <a:lnTo>
                    <a:pt x="0" y="968756"/>
                  </a:lnTo>
                  <a:lnTo>
                    <a:pt x="36360" y="968756"/>
                  </a:lnTo>
                  <a:lnTo>
                    <a:pt x="72720" y="968756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075575" y="4927460"/>
            <a:ext cx="1077595" cy="139510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10">
                <a:solidFill>
                  <a:srgbClr val="2E6A46"/>
                </a:solidFill>
                <a:latin typeface="Arial"/>
                <a:cs typeface="Arial"/>
              </a:rPr>
              <a:t>11,0%</a:t>
            </a:r>
            <a:endParaRPr lang="es-ES" sz="2500">
              <a:latin typeface="Arial"/>
              <a:cs typeface="Arial"/>
            </a:endParaRPr>
          </a:p>
          <a:p>
            <a:pPr marL="12700" marR="5080">
              <a:lnSpc>
                <a:spcPts val="1600"/>
              </a:lnSpc>
              <a:spcBef>
                <a:spcPts val="188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brutos</a:t>
            </a:r>
            <a:r>
              <a:rPr lang="es-ES" sz="145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50">
                <a:solidFill>
                  <a:srgbClr val="1F2F28"/>
                </a:solidFill>
                <a:latin typeface="Arial"/>
                <a:cs typeface="Arial"/>
              </a:rPr>
              <a:t>→ </a:t>
            </a: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operacional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967300" y="4807859"/>
            <a:ext cx="1884045" cy="1260000"/>
            <a:chOff x="2967300" y="5097420"/>
            <a:chExt cx="1884045" cy="97853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6" name="object 66"/>
            <p:cNvSpPr/>
            <p:nvPr/>
          </p:nvSpPr>
          <p:spPr>
            <a:xfrm>
              <a:off x="2971800" y="5101920"/>
              <a:ext cx="1874520" cy="969644"/>
            </a:xfrm>
            <a:custGeom>
              <a:avLst/>
              <a:gdLst/>
              <a:ahLst/>
              <a:cxnLst/>
              <a:rect l="l" t="t" r="r" b="b"/>
              <a:pathLst>
                <a:path w="1874520" h="969645">
                  <a:moveTo>
                    <a:pt x="18010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96035"/>
                  </a:lnTo>
                  <a:lnTo>
                    <a:pt x="594" y="905313"/>
                  </a:lnTo>
                  <a:lnTo>
                    <a:pt x="607" y="905513"/>
                  </a:lnTo>
                  <a:lnTo>
                    <a:pt x="2394" y="914714"/>
                  </a:lnTo>
                  <a:lnTo>
                    <a:pt x="2428" y="914892"/>
                  </a:lnTo>
                  <a:lnTo>
                    <a:pt x="5412" y="923776"/>
                  </a:lnTo>
                  <a:lnTo>
                    <a:pt x="36360" y="959396"/>
                  </a:lnTo>
                  <a:lnTo>
                    <a:pt x="73075" y="969124"/>
                  </a:lnTo>
                  <a:lnTo>
                    <a:pt x="1801444" y="968756"/>
                  </a:lnTo>
                  <a:lnTo>
                    <a:pt x="1845814" y="953664"/>
                  </a:lnTo>
                  <a:lnTo>
                    <a:pt x="1872031" y="914892"/>
                  </a:lnTo>
                  <a:lnTo>
                    <a:pt x="1872091" y="914714"/>
                  </a:lnTo>
                  <a:lnTo>
                    <a:pt x="1873874" y="905513"/>
                  </a:lnTo>
                  <a:lnTo>
                    <a:pt x="1873912" y="905313"/>
                  </a:lnTo>
                  <a:lnTo>
                    <a:pt x="1874497" y="896035"/>
                  </a:lnTo>
                  <a:lnTo>
                    <a:pt x="1874520" y="895680"/>
                  </a:lnTo>
                  <a:lnTo>
                    <a:pt x="1874164" y="73075"/>
                  </a:lnTo>
                  <a:lnTo>
                    <a:pt x="1859060" y="28705"/>
                  </a:lnTo>
                  <a:lnTo>
                    <a:pt x="1820116" y="2428"/>
                  </a:lnTo>
                  <a:lnTo>
                    <a:pt x="1810715" y="607"/>
                  </a:lnTo>
                  <a:lnTo>
                    <a:pt x="180107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971800" y="5101920"/>
              <a:ext cx="1874520" cy="969644"/>
            </a:xfrm>
            <a:custGeom>
              <a:avLst/>
              <a:gdLst/>
              <a:ahLst/>
              <a:cxnLst/>
              <a:rect l="l" t="t" r="r" b="b"/>
              <a:pathLst>
                <a:path w="1874520" h="96964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1801075" y="0"/>
                  </a:lnTo>
                  <a:lnTo>
                    <a:pt x="1845608" y="15104"/>
                  </a:lnTo>
                  <a:lnTo>
                    <a:pt x="1871733" y="54224"/>
                  </a:lnTo>
                  <a:lnTo>
                    <a:pt x="1874164" y="73075"/>
                  </a:lnTo>
                  <a:lnTo>
                    <a:pt x="1874520" y="895680"/>
                  </a:lnTo>
                  <a:lnTo>
                    <a:pt x="1873912" y="905313"/>
                  </a:lnTo>
                  <a:lnTo>
                    <a:pt x="1872091" y="914714"/>
                  </a:lnTo>
                  <a:lnTo>
                    <a:pt x="1845814" y="953664"/>
                  </a:lnTo>
                  <a:lnTo>
                    <a:pt x="1801444" y="968756"/>
                  </a:lnTo>
                  <a:lnTo>
                    <a:pt x="73075" y="969124"/>
                  </a:lnTo>
                  <a:lnTo>
                    <a:pt x="28555" y="954014"/>
                  </a:lnTo>
                  <a:lnTo>
                    <a:pt x="2428" y="914892"/>
                  </a:lnTo>
                  <a:lnTo>
                    <a:pt x="0" y="896035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971800" y="5101920"/>
              <a:ext cx="73025" cy="969010"/>
            </a:xfrm>
            <a:custGeom>
              <a:avLst/>
              <a:gdLst/>
              <a:ahLst/>
              <a:cxnLst/>
              <a:rect l="l" t="t" r="r" b="b"/>
              <a:pathLst>
                <a:path w="73025" h="969010">
                  <a:moveTo>
                    <a:pt x="72720" y="0"/>
                  </a:moveTo>
                  <a:lnTo>
                    <a:pt x="0" y="0"/>
                  </a:lnTo>
                  <a:lnTo>
                    <a:pt x="0" y="968756"/>
                  </a:lnTo>
                  <a:lnTo>
                    <a:pt x="36360" y="968756"/>
                  </a:lnTo>
                  <a:lnTo>
                    <a:pt x="72720" y="968756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206064" y="4927460"/>
            <a:ext cx="1316990" cy="139510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10">
                <a:solidFill>
                  <a:srgbClr val="A8503B"/>
                </a:solidFill>
                <a:latin typeface="Arial"/>
                <a:cs typeface="Arial"/>
              </a:rPr>
              <a:t>46,4%</a:t>
            </a:r>
            <a:endParaRPr lang="es-ES" sz="2500">
              <a:latin typeface="Arial"/>
              <a:cs typeface="Arial"/>
            </a:endParaRPr>
          </a:p>
          <a:p>
            <a:pPr marL="12700" marR="5080">
              <a:lnSpc>
                <a:spcPts val="1600"/>
              </a:lnSpc>
              <a:spcBef>
                <a:spcPts val="188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operacional</a:t>
            </a:r>
            <a:r>
              <a:rPr lang="es-ES" sz="1450" b="1" spc="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50">
                <a:solidFill>
                  <a:srgbClr val="1F2F28"/>
                </a:solidFill>
                <a:latin typeface="Arial"/>
                <a:cs typeface="Arial"/>
              </a:rPr>
              <a:t>→ </a:t>
            </a: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conservador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7182544" y="4807859"/>
            <a:ext cx="1884045" cy="1260000"/>
            <a:chOff x="7182544" y="5097420"/>
            <a:chExt cx="1884045" cy="97853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71" name="object 71"/>
            <p:cNvSpPr/>
            <p:nvPr/>
          </p:nvSpPr>
          <p:spPr>
            <a:xfrm>
              <a:off x="7187044" y="5101920"/>
              <a:ext cx="1874520" cy="969644"/>
            </a:xfrm>
            <a:custGeom>
              <a:avLst/>
              <a:gdLst/>
              <a:ahLst/>
              <a:cxnLst/>
              <a:rect l="l" t="t" r="r" b="b"/>
              <a:pathLst>
                <a:path w="1874520" h="969645">
                  <a:moveTo>
                    <a:pt x="18010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96035"/>
                  </a:lnTo>
                  <a:lnTo>
                    <a:pt x="594" y="905313"/>
                  </a:lnTo>
                  <a:lnTo>
                    <a:pt x="607" y="905513"/>
                  </a:lnTo>
                  <a:lnTo>
                    <a:pt x="2394" y="914714"/>
                  </a:lnTo>
                  <a:lnTo>
                    <a:pt x="2428" y="914892"/>
                  </a:lnTo>
                  <a:lnTo>
                    <a:pt x="5412" y="923776"/>
                  </a:lnTo>
                  <a:lnTo>
                    <a:pt x="5464" y="923932"/>
                  </a:lnTo>
                  <a:lnTo>
                    <a:pt x="36360" y="959396"/>
                  </a:lnTo>
                  <a:lnTo>
                    <a:pt x="73075" y="969124"/>
                  </a:lnTo>
                  <a:lnTo>
                    <a:pt x="1801431" y="968756"/>
                  </a:lnTo>
                  <a:lnTo>
                    <a:pt x="1845809" y="953664"/>
                  </a:lnTo>
                  <a:lnTo>
                    <a:pt x="1872029" y="914892"/>
                  </a:lnTo>
                  <a:lnTo>
                    <a:pt x="1873873" y="905513"/>
                  </a:lnTo>
                  <a:lnTo>
                    <a:pt x="1873912" y="905313"/>
                  </a:lnTo>
                  <a:lnTo>
                    <a:pt x="1874497" y="896035"/>
                  </a:lnTo>
                  <a:lnTo>
                    <a:pt x="1874520" y="895680"/>
                  </a:lnTo>
                  <a:lnTo>
                    <a:pt x="1874151" y="73075"/>
                  </a:lnTo>
                  <a:lnTo>
                    <a:pt x="1859060" y="28705"/>
                  </a:lnTo>
                  <a:lnTo>
                    <a:pt x="1820110" y="2428"/>
                  </a:lnTo>
                  <a:lnTo>
                    <a:pt x="1810709" y="607"/>
                  </a:lnTo>
                  <a:lnTo>
                    <a:pt x="180107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187044" y="5101920"/>
              <a:ext cx="1874520" cy="969644"/>
            </a:xfrm>
            <a:custGeom>
              <a:avLst/>
              <a:gdLst/>
              <a:ahLst/>
              <a:cxnLst/>
              <a:rect l="l" t="t" r="r" b="b"/>
              <a:pathLst>
                <a:path w="1874520" h="96964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801075" y="0"/>
                  </a:lnTo>
                  <a:lnTo>
                    <a:pt x="1845603" y="15104"/>
                  </a:lnTo>
                  <a:lnTo>
                    <a:pt x="1871722" y="54224"/>
                  </a:lnTo>
                  <a:lnTo>
                    <a:pt x="1874151" y="73075"/>
                  </a:lnTo>
                  <a:lnTo>
                    <a:pt x="1874520" y="895680"/>
                  </a:lnTo>
                  <a:lnTo>
                    <a:pt x="1873912" y="905313"/>
                  </a:lnTo>
                  <a:lnTo>
                    <a:pt x="1872089" y="914714"/>
                  </a:lnTo>
                  <a:lnTo>
                    <a:pt x="1845809" y="953664"/>
                  </a:lnTo>
                  <a:lnTo>
                    <a:pt x="1801431" y="968756"/>
                  </a:lnTo>
                  <a:lnTo>
                    <a:pt x="73075" y="969124"/>
                  </a:lnTo>
                  <a:lnTo>
                    <a:pt x="28548" y="954014"/>
                  </a:lnTo>
                  <a:lnTo>
                    <a:pt x="2428" y="914892"/>
                  </a:lnTo>
                  <a:lnTo>
                    <a:pt x="0" y="896035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187044" y="5101920"/>
              <a:ext cx="73025" cy="969010"/>
            </a:xfrm>
            <a:custGeom>
              <a:avLst/>
              <a:gdLst/>
              <a:ahLst/>
              <a:cxnLst/>
              <a:rect l="l" t="t" r="r" b="b"/>
              <a:pathLst>
                <a:path w="73025" h="969010">
                  <a:moveTo>
                    <a:pt x="72720" y="0"/>
                  </a:moveTo>
                  <a:lnTo>
                    <a:pt x="0" y="0"/>
                  </a:lnTo>
                  <a:lnTo>
                    <a:pt x="0" y="968756"/>
                  </a:lnTo>
                  <a:lnTo>
                    <a:pt x="36360" y="968756"/>
                  </a:lnTo>
                  <a:lnTo>
                    <a:pt x="72720" y="968756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421295" y="4927460"/>
            <a:ext cx="1077595" cy="1328000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20">
                <a:solidFill>
                  <a:srgbClr val="C3862D"/>
                </a:solidFill>
                <a:latin typeface="Arial"/>
                <a:cs typeface="Arial"/>
              </a:rPr>
              <a:t>9,7%</a:t>
            </a:r>
            <a:endParaRPr lang="es-ES" sz="2500">
              <a:latin typeface="Arial"/>
              <a:cs typeface="Arial"/>
            </a:endParaRPr>
          </a:p>
          <a:p>
            <a:pPr marL="12700" marR="5080">
              <a:lnSpc>
                <a:spcPts val="1600"/>
              </a:lnSpc>
              <a:spcBef>
                <a:spcPts val="188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brutos</a:t>
            </a:r>
            <a:r>
              <a:rPr lang="es-ES" sz="145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50">
                <a:solidFill>
                  <a:srgbClr val="1F2F28"/>
                </a:solidFill>
                <a:latin typeface="Arial"/>
                <a:cs typeface="Arial"/>
              </a:rPr>
              <a:t>→ </a:t>
            </a: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operacional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9313375" y="4807859"/>
            <a:ext cx="1884045" cy="1260000"/>
            <a:chOff x="9313375" y="5097420"/>
            <a:chExt cx="1884045" cy="97853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76" name="object 76"/>
            <p:cNvSpPr/>
            <p:nvPr/>
          </p:nvSpPr>
          <p:spPr>
            <a:xfrm>
              <a:off x="9317875" y="5101920"/>
              <a:ext cx="1874520" cy="969644"/>
            </a:xfrm>
            <a:custGeom>
              <a:avLst/>
              <a:gdLst/>
              <a:ahLst/>
              <a:cxnLst/>
              <a:rect l="l" t="t" r="r" b="b"/>
              <a:pathLst>
                <a:path w="1874520" h="969645">
                  <a:moveTo>
                    <a:pt x="180108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96035"/>
                  </a:lnTo>
                  <a:lnTo>
                    <a:pt x="594" y="905313"/>
                  </a:lnTo>
                  <a:lnTo>
                    <a:pt x="607" y="905513"/>
                  </a:lnTo>
                  <a:lnTo>
                    <a:pt x="2395" y="914714"/>
                  </a:lnTo>
                  <a:lnTo>
                    <a:pt x="2430" y="914892"/>
                  </a:lnTo>
                  <a:lnTo>
                    <a:pt x="5418" y="923776"/>
                  </a:lnTo>
                  <a:lnTo>
                    <a:pt x="36360" y="959396"/>
                  </a:lnTo>
                  <a:lnTo>
                    <a:pt x="73088" y="969124"/>
                  </a:lnTo>
                  <a:lnTo>
                    <a:pt x="1801444" y="968756"/>
                  </a:lnTo>
                  <a:lnTo>
                    <a:pt x="1845821" y="953664"/>
                  </a:lnTo>
                  <a:lnTo>
                    <a:pt x="1872031" y="914892"/>
                  </a:lnTo>
                  <a:lnTo>
                    <a:pt x="1874497" y="896035"/>
                  </a:lnTo>
                  <a:lnTo>
                    <a:pt x="1874520" y="895680"/>
                  </a:lnTo>
                  <a:lnTo>
                    <a:pt x="1874164" y="73075"/>
                  </a:lnTo>
                  <a:lnTo>
                    <a:pt x="1859065" y="28705"/>
                  </a:lnTo>
                  <a:lnTo>
                    <a:pt x="1820117" y="2428"/>
                  </a:lnTo>
                  <a:lnTo>
                    <a:pt x="1810720" y="607"/>
                  </a:lnTo>
                  <a:lnTo>
                    <a:pt x="180108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317875" y="5101920"/>
              <a:ext cx="1874520" cy="969644"/>
            </a:xfrm>
            <a:custGeom>
              <a:avLst/>
              <a:gdLst/>
              <a:ahLst/>
              <a:cxnLst/>
              <a:rect l="l" t="t" r="r" b="b"/>
              <a:pathLst>
                <a:path w="1874520" h="969645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1801088" y="0"/>
                  </a:lnTo>
                  <a:lnTo>
                    <a:pt x="1845609" y="15104"/>
                  </a:lnTo>
                  <a:lnTo>
                    <a:pt x="1871735" y="54224"/>
                  </a:lnTo>
                  <a:lnTo>
                    <a:pt x="1874164" y="73075"/>
                  </a:lnTo>
                  <a:lnTo>
                    <a:pt x="1874520" y="895680"/>
                  </a:lnTo>
                  <a:lnTo>
                    <a:pt x="1873912" y="905313"/>
                  </a:lnTo>
                  <a:lnTo>
                    <a:pt x="1872091" y="914714"/>
                  </a:lnTo>
                  <a:lnTo>
                    <a:pt x="1845821" y="953664"/>
                  </a:lnTo>
                  <a:lnTo>
                    <a:pt x="1801444" y="968756"/>
                  </a:lnTo>
                  <a:lnTo>
                    <a:pt x="73088" y="969124"/>
                  </a:lnTo>
                  <a:lnTo>
                    <a:pt x="28555" y="954014"/>
                  </a:lnTo>
                  <a:lnTo>
                    <a:pt x="2430" y="914892"/>
                  </a:lnTo>
                  <a:lnTo>
                    <a:pt x="0" y="896035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317875" y="5101920"/>
              <a:ext cx="73025" cy="969010"/>
            </a:xfrm>
            <a:custGeom>
              <a:avLst/>
              <a:gdLst/>
              <a:ahLst/>
              <a:cxnLst/>
              <a:rect l="l" t="t" r="r" b="b"/>
              <a:pathLst>
                <a:path w="73025" h="969010">
                  <a:moveTo>
                    <a:pt x="72720" y="0"/>
                  </a:moveTo>
                  <a:lnTo>
                    <a:pt x="0" y="0"/>
                  </a:lnTo>
                  <a:lnTo>
                    <a:pt x="0" y="968756"/>
                  </a:lnTo>
                  <a:lnTo>
                    <a:pt x="36360" y="968756"/>
                  </a:lnTo>
                  <a:lnTo>
                    <a:pt x="72720" y="968756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9551784" y="4927460"/>
            <a:ext cx="1316990" cy="139510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10">
                <a:solidFill>
                  <a:srgbClr val="A8503B"/>
                </a:solidFill>
                <a:latin typeface="Arial"/>
                <a:cs typeface="Arial"/>
              </a:rPr>
              <a:t>77,1%</a:t>
            </a:r>
            <a:endParaRPr lang="es-ES" sz="2500">
              <a:latin typeface="Arial"/>
              <a:cs typeface="Arial"/>
            </a:endParaRPr>
          </a:p>
          <a:p>
            <a:pPr marL="12700" marR="5080">
              <a:lnSpc>
                <a:spcPts val="1600"/>
              </a:lnSpc>
              <a:spcBef>
                <a:spcPts val="188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operacional</a:t>
            </a:r>
            <a:r>
              <a:rPr lang="es-ES" sz="1450" b="1" spc="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50">
                <a:solidFill>
                  <a:srgbClr val="1F2F28"/>
                </a:solidFill>
                <a:latin typeface="Arial"/>
                <a:cs typeface="Arial"/>
              </a:rPr>
              <a:t>→ </a:t>
            </a: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conservador</a:t>
            </a:r>
            <a:endParaRPr lang="es-ES" sz="1450">
              <a:latin typeface="Arial"/>
              <a:cs typeface="Arial"/>
            </a:endParaRPr>
          </a:p>
        </p:txBody>
      </p:sp>
      <p:sp>
        <p:nvSpPr>
          <p:cNvPr id="80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81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82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23/43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RH98</a:t>
            </a:r>
            <a:r>
              <a:rPr spc="-80"/>
              <a:t> </a:t>
            </a:r>
            <a:r>
              <a:t>a</a:t>
            </a:r>
            <a:r>
              <a:rPr spc="-75"/>
              <a:t> </a:t>
            </a:r>
            <a:r>
              <a:t>nivel</a:t>
            </a:r>
            <a:r>
              <a:rPr spc="-75"/>
              <a:t> </a:t>
            </a:r>
            <a:r>
              <a:t>de</a:t>
            </a:r>
            <a:r>
              <a:rPr spc="-75"/>
              <a:t> </a:t>
            </a:r>
            <a:r>
              <a:t>segmento:</a:t>
            </a:r>
            <a:r>
              <a:rPr spc="-75"/>
              <a:t> </a:t>
            </a:r>
            <a:r>
              <a:t>diferencia</a:t>
            </a:r>
            <a:r>
              <a:rPr spc="-75"/>
              <a:t> </a:t>
            </a:r>
            <a:r>
              <a:rPr spc="-10"/>
              <a:t>descriptiva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68680" y="1417319"/>
            <a:ext cx="6537959" cy="4206875"/>
            <a:chOff x="868680" y="1417319"/>
            <a:chExt cx="6537959" cy="4206875"/>
          </a:xfrm>
        </p:grpSpPr>
        <p:sp>
          <p:nvSpPr>
            <p:cNvPr id="6" name="object 6"/>
            <p:cNvSpPr/>
            <p:nvPr/>
          </p:nvSpPr>
          <p:spPr>
            <a:xfrm>
              <a:off x="868680" y="1417319"/>
              <a:ext cx="6537959" cy="4206875"/>
            </a:xfrm>
            <a:custGeom>
              <a:avLst/>
              <a:gdLst/>
              <a:ahLst/>
              <a:cxnLst/>
              <a:rect l="l" t="t" r="r" b="b"/>
              <a:pathLst>
                <a:path w="6537959" h="4206875">
                  <a:moveTo>
                    <a:pt x="0" y="4206240"/>
                  </a:moveTo>
                  <a:lnTo>
                    <a:pt x="6537960" y="4206595"/>
                  </a:lnTo>
                </a:path>
                <a:path w="6537959" h="4206875">
                  <a:moveTo>
                    <a:pt x="0" y="0"/>
                  </a:moveTo>
                  <a:lnTo>
                    <a:pt x="355" y="4206240"/>
                  </a:lnTo>
                </a:path>
              </a:pathLst>
            </a:custGeom>
            <a:ln w="1007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68680" y="1417319"/>
              <a:ext cx="6537959" cy="4206875"/>
            </a:xfrm>
            <a:custGeom>
              <a:avLst/>
              <a:gdLst/>
              <a:ahLst/>
              <a:cxnLst/>
              <a:rect l="l" t="t" r="r" b="b"/>
              <a:pathLst>
                <a:path w="6537959" h="4206875">
                  <a:moveTo>
                    <a:pt x="0" y="4206240"/>
                  </a:moveTo>
                  <a:lnTo>
                    <a:pt x="6537960" y="4206595"/>
                  </a:lnTo>
                </a:path>
                <a:path w="6537959" h="4206875">
                  <a:moveTo>
                    <a:pt x="0" y="3364915"/>
                  </a:moveTo>
                  <a:lnTo>
                    <a:pt x="6537960" y="3365284"/>
                  </a:lnTo>
                </a:path>
                <a:path w="6537959" h="4206875">
                  <a:moveTo>
                    <a:pt x="0" y="2523604"/>
                  </a:moveTo>
                  <a:lnTo>
                    <a:pt x="6537960" y="2523959"/>
                  </a:lnTo>
                </a:path>
                <a:path w="6537959" h="4206875">
                  <a:moveTo>
                    <a:pt x="0" y="1682280"/>
                  </a:moveTo>
                  <a:lnTo>
                    <a:pt x="6537960" y="1682635"/>
                  </a:lnTo>
                </a:path>
                <a:path w="6537959" h="4206875">
                  <a:moveTo>
                    <a:pt x="0" y="840955"/>
                  </a:moveTo>
                  <a:lnTo>
                    <a:pt x="6537960" y="841324"/>
                  </a:lnTo>
                </a:path>
                <a:path w="6537959" h="4206875">
                  <a:moveTo>
                    <a:pt x="0" y="0"/>
                  </a:moveTo>
                  <a:lnTo>
                    <a:pt x="6537960" y="355"/>
                  </a:lnTo>
                </a:path>
              </a:pathLst>
            </a:custGeom>
            <a:ln w="575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97124" y="1913039"/>
              <a:ext cx="658495" cy="1988185"/>
            </a:xfrm>
            <a:custGeom>
              <a:avLst/>
              <a:gdLst/>
              <a:ahLst/>
              <a:cxnLst/>
              <a:rect l="l" t="t" r="r" b="b"/>
              <a:pathLst>
                <a:path w="658495" h="1988185">
                  <a:moveTo>
                    <a:pt x="658075" y="0"/>
                  </a:moveTo>
                  <a:lnTo>
                    <a:pt x="0" y="0"/>
                  </a:lnTo>
                  <a:lnTo>
                    <a:pt x="0" y="1987562"/>
                  </a:lnTo>
                  <a:lnTo>
                    <a:pt x="329031" y="1987562"/>
                  </a:lnTo>
                  <a:lnTo>
                    <a:pt x="658075" y="1987562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2E6A46">
                <a:alpha val="25999"/>
              </a:srgb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97124" y="1913039"/>
              <a:ext cx="658495" cy="1988185"/>
            </a:xfrm>
            <a:custGeom>
              <a:avLst/>
              <a:gdLst/>
              <a:ahLst/>
              <a:cxnLst/>
              <a:rect l="l" t="t" r="r" b="b"/>
              <a:pathLst>
                <a:path w="658495" h="1988185">
                  <a:moveTo>
                    <a:pt x="329031" y="1987562"/>
                  </a:moveTo>
                  <a:lnTo>
                    <a:pt x="0" y="1987562"/>
                  </a:lnTo>
                  <a:lnTo>
                    <a:pt x="0" y="0"/>
                  </a:lnTo>
                  <a:lnTo>
                    <a:pt x="658075" y="0"/>
                  </a:lnTo>
                  <a:lnTo>
                    <a:pt x="658075" y="1987562"/>
                  </a:lnTo>
                  <a:lnTo>
                    <a:pt x="329031" y="1987562"/>
                  </a:lnTo>
                  <a:close/>
                </a:path>
              </a:pathLst>
            </a:custGeom>
            <a:ln w="12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568955" y="2885046"/>
              <a:ext cx="914400" cy="635"/>
            </a:xfrm>
            <a:custGeom>
              <a:avLst/>
              <a:gdLst/>
              <a:ahLst/>
              <a:cxnLst/>
              <a:rect l="l" t="t" r="r" b="b"/>
              <a:pathLst>
                <a:path w="914400" h="635">
                  <a:moveTo>
                    <a:pt x="0" y="0"/>
                  </a:moveTo>
                  <a:lnTo>
                    <a:pt x="914399" y="355"/>
                  </a:lnTo>
                </a:path>
              </a:pathLst>
            </a:custGeom>
            <a:ln w="3815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0295" y="2801136"/>
              <a:ext cx="172088" cy="1674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2" name="object 12"/>
          <p:cNvSpPr txBox="1"/>
          <p:nvPr/>
        </p:nvSpPr>
        <p:spPr>
          <a:xfrm>
            <a:off x="706577" y="5538139"/>
            <a:ext cx="92710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6577" y="4696815"/>
            <a:ext cx="92710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chemeClr val="tx1"/>
                </a:solidFill>
                <a:latin typeface="Arial"/>
                <a:cs typeface="Arial"/>
              </a:rPr>
              <a:t>5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622" y="3855504"/>
            <a:ext cx="159385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25">
                <a:solidFill>
                  <a:schemeClr val="tx1"/>
                </a:solidFill>
                <a:latin typeface="Arial"/>
                <a:cs typeface="Arial"/>
              </a:rPr>
              <a:t>10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9622" y="3014535"/>
            <a:ext cx="159385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25">
                <a:solidFill>
                  <a:schemeClr val="tx1"/>
                </a:solidFill>
                <a:latin typeface="Arial"/>
                <a:cs typeface="Arial"/>
              </a:rPr>
              <a:t>15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9622" y="2173223"/>
            <a:ext cx="159385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25">
                <a:solidFill>
                  <a:schemeClr val="tx1"/>
                </a:solidFill>
                <a:latin typeface="Arial"/>
                <a:cs typeface="Arial"/>
              </a:rPr>
              <a:t>20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9622" y="1331899"/>
            <a:ext cx="159385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25">
                <a:solidFill>
                  <a:schemeClr val="tx1"/>
                </a:solidFill>
                <a:latin typeface="Arial"/>
                <a:cs typeface="Arial"/>
              </a:rPr>
              <a:t>25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2067" y="3233228"/>
            <a:ext cx="153888" cy="574040"/>
          </a:xfrm>
          <a:prstGeom prst="rect">
            <a:avLst/>
          </a:prstGeom>
          <a:ln>
            <a:noFill/>
          </a:ln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s-ES" sz="1000">
                <a:solidFill>
                  <a:schemeClr val="tx1"/>
                </a:solidFill>
                <a:latin typeface="Arial"/>
                <a:cs typeface="Arial"/>
              </a:rPr>
              <a:t>RH98</a:t>
            </a:r>
            <a:r>
              <a:rPr lang="es-ES" sz="10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000" spc="-25">
                <a:solidFill>
                  <a:schemeClr val="tx1"/>
                </a:solidFill>
                <a:latin typeface="Arial"/>
                <a:cs typeface="Arial"/>
              </a:rPr>
              <a:t>(m)</a:t>
            </a:r>
            <a:endParaRPr lang="es-E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03424" y="2507297"/>
            <a:ext cx="64579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lang="es-ES" sz="1250" b="1">
                <a:solidFill>
                  <a:srgbClr val="2E6A46"/>
                </a:solidFill>
                <a:latin typeface="Arial"/>
                <a:cs typeface="Arial"/>
              </a:rPr>
              <a:t>16,28</a:t>
            </a:r>
            <a:r>
              <a:rPr lang="es-ES" sz="1250" b="1" spc="-50">
                <a:solidFill>
                  <a:srgbClr val="2E6A46"/>
                </a:solidFill>
                <a:latin typeface="Arial"/>
                <a:cs typeface="Arial"/>
              </a:rPr>
              <a:t> m</a:t>
            </a:r>
            <a:endParaRPr lang="es-ES" sz="1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65095" y="5759183"/>
            <a:ext cx="1322070" cy="51308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fr-FR" sz="1350" b="1" spc="-10">
                <a:solidFill>
                  <a:schemeClr val="tx1"/>
                </a:solidFill>
                <a:latin typeface="Arial"/>
                <a:cs typeface="Arial"/>
              </a:rPr>
              <a:t>Bosque</a:t>
            </a:r>
            <a:endParaRPr lang="fr-FR" sz="135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lang="fr-FR" sz="1000">
                <a:solidFill>
                  <a:schemeClr val="tx1"/>
                </a:solidFill>
                <a:latin typeface="Arial"/>
                <a:cs typeface="Arial"/>
              </a:rPr>
              <a:t>P25</a:t>
            </a:r>
            <a:r>
              <a:rPr lang="fr-FR" sz="1000" spc="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fr-FR" sz="1000">
                <a:solidFill>
                  <a:schemeClr val="tx1"/>
                </a:solidFill>
                <a:latin typeface="Arial"/>
                <a:cs typeface="Arial"/>
              </a:rPr>
              <a:t>10,23</a:t>
            </a:r>
            <a:r>
              <a:rPr lang="fr-FR" sz="1000" spc="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fr-FR" sz="1000">
                <a:solidFill>
                  <a:schemeClr val="tx1"/>
                </a:solidFill>
                <a:latin typeface="Arial"/>
                <a:cs typeface="Arial"/>
              </a:rPr>
              <a:t>·</a:t>
            </a:r>
            <a:r>
              <a:rPr lang="fr-FR" sz="1000" spc="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fr-FR" sz="1000">
                <a:solidFill>
                  <a:schemeClr val="tx1"/>
                </a:solidFill>
                <a:latin typeface="Arial"/>
                <a:cs typeface="Arial"/>
              </a:rPr>
              <a:t>P75</a:t>
            </a:r>
            <a:r>
              <a:rPr lang="fr-FR" sz="1000" spc="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fr-FR" sz="1000" spc="-20">
                <a:solidFill>
                  <a:schemeClr val="tx1"/>
                </a:solidFill>
                <a:latin typeface="Arial"/>
                <a:cs typeface="Arial"/>
              </a:rPr>
              <a:t>22,05</a:t>
            </a:r>
            <a:endParaRPr lang="fr-FR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099401" y="3380218"/>
            <a:ext cx="953135" cy="986155"/>
            <a:chOff x="5099401" y="3380218"/>
            <a:chExt cx="953135" cy="986155"/>
          </a:xfrm>
        </p:grpSpPr>
        <p:sp>
          <p:nvSpPr>
            <p:cNvPr id="22" name="object 22"/>
            <p:cNvSpPr/>
            <p:nvPr/>
          </p:nvSpPr>
          <p:spPr>
            <a:xfrm>
              <a:off x="5247005" y="3386518"/>
              <a:ext cx="658495" cy="973455"/>
            </a:xfrm>
            <a:custGeom>
              <a:avLst/>
              <a:gdLst/>
              <a:ahLst/>
              <a:cxnLst/>
              <a:rect l="l" t="t" r="r" b="b"/>
              <a:pathLst>
                <a:path w="658495" h="973454">
                  <a:moveTo>
                    <a:pt x="658075" y="0"/>
                  </a:moveTo>
                  <a:lnTo>
                    <a:pt x="0" y="0"/>
                  </a:lnTo>
                  <a:lnTo>
                    <a:pt x="0" y="973086"/>
                  </a:lnTo>
                  <a:lnTo>
                    <a:pt x="329031" y="973086"/>
                  </a:lnTo>
                  <a:lnTo>
                    <a:pt x="658075" y="973086"/>
                  </a:lnTo>
                  <a:lnTo>
                    <a:pt x="658075" y="0"/>
                  </a:lnTo>
                  <a:close/>
                </a:path>
              </a:pathLst>
            </a:custGeom>
            <a:solidFill>
              <a:srgbClr val="C3862D">
                <a:alpha val="2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47005" y="3386518"/>
              <a:ext cx="658495" cy="973455"/>
            </a:xfrm>
            <a:custGeom>
              <a:avLst/>
              <a:gdLst/>
              <a:ahLst/>
              <a:cxnLst/>
              <a:rect l="l" t="t" r="r" b="b"/>
              <a:pathLst>
                <a:path w="658495" h="973454">
                  <a:moveTo>
                    <a:pt x="329031" y="973086"/>
                  </a:moveTo>
                  <a:lnTo>
                    <a:pt x="0" y="973086"/>
                  </a:lnTo>
                  <a:lnTo>
                    <a:pt x="0" y="0"/>
                  </a:lnTo>
                  <a:lnTo>
                    <a:pt x="658075" y="0"/>
                  </a:lnTo>
                  <a:lnTo>
                    <a:pt x="658075" y="973086"/>
                  </a:lnTo>
                  <a:lnTo>
                    <a:pt x="329031" y="973086"/>
                  </a:lnTo>
                  <a:close/>
                </a:path>
              </a:pathLst>
            </a:custGeom>
            <a:ln w="125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18481" y="3865676"/>
              <a:ext cx="914400" cy="635"/>
            </a:xfrm>
            <a:custGeom>
              <a:avLst/>
              <a:gdLst/>
              <a:ahLst/>
              <a:cxnLst/>
              <a:rect l="l" t="t" r="r" b="b"/>
              <a:pathLst>
                <a:path w="914400" h="635">
                  <a:moveTo>
                    <a:pt x="0" y="0"/>
                  </a:moveTo>
                  <a:lnTo>
                    <a:pt x="914400" y="368"/>
                  </a:lnTo>
                </a:path>
              </a:pathLst>
            </a:custGeom>
            <a:ln w="3815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9821" y="3779105"/>
              <a:ext cx="172075" cy="17207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253304" y="3487940"/>
            <a:ext cx="64579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lang="es-ES" sz="1250" b="1">
                <a:solidFill>
                  <a:srgbClr val="C3862D"/>
                </a:solidFill>
                <a:latin typeface="Arial"/>
                <a:cs typeface="Arial"/>
              </a:rPr>
              <a:t>10,45</a:t>
            </a:r>
            <a:r>
              <a:rPr lang="es-ES" sz="1250" b="1" spc="-50">
                <a:solidFill>
                  <a:srgbClr val="C3862D"/>
                </a:solidFill>
                <a:latin typeface="Arial"/>
                <a:cs typeface="Arial"/>
              </a:rPr>
              <a:t> m</a:t>
            </a:r>
            <a:endParaRPr lang="es-ES" sz="12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50980" y="5759183"/>
            <a:ext cx="1249680" cy="51308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nn-NO" sz="1350" b="1" spc="-10">
                <a:solidFill>
                  <a:schemeClr val="tx1"/>
                </a:solidFill>
                <a:latin typeface="Arial"/>
                <a:cs typeface="Arial"/>
              </a:rPr>
              <a:t>Estepa</a:t>
            </a:r>
            <a:endParaRPr lang="nn-NO" sz="135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lang="nn-NO" sz="1000">
                <a:solidFill>
                  <a:schemeClr val="tx1"/>
                </a:solidFill>
                <a:latin typeface="Arial"/>
                <a:cs typeface="Arial"/>
              </a:rPr>
              <a:t>P25</a:t>
            </a:r>
            <a:r>
              <a:rPr lang="nn-NO" sz="10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nn-NO" sz="1000">
                <a:solidFill>
                  <a:schemeClr val="tx1"/>
                </a:solidFill>
                <a:latin typeface="Arial"/>
                <a:cs typeface="Arial"/>
              </a:rPr>
              <a:t>7,51</a:t>
            </a:r>
            <a:r>
              <a:rPr lang="nn-NO" sz="10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nn-NO" sz="1000">
                <a:solidFill>
                  <a:schemeClr val="tx1"/>
                </a:solidFill>
                <a:latin typeface="Arial"/>
                <a:cs typeface="Arial"/>
              </a:rPr>
              <a:t>·</a:t>
            </a:r>
            <a:r>
              <a:rPr lang="nn-NO" sz="1000" spc="3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nn-NO" sz="1000">
                <a:solidFill>
                  <a:schemeClr val="tx1"/>
                </a:solidFill>
                <a:latin typeface="Arial"/>
                <a:cs typeface="Arial"/>
              </a:rPr>
              <a:t>P75</a:t>
            </a:r>
            <a:r>
              <a:rPr lang="nn-NO" sz="1000" spc="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nn-NO" sz="1000" spc="-10">
                <a:solidFill>
                  <a:schemeClr val="tx1"/>
                </a:solidFill>
                <a:latin typeface="Arial"/>
                <a:cs typeface="Arial"/>
              </a:rPr>
              <a:t>13,29</a:t>
            </a:r>
            <a:endParaRPr lang="nn-NO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831983" y="1412820"/>
            <a:ext cx="1728470" cy="1426845"/>
            <a:chOff x="7831983" y="1412820"/>
            <a:chExt cx="1728470" cy="14268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9" name="object 29"/>
            <p:cNvSpPr/>
            <p:nvPr/>
          </p:nvSpPr>
          <p:spPr>
            <a:xfrm>
              <a:off x="7836483" y="1417319"/>
              <a:ext cx="1719580" cy="1417320"/>
            </a:xfrm>
            <a:custGeom>
              <a:avLst/>
              <a:gdLst/>
              <a:ahLst/>
              <a:cxnLst/>
              <a:rect l="l" t="t" r="r" b="b"/>
              <a:pathLst>
                <a:path w="1719579" h="1417320">
                  <a:moveTo>
                    <a:pt x="16455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344244"/>
                  </a:lnTo>
                  <a:lnTo>
                    <a:pt x="594" y="1353515"/>
                  </a:lnTo>
                  <a:lnTo>
                    <a:pt x="607" y="1353720"/>
                  </a:lnTo>
                  <a:lnTo>
                    <a:pt x="2394" y="1362916"/>
                  </a:lnTo>
                  <a:lnTo>
                    <a:pt x="2428" y="1363095"/>
                  </a:lnTo>
                  <a:lnTo>
                    <a:pt x="5412" y="1371979"/>
                  </a:lnTo>
                  <a:lnTo>
                    <a:pt x="5464" y="1372135"/>
                  </a:lnTo>
                  <a:lnTo>
                    <a:pt x="36360" y="1407604"/>
                  </a:lnTo>
                  <a:lnTo>
                    <a:pt x="73075" y="1417319"/>
                  </a:lnTo>
                  <a:lnTo>
                    <a:pt x="1645919" y="1416964"/>
                  </a:lnTo>
                  <a:lnTo>
                    <a:pt x="1690290" y="1401860"/>
                  </a:lnTo>
                  <a:lnTo>
                    <a:pt x="1713454" y="1372135"/>
                  </a:lnTo>
                  <a:lnTo>
                    <a:pt x="1713530" y="1371979"/>
                  </a:lnTo>
                  <a:lnTo>
                    <a:pt x="1716506" y="1363095"/>
                  </a:lnTo>
                  <a:lnTo>
                    <a:pt x="1716566" y="1362916"/>
                  </a:lnTo>
                  <a:lnTo>
                    <a:pt x="1718348" y="1353720"/>
                  </a:lnTo>
                  <a:lnTo>
                    <a:pt x="1718388" y="1353515"/>
                  </a:lnTo>
                  <a:lnTo>
                    <a:pt x="1718972" y="1344244"/>
                  </a:lnTo>
                  <a:lnTo>
                    <a:pt x="1718995" y="1343875"/>
                  </a:lnTo>
                  <a:lnTo>
                    <a:pt x="1718640" y="73075"/>
                  </a:lnTo>
                  <a:lnTo>
                    <a:pt x="1703536" y="28705"/>
                  </a:lnTo>
                  <a:lnTo>
                    <a:pt x="1664592" y="2428"/>
                  </a:lnTo>
                  <a:lnTo>
                    <a:pt x="1655190" y="607"/>
                  </a:lnTo>
                  <a:lnTo>
                    <a:pt x="16455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836483" y="1417319"/>
              <a:ext cx="1719580" cy="1417320"/>
            </a:xfrm>
            <a:custGeom>
              <a:avLst/>
              <a:gdLst/>
              <a:ahLst/>
              <a:cxnLst/>
              <a:rect l="l" t="t" r="r" b="b"/>
              <a:pathLst>
                <a:path w="1719579" h="14173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645551" y="0"/>
                  </a:lnTo>
                  <a:lnTo>
                    <a:pt x="1690084" y="15104"/>
                  </a:lnTo>
                  <a:lnTo>
                    <a:pt x="1716209" y="54224"/>
                  </a:lnTo>
                  <a:lnTo>
                    <a:pt x="1718640" y="73075"/>
                  </a:lnTo>
                  <a:lnTo>
                    <a:pt x="1718995" y="1343875"/>
                  </a:lnTo>
                  <a:lnTo>
                    <a:pt x="1718388" y="1353515"/>
                  </a:lnTo>
                  <a:lnTo>
                    <a:pt x="1716566" y="1362916"/>
                  </a:lnTo>
                  <a:lnTo>
                    <a:pt x="1690290" y="1401860"/>
                  </a:lnTo>
                  <a:lnTo>
                    <a:pt x="1645919" y="1416964"/>
                  </a:lnTo>
                  <a:lnTo>
                    <a:pt x="73075" y="1417319"/>
                  </a:lnTo>
                  <a:lnTo>
                    <a:pt x="28548" y="1402215"/>
                  </a:lnTo>
                  <a:lnTo>
                    <a:pt x="2428" y="1363095"/>
                  </a:lnTo>
                  <a:lnTo>
                    <a:pt x="0" y="134424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36483" y="1417319"/>
              <a:ext cx="73025" cy="1417320"/>
            </a:xfrm>
            <a:custGeom>
              <a:avLst/>
              <a:gdLst/>
              <a:ahLst/>
              <a:cxnLst/>
              <a:rect l="l" t="t" r="r" b="b"/>
              <a:pathLst>
                <a:path w="73025" h="1417320">
                  <a:moveTo>
                    <a:pt x="72720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6360" y="1416964"/>
                  </a:lnTo>
                  <a:lnTo>
                    <a:pt x="72720" y="14169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070736" y="1532051"/>
            <a:ext cx="1189355" cy="104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>
                <a:solidFill>
                  <a:srgbClr val="2E6A46"/>
                </a:solidFill>
                <a:latin typeface="Arial"/>
                <a:cs typeface="Arial"/>
              </a:rPr>
              <a:t>16,28</a:t>
            </a:r>
            <a:r>
              <a:rPr lang="es-ES" sz="2500" b="1" spc="-45">
                <a:solidFill>
                  <a:srgbClr val="2E6A46"/>
                </a:solidFill>
                <a:latin typeface="Arial"/>
                <a:cs typeface="Arial"/>
              </a:rPr>
              <a:t> </a:t>
            </a:r>
            <a:r>
              <a:rPr lang="es-ES" sz="2500" b="1" spc="-50">
                <a:solidFill>
                  <a:srgbClr val="2E6A46"/>
                </a:solidFill>
                <a:latin typeface="Arial"/>
                <a:cs typeface="Arial"/>
              </a:rPr>
              <a:t>m</a:t>
            </a:r>
            <a:endParaRPr lang="es-ES" sz="2500">
              <a:latin typeface="Arial"/>
              <a:cs typeface="Arial"/>
            </a:endParaRPr>
          </a:p>
          <a:p>
            <a:pPr marL="12700" marR="407670">
              <a:lnSpc>
                <a:spcPts val="1600"/>
              </a:lnSpc>
              <a:spcBef>
                <a:spcPts val="1880"/>
              </a:spcBef>
            </a:pP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mediana Bosque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797944" y="1412820"/>
            <a:ext cx="1728470" cy="1426845"/>
            <a:chOff x="9797944" y="1412820"/>
            <a:chExt cx="1728470" cy="14268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4" name="object 34"/>
            <p:cNvSpPr/>
            <p:nvPr/>
          </p:nvSpPr>
          <p:spPr>
            <a:xfrm>
              <a:off x="9802444" y="1417319"/>
              <a:ext cx="1719580" cy="1417320"/>
            </a:xfrm>
            <a:custGeom>
              <a:avLst/>
              <a:gdLst/>
              <a:ahLst/>
              <a:cxnLst/>
              <a:rect l="l" t="t" r="r" b="b"/>
              <a:pathLst>
                <a:path w="1719579" h="1417320">
                  <a:moveTo>
                    <a:pt x="16455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344244"/>
                  </a:lnTo>
                  <a:lnTo>
                    <a:pt x="594" y="1353515"/>
                  </a:lnTo>
                  <a:lnTo>
                    <a:pt x="607" y="1353720"/>
                  </a:lnTo>
                  <a:lnTo>
                    <a:pt x="2394" y="1362916"/>
                  </a:lnTo>
                  <a:lnTo>
                    <a:pt x="2428" y="1363095"/>
                  </a:lnTo>
                  <a:lnTo>
                    <a:pt x="5412" y="1371979"/>
                  </a:lnTo>
                  <a:lnTo>
                    <a:pt x="5464" y="1372135"/>
                  </a:lnTo>
                  <a:lnTo>
                    <a:pt x="36360" y="1407604"/>
                  </a:lnTo>
                  <a:lnTo>
                    <a:pt x="73075" y="1417319"/>
                  </a:lnTo>
                  <a:lnTo>
                    <a:pt x="1645920" y="1416964"/>
                  </a:lnTo>
                  <a:lnTo>
                    <a:pt x="1690290" y="1401860"/>
                  </a:lnTo>
                  <a:lnTo>
                    <a:pt x="1713454" y="1372135"/>
                  </a:lnTo>
                  <a:lnTo>
                    <a:pt x="1713530" y="1371979"/>
                  </a:lnTo>
                  <a:lnTo>
                    <a:pt x="1716506" y="1363095"/>
                  </a:lnTo>
                  <a:lnTo>
                    <a:pt x="1716566" y="1362916"/>
                  </a:lnTo>
                  <a:lnTo>
                    <a:pt x="1718348" y="1353720"/>
                  </a:lnTo>
                  <a:lnTo>
                    <a:pt x="1718388" y="1353515"/>
                  </a:lnTo>
                  <a:lnTo>
                    <a:pt x="1718972" y="1344244"/>
                  </a:lnTo>
                  <a:lnTo>
                    <a:pt x="1718995" y="1343875"/>
                  </a:lnTo>
                  <a:lnTo>
                    <a:pt x="1718640" y="73075"/>
                  </a:lnTo>
                  <a:lnTo>
                    <a:pt x="1703536" y="28705"/>
                  </a:lnTo>
                  <a:lnTo>
                    <a:pt x="1664592" y="2428"/>
                  </a:lnTo>
                  <a:lnTo>
                    <a:pt x="1655191" y="607"/>
                  </a:lnTo>
                  <a:lnTo>
                    <a:pt x="16455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802444" y="1417319"/>
              <a:ext cx="1719580" cy="1417320"/>
            </a:xfrm>
            <a:custGeom>
              <a:avLst/>
              <a:gdLst/>
              <a:ahLst/>
              <a:cxnLst/>
              <a:rect l="l" t="t" r="r" b="b"/>
              <a:pathLst>
                <a:path w="1719579" h="14173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645551" y="0"/>
                  </a:lnTo>
                  <a:lnTo>
                    <a:pt x="1690084" y="15104"/>
                  </a:lnTo>
                  <a:lnTo>
                    <a:pt x="1716209" y="54224"/>
                  </a:lnTo>
                  <a:lnTo>
                    <a:pt x="1718640" y="73075"/>
                  </a:lnTo>
                  <a:lnTo>
                    <a:pt x="1718995" y="1343875"/>
                  </a:lnTo>
                  <a:lnTo>
                    <a:pt x="1718388" y="1353515"/>
                  </a:lnTo>
                  <a:lnTo>
                    <a:pt x="1716566" y="1362916"/>
                  </a:lnTo>
                  <a:lnTo>
                    <a:pt x="1690290" y="1401860"/>
                  </a:lnTo>
                  <a:lnTo>
                    <a:pt x="1645920" y="1416964"/>
                  </a:lnTo>
                  <a:lnTo>
                    <a:pt x="73075" y="1417319"/>
                  </a:lnTo>
                  <a:lnTo>
                    <a:pt x="28548" y="1402215"/>
                  </a:lnTo>
                  <a:lnTo>
                    <a:pt x="2428" y="1363095"/>
                  </a:lnTo>
                  <a:lnTo>
                    <a:pt x="0" y="134424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802444" y="1417319"/>
              <a:ext cx="73025" cy="1417320"/>
            </a:xfrm>
            <a:custGeom>
              <a:avLst/>
              <a:gdLst/>
              <a:ahLst/>
              <a:cxnLst/>
              <a:rect l="l" t="t" r="r" b="b"/>
              <a:pathLst>
                <a:path w="73025" h="1417320">
                  <a:moveTo>
                    <a:pt x="72720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6360" y="1416964"/>
                  </a:lnTo>
                  <a:lnTo>
                    <a:pt x="72720" y="14169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036695" y="1532051"/>
            <a:ext cx="1189355" cy="104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>
                <a:solidFill>
                  <a:srgbClr val="C3862D"/>
                </a:solidFill>
                <a:latin typeface="Arial"/>
                <a:cs typeface="Arial"/>
              </a:rPr>
              <a:t>10,45</a:t>
            </a:r>
            <a:r>
              <a:rPr lang="es-ES" sz="2500" b="1" spc="-45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2500" b="1" spc="-50">
                <a:solidFill>
                  <a:srgbClr val="C3862D"/>
                </a:solidFill>
                <a:latin typeface="Arial"/>
                <a:cs typeface="Arial"/>
              </a:rPr>
              <a:t>m</a:t>
            </a:r>
            <a:endParaRPr lang="es-ES" sz="2500">
              <a:latin typeface="Arial"/>
              <a:cs typeface="Arial"/>
            </a:endParaRPr>
          </a:p>
          <a:p>
            <a:pPr marL="12700" marR="407670">
              <a:lnSpc>
                <a:spcPts val="1600"/>
              </a:lnSpc>
              <a:spcBef>
                <a:spcPts val="1880"/>
              </a:spcBef>
            </a:pP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mediana Estepa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831615" y="3131815"/>
            <a:ext cx="3694429" cy="1426845"/>
            <a:chOff x="7831615" y="3131815"/>
            <a:chExt cx="3694429" cy="14268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9" name="object 39"/>
            <p:cNvSpPr/>
            <p:nvPr/>
          </p:nvSpPr>
          <p:spPr>
            <a:xfrm>
              <a:off x="7836115" y="3136315"/>
              <a:ext cx="3685540" cy="1417320"/>
            </a:xfrm>
            <a:custGeom>
              <a:avLst/>
              <a:gdLst/>
              <a:ahLst/>
              <a:cxnLst/>
              <a:rect l="l" t="t" r="r" b="b"/>
              <a:pathLst>
                <a:path w="3685540" h="1417320">
                  <a:moveTo>
                    <a:pt x="361152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344244"/>
                  </a:lnTo>
                  <a:lnTo>
                    <a:pt x="594" y="1353520"/>
                  </a:lnTo>
                  <a:lnTo>
                    <a:pt x="607" y="1353722"/>
                  </a:lnTo>
                  <a:lnTo>
                    <a:pt x="2394" y="1362917"/>
                  </a:lnTo>
                  <a:lnTo>
                    <a:pt x="2430" y="1363100"/>
                  </a:lnTo>
                  <a:lnTo>
                    <a:pt x="5416" y="1371979"/>
                  </a:lnTo>
                  <a:lnTo>
                    <a:pt x="5470" y="1372140"/>
                  </a:lnTo>
                  <a:lnTo>
                    <a:pt x="36360" y="1407604"/>
                  </a:lnTo>
                  <a:lnTo>
                    <a:pt x="73088" y="1417320"/>
                  </a:lnTo>
                  <a:lnTo>
                    <a:pt x="3611879" y="1416964"/>
                  </a:lnTo>
                  <a:lnTo>
                    <a:pt x="3656257" y="1401865"/>
                  </a:lnTo>
                  <a:lnTo>
                    <a:pt x="3679418" y="1372140"/>
                  </a:lnTo>
                  <a:lnTo>
                    <a:pt x="3679498" y="1371979"/>
                  </a:lnTo>
                  <a:lnTo>
                    <a:pt x="3682476" y="1363100"/>
                  </a:lnTo>
                  <a:lnTo>
                    <a:pt x="3682538" y="1362917"/>
                  </a:lnTo>
                  <a:lnTo>
                    <a:pt x="3684321" y="1353722"/>
                  </a:lnTo>
                  <a:lnTo>
                    <a:pt x="3684361" y="1353520"/>
                  </a:lnTo>
                  <a:lnTo>
                    <a:pt x="3684946" y="1344244"/>
                  </a:lnTo>
                  <a:lnTo>
                    <a:pt x="3684968" y="1343888"/>
                  </a:lnTo>
                  <a:lnTo>
                    <a:pt x="3684600" y="73088"/>
                  </a:lnTo>
                  <a:lnTo>
                    <a:pt x="3669508" y="28710"/>
                  </a:lnTo>
                  <a:lnTo>
                    <a:pt x="3630558" y="2430"/>
                  </a:lnTo>
                  <a:lnTo>
                    <a:pt x="3621158" y="607"/>
                  </a:lnTo>
                  <a:lnTo>
                    <a:pt x="361152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36115" y="3136315"/>
              <a:ext cx="3685540" cy="1417320"/>
            </a:xfrm>
            <a:custGeom>
              <a:avLst/>
              <a:gdLst/>
              <a:ahLst/>
              <a:cxnLst/>
              <a:rect l="l" t="t" r="r" b="b"/>
              <a:pathLst>
                <a:path w="3685540" h="141732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3611524" y="0"/>
                  </a:lnTo>
                  <a:lnTo>
                    <a:pt x="3656051" y="15109"/>
                  </a:lnTo>
                  <a:lnTo>
                    <a:pt x="3682171" y="54232"/>
                  </a:lnTo>
                  <a:lnTo>
                    <a:pt x="3684600" y="73088"/>
                  </a:lnTo>
                  <a:lnTo>
                    <a:pt x="3684968" y="1343888"/>
                  </a:lnTo>
                  <a:lnTo>
                    <a:pt x="3684361" y="1353520"/>
                  </a:lnTo>
                  <a:lnTo>
                    <a:pt x="3682538" y="1362917"/>
                  </a:lnTo>
                  <a:lnTo>
                    <a:pt x="3656257" y="1401865"/>
                  </a:lnTo>
                  <a:lnTo>
                    <a:pt x="3611879" y="1416964"/>
                  </a:lnTo>
                  <a:lnTo>
                    <a:pt x="73088" y="1417320"/>
                  </a:lnTo>
                  <a:lnTo>
                    <a:pt x="28555" y="1402223"/>
                  </a:lnTo>
                  <a:lnTo>
                    <a:pt x="2430" y="1363100"/>
                  </a:lnTo>
                  <a:lnTo>
                    <a:pt x="0" y="1344244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36483" y="3136315"/>
              <a:ext cx="73025" cy="1417320"/>
            </a:xfrm>
            <a:custGeom>
              <a:avLst/>
              <a:gdLst/>
              <a:ahLst/>
              <a:cxnLst/>
              <a:rect l="l" t="t" r="r" b="b"/>
              <a:pathLst>
                <a:path w="73025" h="1417320">
                  <a:moveTo>
                    <a:pt x="72720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6360" y="1416964"/>
                  </a:lnTo>
                  <a:lnTo>
                    <a:pt x="72720" y="14169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070380" y="3251060"/>
            <a:ext cx="1952625" cy="99999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>
                <a:solidFill>
                  <a:srgbClr val="1D4938"/>
                </a:solidFill>
                <a:latin typeface="Arial"/>
                <a:cs typeface="Arial"/>
              </a:rPr>
              <a:t>+5,83</a:t>
            </a:r>
            <a:r>
              <a:rPr lang="es-ES" sz="250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2500" b="1" spc="-50">
                <a:solidFill>
                  <a:srgbClr val="1D4938"/>
                </a:solidFill>
                <a:latin typeface="Arial"/>
                <a:cs typeface="Arial"/>
              </a:rPr>
              <a:t>m</a:t>
            </a:r>
            <a:endParaRPr lang="es-ES"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ES" sz="145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descriptiva</a:t>
            </a:r>
            <a:endParaRPr lang="es-ES" sz="14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070380" y="4278490"/>
            <a:ext cx="24015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Mediana</a:t>
            </a:r>
            <a:r>
              <a:rPr lang="es-ES" sz="12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Bosque</a:t>
            </a:r>
            <a:r>
              <a:rPr lang="es-ES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lang="es-ES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chemeClr val="tx1"/>
                </a:solidFill>
                <a:latin typeface="Arial"/>
                <a:cs typeface="Arial"/>
              </a:rPr>
              <a:t>mediana</a:t>
            </a:r>
            <a:r>
              <a:rPr lang="es-ES" sz="1200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chemeClr val="tx1"/>
                </a:solidFill>
                <a:latin typeface="Arial"/>
                <a:cs typeface="Arial"/>
              </a:rPr>
              <a:t>Estepa</a:t>
            </a:r>
            <a:endParaRPr lang="es-ES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831260" y="4878180"/>
            <a:ext cx="3694429" cy="850900"/>
            <a:chOff x="7831260" y="4878180"/>
            <a:chExt cx="3694429" cy="8509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5" name="object 45"/>
            <p:cNvSpPr/>
            <p:nvPr/>
          </p:nvSpPr>
          <p:spPr>
            <a:xfrm>
              <a:off x="7835760" y="4882680"/>
              <a:ext cx="3685540" cy="842010"/>
            </a:xfrm>
            <a:custGeom>
              <a:avLst/>
              <a:gdLst/>
              <a:ahLst/>
              <a:cxnLst/>
              <a:rect l="l" t="t" r="r" b="b"/>
              <a:pathLst>
                <a:path w="3685540" h="8420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777595"/>
                  </a:lnTo>
                  <a:lnTo>
                    <a:pt x="540" y="785945"/>
                  </a:lnTo>
                  <a:lnTo>
                    <a:pt x="18737" y="822826"/>
                  </a:lnTo>
                  <a:lnTo>
                    <a:pt x="18853" y="822960"/>
                  </a:lnTo>
                  <a:lnTo>
                    <a:pt x="55734" y="841139"/>
                  </a:lnTo>
                  <a:lnTo>
                    <a:pt x="64084" y="841679"/>
                  </a:lnTo>
                  <a:lnTo>
                    <a:pt x="3621239" y="841679"/>
                  </a:lnTo>
                  <a:lnTo>
                    <a:pt x="3660276" y="828322"/>
                  </a:lnTo>
                  <a:lnTo>
                    <a:pt x="3683161" y="794159"/>
                  </a:lnTo>
                  <a:lnTo>
                    <a:pt x="3685324" y="777595"/>
                  </a:lnTo>
                  <a:lnTo>
                    <a:pt x="3685301" y="64084"/>
                  </a:lnTo>
                  <a:lnTo>
                    <a:pt x="3671959" y="25402"/>
                  </a:lnTo>
                  <a:lnTo>
                    <a:pt x="3637799" y="2517"/>
                  </a:lnTo>
                  <a:lnTo>
                    <a:pt x="3621239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835760" y="4882680"/>
              <a:ext cx="3685540" cy="842010"/>
            </a:xfrm>
            <a:custGeom>
              <a:avLst/>
              <a:gdLst/>
              <a:ahLst/>
              <a:cxnLst/>
              <a:rect l="l" t="t" r="r" b="b"/>
              <a:pathLst>
                <a:path w="3685540" h="842010">
                  <a:moveTo>
                    <a:pt x="355" y="64084"/>
                  </a:moveTo>
                  <a:lnTo>
                    <a:pt x="896" y="55734"/>
                  </a:lnTo>
                  <a:lnTo>
                    <a:pt x="2517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3621239" y="355"/>
                  </a:lnTo>
                  <a:lnTo>
                    <a:pt x="3660226" y="13570"/>
                  </a:lnTo>
                  <a:lnTo>
                    <a:pt x="3683161" y="47880"/>
                  </a:lnTo>
                  <a:lnTo>
                    <a:pt x="3685324" y="64439"/>
                  </a:lnTo>
                  <a:lnTo>
                    <a:pt x="3685324" y="777595"/>
                  </a:lnTo>
                  <a:lnTo>
                    <a:pt x="3684783" y="785945"/>
                  </a:lnTo>
                  <a:lnTo>
                    <a:pt x="3683161" y="794159"/>
                  </a:lnTo>
                  <a:lnTo>
                    <a:pt x="3660276" y="828322"/>
                  </a:lnTo>
                  <a:lnTo>
                    <a:pt x="3621239" y="841679"/>
                  </a:lnTo>
                  <a:lnTo>
                    <a:pt x="64084" y="841679"/>
                  </a:lnTo>
                  <a:lnTo>
                    <a:pt x="25091" y="828472"/>
                  </a:lnTo>
                  <a:lnTo>
                    <a:pt x="2160" y="794159"/>
                  </a:lnTo>
                  <a:lnTo>
                    <a:pt x="0" y="777595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36484" y="4883035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82080" y="0"/>
                  </a:moveTo>
                  <a:lnTo>
                    <a:pt x="0" y="0"/>
                  </a:lnTo>
                  <a:lnTo>
                    <a:pt x="0" y="840968"/>
                  </a:lnTo>
                  <a:lnTo>
                    <a:pt x="41033" y="840968"/>
                  </a:lnTo>
                  <a:lnTo>
                    <a:pt x="82080" y="840968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070380" y="5026228"/>
            <a:ext cx="3142615" cy="60914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350"/>
              </a:spcBef>
            </a:pP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Lectura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correcta: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distribución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10">
                <a:solidFill>
                  <a:srgbClr val="1F2F28"/>
                </a:solidFill>
                <a:latin typeface="Arial"/>
                <a:cs typeface="Arial"/>
              </a:rPr>
              <a:t>segmentos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retenidos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es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más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alta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Bosque.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10">
                <a:solidFill>
                  <a:srgbClr val="1F2F28"/>
                </a:solidFill>
                <a:latin typeface="Arial"/>
                <a:cs typeface="Arial"/>
              </a:rPr>
              <a:t>Lectura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incorrecta: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tratar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3.872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como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réplicas</a:t>
            </a:r>
            <a:r>
              <a:rPr lang="es-MX" sz="11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independientes</a:t>
            </a:r>
            <a:r>
              <a:rPr lang="es-MX" sz="11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para</a:t>
            </a:r>
            <a:r>
              <a:rPr lang="es-MX" sz="11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10">
                <a:solidFill>
                  <a:srgbClr val="1F2F28"/>
                </a:solidFill>
                <a:latin typeface="Arial"/>
                <a:cs typeface="Arial"/>
              </a:rPr>
              <a:t>inferencia.</a:t>
            </a:r>
            <a:endParaRPr lang="es-MX" sz="1100">
              <a:latin typeface="Arial"/>
              <a:cs typeface="Arial"/>
            </a:endParaRPr>
          </a:p>
        </p:txBody>
      </p:sp>
      <p:sp>
        <p:nvSpPr>
          <p:cNvPr id="49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0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1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24/43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La</a:t>
            </a:r>
            <a:r>
              <a:rPr spc="-75"/>
              <a:t> </a:t>
            </a:r>
            <a:r>
              <a:t>diferencia</a:t>
            </a:r>
            <a:r>
              <a:rPr spc="-75"/>
              <a:t> </a:t>
            </a:r>
            <a:r>
              <a:t>persiste</a:t>
            </a:r>
            <a:r>
              <a:rPr spc="-75"/>
              <a:t> </a:t>
            </a:r>
            <a:r>
              <a:t>al</a:t>
            </a:r>
            <a:r>
              <a:rPr spc="-75"/>
              <a:t> </a:t>
            </a:r>
            <a:r>
              <a:t>resumir</a:t>
            </a:r>
            <a:r>
              <a:rPr spc="-75"/>
              <a:t> </a:t>
            </a:r>
            <a:r>
              <a:t>por</a:t>
            </a:r>
            <a:r>
              <a:rPr spc="-75"/>
              <a:t> </a:t>
            </a:r>
            <a:r>
              <a:rPr spc="-10"/>
              <a:t>gránulo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86244" y="1325879"/>
            <a:ext cx="6629400" cy="4353040"/>
            <a:chOff x="786244" y="1325879"/>
            <a:chExt cx="6629400" cy="4353040"/>
          </a:xfrm>
        </p:grpSpPr>
        <p:sp>
          <p:nvSpPr>
            <p:cNvPr id="6" name="object 6"/>
            <p:cNvSpPr/>
            <p:nvPr/>
          </p:nvSpPr>
          <p:spPr>
            <a:xfrm>
              <a:off x="786244" y="1325879"/>
              <a:ext cx="6629400" cy="4352925"/>
            </a:xfrm>
            <a:custGeom>
              <a:avLst/>
              <a:gdLst/>
              <a:ahLst/>
              <a:cxnLst/>
              <a:rect l="l" t="t" r="r" b="b"/>
              <a:pathLst>
                <a:path w="6629400" h="4352925">
                  <a:moveTo>
                    <a:pt x="0" y="4352404"/>
                  </a:moveTo>
                  <a:lnTo>
                    <a:pt x="6629400" y="4352759"/>
                  </a:lnTo>
                </a:path>
                <a:path w="6629400" h="4352925">
                  <a:moveTo>
                    <a:pt x="0" y="0"/>
                  </a:moveTo>
                  <a:lnTo>
                    <a:pt x="355" y="4352404"/>
                  </a:lnTo>
                </a:path>
              </a:pathLst>
            </a:custGeom>
            <a:ln w="1007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6244" y="1792084"/>
              <a:ext cx="6629400" cy="3886835"/>
            </a:xfrm>
            <a:custGeom>
              <a:avLst/>
              <a:gdLst/>
              <a:ahLst/>
              <a:cxnLst/>
              <a:rect l="l" t="t" r="r" b="b"/>
              <a:pathLst>
                <a:path w="6629400" h="3886835">
                  <a:moveTo>
                    <a:pt x="0" y="3886200"/>
                  </a:moveTo>
                  <a:lnTo>
                    <a:pt x="6629400" y="3886555"/>
                  </a:lnTo>
                </a:path>
                <a:path w="6629400" h="3886835">
                  <a:moveTo>
                    <a:pt x="0" y="3108960"/>
                  </a:moveTo>
                  <a:lnTo>
                    <a:pt x="6629400" y="3109315"/>
                  </a:lnTo>
                </a:path>
                <a:path w="6629400" h="3886835">
                  <a:moveTo>
                    <a:pt x="0" y="2331720"/>
                  </a:moveTo>
                  <a:lnTo>
                    <a:pt x="6629400" y="2332075"/>
                  </a:lnTo>
                </a:path>
                <a:path w="6629400" h="3886835">
                  <a:moveTo>
                    <a:pt x="0" y="1554480"/>
                  </a:moveTo>
                  <a:lnTo>
                    <a:pt x="6629400" y="1554835"/>
                  </a:lnTo>
                </a:path>
                <a:path w="6629400" h="3886835">
                  <a:moveTo>
                    <a:pt x="0" y="777240"/>
                  </a:moveTo>
                  <a:lnTo>
                    <a:pt x="6629400" y="777595"/>
                  </a:lnTo>
                </a:path>
                <a:path w="6629400" h="3886835">
                  <a:moveTo>
                    <a:pt x="0" y="0"/>
                  </a:moveTo>
                  <a:lnTo>
                    <a:pt x="6629400" y="355"/>
                  </a:lnTo>
                </a:path>
              </a:pathLst>
            </a:custGeom>
            <a:ln w="575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8733" y="2849760"/>
              <a:ext cx="100897" cy="10548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584" y="2178362"/>
              <a:ext cx="100885" cy="10547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2254" y="1607763"/>
              <a:ext cx="105471" cy="10547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03176" y="4354926"/>
              <a:ext cx="100885" cy="10547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76480" y="2485435"/>
              <a:ext cx="105484" cy="10548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28398" y="4342683"/>
              <a:ext cx="105484" cy="10547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4454" y="2640604"/>
              <a:ext cx="100885" cy="10547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55199" y="3234963"/>
              <a:ext cx="1037519" cy="4154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92241" y="3886194"/>
              <a:ext cx="105484" cy="10548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35523" y="2978284"/>
              <a:ext cx="105471" cy="105471"/>
            </a:xfrm>
            <a:prstGeom prst="rect">
              <a:avLst/>
            </a:prstGeom>
            <a:ln>
              <a:noFill/>
            </a:ln>
          </p:spPr>
        </p:pic>
        <p:sp>
          <p:nvSpPr>
            <p:cNvPr id="18" name="object 18"/>
            <p:cNvSpPr/>
            <p:nvPr/>
          </p:nvSpPr>
          <p:spPr>
            <a:xfrm>
              <a:off x="5694476" y="428724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50406" y="0"/>
                  </a:moveTo>
                  <a:lnTo>
                    <a:pt x="14808" y="14444"/>
                  </a:lnTo>
                  <a:lnTo>
                    <a:pt x="0" y="50038"/>
                  </a:lnTo>
                  <a:lnTo>
                    <a:pt x="410" y="56555"/>
                  </a:lnTo>
                  <a:lnTo>
                    <a:pt x="19754" y="89972"/>
                  </a:lnTo>
                  <a:lnTo>
                    <a:pt x="50406" y="100444"/>
                  </a:lnTo>
                  <a:lnTo>
                    <a:pt x="56866" y="99981"/>
                  </a:lnTo>
                  <a:lnTo>
                    <a:pt x="89972" y="80690"/>
                  </a:lnTo>
                  <a:lnTo>
                    <a:pt x="100444" y="50038"/>
                  </a:lnTo>
                  <a:lnTo>
                    <a:pt x="100033" y="43520"/>
                  </a:lnTo>
                  <a:lnTo>
                    <a:pt x="80695" y="10105"/>
                  </a:lnTo>
                  <a:lnTo>
                    <a:pt x="50406" y="0"/>
                  </a:lnTo>
                  <a:close/>
                </a:path>
              </a:pathLst>
            </a:custGeom>
            <a:solidFill>
              <a:srgbClr val="C3862D">
                <a:alpha val="87998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94476" y="428724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0" y="50038"/>
                  </a:moveTo>
                  <a:lnTo>
                    <a:pt x="410" y="43520"/>
                  </a:lnTo>
                  <a:lnTo>
                    <a:pt x="1665" y="37034"/>
                  </a:lnTo>
                  <a:lnTo>
                    <a:pt x="25209" y="6477"/>
                  </a:lnTo>
                  <a:lnTo>
                    <a:pt x="50406" y="0"/>
                  </a:lnTo>
                  <a:lnTo>
                    <a:pt x="89972" y="19391"/>
                  </a:lnTo>
                  <a:lnTo>
                    <a:pt x="100444" y="50038"/>
                  </a:lnTo>
                  <a:lnTo>
                    <a:pt x="100033" y="56555"/>
                  </a:lnTo>
                  <a:lnTo>
                    <a:pt x="98779" y="63041"/>
                  </a:lnTo>
                  <a:lnTo>
                    <a:pt x="75247" y="93599"/>
                  </a:lnTo>
                  <a:lnTo>
                    <a:pt x="50406" y="100444"/>
                  </a:lnTo>
                  <a:lnTo>
                    <a:pt x="14808" y="85636"/>
                  </a:lnTo>
                  <a:lnTo>
                    <a:pt x="410" y="56555"/>
                  </a:lnTo>
                  <a:lnTo>
                    <a:pt x="0" y="50038"/>
                  </a:lnTo>
                  <a:close/>
                </a:path>
              </a:pathLst>
            </a:custGeom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5038" y="524987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50406" y="0"/>
                  </a:moveTo>
                  <a:lnTo>
                    <a:pt x="14806" y="14451"/>
                  </a:lnTo>
                  <a:lnTo>
                    <a:pt x="0" y="50050"/>
                  </a:lnTo>
                  <a:lnTo>
                    <a:pt x="410" y="56568"/>
                  </a:lnTo>
                  <a:lnTo>
                    <a:pt x="19748" y="89972"/>
                  </a:lnTo>
                  <a:lnTo>
                    <a:pt x="50406" y="100444"/>
                  </a:lnTo>
                  <a:lnTo>
                    <a:pt x="56866" y="99983"/>
                  </a:lnTo>
                  <a:lnTo>
                    <a:pt x="89972" y="80695"/>
                  </a:lnTo>
                  <a:lnTo>
                    <a:pt x="100444" y="50050"/>
                  </a:lnTo>
                  <a:lnTo>
                    <a:pt x="100033" y="43527"/>
                  </a:lnTo>
                  <a:lnTo>
                    <a:pt x="80690" y="10116"/>
                  </a:lnTo>
                  <a:lnTo>
                    <a:pt x="50406" y="0"/>
                  </a:lnTo>
                  <a:close/>
                </a:path>
              </a:pathLst>
            </a:custGeom>
            <a:solidFill>
              <a:srgbClr val="C3862D">
                <a:alpha val="87998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15038" y="524987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0" y="50050"/>
                  </a:moveTo>
                  <a:lnTo>
                    <a:pt x="410" y="43527"/>
                  </a:lnTo>
                  <a:lnTo>
                    <a:pt x="1665" y="37041"/>
                  </a:lnTo>
                  <a:lnTo>
                    <a:pt x="25196" y="6489"/>
                  </a:lnTo>
                  <a:lnTo>
                    <a:pt x="50406" y="0"/>
                  </a:lnTo>
                  <a:lnTo>
                    <a:pt x="89972" y="19393"/>
                  </a:lnTo>
                  <a:lnTo>
                    <a:pt x="100444" y="50050"/>
                  </a:lnTo>
                  <a:lnTo>
                    <a:pt x="100033" y="56568"/>
                  </a:lnTo>
                  <a:lnTo>
                    <a:pt x="98779" y="63053"/>
                  </a:lnTo>
                  <a:lnTo>
                    <a:pt x="75234" y="93599"/>
                  </a:lnTo>
                  <a:lnTo>
                    <a:pt x="50406" y="100444"/>
                  </a:lnTo>
                  <a:lnTo>
                    <a:pt x="14806" y="85637"/>
                  </a:lnTo>
                  <a:lnTo>
                    <a:pt x="410" y="56568"/>
                  </a:lnTo>
                  <a:lnTo>
                    <a:pt x="0" y="50050"/>
                  </a:lnTo>
                  <a:close/>
                </a:path>
              </a:pathLst>
            </a:custGeom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32114" y="4600798"/>
              <a:ext cx="105484" cy="10548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61997" y="3057837"/>
              <a:ext cx="105484" cy="105484"/>
            </a:xfrm>
            <a:prstGeom prst="rect">
              <a:avLst/>
            </a:prstGeom>
            <a:ln>
              <a:noFill/>
            </a:ln>
          </p:spPr>
        </p:pic>
        <p:sp>
          <p:nvSpPr>
            <p:cNvPr id="24" name="object 24"/>
            <p:cNvSpPr/>
            <p:nvPr/>
          </p:nvSpPr>
          <p:spPr>
            <a:xfrm>
              <a:off x="5434202" y="5180761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50393" y="0"/>
                  </a:moveTo>
                  <a:lnTo>
                    <a:pt x="14805" y="14439"/>
                  </a:lnTo>
                  <a:lnTo>
                    <a:pt x="0" y="50038"/>
                  </a:lnTo>
                  <a:lnTo>
                    <a:pt x="410" y="56555"/>
                  </a:lnTo>
                  <a:lnTo>
                    <a:pt x="19748" y="89972"/>
                  </a:lnTo>
                  <a:lnTo>
                    <a:pt x="50393" y="100444"/>
                  </a:lnTo>
                  <a:lnTo>
                    <a:pt x="56861" y="99981"/>
                  </a:lnTo>
                  <a:lnTo>
                    <a:pt x="89970" y="80690"/>
                  </a:lnTo>
                  <a:lnTo>
                    <a:pt x="100431" y="50038"/>
                  </a:lnTo>
                  <a:lnTo>
                    <a:pt x="100021" y="43520"/>
                  </a:lnTo>
                  <a:lnTo>
                    <a:pt x="80684" y="10103"/>
                  </a:lnTo>
                  <a:lnTo>
                    <a:pt x="50393" y="0"/>
                  </a:lnTo>
                  <a:close/>
                </a:path>
              </a:pathLst>
            </a:custGeom>
            <a:solidFill>
              <a:srgbClr val="C3862D">
                <a:alpha val="87998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34202" y="5180761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0" y="50038"/>
                  </a:moveTo>
                  <a:lnTo>
                    <a:pt x="410" y="43520"/>
                  </a:lnTo>
                  <a:lnTo>
                    <a:pt x="1663" y="37034"/>
                  </a:lnTo>
                  <a:lnTo>
                    <a:pt x="25196" y="6477"/>
                  </a:lnTo>
                  <a:lnTo>
                    <a:pt x="50393" y="0"/>
                  </a:lnTo>
                  <a:lnTo>
                    <a:pt x="89970" y="19385"/>
                  </a:lnTo>
                  <a:lnTo>
                    <a:pt x="100431" y="50038"/>
                  </a:lnTo>
                  <a:lnTo>
                    <a:pt x="100021" y="56555"/>
                  </a:lnTo>
                  <a:lnTo>
                    <a:pt x="98767" y="63041"/>
                  </a:lnTo>
                  <a:lnTo>
                    <a:pt x="75234" y="93599"/>
                  </a:lnTo>
                  <a:lnTo>
                    <a:pt x="50393" y="100444"/>
                  </a:lnTo>
                  <a:lnTo>
                    <a:pt x="14805" y="85636"/>
                  </a:lnTo>
                  <a:lnTo>
                    <a:pt x="410" y="56555"/>
                  </a:lnTo>
                  <a:lnTo>
                    <a:pt x="0" y="50038"/>
                  </a:lnTo>
                  <a:close/>
                </a:path>
              </a:pathLst>
            </a:custGeom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40716" y="3401638"/>
              <a:ext cx="1037519" cy="8074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7" name="object 27"/>
            <p:cNvSpPr/>
            <p:nvPr/>
          </p:nvSpPr>
          <p:spPr>
            <a:xfrm>
              <a:off x="5483885" y="5012639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50393" y="0"/>
                  </a:moveTo>
                  <a:lnTo>
                    <a:pt x="14800" y="14444"/>
                  </a:lnTo>
                  <a:lnTo>
                    <a:pt x="0" y="50037"/>
                  </a:lnTo>
                  <a:lnTo>
                    <a:pt x="410" y="56561"/>
                  </a:lnTo>
                  <a:lnTo>
                    <a:pt x="19746" y="89972"/>
                  </a:lnTo>
                  <a:lnTo>
                    <a:pt x="50393" y="100444"/>
                  </a:lnTo>
                  <a:lnTo>
                    <a:pt x="56855" y="99981"/>
                  </a:lnTo>
                  <a:lnTo>
                    <a:pt x="89965" y="80690"/>
                  </a:lnTo>
                  <a:lnTo>
                    <a:pt x="100431" y="50037"/>
                  </a:lnTo>
                  <a:lnTo>
                    <a:pt x="100021" y="43520"/>
                  </a:lnTo>
                  <a:lnTo>
                    <a:pt x="80683" y="10105"/>
                  </a:lnTo>
                  <a:lnTo>
                    <a:pt x="50393" y="0"/>
                  </a:lnTo>
                  <a:close/>
                </a:path>
              </a:pathLst>
            </a:custGeom>
            <a:solidFill>
              <a:srgbClr val="C3862D">
                <a:alpha val="87998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83885" y="5012639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0" y="50037"/>
                  </a:moveTo>
                  <a:lnTo>
                    <a:pt x="410" y="43520"/>
                  </a:lnTo>
                  <a:lnTo>
                    <a:pt x="1663" y="37034"/>
                  </a:lnTo>
                  <a:lnTo>
                    <a:pt x="25196" y="6476"/>
                  </a:lnTo>
                  <a:lnTo>
                    <a:pt x="50393" y="0"/>
                  </a:lnTo>
                  <a:lnTo>
                    <a:pt x="89965" y="19391"/>
                  </a:lnTo>
                  <a:lnTo>
                    <a:pt x="100431" y="50037"/>
                  </a:lnTo>
                  <a:lnTo>
                    <a:pt x="100021" y="56561"/>
                  </a:lnTo>
                  <a:lnTo>
                    <a:pt x="98767" y="63045"/>
                  </a:lnTo>
                  <a:lnTo>
                    <a:pt x="75234" y="93598"/>
                  </a:lnTo>
                  <a:lnTo>
                    <a:pt x="50393" y="100444"/>
                  </a:lnTo>
                  <a:lnTo>
                    <a:pt x="14800" y="85636"/>
                  </a:lnTo>
                  <a:lnTo>
                    <a:pt x="410" y="56561"/>
                  </a:lnTo>
                  <a:lnTo>
                    <a:pt x="0" y="50037"/>
                  </a:lnTo>
                  <a:close/>
                </a:path>
              </a:pathLst>
            </a:custGeom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23560" y="4336199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50406" y="0"/>
                  </a:moveTo>
                  <a:lnTo>
                    <a:pt x="14806" y="14444"/>
                  </a:lnTo>
                  <a:lnTo>
                    <a:pt x="0" y="50037"/>
                  </a:lnTo>
                  <a:lnTo>
                    <a:pt x="410" y="56561"/>
                  </a:lnTo>
                  <a:lnTo>
                    <a:pt x="19748" y="89972"/>
                  </a:lnTo>
                  <a:lnTo>
                    <a:pt x="50406" y="100444"/>
                  </a:lnTo>
                  <a:lnTo>
                    <a:pt x="56866" y="99981"/>
                  </a:lnTo>
                  <a:lnTo>
                    <a:pt x="89972" y="80690"/>
                  </a:lnTo>
                  <a:lnTo>
                    <a:pt x="100444" y="50037"/>
                  </a:lnTo>
                  <a:lnTo>
                    <a:pt x="100033" y="43520"/>
                  </a:lnTo>
                  <a:lnTo>
                    <a:pt x="80690" y="10105"/>
                  </a:lnTo>
                  <a:lnTo>
                    <a:pt x="50406" y="0"/>
                  </a:lnTo>
                  <a:close/>
                </a:path>
              </a:pathLst>
            </a:custGeom>
            <a:solidFill>
              <a:srgbClr val="C3862D">
                <a:alpha val="87998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23560" y="4336199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0" y="50037"/>
                  </a:moveTo>
                  <a:lnTo>
                    <a:pt x="410" y="43520"/>
                  </a:lnTo>
                  <a:lnTo>
                    <a:pt x="1665" y="37034"/>
                  </a:lnTo>
                  <a:lnTo>
                    <a:pt x="25196" y="6477"/>
                  </a:lnTo>
                  <a:lnTo>
                    <a:pt x="50406" y="0"/>
                  </a:lnTo>
                  <a:lnTo>
                    <a:pt x="89972" y="19391"/>
                  </a:lnTo>
                  <a:lnTo>
                    <a:pt x="100444" y="50037"/>
                  </a:lnTo>
                  <a:lnTo>
                    <a:pt x="100033" y="56561"/>
                  </a:lnTo>
                  <a:lnTo>
                    <a:pt x="98779" y="63045"/>
                  </a:lnTo>
                  <a:lnTo>
                    <a:pt x="75234" y="93599"/>
                  </a:lnTo>
                  <a:lnTo>
                    <a:pt x="50406" y="100444"/>
                  </a:lnTo>
                  <a:lnTo>
                    <a:pt x="14806" y="85636"/>
                  </a:lnTo>
                  <a:lnTo>
                    <a:pt x="410" y="56561"/>
                  </a:lnTo>
                  <a:lnTo>
                    <a:pt x="0" y="50037"/>
                  </a:lnTo>
                  <a:close/>
                </a:path>
              </a:pathLst>
            </a:custGeom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77479" y="4475881"/>
              <a:ext cx="105484" cy="10548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71281" y="2341798"/>
              <a:ext cx="105484" cy="105484"/>
            </a:xfrm>
            <a:prstGeom prst="rect">
              <a:avLst/>
            </a:prstGeom>
            <a:ln>
              <a:noFill/>
            </a:ln>
          </p:spPr>
        </p:pic>
        <p:sp>
          <p:nvSpPr>
            <p:cNvPr id="33" name="object 33"/>
            <p:cNvSpPr/>
            <p:nvPr/>
          </p:nvSpPr>
          <p:spPr>
            <a:xfrm>
              <a:off x="5507278" y="5024513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50406" y="0"/>
                  </a:moveTo>
                  <a:lnTo>
                    <a:pt x="14806" y="14451"/>
                  </a:lnTo>
                  <a:lnTo>
                    <a:pt x="0" y="50050"/>
                  </a:lnTo>
                  <a:lnTo>
                    <a:pt x="410" y="56568"/>
                  </a:lnTo>
                  <a:lnTo>
                    <a:pt x="19748" y="89977"/>
                  </a:lnTo>
                  <a:lnTo>
                    <a:pt x="50406" y="100444"/>
                  </a:lnTo>
                  <a:lnTo>
                    <a:pt x="56866" y="99983"/>
                  </a:lnTo>
                  <a:lnTo>
                    <a:pt x="89972" y="80695"/>
                  </a:lnTo>
                  <a:lnTo>
                    <a:pt x="100444" y="50050"/>
                  </a:lnTo>
                  <a:lnTo>
                    <a:pt x="100033" y="43527"/>
                  </a:lnTo>
                  <a:lnTo>
                    <a:pt x="80695" y="10116"/>
                  </a:lnTo>
                  <a:lnTo>
                    <a:pt x="50406" y="0"/>
                  </a:lnTo>
                  <a:close/>
                </a:path>
              </a:pathLst>
            </a:custGeom>
            <a:solidFill>
              <a:srgbClr val="C3862D">
                <a:alpha val="87998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07278" y="5024513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0" y="50050"/>
                  </a:moveTo>
                  <a:lnTo>
                    <a:pt x="410" y="43527"/>
                  </a:lnTo>
                  <a:lnTo>
                    <a:pt x="1665" y="37041"/>
                  </a:lnTo>
                  <a:lnTo>
                    <a:pt x="25196" y="6489"/>
                  </a:lnTo>
                  <a:lnTo>
                    <a:pt x="50406" y="0"/>
                  </a:lnTo>
                  <a:lnTo>
                    <a:pt x="89972" y="19393"/>
                  </a:lnTo>
                  <a:lnTo>
                    <a:pt x="100444" y="50050"/>
                  </a:lnTo>
                  <a:lnTo>
                    <a:pt x="100033" y="56568"/>
                  </a:lnTo>
                  <a:lnTo>
                    <a:pt x="98779" y="63053"/>
                  </a:lnTo>
                  <a:lnTo>
                    <a:pt x="75247" y="93611"/>
                  </a:lnTo>
                  <a:lnTo>
                    <a:pt x="50406" y="100444"/>
                  </a:lnTo>
                  <a:lnTo>
                    <a:pt x="14806" y="85639"/>
                  </a:lnTo>
                  <a:lnTo>
                    <a:pt x="410" y="56568"/>
                  </a:lnTo>
                  <a:lnTo>
                    <a:pt x="0" y="50050"/>
                  </a:lnTo>
                  <a:close/>
                </a:path>
              </a:pathLst>
            </a:custGeom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141" y="5592864"/>
            <a:ext cx="92710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141" y="4815624"/>
            <a:ext cx="92710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chemeClr val="tx1"/>
                </a:solidFill>
                <a:latin typeface="Arial"/>
                <a:cs typeface="Arial"/>
              </a:rPr>
              <a:t>5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7174" y="4038384"/>
            <a:ext cx="159385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25">
                <a:solidFill>
                  <a:schemeClr val="tx1"/>
                </a:solidFill>
                <a:latin typeface="Arial"/>
                <a:cs typeface="Arial"/>
              </a:rPr>
              <a:t>10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7174" y="3261143"/>
            <a:ext cx="159385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25">
                <a:solidFill>
                  <a:schemeClr val="tx1"/>
                </a:solidFill>
                <a:latin typeface="Arial"/>
                <a:cs typeface="Arial"/>
              </a:rPr>
              <a:t>15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7174" y="2483904"/>
            <a:ext cx="159385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25">
                <a:solidFill>
                  <a:schemeClr val="tx1"/>
                </a:solidFill>
                <a:latin typeface="Arial"/>
                <a:cs typeface="Arial"/>
              </a:rPr>
              <a:t>20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7174" y="1706664"/>
            <a:ext cx="159385" cy="15901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25">
                <a:solidFill>
                  <a:schemeClr val="tx1"/>
                </a:solidFill>
                <a:latin typeface="Arial"/>
                <a:cs typeface="Arial"/>
              </a:rPr>
              <a:t>25</a:t>
            </a:r>
            <a:endParaRPr lang="es-ES" sz="95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1270" y="3098460"/>
            <a:ext cx="256480" cy="80708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 marR="5080" indent="9525">
              <a:lnSpc>
                <a:spcPts val="980"/>
              </a:lnSpc>
              <a:spcBef>
                <a:spcPts val="130"/>
              </a:spcBef>
            </a:pPr>
            <a:r>
              <a:rPr lang="es-ES" sz="900">
                <a:solidFill>
                  <a:schemeClr val="tx1"/>
                </a:solidFill>
                <a:latin typeface="Arial"/>
                <a:cs typeface="Arial"/>
              </a:rPr>
              <a:t>Mediana</a:t>
            </a:r>
            <a:r>
              <a:rPr lang="es-ES" sz="900" spc="-20">
                <a:solidFill>
                  <a:schemeClr val="tx1"/>
                </a:solidFill>
                <a:latin typeface="Arial"/>
                <a:cs typeface="Arial"/>
              </a:rPr>
              <a:t> RH98 </a:t>
            </a:r>
            <a:r>
              <a:rPr lang="es-ES" sz="900">
                <a:solidFill>
                  <a:schemeClr val="tx1"/>
                </a:solidFill>
                <a:latin typeface="Arial"/>
                <a:cs typeface="Arial"/>
              </a:rPr>
              <a:t>por</a:t>
            </a:r>
            <a:r>
              <a:rPr lang="es-ES" sz="9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900">
                <a:solidFill>
                  <a:schemeClr val="tx1"/>
                </a:solidFill>
                <a:latin typeface="Arial"/>
                <a:cs typeface="Arial"/>
              </a:rPr>
              <a:t>gránulo</a:t>
            </a:r>
            <a:r>
              <a:rPr lang="es-ES" sz="9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ES" sz="900" spc="-25">
                <a:solidFill>
                  <a:schemeClr val="tx1"/>
                </a:solidFill>
                <a:latin typeface="Arial"/>
                <a:cs typeface="Arial"/>
              </a:rPr>
              <a:t>(m)</a:t>
            </a:r>
            <a:endParaRPr lang="es-ES" sz="9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17305" y="5830455"/>
            <a:ext cx="111442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50" b="1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r>
              <a:rPr lang="es-ES" sz="12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50" b="1">
                <a:solidFill>
                  <a:srgbClr val="1F2F28"/>
                </a:solidFill>
                <a:latin typeface="Arial"/>
                <a:cs typeface="Arial"/>
              </a:rPr>
              <a:t>·</a:t>
            </a:r>
            <a:r>
              <a:rPr lang="es-ES" sz="125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50" b="1" spc="-20">
                <a:solidFill>
                  <a:srgbClr val="1F2F28"/>
                </a:solidFill>
                <a:latin typeface="Arial"/>
                <a:cs typeface="Arial"/>
              </a:rPr>
              <a:t>n=20</a:t>
            </a:r>
            <a:endParaRPr lang="es-ES" sz="12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033416" y="5830455"/>
            <a:ext cx="105156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50" b="1">
                <a:solidFill>
                  <a:srgbClr val="1F2F28"/>
                </a:solidFill>
                <a:latin typeface="Arial"/>
                <a:cs typeface="Arial"/>
              </a:rPr>
              <a:t>Estepa</a:t>
            </a:r>
            <a:r>
              <a:rPr lang="es-ES" sz="125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50" b="1">
                <a:solidFill>
                  <a:srgbClr val="1F2F28"/>
                </a:solidFill>
                <a:latin typeface="Arial"/>
                <a:cs typeface="Arial"/>
              </a:rPr>
              <a:t>·</a:t>
            </a:r>
            <a:r>
              <a:rPr lang="es-ES" sz="125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50" b="1" spc="-20">
                <a:solidFill>
                  <a:srgbClr val="1F2F28"/>
                </a:solidFill>
                <a:latin typeface="Arial"/>
                <a:cs typeface="Arial"/>
              </a:rPr>
              <a:t>n=26</a:t>
            </a:r>
            <a:endParaRPr lang="es-ES" sz="12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813264" y="1348735"/>
            <a:ext cx="1710055" cy="1362710"/>
            <a:chOff x="7813264" y="1348735"/>
            <a:chExt cx="1710055" cy="136271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5" name="object 45"/>
            <p:cNvSpPr/>
            <p:nvPr/>
          </p:nvSpPr>
          <p:spPr>
            <a:xfrm>
              <a:off x="7817764" y="1353235"/>
              <a:ext cx="1701164" cy="1353820"/>
            </a:xfrm>
            <a:custGeom>
              <a:avLst/>
              <a:gdLst/>
              <a:ahLst/>
              <a:cxnLst/>
              <a:rect l="l" t="t" r="r" b="b"/>
              <a:pathLst>
                <a:path w="1701165" h="1353820">
                  <a:moveTo>
                    <a:pt x="16272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0160"/>
                  </a:lnTo>
                  <a:lnTo>
                    <a:pt x="594" y="1289438"/>
                  </a:lnTo>
                  <a:lnTo>
                    <a:pt x="607" y="1289638"/>
                  </a:lnTo>
                  <a:lnTo>
                    <a:pt x="2394" y="1298838"/>
                  </a:lnTo>
                  <a:lnTo>
                    <a:pt x="2428" y="1299016"/>
                  </a:lnTo>
                  <a:lnTo>
                    <a:pt x="5412" y="1307900"/>
                  </a:lnTo>
                  <a:lnTo>
                    <a:pt x="5464" y="1308056"/>
                  </a:lnTo>
                  <a:lnTo>
                    <a:pt x="36360" y="1343520"/>
                  </a:lnTo>
                  <a:lnTo>
                    <a:pt x="73075" y="1353248"/>
                  </a:lnTo>
                  <a:lnTo>
                    <a:pt x="1627555" y="1352880"/>
                  </a:lnTo>
                  <a:lnTo>
                    <a:pt x="1671933" y="1337788"/>
                  </a:lnTo>
                  <a:lnTo>
                    <a:pt x="1698143" y="1299016"/>
                  </a:lnTo>
                  <a:lnTo>
                    <a:pt x="1699985" y="1289638"/>
                  </a:lnTo>
                  <a:lnTo>
                    <a:pt x="1700024" y="1289438"/>
                  </a:lnTo>
                  <a:lnTo>
                    <a:pt x="1700609" y="1280160"/>
                  </a:lnTo>
                  <a:lnTo>
                    <a:pt x="1700631" y="1279804"/>
                  </a:lnTo>
                  <a:lnTo>
                    <a:pt x="1700276" y="73088"/>
                  </a:lnTo>
                  <a:lnTo>
                    <a:pt x="1685177" y="28710"/>
                  </a:lnTo>
                  <a:lnTo>
                    <a:pt x="1646229" y="2430"/>
                  </a:lnTo>
                  <a:lnTo>
                    <a:pt x="1636832" y="607"/>
                  </a:lnTo>
                  <a:lnTo>
                    <a:pt x="16272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817764" y="1353235"/>
              <a:ext cx="1701164" cy="1353820"/>
            </a:xfrm>
            <a:custGeom>
              <a:avLst/>
              <a:gdLst/>
              <a:ahLst/>
              <a:cxnLst/>
              <a:rect l="l" t="t" r="r" b="b"/>
              <a:pathLst>
                <a:path w="1701165" h="13538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1627200" y="0"/>
                  </a:lnTo>
                  <a:lnTo>
                    <a:pt x="1671720" y="15109"/>
                  </a:lnTo>
                  <a:lnTo>
                    <a:pt x="1697847" y="54232"/>
                  </a:lnTo>
                  <a:lnTo>
                    <a:pt x="1700276" y="73088"/>
                  </a:lnTo>
                  <a:lnTo>
                    <a:pt x="1700631" y="1279804"/>
                  </a:lnTo>
                  <a:lnTo>
                    <a:pt x="1700024" y="1289438"/>
                  </a:lnTo>
                  <a:lnTo>
                    <a:pt x="1698202" y="1298838"/>
                  </a:lnTo>
                  <a:lnTo>
                    <a:pt x="1671933" y="1337788"/>
                  </a:lnTo>
                  <a:lnTo>
                    <a:pt x="1627555" y="1352880"/>
                  </a:lnTo>
                  <a:lnTo>
                    <a:pt x="73075" y="1353248"/>
                  </a:lnTo>
                  <a:lnTo>
                    <a:pt x="28548" y="1338138"/>
                  </a:lnTo>
                  <a:lnTo>
                    <a:pt x="2428" y="1299016"/>
                  </a:lnTo>
                  <a:lnTo>
                    <a:pt x="0" y="1280160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18119" y="1353235"/>
              <a:ext cx="73025" cy="1353185"/>
            </a:xfrm>
            <a:custGeom>
              <a:avLst/>
              <a:gdLst/>
              <a:ahLst/>
              <a:cxnLst/>
              <a:rect l="l" t="t" r="r" b="b"/>
              <a:pathLst>
                <a:path w="73025" h="1353185">
                  <a:moveTo>
                    <a:pt x="72720" y="0"/>
                  </a:moveTo>
                  <a:lnTo>
                    <a:pt x="0" y="0"/>
                  </a:lnTo>
                  <a:lnTo>
                    <a:pt x="0" y="1352880"/>
                  </a:lnTo>
                  <a:lnTo>
                    <a:pt x="36360" y="1352880"/>
                  </a:lnTo>
                  <a:lnTo>
                    <a:pt x="72720" y="13528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052016" y="1467980"/>
            <a:ext cx="1197610" cy="1499243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>
                <a:solidFill>
                  <a:srgbClr val="1D4938"/>
                </a:solidFill>
                <a:latin typeface="Arial"/>
                <a:cs typeface="Arial"/>
              </a:rPr>
              <a:t>+3,75</a:t>
            </a:r>
            <a:r>
              <a:rPr lang="es-ES" sz="250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2500" b="1" spc="-50">
                <a:solidFill>
                  <a:srgbClr val="1D4938"/>
                </a:solidFill>
                <a:latin typeface="Arial"/>
                <a:cs typeface="Arial"/>
              </a:rPr>
              <a:t>m</a:t>
            </a:r>
            <a:endParaRPr lang="es-ES" sz="2500">
              <a:latin typeface="Arial"/>
              <a:cs typeface="Arial"/>
            </a:endParaRPr>
          </a:p>
          <a:p>
            <a:pPr marL="12700" marR="20320">
              <a:lnSpc>
                <a:spcPts val="1600"/>
              </a:lnSpc>
              <a:spcBef>
                <a:spcPts val="188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ES" sz="145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25">
                <a:solidFill>
                  <a:srgbClr val="1F2F28"/>
                </a:solidFill>
                <a:latin typeface="Arial"/>
                <a:cs typeface="Arial"/>
              </a:rPr>
              <a:t>de </a:t>
            </a: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medianas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779224" y="1348735"/>
            <a:ext cx="1710055" cy="1362710"/>
            <a:chOff x="9779224" y="1348735"/>
            <a:chExt cx="1710055" cy="136271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0" name="object 50"/>
            <p:cNvSpPr/>
            <p:nvPr/>
          </p:nvSpPr>
          <p:spPr>
            <a:xfrm>
              <a:off x="9783724" y="1353235"/>
              <a:ext cx="1701164" cy="1353820"/>
            </a:xfrm>
            <a:custGeom>
              <a:avLst/>
              <a:gdLst/>
              <a:ahLst/>
              <a:cxnLst/>
              <a:rect l="l" t="t" r="r" b="b"/>
              <a:pathLst>
                <a:path w="1701165" h="1353820">
                  <a:moveTo>
                    <a:pt x="16272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0160"/>
                  </a:lnTo>
                  <a:lnTo>
                    <a:pt x="594" y="1289438"/>
                  </a:lnTo>
                  <a:lnTo>
                    <a:pt x="607" y="1289638"/>
                  </a:lnTo>
                  <a:lnTo>
                    <a:pt x="2394" y="1298838"/>
                  </a:lnTo>
                  <a:lnTo>
                    <a:pt x="2428" y="1299016"/>
                  </a:lnTo>
                  <a:lnTo>
                    <a:pt x="5412" y="1307900"/>
                  </a:lnTo>
                  <a:lnTo>
                    <a:pt x="5464" y="1308056"/>
                  </a:lnTo>
                  <a:lnTo>
                    <a:pt x="36360" y="1343520"/>
                  </a:lnTo>
                  <a:lnTo>
                    <a:pt x="73075" y="1353248"/>
                  </a:lnTo>
                  <a:lnTo>
                    <a:pt x="1627555" y="1352880"/>
                  </a:lnTo>
                  <a:lnTo>
                    <a:pt x="1671933" y="1337788"/>
                  </a:lnTo>
                  <a:lnTo>
                    <a:pt x="1698143" y="1299016"/>
                  </a:lnTo>
                  <a:lnTo>
                    <a:pt x="1699985" y="1289638"/>
                  </a:lnTo>
                  <a:lnTo>
                    <a:pt x="1700024" y="1289438"/>
                  </a:lnTo>
                  <a:lnTo>
                    <a:pt x="1700609" y="1280160"/>
                  </a:lnTo>
                  <a:lnTo>
                    <a:pt x="1700631" y="1279804"/>
                  </a:lnTo>
                  <a:lnTo>
                    <a:pt x="1700276" y="73088"/>
                  </a:lnTo>
                  <a:lnTo>
                    <a:pt x="1685177" y="28710"/>
                  </a:lnTo>
                  <a:lnTo>
                    <a:pt x="1646229" y="2430"/>
                  </a:lnTo>
                  <a:lnTo>
                    <a:pt x="1636832" y="607"/>
                  </a:lnTo>
                  <a:lnTo>
                    <a:pt x="16272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783724" y="1353235"/>
              <a:ext cx="1701164" cy="1353820"/>
            </a:xfrm>
            <a:custGeom>
              <a:avLst/>
              <a:gdLst/>
              <a:ahLst/>
              <a:cxnLst/>
              <a:rect l="l" t="t" r="r" b="b"/>
              <a:pathLst>
                <a:path w="1701165" h="13538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1627200" y="0"/>
                  </a:lnTo>
                  <a:lnTo>
                    <a:pt x="1671720" y="15109"/>
                  </a:lnTo>
                  <a:lnTo>
                    <a:pt x="1697847" y="54232"/>
                  </a:lnTo>
                  <a:lnTo>
                    <a:pt x="1700276" y="73088"/>
                  </a:lnTo>
                  <a:lnTo>
                    <a:pt x="1700631" y="1279804"/>
                  </a:lnTo>
                  <a:lnTo>
                    <a:pt x="1700024" y="1289438"/>
                  </a:lnTo>
                  <a:lnTo>
                    <a:pt x="1698202" y="1298838"/>
                  </a:lnTo>
                  <a:lnTo>
                    <a:pt x="1671933" y="1337788"/>
                  </a:lnTo>
                  <a:lnTo>
                    <a:pt x="1627555" y="1352880"/>
                  </a:lnTo>
                  <a:lnTo>
                    <a:pt x="73075" y="1353248"/>
                  </a:lnTo>
                  <a:lnTo>
                    <a:pt x="28548" y="1338138"/>
                  </a:lnTo>
                  <a:lnTo>
                    <a:pt x="2428" y="1299016"/>
                  </a:lnTo>
                  <a:lnTo>
                    <a:pt x="0" y="1280160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784080" y="1353235"/>
              <a:ext cx="73025" cy="1353185"/>
            </a:xfrm>
            <a:custGeom>
              <a:avLst/>
              <a:gdLst/>
              <a:ahLst/>
              <a:cxnLst/>
              <a:rect l="l" t="t" r="r" b="b"/>
              <a:pathLst>
                <a:path w="73025" h="1353185">
                  <a:moveTo>
                    <a:pt x="72720" y="0"/>
                  </a:moveTo>
                  <a:lnTo>
                    <a:pt x="0" y="0"/>
                  </a:lnTo>
                  <a:lnTo>
                    <a:pt x="0" y="1352880"/>
                  </a:lnTo>
                  <a:lnTo>
                    <a:pt x="36360" y="1352880"/>
                  </a:lnTo>
                  <a:lnTo>
                    <a:pt x="72720" y="13528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E6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0017976" y="1468335"/>
            <a:ext cx="1257935" cy="1498888"/>
          </a:xfrm>
          <a:prstGeom prst="rect">
            <a:avLst/>
          </a:prstGeom>
        </p:spPr>
        <p:txBody>
          <a:bodyPr vert="horz" wrap="square" lIns="0" tIns="1206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300" b="1" spc="-10">
                <a:solidFill>
                  <a:srgbClr val="2E6E9D"/>
                </a:solidFill>
                <a:latin typeface="Arial"/>
                <a:cs typeface="Arial"/>
              </a:rPr>
              <a:t>2,58-</a:t>
            </a:r>
            <a:r>
              <a:rPr lang="es-ES" sz="2300" b="1" spc="-20">
                <a:solidFill>
                  <a:srgbClr val="2E6E9D"/>
                </a:solidFill>
                <a:latin typeface="Arial"/>
                <a:cs typeface="Arial"/>
              </a:rPr>
              <a:t>6,07</a:t>
            </a:r>
            <a:endParaRPr lang="es-ES" sz="2300">
              <a:latin typeface="Arial"/>
              <a:cs typeface="Arial"/>
            </a:endParaRPr>
          </a:p>
          <a:p>
            <a:pPr marL="12700">
              <a:lnSpc>
                <a:spcPts val="1670"/>
              </a:lnSpc>
              <a:spcBef>
                <a:spcPts val="1955"/>
              </a:spcBef>
            </a:pP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IC95%</a:t>
            </a:r>
            <a:endParaRPr lang="es-ES" sz="1450">
              <a:latin typeface="Arial"/>
              <a:cs typeface="Arial"/>
            </a:endParaRPr>
          </a:p>
          <a:p>
            <a:pPr marL="12700">
              <a:lnSpc>
                <a:spcPts val="1670"/>
              </a:lnSpc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bootstrap</a:t>
            </a:r>
            <a:r>
              <a:rPr lang="es-ES" sz="145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25">
                <a:solidFill>
                  <a:srgbClr val="1F2F28"/>
                </a:solidFill>
                <a:latin typeface="Arial"/>
                <a:cs typeface="Arial"/>
              </a:rPr>
              <a:t>(m)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813264" y="2994655"/>
            <a:ext cx="1710055" cy="1362710"/>
            <a:chOff x="7813264" y="2994655"/>
            <a:chExt cx="1710055" cy="136271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5" name="object 55"/>
            <p:cNvSpPr/>
            <p:nvPr/>
          </p:nvSpPr>
          <p:spPr>
            <a:xfrm>
              <a:off x="7817764" y="2999155"/>
              <a:ext cx="1701164" cy="1353820"/>
            </a:xfrm>
            <a:custGeom>
              <a:avLst/>
              <a:gdLst/>
              <a:ahLst/>
              <a:cxnLst/>
              <a:rect l="l" t="t" r="r" b="b"/>
              <a:pathLst>
                <a:path w="1701165" h="1353820">
                  <a:moveTo>
                    <a:pt x="16272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0160"/>
                  </a:lnTo>
                  <a:lnTo>
                    <a:pt x="594" y="1289438"/>
                  </a:lnTo>
                  <a:lnTo>
                    <a:pt x="607" y="1289638"/>
                  </a:lnTo>
                  <a:lnTo>
                    <a:pt x="2394" y="1298838"/>
                  </a:lnTo>
                  <a:lnTo>
                    <a:pt x="2428" y="1299016"/>
                  </a:lnTo>
                  <a:lnTo>
                    <a:pt x="5412" y="1307900"/>
                  </a:lnTo>
                  <a:lnTo>
                    <a:pt x="5464" y="1308056"/>
                  </a:lnTo>
                  <a:lnTo>
                    <a:pt x="36360" y="1343520"/>
                  </a:lnTo>
                  <a:lnTo>
                    <a:pt x="73075" y="1353248"/>
                  </a:lnTo>
                  <a:lnTo>
                    <a:pt x="1627555" y="1352880"/>
                  </a:lnTo>
                  <a:lnTo>
                    <a:pt x="1671933" y="1337788"/>
                  </a:lnTo>
                  <a:lnTo>
                    <a:pt x="1698143" y="1299016"/>
                  </a:lnTo>
                  <a:lnTo>
                    <a:pt x="1700609" y="1280160"/>
                  </a:lnTo>
                  <a:lnTo>
                    <a:pt x="1700631" y="1279804"/>
                  </a:lnTo>
                  <a:lnTo>
                    <a:pt x="1700276" y="73088"/>
                  </a:lnTo>
                  <a:lnTo>
                    <a:pt x="1685177" y="28710"/>
                  </a:lnTo>
                  <a:lnTo>
                    <a:pt x="1646229" y="2430"/>
                  </a:lnTo>
                  <a:lnTo>
                    <a:pt x="1636832" y="607"/>
                  </a:lnTo>
                  <a:lnTo>
                    <a:pt x="16272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817764" y="2999155"/>
              <a:ext cx="1701164" cy="1353820"/>
            </a:xfrm>
            <a:custGeom>
              <a:avLst/>
              <a:gdLst/>
              <a:ahLst/>
              <a:cxnLst/>
              <a:rect l="l" t="t" r="r" b="b"/>
              <a:pathLst>
                <a:path w="1701165" h="13538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1627200" y="0"/>
                  </a:lnTo>
                  <a:lnTo>
                    <a:pt x="1671720" y="15109"/>
                  </a:lnTo>
                  <a:lnTo>
                    <a:pt x="1697847" y="54232"/>
                  </a:lnTo>
                  <a:lnTo>
                    <a:pt x="1700276" y="73088"/>
                  </a:lnTo>
                  <a:lnTo>
                    <a:pt x="1700631" y="1279804"/>
                  </a:lnTo>
                  <a:lnTo>
                    <a:pt x="1700024" y="1289438"/>
                  </a:lnTo>
                  <a:lnTo>
                    <a:pt x="1698202" y="1298838"/>
                  </a:lnTo>
                  <a:lnTo>
                    <a:pt x="1671933" y="1337788"/>
                  </a:lnTo>
                  <a:lnTo>
                    <a:pt x="1627555" y="1352880"/>
                  </a:lnTo>
                  <a:lnTo>
                    <a:pt x="73075" y="1353248"/>
                  </a:lnTo>
                  <a:lnTo>
                    <a:pt x="28548" y="1338138"/>
                  </a:lnTo>
                  <a:lnTo>
                    <a:pt x="2428" y="1299016"/>
                  </a:lnTo>
                  <a:lnTo>
                    <a:pt x="0" y="1280160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818119" y="2999155"/>
              <a:ext cx="73025" cy="1353185"/>
            </a:xfrm>
            <a:custGeom>
              <a:avLst/>
              <a:gdLst/>
              <a:ahLst/>
              <a:cxnLst/>
              <a:rect l="l" t="t" r="r" b="b"/>
              <a:pathLst>
                <a:path w="73025" h="1353185">
                  <a:moveTo>
                    <a:pt x="72720" y="0"/>
                  </a:moveTo>
                  <a:lnTo>
                    <a:pt x="0" y="0"/>
                  </a:lnTo>
                  <a:lnTo>
                    <a:pt x="0" y="1352880"/>
                  </a:lnTo>
                  <a:lnTo>
                    <a:pt x="36360" y="1352880"/>
                  </a:lnTo>
                  <a:lnTo>
                    <a:pt x="72720" y="13528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8052016" y="3113900"/>
            <a:ext cx="1149985" cy="1003249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20">
                <a:solidFill>
                  <a:srgbClr val="C3862D"/>
                </a:solidFill>
                <a:latin typeface="Arial"/>
                <a:cs typeface="Arial"/>
              </a:rPr>
              <a:t>0,68</a:t>
            </a:r>
            <a:endParaRPr lang="es-ES"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delta</a:t>
            </a:r>
            <a:r>
              <a:rPr lang="es-ES" sz="1450" b="1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ES" sz="1450" b="1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20">
                <a:solidFill>
                  <a:srgbClr val="1F2F28"/>
                </a:solidFill>
                <a:latin typeface="Arial"/>
                <a:cs typeface="Arial"/>
              </a:rPr>
              <a:t>Cliff</a:t>
            </a:r>
            <a:endParaRPr lang="es-ES" sz="14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052016" y="3961244"/>
            <a:ext cx="4914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>
                <a:solidFill>
                  <a:srgbClr val="64726B"/>
                </a:solidFill>
                <a:latin typeface="Arial"/>
                <a:cs typeface="Arial"/>
              </a:rPr>
              <a:t>efecto</a:t>
            </a:r>
            <a:r>
              <a:rPr lang="es-ES" sz="1200" spc="-3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64726B"/>
                </a:solidFill>
                <a:latin typeface="Arial"/>
                <a:cs typeface="Arial"/>
              </a:rPr>
              <a:t>grande</a:t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779224" y="2994655"/>
            <a:ext cx="1710055" cy="1362710"/>
            <a:chOff x="9779224" y="2994655"/>
            <a:chExt cx="1710055" cy="136271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1" name="object 61"/>
            <p:cNvSpPr/>
            <p:nvPr/>
          </p:nvSpPr>
          <p:spPr>
            <a:xfrm>
              <a:off x="9783724" y="2999155"/>
              <a:ext cx="1701164" cy="1353820"/>
            </a:xfrm>
            <a:custGeom>
              <a:avLst/>
              <a:gdLst/>
              <a:ahLst/>
              <a:cxnLst/>
              <a:rect l="l" t="t" r="r" b="b"/>
              <a:pathLst>
                <a:path w="1701165" h="1353820">
                  <a:moveTo>
                    <a:pt x="16272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80160"/>
                  </a:lnTo>
                  <a:lnTo>
                    <a:pt x="594" y="1289438"/>
                  </a:lnTo>
                  <a:lnTo>
                    <a:pt x="607" y="1289638"/>
                  </a:lnTo>
                  <a:lnTo>
                    <a:pt x="2394" y="1298838"/>
                  </a:lnTo>
                  <a:lnTo>
                    <a:pt x="2428" y="1299016"/>
                  </a:lnTo>
                  <a:lnTo>
                    <a:pt x="5412" y="1307900"/>
                  </a:lnTo>
                  <a:lnTo>
                    <a:pt x="5464" y="1308056"/>
                  </a:lnTo>
                  <a:lnTo>
                    <a:pt x="36360" y="1343520"/>
                  </a:lnTo>
                  <a:lnTo>
                    <a:pt x="73075" y="1353248"/>
                  </a:lnTo>
                  <a:lnTo>
                    <a:pt x="1627555" y="1352880"/>
                  </a:lnTo>
                  <a:lnTo>
                    <a:pt x="1671933" y="1337788"/>
                  </a:lnTo>
                  <a:lnTo>
                    <a:pt x="1698143" y="1299016"/>
                  </a:lnTo>
                  <a:lnTo>
                    <a:pt x="1700609" y="1280160"/>
                  </a:lnTo>
                  <a:lnTo>
                    <a:pt x="1700631" y="1279804"/>
                  </a:lnTo>
                  <a:lnTo>
                    <a:pt x="1700276" y="73088"/>
                  </a:lnTo>
                  <a:lnTo>
                    <a:pt x="1685177" y="28710"/>
                  </a:lnTo>
                  <a:lnTo>
                    <a:pt x="1646229" y="2430"/>
                  </a:lnTo>
                  <a:lnTo>
                    <a:pt x="1636832" y="607"/>
                  </a:lnTo>
                  <a:lnTo>
                    <a:pt x="162720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783724" y="2999155"/>
              <a:ext cx="1701164" cy="1353820"/>
            </a:xfrm>
            <a:custGeom>
              <a:avLst/>
              <a:gdLst/>
              <a:ahLst/>
              <a:cxnLst/>
              <a:rect l="l" t="t" r="r" b="b"/>
              <a:pathLst>
                <a:path w="1701165" h="13538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1627200" y="0"/>
                  </a:lnTo>
                  <a:lnTo>
                    <a:pt x="1671720" y="15109"/>
                  </a:lnTo>
                  <a:lnTo>
                    <a:pt x="1697847" y="54232"/>
                  </a:lnTo>
                  <a:lnTo>
                    <a:pt x="1700276" y="73088"/>
                  </a:lnTo>
                  <a:lnTo>
                    <a:pt x="1700631" y="1279804"/>
                  </a:lnTo>
                  <a:lnTo>
                    <a:pt x="1700024" y="1289438"/>
                  </a:lnTo>
                  <a:lnTo>
                    <a:pt x="1698202" y="1298838"/>
                  </a:lnTo>
                  <a:lnTo>
                    <a:pt x="1671933" y="1337788"/>
                  </a:lnTo>
                  <a:lnTo>
                    <a:pt x="1627555" y="1352880"/>
                  </a:lnTo>
                  <a:lnTo>
                    <a:pt x="73075" y="1353248"/>
                  </a:lnTo>
                  <a:lnTo>
                    <a:pt x="28548" y="1338138"/>
                  </a:lnTo>
                  <a:lnTo>
                    <a:pt x="2428" y="1299016"/>
                  </a:lnTo>
                  <a:lnTo>
                    <a:pt x="0" y="1280160"/>
                  </a:lnTo>
                  <a:lnTo>
                    <a:pt x="0" y="73088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784080" y="2999155"/>
              <a:ext cx="73025" cy="1353185"/>
            </a:xfrm>
            <a:custGeom>
              <a:avLst/>
              <a:gdLst/>
              <a:ahLst/>
              <a:cxnLst/>
              <a:rect l="l" t="t" r="r" b="b"/>
              <a:pathLst>
                <a:path w="73025" h="1353185">
                  <a:moveTo>
                    <a:pt x="72720" y="0"/>
                  </a:moveTo>
                  <a:lnTo>
                    <a:pt x="0" y="0"/>
                  </a:lnTo>
                  <a:lnTo>
                    <a:pt x="0" y="1352880"/>
                  </a:lnTo>
                  <a:lnTo>
                    <a:pt x="36360" y="1352880"/>
                  </a:lnTo>
                  <a:lnTo>
                    <a:pt x="72720" y="13528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0017976" y="3114255"/>
            <a:ext cx="1266825" cy="1048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300" b="1">
                <a:solidFill>
                  <a:srgbClr val="A8503B"/>
                </a:solidFill>
                <a:latin typeface="Arial"/>
                <a:cs typeface="Arial"/>
              </a:rPr>
              <a:t>p</a:t>
            </a:r>
            <a:r>
              <a:rPr lang="es-ES" sz="2300" b="1" spc="-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ES" sz="2300" b="1">
                <a:solidFill>
                  <a:srgbClr val="A8503B"/>
                </a:solidFill>
                <a:latin typeface="Arial"/>
                <a:cs typeface="Arial"/>
              </a:rPr>
              <a:t>&lt;</a:t>
            </a:r>
            <a:r>
              <a:rPr lang="es-ES" sz="2300" b="1" spc="-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ES" sz="2300" b="1" spc="-10">
                <a:solidFill>
                  <a:srgbClr val="A8503B"/>
                </a:solidFill>
                <a:latin typeface="Arial"/>
                <a:cs typeface="Arial"/>
              </a:rPr>
              <a:t>0,001</a:t>
            </a:r>
            <a:endParaRPr lang="es-ES" sz="2300">
              <a:latin typeface="Arial"/>
              <a:cs typeface="Arial"/>
            </a:endParaRPr>
          </a:p>
          <a:p>
            <a:pPr marL="12700" marR="516890">
              <a:lnSpc>
                <a:spcPts val="1600"/>
              </a:lnSpc>
              <a:spcBef>
                <a:spcPts val="2125"/>
              </a:spcBef>
            </a:pP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Mann-Whitney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813264" y="4749656"/>
            <a:ext cx="3676015" cy="887094"/>
            <a:chOff x="7813264" y="4749656"/>
            <a:chExt cx="3676015" cy="887094"/>
          </a:xfrm>
        </p:grpSpPr>
        <p:sp>
          <p:nvSpPr>
            <p:cNvPr id="66" name="object 66"/>
            <p:cNvSpPr/>
            <p:nvPr/>
          </p:nvSpPr>
          <p:spPr>
            <a:xfrm>
              <a:off x="7817764" y="4754156"/>
              <a:ext cx="3667125" cy="878205"/>
            </a:xfrm>
            <a:custGeom>
              <a:avLst/>
              <a:gdLst/>
              <a:ahLst/>
              <a:cxnLst/>
              <a:rect l="l" t="t" r="r" b="b"/>
              <a:pathLst>
                <a:path w="3667125" h="878204">
                  <a:moveTo>
                    <a:pt x="64439" y="0"/>
                  </a:moveTo>
                  <a:lnTo>
                    <a:pt x="25397" y="13364"/>
                  </a:lnTo>
                  <a:lnTo>
                    <a:pt x="2516" y="47520"/>
                  </a:lnTo>
                  <a:lnTo>
                    <a:pt x="0" y="813968"/>
                  </a:lnTo>
                  <a:lnTo>
                    <a:pt x="538" y="822310"/>
                  </a:lnTo>
                  <a:lnTo>
                    <a:pt x="18731" y="859186"/>
                  </a:lnTo>
                  <a:lnTo>
                    <a:pt x="18851" y="859324"/>
                  </a:lnTo>
                  <a:lnTo>
                    <a:pt x="55728" y="877501"/>
                  </a:lnTo>
                  <a:lnTo>
                    <a:pt x="64071" y="878039"/>
                  </a:lnTo>
                  <a:lnTo>
                    <a:pt x="3602875" y="878039"/>
                  </a:lnTo>
                  <a:lnTo>
                    <a:pt x="3641912" y="864682"/>
                  </a:lnTo>
                  <a:lnTo>
                    <a:pt x="3664797" y="830521"/>
                  </a:lnTo>
                  <a:lnTo>
                    <a:pt x="3666959" y="813968"/>
                  </a:lnTo>
                  <a:lnTo>
                    <a:pt x="3666936" y="64084"/>
                  </a:lnTo>
                  <a:lnTo>
                    <a:pt x="3653595" y="25402"/>
                  </a:lnTo>
                  <a:lnTo>
                    <a:pt x="3619434" y="2524"/>
                  </a:lnTo>
                  <a:lnTo>
                    <a:pt x="3602875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CE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817764" y="4754156"/>
              <a:ext cx="3667125" cy="878205"/>
            </a:xfrm>
            <a:custGeom>
              <a:avLst/>
              <a:gdLst/>
              <a:ahLst/>
              <a:cxnLst/>
              <a:rect l="l" t="t" r="r" b="b"/>
              <a:pathLst>
                <a:path w="3667125" h="878204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64"/>
                  </a:lnTo>
                  <a:lnTo>
                    <a:pt x="64439" y="0"/>
                  </a:lnTo>
                  <a:lnTo>
                    <a:pt x="3602875" y="368"/>
                  </a:lnTo>
                  <a:lnTo>
                    <a:pt x="3641862" y="13570"/>
                  </a:lnTo>
                  <a:lnTo>
                    <a:pt x="3664797" y="47885"/>
                  </a:lnTo>
                  <a:lnTo>
                    <a:pt x="3666959" y="64439"/>
                  </a:lnTo>
                  <a:lnTo>
                    <a:pt x="3666959" y="813968"/>
                  </a:lnTo>
                  <a:lnTo>
                    <a:pt x="3666419" y="822310"/>
                  </a:lnTo>
                  <a:lnTo>
                    <a:pt x="3664797" y="830521"/>
                  </a:lnTo>
                  <a:lnTo>
                    <a:pt x="3641912" y="864682"/>
                  </a:lnTo>
                  <a:lnTo>
                    <a:pt x="3602875" y="878039"/>
                  </a:lnTo>
                  <a:lnTo>
                    <a:pt x="64071" y="878039"/>
                  </a:lnTo>
                  <a:lnTo>
                    <a:pt x="25086" y="864837"/>
                  </a:lnTo>
                  <a:lnTo>
                    <a:pt x="2155" y="830521"/>
                  </a:lnTo>
                  <a:lnTo>
                    <a:pt x="0" y="813968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818119" y="4754524"/>
              <a:ext cx="82550" cy="877569"/>
            </a:xfrm>
            <a:custGeom>
              <a:avLst/>
              <a:gdLst/>
              <a:ahLst/>
              <a:cxnLst/>
              <a:rect l="l" t="t" r="r" b="b"/>
              <a:pathLst>
                <a:path w="82550" h="877570">
                  <a:moveTo>
                    <a:pt x="82080" y="0"/>
                  </a:moveTo>
                  <a:lnTo>
                    <a:pt x="0" y="0"/>
                  </a:lnTo>
                  <a:lnTo>
                    <a:pt x="0" y="877315"/>
                  </a:lnTo>
                  <a:lnTo>
                    <a:pt x="41033" y="877315"/>
                  </a:lnTo>
                  <a:lnTo>
                    <a:pt x="82080" y="877315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052384" y="4865662"/>
            <a:ext cx="3147060" cy="7181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400"/>
              </a:spcBef>
            </a:pP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3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 spc="-10">
                <a:solidFill>
                  <a:srgbClr val="1F2F28"/>
                </a:solidFill>
                <a:latin typeface="Arial"/>
                <a:cs typeface="Arial"/>
              </a:rPr>
              <a:t>conclusión</a:t>
            </a:r>
            <a:r>
              <a:rPr lang="es-MX" sz="13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es</a:t>
            </a:r>
            <a:r>
              <a:rPr lang="es-MX" sz="13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sólida</a:t>
            </a:r>
            <a:r>
              <a:rPr lang="es-MX" sz="13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para</a:t>
            </a:r>
            <a:r>
              <a:rPr lang="es-MX" sz="13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3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 spc="-10">
                <a:solidFill>
                  <a:srgbClr val="1F2F28"/>
                </a:solidFill>
                <a:latin typeface="Arial"/>
                <a:cs typeface="Arial"/>
              </a:rPr>
              <a:t>muestra operacional</a:t>
            </a:r>
            <a:r>
              <a:rPr lang="es-MX" sz="13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3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3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unidad</a:t>
            </a:r>
            <a:r>
              <a:rPr lang="es-MX" sz="13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gránulo:</a:t>
            </a:r>
            <a:r>
              <a:rPr lang="es-MX" sz="13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 spc="-20">
                <a:solidFill>
                  <a:srgbClr val="1F2F28"/>
                </a:solidFill>
                <a:latin typeface="Arial"/>
                <a:cs typeface="Arial"/>
              </a:rPr>
              <a:t>mayor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RH98</a:t>
            </a:r>
            <a:r>
              <a:rPr lang="es-MX" sz="130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30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Bosque.</a:t>
            </a:r>
            <a:r>
              <a:rPr lang="es-MX" sz="130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3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demuestra</a:t>
            </a:r>
            <a:r>
              <a:rPr lang="es-MX" sz="1300" b="1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una </a:t>
            </a:r>
            <a:r>
              <a:rPr lang="es-MX" sz="1300" b="1" spc="-10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MX" sz="13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universal</a:t>
            </a:r>
            <a:r>
              <a:rPr lang="es-MX" sz="13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ni</a:t>
            </a:r>
            <a:r>
              <a:rPr lang="es-MX" sz="13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 spc="-10">
                <a:solidFill>
                  <a:srgbClr val="1F2F28"/>
                </a:solidFill>
                <a:latin typeface="Arial"/>
                <a:cs typeface="Arial"/>
              </a:rPr>
              <a:t>causal.</a:t>
            </a:r>
            <a:endParaRPr lang="es-MX" sz="1300">
              <a:latin typeface="Arial"/>
              <a:cs typeface="Arial"/>
            </a:endParaRPr>
          </a:p>
        </p:txBody>
      </p:sp>
      <p:sp>
        <p:nvSpPr>
          <p:cNvPr id="70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71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72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25/43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Pruebas</a:t>
            </a:r>
            <a:r>
              <a:rPr spc="-70"/>
              <a:t> </a:t>
            </a:r>
            <a:r>
              <a:t>de</a:t>
            </a:r>
            <a:r>
              <a:rPr spc="-65"/>
              <a:t> </a:t>
            </a:r>
            <a:r>
              <a:t>robustez:</a:t>
            </a:r>
            <a:r>
              <a:rPr spc="-65"/>
              <a:t> </a:t>
            </a:r>
            <a:r>
              <a:t>umbral</a:t>
            </a:r>
            <a:r>
              <a:rPr spc="-65"/>
              <a:t> </a:t>
            </a:r>
            <a:r>
              <a:t>de</a:t>
            </a:r>
            <a:r>
              <a:rPr spc="-65"/>
              <a:t> </a:t>
            </a:r>
            <a:r>
              <a:t>segmentos</a:t>
            </a:r>
            <a:r>
              <a:rPr spc="-65"/>
              <a:t> </a:t>
            </a:r>
            <a:r>
              <a:t>por</a:t>
            </a:r>
            <a:r>
              <a:rPr spc="-65"/>
              <a:t> </a:t>
            </a:r>
            <a:r>
              <a:rPr spc="-10"/>
              <a:t>gránulo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11435" y="1125004"/>
            <a:ext cx="7418329" cy="4252595"/>
            <a:chOff x="811435" y="1371599"/>
            <a:chExt cx="7418329" cy="4252595"/>
          </a:xfrm>
        </p:grpSpPr>
        <p:sp>
          <p:nvSpPr>
            <p:cNvPr id="6" name="object 6"/>
            <p:cNvSpPr/>
            <p:nvPr/>
          </p:nvSpPr>
          <p:spPr>
            <a:xfrm>
              <a:off x="868679" y="1371599"/>
              <a:ext cx="7360920" cy="4252595"/>
            </a:xfrm>
            <a:custGeom>
              <a:avLst/>
              <a:gdLst/>
              <a:ahLst/>
              <a:cxnLst/>
              <a:rect l="l" t="t" r="r" b="b"/>
              <a:pathLst>
                <a:path w="7360920" h="4252595">
                  <a:moveTo>
                    <a:pt x="0" y="4251960"/>
                  </a:moveTo>
                  <a:lnTo>
                    <a:pt x="7360920" y="4252315"/>
                  </a:lnTo>
                </a:path>
                <a:path w="7360920" h="4252595">
                  <a:moveTo>
                    <a:pt x="0" y="0"/>
                  </a:moveTo>
                  <a:lnTo>
                    <a:pt x="355" y="4251960"/>
                  </a:lnTo>
                </a:path>
              </a:pathLst>
            </a:custGeom>
            <a:ln w="1007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8679" y="1371599"/>
              <a:ext cx="7360920" cy="4252595"/>
            </a:xfrm>
            <a:custGeom>
              <a:avLst/>
              <a:gdLst/>
              <a:ahLst/>
              <a:cxnLst/>
              <a:rect l="l" t="t" r="r" b="b"/>
              <a:pathLst>
                <a:path w="7360920" h="4252595">
                  <a:moveTo>
                    <a:pt x="0" y="4251960"/>
                  </a:moveTo>
                  <a:lnTo>
                    <a:pt x="7360920" y="4252315"/>
                  </a:lnTo>
                </a:path>
                <a:path w="7360920" h="4252595">
                  <a:moveTo>
                    <a:pt x="0" y="3543122"/>
                  </a:moveTo>
                  <a:lnTo>
                    <a:pt x="7360920" y="3543477"/>
                  </a:lnTo>
                </a:path>
                <a:path w="7360920" h="4252595">
                  <a:moveTo>
                    <a:pt x="0" y="2834640"/>
                  </a:moveTo>
                  <a:lnTo>
                    <a:pt x="7360920" y="2834995"/>
                  </a:lnTo>
                </a:path>
                <a:path w="7360920" h="4252595">
                  <a:moveTo>
                    <a:pt x="0" y="2125802"/>
                  </a:moveTo>
                  <a:lnTo>
                    <a:pt x="7360920" y="2126157"/>
                  </a:lnTo>
                </a:path>
                <a:path w="7360920" h="4252595">
                  <a:moveTo>
                    <a:pt x="0" y="1417320"/>
                  </a:moveTo>
                  <a:lnTo>
                    <a:pt x="7360920" y="1417675"/>
                  </a:lnTo>
                </a:path>
                <a:path w="7360920" h="4252595">
                  <a:moveTo>
                    <a:pt x="0" y="0"/>
                  </a:moveTo>
                  <a:lnTo>
                    <a:pt x="7360920" y="355"/>
                  </a:lnTo>
                </a:path>
              </a:pathLst>
            </a:custGeom>
            <a:ln w="575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8679" y="2579763"/>
              <a:ext cx="1472565" cy="389890"/>
            </a:xfrm>
            <a:custGeom>
              <a:avLst/>
              <a:gdLst/>
              <a:ahLst/>
              <a:cxnLst/>
              <a:rect l="l" t="t" r="r" b="b"/>
              <a:pathLst>
                <a:path w="1472564" h="389889">
                  <a:moveTo>
                    <a:pt x="0" y="389521"/>
                  </a:moveTo>
                  <a:lnTo>
                    <a:pt x="1472044" y="0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8679" y="5182196"/>
              <a:ext cx="1472565" cy="92075"/>
            </a:xfrm>
            <a:custGeom>
              <a:avLst/>
              <a:gdLst/>
              <a:ahLst/>
              <a:cxnLst/>
              <a:rect l="l" t="t" r="r" b="b"/>
              <a:pathLst>
                <a:path w="1472564" h="92075">
                  <a:moveTo>
                    <a:pt x="0" y="91808"/>
                  </a:moveTo>
                  <a:lnTo>
                    <a:pt x="1472044" y="0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40724" y="2579763"/>
              <a:ext cx="1472565" cy="112395"/>
            </a:xfrm>
            <a:custGeom>
              <a:avLst/>
              <a:gdLst/>
              <a:ahLst/>
              <a:cxnLst/>
              <a:rect l="l" t="t" r="r" b="b"/>
              <a:pathLst>
                <a:path w="1472564" h="112394">
                  <a:moveTo>
                    <a:pt x="0" y="0"/>
                  </a:moveTo>
                  <a:lnTo>
                    <a:pt x="1472031" y="112318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40724" y="5171046"/>
              <a:ext cx="1472565" cy="11430"/>
            </a:xfrm>
            <a:custGeom>
              <a:avLst/>
              <a:gdLst/>
              <a:ahLst/>
              <a:cxnLst/>
              <a:rect l="l" t="t" r="r" b="b"/>
              <a:pathLst>
                <a:path w="1472564" h="11429">
                  <a:moveTo>
                    <a:pt x="0" y="11150"/>
                  </a:moveTo>
                  <a:lnTo>
                    <a:pt x="1472031" y="0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2755" y="2692082"/>
              <a:ext cx="1472565" cy="155575"/>
            </a:xfrm>
            <a:custGeom>
              <a:avLst/>
              <a:gdLst/>
              <a:ahLst/>
              <a:cxnLst/>
              <a:rect l="l" t="t" r="r" b="b"/>
              <a:pathLst>
                <a:path w="1472564" h="155575">
                  <a:moveTo>
                    <a:pt x="0" y="0"/>
                  </a:moveTo>
                  <a:lnTo>
                    <a:pt x="1472399" y="155511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12755" y="4820399"/>
              <a:ext cx="1472565" cy="351155"/>
            </a:xfrm>
            <a:custGeom>
              <a:avLst/>
              <a:gdLst/>
              <a:ahLst/>
              <a:cxnLst/>
              <a:rect l="l" t="t" r="r" b="b"/>
              <a:pathLst>
                <a:path w="1472564" h="351154">
                  <a:moveTo>
                    <a:pt x="0" y="350647"/>
                  </a:moveTo>
                  <a:lnTo>
                    <a:pt x="1472399" y="0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85155" y="2847594"/>
              <a:ext cx="1472565" cy="97155"/>
            </a:xfrm>
            <a:custGeom>
              <a:avLst/>
              <a:gdLst/>
              <a:ahLst/>
              <a:cxnLst/>
              <a:rect l="l" t="t" r="r" b="b"/>
              <a:pathLst>
                <a:path w="1472565" h="97155">
                  <a:moveTo>
                    <a:pt x="0" y="0"/>
                  </a:moveTo>
                  <a:lnTo>
                    <a:pt x="1472044" y="96850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85155" y="4820399"/>
              <a:ext cx="1472565" cy="635"/>
            </a:xfrm>
            <a:custGeom>
              <a:avLst/>
              <a:gdLst/>
              <a:ahLst/>
              <a:cxnLst/>
              <a:rect l="l" t="t" r="r" b="b"/>
              <a:pathLst>
                <a:path w="1472565" h="635">
                  <a:moveTo>
                    <a:pt x="0" y="0"/>
                  </a:moveTo>
                  <a:lnTo>
                    <a:pt x="1472044" y="355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57199" y="2212924"/>
              <a:ext cx="1472565" cy="731520"/>
            </a:xfrm>
            <a:custGeom>
              <a:avLst/>
              <a:gdLst/>
              <a:ahLst/>
              <a:cxnLst/>
              <a:rect l="l" t="t" r="r" b="b"/>
              <a:pathLst>
                <a:path w="1472565" h="731519">
                  <a:moveTo>
                    <a:pt x="0" y="731520"/>
                  </a:moveTo>
                  <a:lnTo>
                    <a:pt x="1472399" y="0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7199" y="4614125"/>
              <a:ext cx="1472565" cy="206375"/>
            </a:xfrm>
            <a:custGeom>
              <a:avLst/>
              <a:gdLst/>
              <a:ahLst/>
              <a:cxnLst/>
              <a:rect l="l" t="t" r="r" b="b"/>
              <a:pathLst>
                <a:path w="1472565" h="206375">
                  <a:moveTo>
                    <a:pt x="0" y="206273"/>
                  </a:moveTo>
                  <a:lnTo>
                    <a:pt x="1472399" y="0"/>
                  </a:lnTo>
                </a:path>
              </a:pathLst>
            </a:custGeom>
            <a:ln w="3059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732" y="2912041"/>
              <a:ext cx="110250" cy="11484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435" y="5216760"/>
              <a:ext cx="114844" cy="11484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20" name="object 20"/>
          <p:cNvSpPr txBox="1"/>
          <p:nvPr/>
        </p:nvSpPr>
        <p:spPr>
          <a:xfrm>
            <a:off x="706577" y="5291544"/>
            <a:ext cx="9271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rgbClr val="64726B"/>
                </a:solidFill>
                <a:latin typeface="Arial"/>
                <a:cs typeface="Arial"/>
              </a:rPr>
              <a:t>0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6577" y="4583062"/>
            <a:ext cx="9271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rgbClr val="64726B"/>
                </a:solidFill>
                <a:latin typeface="Arial"/>
                <a:cs typeface="Arial"/>
              </a:rPr>
              <a:t>1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6577" y="3874224"/>
            <a:ext cx="9271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rgbClr val="64726B"/>
                </a:solidFill>
                <a:latin typeface="Arial"/>
                <a:cs typeface="Arial"/>
              </a:rPr>
              <a:t>2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6577" y="3165742"/>
            <a:ext cx="9271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rgbClr val="64726B"/>
                </a:solidFill>
                <a:latin typeface="Arial"/>
                <a:cs typeface="Arial"/>
              </a:rPr>
              <a:t>3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577" y="1039584"/>
            <a:ext cx="9271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rgbClr val="64726B"/>
                </a:solidFill>
                <a:latin typeface="Arial"/>
                <a:cs typeface="Arial"/>
              </a:rPr>
              <a:t>6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4793" y="2789936"/>
            <a:ext cx="196977" cy="922019"/>
          </a:xfrm>
          <a:prstGeom prst="rect">
            <a:avLst/>
          </a:prstGeom>
        </p:spPr>
        <p:txBody>
          <a:bodyPr vert="vert270" wrap="square" lIns="0" tIns="27305" rIns="0" bIns="0" rtlCol="0">
            <a:spAutoFit/>
          </a:bodyPr>
          <a:lstStyle/>
          <a:p>
            <a:pPr marL="210820" marR="5080" indent="-198755">
              <a:lnSpc>
                <a:spcPct val="79700"/>
              </a:lnSpc>
              <a:spcBef>
                <a:spcPts val="215"/>
              </a:spcBef>
            </a:pPr>
            <a:r>
              <a:rPr lang="es-ES" sz="800">
                <a:solidFill>
                  <a:srgbClr val="64726B"/>
                </a:solidFill>
                <a:latin typeface="Arial"/>
                <a:cs typeface="Arial"/>
              </a:rPr>
              <a:t>Diferencia</a:t>
            </a:r>
            <a:r>
              <a:rPr lang="es-ES" sz="800" spc="-4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800">
                <a:solidFill>
                  <a:srgbClr val="64726B"/>
                </a:solidFill>
                <a:latin typeface="Arial"/>
                <a:cs typeface="Arial"/>
              </a:rPr>
              <a:t>Bosque</a:t>
            </a:r>
            <a:r>
              <a:rPr lang="es-ES" sz="800" spc="-4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800" spc="-50">
                <a:solidFill>
                  <a:srgbClr val="64726B"/>
                </a:solidFill>
                <a:latin typeface="Arial"/>
                <a:cs typeface="Arial"/>
              </a:rPr>
              <a:t>-</a:t>
            </a:r>
            <a:r>
              <a:rPr lang="es-ES" sz="800">
                <a:solidFill>
                  <a:srgbClr val="64726B"/>
                </a:solidFill>
                <a:latin typeface="Arial"/>
                <a:cs typeface="Arial"/>
              </a:rPr>
              <a:t> Estepa</a:t>
            </a:r>
            <a:r>
              <a:rPr lang="es-ES" sz="800" spc="-4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800" spc="-25">
                <a:solidFill>
                  <a:srgbClr val="64726B"/>
                </a:solidFill>
                <a:latin typeface="Arial"/>
                <a:cs typeface="Arial"/>
              </a:rPr>
              <a:t>(m)</a:t>
            </a:r>
            <a:endParaRPr lang="es-ES"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2535" y="5476228"/>
            <a:ext cx="172085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50" spc="-25">
                <a:solidFill>
                  <a:srgbClr val="1F2F28"/>
                </a:solidFill>
                <a:latin typeface="Arial"/>
                <a:cs typeface="Arial"/>
              </a:rPr>
              <a:t>≥1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6577" y="2456904"/>
            <a:ext cx="29210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spc="-50">
                <a:solidFill>
                  <a:srgbClr val="64726B"/>
                </a:solidFill>
                <a:latin typeface="Arial"/>
                <a:cs typeface="Arial"/>
              </a:rPr>
              <a:t>4</a:t>
            </a:r>
            <a:r>
              <a:rPr lang="es-ES" sz="1425" b="1" spc="-75" baseline="5847">
                <a:solidFill>
                  <a:srgbClr val="2E6A46"/>
                </a:solidFill>
                <a:latin typeface="Arial"/>
                <a:cs typeface="Arial"/>
              </a:rPr>
              <a:t>3,75</a:t>
            </a:r>
            <a:endParaRPr lang="es-ES" sz="1425" baseline="5847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8974" y="5125225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C3862D"/>
                </a:solidFill>
                <a:latin typeface="Arial"/>
                <a:cs typeface="Arial"/>
              </a:rPr>
              <a:t>0,49</a:t>
            </a:r>
            <a:endParaRPr lang="es-ES" sz="9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97279" y="1325880"/>
            <a:ext cx="7189921" cy="3664669"/>
            <a:chOff x="1097279" y="1572475"/>
            <a:chExt cx="7189921" cy="3664669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3479" y="2525172"/>
              <a:ext cx="114844" cy="1102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3479" y="5126894"/>
              <a:ext cx="114844" cy="110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5524" y="2634838"/>
              <a:ext cx="114831" cy="1148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5524" y="5113433"/>
              <a:ext cx="114831" cy="11484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27924" y="2790362"/>
              <a:ext cx="114831" cy="11483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27924" y="4762799"/>
              <a:ext cx="114831" cy="1148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99955" y="2886844"/>
              <a:ext cx="114844" cy="11483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99955" y="4762799"/>
              <a:ext cx="114844" cy="1148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72356" y="2155679"/>
              <a:ext cx="114844" cy="1148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2356" y="4556881"/>
              <a:ext cx="114844" cy="11484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97279" y="1572475"/>
              <a:ext cx="365760" cy="635"/>
            </a:xfrm>
            <a:custGeom>
              <a:avLst/>
              <a:gdLst/>
              <a:ahLst/>
              <a:cxnLst/>
              <a:rect l="l" t="t" r="r" b="b"/>
              <a:pathLst>
                <a:path w="365759" h="634">
                  <a:moveTo>
                    <a:pt x="0" y="0"/>
                  </a:moveTo>
                  <a:lnTo>
                    <a:pt x="365759" y="368"/>
                  </a:lnTo>
                </a:path>
              </a:pathLst>
            </a:custGeom>
            <a:ln w="3059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60319" y="1572475"/>
              <a:ext cx="365760" cy="635"/>
            </a:xfrm>
            <a:custGeom>
              <a:avLst/>
              <a:gdLst/>
              <a:ahLst/>
              <a:cxnLst/>
              <a:rect l="l" t="t" r="r" b="b"/>
              <a:pathLst>
                <a:path w="365760" h="634">
                  <a:moveTo>
                    <a:pt x="0" y="0"/>
                  </a:moveTo>
                  <a:lnTo>
                    <a:pt x="365760" y="368"/>
                  </a:lnTo>
                </a:path>
              </a:pathLst>
            </a:custGeom>
            <a:ln w="305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254580" y="5476228"/>
            <a:ext cx="172085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50" spc="-25">
                <a:solidFill>
                  <a:srgbClr val="1F2F28"/>
                </a:solidFill>
                <a:latin typeface="Arial"/>
                <a:cs typeface="Arial"/>
              </a:rPr>
              <a:t>≥5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211019" y="2056219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2E6A46"/>
                </a:solidFill>
                <a:latin typeface="Arial"/>
                <a:cs typeface="Arial"/>
              </a:rPr>
              <a:t>4,29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211019" y="5033430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C3862D"/>
                </a:solidFill>
                <a:latin typeface="Arial"/>
                <a:cs typeface="Arial"/>
              </a:rPr>
              <a:t>0,62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683063" y="2168182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2E6A46"/>
                </a:solidFill>
                <a:latin typeface="Arial"/>
                <a:cs typeface="Arial"/>
              </a:rPr>
              <a:t>4,14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83063" y="5022266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C3862D"/>
                </a:solidFill>
                <a:latin typeface="Arial"/>
                <a:cs typeface="Arial"/>
              </a:rPr>
              <a:t>0,64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55463" y="2323707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2E6A46"/>
                </a:solidFill>
                <a:latin typeface="Arial"/>
                <a:cs typeface="Arial"/>
              </a:rPr>
              <a:t>3,92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55463" y="4671264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C3862D"/>
                </a:solidFill>
                <a:latin typeface="Arial"/>
                <a:cs typeface="Arial"/>
              </a:rPr>
              <a:t>1,13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22217" y="5499735"/>
            <a:ext cx="3258185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010">
              <a:lnSpc>
                <a:spcPts val="1075"/>
              </a:lnSpc>
              <a:spcBef>
                <a:spcPts val="95"/>
              </a:spcBef>
              <a:tabLst>
                <a:tab pos="1551940" algn="l"/>
                <a:tab pos="3024505" algn="l"/>
              </a:tabLst>
            </a:pPr>
            <a:r>
              <a:rPr lang="es-ES" sz="1050" spc="-25">
                <a:solidFill>
                  <a:srgbClr val="1F2F28"/>
                </a:solidFill>
                <a:latin typeface="Arial"/>
                <a:cs typeface="Arial"/>
              </a:rPr>
              <a:t>≥10</a:t>
            </a:r>
            <a:r>
              <a:rPr lang="es-ES" sz="1050">
                <a:solidFill>
                  <a:srgbClr val="1F2F28"/>
                </a:solidFill>
                <a:latin typeface="Arial"/>
                <a:cs typeface="Arial"/>
              </a:rPr>
              <a:t>	</a:t>
            </a:r>
            <a:r>
              <a:rPr lang="es-ES" sz="1050" spc="-25">
                <a:solidFill>
                  <a:srgbClr val="1F2F28"/>
                </a:solidFill>
                <a:latin typeface="Arial"/>
                <a:cs typeface="Arial"/>
              </a:rPr>
              <a:t>≥20</a:t>
            </a:r>
            <a:r>
              <a:rPr lang="es-ES" sz="1050">
                <a:solidFill>
                  <a:srgbClr val="1F2F28"/>
                </a:solidFill>
                <a:latin typeface="Arial"/>
                <a:cs typeface="Arial"/>
              </a:rPr>
              <a:t>	</a:t>
            </a:r>
            <a:r>
              <a:rPr lang="es-ES" sz="1050" spc="-25">
                <a:solidFill>
                  <a:srgbClr val="1F2F28"/>
                </a:solidFill>
                <a:latin typeface="Arial"/>
                <a:cs typeface="Arial"/>
              </a:rPr>
              <a:t>≥30</a:t>
            </a:r>
            <a:endParaRPr lang="es-ES" sz="1050">
              <a:latin typeface="Arial"/>
              <a:cs typeface="Arial"/>
            </a:endParaRPr>
          </a:p>
          <a:p>
            <a:pPr marL="12700">
              <a:lnSpc>
                <a:spcPts val="1015"/>
              </a:lnSpc>
            </a:pPr>
            <a:r>
              <a:rPr lang="es-ES" sz="1000">
                <a:solidFill>
                  <a:srgbClr val="64726B"/>
                </a:solidFill>
                <a:latin typeface="Arial"/>
                <a:cs typeface="Arial"/>
              </a:rPr>
              <a:t>Segmentos</a:t>
            </a:r>
            <a:r>
              <a:rPr lang="es-ES" sz="1000" spc="-2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000">
                <a:solidFill>
                  <a:srgbClr val="64726B"/>
                </a:solidFill>
                <a:latin typeface="Arial"/>
                <a:cs typeface="Arial"/>
              </a:rPr>
              <a:t>mínimos</a:t>
            </a:r>
            <a:r>
              <a:rPr lang="es-ES" sz="1000" spc="-2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000">
                <a:solidFill>
                  <a:srgbClr val="64726B"/>
                </a:solidFill>
                <a:latin typeface="Arial"/>
                <a:cs typeface="Arial"/>
              </a:rPr>
              <a:t>por</a:t>
            </a:r>
            <a:r>
              <a:rPr lang="es-ES" sz="1000" spc="-20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1000" spc="-10">
                <a:solidFill>
                  <a:srgbClr val="64726B"/>
                </a:solidFill>
                <a:latin typeface="Arial"/>
                <a:cs typeface="Arial"/>
              </a:rPr>
              <a:t>gránulo</a:t>
            </a:r>
            <a:endParaRPr lang="es-ES"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27494" y="2420544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2E6A46"/>
                </a:solidFill>
                <a:latin typeface="Arial"/>
                <a:cs typeface="Arial"/>
              </a:rPr>
              <a:t>3,78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27494" y="4671264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C3862D"/>
                </a:solidFill>
                <a:latin typeface="Arial"/>
                <a:cs typeface="Arial"/>
              </a:rPr>
              <a:t>1,13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06384" y="5476228"/>
            <a:ext cx="245745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50" spc="-25">
                <a:solidFill>
                  <a:srgbClr val="1F2F28"/>
                </a:solidFill>
                <a:latin typeface="Arial"/>
                <a:cs typeface="Arial"/>
              </a:rPr>
              <a:t>≥50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1177" y="1689024"/>
            <a:ext cx="770382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430770" algn="l"/>
              </a:tabLst>
            </a:pPr>
            <a:r>
              <a:rPr lang="es-ES" sz="1425" baseline="-26315">
                <a:solidFill>
                  <a:srgbClr val="64726B"/>
                </a:solidFill>
                <a:latin typeface="Arial"/>
                <a:cs typeface="Arial"/>
              </a:rPr>
              <a:t>5</a:t>
            </a:r>
            <a:r>
              <a:rPr lang="es-ES" sz="1425" spc="532" baseline="-26315">
                <a:solidFill>
                  <a:srgbClr val="64726B"/>
                </a:solidFill>
                <a:latin typeface="Arial"/>
                <a:cs typeface="Arial"/>
              </a:rPr>
              <a:t> </a:t>
            </a:r>
            <a:r>
              <a:rPr lang="es-ES" sz="950" u="sng">
                <a:solidFill>
                  <a:srgbClr val="2E6A46"/>
                </a:solidFill>
                <a:uFill>
                  <a:solidFill>
                    <a:srgbClr val="DCE1DE"/>
                  </a:solidFill>
                </a:uFill>
                <a:latin typeface="Arial"/>
                <a:cs typeface="Arial"/>
              </a:rPr>
              <a:t>	</a:t>
            </a:r>
            <a:r>
              <a:rPr lang="es-ES" sz="950" b="1" u="sng" spc="-20">
                <a:solidFill>
                  <a:srgbClr val="2E6A46"/>
                </a:solidFill>
                <a:uFill>
                  <a:solidFill>
                    <a:srgbClr val="DCE1DE"/>
                  </a:solidFill>
                </a:uFill>
                <a:latin typeface="Arial"/>
                <a:cs typeface="Arial"/>
              </a:rPr>
              <a:t>4,</a:t>
            </a:r>
            <a:r>
              <a:rPr lang="es-ES" sz="950" b="1" u="none" spc="-20">
                <a:solidFill>
                  <a:srgbClr val="2E6A46"/>
                </a:solidFill>
                <a:latin typeface="Arial"/>
                <a:cs typeface="Arial"/>
              </a:rPr>
              <a:t>81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99894" y="4464990"/>
            <a:ext cx="25971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50" b="1" spc="-20">
                <a:solidFill>
                  <a:srgbClr val="C3862D"/>
                </a:solidFill>
                <a:latin typeface="Arial"/>
                <a:cs typeface="Arial"/>
              </a:rPr>
              <a:t>1,42</a:t>
            </a:r>
            <a:endParaRPr lang="es-ES" sz="9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23060" y="1232904"/>
            <a:ext cx="790575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50" b="1" spc="-10">
                <a:solidFill>
                  <a:srgbClr val="1F2F28"/>
                </a:solidFill>
                <a:latin typeface="Arial"/>
                <a:cs typeface="Arial"/>
              </a:rPr>
              <a:t>Operacional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986100" y="1232904"/>
            <a:ext cx="84201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50" b="1" spc="-10">
                <a:solidFill>
                  <a:srgbClr val="1F2F28"/>
                </a:solidFill>
                <a:latin typeface="Arial"/>
                <a:cs typeface="Arial"/>
              </a:rPr>
              <a:t>Conservador</a:t>
            </a:r>
            <a:endParaRPr lang="es-ES" sz="105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544600" y="1254760"/>
            <a:ext cx="2890520" cy="1308735"/>
            <a:chOff x="8544600" y="1412280"/>
            <a:chExt cx="2890520" cy="130873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8" name="object 58"/>
            <p:cNvSpPr/>
            <p:nvPr/>
          </p:nvSpPr>
          <p:spPr>
            <a:xfrm>
              <a:off x="8549640" y="1417320"/>
              <a:ext cx="2880360" cy="1298575"/>
            </a:xfrm>
            <a:custGeom>
              <a:avLst/>
              <a:gdLst/>
              <a:ahLst/>
              <a:cxnLst/>
              <a:rect l="l" t="t" r="r" b="b"/>
              <a:pathLst>
                <a:path w="2880359" h="1298575">
                  <a:moveTo>
                    <a:pt x="28069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25435"/>
                  </a:lnTo>
                  <a:lnTo>
                    <a:pt x="597" y="1234713"/>
                  </a:lnTo>
                  <a:lnTo>
                    <a:pt x="607" y="1234863"/>
                  </a:lnTo>
                  <a:lnTo>
                    <a:pt x="21285" y="1277053"/>
                  </a:lnTo>
                  <a:lnTo>
                    <a:pt x="63443" y="1297916"/>
                  </a:lnTo>
                  <a:lnTo>
                    <a:pt x="73075" y="1298524"/>
                  </a:lnTo>
                  <a:lnTo>
                    <a:pt x="2807284" y="1298155"/>
                  </a:lnTo>
                  <a:lnTo>
                    <a:pt x="2851654" y="1283114"/>
                  </a:lnTo>
                  <a:lnTo>
                    <a:pt x="2877916" y="1244158"/>
                  </a:lnTo>
                  <a:lnTo>
                    <a:pt x="2880337" y="1225435"/>
                  </a:lnTo>
                  <a:lnTo>
                    <a:pt x="2880359" y="1225080"/>
                  </a:lnTo>
                  <a:lnTo>
                    <a:pt x="2880004" y="73075"/>
                  </a:lnTo>
                  <a:lnTo>
                    <a:pt x="2864950" y="28705"/>
                  </a:lnTo>
                  <a:lnTo>
                    <a:pt x="2825956" y="2428"/>
                  </a:lnTo>
                  <a:lnTo>
                    <a:pt x="2816555" y="607"/>
                  </a:lnTo>
                  <a:lnTo>
                    <a:pt x="280691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549640" y="1417320"/>
              <a:ext cx="2880360" cy="1298575"/>
            </a:xfrm>
            <a:custGeom>
              <a:avLst/>
              <a:gdLst/>
              <a:ahLst/>
              <a:cxnLst/>
              <a:rect l="l" t="t" r="r" b="b"/>
              <a:pathLst>
                <a:path w="2880359" h="129857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2806915" y="0"/>
                  </a:lnTo>
                  <a:lnTo>
                    <a:pt x="2851598" y="15104"/>
                  </a:lnTo>
                  <a:lnTo>
                    <a:pt x="2877573" y="54357"/>
                  </a:lnTo>
                  <a:lnTo>
                    <a:pt x="2880004" y="73075"/>
                  </a:lnTo>
                  <a:lnTo>
                    <a:pt x="2880359" y="1225080"/>
                  </a:lnTo>
                  <a:lnTo>
                    <a:pt x="2879752" y="1234713"/>
                  </a:lnTo>
                  <a:lnTo>
                    <a:pt x="2877931" y="1244114"/>
                  </a:lnTo>
                  <a:lnTo>
                    <a:pt x="2851654" y="1283114"/>
                  </a:lnTo>
                  <a:lnTo>
                    <a:pt x="2807284" y="1298155"/>
                  </a:lnTo>
                  <a:lnTo>
                    <a:pt x="73075" y="1298524"/>
                  </a:lnTo>
                  <a:lnTo>
                    <a:pt x="28399" y="1283414"/>
                  </a:lnTo>
                  <a:lnTo>
                    <a:pt x="2428" y="1244158"/>
                  </a:lnTo>
                  <a:lnTo>
                    <a:pt x="0" y="12254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549640" y="1417320"/>
              <a:ext cx="73025" cy="1298575"/>
            </a:xfrm>
            <a:custGeom>
              <a:avLst/>
              <a:gdLst/>
              <a:ahLst/>
              <a:cxnLst/>
              <a:rect l="l" t="t" r="r" b="b"/>
              <a:pathLst>
                <a:path w="73025" h="1298575">
                  <a:moveTo>
                    <a:pt x="72720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6360" y="1298155"/>
                  </a:lnTo>
                  <a:lnTo>
                    <a:pt x="72720" y="1298155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765184" y="1167864"/>
            <a:ext cx="2405380" cy="1479149"/>
          </a:xfrm>
          <a:prstGeom prst="rect">
            <a:avLst/>
          </a:prstGeom>
        </p:spPr>
        <p:txBody>
          <a:bodyPr vert="horz" wrap="square" lIns="0" tIns="16700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lang="es-MX" sz="1750" b="1">
                <a:solidFill>
                  <a:srgbClr val="2E6A46"/>
                </a:solidFill>
                <a:latin typeface="Arial"/>
                <a:cs typeface="Arial"/>
              </a:rPr>
              <a:t>Resultado</a:t>
            </a:r>
            <a:r>
              <a:rPr lang="es-MX" sz="1750" b="1" spc="-114">
                <a:solidFill>
                  <a:srgbClr val="2E6A46"/>
                </a:solidFill>
                <a:latin typeface="Arial"/>
                <a:cs typeface="Arial"/>
              </a:rPr>
              <a:t> </a:t>
            </a:r>
            <a:r>
              <a:rPr lang="es-MX" sz="1750" b="1" spc="-10">
                <a:solidFill>
                  <a:srgbClr val="2E6A46"/>
                </a:solidFill>
                <a:latin typeface="Arial"/>
                <a:cs typeface="Arial"/>
              </a:rPr>
              <a:t>operacional</a:t>
            </a:r>
            <a:endParaRPr lang="es-MX" sz="1750">
              <a:latin typeface="Arial"/>
              <a:cs typeface="Arial"/>
            </a:endParaRPr>
          </a:p>
          <a:p>
            <a:pPr marL="12700" marR="85725"/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Entre</a:t>
            </a:r>
            <a:r>
              <a:rPr lang="es-MX" sz="14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≥5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≥50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segmentos,</a:t>
            </a:r>
            <a:r>
              <a:rPr lang="es-MX" sz="1400" spc="-25">
                <a:solidFill>
                  <a:srgbClr val="1F2F28"/>
                </a:solidFill>
                <a:latin typeface="Arial"/>
                <a:cs typeface="Arial"/>
              </a:rPr>
              <a:t> la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MX" sz="14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varía</a:t>
            </a:r>
            <a:r>
              <a:rPr lang="es-MX" sz="14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spc="-10">
                <a:solidFill>
                  <a:srgbClr val="1F2F28"/>
                </a:solidFill>
                <a:latin typeface="Arial"/>
                <a:cs typeface="Arial"/>
              </a:rPr>
              <a:t>aproximadamente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entre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3,78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4,81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spc="-25">
                <a:solidFill>
                  <a:srgbClr val="1F2F28"/>
                </a:solidFill>
                <a:latin typeface="Arial"/>
                <a:cs typeface="Arial"/>
              </a:rPr>
              <a:t>m.</a:t>
            </a:r>
            <a:endParaRPr lang="es-MX" sz="14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8544600" y="2763520"/>
            <a:ext cx="2890520" cy="1308735"/>
            <a:chOff x="8544600" y="2921040"/>
            <a:chExt cx="2890520" cy="130873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3" name="object 63"/>
            <p:cNvSpPr/>
            <p:nvPr/>
          </p:nvSpPr>
          <p:spPr>
            <a:xfrm>
              <a:off x="8549640" y="2926079"/>
              <a:ext cx="2880360" cy="1298575"/>
            </a:xfrm>
            <a:custGeom>
              <a:avLst/>
              <a:gdLst/>
              <a:ahLst/>
              <a:cxnLst/>
              <a:rect l="l" t="t" r="r" b="b"/>
              <a:pathLst>
                <a:path w="2880359" h="1298575">
                  <a:moveTo>
                    <a:pt x="28069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25435"/>
                  </a:lnTo>
                  <a:lnTo>
                    <a:pt x="597" y="1234713"/>
                  </a:lnTo>
                  <a:lnTo>
                    <a:pt x="607" y="1234863"/>
                  </a:lnTo>
                  <a:lnTo>
                    <a:pt x="21285" y="1277053"/>
                  </a:lnTo>
                  <a:lnTo>
                    <a:pt x="63443" y="1297916"/>
                  </a:lnTo>
                  <a:lnTo>
                    <a:pt x="73075" y="1298524"/>
                  </a:lnTo>
                  <a:lnTo>
                    <a:pt x="2807284" y="1298155"/>
                  </a:lnTo>
                  <a:lnTo>
                    <a:pt x="2851654" y="1283114"/>
                  </a:lnTo>
                  <a:lnTo>
                    <a:pt x="2877916" y="1244158"/>
                  </a:lnTo>
                  <a:lnTo>
                    <a:pt x="2880337" y="1225435"/>
                  </a:lnTo>
                  <a:lnTo>
                    <a:pt x="2880359" y="1225080"/>
                  </a:lnTo>
                  <a:lnTo>
                    <a:pt x="2880004" y="73075"/>
                  </a:lnTo>
                  <a:lnTo>
                    <a:pt x="2864950" y="28705"/>
                  </a:lnTo>
                  <a:lnTo>
                    <a:pt x="2825956" y="2428"/>
                  </a:lnTo>
                  <a:lnTo>
                    <a:pt x="2816555" y="607"/>
                  </a:lnTo>
                  <a:lnTo>
                    <a:pt x="280691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549640" y="2926079"/>
              <a:ext cx="2880360" cy="1298575"/>
            </a:xfrm>
            <a:custGeom>
              <a:avLst/>
              <a:gdLst/>
              <a:ahLst/>
              <a:cxnLst/>
              <a:rect l="l" t="t" r="r" b="b"/>
              <a:pathLst>
                <a:path w="2880359" h="129857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2806915" y="0"/>
                  </a:lnTo>
                  <a:lnTo>
                    <a:pt x="2851598" y="15104"/>
                  </a:lnTo>
                  <a:lnTo>
                    <a:pt x="2877573" y="54357"/>
                  </a:lnTo>
                  <a:lnTo>
                    <a:pt x="2880004" y="73075"/>
                  </a:lnTo>
                  <a:lnTo>
                    <a:pt x="2880359" y="1225080"/>
                  </a:lnTo>
                  <a:lnTo>
                    <a:pt x="2879752" y="1234713"/>
                  </a:lnTo>
                  <a:lnTo>
                    <a:pt x="2877931" y="1244114"/>
                  </a:lnTo>
                  <a:lnTo>
                    <a:pt x="2851654" y="1283114"/>
                  </a:lnTo>
                  <a:lnTo>
                    <a:pt x="2807284" y="1298155"/>
                  </a:lnTo>
                  <a:lnTo>
                    <a:pt x="73075" y="1298524"/>
                  </a:lnTo>
                  <a:lnTo>
                    <a:pt x="28399" y="1283414"/>
                  </a:lnTo>
                  <a:lnTo>
                    <a:pt x="2428" y="1244158"/>
                  </a:lnTo>
                  <a:lnTo>
                    <a:pt x="0" y="12254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549640" y="2926079"/>
              <a:ext cx="73025" cy="1298575"/>
            </a:xfrm>
            <a:custGeom>
              <a:avLst/>
              <a:gdLst/>
              <a:ahLst/>
              <a:cxnLst/>
              <a:rect l="l" t="t" r="r" b="b"/>
              <a:pathLst>
                <a:path w="73025" h="1298575">
                  <a:moveTo>
                    <a:pt x="72720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6360" y="1298155"/>
                  </a:lnTo>
                  <a:lnTo>
                    <a:pt x="72720" y="1298155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765184" y="2716410"/>
            <a:ext cx="2419985" cy="108077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lang="es-MX" sz="1600" b="1">
                <a:solidFill>
                  <a:srgbClr val="C3862D"/>
                </a:solidFill>
                <a:latin typeface="Arial"/>
                <a:cs typeface="Arial"/>
              </a:rPr>
              <a:t>Resultado</a:t>
            </a:r>
            <a:r>
              <a:rPr lang="es-MX" sz="1600" b="1" spc="484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MX" sz="1600" b="1" spc="-10">
                <a:solidFill>
                  <a:srgbClr val="C3862D"/>
                </a:solidFill>
                <a:latin typeface="Arial"/>
                <a:cs typeface="Arial"/>
              </a:rPr>
              <a:t>conservador</a:t>
            </a:r>
            <a:endParaRPr lang="es-MX" sz="1600">
              <a:latin typeface="Arial"/>
              <a:cs typeface="Arial"/>
            </a:endParaRPr>
          </a:p>
          <a:p>
            <a:pPr marL="12700" marR="281940">
              <a:lnSpc>
                <a:spcPts val="1410"/>
              </a:lnSpc>
              <a:spcBef>
                <a:spcPts val="1155"/>
              </a:spcBef>
            </a:pP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MX" sz="14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se</a:t>
            </a:r>
            <a:r>
              <a:rPr lang="es-MX" sz="14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spc="-10">
                <a:solidFill>
                  <a:srgbClr val="1F2F28"/>
                </a:solidFill>
                <a:latin typeface="Arial"/>
                <a:cs typeface="Arial"/>
              </a:rPr>
              <a:t>mantiene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mucho</a:t>
            </a:r>
            <a:r>
              <a:rPr lang="es-MX" sz="14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menor,</a:t>
            </a:r>
            <a:r>
              <a:rPr lang="es-MX" sz="14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entre</a:t>
            </a:r>
            <a:r>
              <a:rPr lang="es-MX" sz="14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0,62</a:t>
            </a:r>
            <a:r>
              <a:rPr lang="es-MX" sz="14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spc="-50">
                <a:solidFill>
                  <a:srgbClr val="1F2F28"/>
                </a:solidFill>
                <a:latin typeface="Arial"/>
                <a:cs typeface="Arial"/>
              </a:rPr>
              <a:t>y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1,42</a:t>
            </a:r>
            <a:r>
              <a:rPr lang="es-MX" sz="14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m</a:t>
            </a:r>
            <a:r>
              <a:rPr lang="es-MX" sz="14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según</a:t>
            </a:r>
            <a:r>
              <a:rPr lang="es-MX" sz="14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4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spc="-10">
                <a:solidFill>
                  <a:srgbClr val="1F2F28"/>
                </a:solidFill>
                <a:latin typeface="Arial"/>
                <a:cs typeface="Arial"/>
              </a:rPr>
              <a:t>umbral.</a:t>
            </a:r>
            <a:endParaRPr lang="es-MX" sz="14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8544600" y="4272280"/>
            <a:ext cx="2890520" cy="1061720"/>
            <a:chOff x="8544600" y="4429800"/>
            <a:chExt cx="2890520" cy="106172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8" name="object 68"/>
            <p:cNvSpPr/>
            <p:nvPr/>
          </p:nvSpPr>
          <p:spPr>
            <a:xfrm>
              <a:off x="8549640" y="4434840"/>
              <a:ext cx="2880360" cy="1051560"/>
            </a:xfrm>
            <a:custGeom>
              <a:avLst/>
              <a:gdLst/>
              <a:ahLst/>
              <a:cxnLst/>
              <a:rect l="l" t="t" r="r" b="b"/>
              <a:pathLst>
                <a:path w="2880359" h="1051560">
                  <a:moveTo>
                    <a:pt x="280691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78484"/>
                  </a:lnTo>
                  <a:lnTo>
                    <a:pt x="594" y="987755"/>
                  </a:lnTo>
                  <a:lnTo>
                    <a:pt x="607" y="987960"/>
                  </a:lnTo>
                  <a:lnTo>
                    <a:pt x="2394" y="997156"/>
                  </a:lnTo>
                  <a:lnTo>
                    <a:pt x="2428" y="997335"/>
                  </a:lnTo>
                  <a:lnTo>
                    <a:pt x="5412" y="1006219"/>
                  </a:lnTo>
                  <a:lnTo>
                    <a:pt x="36360" y="1041844"/>
                  </a:lnTo>
                  <a:lnTo>
                    <a:pt x="73075" y="1051560"/>
                  </a:lnTo>
                  <a:lnTo>
                    <a:pt x="2807284" y="1051204"/>
                  </a:lnTo>
                  <a:lnTo>
                    <a:pt x="2851654" y="1036100"/>
                  </a:lnTo>
                  <a:lnTo>
                    <a:pt x="2874818" y="1006375"/>
                  </a:lnTo>
                  <a:lnTo>
                    <a:pt x="2874895" y="1006219"/>
                  </a:lnTo>
                  <a:lnTo>
                    <a:pt x="2877871" y="997335"/>
                  </a:lnTo>
                  <a:lnTo>
                    <a:pt x="2877931" y="997156"/>
                  </a:lnTo>
                  <a:lnTo>
                    <a:pt x="2879712" y="987960"/>
                  </a:lnTo>
                  <a:lnTo>
                    <a:pt x="2879752" y="987755"/>
                  </a:lnTo>
                  <a:lnTo>
                    <a:pt x="2880336" y="978484"/>
                  </a:lnTo>
                  <a:lnTo>
                    <a:pt x="2880359" y="978115"/>
                  </a:lnTo>
                  <a:lnTo>
                    <a:pt x="2880004" y="73075"/>
                  </a:lnTo>
                  <a:lnTo>
                    <a:pt x="2864900" y="28705"/>
                  </a:lnTo>
                  <a:lnTo>
                    <a:pt x="2825956" y="2428"/>
                  </a:lnTo>
                  <a:lnTo>
                    <a:pt x="2816555" y="607"/>
                  </a:lnTo>
                  <a:lnTo>
                    <a:pt x="280691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549640" y="4434840"/>
              <a:ext cx="2880360" cy="1051560"/>
            </a:xfrm>
            <a:custGeom>
              <a:avLst/>
              <a:gdLst/>
              <a:ahLst/>
              <a:cxnLst/>
              <a:rect l="l" t="t" r="r" b="b"/>
              <a:pathLst>
                <a:path w="2880359" h="10515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806915" y="0"/>
                  </a:lnTo>
                  <a:lnTo>
                    <a:pt x="2851448" y="15104"/>
                  </a:lnTo>
                  <a:lnTo>
                    <a:pt x="2877573" y="54224"/>
                  </a:lnTo>
                  <a:lnTo>
                    <a:pt x="2880004" y="73075"/>
                  </a:lnTo>
                  <a:lnTo>
                    <a:pt x="2880359" y="978115"/>
                  </a:lnTo>
                  <a:lnTo>
                    <a:pt x="2879752" y="987755"/>
                  </a:lnTo>
                  <a:lnTo>
                    <a:pt x="2877931" y="997156"/>
                  </a:lnTo>
                  <a:lnTo>
                    <a:pt x="2851654" y="1036100"/>
                  </a:lnTo>
                  <a:lnTo>
                    <a:pt x="2807284" y="1051204"/>
                  </a:lnTo>
                  <a:lnTo>
                    <a:pt x="73075" y="1051560"/>
                  </a:lnTo>
                  <a:lnTo>
                    <a:pt x="28555" y="1036455"/>
                  </a:lnTo>
                  <a:lnTo>
                    <a:pt x="2428" y="997335"/>
                  </a:lnTo>
                  <a:lnTo>
                    <a:pt x="0" y="97848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549640" y="4434840"/>
              <a:ext cx="73025" cy="1051560"/>
            </a:xfrm>
            <a:custGeom>
              <a:avLst/>
              <a:gdLst/>
              <a:ahLst/>
              <a:cxnLst/>
              <a:rect l="l" t="t" r="r" b="b"/>
              <a:pathLst>
                <a:path w="73025" h="1051560">
                  <a:moveTo>
                    <a:pt x="72720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36360" y="1051204"/>
                  </a:lnTo>
                  <a:lnTo>
                    <a:pt x="72720" y="105120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765184" y="4339336"/>
            <a:ext cx="2425700" cy="8976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550" b="1" spc="-10">
                <a:solidFill>
                  <a:srgbClr val="A8503B"/>
                </a:solidFill>
                <a:latin typeface="Arial"/>
                <a:cs typeface="Arial"/>
              </a:rPr>
              <a:t>Valores</a:t>
            </a:r>
            <a:r>
              <a:rPr lang="es-MX" sz="1550" b="1" spc="-9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550" b="1" spc="-10">
                <a:solidFill>
                  <a:srgbClr val="A8503B"/>
                </a:solidFill>
                <a:latin typeface="Arial"/>
                <a:cs typeface="Arial"/>
              </a:rPr>
              <a:t>extremos</a:t>
            </a:r>
            <a:endParaRPr lang="es-MX" sz="1550">
              <a:latin typeface="Arial"/>
              <a:cs typeface="Arial"/>
            </a:endParaRPr>
          </a:p>
          <a:p>
            <a:pPr marL="12700" marR="5080"/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Al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retirar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&gt;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Q3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+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3·IQR,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MX" sz="14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spc="-25">
                <a:solidFill>
                  <a:srgbClr val="1F2F28"/>
                </a:solidFill>
                <a:latin typeface="Arial"/>
                <a:cs typeface="Arial"/>
              </a:rPr>
              <a:t>de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medianas</a:t>
            </a:r>
            <a:r>
              <a:rPr lang="es-MX" sz="14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r>
              <a:rPr lang="es-MX" sz="14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queda</a:t>
            </a:r>
            <a:r>
              <a:rPr lang="es-MX" sz="14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4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>
                <a:solidFill>
                  <a:srgbClr val="1F2F28"/>
                </a:solidFill>
                <a:latin typeface="Arial"/>
                <a:cs typeface="Arial"/>
              </a:rPr>
              <a:t>5,85</a:t>
            </a:r>
            <a:r>
              <a:rPr lang="es-MX" sz="14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spc="-25">
                <a:solidFill>
                  <a:srgbClr val="1F2F28"/>
                </a:solidFill>
                <a:latin typeface="Arial"/>
                <a:cs typeface="Arial"/>
              </a:rPr>
              <a:t>m.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10000" y="6063017"/>
            <a:ext cx="99720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Robustez</a:t>
            </a:r>
            <a:r>
              <a:rPr lang="es-MX" sz="1400" b="1" spc="-3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al</a:t>
            </a:r>
            <a:r>
              <a:rPr lang="es-MX" sz="1400" b="1" spc="-2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tamaño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de</a:t>
            </a:r>
            <a:r>
              <a:rPr lang="es-MX" sz="1400" b="1" spc="-2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gránulo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no</a:t>
            </a:r>
            <a:r>
              <a:rPr lang="es-MX" sz="1400" b="1" spc="-2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elimina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el</a:t>
            </a:r>
            <a:r>
              <a:rPr lang="es-MX" sz="1400" b="1" spc="-2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problema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de</a:t>
            </a:r>
            <a:r>
              <a:rPr lang="es-MX" sz="1400" b="1" spc="-2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selección</a:t>
            </a:r>
            <a:r>
              <a:rPr lang="es-MX" sz="1400" b="1" spc="-2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de</a:t>
            </a:r>
            <a:r>
              <a:rPr lang="es-MX" sz="1400" b="1" spc="-2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calidad: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son</a:t>
            </a:r>
            <a:r>
              <a:rPr lang="es-MX" sz="1400" b="1" spc="-2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dimensiones</a:t>
            </a:r>
            <a:r>
              <a:rPr lang="es-MX" sz="1400" b="1" spc="-2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distintas</a:t>
            </a:r>
            <a:r>
              <a:rPr lang="es-MX" sz="1400" b="1" spc="-2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0070C0"/>
                </a:solidFill>
                <a:latin typeface="Arial"/>
                <a:cs typeface="Arial"/>
              </a:rPr>
              <a:t>del</a:t>
            </a:r>
            <a:r>
              <a:rPr lang="es-MX" sz="1400" b="1" spc="-1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0070C0"/>
                </a:solidFill>
                <a:latin typeface="Arial"/>
                <a:cs typeface="Arial"/>
              </a:rPr>
              <a:t>análisis.</a:t>
            </a:r>
            <a:endParaRPr lang="es-MX" sz="140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77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78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79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26/43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0219" y="492760"/>
            <a:ext cx="104400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Sesgo</a:t>
            </a:r>
            <a:r>
              <a:rPr spc="-70"/>
              <a:t> </a:t>
            </a:r>
            <a:r>
              <a:t>de</a:t>
            </a:r>
            <a:r>
              <a:rPr spc="-75"/>
              <a:t> </a:t>
            </a:r>
            <a:r>
              <a:t>selección:</a:t>
            </a:r>
            <a:r>
              <a:rPr spc="-70"/>
              <a:t> </a:t>
            </a:r>
            <a:r>
              <a:t>la</a:t>
            </a:r>
            <a:r>
              <a:rPr spc="-75"/>
              <a:t> </a:t>
            </a:r>
            <a:r>
              <a:t>incertidumbre</a:t>
            </a:r>
            <a:r>
              <a:rPr spc="-70"/>
              <a:t> </a:t>
            </a:r>
            <a:r>
              <a:t>no</a:t>
            </a:r>
            <a:r>
              <a:rPr spc="-70"/>
              <a:t> </a:t>
            </a:r>
            <a:r>
              <a:t>está</a:t>
            </a:r>
            <a:r>
              <a:rPr spc="-75"/>
              <a:t> </a:t>
            </a:r>
            <a:r>
              <a:t>disponible</a:t>
            </a:r>
            <a:r>
              <a:rPr spc="-70"/>
              <a:t> </a:t>
            </a:r>
            <a:r>
              <a:t>al</a:t>
            </a:r>
            <a:r>
              <a:rPr spc="-75"/>
              <a:t> </a:t>
            </a:r>
            <a:r>
              <a:rPr spc="-20"/>
              <a:t>azar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68680" y="1195755"/>
            <a:ext cx="6217920" cy="4161154"/>
            <a:chOff x="868680" y="1417319"/>
            <a:chExt cx="6217920" cy="4161154"/>
          </a:xfrm>
        </p:grpSpPr>
        <p:sp>
          <p:nvSpPr>
            <p:cNvPr id="6" name="object 6"/>
            <p:cNvSpPr/>
            <p:nvPr/>
          </p:nvSpPr>
          <p:spPr>
            <a:xfrm>
              <a:off x="868680" y="1417319"/>
              <a:ext cx="6217920" cy="4161154"/>
            </a:xfrm>
            <a:custGeom>
              <a:avLst/>
              <a:gdLst/>
              <a:ahLst/>
              <a:cxnLst/>
              <a:rect l="l" t="t" r="r" b="b"/>
              <a:pathLst>
                <a:path w="6217920" h="4161154">
                  <a:moveTo>
                    <a:pt x="0" y="4160519"/>
                  </a:moveTo>
                  <a:lnTo>
                    <a:pt x="6217920" y="4160875"/>
                  </a:lnTo>
                </a:path>
                <a:path w="6217920" h="4161154">
                  <a:moveTo>
                    <a:pt x="0" y="0"/>
                  </a:moveTo>
                  <a:lnTo>
                    <a:pt x="355" y="4160519"/>
                  </a:lnTo>
                </a:path>
              </a:pathLst>
            </a:custGeom>
            <a:ln w="1007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8680" y="2110676"/>
              <a:ext cx="6217920" cy="3467735"/>
            </a:xfrm>
            <a:custGeom>
              <a:avLst/>
              <a:gdLst/>
              <a:ahLst/>
              <a:cxnLst/>
              <a:rect l="l" t="t" r="r" b="b"/>
              <a:pathLst>
                <a:path w="6217920" h="3467735">
                  <a:moveTo>
                    <a:pt x="0" y="3467163"/>
                  </a:moveTo>
                  <a:lnTo>
                    <a:pt x="6217920" y="3467519"/>
                  </a:lnTo>
                </a:path>
                <a:path w="6217920" h="3467735">
                  <a:moveTo>
                    <a:pt x="0" y="2600286"/>
                  </a:moveTo>
                  <a:lnTo>
                    <a:pt x="6217920" y="2600642"/>
                  </a:lnTo>
                </a:path>
                <a:path w="6217920" h="3467735">
                  <a:moveTo>
                    <a:pt x="0" y="1733397"/>
                  </a:moveTo>
                  <a:lnTo>
                    <a:pt x="6217920" y="1733765"/>
                  </a:lnTo>
                </a:path>
                <a:path w="6217920" h="3467735">
                  <a:moveTo>
                    <a:pt x="0" y="866521"/>
                  </a:moveTo>
                  <a:lnTo>
                    <a:pt x="6217920" y="866889"/>
                  </a:lnTo>
                </a:path>
                <a:path w="6217920" h="3467735">
                  <a:moveTo>
                    <a:pt x="0" y="0"/>
                  </a:moveTo>
                  <a:lnTo>
                    <a:pt x="6217920" y="368"/>
                  </a:lnTo>
                </a:path>
              </a:pathLst>
            </a:custGeom>
            <a:ln w="575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29801" y="3673081"/>
              <a:ext cx="265430" cy="1904364"/>
            </a:xfrm>
            <a:custGeom>
              <a:avLst/>
              <a:gdLst/>
              <a:ahLst/>
              <a:cxnLst/>
              <a:rect l="l" t="t" r="r" b="b"/>
              <a:pathLst>
                <a:path w="265430" h="1904364">
                  <a:moveTo>
                    <a:pt x="264960" y="0"/>
                  </a:moveTo>
                  <a:lnTo>
                    <a:pt x="0" y="0"/>
                  </a:lnTo>
                  <a:lnTo>
                    <a:pt x="0" y="1904034"/>
                  </a:lnTo>
                  <a:lnTo>
                    <a:pt x="132473" y="1904034"/>
                  </a:lnTo>
                  <a:lnTo>
                    <a:pt x="264960" y="1904034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6D8D7C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1477" y="2022119"/>
              <a:ext cx="265430" cy="3555365"/>
            </a:xfrm>
            <a:custGeom>
              <a:avLst/>
              <a:gdLst/>
              <a:ahLst/>
              <a:cxnLst/>
              <a:rect l="l" t="t" r="r" b="b"/>
              <a:pathLst>
                <a:path w="265430" h="3555365">
                  <a:moveTo>
                    <a:pt x="264960" y="0"/>
                  </a:moveTo>
                  <a:lnTo>
                    <a:pt x="0" y="0"/>
                  </a:lnTo>
                  <a:lnTo>
                    <a:pt x="0" y="3554996"/>
                  </a:lnTo>
                  <a:lnTo>
                    <a:pt x="132486" y="3554996"/>
                  </a:lnTo>
                  <a:lnTo>
                    <a:pt x="264960" y="3554996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A8503B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17045" y="3884764"/>
              <a:ext cx="265430" cy="1692910"/>
            </a:xfrm>
            <a:custGeom>
              <a:avLst/>
              <a:gdLst/>
              <a:ahLst/>
              <a:cxnLst/>
              <a:rect l="l" t="t" r="r" b="b"/>
              <a:pathLst>
                <a:path w="265429" h="1692910">
                  <a:moveTo>
                    <a:pt x="264960" y="0"/>
                  </a:moveTo>
                  <a:lnTo>
                    <a:pt x="0" y="0"/>
                  </a:lnTo>
                  <a:lnTo>
                    <a:pt x="0" y="1692351"/>
                  </a:lnTo>
                  <a:lnTo>
                    <a:pt x="132473" y="1692351"/>
                  </a:lnTo>
                  <a:lnTo>
                    <a:pt x="264960" y="1692351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6D8D7C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6577" y="4403979"/>
            <a:ext cx="122524" cy="19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spc="-50">
                <a:solidFill>
                  <a:srgbClr val="000000"/>
                </a:solidFill>
                <a:latin typeface="Arial"/>
                <a:cs typeface="Arial"/>
              </a:rPr>
              <a:t>5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622" y="3537458"/>
            <a:ext cx="210642" cy="19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spc="-25">
                <a:solidFill>
                  <a:srgbClr val="000000"/>
                </a:solidFill>
                <a:latin typeface="Arial"/>
                <a:cs typeface="Arial"/>
              </a:rPr>
              <a:t>10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622" y="2670581"/>
            <a:ext cx="210642" cy="19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spc="-25">
                <a:solidFill>
                  <a:srgbClr val="000000"/>
                </a:solidFill>
                <a:latin typeface="Arial"/>
                <a:cs typeface="Arial"/>
              </a:rPr>
              <a:t>15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622" y="1803692"/>
            <a:ext cx="210642" cy="19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spc="-25">
                <a:solidFill>
                  <a:srgbClr val="000000"/>
                </a:solidFill>
                <a:latin typeface="Arial"/>
                <a:cs typeface="Arial"/>
              </a:rPr>
              <a:t>20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706" y="2881590"/>
            <a:ext cx="257956" cy="1191508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307340" marR="5080" indent="-295275">
              <a:lnSpc>
                <a:spcPts val="980"/>
              </a:lnSpc>
              <a:spcBef>
                <a:spcPts val="130"/>
              </a:spcBef>
            </a:pPr>
            <a:r>
              <a:rPr lang="es-ES" sz="1150">
                <a:solidFill>
                  <a:srgbClr val="000000"/>
                </a:solidFill>
                <a:latin typeface="Arial"/>
                <a:cs typeface="Arial"/>
              </a:rPr>
              <a:t>Mediana</a:t>
            </a:r>
            <a:r>
              <a:rPr lang="es-ES" sz="1150" spc="-20">
                <a:solidFill>
                  <a:srgbClr val="000000"/>
                </a:solidFill>
                <a:latin typeface="Arial"/>
                <a:cs typeface="Arial"/>
              </a:rPr>
              <a:t> RH98 </a:t>
            </a:r>
            <a:r>
              <a:rPr lang="es-ES" sz="1150" spc="-25">
                <a:solidFill>
                  <a:srgbClr val="000000"/>
                </a:solidFill>
                <a:latin typeface="Arial"/>
                <a:cs typeface="Arial"/>
              </a:rPr>
              <a:t>(m)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36177" y="3211296"/>
            <a:ext cx="334846" cy="19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20">
                <a:solidFill>
                  <a:srgbClr val="6D8D7C"/>
                </a:solidFill>
                <a:latin typeface="Arial"/>
                <a:cs typeface="Arial"/>
              </a:rPr>
              <a:t>11,0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53304" y="3422612"/>
            <a:ext cx="255121" cy="19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25">
                <a:solidFill>
                  <a:srgbClr val="6D8D7C"/>
                </a:solidFill>
                <a:latin typeface="Arial"/>
                <a:cs typeface="Arial"/>
              </a:rPr>
              <a:t>9,8</a:t>
            </a:r>
            <a:endParaRPr lang="es-ES" sz="11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33195" y="1332916"/>
            <a:ext cx="4650740" cy="4023360"/>
            <a:chOff x="1033195" y="1554480"/>
            <a:chExt cx="4650740" cy="4023360"/>
          </a:xfrm>
        </p:grpSpPr>
        <p:sp>
          <p:nvSpPr>
            <p:cNvPr id="19" name="object 19"/>
            <p:cNvSpPr/>
            <p:nvPr/>
          </p:nvSpPr>
          <p:spPr>
            <a:xfrm>
              <a:off x="5418721" y="3279965"/>
              <a:ext cx="265430" cy="2298065"/>
            </a:xfrm>
            <a:custGeom>
              <a:avLst/>
              <a:gdLst/>
              <a:ahLst/>
              <a:cxnLst/>
              <a:rect l="l" t="t" r="r" b="b"/>
              <a:pathLst>
                <a:path w="265429" h="2298065">
                  <a:moveTo>
                    <a:pt x="264960" y="0"/>
                  </a:moveTo>
                  <a:lnTo>
                    <a:pt x="0" y="0"/>
                  </a:lnTo>
                  <a:lnTo>
                    <a:pt x="0" y="2297518"/>
                  </a:lnTo>
                  <a:lnTo>
                    <a:pt x="132473" y="2297518"/>
                  </a:lnTo>
                  <a:lnTo>
                    <a:pt x="264960" y="2297518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33195" y="1554480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5">
                  <a:moveTo>
                    <a:pt x="109448" y="0"/>
                  </a:moveTo>
                  <a:lnTo>
                    <a:pt x="0" y="0"/>
                  </a:lnTo>
                  <a:lnTo>
                    <a:pt x="0" y="109435"/>
                  </a:lnTo>
                  <a:lnTo>
                    <a:pt x="54724" y="109435"/>
                  </a:lnTo>
                  <a:lnTo>
                    <a:pt x="109448" y="109435"/>
                  </a:lnTo>
                  <a:lnTo>
                    <a:pt x="109448" y="0"/>
                  </a:lnTo>
                  <a:close/>
                </a:path>
              </a:pathLst>
            </a:custGeom>
            <a:solidFill>
              <a:srgbClr val="6D8D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80359" y="1554480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5">
                  <a:moveTo>
                    <a:pt x="109435" y="0"/>
                  </a:moveTo>
                  <a:lnTo>
                    <a:pt x="0" y="0"/>
                  </a:lnTo>
                  <a:lnTo>
                    <a:pt x="0" y="109435"/>
                  </a:lnTo>
                  <a:lnTo>
                    <a:pt x="54724" y="109435"/>
                  </a:lnTo>
                  <a:lnTo>
                    <a:pt x="109435" y="109435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21503" y="2817457"/>
            <a:ext cx="343238" cy="19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20">
                <a:solidFill>
                  <a:srgbClr val="A8503B"/>
                </a:solidFill>
                <a:latin typeface="Arial"/>
                <a:cs typeface="Arial"/>
              </a:rPr>
              <a:t>13,3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5024" y="1313383"/>
            <a:ext cx="164246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b="1">
                <a:solidFill>
                  <a:srgbClr val="1F2F28"/>
                </a:solidFill>
                <a:latin typeface="Arial"/>
                <a:cs typeface="Arial"/>
              </a:rPr>
              <a:t>Incertidumbre</a:t>
            </a:r>
            <a:r>
              <a:rPr lang="es-ES" sz="1050" b="1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050" b="1" spc="-10">
                <a:solidFill>
                  <a:srgbClr val="1F2F28"/>
                </a:solidFill>
                <a:latin typeface="Arial"/>
                <a:cs typeface="Arial"/>
              </a:rPr>
              <a:t>disponible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34258" y="1296809"/>
            <a:ext cx="1305819" cy="47320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30"/>
              </a:spcBef>
            </a:pPr>
            <a:r>
              <a:rPr lang="es-ES" sz="115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ES" sz="115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150" b="1" spc="-10">
                <a:solidFill>
                  <a:srgbClr val="1F2F28"/>
                </a:solidFill>
                <a:latin typeface="Arial"/>
                <a:cs typeface="Arial"/>
              </a:rPr>
              <a:t>disponible</a:t>
            </a:r>
            <a:endParaRPr lang="es-ES"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lang="es-ES" sz="1150" b="1" spc="-20">
                <a:solidFill>
                  <a:srgbClr val="A8503B"/>
                </a:solidFill>
                <a:latin typeface="Arial"/>
                <a:cs typeface="Arial"/>
              </a:rPr>
              <a:t>20,5</a:t>
            </a:r>
            <a:endParaRPr lang="es-ES" sz="11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466224" y="1191256"/>
            <a:ext cx="1765300" cy="1335405"/>
            <a:chOff x="7466224" y="1412820"/>
            <a:chExt cx="1765300" cy="1335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6" name="object 26"/>
            <p:cNvSpPr/>
            <p:nvPr/>
          </p:nvSpPr>
          <p:spPr>
            <a:xfrm>
              <a:off x="7470724" y="1417319"/>
              <a:ext cx="1755775" cy="1325880"/>
            </a:xfrm>
            <a:custGeom>
              <a:avLst/>
              <a:gdLst/>
              <a:ahLst/>
              <a:cxnLst/>
              <a:rect l="l" t="t" r="r" b="b"/>
              <a:pathLst>
                <a:path w="1755775" h="1325880">
                  <a:moveTo>
                    <a:pt x="168228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79"/>
                  </a:lnTo>
                  <a:lnTo>
                    <a:pt x="1682635" y="1325524"/>
                  </a:lnTo>
                  <a:lnTo>
                    <a:pt x="1727013" y="1310420"/>
                  </a:lnTo>
                  <a:lnTo>
                    <a:pt x="1750169" y="1280695"/>
                  </a:lnTo>
                  <a:lnTo>
                    <a:pt x="1750246" y="1280539"/>
                  </a:lnTo>
                  <a:lnTo>
                    <a:pt x="1753222" y="1271655"/>
                  </a:lnTo>
                  <a:lnTo>
                    <a:pt x="1753282" y="1271476"/>
                  </a:lnTo>
                  <a:lnTo>
                    <a:pt x="1755064" y="1262280"/>
                  </a:lnTo>
                  <a:lnTo>
                    <a:pt x="1755104" y="1262075"/>
                  </a:lnTo>
                  <a:lnTo>
                    <a:pt x="1755688" y="1252804"/>
                  </a:lnTo>
                  <a:lnTo>
                    <a:pt x="1755711" y="1252435"/>
                  </a:lnTo>
                  <a:lnTo>
                    <a:pt x="1755355" y="73075"/>
                  </a:lnTo>
                  <a:lnTo>
                    <a:pt x="1740257" y="28705"/>
                  </a:lnTo>
                  <a:lnTo>
                    <a:pt x="1701309" y="2428"/>
                  </a:lnTo>
                  <a:lnTo>
                    <a:pt x="1691912" y="607"/>
                  </a:lnTo>
                  <a:lnTo>
                    <a:pt x="168228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70724" y="1417319"/>
              <a:ext cx="1755775" cy="1325880"/>
            </a:xfrm>
            <a:custGeom>
              <a:avLst/>
              <a:gdLst/>
              <a:ahLst/>
              <a:cxnLst/>
              <a:rect l="l" t="t" r="r" b="b"/>
              <a:pathLst>
                <a:path w="1755775" h="13258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682280" y="0"/>
                  </a:lnTo>
                  <a:lnTo>
                    <a:pt x="1726800" y="15104"/>
                  </a:lnTo>
                  <a:lnTo>
                    <a:pt x="1752927" y="54224"/>
                  </a:lnTo>
                  <a:lnTo>
                    <a:pt x="1755355" y="73075"/>
                  </a:lnTo>
                  <a:lnTo>
                    <a:pt x="1755711" y="1252435"/>
                  </a:lnTo>
                  <a:lnTo>
                    <a:pt x="1755104" y="1262075"/>
                  </a:lnTo>
                  <a:lnTo>
                    <a:pt x="1753282" y="1271476"/>
                  </a:lnTo>
                  <a:lnTo>
                    <a:pt x="1727013" y="1310420"/>
                  </a:lnTo>
                  <a:lnTo>
                    <a:pt x="1682635" y="1325524"/>
                  </a:lnTo>
                  <a:lnTo>
                    <a:pt x="73075" y="1325879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70724" y="1417319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80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704620" y="1310487"/>
            <a:ext cx="1275715" cy="104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10">
                <a:solidFill>
                  <a:srgbClr val="2E6A46"/>
                </a:solidFill>
                <a:latin typeface="Arial"/>
                <a:cs typeface="Arial"/>
              </a:rPr>
              <a:t>46,4%</a:t>
            </a:r>
            <a:endParaRPr lang="es-ES" sz="2500">
              <a:latin typeface="Arial"/>
              <a:cs typeface="Arial"/>
            </a:endParaRPr>
          </a:p>
          <a:p>
            <a:pPr marL="12700" marR="5080">
              <a:lnSpc>
                <a:spcPts val="1600"/>
              </a:lnSpc>
              <a:spcBef>
                <a:spcPts val="188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r>
              <a:rPr lang="es-ES" sz="1450" b="1" spc="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25">
                <a:solidFill>
                  <a:srgbClr val="1F2F28"/>
                </a:solidFill>
                <a:latin typeface="Arial"/>
                <a:cs typeface="Arial"/>
              </a:rPr>
              <a:t>con </a:t>
            </a: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incertidumbre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523624" y="1191256"/>
            <a:ext cx="1765300" cy="1335405"/>
            <a:chOff x="9523624" y="1412820"/>
            <a:chExt cx="1765300" cy="13354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1" name="object 31"/>
            <p:cNvSpPr/>
            <p:nvPr/>
          </p:nvSpPr>
          <p:spPr>
            <a:xfrm>
              <a:off x="9528124" y="1417319"/>
              <a:ext cx="1755775" cy="1325880"/>
            </a:xfrm>
            <a:custGeom>
              <a:avLst/>
              <a:gdLst/>
              <a:ahLst/>
              <a:cxnLst/>
              <a:rect l="l" t="t" r="r" b="b"/>
              <a:pathLst>
                <a:path w="1755775" h="1325880">
                  <a:moveTo>
                    <a:pt x="168228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79"/>
                  </a:lnTo>
                  <a:lnTo>
                    <a:pt x="1682635" y="1325524"/>
                  </a:lnTo>
                  <a:lnTo>
                    <a:pt x="1727013" y="1310420"/>
                  </a:lnTo>
                  <a:lnTo>
                    <a:pt x="1750169" y="1280695"/>
                  </a:lnTo>
                  <a:lnTo>
                    <a:pt x="1750246" y="1280539"/>
                  </a:lnTo>
                  <a:lnTo>
                    <a:pt x="1753222" y="1271655"/>
                  </a:lnTo>
                  <a:lnTo>
                    <a:pt x="1753282" y="1271476"/>
                  </a:lnTo>
                  <a:lnTo>
                    <a:pt x="1755064" y="1262280"/>
                  </a:lnTo>
                  <a:lnTo>
                    <a:pt x="1755104" y="1262075"/>
                  </a:lnTo>
                  <a:lnTo>
                    <a:pt x="1755688" y="1252804"/>
                  </a:lnTo>
                  <a:lnTo>
                    <a:pt x="1755711" y="1252435"/>
                  </a:lnTo>
                  <a:lnTo>
                    <a:pt x="1755355" y="73075"/>
                  </a:lnTo>
                  <a:lnTo>
                    <a:pt x="1740257" y="28705"/>
                  </a:lnTo>
                  <a:lnTo>
                    <a:pt x="1701309" y="2428"/>
                  </a:lnTo>
                  <a:lnTo>
                    <a:pt x="1691912" y="607"/>
                  </a:lnTo>
                  <a:lnTo>
                    <a:pt x="168228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528124" y="1417319"/>
              <a:ext cx="1755775" cy="1325880"/>
            </a:xfrm>
            <a:custGeom>
              <a:avLst/>
              <a:gdLst/>
              <a:ahLst/>
              <a:cxnLst/>
              <a:rect l="l" t="t" r="r" b="b"/>
              <a:pathLst>
                <a:path w="1755775" h="13258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682280" y="0"/>
                  </a:lnTo>
                  <a:lnTo>
                    <a:pt x="1726800" y="15104"/>
                  </a:lnTo>
                  <a:lnTo>
                    <a:pt x="1752927" y="54224"/>
                  </a:lnTo>
                  <a:lnTo>
                    <a:pt x="1755355" y="73075"/>
                  </a:lnTo>
                  <a:lnTo>
                    <a:pt x="1755711" y="1252435"/>
                  </a:lnTo>
                  <a:lnTo>
                    <a:pt x="1755104" y="1262075"/>
                  </a:lnTo>
                  <a:lnTo>
                    <a:pt x="1753282" y="1271476"/>
                  </a:lnTo>
                  <a:lnTo>
                    <a:pt x="1727013" y="1310420"/>
                  </a:lnTo>
                  <a:lnTo>
                    <a:pt x="1682635" y="1325524"/>
                  </a:lnTo>
                  <a:lnTo>
                    <a:pt x="73075" y="1325879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528124" y="1417319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80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762020" y="1310487"/>
            <a:ext cx="1275715" cy="104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10">
                <a:solidFill>
                  <a:srgbClr val="C3862D"/>
                </a:solidFill>
                <a:latin typeface="Arial"/>
                <a:cs typeface="Arial"/>
              </a:rPr>
              <a:t>77,1%</a:t>
            </a:r>
            <a:endParaRPr lang="es-ES" sz="2500">
              <a:latin typeface="Arial"/>
              <a:cs typeface="Arial"/>
            </a:endParaRPr>
          </a:p>
          <a:p>
            <a:pPr marL="12700" marR="5080">
              <a:lnSpc>
                <a:spcPts val="1600"/>
              </a:lnSpc>
              <a:spcBef>
                <a:spcPts val="1880"/>
              </a:spcBef>
            </a:pPr>
            <a:r>
              <a:rPr lang="es-ES" sz="1450" b="1">
                <a:solidFill>
                  <a:srgbClr val="1F2F28"/>
                </a:solidFill>
                <a:latin typeface="Arial"/>
                <a:cs typeface="Arial"/>
              </a:rPr>
              <a:t>Estepa</a:t>
            </a:r>
            <a:r>
              <a:rPr lang="es-ES" sz="1450" b="1" spc="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b="1" spc="-25">
                <a:solidFill>
                  <a:srgbClr val="1F2F28"/>
                </a:solidFill>
                <a:latin typeface="Arial"/>
                <a:cs typeface="Arial"/>
              </a:rPr>
              <a:t>con </a:t>
            </a:r>
            <a:r>
              <a:rPr lang="es-ES" sz="1450" b="1" spc="-10">
                <a:solidFill>
                  <a:srgbClr val="1F2F28"/>
                </a:solidFill>
                <a:latin typeface="Arial"/>
                <a:cs typeface="Arial"/>
              </a:rPr>
              <a:t>incertidumbre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470356" y="2841676"/>
            <a:ext cx="3420000" cy="1425000"/>
            <a:chOff x="7470356" y="3063240"/>
            <a:chExt cx="3813175" cy="1425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6" name="object 36"/>
            <p:cNvSpPr/>
            <p:nvPr/>
          </p:nvSpPr>
          <p:spPr>
            <a:xfrm>
              <a:off x="7470356" y="3063240"/>
              <a:ext cx="3813175" cy="1425000"/>
            </a:xfrm>
            <a:custGeom>
              <a:avLst/>
              <a:gdLst/>
              <a:ahLst/>
              <a:cxnLst/>
              <a:rect l="l" t="t" r="r" b="b"/>
              <a:pathLst>
                <a:path w="3813175" h="1207135">
                  <a:moveTo>
                    <a:pt x="3739680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33995"/>
                  </a:lnTo>
                  <a:lnTo>
                    <a:pt x="597" y="1143273"/>
                  </a:lnTo>
                  <a:lnTo>
                    <a:pt x="607" y="1143423"/>
                  </a:lnTo>
                  <a:lnTo>
                    <a:pt x="21291" y="1185613"/>
                  </a:lnTo>
                  <a:lnTo>
                    <a:pt x="63449" y="1206476"/>
                  </a:lnTo>
                  <a:lnTo>
                    <a:pt x="73088" y="1207084"/>
                  </a:lnTo>
                  <a:lnTo>
                    <a:pt x="3740048" y="1206715"/>
                  </a:lnTo>
                  <a:lnTo>
                    <a:pt x="3784418" y="1191674"/>
                  </a:lnTo>
                  <a:lnTo>
                    <a:pt x="3810680" y="1152718"/>
                  </a:lnTo>
                  <a:lnTo>
                    <a:pt x="3813101" y="1133995"/>
                  </a:lnTo>
                  <a:lnTo>
                    <a:pt x="3813124" y="1133640"/>
                  </a:lnTo>
                  <a:lnTo>
                    <a:pt x="3812768" y="73075"/>
                  </a:lnTo>
                  <a:lnTo>
                    <a:pt x="3797714" y="28705"/>
                  </a:lnTo>
                  <a:lnTo>
                    <a:pt x="3758720" y="2428"/>
                  </a:lnTo>
                  <a:lnTo>
                    <a:pt x="3749319" y="607"/>
                  </a:lnTo>
                  <a:lnTo>
                    <a:pt x="373968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70356" y="3063240"/>
              <a:ext cx="3813175" cy="1425000"/>
            </a:xfrm>
            <a:custGeom>
              <a:avLst/>
              <a:gdLst/>
              <a:ahLst/>
              <a:cxnLst/>
              <a:rect l="l" t="t" r="r" b="b"/>
              <a:pathLst>
                <a:path w="3813175" h="1207135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46"/>
                  </a:lnTo>
                  <a:lnTo>
                    <a:pt x="73088" y="0"/>
                  </a:lnTo>
                  <a:lnTo>
                    <a:pt x="3739680" y="0"/>
                  </a:lnTo>
                  <a:lnTo>
                    <a:pt x="3784363" y="15104"/>
                  </a:lnTo>
                  <a:lnTo>
                    <a:pt x="3810338" y="54357"/>
                  </a:lnTo>
                  <a:lnTo>
                    <a:pt x="3812768" y="73075"/>
                  </a:lnTo>
                  <a:lnTo>
                    <a:pt x="3813124" y="1133640"/>
                  </a:lnTo>
                  <a:lnTo>
                    <a:pt x="3812516" y="1143273"/>
                  </a:lnTo>
                  <a:lnTo>
                    <a:pt x="3810695" y="1152674"/>
                  </a:lnTo>
                  <a:lnTo>
                    <a:pt x="3784418" y="1191674"/>
                  </a:lnTo>
                  <a:lnTo>
                    <a:pt x="3740048" y="1206715"/>
                  </a:lnTo>
                  <a:lnTo>
                    <a:pt x="73088" y="1207084"/>
                  </a:lnTo>
                  <a:lnTo>
                    <a:pt x="28405" y="1191974"/>
                  </a:lnTo>
                  <a:lnTo>
                    <a:pt x="2430" y="1152718"/>
                  </a:lnTo>
                  <a:lnTo>
                    <a:pt x="0" y="113399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70724" y="3063240"/>
              <a:ext cx="73025" cy="1425000"/>
            </a:xfrm>
            <a:custGeom>
              <a:avLst/>
              <a:gdLst/>
              <a:ahLst/>
              <a:cxnLst/>
              <a:rect l="l" t="t" r="r" b="b"/>
              <a:pathLst>
                <a:path w="73025" h="1207135">
                  <a:moveTo>
                    <a:pt x="72720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36360" y="1206715"/>
                  </a:lnTo>
                  <a:lnTo>
                    <a:pt x="72720" y="1206715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686623" y="2838815"/>
            <a:ext cx="3145155" cy="1415064"/>
          </a:xfrm>
          <a:prstGeom prst="rect">
            <a:avLst/>
          </a:prstGeom>
        </p:spPr>
        <p:txBody>
          <a:bodyPr vert="horz" wrap="square" lIns="0" tIns="167005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lang="es-MX" sz="1750" b="1">
                <a:solidFill>
                  <a:srgbClr val="A8503B"/>
                </a:solidFill>
                <a:latin typeface="Arial"/>
                <a:cs typeface="Arial"/>
              </a:rPr>
              <a:t>Dentro</a:t>
            </a:r>
            <a:r>
              <a:rPr lang="es-MX" sz="1750" b="1" spc="-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750" b="1">
                <a:solidFill>
                  <a:srgbClr val="A8503B"/>
                </a:solidFill>
                <a:latin typeface="Arial"/>
                <a:cs typeface="Arial"/>
              </a:rPr>
              <a:t>del</a:t>
            </a:r>
            <a:r>
              <a:rPr lang="es-MX" sz="1750" b="1" spc="-6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750" b="1" spc="-10">
                <a:solidFill>
                  <a:srgbClr val="A8503B"/>
                </a:solidFill>
                <a:latin typeface="Arial"/>
                <a:cs typeface="Arial"/>
              </a:rPr>
              <a:t>Bosque</a:t>
            </a:r>
            <a:endParaRPr lang="es-MX" sz="175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  <a:spcBef>
                <a:spcPts val="1500"/>
              </a:spcBef>
            </a:pP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2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r>
              <a:rPr lang="es-MX" sz="12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sin</a:t>
            </a:r>
            <a:r>
              <a:rPr lang="es-MX" sz="12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incertidumbre</a:t>
            </a:r>
            <a:r>
              <a:rPr lang="es-MX" sz="12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tienen</a:t>
            </a:r>
            <a:r>
              <a:rPr lang="es-MX" sz="12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 spc="-25">
                <a:solidFill>
                  <a:srgbClr val="1F2F28"/>
                </a:solidFill>
                <a:latin typeface="Arial"/>
                <a:cs typeface="Arial"/>
              </a:rPr>
              <a:t>una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mediana</a:t>
            </a:r>
            <a:r>
              <a:rPr lang="es-MX" sz="12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RH98</a:t>
            </a:r>
            <a:r>
              <a:rPr lang="es-MX" sz="12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mucho</a:t>
            </a:r>
            <a:r>
              <a:rPr lang="es-MX" sz="12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mayor</a:t>
            </a:r>
            <a:r>
              <a:rPr lang="es-MX" sz="12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(20,5</a:t>
            </a:r>
            <a:r>
              <a:rPr lang="es-MX" sz="12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m)</a:t>
            </a:r>
            <a:r>
              <a:rPr lang="es-MX" sz="12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que</a:t>
            </a:r>
            <a:r>
              <a:rPr lang="es-MX" sz="1250" spc="-25">
                <a:solidFill>
                  <a:srgbClr val="1F2F28"/>
                </a:solidFill>
                <a:latin typeface="Arial"/>
                <a:cs typeface="Arial"/>
              </a:rPr>
              <a:t> los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disponibles</a:t>
            </a:r>
            <a:r>
              <a:rPr lang="es-MX" sz="125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 spc="-10">
                <a:solidFill>
                  <a:srgbClr val="1F2F28"/>
                </a:solidFill>
                <a:latin typeface="Arial"/>
                <a:cs typeface="Arial"/>
              </a:rPr>
              <a:t>(11,0</a:t>
            </a:r>
            <a:r>
              <a:rPr lang="es-MX" sz="125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 spc="-25">
                <a:solidFill>
                  <a:srgbClr val="1F2F28"/>
                </a:solidFill>
                <a:latin typeface="Arial"/>
                <a:cs typeface="Arial"/>
              </a:rPr>
              <a:t>m).</a:t>
            </a:r>
            <a:endParaRPr lang="es-MX" sz="12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470356" y="4286351"/>
            <a:ext cx="3420000" cy="1230000"/>
            <a:chOff x="7470356" y="4507915"/>
            <a:chExt cx="3813175" cy="1230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1" name="object 41"/>
            <p:cNvSpPr/>
            <p:nvPr/>
          </p:nvSpPr>
          <p:spPr>
            <a:xfrm>
              <a:off x="7470356" y="4507915"/>
              <a:ext cx="3813175" cy="1230000"/>
            </a:xfrm>
            <a:custGeom>
              <a:avLst/>
              <a:gdLst/>
              <a:ahLst/>
              <a:cxnLst/>
              <a:rect l="l" t="t" r="r" b="b"/>
              <a:pathLst>
                <a:path w="3813175" h="1051560">
                  <a:moveTo>
                    <a:pt x="373968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978484"/>
                  </a:lnTo>
                  <a:lnTo>
                    <a:pt x="594" y="987760"/>
                  </a:lnTo>
                  <a:lnTo>
                    <a:pt x="607" y="987962"/>
                  </a:lnTo>
                  <a:lnTo>
                    <a:pt x="2394" y="997157"/>
                  </a:lnTo>
                  <a:lnTo>
                    <a:pt x="2430" y="997340"/>
                  </a:lnTo>
                  <a:lnTo>
                    <a:pt x="5416" y="1006219"/>
                  </a:lnTo>
                  <a:lnTo>
                    <a:pt x="5470" y="1006380"/>
                  </a:lnTo>
                  <a:lnTo>
                    <a:pt x="36360" y="1041844"/>
                  </a:lnTo>
                  <a:lnTo>
                    <a:pt x="73088" y="1051560"/>
                  </a:lnTo>
                  <a:lnTo>
                    <a:pt x="3740048" y="1051204"/>
                  </a:lnTo>
                  <a:lnTo>
                    <a:pt x="3784418" y="1036105"/>
                  </a:lnTo>
                  <a:lnTo>
                    <a:pt x="3810634" y="997340"/>
                  </a:lnTo>
                  <a:lnTo>
                    <a:pt x="3810695" y="997157"/>
                  </a:lnTo>
                  <a:lnTo>
                    <a:pt x="3812477" y="987962"/>
                  </a:lnTo>
                  <a:lnTo>
                    <a:pt x="3812516" y="987760"/>
                  </a:lnTo>
                  <a:lnTo>
                    <a:pt x="3813101" y="978484"/>
                  </a:lnTo>
                  <a:lnTo>
                    <a:pt x="3812768" y="73088"/>
                  </a:lnTo>
                  <a:lnTo>
                    <a:pt x="3797664" y="28710"/>
                  </a:lnTo>
                  <a:lnTo>
                    <a:pt x="3758720" y="2430"/>
                  </a:lnTo>
                  <a:lnTo>
                    <a:pt x="3749319" y="607"/>
                  </a:lnTo>
                  <a:lnTo>
                    <a:pt x="373968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70356" y="4507915"/>
              <a:ext cx="3813175" cy="1230000"/>
            </a:xfrm>
            <a:custGeom>
              <a:avLst/>
              <a:gdLst/>
              <a:ahLst/>
              <a:cxnLst/>
              <a:rect l="l" t="t" r="r" b="b"/>
              <a:pathLst>
                <a:path w="3813175" h="105156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3739680" y="0"/>
                  </a:lnTo>
                  <a:lnTo>
                    <a:pt x="3784213" y="15109"/>
                  </a:lnTo>
                  <a:lnTo>
                    <a:pt x="3810338" y="54232"/>
                  </a:lnTo>
                  <a:lnTo>
                    <a:pt x="3812768" y="73088"/>
                  </a:lnTo>
                  <a:lnTo>
                    <a:pt x="3813124" y="978128"/>
                  </a:lnTo>
                  <a:lnTo>
                    <a:pt x="3812516" y="987760"/>
                  </a:lnTo>
                  <a:lnTo>
                    <a:pt x="3810695" y="997157"/>
                  </a:lnTo>
                  <a:lnTo>
                    <a:pt x="3784418" y="1036105"/>
                  </a:lnTo>
                  <a:lnTo>
                    <a:pt x="3740048" y="1051204"/>
                  </a:lnTo>
                  <a:lnTo>
                    <a:pt x="73088" y="1051560"/>
                  </a:lnTo>
                  <a:lnTo>
                    <a:pt x="28555" y="1036463"/>
                  </a:lnTo>
                  <a:lnTo>
                    <a:pt x="2430" y="997340"/>
                  </a:lnTo>
                  <a:lnTo>
                    <a:pt x="0" y="97848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70724" y="4507915"/>
              <a:ext cx="73025" cy="1230000"/>
            </a:xfrm>
            <a:custGeom>
              <a:avLst/>
              <a:gdLst/>
              <a:ahLst/>
              <a:cxnLst/>
              <a:rect l="l" t="t" r="r" b="b"/>
              <a:pathLst>
                <a:path w="73025" h="1051560">
                  <a:moveTo>
                    <a:pt x="72720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36360" y="1051204"/>
                  </a:lnTo>
                  <a:lnTo>
                    <a:pt x="72720" y="105120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686623" y="4438167"/>
            <a:ext cx="3270250" cy="105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50" b="1" spc="-10">
                <a:solidFill>
                  <a:srgbClr val="C3862D"/>
                </a:solidFill>
                <a:latin typeface="Arial"/>
                <a:cs typeface="Arial"/>
              </a:rPr>
              <a:t>Consecuencia</a:t>
            </a:r>
            <a:endParaRPr lang="es-MX" sz="1750">
              <a:latin typeface="Arial"/>
              <a:cs typeface="Arial"/>
            </a:endParaRPr>
          </a:p>
          <a:p>
            <a:pPr marL="12700" marR="5080">
              <a:lnSpc>
                <a:spcPts val="1500"/>
              </a:lnSpc>
              <a:spcBef>
                <a:spcPts val="1500"/>
              </a:spcBef>
            </a:pP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Exigir</a:t>
            </a:r>
            <a:r>
              <a:rPr lang="es-MX" sz="12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incertidumbre</a:t>
            </a:r>
            <a:r>
              <a:rPr lang="es-MX" sz="12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elimina</a:t>
            </a:r>
            <a:r>
              <a:rPr lang="es-MX" sz="12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2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manera</a:t>
            </a:r>
            <a:r>
              <a:rPr lang="es-MX" sz="12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 spc="-10">
                <a:solidFill>
                  <a:srgbClr val="1F2F28"/>
                </a:solidFill>
                <a:latin typeface="Arial"/>
                <a:cs typeface="Arial"/>
              </a:rPr>
              <a:t>desproporcionada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r>
              <a:rPr lang="es-MX" sz="125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altos</a:t>
            </a:r>
            <a:r>
              <a:rPr lang="es-MX" sz="125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MX" sz="125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r>
              <a:rPr lang="es-MX" sz="125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25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altera</a:t>
            </a:r>
            <a:r>
              <a:rPr lang="es-MX" sz="125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50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250" spc="-10">
                <a:solidFill>
                  <a:srgbClr val="1F2F28"/>
                </a:solidFill>
                <a:latin typeface="Arial"/>
                <a:cs typeface="Arial"/>
              </a:rPr>
              <a:t> contraste.</a:t>
            </a:r>
            <a:endParaRPr lang="es-MX" sz="125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23639" y="5715000"/>
            <a:ext cx="5400961" cy="571206"/>
            <a:chOff x="913676" y="5897524"/>
            <a:chExt cx="6127115" cy="640000"/>
          </a:xfrm>
        </p:grpSpPr>
        <p:sp>
          <p:nvSpPr>
            <p:cNvPr id="46" name="object 46"/>
            <p:cNvSpPr/>
            <p:nvPr/>
          </p:nvSpPr>
          <p:spPr>
            <a:xfrm>
              <a:off x="913676" y="5897524"/>
              <a:ext cx="6127115" cy="640000"/>
            </a:xfrm>
            <a:custGeom>
              <a:avLst/>
              <a:gdLst/>
              <a:ahLst/>
              <a:cxnLst/>
              <a:rect l="l" t="t" r="r" b="b"/>
              <a:pathLst>
                <a:path w="6127115" h="41211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47751"/>
                  </a:lnTo>
                  <a:lnTo>
                    <a:pt x="540" y="356101"/>
                  </a:lnTo>
                  <a:lnTo>
                    <a:pt x="18743" y="392982"/>
                  </a:lnTo>
                  <a:lnTo>
                    <a:pt x="55734" y="411295"/>
                  </a:lnTo>
                  <a:lnTo>
                    <a:pt x="64084" y="411835"/>
                  </a:lnTo>
                  <a:lnTo>
                    <a:pt x="6062764" y="411835"/>
                  </a:lnTo>
                  <a:lnTo>
                    <a:pt x="6101801" y="398477"/>
                  </a:lnTo>
                  <a:lnTo>
                    <a:pt x="6124686" y="364315"/>
                  </a:lnTo>
                  <a:lnTo>
                    <a:pt x="6126848" y="347751"/>
                  </a:lnTo>
                  <a:lnTo>
                    <a:pt x="6126824" y="64071"/>
                  </a:lnTo>
                  <a:lnTo>
                    <a:pt x="6113483" y="25397"/>
                  </a:lnTo>
                  <a:lnTo>
                    <a:pt x="607932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13676" y="5897524"/>
              <a:ext cx="6127115" cy="640000"/>
            </a:xfrm>
            <a:custGeom>
              <a:avLst/>
              <a:gdLst/>
              <a:ahLst/>
              <a:cxnLst/>
              <a:rect l="l" t="t" r="r" b="b"/>
              <a:pathLst>
                <a:path w="6127115" h="41211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6062764" y="355"/>
                  </a:lnTo>
                  <a:lnTo>
                    <a:pt x="6101751" y="13563"/>
                  </a:lnTo>
                  <a:lnTo>
                    <a:pt x="6124686" y="47875"/>
                  </a:lnTo>
                  <a:lnTo>
                    <a:pt x="6126848" y="64439"/>
                  </a:lnTo>
                  <a:lnTo>
                    <a:pt x="6126848" y="347751"/>
                  </a:lnTo>
                  <a:lnTo>
                    <a:pt x="6126307" y="356101"/>
                  </a:lnTo>
                  <a:lnTo>
                    <a:pt x="6124686" y="364315"/>
                  </a:lnTo>
                  <a:lnTo>
                    <a:pt x="6101801" y="398477"/>
                  </a:lnTo>
                  <a:lnTo>
                    <a:pt x="6062764" y="411835"/>
                  </a:lnTo>
                  <a:lnTo>
                    <a:pt x="64084" y="411835"/>
                  </a:lnTo>
                  <a:lnTo>
                    <a:pt x="25097" y="398627"/>
                  </a:lnTo>
                  <a:lnTo>
                    <a:pt x="2162" y="364315"/>
                  </a:lnTo>
                  <a:lnTo>
                    <a:pt x="0" y="347751"/>
                  </a:lnTo>
                  <a:lnTo>
                    <a:pt x="368" y="64071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14400" y="5897879"/>
              <a:ext cx="82550" cy="639365"/>
            </a:xfrm>
            <a:custGeom>
              <a:avLst/>
              <a:gdLst/>
              <a:ahLst/>
              <a:cxnLst/>
              <a:rect l="l" t="t" r="r" b="b"/>
              <a:pathLst>
                <a:path w="82550" h="411479">
                  <a:moveTo>
                    <a:pt x="82080" y="0"/>
                  </a:moveTo>
                  <a:lnTo>
                    <a:pt x="0" y="0"/>
                  </a:lnTo>
                  <a:lnTo>
                    <a:pt x="0" y="411124"/>
                  </a:lnTo>
                  <a:lnTo>
                    <a:pt x="41033" y="411124"/>
                  </a:lnTo>
                  <a:lnTo>
                    <a:pt x="82080" y="411124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44943" y="5170987"/>
            <a:ext cx="6193790" cy="469358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lang="es-MX" sz="1100" spc="-50">
                <a:solidFill>
                  <a:srgbClr val="000000"/>
                </a:solidFill>
                <a:latin typeface="Arial"/>
                <a:cs typeface="Arial"/>
              </a:rPr>
              <a:t>0</a:t>
            </a:r>
            <a:endParaRPr lang="es-MX" sz="1100">
              <a:latin typeface="Arial"/>
              <a:cs typeface="Arial"/>
            </a:endParaRPr>
          </a:p>
          <a:p>
            <a:pPr marL="1860550">
              <a:lnSpc>
                <a:spcPct val="100000"/>
              </a:lnSpc>
              <a:spcBef>
                <a:spcPts val="445"/>
              </a:spcBef>
              <a:tabLst>
                <a:tab pos="4378325" algn="l"/>
              </a:tabLst>
            </a:pPr>
            <a:r>
              <a:rPr lang="es-MX" sz="1250" b="1" spc="-10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r>
              <a:rPr lang="es-MX" sz="1250" b="1">
                <a:solidFill>
                  <a:srgbClr val="1F2F28"/>
                </a:solidFill>
                <a:latin typeface="Arial"/>
                <a:cs typeface="Arial"/>
              </a:rPr>
              <a:t>	</a:t>
            </a:r>
            <a:r>
              <a:rPr lang="es-MX" sz="1250" b="1" spc="-10">
                <a:solidFill>
                  <a:srgbClr val="1F2F28"/>
                </a:solidFill>
                <a:latin typeface="Arial"/>
                <a:cs typeface="Arial"/>
              </a:rPr>
              <a:t>Estepa</a:t>
            </a:r>
            <a:endParaRPr lang="es-MX" sz="12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6577" y="5715000"/>
            <a:ext cx="6193790" cy="5000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330000" marR="330000">
              <a:lnSpc>
                <a:spcPct val="115000"/>
              </a:lnSpc>
              <a:spcBef>
                <a:spcPts val="1900"/>
              </a:spcBef>
            </a:pP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3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filtro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conservador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define</a:t>
            </a:r>
            <a:r>
              <a:rPr lang="es-MX" sz="13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otra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población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3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otro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estimando;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3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es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simplemente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“la</a:t>
            </a:r>
            <a:r>
              <a:rPr lang="es-MX" sz="13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misma</a:t>
            </a:r>
            <a:r>
              <a:rPr lang="es-MX" sz="13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F2F28"/>
                </a:solidFill>
                <a:latin typeface="Arial"/>
                <a:cs typeface="Arial"/>
              </a:rPr>
              <a:t>muestra,</a:t>
            </a:r>
            <a:r>
              <a:rPr lang="es-MX" sz="1300" b="1" spc="-20">
                <a:solidFill>
                  <a:srgbClr val="1F2F28"/>
                </a:solidFill>
                <a:latin typeface="Arial"/>
                <a:cs typeface="Arial"/>
              </a:rPr>
              <a:t> pero </a:t>
            </a:r>
            <a:r>
              <a:rPr lang="es-MX" sz="1300" b="1" spc="-10">
                <a:solidFill>
                  <a:srgbClr val="1F2F28"/>
                </a:solidFill>
                <a:latin typeface="Arial"/>
                <a:cs typeface="Arial"/>
              </a:rPr>
              <a:t>mejor”.</a:t>
            </a:r>
            <a:endParaRPr lang="es-MX" sz="1300">
              <a:latin typeface="Arial"/>
              <a:cs typeface="Arial"/>
            </a:endParaRPr>
          </a:p>
        </p:txBody>
      </p:sp>
      <p:sp>
        <p:nvSpPr>
          <p:cNvPr id="51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2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3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27/43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Sensibilidad</a:t>
            </a:r>
            <a:r>
              <a:rPr spc="-75"/>
              <a:t> </a:t>
            </a:r>
            <a:r>
              <a:t>del</a:t>
            </a:r>
            <a:r>
              <a:rPr spc="-80"/>
              <a:t> </a:t>
            </a:r>
            <a:r>
              <a:t>contraste</a:t>
            </a:r>
            <a:r>
              <a:rPr spc="-80"/>
              <a:t> </a:t>
            </a:r>
            <a:r>
              <a:t>al</a:t>
            </a:r>
            <a:r>
              <a:rPr spc="-80"/>
              <a:t> </a:t>
            </a:r>
            <a:r>
              <a:t>mecanismo</a:t>
            </a:r>
            <a:r>
              <a:rPr spc="-75"/>
              <a:t> </a:t>
            </a:r>
            <a:r>
              <a:t>de</a:t>
            </a:r>
            <a:r>
              <a:rPr spc="-80"/>
              <a:t> </a:t>
            </a:r>
            <a:r>
              <a:rPr spc="-10"/>
              <a:t>selección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094" y="1346530"/>
            <a:ext cx="5252720" cy="4246880"/>
            <a:chOff x="679094" y="1346530"/>
            <a:chExt cx="5252720" cy="4246880"/>
          </a:xfrm>
        </p:grpSpPr>
        <p:sp>
          <p:nvSpPr>
            <p:cNvPr id="6" name="object 6"/>
            <p:cNvSpPr/>
            <p:nvPr/>
          </p:nvSpPr>
          <p:spPr>
            <a:xfrm>
              <a:off x="685444" y="1352880"/>
              <a:ext cx="5240020" cy="4234180"/>
            </a:xfrm>
            <a:custGeom>
              <a:avLst/>
              <a:gdLst/>
              <a:ahLst/>
              <a:cxnLst/>
              <a:rect l="l" t="t" r="r" b="b"/>
              <a:pathLst>
                <a:path w="5240020" h="4234180">
                  <a:moveTo>
                    <a:pt x="516599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4160520"/>
                  </a:lnTo>
                  <a:lnTo>
                    <a:pt x="594" y="4169796"/>
                  </a:lnTo>
                  <a:lnTo>
                    <a:pt x="607" y="4169998"/>
                  </a:lnTo>
                  <a:lnTo>
                    <a:pt x="2393" y="4179193"/>
                  </a:lnTo>
                  <a:lnTo>
                    <a:pt x="2428" y="4179376"/>
                  </a:lnTo>
                  <a:lnTo>
                    <a:pt x="5410" y="4188255"/>
                  </a:lnTo>
                  <a:lnTo>
                    <a:pt x="5464" y="4188416"/>
                  </a:lnTo>
                  <a:lnTo>
                    <a:pt x="36360" y="4223880"/>
                  </a:lnTo>
                  <a:lnTo>
                    <a:pt x="73075" y="4233595"/>
                  </a:lnTo>
                  <a:lnTo>
                    <a:pt x="5166360" y="4233240"/>
                  </a:lnTo>
                  <a:lnTo>
                    <a:pt x="5210730" y="4218141"/>
                  </a:lnTo>
                  <a:lnTo>
                    <a:pt x="5236945" y="4179376"/>
                  </a:lnTo>
                  <a:lnTo>
                    <a:pt x="5237006" y="4179193"/>
                  </a:lnTo>
                  <a:lnTo>
                    <a:pt x="5238789" y="4169998"/>
                  </a:lnTo>
                  <a:lnTo>
                    <a:pt x="5238828" y="4169796"/>
                  </a:lnTo>
                  <a:lnTo>
                    <a:pt x="5239413" y="4160520"/>
                  </a:lnTo>
                  <a:lnTo>
                    <a:pt x="5239435" y="4160164"/>
                  </a:lnTo>
                  <a:lnTo>
                    <a:pt x="5239080" y="73075"/>
                  </a:lnTo>
                  <a:lnTo>
                    <a:pt x="5223976" y="28705"/>
                  </a:lnTo>
                  <a:lnTo>
                    <a:pt x="5185032" y="2428"/>
                  </a:lnTo>
                  <a:lnTo>
                    <a:pt x="5175631" y="607"/>
                  </a:lnTo>
                  <a:lnTo>
                    <a:pt x="5165991" y="0"/>
                  </a:lnTo>
                  <a:close/>
                </a:path>
              </a:pathLst>
            </a:custGeom>
            <a:solidFill>
              <a:srgbClr val="E9F0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444" y="1352880"/>
              <a:ext cx="5240020" cy="4234180"/>
            </a:xfrm>
            <a:custGeom>
              <a:avLst/>
              <a:gdLst/>
              <a:ahLst/>
              <a:cxnLst/>
              <a:rect l="l" t="t" r="r" b="b"/>
              <a:pathLst>
                <a:path w="5240020" h="42341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5165991" y="0"/>
                  </a:lnTo>
                  <a:lnTo>
                    <a:pt x="5210524" y="15104"/>
                  </a:lnTo>
                  <a:lnTo>
                    <a:pt x="5236649" y="54224"/>
                  </a:lnTo>
                  <a:lnTo>
                    <a:pt x="5239080" y="73075"/>
                  </a:lnTo>
                  <a:lnTo>
                    <a:pt x="5239435" y="4160164"/>
                  </a:lnTo>
                  <a:lnTo>
                    <a:pt x="5238828" y="4169796"/>
                  </a:lnTo>
                  <a:lnTo>
                    <a:pt x="5237006" y="4179193"/>
                  </a:lnTo>
                  <a:lnTo>
                    <a:pt x="5210730" y="4218141"/>
                  </a:lnTo>
                  <a:lnTo>
                    <a:pt x="5166360" y="4233240"/>
                  </a:lnTo>
                  <a:lnTo>
                    <a:pt x="73075" y="4233595"/>
                  </a:lnTo>
                  <a:lnTo>
                    <a:pt x="28548" y="4218498"/>
                  </a:lnTo>
                  <a:lnTo>
                    <a:pt x="2428" y="4179376"/>
                  </a:lnTo>
                  <a:lnTo>
                    <a:pt x="0" y="416052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92784" y="1688300"/>
            <a:ext cx="13144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 b="1" spc="100">
                <a:solidFill>
                  <a:srgbClr val="1D4938"/>
                </a:solidFill>
                <a:latin typeface="Arial"/>
                <a:cs typeface="Arial"/>
              </a:rPr>
              <a:t>OPERACIONAL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2784" y="2127504"/>
            <a:ext cx="2261235" cy="1563039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500" b="1">
                <a:solidFill>
                  <a:srgbClr val="1D4938"/>
                </a:solidFill>
                <a:latin typeface="Arial"/>
                <a:cs typeface="Arial"/>
              </a:rPr>
              <a:t>+3,75</a:t>
            </a:r>
            <a:r>
              <a:rPr lang="en-US" sz="3500" b="1" spc="-11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n-US" sz="3500" b="1" spc="-50">
                <a:solidFill>
                  <a:srgbClr val="1D4938"/>
                </a:solidFill>
                <a:latin typeface="Arial"/>
                <a:cs typeface="Arial"/>
              </a:rPr>
              <a:t>m</a:t>
            </a:r>
            <a:endParaRPr lang="en-US"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lang="en-US" sz="1800" b="1">
                <a:solidFill>
                  <a:srgbClr val="1F2F28"/>
                </a:solidFill>
                <a:latin typeface="Arial"/>
                <a:cs typeface="Arial"/>
              </a:rPr>
              <a:t>IC95%:</a:t>
            </a:r>
            <a:r>
              <a:rPr lang="en-US" sz="18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800" b="1">
                <a:solidFill>
                  <a:srgbClr val="1F2F28"/>
                </a:solidFill>
                <a:latin typeface="Arial"/>
                <a:cs typeface="Arial"/>
              </a:rPr>
              <a:t>2,58</a:t>
            </a:r>
            <a:r>
              <a:rPr lang="en-US" sz="18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800" b="1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n-US" sz="18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800" b="1">
                <a:solidFill>
                  <a:srgbClr val="1F2F28"/>
                </a:solidFill>
                <a:latin typeface="Arial"/>
                <a:cs typeface="Arial"/>
              </a:rPr>
              <a:t>6,07</a:t>
            </a:r>
            <a:r>
              <a:rPr lang="en-US" sz="18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800" b="1" spc="-50">
                <a:solidFill>
                  <a:srgbClr val="1F2F28"/>
                </a:solidFill>
                <a:latin typeface="Arial"/>
                <a:cs typeface="Arial"/>
              </a:rPr>
              <a:t>m</a:t>
            </a:r>
            <a:endParaRPr lang="en-US"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05839" y="3410635"/>
            <a:ext cx="4361815" cy="635"/>
          </a:xfrm>
          <a:custGeom>
            <a:avLst/>
            <a:gdLst/>
            <a:ahLst/>
            <a:cxnLst/>
            <a:rect l="l" t="t" r="r" b="b"/>
            <a:pathLst>
              <a:path w="4361815" h="635">
                <a:moveTo>
                  <a:pt x="0" y="0"/>
                </a:moveTo>
                <a:lnTo>
                  <a:pt x="4361395" y="368"/>
                </a:lnTo>
              </a:path>
            </a:pathLst>
          </a:custGeom>
          <a:ln w="15119">
            <a:solidFill>
              <a:srgbClr val="1D49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3139" y="3717975"/>
            <a:ext cx="421767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Evidencia</a:t>
            </a:r>
            <a:r>
              <a:rPr lang="es-MX" sz="17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consistente</a:t>
            </a:r>
            <a:r>
              <a:rPr lang="es-MX" sz="17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700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mayor</a:t>
            </a:r>
            <a:r>
              <a:rPr lang="es-MX" sz="17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RH98</a:t>
            </a:r>
            <a:r>
              <a:rPr lang="es-MX" sz="1700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7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 spc="-25">
                <a:solidFill>
                  <a:srgbClr val="1F2F28"/>
                </a:solidFill>
                <a:latin typeface="Arial"/>
                <a:cs typeface="Arial"/>
              </a:rPr>
              <a:t>la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muestra</a:t>
            </a:r>
            <a:r>
              <a:rPr lang="es-MX" sz="1700" spc="-7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operacional</a:t>
            </a:r>
            <a:r>
              <a:rPr lang="es-MX" sz="1700" spc="-7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7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 spc="-10">
                <a:solidFill>
                  <a:srgbClr val="1F2F28"/>
                </a:solidFill>
                <a:latin typeface="Arial"/>
                <a:cs typeface="Arial"/>
              </a:rPr>
              <a:t>Bosque.</a:t>
            </a:r>
            <a:endParaRPr lang="es-MX"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3139" y="4742548"/>
            <a:ext cx="3864610" cy="40658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0"/>
              </a:spcBef>
            </a:pPr>
            <a:r>
              <a:rPr lang="es-ES" sz="1300">
                <a:solidFill>
                  <a:srgbClr val="000000"/>
                </a:solidFill>
                <a:latin typeface="Arial"/>
                <a:cs typeface="Arial"/>
              </a:rPr>
              <a:t>Pregunta</a:t>
            </a:r>
            <a:r>
              <a:rPr lang="es-ES" sz="1300" spc="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000000"/>
                </a:solidFill>
                <a:latin typeface="Arial"/>
                <a:cs typeface="Arial"/>
              </a:rPr>
              <a:t>respondida:</a:t>
            </a:r>
            <a:r>
              <a:rPr lang="es-ES" sz="1300" spc="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000000"/>
                </a:solidFill>
                <a:latin typeface="Arial"/>
                <a:cs typeface="Arial"/>
              </a:rPr>
              <a:t>diferencia</a:t>
            </a:r>
            <a:r>
              <a:rPr lang="es-ES" sz="1300" spc="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000000"/>
                </a:solidFill>
                <a:latin typeface="Arial"/>
                <a:cs typeface="Arial"/>
              </a:rPr>
              <a:t>entre</a:t>
            </a:r>
            <a:r>
              <a:rPr lang="es-ES" sz="1300" spc="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000000"/>
                </a:solidFill>
                <a:latin typeface="Arial"/>
                <a:cs typeface="Arial"/>
              </a:rPr>
              <a:t>medianas</a:t>
            </a:r>
            <a:r>
              <a:rPr lang="es-ES" sz="1300" spc="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300" spc="-25">
                <a:solidFill>
                  <a:srgbClr val="000000"/>
                </a:solidFill>
                <a:latin typeface="Arial"/>
                <a:cs typeface="Arial"/>
              </a:rPr>
              <a:t>de </a:t>
            </a:r>
            <a:r>
              <a:rPr lang="es-ES" sz="1300">
                <a:solidFill>
                  <a:srgbClr val="000000"/>
                </a:solidFill>
                <a:latin typeface="Arial"/>
                <a:cs typeface="Arial"/>
              </a:rPr>
              <a:t>gránulos</a:t>
            </a:r>
            <a:r>
              <a:rPr lang="es-ES" sz="1300" spc="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000000"/>
                </a:solidFill>
                <a:latin typeface="Arial"/>
                <a:cs typeface="Arial"/>
              </a:rPr>
              <a:t>operacionales.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56934" y="1346530"/>
            <a:ext cx="5252720" cy="4246880"/>
            <a:chOff x="6256934" y="1346530"/>
            <a:chExt cx="5252720" cy="4246880"/>
          </a:xfrm>
        </p:grpSpPr>
        <p:sp>
          <p:nvSpPr>
            <p:cNvPr id="14" name="object 14"/>
            <p:cNvSpPr/>
            <p:nvPr/>
          </p:nvSpPr>
          <p:spPr>
            <a:xfrm>
              <a:off x="6263284" y="1352880"/>
              <a:ext cx="5240020" cy="4234180"/>
            </a:xfrm>
            <a:custGeom>
              <a:avLst/>
              <a:gdLst/>
              <a:ahLst/>
              <a:cxnLst/>
              <a:rect l="l" t="t" r="r" b="b"/>
              <a:pathLst>
                <a:path w="5240020" h="4234180">
                  <a:moveTo>
                    <a:pt x="516599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4160520"/>
                  </a:lnTo>
                  <a:lnTo>
                    <a:pt x="594" y="4169796"/>
                  </a:lnTo>
                  <a:lnTo>
                    <a:pt x="607" y="4169998"/>
                  </a:lnTo>
                  <a:lnTo>
                    <a:pt x="2393" y="4179193"/>
                  </a:lnTo>
                  <a:lnTo>
                    <a:pt x="2428" y="4179376"/>
                  </a:lnTo>
                  <a:lnTo>
                    <a:pt x="5410" y="4188255"/>
                  </a:lnTo>
                  <a:lnTo>
                    <a:pt x="36360" y="4223880"/>
                  </a:lnTo>
                  <a:lnTo>
                    <a:pt x="73075" y="4233595"/>
                  </a:lnTo>
                  <a:lnTo>
                    <a:pt x="5166359" y="4233240"/>
                  </a:lnTo>
                  <a:lnTo>
                    <a:pt x="5210730" y="4218141"/>
                  </a:lnTo>
                  <a:lnTo>
                    <a:pt x="5236945" y="4179376"/>
                  </a:lnTo>
                  <a:lnTo>
                    <a:pt x="5237006" y="4179193"/>
                  </a:lnTo>
                  <a:lnTo>
                    <a:pt x="5238789" y="4169998"/>
                  </a:lnTo>
                  <a:lnTo>
                    <a:pt x="5238828" y="4169796"/>
                  </a:lnTo>
                  <a:lnTo>
                    <a:pt x="5239413" y="4160520"/>
                  </a:lnTo>
                  <a:lnTo>
                    <a:pt x="5239080" y="73075"/>
                  </a:lnTo>
                  <a:lnTo>
                    <a:pt x="5223976" y="28705"/>
                  </a:lnTo>
                  <a:lnTo>
                    <a:pt x="5185032" y="2428"/>
                  </a:lnTo>
                  <a:lnTo>
                    <a:pt x="5175631" y="607"/>
                  </a:lnTo>
                  <a:lnTo>
                    <a:pt x="5165991" y="0"/>
                  </a:lnTo>
                  <a:close/>
                </a:path>
              </a:pathLst>
            </a:custGeom>
            <a:solidFill>
              <a:srgbClr val="F4E9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63284" y="1352880"/>
              <a:ext cx="5240020" cy="4234180"/>
            </a:xfrm>
            <a:custGeom>
              <a:avLst/>
              <a:gdLst/>
              <a:ahLst/>
              <a:cxnLst/>
              <a:rect l="l" t="t" r="r" b="b"/>
              <a:pathLst>
                <a:path w="5240020" h="42341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5165991" y="0"/>
                  </a:lnTo>
                  <a:lnTo>
                    <a:pt x="5210524" y="15104"/>
                  </a:lnTo>
                  <a:lnTo>
                    <a:pt x="5236649" y="54224"/>
                  </a:lnTo>
                  <a:lnTo>
                    <a:pt x="5239080" y="73075"/>
                  </a:lnTo>
                  <a:lnTo>
                    <a:pt x="5239435" y="4160164"/>
                  </a:lnTo>
                  <a:lnTo>
                    <a:pt x="5238828" y="4169796"/>
                  </a:lnTo>
                  <a:lnTo>
                    <a:pt x="5237006" y="4179193"/>
                  </a:lnTo>
                  <a:lnTo>
                    <a:pt x="5210730" y="4218141"/>
                  </a:lnTo>
                  <a:lnTo>
                    <a:pt x="5166359" y="4233240"/>
                  </a:lnTo>
                  <a:lnTo>
                    <a:pt x="73075" y="4233595"/>
                  </a:lnTo>
                  <a:lnTo>
                    <a:pt x="28548" y="4218498"/>
                  </a:lnTo>
                  <a:lnTo>
                    <a:pt x="2428" y="4179376"/>
                  </a:lnTo>
                  <a:lnTo>
                    <a:pt x="0" y="416052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70624" y="1688300"/>
            <a:ext cx="1376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 b="1" spc="90">
                <a:solidFill>
                  <a:srgbClr val="A8503B"/>
                </a:solidFill>
                <a:latin typeface="Arial"/>
                <a:cs typeface="Arial"/>
              </a:rPr>
              <a:t>CONSERVADOR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0624" y="2127504"/>
            <a:ext cx="2336800" cy="1563039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500" b="1">
                <a:solidFill>
                  <a:srgbClr val="A8503B"/>
                </a:solidFill>
                <a:latin typeface="Arial"/>
                <a:cs typeface="Arial"/>
              </a:rPr>
              <a:t>+0,49</a:t>
            </a:r>
            <a:r>
              <a:rPr lang="en-US" sz="3500" b="1" spc="-11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n-US" sz="3500" b="1" spc="-50">
                <a:solidFill>
                  <a:srgbClr val="A8503B"/>
                </a:solidFill>
                <a:latin typeface="Arial"/>
                <a:cs typeface="Arial"/>
              </a:rPr>
              <a:t>m</a:t>
            </a:r>
            <a:endParaRPr lang="en-US"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lang="en-US" sz="1800" b="1">
                <a:solidFill>
                  <a:srgbClr val="1F2F28"/>
                </a:solidFill>
                <a:latin typeface="Arial"/>
                <a:cs typeface="Arial"/>
              </a:rPr>
              <a:t>IC95%:</a:t>
            </a:r>
            <a:r>
              <a:rPr lang="en-US" sz="18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800" b="1" spc="-10">
                <a:solidFill>
                  <a:srgbClr val="1F2F28"/>
                </a:solidFill>
                <a:latin typeface="Arial"/>
                <a:cs typeface="Arial"/>
              </a:rPr>
              <a:t>-</a:t>
            </a:r>
            <a:r>
              <a:rPr lang="en-US" sz="1800" b="1">
                <a:solidFill>
                  <a:srgbClr val="1F2F28"/>
                </a:solidFill>
                <a:latin typeface="Arial"/>
                <a:cs typeface="Arial"/>
              </a:rPr>
              <a:t>1,58</a:t>
            </a:r>
            <a:r>
              <a:rPr lang="en-US" sz="18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800" b="1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n-US" sz="18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800" b="1">
                <a:solidFill>
                  <a:srgbClr val="1F2F28"/>
                </a:solidFill>
                <a:latin typeface="Arial"/>
                <a:cs typeface="Arial"/>
              </a:rPr>
              <a:t>3,14</a:t>
            </a:r>
            <a:r>
              <a:rPr lang="en-US" sz="18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800" b="1" spc="-50">
                <a:solidFill>
                  <a:srgbClr val="1F2F28"/>
                </a:solidFill>
                <a:latin typeface="Arial"/>
                <a:cs typeface="Arial"/>
              </a:rPr>
              <a:t>m</a:t>
            </a:r>
            <a:endParaRPr lang="en-US"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83680" y="3410635"/>
            <a:ext cx="4361815" cy="635"/>
          </a:xfrm>
          <a:custGeom>
            <a:avLst/>
            <a:gdLst/>
            <a:ahLst/>
            <a:cxnLst/>
            <a:rect l="l" t="t" r="r" b="b"/>
            <a:pathLst>
              <a:path w="4361815" h="635">
                <a:moveTo>
                  <a:pt x="0" y="0"/>
                </a:moveTo>
                <a:lnTo>
                  <a:pt x="4361395" y="368"/>
                </a:lnTo>
              </a:path>
            </a:pathLst>
          </a:custGeom>
          <a:ln w="15119">
            <a:solidFill>
              <a:srgbClr val="A85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570980" y="3717975"/>
            <a:ext cx="3893185" cy="80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7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submuestra</a:t>
            </a:r>
            <a:r>
              <a:rPr lang="es-MX" sz="17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700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permite</a:t>
            </a:r>
            <a:r>
              <a:rPr lang="es-MX" sz="1700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resolver</a:t>
            </a:r>
            <a:r>
              <a:rPr lang="es-MX" sz="17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 spc="-25">
                <a:solidFill>
                  <a:srgbClr val="1F2F28"/>
                </a:solidFill>
                <a:latin typeface="Arial"/>
                <a:cs typeface="Arial"/>
              </a:rPr>
              <a:t>una </a:t>
            </a:r>
            <a:r>
              <a:rPr lang="es-MX" sz="1700" spc="-10">
                <a:solidFill>
                  <a:srgbClr val="1F2F28"/>
                </a:solidFill>
                <a:latin typeface="Arial"/>
                <a:cs typeface="Arial"/>
              </a:rPr>
              <a:t>diferencia.</a:t>
            </a:r>
            <a:r>
              <a:rPr lang="es-MX" sz="17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Esto</a:t>
            </a:r>
            <a:r>
              <a:rPr lang="es-MX" sz="17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7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equivale</a:t>
            </a:r>
            <a:r>
              <a:rPr lang="es-MX" sz="17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MX" sz="17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 spc="-10">
                <a:solidFill>
                  <a:srgbClr val="1F2F28"/>
                </a:solidFill>
                <a:latin typeface="Arial"/>
                <a:cs typeface="Arial"/>
              </a:rPr>
              <a:t>demostrar igualdad.</a:t>
            </a:r>
            <a:endParaRPr lang="es-MX" sz="1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0980" y="4742548"/>
            <a:ext cx="3921125" cy="40658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0"/>
              </a:spcBef>
            </a:pPr>
            <a:r>
              <a:rPr lang="es-MX" sz="1300">
                <a:solidFill>
                  <a:srgbClr val="000000"/>
                </a:solidFill>
                <a:latin typeface="Arial"/>
                <a:cs typeface="Arial"/>
              </a:rPr>
              <a:t>Pregunta</a:t>
            </a:r>
            <a:r>
              <a:rPr lang="es-MX" sz="1300" spc="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rgbClr val="000000"/>
                </a:solidFill>
                <a:latin typeface="Arial"/>
                <a:cs typeface="Arial"/>
              </a:rPr>
              <a:t>respondida:</a:t>
            </a:r>
            <a:r>
              <a:rPr lang="es-MX" sz="1300" spc="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rgbClr val="000000"/>
                </a:solidFill>
                <a:latin typeface="Arial"/>
                <a:cs typeface="Arial"/>
              </a:rPr>
              <a:t>diferencia</a:t>
            </a:r>
            <a:r>
              <a:rPr lang="es-MX" sz="1300" spc="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rgbClr val="000000"/>
                </a:solidFill>
                <a:latin typeface="Arial"/>
                <a:cs typeface="Arial"/>
              </a:rPr>
              <a:t>en</a:t>
            </a:r>
            <a:r>
              <a:rPr lang="es-MX" sz="1300" spc="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rgbClr val="000000"/>
                </a:solidFill>
                <a:latin typeface="Arial"/>
                <a:cs typeface="Arial"/>
              </a:rPr>
              <a:t>la</a:t>
            </a:r>
            <a:r>
              <a:rPr lang="es-MX" sz="1300" spc="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rgbClr val="000000"/>
                </a:solidFill>
                <a:latin typeface="Arial"/>
                <a:cs typeface="Arial"/>
              </a:rPr>
              <a:t>población</a:t>
            </a:r>
            <a:r>
              <a:rPr lang="es-MX" sz="1300" spc="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00" spc="-25">
                <a:solidFill>
                  <a:srgbClr val="000000"/>
                </a:solidFill>
                <a:latin typeface="Arial"/>
                <a:cs typeface="Arial"/>
              </a:rPr>
              <a:t>con </a:t>
            </a:r>
            <a:r>
              <a:rPr lang="es-MX" sz="1300">
                <a:solidFill>
                  <a:srgbClr val="000000"/>
                </a:solidFill>
                <a:latin typeface="Arial"/>
                <a:cs typeface="Arial"/>
              </a:rPr>
              <a:t>incertidumbre</a:t>
            </a:r>
            <a:r>
              <a:rPr lang="es-MX" sz="1300" spc="9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rgbClr val="000000"/>
                </a:solidFill>
                <a:latin typeface="Arial"/>
                <a:cs typeface="Arial"/>
              </a:rPr>
              <a:t>disponible.</a:t>
            </a:r>
            <a:endParaRPr lang="es-MX"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12464" y="5865300"/>
            <a:ext cx="9382125" cy="429895"/>
            <a:chOff x="1412464" y="5865300"/>
            <a:chExt cx="9382125" cy="429895"/>
          </a:xfrm>
        </p:grpSpPr>
        <p:sp>
          <p:nvSpPr>
            <p:cNvPr id="22" name="object 22"/>
            <p:cNvSpPr/>
            <p:nvPr/>
          </p:nvSpPr>
          <p:spPr>
            <a:xfrm>
              <a:off x="1416964" y="5869800"/>
              <a:ext cx="9373235" cy="421005"/>
            </a:xfrm>
            <a:custGeom>
              <a:avLst/>
              <a:gdLst/>
              <a:ahLst/>
              <a:cxnLst/>
              <a:rect l="l" t="t" r="r" b="b"/>
              <a:pathLst>
                <a:path w="9373235" h="421004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356755"/>
                  </a:lnTo>
                  <a:lnTo>
                    <a:pt x="538" y="365105"/>
                  </a:lnTo>
                  <a:lnTo>
                    <a:pt x="18735" y="401986"/>
                  </a:lnTo>
                  <a:lnTo>
                    <a:pt x="55728" y="420299"/>
                  </a:lnTo>
                  <a:lnTo>
                    <a:pt x="64071" y="420839"/>
                  </a:lnTo>
                  <a:lnTo>
                    <a:pt x="9308871" y="420839"/>
                  </a:lnTo>
                  <a:lnTo>
                    <a:pt x="9347913" y="407482"/>
                  </a:lnTo>
                  <a:lnTo>
                    <a:pt x="9370795" y="373319"/>
                  </a:lnTo>
                  <a:lnTo>
                    <a:pt x="9372955" y="356755"/>
                  </a:lnTo>
                  <a:lnTo>
                    <a:pt x="9372932" y="64084"/>
                  </a:lnTo>
                  <a:lnTo>
                    <a:pt x="9359597" y="25402"/>
                  </a:lnTo>
                  <a:lnTo>
                    <a:pt x="932543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1E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6964" y="5869800"/>
              <a:ext cx="9373235" cy="421005"/>
            </a:xfrm>
            <a:custGeom>
              <a:avLst/>
              <a:gdLst/>
              <a:ahLst/>
              <a:cxnLst/>
              <a:rect l="l" t="t" r="r" b="b"/>
              <a:pathLst>
                <a:path w="9373235" h="421004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9308871" y="355"/>
                  </a:lnTo>
                  <a:lnTo>
                    <a:pt x="9347863" y="13570"/>
                  </a:lnTo>
                  <a:lnTo>
                    <a:pt x="9370795" y="47880"/>
                  </a:lnTo>
                  <a:lnTo>
                    <a:pt x="9372955" y="64439"/>
                  </a:lnTo>
                  <a:lnTo>
                    <a:pt x="9372955" y="356755"/>
                  </a:lnTo>
                  <a:lnTo>
                    <a:pt x="9372415" y="365105"/>
                  </a:lnTo>
                  <a:lnTo>
                    <a:pt x="9370795" y="373319"/>
                  </a:lnTo>
                  <a:lnTo>
                    <a:pt x="9347913" y="407482"/>
                  </a:lnTo>
                  <a:lnTo>
                    <a:pt x="9308871" y="420839"/>
                  </a:lnTo>
                  <a:lnTo>
                    <a:pt x="64071" y="420839"/>
                  </a:lnTo>
                  <a:lnTo>
                    <a:pt x="25086" y="407632"/>
                  </a:lnTo>
                  <a:lnTo>
                    <a:pt x="2155" y="373319"/>
                  </a:lnTo>
                  <a:lnTo>
                    <a:pt x="0" y="356755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17319" y="5870156"/>
              <a:ext cx="82550" cy="420370"/>
            </a:xfrm>
            <a:custGeom>
              <a:avLst/>
              <a:gdLst/>
              <a:ahLst/>
              <a:cxnLst/>
              <a:rect l="l" t="t" r="r" b="b"/>
              <a:pathLst>
                <a:path w="82550" h="420370">
                  <a:moveTo>
                    <a:pt x="82080" y="0"/>
                  </a:moveTo>
                  <a:lnTo>
                    <a:pt x="0" y="0"/>
                  </a:lnTo>
                  <a:lnTo>
                    <a:pt x="0" y="420128"/>
                  </a:lnTo>
                  <a:lnTo>
                    <a:pt x="41033" y="420128"/>
                  </a:lnTo>
                  <a:lnTo>
                    <a:pt x="82080" y="420128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58505" y="5994615"/>
            <a:ext cx="87725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Conclusión: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contraste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es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sensible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selección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calidad;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ambos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niveles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son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informativos,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pero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 spc="-10">
                <a:solidFill>
                  <a:srgbClr val="1F2F28"/>
                </a:solidFill>
                <a:latin typeface="Arial"/>
                <a:cs typeface="Arial"/>
              </a:rPr>
              <a:t>intercambiables.</a:t>
            </a:r>
            <a:endParaRPr lang="es-MX" sz="1200">
              <a:latin typeface="Arial"/>
              <a:cs typeface="Arial"/>
            </a:endParaRPr>
          </a:p>
        </p:txBody>
      </p:sp>
      <p:sp>
        <p:nvSpPr>
          <p:cNvPr id="26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27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28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28/43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Composición</a:t>
            </a:r>
            <a:r>
              <a:rPr spc="-80"/>
              <a:t> </a:t>
            </a:r>
            <a:r>
              <a:t>de</a:t>
            </a:r>
            <a:r>
              <a:rPr spc="-75"/>
              <a:t> </a:t>
            </a:r>
            <a:r>
              <a:t>cobertura</a:t>
            </a:r>
            <a:r>
              <a:rPr spc="-80"/>
              <a:t> </a:t>
            </a:r>
            <a:r>
              <a:t>y</a:t>
            </a:r>
            <a:r>
              <a:rPr spc="-75"/>
              <a:t> </a:t>
            </a:r>
            <a:r>
              <a:t>condición</a:t>
            </a:r>
            <a:r>
              <a:rPr spc="-75"/>
              <a:t> </a:t>
            </a:r>
            <a:r>
              <a:rPr spc="-20"/>
              <a:t>solar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35317" y="1293761"/>
            <a:ext cx="5450205" cy="4535805"/>
            <a:chOff x="635317" y="1293761"/>
            <a:chExt cx="5450205" cy="45358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40080" y="1298524"/>
              <a:ext cx="5440680" cy="4526280"/>
            </a:xfrm>
            <a:custGeom>
              <a:avLst/>
              <a:gdLst/>
              <a:ahLst/>
              <a:cxnLst/>
              <a:rect l="l" t="t" r="r" b="b"/>
              <a:pathLst>
                <a:path w="5440680" h="4526280">
                  <a:moveTo>
                    <a:pt x="536723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453191"/>
                  </a:lnTo>
                  <a:lnTo>
                    <a:pt x="594" y="4462469"/>
                  </a:lnTo>
                  <a:lnTo>
                    <a:pt x="607" y="4462669"/>
                  </a:lnTo>
                  <a:lnTo>
                    <a:pt x="21423" y="4504809"/>
                  </a:lnTo>
                  <a:lnTo>
                    <a:pt x="63443" y="4525672"/>
                  </a:lnTo>
                  <a:lnTo>
                    <a:pt x="73075" y="4526280"/>
                  </a:lnTo>
                  <a:lnTo>
                    <a:pt x="5367604" y="4525911"/>
                  </a:lnTo>
                  <a:lnTo>
                    <a:pt x="5411974" y="4510820"/>
                  </a:lnTo>
                  <a:lnTo>
                    <a:pt x="5438191" y="4472047"/>
                  </a:lnTo>
                  <a:lnTo>
                    <a:pt x="5438251" y="4471870"/>
                  </a:lnTo>
                  <a:lnTo>
                    <a:pt x="5440034" y="4462669"/>
                  </a:lnTo>
                  <a:lnTo>
                    <a:pt x="5440072" y="4462469"/>
                  </a:lnTo>
                  <a:lnTo>
                    <a:pt x="5440657" y="4453191"/>
                  </a:lnTo>
                  <a:lnTo>
                    <a:pt x="5440680" y="4452835"/>
                  </a:lnTo>
                  <a:lnTo>
                    <a:pt x="5440324" y="73075"/>
                  </a:lnTo>
                  <a:lnTo>
                    <a:pt x="5425220" y="28698"/>
                  </a:lnTo>
                  <a:lnTo>
                    <a:pt x="5386276" y="2428"/>
                  </a:lnTo>
                  <a:lnTo>
                    <a:pt x="5376875" y="607"/>
                  </a:lnTo>
                  <a:lnTo>
                    <a:pt x="536723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80" y="1298524"/>
              <a:ext cx="5440680" cy="4526280"/>
            </a:xfrm>
            <a:custGeom>
              <a:avLst/>
              <a:gdLst/>
              <a:ahLst/>
              <a:cxnLst/>
              <a:rect l="l" t="t" r="r" b="b"/>
              <a:pathLst>
                <a:path w="5440680" h="45262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5367235" y="0"/>
                  </a:lnTo>
                  <a:lnTo>
                    <a:pt x="5411768" y="15096"/>
                  </a:lnTo>
                  <a:lnTo>
                    <a:pt x="5437893" y="54219"/>
                  </a:lnTo>
                  <a:lnTo>
                    <a:pt x="5440324" y="73075"/>
                  </a:lnTo>
                  <a:lnTo>
                    <a:pt x="5440680" y="4452835"/>
                  </a:lnTo>
                  <a:lnTo>
                    <a:pt x="5440072" y="4462469"/>
                  </a:lnTo>
                  <a:lnTo>
                    <a:pt x="5438251" y="4471870"/>
                  </a:lnTo>
                  <a:lnTo>
                    <a:pt x="5411974" y="4510820"/>
                  </a:lnTo>
                  <a:lnTo>
                    <a:pt x="5367604" y="4525911"/>
                  </a:lnTo>
                  <a:lnTo>
                    <a:pt x="73075" y="4526280"/>
                  </a:lnTo>
                  <a:lnTo>
                    <a:pt x="28555" y="4511170"/>
                  </a:lnTo>
                  <a:lnTo>
                    <a:pt x="2428" y="4472047"/>
                  </a:lnTo>
                  <a:lnTo>
                    <a:pt x="0" y="4453191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52499" y="1591818"/>
            <a:ext cx="340169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100" b="1" spc="-10">
                <a:solidFill>
                  <a:srgbClr val="1D4938"/>
                </a:solidFill>
                <a:latin typeface="Arial"/>
                <a:cs typeface="Arial"/>
              </a:rPr>
              <a:t>Composición</a:t>
            </a:r>
            <a:r>
              <a:rPr lang="es-ES" sz="2100" b="1" spc="-4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2100" b="1">
                <a:solidFill>
                  <a:srgbClr val="1D4938"/>
                </a:solidFill>
                <a:latin typeface="Arial"/>
                <a:cs typeface="Arial"/>
              </a:rPr>
              <a:t>de</a:t>
            </a:r>
            <a:r>
              <a:rPr lang="es-ES" sz="2100" b="1" spc="-4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2100" b="1" spc="-10">
                <a:solidFill>
                  <a:srgbClr val="1D4938"/>
                </a:solidFill>
                <a:latin typeface="Arial"/>
                <a:cs typeface="Arial"/>
              </a:rPr>
              <a:t>cobertura</a:t>
            </a:r>
            <a:endParaRPr lang="es-ES" sz="21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74164" y="2423160"/>
            <a:ext cx="3474720" cy="567055"/>
            <a:chOff x="1874164" y="2423160"/>
            <a:chExt cx="3474720" cy="567055"/>
          </a:xfrm>
        </p:grpSpPr>
        <p:sp>
          <p:nvSpPr>
            <p:cNvPr id="10" name="object 10"/>
            <p:cNvSpPr/>
            <p:nvPr/>
          </p:nvSpPr>
          <p:spPr>
            <a:xfrm>
              <a:off x="1874164" y="2423160"/>
              <a:ext cx="2875915" cy="567055"/>
            </a:xfrm>
            <a:custGeom>
              <a:avLst/>
              <a:gdLst/>
              <a:ahLst/>
              <a:cxnLst/>
              <a:rect l="l" t="t" r="r" b="b"/>
              <a:pathLst>
                <a:path w="2875915" h="567055">
                  <a:moveTo>
                    <a:pt x="2875318" y="0"/>
                  </a:moveTo>
                  <a:lnTo>
                    <a:pt x="0" y="0"/>
                  </a:lnTo>
                  <a:lnTo>
                    <a:pt x="0" y="566635"/>
                  </a:lnTo>
                  <a:lnTo>
                    <a:pt x="1437830" y="566635"/>
                  </a:lnTo>
                  <a:lnTo>
                    <a:pt x="2875318" y="566635"/>
                  </a:lnTo>
                  <a:lnTo>
                    <a:pt x="2875318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49838" y="2423160"/>
              <a:ext cx="598805" cy="567055"/>
            </a:xfrm>
            <a:custGeom>
              <a:avLst/>
              <a:gdLst/>
              <a:ahLst/>
              <a:cxnLst/>
              <a:rect l="l" t="t" r="r" b="b"/>
              <a:pathLst>
                <a:path w="598804" h="567055">
                  <a:moveTo>
                    <a:pt x="598677" y="0"/>
                  </a:moveTo>
                  <a:lnTo>
                    <a:pt x="0" y="0"/>
                  </a:lnTo>
                  <a:lnTo>
                    <a:pt x="0" y="566635"/>
                  </a:lnTo>
                  <a:lnTo>
                    <a:pt x="299516" y="566635"/>
                  </a:lnTo>
                  <a:lnTo>
                    <a:pt x="598677" y="566635"/>
                  </a:lnTo>
                  <a:lnTo>
                    <a:pt x="598677" y="0"/>
                  </a:lnTo>
                  <a:close/>
                </a:path>
              </a:pathLst>
            </a:custGeom>
            <a:solidFill>
              <a:srgbClr val="E1B2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00861" y="2508377"/>
            <a:ext cx="594360" cy="3981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endParaRPr lang="es-ES" sz="1200">
              <a:latin typeface="Arial"/>
              <a:cs typeface="Arial"/>
            </a:endParaRPr>
          </a:p>
          <a:p>
            <a:pPr marL="306070">
              <a:lnSpc>
                <a:spcPct val="100000"/>
              </a:lnSpc>
              <a:spcBef>
                <a:spcPts val="30"/>
              </a:spcBef>
            </a:pPr>
            <a:r>
              <a:rPr lang="es-ES" sz="1200" b="1" spc="-25">
                <a:solidFill>
                  <a:srgbClr val="1F2F28"/>
                </a:solidFill>
                <a:latin typeface="Arial"/>
                <a:cs typeface="Arial"/>
              </a:rPr>
              <a:t>AOI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91942" y="2606294"/>
            <a:ext cx="43942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1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82,8%</a:t>
            </a:r>
            <a:endParaRPr lang="es-ES" sz="1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9302" y="2606294"/>
            <a:ext cx="43942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17,2%</a:t>
            </a:r>
            <a:endParaRPr lang="es-ES" sz="11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61464" y="3086900"/>
            <a:ext cx="549986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050" spc="-10">
                <a:solidFill>
                  <a:srgbClr val="000000"/>
                </a:solidFill>
                <a:latin typeface="Arial"/>
                <a:cs typeface="Arial"/>
              </a:rPr>
              <a:t>Forestal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38458" y="3086900"/>
            <a:ext cx="382143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050" spc="-10">
                <a:solidFill>
                  <a:srgbClr val="000000"/>
                </a:solidFill>
                <a:latin typeface="Arial"/>
                <a:cs typeface="Arial"/>
              </a:rPr>
              <a:t>Otras</a:t>
            </a:r>
            <a:endParaRPr lang="es-ES" sz="10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74520" y="3684955"/>
            <a:ext cx="3474720" cy="567055"/>
            <a:chOff x="1874520" y="3684955"/>
            <a:chExt cx="3474720" cy="567055"/>
          </a:xfrm>
        </p:grpSpPr>
        <p:sp>
          <p:nvSpPr>
            <p:cNvPr id="18" name="object 18"/>
            <p:cNvSpPr/>
            <p:nvPr/>
          </p:nvSpPr>
          <p:spPr>
            <a:xfrm>
              <a:off x="1874520" y="3684955"/>
              <a:ext cx="30480" cy="567055"/>
            </a:xfrm>
            <a:custGeom>
              <a:avLst/>
              <a:gdLst/>
              <a:ahLst/>
              <a:cxnLst/>
              <a:rect l="l" t="t" r="r" b="b"/>
              <a:pathLst>
                <a:path w="30480" h="567054">
                  <a:moveTo>
                    <a:pt x="30238" y="0"/>
                  </a:moveTo>
                  <a:lnTo>
                    <a:pt x="0" y="0"/>
                  </a:lnTo>
                  <a:lnTo>
                    <a:pt x="0" y="566648"/>
                  </a:lnTo>
                  <a:lnTo>
                    <a:pt x="15125" y="566648"/>
                  </a:lnTo>
                  <a:lnTo>
                    <a:pt x="30238" y="566648"/>
                  </a:lnTo>
                  <a:lnTo>
                    <a:pt x="30238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05114" y="3684955"/>
              <a:ext cx="3444240" cy="567055"/>
            </a:xfrm>
            <a:custGeom>
              <a:avLst/>
              <a:gdLst/>
              <a:ahLst/>
              <a:cxnLst/>
              <a:rect l="l" t="t" r="r" b="b"/>
              <a:pathLst>
                <a:path w="3444240" h="567054">
                  <a:moveTo>
                    <a:pt x="3443770" y="0"/>
                  </a:moveTo>
                  <a:lnTo>
                    <a:pt x="0" y="0"/>
                  </a:lnTo>
                  <a:lnTo>
                    <a:pt x="0" y="566648"/>
                  </a:lnTo>
                  <a:lnTo>
                    <a:pt x="1721891" y="566648"/>
                  </a:lnTo>
                  <a:lnTo>
                    <a:pt x="3443770" y="566648"/>
                  </a:lnTo>
                  <a:lnTo>
                    <a:pt x="3443770" y="0"/>
                  </a:lnTo>
                  <a:close/>
                </a:path>
              </a:pathLst>
            </a:custGeom>
            <a:solidFill>
              <a:srgbClr val="E1B2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47064" y="3863416"/>
            <a:ext cx="847090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Estepa </a:t>
            </a:r>
            <a:r>
              <a:rPr lang="es-ES" sz="1200" b="1" spc="-25">
                <a:solidFill>
                  <a:srgbClr val="1F2F28"/>
                </a:solidFill>
                <a:latin typeface="Arial"/>
                <a:cs typeface="Arial"/>
              </a:rPr>
              <a:t>AOI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07295" y="3868089"/>
            <a:ext cx="43942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99,1%</a:t>
            </a:r>
            <a:endParaRPr lang="es-ES" sz="11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61464" y="4348708"/>
            <a:ext cx="549986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050" spc="-10">
                <a:solidFill>
                  <a:srgbClr val="000000"/>
                </a:solidFill>
                <a:latin typeface="Arial"/>
                <a:cs typeface="Arial"/>
              </a:rPr>
              <a:t>Forestal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38458" y="4348708"/>
            <a:ext cx="382143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050" spc="-10">
                <a:solidFill>
                  <a:srgbClr val="000000"/>
                </a:solidFill>
                <a:latin typeface="Arial"/>
                <a:cs typeface="Arial"/>
              </a:rPr>
              <a:t>Otras</a:t>
            </a:r>
            <a:endParaRPr lang="es-ES" sz="10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55264" y="4859816"/>
            <a:ext cx="4810125" cy="631190"/>
            <a:chOff x="955264" y="4859816"/>
            <a:chExt cx="4810125" cy="631190"/>
          </a:xfrm>
        </p:grpSpPr>
        <p:sp>
          <p:nvSpPr>
            <p:cNvPr id="25" name="object 25"/>
            <p:cNvSpPr/>
            <p:nvPr/>
          </p:nvSpPr>
          <p:spPr>
            <a:xfrm>
              <a:off x="959764" y="4864316"/>
              <a:ext cx="4801235" cy="622300"/>
            </a:xfrm>
            <a:custGeom>
              <a:avLst/>
              <a:gdLst/>
              <a:ahLst/>
              <a:cxnLst/>
              <a:rect l="l" t="t" r="r" b="b"/>
              <a:pathLst>
                <a:path w="4801235" h="622300">
                  <a:moveTo>
                    <a:pt x="64439" y="0"/>
                  </a:moveTo>
                  <a:lnTo>
                    <a:pt x="25397" y="13364"/>
                  </a:lnTo>
                  <a:lnTo>
                    <a:pt x="2516" y="47524"/>
                  </a:lnTo>
                  <a:lnTo>
                    <a:pt x="0" y="557999"/>
                  </a:lnTo>
                  <a:lnTo>
                    <a:pt x="538" y="566349"/>
                  </a:lnTo>
                  <a:lnTo>
                    <a:pt x="18735" y="603230"/>
                  </a:lnTo>
                  <a:lnTo>
                    <a:pt x="18851" y="603364"/>
                  </a:lnTo>
                  <a:lnTo>
                    <a:pt x="55728" y="621543"/>
                  </a:lnTo>
                  <a:lnTo>
                    <a:pt x="64071" y="622084"/>
                  </a:lnTo>
                  <a:lnTo>
                    <a:pt x="4736871" y="622084"/>
                  </a:lnTo>
                  <a:lnTo>
                    <a:pt x="4775913" y="608726"/>
                  </a:lnTo>
                  <a:lnTo>
                    <a:pt x="4798795" y="574563"/>
                  </a:lnTo>
                  <a:lnTo>
                    <a:pt x="4800955" y="557999"/>
                  </a:lnTo>
                  <a:lnTo>
                    <a:pt x="4800932" y="64084"/>
                  </a:lnTo>
                  <a:lnTo>
                    <a:pt x="4787597" y="25408"/>
                  </a:lnTo>
                  <a:lnTo>
                    <a:pt x="4753435" y="2524"/>
                  </a:lnTo>
                  <a:lnTo>
                    <a:pt x="4736871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9764" y="4864316"/>
              <a:ext cx="4801235" cy="622300"/>
            </a:xfrm>
            <a:custGeom>
              <a:avLst/>
              <a:gdLst/>
              <a:ahLst/>
              <a:cxnLst/>
              <a:rect l="l" t="t" r="r" b="b"/>
              <a:pathLst>
                <a:path w="4801235" h="622300">
                  <a:moveTo>
                    <a:pt x="355" y="64084"/>
                  </a:moveTo>
                  <a:lnTo>
                    <a:pt x="895" y="55736"/>
                  </a:lnTo>
                  <a:lnTo>
                    <a:pt x="2516" y="47524"/>
                  </a:lnTo>
                  <a:lnTo>
                    <a:pt x="25397" y="13364"/>
                  </a:lnTo>
                  <a:lnTo>
                    <a:pt x="64439" y="0"/>
                  </a:lnTo>
                  <a:lnTo>
                    <a:pt x="4736871" y="368"/>
                  </a:lnTo>
                  <a:lnTo>
                    <a:pt x="4775863" y="13570"/>
                  </a:lnTo>
                  <a:lnTo>
                    <a:pt x="4798795" y="47886"/>
                  </a:lnTo>
                  <a:lnTo>
                    <a:pt x="4800955" y="64439"/>
                  </a:lnTo>
                  <a:lnTo>
                    <a:pt x="4800955" y="557999"/>
                  </a:lnTo>
                  <a:lnTo>
                    <a:pt x="4800415" y="566349"/>
                  </a:lnTo>
                  <a:lnTo>
                    <a:pt x="4798795" y="574563"/>
                  </a:lnTo>
                  <a:lnTo>
                    <a:pt x="4775913" y="608726"/>
                  </a:lnTo>
                  <a:lnTo>
                    <a:pt x="4736871" y="622084"/>
                  </a:lnTo>
                  <a:lnTo>
                    <a:pt x="64071" y="622084"/>
                  </a:lnTo>
                  <a:lnTo>
                    <a:pt x="25086" y="608876"/>
                  </a:lnTo>
                  <a:lnTo>
                    <a:pt x="2155" y="574563"/>
                  </a:lnTo>
                  <a:lnTo>
                    <a:pt x="0" y="55799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0119" y="4864684"/>
              <a:ext cx="82550" cy="621665"/>
            </a:xfrm>
            <a:custGeom>
              <a:avLst/>
              <a:gdLst/>
              <a:ahLst/>
              <a:cxnLst/>
              <a:rect l="l" t="t" r="r" b="b"/>
              <a:pathLst>
                <a:path w="82550" h="621664">
                  <a:moveTo>
                    <a:pt x="82080" y="0"/>
                  </a:moveTo>
                  <a:lnTo>
                    <a:pt x="0" y="0"/>
                  </a:lnTo>
                  <a:lnTo>
                    <a:pt x="0" y="621360"/>
                  </a:lnTo>
                  <a:lnTo>
                    <a:pt x="41033" y="621360"/>
                  </a:lnTo>
                  <a:lnTo>
                    <a:pt x="82080" y="62136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94384" y="4946650"/>
            <a:ext cx="4259580" cy="5010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79900"/>
              </a:lnSpc>
              <a:spcBef>
                <a:spcPts val="385"/>
              </a:spcBef>
            </a:pP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2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composición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coincide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contraste</a:t>
            </a:r>
            <a:r>
              <a:rPr lang="es-MX" sz="1200" b="1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de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altura;</a:t>
            </a:r>
            <a:r>
              <a:rPr lang="es-MX" sz="12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por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eso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puede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aislarse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un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efecto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causal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 spc="-10">
                <a:solidFill>
                  <a:srgbClr val="1F2F28"/>
                </a:solidFill>
                <a:latin typeface="Arial"/>
                <a:cs typeface="Arial"/>
              </a:rPr>
              <a:t>“tipo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2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 spc="-10">
                <a:solidFill>
                  <a:srgbClr val="1F2F28"/>
                </a:solidFill>
                <a:latin typeface="Arial"/>
                <a:cs typeface="Arial"/>
              </a:rPr>
              <a:t>cobertura”.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31521" y="1293761"/>
            <a:ext cx="5331460" cy="4535805"/>
            <a:chOff x="6231521" y="1293761"/>
            <a:chExt cx="5331460" cy="45358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0" name="object 30"/>
            <p:cNvSpPr/>
            <p:nvPr/>
          </p:nvSpPr>
          <p:spPr>
            <a:xfrm>
              <a:off x="6236284" y="1298524"/>
              <a:ext cx="5321935" cy="4526280"/>
            </a:xfrm>
            <a:custGeom>
              <a:avLst/>
              <a:gdLst/>
              <a:ahLst/>
              <a:cxnLst/>
              <a:rect l="l" t="t" r="r" b="b"/>
              <a:pathLst>
                <a:path w="5321934" h="4526280">
                  <a:moveTo>
                    <a:pt x="52484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453191"/>
                  </a:lnTo>
                  <a:lnTo>
                    <a:pt x="5412" y="4480932"/>
                  </a:lnTo>
                  <a:lnTo>
                    <a:pt x="5464" y="4481087"/>
                  </a:lnTo>
                  <a:lnTo>
                    <a:pt x="36360" y="4516551"/>
                  </a:lnTo>
                  <a:lnTo>
                    <a:pt x="73075" y="4526280"/>
                  </a:lnTo>
                  <a:lnTo>
                    <a:pt x="5248795" y="4525911"/>
                  </a:lnTo>
                  <a:lnTo>
                    <a:pt x="5293173" y="4510820"/>
                  </a:lnTo>
                  <a:lnTo>
                    <a:pt x="5319383" y="4472047"/>
                  </a:lnTo>
                  <a:lnTo>
                    <a:pt x="5321849" y="4453191"/>
                  </a:lnTo>
                  <a:lnTo>
                    <a:pt x="5321871" y="4452835"/>
                  </a:lnTo>
                  <a:lnTo>
                    <a:pt x="5321515" y="73075"/>
                  </a:lnTo>
                  <a:lnTo>
                    <a:pt x="5306417" y="28698"/>
                  </a:lnTo>
                  <a:lnTo>
                    <a:pt x="5267469" y="2428"/>
                  </a:lnTo>
                  <a:lnTo>
                    <a:pt x="5258072" y="607"/>
                  </a:lnTo>
                  <a:lnTo>
                    <a:pt x="5248440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36284" y="1298524"/>
              <a:ext cx="5321935" cy="4526280"/>
            </a:xfrm>
            <a:custGeom>
              <a:avLst/>
              <a:gdLst/>
              <a:ahLst/>
              <a:cxnLst/>
              <a:rect l="l" t="t" r="r" b="b"/>
              <a:pathLst>
                <a:path w="5321934" h="45262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5248440" y="0"/>
                  </a:lnTo>
                  <a:lnTo>
                    <a:pt x="5292960" y="15096"/>
                  </a:lnTo>
                  <a:lnTo>
                    <a:pt x="5319087" y="54219"/>
                  </a:lnTo>
                  <a:lnTo>
                    <a:pt x="5321515" y="73075"/>
                  </a:lnTo>
                  <a:lnTo>
                    <a:pt x="5321871" y="4452835"/>
                  </a:lnTo>
                  <a:lnTo>
                    <a:pt x="5321264" y="4462469"/>
                  </a:lnTo>
                  <a:lnTo>
                    <a:pt x="5319442" y="4471870"/>
                  </a:lnTo>
                  <a:lnTo>
                    <a:pt x="5293173" y="4510820"/>
                  </a:lnTo>
                  <a:lnTo>
                    <a:pt x="5248795" y="4525911"/>
                  </a:lnTo>
                  <a:lnTo>
                    <a:pt x="73075" y="4526280"/>
                  </a:lnTo>
                  <a:lnTo>
                    <a:pt x="28548" y="4511170"/>
                  </a:lnTo>
                  <a:lnTo>
                    <a:pt x="2428" y="4472047"/>
                  </a:lnTo>
                  <a:lnTo>
                    <a:pt x="0" y="4453191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775905" y="1591818"/>
            <a:ext cx="20389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100" b="1" spc="-10">
                <a:solidFill>
                  <a:srgbClr val="296D6F"/>
                </a:solidFill>
                <a:latin typeface="Arial"/>
                <a:cs typeface="Arial"/>
              </a:rPr>
              <a:t>Condición</a:t>
            </a:r>
            <a:r>
              <a:rPr lang="es-ES" sz="2100" b="1" spc="-60">
                <a:solidFill>
                  <a:srgbClr val="296D6F"/>
                </a:solidFill>
                <a:latin typeface="Arial"/>
                <a:cs typeface="Arial"/>
              </a:rPr>
              <a:t> </a:t>
            </a:r>
            <a:r>
              <a:rPr lang="es-ES" sz="2100" b="1" spc="-10">
                <a:solidFill>
                  <a:srgbClr val="296D6F"/>
                </a:solidFill>
                <a:latin typeface="Arial"/>
                <a:cs typeface="Arial"/>
              </a:rPr>
              <a:t>solar</a:t>
            </a:r>
            <a:endParaRPr lang="es-ES" sz="21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387920" y="2423160"/>
            <a:ext cx="3474720" cy="567055"/>
            <a:chOff x="7387920" y="2423160"/>
            <a:chExt cx="3474720" cy="567055"/>
          </a:xfrm>
        </p:grpSpPr>
        <p:sp>
          <p:nvSpPr>
            <p:cNvPr id="34" name="object 34"/>
            <p:cNvSpPr/>
            <p:nvPr/>
          </p:nvSpPr>
          <p:spPr>
            <a:xfrm>
              <a:off x="7387920" y="2423160"/>
              <a:ext cx="3134360" cy="567055"/>
            </a:xfrm>
            <a:custGeom>
              <a:avLst/>
              <a:gdLst/>
              <a:ahLst/>
              <a:cxnLst/>
              <a:rect l="l" t="t" r="r" b="b"/>
              <a:pathLst>
                <a:path w="3134359" h="567055">
                  <a:moveTo>
                    <a:pt x="3133801" y="0"/>
                  </a:moveTo>
                  <a:lnTo>
                    <a:pt x="0" y="0"/>
                  </a:lnTo>
                  <a:lnTo>
                    <a:pt x="0" y="566635"/>
                  </a:lnTo>
                  <a:lnTo>
                    <a:pt x="1567078" y="566635"/>
                  </a:lnTo>
                  <a:lnTo>
                    <a:pt x="3133801" y="566635"/>
                  </a:lnTo>
                  <a:lnTo>
                    <a:pt x="3133801" y="0"/>
                  </a:lnTo>
                  <a:close/>
                </a:path>
              </a:pathLst>
            </a:custGeom>
            <a:solidFill>
              <a:srgbClr val="6D8D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522077" y="2423160"/>
              <a:ext cx="340360" cy="567055"/>
            </a:xfrm>
            <a:custGeom>
              <a:avLst/>
              <a:gdLst/>
              <a:ahLst/>
              <a:cxnLst/>
              <a:rect l="l" t="t" r="r" b="b"/>
              <a:pathLst>
                <a:path w="340359" h="567055">
                  <a:moveTo>
                    <a:pt x="340207" y="0"/>
                  </a:moveTo>
                  <a:lnTo>
                    <a:pt x="0" y="0"/>
                  </a:lnTo>
                  <a:lnTo>
                    <a:pt x="0" y="566635"/>
                  </a:lnTo>
                  <a:lnTo>
                    <a:pt x="170281" y="566635"/>
                  </a:lnTo>
                  <a:lnTo>
                    <a:pt x="340207" y="566635"/>
                  </a:lnTo>
                  <a:lnTo>
                    <a:pt x="340207" y="0"/>
                  </a:lnTo>
                  <a:close/>
                </a:path>
              </a:pathLst>
            </a:custGeom>
            <a:solidFill>
              <a:srgbClr val="17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714617" y="2601620"/>
            <a:ext cx="593725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Bosque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34945" y="2606294"/>
            <a:ext cx="43942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90,2%</a:t>
            </a:r>
            <a:endParaRPr lang="es-ES" sz="11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578134" y="2518816"/>
            <a:ext cx="22860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2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9,8</a:t>
            </a:r>
            <a:endParaRPr lang="es-ES" sz="11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marL="48895">
              <a:lnSpc>
                <a:spcPct val="100000"/>
              </a:lnSpc>
            </a:pPr>
            <a:r>
              <a:rPr lang="es-ES" sz="115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%</a:t>
            </a:r>
            <a:endParaRPr lang="es-ES" sz="11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75220" y="3086900"/>
            <a:ext cx="254012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Día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497858" y="3086900"/>
            <a:ext cx="445833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050" spc="-10">
                <a:solidFill>
                  <a:srgbClr val="000000"/>
                </a:solidFill>
                <a:latin typeface="Arial"/>
                <a:cs typeface="Arial"/>
              </a:rPr>
              <a:t>Noche</a:t>
            </a:r>
            <a:endParaRPr lang="es-ES" sz="10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388276" y="3684955"/>
            <a:ext cx="3474720" cy="567055"/>
            <a:chOff x="7388276" y="3684955"/>
            <a:chExt cx="3474720" cy="567055"/>
          </a:xfrm>
        </p:grpSpPr>
        <p:sp>
          <p:nvSpPr>
            <p:cNvPr id="42" name="object 42"/>
            <p:cNvSpPr/>
            <p:nvPr/>
          </p:nvSpPr>
          <p:spPr>
            <a:xfrm>
              <a:off x="7388276" y="3684955"/>
              <a:ext cx="2804160" cy="567055"/>
            </a:xfrm>
            <a:custGeom>
              <a:avLst/>
              <a:gdLst/>
              <a:ahLst/>
              <a:cxnLst/>
              <a:rect l="l" t="t" r="r" b="b"/>
              <a:pathLst>
                <a:path w="2804159" h="567054">
                  <a:moveTo>
                    <a:pt x="2803690" y="0"/>
                  </a:moveTo>
                  <a:lnTo>
                    <a:pt x="0" y="0"/>
                  </a:lnTo>
                  <a:lnTo>
                    <a:pt x="0" y="566648"/>
                  </a:lnTo>
                  <a:lnTo>
                    <a:pt x="1401838" y="566648"/>
                  </a:lnTo>
                  <a:lnTo>
                    <a:pt x="2803690" y="566648"/>
                  </a:lnTo>
                  <a:lnTo>
                    <a:pt x="2803690" y="0"/>
                  </a:lnTo>
                  <a:close/>
                </a:path>
              </a:pathLst>
            </a:custGeom>
            <a:solidFill>
              <a:srgbClr val="6D8D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192321" y="3684955"/>
              <a:ext cx="670560" cy="567055"/>
            </a:xfrm>
            <a:custGeom>
              <a:avLst/>
              <a:gdLst/>
              <a:ahLst/>
              <a:cxnLst/>
              <a:rect l="l" t="t" r="r" b="b"/>
              <a:pathLst>
                <a:path w="670559" h="567054">
                  <a:moveTo>
                    <a:pt x="670318" y="0"/>
                  </a:moveTo>
                  <a:lnTo>
                    <a:pt x="0" y="0"/>
                  </a:lnTo>
                  <a:lnTo>
                    <a:pt x="0" y="566648"/>
                  </a:lnTo>
                  <a:lnTo>
                    <a:pt x="335152" y="566648"/>
                  </a:lnTo>
                  <a:lnTo>
                    <a:pt x="670318" y="566648"/>
                  </a:lnTo>
                  <a:lnTo>
                    <a:pt x="670318" y="0"/>
                  </a:lnTo>
                  <a:close/>
                </a:path>
              </a:pathLst>
            </a:custGeom>
            <a:solidFill>
              <a:srgbClr val="173A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774738" y="3863416"/>
            <a:ext cx="534035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Estepa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70417" y="3868089"/>
            <a:ext cx="43942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80,7%</a:t>
            </a:r>
            <a:endParaRPr lang="es-ES" sz="11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307777" y="3868089"/>
            <a:ext cx="43942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19,3%</a:t>
            </a:r>
            <a:endParaRPr lang="es-ES" sz="11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375220" y="4348708"/>
            <a:ext cx="254012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Día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497858" y="4348708"/>
            <a:ext cx="445833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050" spc="-10">
                <a:solidFill>
                  <a:srgbClr val="000000"/>
                </a:solidFill>
                <a:latin typeface="Arial"/>
                <a:cs typeface="Arial"/>
              </a:rPr>
              <a:t>Noche</a:t>
            </a:r>
            <a:endParaRPr lang="es-ES" sz="10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551455" y="4859816"/>
            <a:ext cx="4691380" cy="631190"/>
            <a:chOff x="6551455" y="4859816"/>
            <a:chExt cx="4691380" cy="631190"/>
          </a:xfrm>
        </p:grpSpPr>
        <p:sp>
          <p:nvSpPr>
            <p:cNvPr id="50" name="object 50"/>
            <p:cNvSpPr/>
            <p:nvPr/>
          </p:nvSpPr>
          <p:spPr>
            <a:xfrm>
              <a:off x="6555955" y="4864316"/>
              <a:ext cx="4682490" cy="622300"/>
            </a:xfrm>
            <a:custGeom>
              <a:avLst/>
              <a:gdLst/>
              <a:ahLst/>
              <a:cxnLst/>
              <a:rect l="l" t="t" r="r" b="b"/>
              <a:pathLst>
                <a:path w="4682490" h="622300">
                  <a:moveTo>
                    <a:pt x="64439" y="0"/>
                  </a:moveTo>
                  <a:lnTo>
                    <a:pt x="25408" y="13364"/>
                  </a:lnTo>
                  <a:lnTo>
                    <a:pt x="2524" y="47524"/>
                  </a:lnTo>
                  <a:lnTo>
                    <a:pt x="0" y="557999"/>
                  </a:lnTo>
                  <a:lnTo>
                    <a:pt x="540" y="566349"/>
                  </a:lnTo>
                  <a:lnTo>
                    <a:pt x="18743" y="603230"/>
                  </a:lnTo>
                  <a:lnTo>
                    <a:pt x="55736" y="621543"/>
                  </a:lnTo>
                  <a:lnTo>
                    <a:pt x="64084" y="622084"/>
                  </a:lnTo>
                  <a:lnTo>
                    <a:pt x="4618088" y="622084"/>
                  </a:lnTo>
                  <a:lnTo>
                    <a:pt x="4657125" y="608726"/>
                  </a:lnTo>
                  <a:lnTo>
                    <a:pt x="4680003" y="574563"/>
                  </a:lnTo>
                  <a:lnTo>
                    <a:pt x="4682159" y="557999"/>
                  </a:lnTo>
                  <a:lnTo>
                    <a:pt x="4682136" y="64084"/>
                  </a:lnTo>
                  <a:lnTo>
                    <a:pt x="4668802" y="25408"/>
                  </a:lnTo>
                  <a:lnTo>
                    <a:pt x="4634642" y="2524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1E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55955" y="4864316"/>
              <a:ext cx="4682490" cy="622300"/>
            </a:xfrm>
            <a:custGeom>
              <a:avLst/>
              <a:gdLst/>
              <a:ahLst/>
              <a:cxnLst/>
              <a:rect l="l" t="t" r="r" b="b"/>
              <a:pathLst>
                <a:path w="4682490" h="622300">
                  <a:moveTo>
                    <a:pt x="368" y="64084"/>
                  </a:moveTo>
                  <a:lnTo>
                    <a:pt x="906" y="55736"/>
                  </a:lnTo>
                  <a:lnTo>
                    <a:pt x="2524" y="47524"/>
                  </a:lnTo>
                  <a:lnTo>
                    <a:pt x="25408" y="13364"/>
                  </a:lnTo>
                  <a:lnTo>
                    <a:pt x="64439" y="0"/>
                  </a:lnTo>
                  <a:lnTo>
                    <a:pt x="4618088" y="368"/>
                  </a:lnTo>
                  <a:lnTo>
                    <a:pt x="4657073" y="13570"/>
                  </a:lnTo>
                  <a:lnTo>
                    <a:pt x="4680003" y="47886"/>
                  </a:lnTo>
                  <a:lnTo>
                    <a:pt x="4682159" y="64439"/>
                  </a:lnTo>
                  <a:lnTo>
                    <a:pt x="4682159" y="557999"/>
                  </a:lnTo>
                  <a:lnTo>
                    <a:pt x="4681621" y="566349"/>
                  </a:lnTo>
                  <a:lnTo>
                    <a:pt x="4680003" y="574563"/>
                  </a:lnTo>
                  <a:lnTo>
                    <a:pt x="4657125" y="608726"/>
                  </a:lnTo>
                  <a:lnTo>
                    <a:pt x="4618088" y="622084"/>
                  </a:lnTo>
                  <a:lnTo>
                    <a:pt x="64084" y="622084"/>
                  </a:lnTo>
                  <a:lnTo>
                    <a:pt x="25097" y="608876"/>
                  </a:lnTo>
                  <a:lnTo>
                    <a:pt x="2162" y="574563"/>
                  </a:lnTo>
                  <a:lnTo>
                    <a:pt x="0" y="557999"/>
                  </a:lnTo>
                  <a:lnTo>
                    <a:pt x="368" y="64084"/>
                  </a:lnTo>
                  <a:close/>
                </a:path>
              </a:pathLst>
            </a:custGeom>
            <a:ln w="899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56324" y="4864684"/>
              <a:ext cx="82550" cy="621665"/>
            </a:xfrm>
            <a:custGeom>
              <a:avLst/>
              <a:gdLst/>
              <a:ahLst/>
              <a:cxnLst/>
              <a:rect l="l" t="t" r="r" b="b"/>
              <a:pathLst>
                <a:path w="82550" h="621664">
                  <a:moveTo>
                    <a:pt x="82080" y="0"/>
                  </a:moveTo>
                  <a:lnTo>
                    <a:pt x="0" y="0"/>
                  </a:lnTo>
                  <a:lnTo>
                    <a:pt x="0" y="621360"/>
                  </a:lnTo>
                  <a:lnTo>
                    <a:pt x="41033" y="621360"/>
                  </a:lnTo>
                  <a:lnTo>
                    <a:pt x="82080" y="62136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790575" y="5007495"/>
            <a:ext cx="4217670" cy="37274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59"/>
              </a:spcBef>
            </a:pP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 spc="-10">
                <a:solidFill>
                  <a:srgbClr val="1F2F28"/>
                </a:solidFill>
                <a:latin typeface="Arial"/>
                <a:cs typeface="Arial"/>
              </a:rPr>
              <a:t>observaciones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diurnas,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por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gránulo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 spc="-10">
                <a:solidFill>
                  <a:srgbClr val="1F2F28"/>
                </a:solidFill>
                <a:latin typeface="Arial"/>
                <a:cs typeface="Arial"/>
              </a:rPr>
              <a:t>sigue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siendo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3,44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m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(p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&lt;</a:t>
            </a:r>
            <a:r>
              <a:rPr lang="es-MX" sz="12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0,001),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pero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>
                <a:solidFill>
                  <a:srgbClr val="1F2F28"/>
                </a:solidFill>
                <a:latin typeface="Arial"/>
                <a:cs typeface="Arial"/>
              </a:rPr>
              <a:t>permanece</a:t>
            </a:r>
            <a:r>
              <a:rPr lang="es-MX" sz="12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200" b="1" spc="-10">
                <a:solidFill>
                  <a:srgbClr val="1F2F28"/>
                </a:solidFill>
                <a:latin typeface="Arial"/>
                <a:cs typeface="Arial"/>
              </a:rPr>
              <a:t>observacional.</a:t>
            </a:r>
            <a:endParaRPr lang="es-MX" sz="1200">
              <a:latin typeface="Arial"/>
              <a:cs typeface="Arial"/>
            </a:endParaRPr>
          </a:p>
        </p:txBody>
      </p:sp>
      <p:sp>
        <p:nvSpPr>
          <p:cNvPr id="54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5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6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29/43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Síntesis</a:t>
            </a:r>
            <a:r>
              <a:rPr spc="-65"/>
              <a:t> </a:t>
            </a:r>
            <a:r>
              <a:t>de</a:t>
            </a:r>
            <a:r>
              <a:rPr spc="-65"/>
              <a:t> </a:t>
            </a:r>
            <a:r>
              <a:t>la</a:t>
            </a:r>
            <a:r>
              <a:rPr spc="-65"/>
              <a:t> </a:t>
            </a:r>
            <a:r>
              <a:t>evidencia:</a:t>
            </a:r>
            <a:r>
              <a:rPr spc="-55"/>
              <a:t> </a:t>
            </a:r>
            <a:r>
              <a:t>qué</a:t>
            </a:r>
            <a:r>
              <a:rPr spc="-65"/>
              <a:t> </a:t>
            </a:r>
            <a:r>
              <a:t>se</a:t>
            </a:r>
            <a:r>
              <a:rPr spc="-65"/>
              <a:t> </a:t>
            </a:r>
            <a:r>
              <a:t>sostiene</a:t>
            </a:r>
            <a:r>
              <a:rPr spc="-60"/>
              <a:t> </a:t>
            </a:r>
            <a:r>
              <a:t>y</a:t>
            </a:r>
            <a:r>
              <a:rPr spc="-65"/>
              <a:t> </a:t>
            </a:r>
            <a:r>
              <a:t>qué</a:t>
            </a:r>
            <a:r>
              <a:rPr spc="-65"/>
              <a:t> </a:t>
            </a:r>
            <a:r>
              <a:rPr spc="-25"/>
              <a:t>no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3364" y="1298155"/>
            <a:ext cx="11036935" cy="4004945"/>
            <a:chOff x="603364" y="1298155"/>
            <a:chExt cx="11036935" cy="4004945"/>
          </a:xfrm>
        </p:grpSpPr>
        <p:sp>
          <p:nvSpPr>
            <p:cNvPr id="6" name="object 6"/>
            <p:cNvSpPr/>
            <p:nvPr/>
          </p:nvSpPr>
          <p:spPr>
            <a:xfrm>
              <a:off x="603364" y="1298155"/>
              <a:ext cx="11036935" cy="667385"/>
            </a:xfrm>
            <a:custGeom>
              <a:avLst/>
              <a:gdLst/>
              <a:ahLst/>
              <a:cxnLst/>
              <a:rect l="l" t="t" r="r" b="b"/>
              <a:pathLst>
                <a:path w="11036935" h="667385">
                  <a:moveTo>
                    <a:pt x="2331351" y="0"/>
                  </a:moveTo>
                  <a:lnTo>
                    <a:pt x="0" y="0"/>
                  </a:lnTo>
                  <a:lnTo>
                    <a:pt x="0" y="667080"/>
                  </a:lnTo>
                  <a:lnTo>
                    <a:pt x="1165669" y="667080"/>
                  </a:lnTo>
                  <a:lnTo>
                    <a:pt x="2331351" y="667080"/>
                  </a:lnTo>
                  <a:lnTo>
                    <a:pt x="2331351" y="0"/>
                  </a:lnTo>
                  <a:close/>
                </a:path>
                <a:path w="11036935" h="667385">
                  <a:moveTo>
                    <a:pt x="5303151" y="0"/>
                  </a:moveTo>
                  <a:lnTo>
                    <a:pt x="2331720" y="0"/>
                  </a:lnTo>
                  <a:lnTo>
                    <a:pt x="2331720" y="667080"/>
                  </a:lnTo>
                  <a:lnTo>
                    <a:pt x="3817429" y="667080"/>
                  </a:lnTo>
                  <a:lnTo>
                    <a:pt x="5303151" y="667080"/>
                  </a:lnTo>
                  <a:lnTo>
                    <a:pt x="5303151" y="0"/>
                  </a:lnTo>
                  <a:close/>
                </a:path>
                <a:path w="11036935" h="667385">
                  <a:moveTo>
                    <a:pt x="8274952" y="0"/>
                  </a:moveTo>
                  <a:lnTo>
                    <a:pt x="5303520" y="0"/>
                  </a:lnTo>
                  <a:lnTo>
                    <a:pt x="5303520" y="667080"/>
                  </a:lnTo>
                  <a:lnTo>
                    <a:pt x="6789229" y="667080"/>
                  </a:lnTo>
                  <a:lnTo>
                    <a:pt x="8274952" y="667080"/>
                  </a:lnTo>
                  <a:lnTo>
                    <a:pt x="8274952" y="0"/>
                  </a:lnTo>
                  <a:close/>
                </a:path>
                <a:path w="11036935" h="667385">
                  <a:moveTo>
                    <a:pt x="11036516" y="0"/>
                  </a:moveTo>
                  <a:lnTo>
                    <a:pt x="8275320" y="0"/>
                  </a:lnTo>
                  <a:lnTo>
                    <a:pt x="8275320" y="667080"/>
                  </a:lnTo>
                  <a:lnTo>
                    <a:pt x="9655912" y="667080"/>
                  </a:lnTo>
                  <a:lnTo>
                    <a:pt x="11036516" y="667080"/>
                  </a:lnTo>
                  <a:lnTo>
                    <a:pt x="11036516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3364" y="1965604"/>
              <a:ext cx="11036935" cy="667385"/>
            </a:xfrm>
            <a:custGeom>
              <a:avLst/>
              <a:gdLst/>
              <a:ahLst/>
              <a:cxnLst/>
              <a:rect l="l" t="t" r="r" b="b"/>
              <a:pathLst>
                <a:path w="11036935" h="667385">
                  <a:moveTo>
                    <a:pt x="2331351" y="0"/>
                  </a:moveTo>
                  <a:lnTo>
                    <a:pt x="0" y="0"/>
                  </a:lnTo>
                  <a:lnTo>
                    <a:pt x="0" y="667080"/>
                  </a:lnTo>
                  <a:lnTo>
                    <a:pt x="1165669" y="667080"/>
                  </a:lnTo>
                  <a:lnTo>
                    <a:pt x="2331351" y="667080"/>
                  </a:lnTo>
                  <a:lnTo>
                    <a:pt x="2331351" y="0"/>
                  </a:lnTo>
                  <a:close/>
                </a:path>
                <a:path w="11036935" h="667385">
                  <a:moveTo>
                    <a:pt x="5303151" y="0"/>
                  </a:moveTo>
                  <a:lnTo>
                    <a:pt x="2331720" y="0"/>
                  </a:lnTo>
                  <a:lnTo>
                    <a:pt x="2331720" y="667080"/>
                  </a:lnTo>
                  <a:lnTo>
                    <a:pt x="3817429" y="667080"/>
                  </a:lnTo>
                  <a:lnTo>
                    <a:pt x="5303151" y="667080"/>
                  </a:lnTo>
                  <a:lnTo>
                    <a:pt x="5303151" y="0"/>
                  </a:lnTo>
                  <a:close/>
                </a:path>
                <a:path w="11036935" h="667385">
                  <a:moveTo>
                    <a:pt x="8274952" y="0"/>
                  </a:moveTo>
                  <a:lnTo>
                    <a:pt x="5303520" y="0"/>
                  </a:lnTo>
                  <a:lnTo>
                    <a:pt x="5303520" y="667080"/>
                  </a:lnTo>
                  <a:lnTo>
                    <a:pt x="6789229" y="667080"/>
                  </a:lnTo>
                  <a:lnTo>
                    <a:pt x="8274952" y="667080"/>
                  </a:lnTo>
                  <a:lnTo>
                    <a:pt x="8274952" y="0"/>
                  </a:lnTo>
                  <a:close/>
                </a:path>
                <a:path w="11036935" h="667385">
                  <a:moveTo>
                    <a:pt x="11036516" y="0"/>
                  </a:moveTo>
                  <a:lnTo>
                    <a:pt x="8275320" y="0"/>
                  </a:lnTo>
                  <a:lnTo>
                    <a:pt x="8275320" y="667080"/>
                  </a:lnTo>
                  <a:lnTo>
                    <a:pt x="9655912" y="667080"/>
                  </a:lnTo>
                  <a:lnTo>
                    <a:pt x="11036516" y="667080"/>
                  </a:lnTo>
                  <a:lnTo>
                    <a:pt x="11036516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3364" y="2633040"/>
              <a:ext cx="11036935" cy="667385"/>
            </a:xfrm>
            <a:custGeom>
              <a:avLst/>
              <a:gdLst/>
              <a:ahLst/>
              <a:cxnLst/>
              <a:rect l="l" t="t" r="r" b="b"/>
              <a:pathLst>
                <a:path w="11036935" h="667385">
                  <a:moveTo>
                    <a:pt x="2331351" y="0"/>
                  </a:moveTo>
                  <a:lnTo>
                    <a:pt x="0" y="0"/>
                  </a:lnTo>
                  <a:lnTo>
                    <a:pt x="0" y="667080"/>
                  </a:lnTo>
                  <a:lnTo>
                    <a:pt x="1165669" y="667080"/>
                  </a:lnTo>
                  <a:lnTo>
                    <a:pt x="2331351" y="667080"/>
                  </a:lnTo>
                  <a:lnTo>
                    <a:pt x="2331351" y="0"/>
                  </a:lnTo>
                  <a:close/>
                </a:path>
                <a:path w="11036935" h="667385">
                  <a:moveTo>
                    <a:pt x="5303151" y="0"/>
                  </a:moveTo>
                  <a:lnTo>
                    <a:pt x="2331720" y="0"/>
                  </a:lnTo>
                  <a:lnTo>
                    <a:pt x="2331720" y="667080"/>
                  </a:lnTo>
                  <a:lnTo>
                    <a:pt x="3817429" y="667080"/>
                  </a:lnTo>
                  <a:lnTo>
                    <a:pt x="5303151" y="667080"/>
                  </a:lnTo>
                  <a:lnTo>
                    <a:pt x="5303151" y="0"/>
                  </a:lnTo>
                  <a:close/>
                </a:path>
                <a:path w="11036935" h="667385">
                  <a:moveTo>
                    <a:pt x="8274952" y="0"/>
                  </a:moveTo>
                  <a:lnTo>
                    <a:pt x="5303520" y="0"/>
                  </a:lnTo>
                  <a:lnTo>
                    <a:pt x="5303520" y="667080"/>
                  </a:lnTo>
                  <a:lnTo>
                    <a:pt x="6789229" y="667080"/>
                  </a:lnTo>
                  <a:lnTo>
                    <a:pt x="8274952" y="667080"/>
                  </a:lnTo>
                  <a:lnTo>
                    <a:pt x="8274952" y="0"/>
                  </a:lnTo>
                  <a:close/>
                </a:path>
                <a:path w="11036935" h="667385">
                  <a:moveTo>
                    <a:pt x="11036516" y="0"/>
                  </a:moveTo>
                  <a:lnTo>
                    <a:pt x="8275320" y="0"/>
                  </a:lnTo>
                  <a:lnTo>
                    <a:pt x="8275320" y="667080"/>
                  </a:lnTo>
                  <a:lnTo>
                    <a:pt x="9655912" y="667080"/>
                  </a:lnTo>
                  <a:lnTo>
                    <a:pt x="11036516" y="667080"/>
                  </a:lnTo>
                  <a:lnTo>
                    <a:pt x="11036516" y="0"/>
                  </a:lnTo>
                  <a:close/>
                </a:path>
              </a:pathLst>
            </a:custGeom>
            <a:solidFill>
              <a:srgbClr val="F0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3364" y="3300475"/>
              <a:ext cx="11036935" cy="667385"/>
            </a:xfrm>
            <a:custGeom>
              <a:avLst/>
              <a:gdLst/>
              <a:ahLst/>
              <a:cxnLst/>
              <a:rect l="l" t="t" r="r" b="b"/>
              <a:pathLst>
                <a:path w="11036935" h="667385">
                  <a:moveTo>
                    <a:pt x="2331351" y="0"/>
                  </a:moveTo>
                  <a:lnTo>
                    <a:pt x="0" y="0"/>
                  </a:lnTo>
                  <a:lnTo>
                    <a:pt x="0" y="667080"/>
                  </a:lnTo>
                  <a:lnTo>
                    <a:pt x="1165669" y="667080"/>
                  </a:lnTo>
                  <a:lnTo>
                    <a:pt x="2331351" y="667080"/>
                  </a:lnTo>
                  <a:lnTo>
                    <a:pt x="2331351" y="0"/>
                  </a:lnTo>
                  <a:close/>
                </a:path>
                <a:path w="11036935" h="667385">
                  <a:moveTo>
                    <a:pt x="5303151" y="0"/>
                  </a:moveTo>
                  <a:lnTo>
                    <a:pt x="2331720" y="0"/>
                  </a:lnTo>
                  <a:lnTo>
                    <a:pt x="2331720" y="667080"/>
                  </a:lnTo>
                  <a:lnTo>
                    <a:pt x="3817429" y="667080"/>
                  </a:lnTo>
                  <a:lnTo>
                    <a:pt x="5303151" y="667080"/>
                  </a:lnTo>
                  <a:lnTo>
                    <a:pt x="5303151" y="0"/>
                  </a:lnTo>
                  <a:close/>
                </a:path>
                <a:path w="11036935" h="667385">
                  <a:moveTo>
                    <a:pt x="8274952" y="0"/>
                  </a:moveTo>
                  <a:lnTo>
                    <a:pt x="5303520" y="0"/>
                  </a:lnTo>
                  <a:lnTo>
                    <a:pt x="5303520" y="667080"/>
                  </a:lnTo>
                  <a:lnTo>
                    <a:pt x="6789229" y="667080"/>
                  </a:lnTo>
                  <a:lnTo>
                    <a:pt x="8274952" y="667080"/>
                  </a:lnTo>
                  <a:lnTo>
                    <a:pt x="8274952" y="0"/>
                  </a:lnTo>
                  <a:close/>
                </a:path>
                <a:path w="11036935" h="667385">
                  <a:moveTo>
                    <a:pt x="11036516" y="0"/>
                  </a:moveTo>
                  <a:lnTo>
                    <a:pt x="8275320" y="0"/>
                  </a:lnTo>
                  <a:lnTo>
                    <a:pt x="8275320" y="667080"/>
                  </a:lnTo>
                  <a:lnTo>
                    <a:pt x="9655912" y="667080"/>
                  </a:lnTo>
                  <a:lnTo>
                    <a:pt x="11036516" y="667080"/>
                  </a:lnTo>
                  <a:lnTo>
                    <a:pt x="11036516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3364" y="3968279"/>
              <a:ext cx="11036935" cy="667385"/>
            </a:xfrm>
            <a:custGeom>
              <a:avLst/>
              <a:gdLst/>
              <a:ahLst/>
              <a:cxnLst/>
              <a:rect l="l" t="t" r="r" b="b"/>
              <a:pathLst>
                <a:path w="11036935" h="667385">
                  <a:moveTo>
                    <a:pt x="2331351" y="0"/>
                  </a:moveTo>
                  <a:lnTo>
                    <a:pt x="0" y="0"/>
                  </a:lnTo>
                  <a:lnTo>
                    <a:pt x="0" y="667080"/>
                  </a:lnTo>
                  <a:lnTo>
                    <a:pt x="1165669" y="667080"/>
                  </a:lnTo>
                  <a:lnTo>
                    <a:pt x="2331351" y="667080"/>
                  </a:lnTo>
                  <a:lnTo>
                    <a:pt x="2331351" y="0"/>
                  </a:lnTo>
                  <a:close/>
                </a:path>
                <a:path w="11036935" h="667385">
                  <a:moveTo>
                    <a:pt x="5303151" y="0"/>
                  </a:moveTo>
                  <a:lnTo>
                    <a:pt x="2331720" y="0"/>
                  </a:lnTo>
                  <a:lnTo>
                    <a:pt x="2331720" y="667080"/>
                  </a:lnTo>
                  <a:lnTo>
                    <a:pt x="3817429" y="667080"/>
                  </a:lnTo>
                  <a:lnTo>
                    <a:pt x="5303151" y="667080"/>
                  </a:lnTo>
                  <a:lnTo>
                    <a:pt x="5303151" y="0"/>
                  </a:lnTo>
                  <a:close/>
                </a:path>
                <a:path w="11036935" h="667385">
                  <a:moveTo>
                    <a:pt x="8274952" y="0"/>
                  </a:moveTo>
                  <a:lnTo>
                    <a:pt x="5303520" y="0"/>
                  </a:lnTo>
                  <a:lnTo>
                    <a:pt x="5303520" y="667080"/>
                  </a:lnTo>
                  <a:lnTo>
                    <a:pt x="6789229" y="667080"/>
                  </a:lnTo>
                  <a:lnTo>
                    <a:pt x="8274952" y="667080"/>
                  </a:lnTo>
                  <a:lnTo>
                    <a:pt x="8274952" y="0"/>
                  </a:lnTo>
                  <a:close/>
                </a:path>
                <a:path w="11036935" h="667385">
                  <a:moveTo>
                    <a:pt x="11036516" y="0"/>
                  </a:moveTo>
                  <a:lnTo>
                    <a:pt x="8275320" y="0"/>
                  </a:lnTo>
                  <a:lnTo>
                    <a:pt x="8275320" y="667080"/>
                  </a:lnTo>
                  <a:lnTo>
                    <a:pt x="9655912" y="667080"/>
                  </a:lnTo>
                  <a:lnTo>
                    <a:pt x="11036516" y="667080"/>
                  </a:lnTo>
                  <a:lnTo>
                    <a:pt x="11036516" y="0"/>
                  </a:lnTo>
                  <a:close/>
                </a:path>
              </a:pathLst>
            </a:custGeom>
            <a:solidFill>
              <a:srgbClr val="F0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3364" y="4635715"/>
              <a:ext cx="11036935" cy="667385"/>
            </a:xfrm>
            <a:custGeom>
              <a:avLst/>
              <a:gdLst/>
              <a:ahLst/>
              <a:cxnLst/>
              <a:rect l="l" t="t" r="r" b="b"/>
              <a:pathLst>
                <a:path w="11036935" h="667385">
                  <a:moveTo>
                    <a:pt x="2331351" y="0"/>
                  </a:moveTo>
                  <a:lnTo>
                    <a:pt x="0" y="0"/>
                  </a:lnTo>
                  <a:lnTo>
                    <a:pt x="0" y="667080"/>
                  </a:lnTo>
                  <a:lnTo>
                    <a:pt x="1165669" y="667080"/>
                  </a:lnTo>
                  <a:lnTo>
                    <a:pt x="2331351" y="667080"/>
                  </a:lnTo>
                  <a:lnTo>
                    <a:pt x="2331351" y="0"/>
                  </a:lnTo>
                  <a:close/>
                </a:path>
                <a:path w="11036935" h="667385">
                  <a:moveTo>
                    <a:pt x="5303151" y="0"/>
                  </a:moveTo>
                  <a:lnTo>
                    <a:pt x="2331720" y="0"/>
                  </a:lnTo>
                  <a:lnTo>
                    <a:pt x="2331720" y="667080"/>
                  </a:lnTo>
                  <a:lnTo>
                    <a:pt x="3817429" y="667080"/>
                  </a:lnTo>
                  <a:lnTo>
                    <a:pt x="5303151" y="667080"/>
                  </a:lnTo>
                  <a:lnTo>
                    <a:pt x="5303151" y="0"/>
                  </a:lnTo>
                  <a:close/>
                </a:path>
                <a:path w="11036935" h="667385">
                  <a:moveTo>
                    <a:pt x="8274952" y="0"/>
                  </a:moveTo>
                  <a:lnTo>
                    <a:pt x="5303520" y="0"/>
                  </a:lnTo>
                  <a:lnTo>
                    <a:pt x="5303520" y="667080"/>
                  </a:lnTo>
                  <a:lnTo>
                    <a:pt x="6789229" y="667080"/>
                  </a:lnTo>
                  <a:lnTo>
                    <a:pt x="8274952" y="667080"/>
                  </a:lnTo>
                  <a:lnTo>
                    <a:pt x="8274952" y="0"/>
                  </a:lnTo>
                  <a:close/>
                </a:path>
                <a:path w="11036935" h="667385">
                  <a:moveTo>
                    <a:pt x="11036516" y="0"/>
                  </a:moveTo>
                  <a:lnTo>
                    <a:pt x="8275320" y="0"/>
                  </a:lnTo>
                  <a:lnTo>
                    <a:pt x="8275320" y="667080"/>
                  </a:lnTo>
                  <a:lnTo>
                    <a:pt x="9655912" y="667080"/>
                  </a:lnTo>
                  <a:lnTo>
                    <a:pt x="11036516" y="667080"/>
                  </a:lnTo>
                  <a:lnTo>
                    <a:pt x="11036516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905080"/>
              </p:ext>
            </p:extLst>
          </p:nvPr>
        </p:nvGraphicFramePr>
        <p:xfrm>
          <a:off x="599584" y="1294376"/>
          <a:ext cx="11036934" cy="400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lang="es-E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lang="es-ES" sz="16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Evidencia</a:t>
                      </a:r>
                      <a:endParaRPr lang="es-E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lang="es-E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es-ES" sz="16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Resultado</a:t>
                      </a:r>
                      <a:endParaRPr lang="es-E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lang="es-E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Lectura</a:t>
                      </a:r>
                      <a:r>
                        <a:rPr lang="es-ES" sz="1600" b="1" spc="-75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6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válida</a:t>
                      </a:r>
                      <a:endParaRPr lang="es-E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lang="es-E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s-ES" sz="1600" b="1" spc="-1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Límite</a:t>
                      </a:r>
                      <a:endParaRPr lang="es-E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Segmentos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+5,83</a:t>
                      </a:r>
                      <a:r>
                        <a:rPr lang="es-ES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6325" marR="217804" indent="-850265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Diferencia</a:t>
                      </a:r>
                      <a:r>
                        <a:rPr lang="es-MX" sz="1250" spc="-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descriptiva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lang="es-MX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muestra operacional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3280" marR="173990" indent="-66040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ES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usar</a:t>
                      </a:r>
                      <a:r>
                        <a:rPr lang="es-ES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segmentos</a:t>
                      </a:r>
                      <a:r>
                        <a:rPr lang="es-ES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como</a:t>
                      </a:r>
                      <a:r>
                        <a:rPr lang="es-ES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réplicas independientes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14351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Gránulos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+3,75</a:t>
                      </a:r>
                      <a:r>
                        <a:rPr lang="es-ES" sz="1250" spc="-3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m;</a:t>
                      </a:r>
                      <a:r>
                        <a:rPr lang="es-ES" sz="1250" spc="-3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IC95%</a:t>
                      </a:r>
                      <a:r>
                        <a:rPr lang="es-ES" sz="1250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2,58-</a:t>
                      </a:r>
                      <a:r>
                        <a:rPr lang="es-ES" sz="1250" spc="-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6,07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MX" sz="125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Mayor</a:t>
                      </a:r>
                      <a:r>
                        <a:rPr lang="es-MX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RH98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lang="es-MX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Bosque</a:t>
                      </a:r>
                      <a:r>
                        <a:rPr lang="es-MX" sz="1250" spc="-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operacional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ES" sz="1250" spc="-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universal</a:t>
                      </a:r>
                      <a:r>
                        <a:rPr lang="es-ES" sz="1250" spc="-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ni</a:t>
                      </a:r>
                      <a:r>
                        <a:rPr lang="es-ES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causal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Robustez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3,78-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4,81</a:t>
                      </a:r>
                      <a:r>
                        <a:rPr lang="es-ES" sz="1250" spc="-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lang="es-ES" sz="1250" spc="-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según</a:t>
                      </a:r>
                      <a:r>
                        <a:rPr lang="es-ES" sz="1250" spc="-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umbral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6185" marR="185420" indent="-103124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El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contraste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MX" sz="1250" spc="-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depende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MX" sz="1250" spc="-3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un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único mínimo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14287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lang="es-MX" sz="125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MX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corrige</a:t>
                      </a:r>
                      <a:r>
                        <a:rPr lang="es-MX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selección</a:t>
                      </a:r>
                      <a:r>
                        <a:rPr lang="es-MX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calidad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Conservador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MX" sz="12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+0,49</a:t>
                      </a:r>
                      <a:r>
                        <a:rPr lang="es-MX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m;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IC95%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incluye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MX" sz="125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lang="es-MX" sz="1250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submuestra</a:t>
                      </a:r>
                      <a:r>
                        <a:rPr lang="es-MX" sz="1250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MX" sz="1250" spc="-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resuelve</a:t>
                      </a:r>
                      <a:r>
                        <a:rPr lang="es-MX" sz="1250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diferencia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s-ES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ES" sz="1250" spc="-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demuestra igualdad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9525">
                      <a:solidFill>
                        <a:srgbClr val="CED6D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lang="es-ES" sz="125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ES" sz="1250" b="1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Incendio</a:t>
                      </a:r>
                      <a:endParaRPr lang="es-ES" sz="125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lang="es-MX" sz="125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Huellas</a:t>
                      </a:r>
                      <a:r>
                        <a:rPr lang="es-MX" sz="1250" spc="-3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lang="es-MX" sz="1250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RGT</a:t>
                      </a:r>
                      <a:r>
                        <a:rPr lang="es-MX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MX" sz="1250" spc="-2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equivalentes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15695" marR="420370" indent="-68580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lang="es-MX" sz="1250" spc="-2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ATL08</a:t>
                      </a:r>
                      <a:r>
                        <a:rPr lang="es-MX" sz="1250" spc="-6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puede</a:t>
                      </a:r>
                      <a:r>
                        <a:rPr lang="es-MX" sz="1250" spc="-5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detectar</a:t>
                      </a:r>
                      <a:r>
                        <a:rPr lang="es-MX" sz="1250" spc="-6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cambio estructural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14287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05155" marR="417195" indent="-18097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Estos</a:t>
                      </a:r>
                      <a:r>
                        <a:rPr lang="es-MX" sz="1250" spc="-45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archivos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s-MX" sz="1250" spc="-4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permiten antes/después</a:t>
                      </a:r>
                      <a:r>
                        <a:rPr lang="es-MX" sz="1250" spc="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250" spc="-10">
                          <a:solidFill>
                            <a:srgbClr val="1F2F28"/>
                          </a:solidFill>
                          <a:latin typeface="Arial"/>
                          <a:cs typeface="Arial"/>
                        </a:rPr>
                        <a:t>directo</a:t>
                      </a:r>
                      <a:endParaRPr lang="es-MX" sz="1250">
                        <a:latin typeface="Arial"/>
                        <a:cs typeface="Arial"/>
                      </a:endParaRPr>
                    </a:p>
                  </a:txBody>
                  <a:tcPr marL="0" marR="0" marT="142875" marB="0">
                    <a:lnL w="9525">
                      <a:solidFill>
                        <a:srgbClr val="CED6D0"/>
                      </a:solidFill>
                      <a:prstDash val="solid"/>
                    </a:lnL>
                    <a:lnR w="9525">
                      <a:solidFill>
                        <a:srgbClr val="CED6D0"/>
                      </a:solidFill>
                      <a:prstDash val="solid"/>
                    </a:lnR>
                    <a:lnT w="9525">
                      <a:solidFill>
                        <a:srgbClr val="CED6D0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891180" y="5728496"/>
            <a:ext cx="10415270" cy="576580"/>
            <a:chOff x="891180" y="5728496"/>
            <a:chExt cx="10415270" cy="576580"/>
          </a:xfrm>
        </p:grpSpPr>
        <p:sp>
          <p:nvSpPr>
            <p:cNvPr id="14" name="object 14"/>
            <p:cNvSpPr/>
            <p:nvPr/>
          </p:nvSpPr>
          <p:spPr>
            <a:xfrm>
              <a:off x="895680" y="5732996"/>
              <a:ext cx="10406380" cy="567690"/>
            </a:xfrm>
            <a:custGeom>
              <a:avLst/>
              <a:gdLst/>
              <a:ahLst/>
              <a:cxnLst/>
              <a:rect l="l" t="t" r="r" b="b"/>
              <a:pathLst>
                <a:path w="10406380" h="567689">
                  <a:moveTo>
                    <a:pt x="64439" y="0"/>
                  </a:moveTo>
                  <a:lnTo>
                    <a:pt x="25402" y="13364"/>
                  </a:lnTo>
                  <a:lnTo>
                    <a:pt x="2517" y="47524"/>
                  </a:lnTo>
                  <a:lnTo>
                    <a:pt x="0" y="503288"/>
                  </a:lnTo>
                  <a:lnTo>
                    <a:pt x="540" y="511631"/>
                  </a:lnTo>
                  <a:lnTo>
                    <a:pt x="18733" y="548508"/>
                  </a:lnTo>
                  <a:lnTo>
                    <a:pt x="18853" y="548646"/>
                  </a:lnTo>
                  <a:lnTo>
                    <a:pt x="55734" y="566821"/>
                  </a:lnTo>
                  <a:lnTo>
                    <a:pt x="64084" y="567359"/>
                  </a:lnTo>
                  <a:lnTo>
                    <a:pt x="10342079" y="567359"/>
                  </a:lnTo>
                  <a:lnTo>
                    <a:pt x="10381116" y="554002"/>
                  </a:lnTo>
                  <a:lnTo>
                    <a:pt x="10404001" y="519842"/>
                  </a:lnTo>
                  <a:lnTo>
                    <a:pt x="10406164" y="503288"/>
                  </a:lnTo>
                  <a:lnTo>
                    <a:pt x="10406141" y="64084"/>
                  </a:lnTo>
                  <a:lnTo>
                    <a:pt x="10392799" y="25408"/>
                  </a:lnTo>
                  <a:lnTo>
                    <a:pt x="10358639" y="2524"/>
                  </a:lnTo>
                  <a:lnTo>
                    <a:pt x="10342079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CE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5680" y="5732996"/>
              <a:ext cx="10406380" cy="567690"/>
            </a:xfrm>
            <a:custGeom>
              <a:avLst/>
              <a:gdLst/>
              <a:ahLst/>
              <a:cxnLst/>
              <a:rect l="l" t="t" r="r" b="b"/>
              <a:pathLst>
                <a:path w="10406380" h="567689">
                  <a:moveTo>
                    <a:pt x="355" y="64084"/>
                  </a:moveTo>
                  <a:lnTo>
                    <a:pt x="896" y="55736"/>
                  </a:lnTo>
                  <a:lnTo>
                    <a:pt x="2517" y="47524"/>
                  </a:lnTo>
                  <a:lnTo>
                    <a:pt x="25402" y="13364"/>
                  </a:lnTo>
                  <a:lnTo>
                    <a:pt x="64439" y="0"/>
                  </a:lnTo>
                  <a:lnTo>
                    <a:pt x="10342079" y="368"/>
                  </a:lnTo>
                  <a:lnTo>
                    <a:pt x="10381066" y="13570"/>
                  </a:lnTo>
                  <a:lnTo>
                    <a:pt x="10404001" y="47886"/>
                  </a:lnTo>
                  <a:lnTo>
                    <a:pt x="10406164" y="64439"/>
                  </a:lnTo>
                  <a:lnTo>
                    <a:pt x="10406164" y="503288"/>
                  </a:lnTo>
                  <a:lnTo>
                    <a:pt x="10405623" y="511631"/>
                  </a:lnTo>
                  <a:lnTo>
                    <a:pt x="10404001" y="519842"/>
                  </a:lnTo>
                  <a:lnTo>
                    <a:pt x="10381116" y="554002"/>
                  </a:lnTo>
                  <a:lnTo>
                    <a:pt x="10342079" y="567359"/>
                  </a:lnTo>
                  <a:lnTo>
                    <a:pt x="64084" y="567359"/>
                  </a:lnTo>
                  <a:lnTo>
                    <a:pt x="25091" y="554157"/>
                  </a:lnTo>
                  <a:lnTo>
                    <a:pt x="2160" y="519842"/>
                  </a:lnTo>
                  <a:lnTo>
                    <a:pt x="0" y="503288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6035" y="5733364"/>
              <a:ext cx="82550" cy="567055"/>
            </a:xfrm>
            <a:custGeom>
              <a:avLst/>
              <a:gdLst/>
              <a:ahLst/>
              <a:cxnLst/>
              <a:rect l="l" t="t" r="r" b="b"/>
              <a:pathLst>
                <a:path w="82550" h="567054">
                  <a:moveTo>
                    <a:pt x="82080" y="0"/>
                  </a:moveTo>
                  <a:lnTo>
                    <a:pt x="0" y="0"/>
                  </a:lnTo>
                  <a:lnTo>
                    <a:pt x="0" y="566635"/>
                  </a:lnTo>
                  <a:lnTo>
                    <a:pt x="41046" y="566635"/>
                  </a:lnTo>
                  <a:lnTo>
                    <a:pt x="82080" y="566635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36865" y="5821095"/>
            <a:ext cx="9806940" cy="4311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122805" marR="5080" indent="-2110740">
              <a:lnSpc>
                <a:spcPts val="1510"/>
              </a:lnSpc>
              <a:spcBef>
                <a:spcPts val="290"/>
              </a:spcBef>
            </a:pP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Mensaje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central: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evidencia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operacional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es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sólida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dentro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su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población;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principal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incertidumbre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interpretativa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proviene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mecanismo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selección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diseño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observacional.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18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19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20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30/43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Perfil</a:t>
            </a:r>
            <a:r>
              <a:rPr spc="-160"/>
              <a:t> </a:t>
            </a:r>
            <a:r>
              <a:rPr spc="-20"/>
              <a:t>ATL08</a:t>
            </a:r>
            <a:r>
              <a:rPr spc="-75"/>
              <a:t> </a:t>
            </a:r>
            <a:r>
              <a:t>en</a:t>
            </a:r>
            <a:r>
              <a:rPr spc="-70"/>
              <a:t> </a:t>
            </a:r>
            <a:r>
              <a:rPr spc="-10"/>
              <a:t>Bosque</a:t>
            </a:r>
          </a:p>
        </p:txBody>
      </p:sp>
      <p:grpSp>
        <p:nvGrpSpPr>
          <p:cNvPr id="5" name="object 5" descr="/mnt/data/icesat2_work/unzip/ppt/media/image7.png"/>
          <p:cNvGrpSpPr/>
          <p:nvPr/>
        </p:nvGrpSpPr>
        <p:grpSpPr>
          <a:xfrm>
            <a:off x="548640" y="1170355"/>
            <a:ext cx="2880360" cy="4526280"/>
            <a:chOff x="548640" y="1170355"/>
            <a:chExt cx="2880360" cy="4526280"/>
          </a:xfrm>
        </p:grpSpPr>
        <p:pic>
          <p:nvPicPr>
            <p:cNvPr id="6" name="object 6" descr="/mnt/data/icesat2_work/unzip/ppt/media/image7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170368"/>
              <a:ext cx="2879991" cy="452555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object 7"/>
            <p:cNvSpPr/>
            <p:nvPr/>
          </p:nvSpPr>
          <p:spPr>
            <a:xfrm>
              <a:off x="548640" y="1170355"/>
              <a:ext cx="2880360" cy="4526280"/>
            </a:xfrm>
            <a:custGeom>
              <a:avLst/>
              <a:gdLst/>
              <a:ahLst/>
              <a:cxnLst/>
              <a:rect l="l" t="t" r="r" b="b"/>
              <a:pathLst>
                <a:path w="2880360" h="4526280">
                  <a:moveTo>
                    <a:pt x="2880004" y="0"/>
                  </a:moveTo>
                  <a:lnTo>
                    <a:pt x="0" y="0"/>
                  </a:lnTo>
                  <a:lnTo>
                    <a:pt x="0" y="4525924"/>
                  </a:lnTo>
                  <a:lnTo>
                    <a:pt x="1440002" y="4525924"/>
                  </a:lnTo>
                  <a:lnTo>
                    <a:pt x="2880004" y="4525924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01010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91895" y="1422260"/>
            <a:ext cx="2187575" cy="1471625"/>
          </a:xfrm>
          <a:prstGeom prst="rect">
            <a:avLst/>
          </a:prstGeom>
        </p:spPr>
        <p:txBody>
          <a:bodyPr vert="horz" wrap="square" lIns="0" tIns="70485" rIns="0" bIns="0" rtlCol="0">
            <a:normAutofit/>
          </a:bodyPr>
          <a:lstStyle/>
          <a:p>
            <a:pPr marL="12700" marR="35560">
              <a:lnSpc>
                <a:spcPct val="79900"/>
              </a:lnSpc>
              <a:spcBef>
                <a:spcPts val="555"/>
              </a:spcBef>
            </a:pPr>
            <a:r>
              <a:rPr lang="pt-BR" sz="1900" b="1" spc="-10">
                <a:solidFill>
                  <a:srgbClr val="FFFFFF"/>
                </a:solidFill>
                <a:latin typeface="Arial"/>
                <a:cs typeface="Arial"/>
              </a:rPr>
              <a:t>BOSQUE</a:t>
            </a:r>
            <a:r>
              <a:rPr lang="pt-BR" sz="1900" b="1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pt-BR" sz="1900" b="1" spc="-10">
                <a:solidFill>
                  <a:srgbClr val="FFFFFF"/>
                </a:solidFill>
                <a:latin typeface="Arial"/>
                <a:cs typeface="Arial"/>
              </a:rPr>
              <a:t>ANDINO-PATAGÓNICO</a:t>
            </a:r>
            <a:endParaRPr lang="pt-BR" sz="19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5"/>
              </a:spcBef>
            </a:pPr>
            <a:r>
              <a:rPr lang="pt-BR" sz="1350" spc="-10">
                <a:solidFill>
                  <a:srgbClr val="E1EBE5"/>
                </a:solidFill>
                <a:latin typeface="Arial"/>
                <a:cs typeface="Arial"/>
              </a:rPr>
              <a:t>BOSQUE_NW_02 </a:t>
            </a:r>
            <a:r>
              <a:rPr lang="pt-BR" sz="1350">
                <a:solidFill>
                  <a:srgbClr val="E1EBE5"/>
                </a:solidFill>
                <a:latin typeface="Arial"/>
                <a:cs typeface="Arial"/>
              </a:rPr>
              <a:t>·</a:t>
            </a:r>
            <a:r>
              <a:rPr lang="pt-BR" sz="1350" spc="-15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pt-BR" sz="1350">
                <a:solidFill>
                  <a:srgbClr val="E1EBE5"/>
                </a:solidFill>
                <a:latin typeface="Arial"/>
                <a:cs typeface="Arial"/>
              </a:rPr>
              <a:t>gt2l</a:t>
            </a:r>
            <a:r>
              <a:rPr lang="pt-BR" sz="1350" spc="-10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pt-BR" sz="1350">
                <a:solidFill>
                  <a:srgbClr val="E1EBE5"/>
                </a:solidFill>
                <a:latin typeface="Arial"/>
                <a:cs typeface="Arial"/>
              </a:rPr>
              <a:t>·</a:t>
            </a:r>
            <a:r>
              <a:rPr lang="pt-BR" sz="1350" spc="-5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pt-BR" sz="1350" spc="-25">
                <a:solidFill>
                  <a:srgbClr val="E1EBE5"/>
                </a:solidFill>
                <a:latin typeface="Arial"/>
                <a:cs typeface="Arial"/>
              </a:rPr>
              <a:t>60 </a:t>
            </a:r>
            <a:r>
              <a:rPr lang="pt-BR" sz="1350" spc="-10">
                <a:solidFill>
                  <a:srgbClr val="E1EBE5"/>
                </a:solidFill>
                <a:latin typeface="Arial"/>
                <a:cs typeface="Arial"/>
              </a:rPr>
              <a:t>segmentos</a:t>
            </a:r>
            <a:endParaRPr lang="pt-BR" sz="1350">
              <a:latin typeface="Arial"/>
              <a:cs typeface="Arial"/>
            </a:endParaRPr>
          </a:p>
          <a:p>
            <a:pPr marL="12700">
              <a:lnSpc>
                <a:spcPts val="1605"/>
              </a:lnSpc>
            </a:pPr>
            <a:r>
              <a:rPr lang="pt-BR" sz="1350">
                <a:solidFill>
                  <a:srgbClr val="E1EBE5"/>
                </a:solidFill>
                <a:latin typeface="Arial"/>
                <a:cs typeface="Arial"/>
              </a:rPr>
              <a:t>16</a:t>
            </a:r>
            <a:r>
              <a:rPr lang="pt-BR" sz="1350" spc="-20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pt-BR" sz="1350">
                <a:solidFill>
                  <a:srgbClr val="E1EBE5"/>
                </a:solidFill>
                <a:latin typeface="Arial"/>
                <a:cs typeface="Arial"/>
              </a:rPr>
              <a:t>nov</a:t>
            </a:r>
            <a:r>
              <a:rPr lang="pt-BR" sz="1350" spc="-20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pt-BR" sz="1350">
                <a:solidFill>
                  <a:srgbClr val="E1EBE5"/>
                </a:solidFill>
                <a:latin typeface="Arial"/>
                <a:cs typeface="Arial"/>
              </a:rPr>
              <a:t>2022</a:t>
            </a:r>
            <a:r>
              <a:rPr lang="pt-BR" sz="1350" spc="-25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pt-BR" sz="1350">
                <a:solidFill>
                  <a:srgbClr val="E1EBE5"/>
                </a:solidFill>
                <a:latin typeface="Arial"/>
                <a:cs typeface="Arial"/>
              </a:rPr>
              <a:t>·</a:t>
            </a:r>
            <a:r>
              <a:rPr lang="pt-BR" sz="1350" spc="-20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pt-BR" sz="1350">
                <a:solidFill>
                  <a:srgbClr val="E1EBE5"/>
                </a:solidFill>
                <a:latin typeface="Arial"/>
                <a:cs typeface="Arial"/>
              </a:rPr>
              <a:t>RGT</a:t>
            </a:r>
            <a:r>
              <a:rPr lang="pt-BR" sz="1350" spc="-45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pt-BR" sz="1350" spc="-25">
                <a:solidFill>
                  <a:srgbClr val="E1EBE5"/>
                </a:solidFill>
                <a:latin typeface="Arial"/>
                <a:cs typeface="Arial"/>
              </a:rPr>
              <a:t>872</a:t>
            </a:r>
            <a:endParaRPr lang="pt-BR"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9477" y="2921317"/>
            <a:ext cx="1106805" cy="1152525"/>
            <a:chOff x="799477" y="2921317"/>
            <a:chExt cx="1106805" cy="1152525"/>
          </a:xfrm>
        </p:grpSpPr>
        <p:sp>
          <p:nvSpPr>
            <p:cNvPr id="10" name="object 10"/>
            <p:cNvSpPr/>
            <p:nvPr/>
          </p:nvSpPr>
          <p:spPr>
            <a:xfrm>
              <a:off x="804240" y="2926079"/>
              <a:ext cx="1097280" cy="1143000"/>
            </a:xfrm>
            <a:custGeom>
              <a:avLst/>
              <a:gdLst/>
              <a:ahLst/>
              <a:cxnLst/>
              <a:rect l="l" t="t" r="r" b="b"/>
              <a:pathLst>
                <a:path w="1097280" h="1143000">
                  <a:moveTo>
                    <a:pt x="102383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69924"/>
                  </a:lnTo>
                  <a:lnTo>
                    <a:pt x="594" y="1079195"/>
                  </a:lnTo>
                  <a:lnTo>
                    <a:pt x="607" y="1079400"/>
                  </a:lnTo>
                  <a:lnTo>
                    <a:pt x="2394" y="1088596"/>
                  </a:lnTo>
                  <a:lnTo>
                    <a:pt x="2428" y="1088775"/>
                  </a:lnTo>
                  <a:lnTo>
                    <a:pt x="5412" y="1097659"/>
                  </a:lnTo>
                  <a:lnTo>
                    <a:pt x="5464" y="1097815"/>
                  </a:lnTo>
                  <a:lnTo>
                    <a:pt x="9715" y="1106284"/>
                  </a:lnTo>
                  <a:lnTo>
                    <a:pt x="44984" y="1137535"/>
                  </a:lnTo>
                  <a:lnTo>
                    <a:pt x="73075" y="1143000"/>
                  </a:lnTo>
                  <a:lnTo>
                    <a:pt x="1024204" y="1142644"/>
                  </a:lnTo>
                  <a:lnTo>
                    <a:pt x="1068574" y="1127540"/>
                  </a:lnTo>
                  <a:lnTo>
                    <a:pt x="1091738" y="1097815"/>
                  </a:lnTo>
                  <a:lnTo>
                    <a:pt x="1091815" y="1097659"/>
                  </a:lnTo>
                  <a:lnTo>
                    <a:pt x="1097280" y="1069555"/>
                  </a:lnTo>
                  <a:lnTo>
                    <a:pt x="1096924" y="73075"/>
                  </a:lnTo>
                  <a:lnTo>
                    <a:pt x="1081820" y="28705"/>
                  </a:lnTo>
                  <a:lnTo>
                    <a:pt x="1042876" y="2428"/>
                  </a:lnTo>
                  <a:lnTo>
                    <a:pt x="1033475" y="607"/>
                  </a:lnTo>
                  <a:lnTo>
                    <a:pt x="102383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4240" y="2926079"/>
              <a:ext cx="1097280" cy="1143000"/>
            </a:xfrm>
            <a:custGeom>
              <a:avLst/>
              <a:gdLst/>
              <a:ahLst/>
              <a:cxnLst/>
              <a:rect l="l" t="t" r="r" b="b"/>
              <a:pathLst>
                <a:path w="1097280" h="11430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1023835" y="0"/>
                  </a:lnTo>
                  <a:lnTo>
                    <a:pt x="1068368" y="15104"/>
                  </a:lnTo>
                  <a:lnTo>
                    <a:pt x="1094493" y="54224"/>
                  </a:lnTo>
                  <a:lnTo>
                    <a:pt x="1096924" y="73075"/>
                  </a:lnTo>
                  <a:lnTo>
                    <a:pt x="1097280" y="1069555"/>
                  </a:lnTo>
                  <a:lnTo>
                    <a:pt x="1096672" y="1079195"/>
                  </a:lnTo>
                  <a:lnTo>
                    <a:pt x="1094851" y="1088596"/>
                  </a:lnTo>
                  <a:lnTo>
                    <a:pt x="1068574" y="1127540"/>
                  </a:lnTo>
                  <a:lnTo>
                    <a:pt x="1024204" y="1142644"/>
                  </a:lnTo>
                  <a:lnTo>
                    <a:pt x="73075" y="1143000"/>
                  </a:lnTo>
                  <a:lnTo>
                    <a:pt x="28555" y="1127895"/>
                  </a:lnTo>
                  <a:lnTo>
                    <a:pt x="2428" y="1088775"/>
                  </a:lnTo>
                  <a:lnTo>
                    <a:pt x="0" y="106992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4595" y="2926079"/>
              <a:ext cx="73025" cy="1143000"/>
            </a:xfrm>
            <a:custGeom>
              <a:avLst/>
              <a:gdLst/>
              <a:ahLst/>
              <a:cxnLst/>
              <a:rect l="l" t="t" r="r" b="b"/>
              <a:pathLst>
                <a:path w="73025" h="1143000">
                  <a:moveTo>
                    <a:pt x="72720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36360" y="1142644"/>
                  </a:lnTo>
                  <a:lnTo>
                    <a:pt x="72720" y="114264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58214" y="3127209"/>
            <a:ext cx="816610" cy="7078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ES" sz="2000" b="1">
                <a:solidFill>
                  <a:srgbClr val="2E6A46"/>
                </a:solidFill>
                <a:latin typeface="Arial"/>
                <a:cs typeface="Arial"/>
              </a:rPr>
              <a:t>20,8</a:t>
            </a:r>
            <a:r>
              <a:rPr lang="es-ES" sz="2000" b="1" spc="-25">
                <a:solidFill>
                  <a:srgbClr val="2E6A46"/>
                </a:solidFill>
                <a:latin typeface="Arial"/>
                <a:cs typeface="Arial"/>
              </a:rPr>
              <a:t> </a:t>
            </a:r>
            <a:r>
              <a:rPr lang="es-ES" sz="2000" b="1" spc="-50">
                <a:solidFill>
                  <a:srgbClr val="2E6A46"/>
                </a:solidFill>
                <a:latin typeface="Arial"/>
                <a:cs typeface="Arial"/>
              </a:rPr>
              <a:t>m</a:t>
            </a:r>
            <a:endParaRPr lang="es-ES" sz="20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1695"/>
              </a:spcBef>
            </a:pPr>
            <a:r>
              <a:rPr lang="es-ES" sz="1100" b="1" spc="-10">
                <a:solidFill>
                  <a:srgbClr val="1F2F28"/>
                </a:solidFill>
                <a:latin typeface="Arial"/>
                <a:cs typeface="Arial"/>
              </a:rPr>
              <a:t>MEDIANA</a:t>
            </a:r>
            <a:endParaRPr lang="es-ES" sz="1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06561" y="2921317"/>
            <a:ext cx="1106805" cy="1152525"/>
            <a:chOff x="2006561" y="2921317"/>
            <a:chExt cx="1106805" cy="1152525"/>
          </a:xfrm>
        </p:grpSpPr>
        <p:sp>
          <p:nvSpPr>
            <p:cNvPr id="15" name="object 15"/>
            <p:cNvSpPr/>
            <p:nvPr/>
          </p:nvSpPr>
          <p:spPr>
            <a:xfrm>
              <a:off x="2011324" y="2926079"/>
              <a:ext cx="1097280" cy="1143000"/>
            </a:xfrm>
            <a:custGeom>
              <a:avLst/>
              <a:gdLst/>
              <a:ahLst/>
              <a:cxnLst/>
              <a:rect l="l" t="t" r="r" b="b"/>
              <a:pathLst>
                <a:path w="1097280" h="1143000">
                  <a:moveTo>
                    <a:pt x="10238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69924"/>
                  </a:lnTo>
                  <a:lnTo>
                    <a:pt x="15091" y="1114294"/>
                  </a:lnTo>
                  <a:lnTo>
                    <a:pt x="54041" y="1140571"/>
                  </a:lnTo>
                  <a:lnTo>
                    <a:pt x="73075" y="1143000"/>
                  </a:lnTo>
                  <a:lnTo>
                    <a:pt x="1024191" y="1142644"/>
                  </a:lnTo>
                  <a:lnTo>
                    <a:pt x="1068569" y="1127540"/>
                  </a:lnTo>
                  <a:lnTo>
                    <a:pt x="1094789" y="1088775"/>
                  </a:lnTo>
                  <a:lnTo>
                    <a:pt x="1097279" y="1069555"/>
                  </a:lnTo>
                  <a:lnTo>
                    <a:pt x="1096911" y="73075"/>
                  </a:lnTo>
                  <a:lnTo>
                    <a:pt x="1081820" y="28705"/>
                  </a:lnTo>
                  <a:lnTo>
                    <a:pt x="1042870" y="2428"/>
                  </a:lnTo>
                  <a:lnTo>
                    <a:pt x="102383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11324" y="2926079"/>
              <a:ext cx="1097280" cy="1143000"/>
            </a:xfrm>
            <a:custGeom>
              <a:avLst/>
              <a:gdLst/>
              <a:ahLst/>
              <a:cxnLst/>
              <a:rect l="l" t="t" r="r" b="b"/>
              <a:pathLst>
                <a:path w="1097280" h="11430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023835" y="0"/>
                  </a:lnTo>
                  <a:lnTo>
                    <a:pt x="1068363" y="15104"/>
                  </a:lnTo>
                  <a:lnTo>
                    <a:pt x="1094482" y="54224"/>
                  </a:lnTo>
                  <a:lnTo>
                    <a:pt x="1096911" y="73075"/>
                  </a:lnTo>
                  <a:lnTo>
                    <a:pt x="1097279" y="1069555"/>
                  </a:lnTo>
                  <a:lnTo>
                    <a:pt x="1096672" y="1079195"/>
                  </a:lnTo>
                  <a:lnTo>
                    <a:pt x="1094849" y="1088596"/>
                  </a:lnTo>
                  <a:lnTo>
                    <a:pt x="1068569" y="1127540"/>
                  </a:lnTo>
                  <a:lnTo>
                    <a:pt x="1024191" y="1142644"/>
                  </a:lnTo>
                  <a:lnTo>
                    <a:pt x="73075" y="1143000"/>
                  </a:lnTo>
                  <a:lnTo>
                    <a:pt x="28548" y="1127895"/>
                  </a:lnTo>
                  <a:lnTo>
                    <a:pt x="2428" y="1088775"/>
                  </a:lnTo>
                  <a:lnTo>
                    <a:pt x="0" y="106992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11679" y="2926079"/>
              <a:ext cx="73025" cy="1143000"/>
            </a:xfrm>
            <a:custGeom>
              <a:avLst/>
              <a:gdLst/>
              <a:ahLst/>
              <a:cxnLst/>
              <a:rect l="l" t="t" r="r" b="b"/>
              <a:pathLst>
                <a:path w="73025" h="1143000">
                  <a:moveTo>
                    <a:pt x="72720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36360" y="1142644"/>
                  </a:lnTo>
                  <a:lnTo>
                    <a:pt x="72720" y="114264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65299" y="3127209"/>
            <a:ext cx="816610" cy="7078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ES" sz="2000" b="1">
                <a:solidFill>
                  <a:srgbClr val="2E6A46"/>
                </a:solidFill>
                <a:latin typeface="Arial"/>
                <a:cs typeface="Arial"/>
              </a:rPr>
              <a:t>32,9</a:t>
            </a:r>
            <a:r>
              <a:rPr lang="es-ES" sz="2000" b="1" spc="-25">
                <a:solidFill>
                  <a:srgbClr val="2E6A46"/>
                </a:solidFill>
                <a:latin typeface="Arial"/>
                <a:cs typeface="Arial"/>
              </a:rPr>
              <a:t> </a:t>
            </a:r>
            <a:r>
              <a:rPr lang="es-ES" sz="2000" b="1" spc="-50">
                <a:solidFill>
                  <a:srgbClr val="2E6A46"/>
                </a:solidFill>
                <a:latin typeface="Arial"/>
                <a:cs typeface="Arial"/>
              </a:rPr>
              <a:t>m</a:t>
            </a:r>
            <a:endParaRPr lang="es-ES" sz="20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1695"/>
              </a:spcBef>
            </a:pPr>
            <a:r>
              <a:rPr lang="es-ES" sz="1100" b="1" spc="-25">
                <a:solidFill>
                  <a:srgbClr val="1F2F28"/>
                </a:solidFill>
                <a:latin typeface="Arial"/>
                <a:cs typeface="Arial"/>
              </a:rPr>
              <a:t>P95</a:t>
            </a:r>
            <a:endParaRPr lang="es-ES"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9740" y="4310820"/>
            <a:ext cx="2313940" cy="1052195"/>
            <a:chOff x="799740" y="4310820"/>
            <a:chExt cx="2313940" cy="1052195"/>
          </a:xfrm>
        </p:grpSpPr>
        <p:sp>
          <p:nvSpPr>
            <p:cNvPr id="20" name="object 20"/>
            <p:cNvSpPr/>
            <p:nvPr/>
          </p:nvSpPr>
          <p:spPr>
            <a:xfrm>
              <a:off x="804240" y="4315320"/>
              <a:ext cx="2305050" cy="1043305"/>
            </a:xfrm>
            <a:custGeom>
              <a:avLst/>
              <a:gdLst/>
              <a:ahLst/>
              <a:cxnLst/>
              <a:rect l="l" t="t" r="r" b="b"/>
              <a:pathLst>
                <a:path w="2305050" h="1043304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978839"/>
                  </a:lnTo>
                  <a:lnTo>
                    <a:pt x="540" y="987187"/>
                  </a:lnTo>
                  <a:lnTo>
                    <a:pt x="18737" y="1024064"/>
                  </a:lnTo>
                  <a:lnTo>
                    <a:pt x="18853" y="1024197"/>
                  </a:lnTo>
                  <a:lnTo>
                    <a:pt x="55734" y="1042383"/>
                  </a:lnTo>
                  <a:lnTo>
                    <a:pt x="64084" y="1042924"/>
                  </a:lnTo>
                  <a:lnTo>
                    <a:pt x="2240635" y="1042924"/>
                  </a:lnTo>
                  <a:lnTo>
                    <a:pt x="2279678" y="1029559"/>
                  </a:lnTo>
                  <a:lnTo>
                    <a:pt x="2302559" y="995399"/>
                  </a:lnTo>
                  <a:lnTo>
                    <a:pt x="2304719" y="978839"/>
                  </a:lnTo>
                  <a:lnTo>
                    <a:pt x="2304696" y="64084"/>
                  </a:lnTo>
                  <a:lnTo>
                    <a:pt x="2291362" y="25402"/>
                  </a:lnTo>
                  <a:lnTo>
                    <a:pt x="2257199" y="2517"/>
                  </a:lnTo>
                  <a:lnTo>
                    <a:pt x="2240635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BFAF6">
                <a:alpha val="9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4240" y="4315320"/>
              <a:ext cx="2305050" cy="1043305"/>
            </a:xfrm>
            <a:custGeom>
              <a:avLst/>
              <a:gdLst/>
              <a:ahLst/>
              <a:cxnLst/>
              <a:rect l="l" t="t" r="r" b="b"/>
              <a:pathLst>
                <a:path w="2305050" h="1043304">
                  <a:moveTo>
                    <a:pt x="355" y="64084"/>
                  </a:moveTo>
                  <a:lnTo>
                    <a:pt x="896" y="55734"/>
                  </a:lnTo>
                  <a:lnTo>
                    <a:pt x="2517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2240635" y="355"/>
                  </a:lnTo>
                  <a:lnTo>
                    <a:pt x="2279628" y="13570"/>
                  </a:lnTo>
                  <a:lnTo>
                    <a:pt x="2302559" y="47880"/>
                  </a:lnTo>
                  <a:lnTo>
                    <a:pt x="2304719" y="64439"/>
                  </a:lnTo>
                  <a:lnTo>
                    <a:pt x="2304719" y="978839"/>
                  </a:lnTo>
                  <a:lnTo>
                    <a:pt x="2304179" y="987187"/>
                  </a:lnTo>
                  <a:lnTo>
                    <a:pt x="2302559" y="995399"/>
                  </a:lnTo>
                  <a:lnTo>
                    <a:pt x="2279678" y="1029559"/>
                  </a:lnTo>
                  <a:lnTo>
                    <a:pt x="2240635" y="1042924"/>
                  </a:lnTo>
                  <a:lnTo>
                    <a:pt x="64084" y="1042924"/>
                  </a:lnTo>
                  <a:lnTo>
                    <a:pt x="25091" y="1029709"/>
                  </a:lnTo>
                  <a:lnTo>
                    <a:pt x="2160" y="995399"/>
                  </a:lnTo>
                  <a:lnTo>
                    <a:pt x="0" y="97883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4595" y="4315675"/>
              <a:ext cx="82550" cy="1042669"/>
            </a:xfrm>
            <a:custGeom>
              <a:avLst/>
              <a:gdLst/>
              <a:ahLst/>
              <a:cxnLst/>
              <a:rect l="l" t="t" r="r" b="b"/>
              <a:pathLst>
                <a:path w="82550" h="1042670">
                  <a:moveTo>
                    <a:pt x="82080" y="0"/>
                  </a:moveTo>
                  <a:lnTo>
                    <a:pt x="0" y="0"/>
                  </a:lnTo>
                  <a:lnTo>
                    <a:pt x="0" y="1042200"/>
                  </a:lnTo>
                  <a:lnTo>
                    <a:pt x="41046" y="1042200"/>
                  </a:lnTo>
                  <a:lnTo>
                    <a:pt x="82080" y="104220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2E6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38860" y="4398022"/>
            <a:ext cx="1796414" cy="89127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350"/>
              </a:spcBef>
            </a:pP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Cada</a:t>
            </a:r>
            <a:r>
              <a:rPr lang="es-MX" sz="11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punto</a:t>
            </a:r>
            <a:r>
              <a:rPr lang="es-MX" sz="11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representa</a:t>
            </a:r>
            <a:r>
              <a:rPr lang="es-MX" sz="11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un </a:t>
            </a:r>
            <a:r>
              <a:rPr lang="es-MX" sz="1100" spc="-10">
                <a:solidFill>
                  <a:srgbClr val="1F2F28"/>
                </a:solidFill>
                <a:latin typeface="Arial"/>
                <a:cs typeface="Arial"/>
              </a:rPr>
              <a:t>segmento</a:t>
            </a:r>
            <a:r>
              <a:rPr lang="es-MX" sz="11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s-MX" sz="11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nominal</a:t>
            </a:r>
            <a:r>
              <a:rPr lang="es-MX" sz="11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de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100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m.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perfil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10">
                <a:solidFill>
                  <a:srgbClr val="1F2F28"/>
                </a:solidFill>
                <a:latin typeface="Arial"/>
                <a:cs typeface="Arial"/>
              </a:rPr>
              <a:t>superior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combina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terreno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tope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del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dosel;</a:t>
            </a:r>
            <a:r>
              <a:rPr lang="es-MX" sz="11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1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inferior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10">
                <a:solidFill>
                  <a:srgbClr val="1F2F28"/>
                </a:solidFill>
                <a:latin typeface="Arial"/>
                <a:cs typeface="Arial"/>
              </a:rPr>
              <a:t>muestra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h_canopy</a:t>
            </a:r>
            <a:r>
              <a:rPr lang="es-MX" sz="11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10">
                <a:solidFill>
                  <a:srgbClr val="1F2F28"/>
                </a:solidFill>
                <a:latin typeface="Arial"/>
                <a:cs typeface="Arial"/>
              </a:rPr>
              <a:t>(RH98).</a:t>
            </a:r>
            <a:endParaRPr lang="es-MX" sz="11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86200" y="1353235"/>
            <a:ext cx="7589520" cy="1875155"/>
            <a:chOff x="3886200" y="1353235"/>
            <a:chExt cx="7589520" cy="1875155"/>
          </a:xfrm>
        </p:grpSpPr>
        <p:sp>
          <p:nvSpPr>
            <p:cNvPr id="25" name="object 25"/>
            <p:cNvSpPr/>
            <p:nvPr/>
          </p:nvSpPr>
          <p:spPr>
            <a:xfrm>
              <a:off x="3886200" y="1353235"/>
              <a:ext cx="7589520" cy="1875155"/>
            </a:xfrm>
            <a:custGeom>
              <a:avLst/>
              <a:gdLst/>
              <a:ahLst/>
              <a:cxnLst/>
              <a:rect l="l" t="t" r="r" b="b"/>
              <a:pathLst>
                <a:path w="7589520" h="1875155">
                  <a:moveTo>
                    <a:pt x="0" y="1874520"/>
                  </a:moveTo>
                  <a:lnTo>
                    <a:pt x="7589520" y="1874888"/>
                  </a:lnTo>
                </a:path>
                <a:path w="7589520" h="1875155">
                  <a:moveTo>
                    <a:pt x="0" y="0"/>
                  </a:moveTo>
                  <a:lnTo>
                    <a:pt x="355" y="1874520"/>
                  </a:lnTo>
                </a:path>
              </a:pathLst>
            </a:custGeom>
            <a:ln w="10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86200" y="1587601"/>
              <a:ext cx="7589520" cy="1406525"/>
            </a:xfrm>
            <a:custGeom>
              <a:avLst/>
              <a:gdLst/>
              <a:ahLst/>
              <a:cxnLst/>
              <a:rect l="l" t="t" r="r" b="b"/>
              <a:pathLst>
                <a:path w="7589520" h="1406525">
                  <a:moveTo>
                    <a:pt x="0" y="1405801"/>
                  </a:moveTo>
                  <a:lnTo>
                    <a:pt x="7589520" y="1406156"/>
                  </a:lnTo>
                </a:path>
                <a:path w="7589520" h="1406525">
                  <a:moveTo>
                    <a:pt x="0" y="937082"/>
                  </a:moveTo>
                  <a:lnTo>
                    <a:pt x="7589520" y="937437"/>
                  </a:lnTo>
                </a:path>
                <a:path w="7589520" h="1406525">
                  <a:moveTo>
                    <a:pt x="0" y="468363"/>
                  </a:moveTo>
                  <a:lnTo>
                    <a:pt x="7589520" y="468718"/>
                  </a:lnTo>
                </a:path>
                <a:path w="7589520" h="1406525">
                  <a:moveTo>
                    <a:pt x="0" y="0"/>
                  </a:moveTo>
                  <a:lnTo>
                    <a:pt x="7589520" y="355"/>
                  </a:lnTo>
                </a:path>
              </a:pathLst>
            </a:custGeom>
            <a:ln w="5759">
              <a:solidFill>
                <a:srgbClr val="DCE1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86200" y="1539722"/>
              <a:ext cx="7589520" cy="1559560"/>
            </a:xfrm>
            <a:custGeom>
              <a:avLst/>
              <a:gdLst/>
              <a:ahLst/>
              <a:cxnLst/>
              <a:rect l="l" t="t" r="r" b="b"/>
              <a:pathLst>
                <a:path w="7589520" h="1559560">
                  <a:moveTo>
                    <a:pt x="0" y="563752"/>
                  </a:moveTo>
                  <a:lnTo>
                    <a:pt x="102235" y="597598"/>
                  </a:lnTo>
                </a:path>
                <a:path w="7589520" h="1559560">
                  <a:moveTo>
                    <a:pt x="102235" y="597598"/>
                  </a:moveTo>
                  <a:lnTo>
                    <a:pt x="153720" y="529920"/>
                  </a:lnTo>
                </a:path>
                <a:path w="7589520" h="1559560">
                  <a:moveTo>
                    <a:pt x="153720" y="529920"/>
                  </a:moveTo>
                  <a:lnTo>
                    <a:pt x="256324" y="322199"/>
                  </a:lnTo>
                </a:path>
                <a:path w="7589520" h="1559560">
                  <a:moveTo>
                    <a:pt x="256324" y="322199"/>
                  </a:moveTo>
                  <a:lnTo>
                    <a:pt x="307441" y="210235"/>
                  </a:lnTo>
                </a:path>
                <a:path w="7589520" h="1559560">
                  <a:moveTo>
                    <a:pt x="307441" y="210235"/>
                  </a:moveTo>
                  <a:lnTo>
                    <a:pt x="358914" y="86753"/>
                  </a:lnTo>
                </a:path>
                <a:path w="7589520" h="1559560">
                  <a:moveTo>
                    <a:pt x="358914" y="86753"/>
                  </a:moveTo>
                  <a:lnTo>
                    <a:pt x="410044" y="81356"/>
                  </a:lnTo>
                </a:path>
                <a:path w="7589520" h="1559560">
                  <a:moveTo>
                    <a:pt x="410044" y="81356"/>
                  </a:moveTo>
                  <a:lnTo>
                    <a:pt x="615238" y="389153"/>
                  </a:lnTo>
                </a:path>
                <a:path w="7589520" h="1559560">
                  <a:moveTo>
                    <a:pt x="615238" y="389153"/>
                  </a:moveTo>
                  <a:lnTo>
                    <a:pt x="768959" y="667435"/>
                  </a:lnTo>
                </a:path>
                <a:path w="7589520" h="1559560">
                  <a:moveTo>
                    <a:pt x="768959" y="667435"/>
                  </a:moveTo>
                  <a:lnTo>
                    <a:pt x="974166" y="616673"/>
                  </a:lnTo>
                </a:path>
                <a:path w="7589520" h="1559560">
                  <a:moveTo>
                    <a:pt x="974166" y="616673"/>
                  </a:moveTo>
                  <a:lnTo>
                    <a:pt x="1025283" y="569163"/>
                  </a:lnTo>
                </a:path>
                <a:path w="7589520" h="1559560">
                  <a:moveTo>
                    <a:pt x="1025283" y="569163"/>
                  </a:moveTo>
                  <a:lnTo>
                    <a:pt x="1281595" y="343433"/>
                  </a:lnTo>
                </a:path>
                <a:path w="7589520" h="1559560">
                  <a:moveTo>
                    <a:pt x="1281595" y="343433"/>
                  </a:moveTo>
                  <a:lnTo>
                    <a:pt x="1333080" y="357479"/>
                  </a:lnTo>
                </a:path>
                <a:path w="7589520" h="1559560">
                  <a:moveTo>
                    <a:pt x="1333080" y="357479"/>
                  </a:moveTo>
                  <a:lnTo>
                    <a:pt x="1384553" y="345592"/>
                  </a:lnTo>
                </a:path>
                <a:path w="7589520" h="1559560">
                  <a:moveTo>
                    <a:pt x="1384553" y="345592"/>
                  </a:moveTo>
                  <a:lnTo>
                    <a:pt x="1435684" y="366115"/>
                  </a:lnTo>
                </a:path>
                <a:path w="7589520" h="1559560">
                  <a:moveTo>
                    <a:pt x="1435684" y="366115"/>
                  </a:moveTo>
                  <a:lnTo>
                    <a:pt x="1640878" y="624243"/>
                  </a:lnTo>
                </a:path>
                <a:path w="7589520" h="1559560">
                  <a:moveTo>
                    <a:pt x="1640878" y="624243"/>
                  </a:moveTo>
                  <a:lnTo>
                    <a:pt x="2461323" y="0"/>
                  </a:lnTo>
                </a:path>
                <a:path w="7589520" h="1559560">
                  <a:moveTo>
                    <a:pt x="2461323" y="0"/>
                  </a:moveTo>
                  <a:lnTo>
                    <a:pt x="2512441" y="42837"/>
                  </a:lnTo>
                </a:path>
                <a:path w="7589520" h="1559560">
                  <a:moveTo>
                    <a:pt x="2512441" y="42837"/>
                  </a:moveTo>
                  <a:lnTo>
                    <a:pt x="2717634" y="46431"/>
                  </a:lnTo>
                </a:path>
                <a:path w="7589520" h="1559560">
                  <a:moveTo>
                    <a:pt x="2717634" y="46431"/>
                  </a:moveTo>
                  <a:lnTo>
                    <a:pt x="2769120" y="75603"/>
                  </a:lnTo>
                </a:path>
                <a:path w="7589520" h="1559560">
                  <a:moveTo>
                    <a:pt x="2769120" y="75603"/>
                  </a:moveTo>
                  <a:lnTo>
                    <a:pt x="2922841" y="172440"/>
                  </a:lnTo>
                </a:path>
                <a:path w="7589520" h="1559560">
                  <a:moveTo>
                    <a:pt x="2922841" y="172440"/>
                  </a:moveTo>
                  <a:lnTo>
                    <a:pt x="3025444" y="151917"/>
                  </a:lnTo>
                </a:path>
                <a:path w="7589520" h="1559560">
                  <a:moveTo>
                    <a:pt x="3025444" y="151917"/>
                  </a:moveTo>
                  <a:lnTo>
                    <a:pt x="3076562" y="166319"/>
                  </a:lnTo>
                </a:path>
                <a:path w="7589520" h="1559560">
                  <a:moveTo>
                    <a:pt x="3076562" y="166319"/>
                  </a:moveTo>
                  <a:lnTo>
                    <a:pt x="3128035" y="147954"/>
                  </a:lnTo>
                </a:path>
                <a:path w="7589520" h="1559560">
                  <a:moveTo>
                    <a:pt x="3128035" y="147954"/>
                  </a:moveTo>
                  <a:lnTo>
                    <a:pt x="3179165" y="124193"/>
                  </a:lnTo>
                </a:path>
                <a:path w="7589520" h="1559560">
                  <a:moveTo>
                    <a:pt x="3179165" y="124193"/>
                  </a:moveTo>
                  <a:lnTo>
                    <a:pt x="3230638" y="131762"/>
                  </a:lnTo>
                </a:path>
                <a:path w="7589520" h="1559560">
                  <a:moveTo>
                    <a:pt x="3230638" y="131762"/>
                  </a:moveTo>
                  <a:lnTo>
                    <a:pt x="3281756" y="98640"/>
                  </a:lnTo>
                </a:path>
                <a:path w="7589520" h="1559560">
                  <a:moveTo>
                    <a:pt x="3281756" y="98640"/>
                  </a:moveTo>
                  <a:lnTo>
                    <a:pt x="3384359" y="87122"/>
                  </a:lnTo>
                </a:path>
                <a:path w="7589520" h="1559560">
                  <a:moveTo>
                    <a:pt x="3384359" y="87122"/>
                  </a:moveTo>
                  <a:lnTo>
                    <a:pt x="3435845" y="92151"/>
                  </a:lnTo>
                </a:path>
                <a:path w="7589520" h="1559560">
                  <a:moveTo>
                    <a:pt x="3435845" y="92151"/>
                  </a:moveTo>
                  <a:lnTo>
                    <a:pt x="3486962" y="115201"/>
                  </a:lnTo>
                </a:path>
                <a:path w="7589520" h="1559560">
                  <a:moveTo>
                    <a:pt x="3486962" y="115201"/>
                  </a:moveTo>
                  <a:lnTo>
                    <a:pt x="3538080" y="133197"/>
                  </a:lnTo>
                </a:path>
                <a:path w="7589520" h="1559560">
                  <a:moveTo>
                    <a:pt x="3538080" y="133197"/>
                  </a:moveTo>
                  <a:lnTo>
                    <a:pt x="3640683" y="212394"/>
                  </a:lnTo>
                </a:path>
                <a:path w="7589520" h="1559560">
                  <a:moveTo>
                    <a:pt x="3640683" y="212394"/>
                  </a:moveTo>
                  <a:lnTo>
                    <a:pt x="3743274" y="326516"/>
                  </a:lnTo>
                </a:path>
                <a:path w="7589520" h="1559560">
                  <a:moveTo>
                    <a:pt x="3743274" y="326516"/>
                  </a:moveTo>
                  <a:lnTo>
                    <a:pt x="3897363" y="446392"/>
                  </a:lnTo>
                </a:path>
                <a:path w="7589520" h="1559560">
                  <a:moveTo>
                    <a:pt x="3897363" y="446392"/>
                  </a:moveTo>
                  <a:lnTo>
                    <a:pt x="3948480" y="445681"/>
                  </a:lnTo>
                </a:path>
                <a:path w="7589520" h="1559560">
                  <a:moveTo>
                    <a:pt x="3948480" y="445681"/>
                  </a:moveTo>
                  <a:lnTo>
                    <a:pt x="4153674" y="480237"/>
                  </a:lnTo>
                </a:path>
                <a:path w="7589520" h="1559560">
                  <a:moveTo>
                    <a:pt x="4153674" y="480237"/>
                  </a:moveTo>
                  <a:lnTo>
                    <a:pt x="4204804" y="507238"/>
                  </a:lnTo>
                </a:path>
                <a:path w="7589520" h="1559560">
                  <a:moveTo>
                    <a:pt x="4204804" y="507238"/>
                  </a:moveTo>
                  <a:lnTo>
                    <a:pt x="4358525" y="561238"/>
                  </a:lnTo>
                </a:path>
                <a:path w="7589520" h="1559560">
                  <a:moveTo>
                    <a:pt x="4358525" y="561238"/>
                  </a:moveTo>
                  <a:lnTo>
                    <a:pt x="4922634" y="965873"/>
                  </a:lnTo>
                </a:path>
                <a:path w="7589520" h="1559560">
                  <a:moveTo>
                    <a:pt x="4922634" y="965873"/>
                  </a:moveTo>
                  <a:lnTo>
                    <a:pt x="5025237" y="1030312"/>
                  </a:lnTo>
                </a:path>
                <a:path w="7589520" h="1559560">
                  <a:moveTo>
                    <a:pt x="5025237" y="1030312"/>
                  </a:moveTo>
                  <a:lnTo>
                    <a:pt x="5127840" y="1086116"/>
                  </a:lnTo>
                </a:path>
                <a:path w="7589520" h="1559560">
                  <a:moveTo>
                    <a:pt x="5127840" y="1086116"/>
                  </a:moveTo>
                  <a:lnTo>
                    <a:pt x="5384165" y="1225080"/>
                  </a:lnTo>
                </a:path>
                <a:path w="7589520" h="1559560">
                  <a:moveTo>
                    <a:pt x="5384165" y="1225080"/>
                  </a:moveTo>
                  <a:lnTo>
                    <a:pt x="5486755" y="1214640"/>
                  </a:lnTo>
                </a:path>
                <a:path w="7589520" h="1559560">
                  <a:moveTo>
                    <a:pt x="5486755" y="1214640"/>
                  </a:moveTo>
                  <a:lnTo>
                    <a:pt x="5897156" y="1415872"/>
                  </a:lnTo>
                </a:path>
                <a:path w="7589520" h="1559560">
                  <a:moveTo>
                    <a:pt x="5897156" y="1415872"/>
                  </a:moveTo>
                  <a:lnTo>
                    <a:pt x="6050876" y="1388872"/>
                  </a:lnTo>
                </a:path>
                <a:path w="7589520" h="1559560">
                  <a:moveTo>
                    <a:pt x="6050876" y="1388872"/>
                  </a:moveTo>
                  <a:lnTo>
                    <a:pt x="6101994" y="1435671"/>
                  </a:lnTo>
                </a:path>
                <a:path w="7589520" h="1559560">
                  <a:moveTo>
                    <a:pt x="6101994" y="1435671"/>
                  </a:moveTo>
                  <a:lnTo>
                    <a:pt x="6307201" y="1448993"/>
                  </a:lnTo>
                </a:path>
                <a:path w="7589520" h="1559560">
                  <a:moveTo>
                    <a:pt x="6307201" y="1448993"/>
                  </a:moveTo>
                  <a:lnTo>
                    <a:pt x="6358674" y="1453680"/>
                  </a:lnTo>
                </a:path>
                <a:path w="7589520" h="1559560">
                  <a:moveTo>
                    <a:pt x="6358674" y="1453680"/>
                  </a:moveTo>
                  <a:lnTo>
                    <a:pt x="6461277" y="1388872"/>
                  </a:lnTo>
                </a:path>
                <a:path w="7589520" h="1559560">
                  <a:moveTo>
                    <a:pt x="6461277" y="1388872"/>
                  </a:moveTo>
                  <a:lnTo>
                    <a:pt x="6512394" y="1340637"/>
                  </a:lnTo>
                </a:path>
                <a:path w="7589520" h="1559560">
                  <a:moveTo>
                    <a:pt x="6512394" y="1340637"/>
                  </a:moveTo>
                  <a:lnTo>
                    <a:pt x="6563880" y="1351076"/>
                  </a:lnTo>
                </a:path>
                <a:path w="7589520" h="1559560">
                  <a:moveTo>
                    <a:pt x="6563880" y="1351076"/>
                  </a:moveTo>
                  <a:lnTo>
                    <a:pt x="6666483" y="1379512"/>
                  </a:lnTo>
                </a:path>
                <a:path w="7589520" h="1559560">
                  <a:moveTo>
                    <a:pt x="6666483" y="1379512"/>
                  </a:moveTo>
                  <a:lnTo>
                    <a:pt x="6717601" y="1379880"/>
                  </a:lnTo>
                </a:path>
                <a:path w="7589520" h="1559560">
                  <a:moveTo>
                    <a:pt x="6717601" y="1379880"/>
                  </a:moveTo>
                  <a:lnTo>
                    <a:pt x="6769074" y="1376273"/>
                  </a:lnTo>
                </a:path>
                <a:path w="7589520" h="1559560">
                  <a:moveTo>
                    <a:pt x="6769074" y="1376273"/>
                  </a:moveTo>
                  <a:lnTo>
                    <a:pt x="7076516" y="1459801"/>
                  </a:lnTo>
                </a:path>
                <a:path w="7589520" h="1559560">
                  <a:moveTo>
                    <a:pt x="7076516" y="1459801"/>
                  </a:moveTo>
                  <a:lnTo>
                    <a:pt x="7128002" y="1481759"/>
                  </a:lnTo>
                </a:path>
                <a:path w="7589520" h="1559560">
                  <a:moveTo>
                    <a:pt x="7128002" y="1481759"/>
                  </a:moveTo>
                  <a:lnTo>
                    <a:pt x="7281722" y="1542237"/>
                  </a:lnTo>
                </a:path>
                <a:path w="7589520" h="1559560">
                  <a:moveTo>
                    <a:pt x="7281722" y="1542237"/>
                  </a:moveTo>
                  <a:lnTo>
                    <a:pt x="7384326" y="1549082"/>
                  </a:lnTo>
                </a:path>
                <a:path w="7589520" h="1559560">
                  <a:moveTo>
                    <a:pt x="7384326" y="1549082"/>
                  </a:moveTo>
                  <a:lnTo>
                    <a:pt x="7538034" y="1544040"/>
                  </a:lnTo>
                </a:path>
                <a:path w="7589520" h="1559560">
                  <a:moveTo>
                    <a:pt x="7538034" y="1544040"/>
                  </a:moveTo>
                  <a:lnTo>
                    <a:pt x="7589520" y="1559521"/>
                  </a:lnTo>
                </a:path>
              </a:pathLst>
            </a:custGeom>
            <a:ln w="151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86200" y="1490040"/>
              <a:ext cx="7589520" cy="1590040"/>
            </a:xfrm>
            <a:custGeom>
              <a:avLst/>
              <a:gdLst/>
              <a:ahLst/>
              <a:cxnLst/>
              <a:rect l="l" t="t" r="r" b="b"/>
              <a:pathLst>
                <a:path w="7589520" h="1590039">
                  <a:moveTo>
                    <a:pt x="0" y="302755"/>
                  </a:moveTo>
                  <a:lnTo>
                    <a:pt x="102235" y="584276"/>
                  </a:lnTo>
                </a:path>
                <a:path w="7589520" h="1590039">
                  <a:moveTo>
                    <a:pt x="102235" y="584276"/>
                  </a:moveTo>
                  <a:lnTo>
                    <a:pt x="153720" y="505802"/>
                  </a:lnTo>
                </a:path>
                <a:path w="7589520" h="1590039">
                  <a:moveTo>
                    <a:pt x="153720" y="505802"/>
                  </a:moveTo>
                  <a:lnTo>
                    <a:pt x="256324" y="295198"/>
                  </a:lnTo>
                </a:path>
                <a:path w="7589520" h="1590039">
                  <a:moveTo>
                    <a:pt x="256324" y="295198"/>
                  </a:moveTo>
                  <a:lnTo>
                    <a:pt x="307441" y="168122"/>
                  </a:lnTo>
                </a:path>
                <a:path w="7589520" h="1590039">
                  <a:moveTo>
                    <a:pt x="307441" y="168122"/>
                  </a:moveTo>
                  <a:lnTo>
                    <a:pt x="358914" y="71285"/>
                  </a:lnTo>
                </a:path>
                <a:path w="7589520" h="1590039">
                  <a:moveTo>
                    <a:pt x="358914" y="71285"/>
                  </a:moveTo>
                  <a:lnTo>
                    <a:pt x="410044" y="95757"/>
                  </a:lnTo>
                </a:path>
                <a:path w="7589520" h="1590039">
                  <a:moveTo>
                    <a:pt x="410044" y="95757"/>
                  </a:moveTo>
                  <a:lnTo>
                    <a:pt x="615238" y="380885"/>
                  </a:lnTo>
                </a:path>
                <a:path w="7589520" h="1590039">
                  <a:moveTo>
                    <a:pt x="615238" y="380885"/>
                  </a:moveTo>
                  <a:lnTo>
                    <a:pt x="768959" y="667435"/>
                  </a:lnTo>
                </a:path>
                <a:path w="7589520" h="1590039">
                  <a:moveTo>
                    <a:pt x="768959" y="667435"/>
                  </a:moveTo>
                  <a:lnTo>
                    <a:pt x="974166" y="606234"/>
                  </a:lnTo>
                </a:path>
                <a:path w="7589520" h="1590039">
                  <a:moveTo>
                    <a:pt x="974166" y="606234"/>
                  </a:moveTo>
                  <a:lnTo>
                    <a:pt x="1025283" y="562317"/>
                  </a:lnTo>
                </a:path>
                <a:path w="7589520" h="1590039">
                  <a:moveTo>
                    <a:pt x="1025283" y="562317"/>
                  </a:moveTo>
                  <a:lnTo>
                    <a:pt x="1281595" y="335876"/>
                  </a:lnTo>
                </a:path>
                <a:path w="7589520" h="1590039">
                  <a:moveTo>
                    <a:pt x="1281595" y="335876"/>
                  </a:moveTo>
                  <a:lnTo>
                    <a:pt x="1333080" y="355320"/>
                  </a:lnTo>
                </a:path>
                <a:path w="7589520" h="1590039">
                  <a:moveTo>
                    <a:pt x="1333080" y="355320"/>
                  </a:moveTo>
                  <a:lnTo>
                    <a:pt x="1384553" y="332993"/>
                  </a:lnTo>
                </a:path>
                <a:path w="7589520" h="1590039">
                  <a:moveTo>
                    <a:pt x="1384553" y="332993"/>
                  </a:moveTo>
                  <a:lnTo>
                    <a:pt x="1435684" y="340918"/>
                  </a:lnTo>
                </a:path>
                <a:path w="7589520" h="1590039">
                  <a:moveTo>
                    <a:pt x="1435684" y="340918"/>
                  </a:moveTo>
                  <a:lnTo>
                    <a:pt x="1640878" y="605154"/>
                  </a:lnTo>
                </a:path>
                <a:path w="7589520" h="1590039">
                  <a:moveTo>
                    <a:pt x="1640878" y="605154"/>
                  </a:moveTo>
                  <a:lnTo>
                    <a:pt x="2461323" y="0"/>
                  </a:lnTo>
                </a:path>
                <a:path w="7589520" h="1590039">
                  <a:moveTo>
                    <a:pt x="2461323" y="0"/>
                  </a:moveTo>
                  <a:lnTo>
                    <a:pt x="2512441" y="45364"/>
                  </a:lnTo>
                </a:path>
                <a:path w="7589520" h="1590039">
                  <a:moveTo>
                    <a:pt x="2512441" y="45364"/>
                  </a:moveTo>
                  <a:lnTo>
                    <a:pt x="2717634" y="47523"/>
                  </a:lnTo>
                </a:path>
                <a:path w="7589520" h="1590039">
                  <a:moveTo>
                    <a:pt x="2717634" y="47523"/>
                  </a:moveTo>
                  <a:lnTo>
                    <a:pt x="2769120" y="76682"/>
                  </a:lnTo>
                </a:path>
                <a:path w="7589520" h="1590039">
                  <a:moveTo>
                    <a:pt x="2769120" y="76682"/>
                  </a:moveTo>
                  <a:lnTo>
                    <a:pt x="2922841" y="176758"/>
                  </a:lnTo>
                </a:path>
                <a:path w="7589520" h="1590039">
                  <a:moveTo>
                    <a:pt x="2922841" y="176758"/>
                  </a:moveTo>
                  <a:lnTo>
                    <a:pt x="3025444" y="167754"/>
                  </a:lnTo>
                </a:path>
                <a:path w="7589520" h="1590039">
                  <a:moveTo>
                    <a:pt x="3025444" y="167754"/>
                  </a:moveTo>
                  <a:lnTo>
                    <a:pt x="3076562" y="185394"/>
                  </a:lnTo>
                </a:path>
                <a:path w="7589520" h="1590039">
                  <a:moveTo>
                    <a:pt x="3076562" y="185394"/>
                  </a:moveTo>
                  <a:lnTo>
                    <a:pt x="3128035" y="155155"/>
                  </a:lnTo>
                </a:path>
                <a:path w="7589520" h="1590039">
                  <a:moveTo>
                    <a:pt x="3128035" y="155155"/>
                  </a:moveTo>
                  <a:lnTo>
                    <a:pt x="3179165" y="137883"/>
                  </a:lnTo>
                </a:path>
                <a:path w="7589520" h="1590039">
                  <a:moveTo>
                    <a:pt x="3179165" y="137883"/>
                  </a:moveTo>
                  <a:lnTo>
                    <a:pt x="3230638" y="141477"/>
                  </a:lnTo>
                </a:path>
                <a:path w="7589520" h="1590039">
                  <a:moveTo>
                    <a:pt x="3230638" y="141477"/>
                  </a:moveTo>
                  <a:lnTo>
                    <a:pt x="3281756" y="101523"/>
                  </a:lnTo>
                </a:path>
                <a:path w="7589520" h="1590039">
                  <a:moveTo>
                    <a:pt x="3281756" y="101523"/>
                  </a:moveTo>
                  <a:lnTo>
                    <a:pt x="3384359" y="97205"/>
                  </a:lnTo>
                </a:path>
                <a:path w="7589520" h="1590039">
                  <a:moveTo>
                    <a:pt x="3384359" y="97205"/>
                  </a:moveTo>
                  <a:lnTo>
                    <a:pt x="3435845" y="100444"/>
                  </a:lnTo>
                </a:path>
                <a:path w="7589520" h="1590039">
                  <a:moveTo>
                    <a:pt x="3435845" y="100444"/>
                  </a:moveTo>
                  <a:lnTo>
                    <a:pt x="3486962" y="110515"/>
                  </a:lnTo>
                </a:path>
                <a:path w="7589520" h="1590039">
                  <a:moveTo>
                    <a:pt x="3486962" y="110515"/>
                  </a:moveTo>
                  <a:lnTo>
                    <a:pt x="3538080" y="129603"/>
                  </a:lnTo>
                </a:path>
                <a:path w="7589520" h="1590039">
                  <a:moveTo>
                    <a:pt x="3538080" y="129603"/>
                  </a:moveTo>
                  <a:lnTo>
                    <a:pt x="3640683" y="200875"/>
                  </a:lnTo>
                </a:path>
                <a:path w="7589520" h="1590039">
                  <a:moveTo>
                    <a:pt x="3640683" y="200875"/>
                  </a:moveTo>
                  <a:lnTo>
                    <a:pt x="3743274" y="339483"/>
                  </a:lnTo>
                </a:path>
                <a:path w="7589520" h="1590039">
                  <a:moveTo>
                    <a:pt x="3743274" y="339483"/>
                  </a:moveTo>
                  <a:lnTo>
                    <a:pt x="3897363" y="448563"/>
                  </a:lnTo>
                </a:path>
                <a:path w="7589520" h="1590039">
                  <a:moveTo>
                    <a:pt x="3897363" y="448563"/>
                  </a:moveTo>
                  <a:lnTo>
                    <a:pt x="3948480" y="442798"/>
                  </a:lnTo>
                </a:path>
                <a:path w="7589520" h="1590039">
                  <a:moveTo>
                    <a:pt x="3948480" y="442798"/>
                  </a:moveTo>
                  <a:lnTo>
                    <a:pt x="4153674" y="474484"/>
                  </a:lnTo>
                </a:path>
                <a:path w="7589520" h="1590039">
                  <a:moveTo>
                    <a:pt x="4153674" y="474484"/>
                  </a:moveTo>
                  <a:lnTo>
                    <a:pt x="4204804" y="476275"/>
                  </a:lnTo>
                </a:path>
                <a:path w="7589520" h="1590039">
                  <a:moveTo>
                    <a:pt x="4204804" y="476275"/>
                  </a:moveTo>
                  <a:lnTo>
                    <a:pt x="4358525" y="543598"/>
                  </a:lnTo>
                </a:path>
                <a:path w="7589520" h="1590039">
                  <a:moveTo>
                    <a:pt x="4358525" y="543598"/>
                  </a:moveTo>
                  <a:lnTo>
                    <a:pt x="4922634" y="963358"/>
                  </a:lnTo>
                </a:path>
                <a:path w="7589520" h="1590039">
                  <a:moveTo>
                    <a:pt x="4922634" y="963358"/>
                  </a:moveTo>
                  <a:lnTo>
                    <a:pt x="5025237" y="1029957"/>
                  </a:lnTo>
                </a:path>
                <a:path w="7589520" h="1590039">
                  <a:moveTo>
                    <a:pt x="5025237" y="1029957"/>
                  </a:moveTo>
                  <a:lnTo>
                    <a:pt x="5127840" y="1066317"/>
                  </a:lnTo>
                </a:path>
                <a:path w="7589520" h="1590039">
                  <a:moveTo>
                    <a:pt x="5127840" y="1066317"/>
                  </a:moveTo>
                  <a:lnTo>
                    <a:pt x="5384165" y="1233716"/>
                  </a:lnTo>
                </a:path>
                <a:path w="7589520" h="1590039">
                  <a:moveTo>
                    <a:pt x="5384165" y="1233716"/>
                  </a:moveTo>
                  <a:lnTo>
                    <a:pt x="5486755" y="1210322"/>
                  </a:lnTo>
                </a:path>
                <a:path w="7589520" h="1590039">
                  <a:moveTo>
                    <a:pt x="5486755" y="1210322"/>
                  </a:moveTo>
                  <a:lnTo>
                    <a:pt x="5897156" y="1416240"/>
                  </a:lnTo>
                </a:path>
                <a:path w="7589520" h="1590039">
                  <a:moveTo>
                    <a:pt x="5897156" y="1416240"/>
                  </a:moveTo>
                  <a:lnTo>
                    <a:pt x="6050876" y="1409039"/>
                  </a:lnTo>
                </a:path>
                <a:path w="7589520" h="1590039">
                  <a:moveTo>
                    <a:pt x="6050876" y="1409039"/>
                  </a:moveTo>
                  <a:lnTo>
                    <a:pt x="6101994" y="1440357"/>
                  </a:lnTo>
                </a:path>
                <a:path w="7589520" h="1590039">
                  <a:moveTo>
                    <a:pt x="6101994" y="1440357"/>
                  </a:moveTo>
                  <a:lnTo>
                    <a:pt x="6307201" y="1450797"/>
                  </a:lnTo>
                </a:path>
                <a:path w="7589520" h="1590039">
                  <a:moveTo>
                    <a:pt x="6307201" y="1450797"/>
                  </a:moveTo>
                  <a:lnTo>
                    <a:pt x="6358674" y="1456194"/>
                  </a:lnTo>
                </a:path>
                <a:path w="7589520" h="1590039">
                  <a:moveTo>
                    <a:pt x="6358674" y="1456194"/>
                  </a:moveTo>
                  <a:lnTo>
                    <a:pt x="6461277" y="1385277"/>
                  </a:lnTo>
                </a:path>
                <a:path w="7589520" h="1590039">
                  <a:moveTo>
                    <a:pt x="6461277" y="1385277"/>
                  </a:moveTo>
                  <a:lnTo>
                    <a:pt x="6512394" y="1356474"/>
                  </a:lnTo>
                </a:path>
                <a:path w="7589520" h="1590039">
                  <a:moveTo>
                    <a:pt x="6512394" y="1356474"/>
                  </a:moveTo>
                  <a:lnTo>
                    <a:pt x="6563880" y="1377365"/>
                  </a:lnTo>
                </a:path>
                <a:path w="7589520" h="1590039">
                  <a:moveTo>
                    <a:pt x="6563880" y="1377365"/>
                  </a:moveTo>
                  <a:lnTo>
                    <a:pt x="6666483" y="1397520"/>
                  </a:lnTo>
                </a:path>
                <a:path w="7589520" h="1590039">
                  <a:moveTo>
                    <a:pt x="6666483" y="1397520"/>
                  </a:moveTo>
                  <a:lnTo>
                    <a:pt x="6717601" y="1386357"/>
                  </a:lnTo>
                </a:path>
                <a:path w="7589520" h="1590039">
                  <a:moveTo>
                    <a:pt x="6717601" y="1386357"/>
                  </a:moveTo>
                  <a:lnTo>
                    <a:pt x="6769074" y="1393202"/>
                  </a:lnTo>
                </a:path>
                <a:path w="7589520" h="1590039">
                  <a:moveTo>
                    <a:pt x="6769074" y="1393202"/>
                  </a:moveTo>
                  <a:lnTo>
                    <a:pt x="7076516" y="1464119"/>
                  </a:lnTo>
                </a:path>
                <a:path w="7589520" h="1590039">
                  <a:moveTo>
                    <a:pt x="7076516" y="1464119"/>
                  </a:moveTo>
                  <a:lnTo>
                    <a:pt x="7128002" y="1492199"/>
                  </a:lnTo>
                </a:path>
                <a:path w="7589520" h="1590039">
                  <a:moveTo>
                    <a:pt x="7128002" y="1492199"/>
                  </a:moveTo>
                  <a:lnTo>
                    <a:pt x="7281722" y="1546199"/>
                  </a:lnTo>
                </a:path>
                <a:path w="7589520" h="1590039">
                  <a:moveTo>
                    <a:pt x="7281722" y="1546199"/>
                  </a:moveTo>
                  <a:lnTo>
                    <a:pt x="7384326" y="1565275"/>
                  </a:lnTo>
                </a:path>
                <a:path w="7589520" h="1590039">
                  <a:moveTo>
                    <a:pt x="7384326" y="1565275"/>
                  </a:moveTo>
                  <a:lnTo>
                    <a:pt x="7538034" y="1556639"/>
                  </a:lnTo>
                </a:path>
                <a:path w="7589520" h="1590039">
                  <a:moveTo>
                    <a:pt x="7538034" y="1556639"/>
                  </a:moveTo>
                  <a:lnTo>
                    <a:pt x="7589520" y="1589760"/>
                  </a:lnTo>
                </a:path>
              </a:pathLst>
            </a:custGeom>
            <a:ln w="2303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90175" y="2907982"/>
            <a:ext cx="26675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800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23221" y="2439619"/>
            <a:ext cx="346176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1000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23221" y="1970900"/>
            <a:ext cx="346176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1200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23221" y="1502181"/>
            <a:ext cx="346176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1400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69587" y="1891143"/>
            <a:ext cx="161583" cy="1078420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Elevación</a:t>
            </a:r>
            <a:r>
              <a:rPr lang="es-ES" sz="105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(m)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82059" y="3249625"/>
            <a:ext cx="211302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0,0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292738" y="3249625"/>
            <a:ext cx="284734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14,8</a:t>
            </a:r>
            <a:endParaRPr lang="es-ES" sz="10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149275" y="1538617"/>
            <a:ext cx="2103120" cy="635"/>
            <a:chOff x="4160520" y="1554479"/>
            <a:chExt cx="2103120" cy="635"/>
          </a:xfrm>
        </p:grpSpPr>
        <p:sp>
          <p:nvSpPr>
            <p:cNvPr id="37" name="object 37"/>
            <p:cNvSpPr/>
            <p:nvPr/>
          </p:nvSpPr>
          <p:spPr>
            <a:xfrm>
              <a:off x="4160520" y="1554479"/>
              <a:ext cx="365760" cy="635"/>
            </a:xfrm>
            <a:custGeom>
              <a:avLst/>
              <a:gdLst/>
              <a:ahLst/>
              <a:cxnLst/>
              <a:rect l="l" t="t" r="r" b="b"/>
              <a:pathLst>
                <a:path w="365760" h="634">
                  <a:moveTo>
                    <a:pt x="0" y="0"/>
                  </a:moveTo>
                  <a:lnTo>
                    <a:pt x="365759" y="355"/>
                  </a:lnTo>
                </a:path>
              </a:pathLst>
            </a:custGeom>
            <a:ln w="16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97880" y="1554479"/>
              <a:ext cx="365760" cy="635"/>
            </a:xfrm>
            <a:custGeom>
              <a:avLst/>
              <a:gdLst/>
              <a:ahLst/>
              <a:cxnLst/>
              <a:rect l="l" t="t" r="r" b="b"/>
              <a:pathLst>
                <a:path w="365760" h="634">
                  <a:moveTo>
                    <a:pt x="0" y="0"/>
                  </a:moveTo>
                  <a:lnTo>
                    <a:pt x="365760" y="355"/>
                  </a:lnTo>
                </a:path>
              </a:pathLst>
            </a:custGeom>
            <a:ln w="23039">
              <a:solidFill>
                <a:srgbClr val="2E6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593419" y="1463662"/>
            <a:ext cx="1090980" cy="1782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Terreno</a:t>
            </a: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 spc="-10">
                <a:solidFill>
                  <a:srgbClr val="000000"/>
                </a:solidFill>
                <a:latin typeface="Arial"/>
                <a:cs typeface="Arial"/>
              </a:rPr>
              <a:t>ATL08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330779" y="1447800"/>
            <a:ext cx="1099221" cy="1782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ES" sz="1050" b="1">
                <a:solidFill>
                  <a:srgbClr val="2E6A46"/>
                </a:solidFill>
                <a:latin typeface="Arial"/>
                <a:cs typeface="Arial"/>
              </a:rPr>
              <a:t>Tope</a:t>
            </a:r>
            <a:r>
              <a:rPr lang="es-ES" sz="1050" b="1" spc="10">
                <a:solidFill>
                  <a:srgbClr val="2E6A46"/>
                </a:solidFill>
                <a:latin typeface="Arial"/>
                <a:cs typeface="Arial"/>
              </a:rPr>
              <a:t> </a:t>
            </a:r>
            <a:r>
              <a:rPr lang="es-ES" sz="1050" b="1">
                <a:solidFill>
                  <a:srgbClr val="2E6A46"/>
                </a:solidFill>
                <a:latin typeface="Arial"/>
                <a:cs typeface="Arial"/>
              </a:rPr>
              <a:t>del</a:t>
            </a:r>
            <a:r>
              <a:rPr lang="es-ES" sz="1050" b="1" spc="10">
                <a:solidFill>
                  <a:srgbClr val="2E6A46"/>
                </a:solidFill>
                <a:latin typeface="Arial"/>
                <a:cs typeface="Arial"/>
              </a:rPr>
              <a:t> </a:t>
            </a:r>
            <a:r>
              <a:rPr lang="es-ES" sz="1050" b="1" spc="-10">
                <a:solidFill>
                  <a:srgbClr val="2E6A46"/>
                </a:solidFill>
                <a:latin typeface="Arial"/>
                <a:cs typeface="Arial"/>
              </a:rPr>
              <a:t>dosel</a:t>
            </a:r>
            <a:endParaRPr lang="es-ES" sz="10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863517" y="3822115"/>
            <a:ext cx="7635240" cy="1665046"/>
            <a:chOff x="3863517" y="3822115"/>
            <a:chExt cx="7635240" cy="1665046"/>
          </a:xfrm>
        </p:grpSpPr>
        <p:sp>
          <p:nvSpPr>
            <p:cNvPr id="42" name="object 42"/>
            <p:cNvSpPr/>
            <p:nvPr/>
          </p:nvSpPr>
          <p:spPr>
            <a:xfrm>
              <a:off x="3886199" y="3822115"/>
              <a:ext cx="7589520" cy="1664970"/>
            </a:xfrm>
            <a:custGeom>
              <a:avLst/>
              <a:gdLst/>
              <a:ahLst/>
              <a:cxnLst/>
              <a:rect l="l" t="t" r="r" b="b"/>
              <a:pathLst>
                <a:path w="7589520" h="1664970">
                  <a:moveTo>
                    <a:pt x="0" y="1664284"/>
                  </a:moveTo>
                  <a:lnTo>
                    <a:pt x="7589520" y="1664639"/>
                  </a:lnTo>
                </a:path>
                <a:path w="7589520" h="1664970">
                  <a:moveTo>
                    <a:pt x="0" y="0"/>
                  </a:moveTo>
                  <a:lnTo>
                    <a:pt x="355" y="1664284"/>
                  </a:lnTo>
                </a:path>
              </a:pathLst>
            </a:custGeom>
            <a:ln w="10079"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86199" y="3973321"/>
              <a:ext cx="7589520" cy="1513840"/>
            </a:xfrm>
            <a:custGeom>
              <a:avLst/>
              <a:gdLst/>
              <a:ahLst/>
              <a:cxnLst/>
              <a:rect l="l" t="t" r="r" b="b"/>
              <a:pathLst>
                <a:path w="7589520" h="1513839">
                  <a:moveTo>
                    <a:pt x="0" y="1513077"/>
                  </a:moveTo>
                  <a:lnTo>
                    <a:pt x="7589520" y="1513433"/>
                  </a:lnTo>
                </a:path>
                <a:path w="7589520" h="1513839">
                  <a:moveTo>
                    <a:pt x="0" y="0"/>
                  </a:moveTo>
                  <a:lnTo>
                    <a:pt x="7589520" y="355"/>
                  </a:lnTo>
                </a:path>
              </a:pathLst>
            </a:custGeom>
            <a:ln w="5759"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3517" y="4272841"/>
              <a:ext cx="7635240" cy="984602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5" name="object 45"/>
          <p:cNvSpPr txBox="1"/>
          <p:nvPr/>
        </p:nvSpPr>
        <p:spPr>
          <a:xfrm>
            <a:off x="3724097" y="5400979"/>
            <a:ext cx="109397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50">
                <a:solidFill>
                  <a:srgbClr val="000000"/>
                </a:solidFill>
                <a:latin typeface="Arial"/>
                <a:cs typeface="Arial"/>
              </a:rPr>
              <a:t>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57142" y="5098224"/>
            <a:ext cx="188074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10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57142" y="4795824"/>
            <a:ext cx="188074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20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57142" y="4493056"/>
            <a:ext cx="188074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57142" y="3887901"/>
            <a:ext cx="188074" cy="577723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es-ES"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lang="es-ES"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40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29374" y="5699061"/>
            <a:ext cx="2247149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Distancia</a:t>
            </a: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lang="es-ES" sz="105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lo</a:t>
            </a: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largo</a:t>
            </a:r>
            <a:r>
              <a:rPr lang="es-ES" sz="105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del</a:t>
            </a: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perfil</a:t>
            </a:r>
            <a:r>
              <a:rPr lang="es-ES" sz="105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(km)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269587" y="4367224"/>
            <a:ext cx="161583" cy="774954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RH98</a:t>
            </a:r>
            <a:r>
              <a:rPr lang="es-ES" sz="105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(m)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782059" y="5508269"/>
            <a:ext cx="211302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0,2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292738" y="5508269"/>
            <a:ext cx="284734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14,8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886200" y="4856759"/>
            <a:ext cx="7589520" cy="635"/>
          </a:xfrm>
          <a:custGeom>
            <a:avLst/>
            <a:gdLst/>
            <a:ahLst/>
            <a:cxnLst/>
            <a:rect l="l" t="t" r="r" b="b"/>
            <a:pathLst>
              <a:path w="7589520" h="635">
                <a:moveTo>
                  <a:pt x="0" y="0"/>
                </a:moveTo>
                <a:lnTo>
                  <a:pt x="7589520" y="355"/>
                </a:lnTo>
              </a:path>
            </a:pathLst>
          </a:custGeom>
          <a:ln w="12599">
            <a:solidFill>
              <a:srgbClr val="2E6A46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0391661" y="4590618"/>
            <a:ext cx="1185391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50" b="1">
                <a:solidFill>
                  <a:srgbClr val="2E6A46"/>
                </a:solidFill>
                <a:latin typeface="Arial"/>
                <a:cs typeface="Arial"/>
              </a:rPr>
              <a:t>Mediana</a:t>
            </a:r>
            <a:r>
              <a:rPr lang="es-ES" sz="1050" b="1" spc="-55">
                <a:solidFill>
                  <a:srgbClr val="2E6A46"/>
                </a:solidFill>
                <a:latin typeface="Arial"/>
                <a:cs typeface="Arial"/>
              </a:rPr>
              <a:t> </a:t>
            </a:r>
            <a:r>
              <a:rPr lang="es-ES" sz="1050" b="1">
                <a:solidFill>
                  <a:srgbClr val="2E6A46"/>
                </a:solidFill>
                <a:latin typeface="Arial"/>
                <a:cs typeface="Arial"/>
              </a:rPr>
              <a:t>20,8</a:t>
            </a:r>
            <a:r>
              <a:rPr lang="es-ES" sz="1050" b="1" spc="-50">
                <a:solidFill>
                  <a:srgbClr val="2E6A46"/>
                </a:solidFill>
                <a:latin typeface="Arial"/>
                <a:cs typeface="Arial"/>
              </a:rPr>
              <a:t> m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880000" y="5488182"/>
            <a:ext cx="7618757" cy="635"/>
          </a:xfrm>
          <a:custGeom>
            <a:avLst/>
            <a:gdLst/>
            <a:ahLst/>
            <a:cxnLst/>
            <a:rect l="l" t="t" r="r" b="b"/>
            <a:pathLst>
              <a:path w="7618757" h="635">
                <a:moveTo>
                  <a:pt x="0" y="0"/>
                </a:moveTo>
                <a:lnTo>
                  <a:pt x="7618757" y="635"/>
                </a:lnTo>
              </a:path>
            </a:pathLst>
          </a:custGeom>
          <a:ln w="12700">
            <a:solidFill>
              <a:srgbClr val="64726B"/>
            </a:solidFill>
            <a:prstDash val="solid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80000" y="4230000"/>
            <a:ext cx="635" cy="1258182"/>
          </a:xfrm>
          <a:custGeom>
            <a:avLst/>
            <a:gdLst/>
            <a:ahLst/>
            <a:cxnLst/>
            <a:rect l="l" t="t" r="r" b="b"/>
            <a:pathLst>
              <a:path w="635" h="1258182">
                <a:moveTo>
                  <a:pt x="0" y="0"/>
                </a:moveTo>
                <a:lnTo>
                  <a:pt x="635" y="1258182"/>
                </a:lnTo>
              </a:path>
            </a:pathLst>
          </a:custGeom>
          <a:ln w="12700">
            <a:solidFill>
              <a:srgbClr val="64726B"/>
            </a:solidFill>
            <a:prstDash val="solid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9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0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31/43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Perfil</a:t>
            </a:r>
            <a:r>
              <a:rPr spc="-160"/>
              <a:t> </a:t>
            </a:r>
            <a:r>
              <a:rPr spc="-20"/>
              <a:t>ATL08</a:t>
            </a:r>
            <a:r>
              <a:rPr spc="-75"/>
              <a:t> </a:t>
            </a:r>
            <a:r>
              <a:t>en</a:t>
            </a:r>
            <a:r>
              <a:rPr spc="-70"/>
              <a:t> </a:t>
            </a:r>
            <a:r>
              <a:rPr spc="-10"/>
              <a:t>Estepa</a:t>
            </a:r>
          </a:p>
        </p:txBody>
      </p:sp>
      <p:grpSp>
        <p:nvGrpSpPr>
          <p:cNvPr id="5" name="object 5" descr="/mnt/data/icesat2_work/unzip/ppt/media/image8.png"/>
          <p:cNvGrpSpPr/>
          <p:nvPr/>
        </p:nvGrpSpPr>
        <p:grpSpPr>
          <a:xfrm>
            <a:off x="548640" y="1170355"/>
            <a:ext cx="2880360" cy="4526280"/>
            <a:chOff x="548640" y="1170355"/>
            <a:chExt cx="2880360" cy="4526280"/>
          </a:xfrm>
        </p:grpSpPr>
        <p:pic>
          <p:nvPicPr>
            <p:cNvPr id="6" name="object 6" descr="/mnt/data/icesat2_work/unzip/ppt/media/image8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1170368"/>
              <a:ext cx="2879991" cy="452555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object 7"/>
            <p:cNvSpPr/>
            <p:nvPr/>
          </p:nvSpPr>
          <p:spPr>
            <a:xfrm>
              <a:off x="548640" y="1170355"/>
              <a:ext cx="2880360" cy="4526280"/>
            </a:xfrm>
            <a:custGeom>
              <a:avLst/>
              <a:gdLst/>
              <a:ahLst/>
              <a:cxnLst/>
              <a:rect l="l" t="t" r="r" b="b"/>
              <a:pathLst>
                <a:path w="2880360" h="4526280">
                  <a:moveTo>
                    <a:pt x="2880004" y="0"/>
                  </a:moveTo>
                  <a:lnTo>
                    <a:pt x="0" y="0"/>
                  </a:lnTo>
                  <a:lnTo>
                    <a:pt x="0" y="4525924"/>
                  </a:lnTo>
                  <a:lnTo>
                    <a:pt x="1440002" y="4525924"/>
                  </a:lnTo>
                  <a:lnTo>
                    <a:pt x="2880004" y="4525924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01010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91895" y="1422984"/>
            <a:ext cx="2344420" cy="1470901"/>
          </a:xfrm>
          <a:prstGeom prst="rect">
            <a:avLst/>
          </a:prstGeom>
        </p:spPr>
        <p:txBody>
          <a:bodyPr vert="horz" wrap="square" lIns="0" tIns="65405" rIns="0" bIns="0" rtlCol="0">
            <a:normAutofit/>
          </a:bodyPr>
          <a:lstStyle/>
          <a:p>
            <a:pPr marL="12700" marR="5080">
              <a:lnSpc>
                <a:spcPts val="1730"/>
              </a:lnSpc>
              <a:spcBef>
                <a:spcPts val="515"/>
              </a:spcBef>
            </a:pPr>
            <a:r>
              <a:rPr lang="es-MX" sz="1800" b="1">
                <a:solidFill>
                  <a:srgbClr val="FFFFFF"/>
                </a:solidFill>
                <a:latin typeface="Arial"/>
                <a:cs typeface="Arial"/>
              </a:rPr>
              <a:t>ECOTONO</a:t>
            </a:r>
            <a:r>
              <a:rPr lang="es-MX" sz="1800" b="1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80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lang="es-MX" sz="1800" b="1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800" b="1" spc="-35">
                <a:solidFill>
                  <a:srgbClr val="FFFFFF"/>
                </a:solidFill>
                <a:latin typeface="Arial"/>
                <a:cs typeface="Arial"/>
              </a:rPr>
              <a:t>ESTEPA </a:t>
            </a:r>
            <a:r>
              <a:rPr lang="es-MX" sz="1800" b="1" spc="-10">
                <a:solidFill>
                  <a:srgbClr val="FFFFFF"/>
                </a:solidFill>
                <a:latin typeface="Arial"/>
                <a:cs typeface="Arial"/>
              </a:rPr>
              <a:t>PATAGÓNICA</a:t>
            </a:r>
            <a:endParaRPr lang="es-MX" sz="1800">
              <a:latin typeface="Arial"/>
              <a:cs typeface="Arial"/>
            </a:endParaRPr>
          </a:p>
          <a:p>
            <a:pPr marL="12700" marR="231140">
              <a:lnSpc>
                <a:spcPct val="100000"/>
              </a:lnSpc>
              <a:spcBef>
                <a:spcPts val="365"/>
              </a:spcBef>
            </a:pPr>
            <a:r>
              <a:rPr lang="es-MX" sz="1350" spc="-10">
                <a:solidFill>
                  <a:srgbClr val="E1EBE5"/>
                </a:solidFill>
                <a:latin typeface="Arial"/>
                <a:cs typeface="Arial"/>
              </a:rPr>
              <a:t>ESTEPA_NW_02</a:t>
            </a:r>
            <a:r>
              <a:rPr lang="es-MX" sz="1350" spc="-35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E1EBE5"/>
                </a:solidFill>
                <a:latin typeface="Arial"/>
                <a:cs typeface="Arial"/>
              </a:rPr>
              <a:t>·</a:t>
            </a:r>
            <a:r>
              <a:rPr lang="es-MX" sz="1350" spc="-35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E1EBE5"/>
                </a:solidFill>
                <a:latin typeface="Arial"/>
                <a:cs typeface="Arial"/>
              </a:rPr>
              <a:t>gt2l</a:t>
            </a:r>
            <a:r>
              <a:rPr lang="es-MX" sz="1350" spc="-35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E1EBE5"/>
                </a:solidFill>
                <a:latin typeface="Arial"/>
                <a:cs typeface="Arial"/>
              </a:rPr>
              <a:t>·</a:t>
            </a:r>
            <a:r>
              <a:rPr lang="es-MX" sz="1350" spc="-30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es-MX" sz="1350" spc="-25">
                <a:solidFill>
                  <a:srgbClr val="E1EBE5"/>
                </a:solidFill>
                <a:latin typeface="Arial"/>
                <a:cs typeface="Arial"/>
              </a:rPr>
              <a:t>61 </a:t>
            </a:r>
            <a:r>
              <a:rPr lang="es-MX" sz="1350" spc="-10">
                <a:solidFill>
                  <a:srgbClr val="E1EBE5"/>
                </a:solidFill>
                <a:latin typeface="Arial"/>
                <a:cs typeface="Arial"/>
              </a:rPr>
              <a:t>segmentos</a:t>
            </a:r>
            <a:endParaRPr lang="es-MX" sz="1350">
              <a:latin typeface="Arial"/>
              <a:cs typeface="Arial"/>
            </a:endParaRPr>
          </a:p>
          <a:p>
            <a:pPr marL="12700">
              <a:lnSpc>
                <a:spcPts val="1605"/>
              </a:lnSpc>
            </a:pPr>
            <a:r>
              <a:rPr lang="es-MX" sz="1350">
                <a:solidFill>
                  <a:srgbClr val="E1EBE5"/>
                </a:solidFill>
                <a:latin typeface="Arial"/>
                <a:cs typeface="Arial"/>
              </a:rPr>
              <a:t>18</a:t>
            </a:r>
            <a:r>
              <a:rPr lang="es-MX" sz="1350" spc="-20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E1EBE5"/>
                </a:solidFill>
                <a:latin typeface="Arial"/>
                <a:cs typeface="Arial"/>
              </a:rPr>
              <a:t>oct</a:t>
            </a:r>
            <a:r>
              <a:rPr lang="es-MX" sz="1350" spc="-20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E1EBE5"/>
                </a:solidFill>
                <a:latin typeface="Arial"/>
                <a:cs typeface="Arial"/>
              </a:rPr>
              <a:t>2019</a:t>
            </a:r>
            <a:r>
              <a:rPr lang="es-MX" sz="1350" spc="-25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E1EBE5"/>
                </a:solidFill>
                <a:latin typeface="Arial"/>
                <a:cs typeface="Arial"/>
              </a:rPr>
              <a:t>·</a:t>
            </a:r>
            <a:r>
              <a:rPr lang="es-MX" sz="1350" spc="-20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E1EBE5"/>
                </a:solidFill>
                <a:latin typeface="Arial"/>
                <a:cs typeface="Arial"/>
              </a:rPr>
              <a:t>RGT</a:t>
            </a:r>
            <a:r>
              <a:rPr lang="es-MX" sz="1350" spc="-45">
                <a:solidFill>
                  <a:srgbClr val="E1EBE5"/>
                </a:solidFill>
                <a:latin typeface="Arial"/>
                <a:cs typeface="Arial"/>
              </a:rPr>
              <a:t> </a:t>
            </a:r>
            <a:r>
              <a:rPr lang="es-MX" sz="1350" spc="-25">
                <a:solidFill>
                  <a:srgbClr val="E1EBE5"/>
                </a:solidFill>
                <a:latin typeface="Arial"/>
                <a:cs typeface="Arial"/>
              </a:rPr>
              <a:t>331</a:t>
            </a:r>
            <a:endParaRPr lang="es-MX"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9477" y="2921317"/>
            <a:ext cx="1106805" cy="1152525"/>
            <a:chOff x="799477" y="2921317"/>
            <a:chExt cx="1106805" cy="1152525"/>
          </a:xfrm>
        </p:grpSpPr>
        <p:sp>
          <p:nvSpPr>
            <p:cNvPr id="10" name="object 10"/>
            <p:cNvSpPr/>
            <p:nvPr/>
          </p:nvSpPr>
          <p:spPr>
            <a:xfrm>
              <a:off x="804240" y="2926079"/>
              <a:ext cx="1097280" cy="1143000"/>
            </a:xfrm>
            <a:custGeom>
              <a:avLst/>
              <a:gdLst/>
              <a:ahLst/>
              <a:cxnLst/>
              <a:rect l="l" t="t" r="r" b="b"/>
              <a:pathLst>
                <a:path w="1097280" h="1143000">
                  <a:moveTo>
                    <a:pt x="102383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69924"/>
                  </a:lnTo>
                  <a:lnTo>
                    <a:pt x="594" y="1079195"/>
                  </a:lnTo>
                  <a:lnTo>
                    <a:pt x="607" y="1079400"/>
                  </a:lnTo>
                  <a:lnTo>
                    <a:pt x="2394" y="1088596"/>
                  </a:lnTo>
                  <a:lnTo>
                    <a:pt x="2428" y="1088775"/>
                  </a:lnTo>
                  <a:lnTo>
                    <a:pt x="5412" y="1097659"/>
                  </a:lnTo>
                  <a:lnTo>
                    <a:pt x="5464" y="1097815"/>
                  </a:lnTo>
                  <a:lnTo>
                    <a:pt x="9715" y="1106284"/>
                  </a:lnTo>
                  <a:lnTo>
                    <a:pt x="44984" y="1137535"/>
                  </a:lnTo>
                  <a:lnTo>
                    <a:pt x="73075" y="1143000"/>
                  </a:lnTo>
                  <a:lnTo>
                    <a:pt x="1024204" y="1142644"/>
                  </a:lnTo>
                  <a:lnTo>
                    <a:pt x="1068574" y="1127540"/>
                  </a:lnTo>
                  <a:lnTo>
                    <a:pt x="1091738" y="1097815"/>
                  </a:lnTo>
                  <a:lnTo>
                    <a:pt x="1091815" y="1097659"/>
                  </a:lnTo>
                  <a:lnTo>
                    <a:pt x="1097280" y="1069555"/>
                  </a:lnTo>
                  <a:lnTo>
                    <a:pt x="1096924" y="73075"/>
                  </a:lnTo>
                  <a:lnTo>
                    <a:pt x="1081820" y="28705"/>
                  </a:lnTo>
                  <a:lnTo>
                    <a:pt x="1042876" y="2428"/>
                  </a:lnTo>
                  <a:lnTo>
                    <a:pt x="1033475" y="607"/>
                  </a:lnTo>
                  <a:lnTo>
                    <a:pt x="102383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4240" y="2926079"/>
              <a:ext cx="1097280" cy="1143000"/>
            </a:xfrm>
            <a:custGeom>
              <a:avLst/>
              <a:gdLst/>
              <a:ahLst/>
              <a:cxnLst/>
              <a:rect l="l" t="t" r="r" b="b"/>
              <a:pathLst>
                <a:path w="1097280" h="11430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1023835" y="0"/>
                  </a:lnTo>
                  <a:lnTo>
                    <a:pt x="1068368" y="15104"/>
                  </a:lnTo>
                  <a:lnTo>
                    <a:pt x="1094493" y="54224"/>
                  </a:lnTo>
                  <a:lnTo>
                    <a:pt x="1096924" y="73075"/>
                  </a:lnTo>
                  <a:lnTo>
                    <a:pt x="1097280" y="1069555"/>
                  </a:lnTo>
                  <a:lnTo>
                    <a:pt x="1096672" y="1079195"/>
                  </a:lnTo>
                  <a:lnTo>
                    <a:pt x="1094851" y="1088596"/>
                  </a:lnTo>
                  <a:lnTo>
                    <a:pt x="1068574" y="1127540"/>
                  </a:lnTo>
                  <a:lnTo>
                    <a:pt x="1024204" y="1142644"/>
                  </a:lnTo>
                  <a:lnTo>
                    <a:pt x="73075" y="1143000"/>
                  </a:lnTo>
                  <a:lnTo>
                    <a:pt x="28555" y="1127895"/>
                  </a:lnTo>
                  <a:lnTo>
                    <a:pt x="2428" y="1088775"/>
                  </a:lnTo>
                  <a:lnTo>
                    <a:pt x="0" y="106992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4595" y="2926079"/>
              <a:ext cx="73025" cy="1143000"/>
            </a:xfrm>
            <a:custGeom>
              <a:avLst/>
              <a:gdLst/>
              <a:ahLst/>
              <a:cxnLst/>
              <a:rect l="l" t="t" r="r" b="b"/>
              <a:pathLst>
                <a:path w="73025" h="1143000">
                  <a:moveTo>
                    <a:pt x="72720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36360" y="1142644"/>
                  </a:lnTo>
                  <a:lnTo>
                    <a:pt x="72720" y="114264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58214" y="3127209"/>
            <a:ext cx="816610" cy="7078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ES" sz="2000" b="1">
                <a:solidFill>
                  <a:srgbClr val="C3862D"/>
                </a:solidFill>
                <a:latin typeface="Arial"/>
                <a:cs typeface="Arial"/>
              </a:rPr>
              <a:t>10,2</a:t>
            </a:r>
            <a:r>
              <a:rPr lang="es-ES" sz="2000" b="1" spc="-25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2000" b="1" spc="-50">
                <a:solidFill>
                  <a:srgbClr val="C3862D"/>
                </a:solidFill>
                <a:latin typeface="Arial"/>
                <a:cs typeface="Arial"/>
              </a:rPr>
              <a:t>m</a:t>
            </a:r>
            <a:endParaRPr lang="es-ES" sz="20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1695"/>
              </a:spcBef>
            </a:pPr>
            <a:r>
              <a:rPr lang="es-ES" sz="1100" b="1" spc="-10">
                <a:solidFill>
                  <a:srgbClr val="1F2F28"/>
                </a:solidFill>
                <a:latin typeface="Arial"/>
                <a:cs typeface="Arial"/>
              </a:rPr>
              <a:t>MEDIANA</a:t>
            </a:r>
            <a:endParaRPr lang="es-ES" sz="1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06561" y="2921317"/>
            <a:ext cx="1106805" cy="1152525"/>
            <a:chOff x="2006561" y="2921317"/>
            <a:chExt cx="1106805" cy="1152525"/>
          </a:xfrm>
        </p:grpSpPr>
        <p:sp>
          <p:nvSpPr>
            <p:cNvPr id="15" name="object 15"/>
            <p:cNvSpPr/>
            <p:nvPr/>
          </p:nvSpPr>
          <p:spPr>
            <a:xfrm>
              <a:off x="2011324" y="2926079"/>
              <a:ext cx="1097280" cy="1143000"/>
            </a:xfrm>
            <a:custGeom>
              <a:avLst/>
              <a:gdLst/>
              <a:ahLst/>
              <a:cxnLst/>
              <a:rect l="l" t="t" r="r" b="b"/>
              <a:pathLst>
                <a:path w="1097280" h="1143000">
                  <a:moveTo>
                    <a:pt x="10238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069924"/>
                  </a:lnTo>
                  <a:lnTo>
                    <a:pt x="15091" y="1114294"/>
                  </a:lnTo>
                  <a:lnTo>
                    <a:pt x="54041" y="1140571"/>
                  </a:lnTo>
                  <a:lnTo>
                    <a:pt x="73075" y="1143000"/>
                  </a:lnTo>
                  <a:lnTo>
                    <a:pt x="1024191" y="1142644"/>
                  </a:lnTo>
                  <a:lnTo>
                    <a:pt x="1068569" y="1127540"/>
                  </a:lnTo>
                  <a:lnTo>
                    <a:pt x="1094789" y="1088775"/>
                  </a:lnTo>
                  <a:lnTo>
                    <a:pt x="1097279" y="1069555"/>
                  </a:lnTo>
                  <a:lnTo>
                    <a:pt x="1096911" y="73075"/>
                  </a:lnTo>
                  <a:lnTo>
                    <a:pt x="1081820" y="28705"/>
                  </a:lnTo>
                  <a:lnTo>
                    <a:pt x="1042870" y="2428"/>
                  </a:lnTo>
                  <a:lnTo>
                    <a:pt x="102383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11324" y="2926079"/>
              <a:ext cx="1097280" cy="1143000"/>
            </a:xfrm>
            <a:custGeom>
              <a:avLst/>
              <a:gdLst/>
              <a:ahLst/>
              <a:cxnLst/>
              <a:rect l="l" t="t" r="r" b="b"/>
              <a:pathLst>
                <a:path w="1097280" h="11430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023835" y="0"/>
                  </a:lnTo>
                  <a:lnTo>
                    <a:pt x="1068363" y="15104"/>
                  </a:lnTo>
                  <a:lnTo>
                    <a:pt x="1094482" y="54224"/>
                  </a:lnTo>
                  <a:lnTo>
                    <a:pt x="1096911" y="73075"/>
                  </a:lnTo>
                  <a:lnTo>
                    <a:pt x="1097279" y="1069555"/>
                  </a:lnTo>
                  <a:lnTo>
                    <a:pt x="1096672" y="1079195"/>
                  </a:lnTo>
                  <a:lnTo>
                    <a:pt x="1094849" y="1088596"/>
                  </a:lnTo>
                  <a:lnTo>
                    <a:pt x="1068569" y="1127540"/>
                  </a:lnTo>
                  <a:lnTo>
                    <a:pt x="1024191" y="1142644"/>
                  </a:lnTo>
                  <a:lnTo>
                    <a:pt x="73075" y="1143000"/>
                  </a:lnTo>
                  <a:lnTo>
                    <a:pt x="28548" y="1127895"/>
                  </a:lnTo>
                  <a:lnTo>
                    <a:pt x="2428" y="1088775"/>
                  </a:lnTo>
                  <a:lnTo>
                    <a:pt x="0" y="106992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11679" y="2926079"/>
              <a:ext cx="73025" cy="1143000"/>
            </a:xfrm>
            <a:custGeom>
              <a:avLst/>
              <a:gdLst/>
              <a:ahLst/>
              <a:cxnLst/>
              <a:rect l="l" t="t" r="r" b="b"/>
              <a:pathLst>
                <a:path w="73025" h="1143000">
                  <a:moveTo>
                    <a:pt x="72720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36360" y="1142644"/>
                  </a:lnTo>
                  <a:lnTo>
                    <a:pt x="72720" y="114264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65299" y="3127209"/>
            <a:ext cx="816610" cy="7078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ES" sz="2000" b="1">
                <a:solidFill>
                  <a:srgbClr val="C3862D"/>
                </a:solidFill>
                <a:latin typeface="Arial"/>
                <a:cs typeface="Arial"/>
              </a:rPr>
              <a:t>13,2</a:t>
            </a:r>
            <a:r>
              <a:rPr lang="es-ES" sz="2000" b="1" spc="-25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2000" b="1" spc="-50">
                <a:solidFill>
                  <a:srgbClr val="C3862D"/>
                </a:solidFill>
                <a:latin typeface="Arial"/>
                <a:cs typeface="Arial"/>
              </a:rPr>
              <a:t>m</a:t>
            </a:r>
            <a:endParaRPr lang="es-ES" sz="20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1695"/>
              </a:spcBef>
            </a:pPr>
            <a:r>
              <a:rPr lang="es-ES" sz="1100" b="1" spc="-25">
                <a:solidFill>
                  <a:srgbClr val="1F2F28"/>
                </a:solidFill>
                <a:latin typeface="Arial"/>
                <a:cs typeface="Arial"/>
              </a:rPr>
              <a:t>P95</a:t>
            </a:r>
            <a:endParaRPr lang="es-ES"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9740" y="4310820"/>
            <a:ext cx="2313940" cy="1052195"/>
            <a:chOff x="799740" y="4310820"/>
            <a:chExt cx="2313940" cy="1052195"/>
          </a:xfrm>
        </p:grpSpPr>
        <p:sp>
          <p:nvSpPr>
            <p:cNvPr id="20" name="object 20"/>
            <p:cNvSpPr/>
            <p:nvPr/>
          </p:nvSpPr>
          <p:spPr>
            <a:xfrm>
              <a:off x="804240" y="4315320"/>
              <a:ext cx="2305050" cy="1043305"/>
            </a:xfrm>
            <a:custGeom>
              <a:avLst/>
              <a:gdLst/>
              <a:ahLst/>
              <a:cxnLst/>
              <a:rect l="l" t="t" r="r" b="b"/>
              <a:pathLst>
                <a:path w="2305050" h="1043304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978839"/>
                  </a:lnTo>
                  <a:lnTo>
                    <a:pt x="540" y="987187"/>
                  </a:lnTo>
                  <a:lnTo>
                    <a:pt x="18737" y="1024064"/>
                  </a:lnTo>
                  <a:lnTo>
                    <a:pt x="18853" y="1024197"/>
                  </a:lnTo>
                  <a:lnTo>
                    <a:pt x="55734" y="1042383"/>
                  </a:lnTo>
                  <a:lnTo>
                    <a:pt x="64084" y="1042924"/>
                  </a:lnTo>
                  <a:lnTo>
                    <a:pt x="2240635" y="1042924"/>
                  </a:lnTo>
                  <a:lnTo>
                    <a:pt x="2279678" y="1029559"/>
                  </a:lnTo>
                  <a:lnTo>
                    <a:pt x="2302559" y="995399"/>
                  </a:lnTo>
                  <a:lnTo>
                    <a:pt x="2304719" y="978839"/>
                  </a:lnTo>
                  <a:lnTo>
                    <a:pt x="2304696" y="64084"/>
                  </a:lnTo>
                  <a:lnTo>
                    <a:pt x="2291362" y="25402"/>
                  </a:lnTo>
                  <a:lnTo>
                    <a:pt x="2257199" y="2517"/>
                  </a:lnTo>
                  <a:lnTo>
                    <a:pt x="2240635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BFAF6">
                <a:alpha val="9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4240" y="4315320"/>
              <a:ext cx="2305050" cy="1043305"/>
            </a:xfrm>
            <a:custGeom>
              <a:avLst/>
              <a:gdLst/>
              <a:ahLst/>
              <a:cxnLst/>
              <a:rect l="l" t="t" r="r" b="b"/>
              <a:pathLst>
                <a:path w="2305050" h="1043304">
                  <a:moveTo>
                    <a:pt x="355" y="64084"/>
                  </a:moveTo>
                  <a:lnTo>
                    <a:pt x="896" y="55734"/>
                  </a:lnTo>
                  <a:lnTo>
                    <a:pt x="2517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2240635" y="355"/>
                  </a:lnTo>
                  <a:lnTo>
                    <a:pt x="2279628" y="13570"/>
                  </a:lnTo>
                  <a:lnTo>
                    <a:pt x="2302559" y="47880"/>
                  </a:lnTo>
                  <a:lnTo>
                    <a:pt x="2304719" y="64439"/>
                  </a:lnTo>
                  <a:lnTo>
                    <a:pt x="2304719" y="978839"/>
                  </a:lnTo>
                  <a:lnTo>
                    <a:pt x="2304179" y="987187"/>
                  </a:lnTo>
                  <a:lnTo>
                    <a:pt x="2302559" y="995399"/>
                  </a:lnTo>
                  <a:lnTo>
                    <a:pt x="2279678" y="1029559"/>
                  </a:lnTo>
                  <a:lnTo>
                    <a:pt x="2240635" y="1042924"/>
                  </a:lnTo>
                  <a:lnTo>
                    <a:pt x="64084" y="1042924"/>
                  </a:lnTo>
                  <a:lnTo>
                    <a:pt x="25091" y="1029709"/>
                  </a:lnTo>
                  <a:lnTo>
                    <a:pt x="2160" y="995399"/>
                  </a:lnTo>
                  <a:lnTo>
                    <a:pt x="0" y="97883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4595" y="4315675"/>
              <a:ext cx="82550" cy="1042669"/>
            </a:xfrm>
            <a:custGeom>
              <a:avLst/>
              <a:gdLst/>
              <a:ahLst/>
              <a:cxnLst/>
              <a:rect l="l" t="t" r="r" b="b"/>
              <a:pathLst>
                <a:path w="82550" h="1042670">
                  <a:moveTo>
                    <a:pt x="82080" y="0"/>
                  </a:moveTo>
                  <a:lnTo>
                    <a:pt x="0" y="0"/>
                  </a:lnTo>
                  <a:lnTo>
                    <a:pt x="0" y="1042200"/>
                  </a:lnTo>
                  <a:lnTo>
                    <a:pt x="41046" y="1042200"/>
                  </a:lnTo>
                  <a:lnTo>
                    <a:pt x="82080" y="104220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38860" y="4398022"/>
            <a:ext cx="1796414" cy="89127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350"/>
              </a:spcBef>
            </a:pP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Cada</a:t>
            </a:r>
            <a:r>
              <a:rPr lang="es-MX" sz="11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punto</a:t>
            </a:r>
            <a:r>
              <a:rPr lang="es-MX" sz="11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representa</a:t>
            </a:r>
            <a:r>
              <a:rPr lang="es-MX" sz="11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un </a:t>
            </a:r>
            <a:r>
              <a:rPr lang="es-MX" sz="1100" spc="-10">
                <a:solidFill>
                  <a:srgbClr val="1F2F28"/>
                </a:solidFill>
                <a:latin typeface="Arial"/>
                <a:cs typeface="Arial"/>
              </a:rPr>
              <a:t>segmento</a:t>
            </a:r>
            <a:r>
              <a:rPr lang="es-MX" sz="11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s-MX" sz="11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nominal</a:t>
            </a:r>
            <a:r>
              <a:rPr lang="es-MX" sz="11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de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100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m.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perfil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10">
                <a:solidFill>
                  <a:srgbClr val="1F2F28"/>
                </a:solidFill>
                <a:latin typeface="Arial"/>
                <a:cs typeface="Arial"/>
              </a:rPr>
              <a:t>superior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combina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terreno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1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tope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del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dosel;</a:t>
            </a:r>
            <a:r>
              <a:rPr lang="es-MX" sz="11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1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inferior</a:t>
            </a:r>
            <a:r>
              <a:rPr lang="es-MX" sz="11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10">
                <a:solidFill>
                  <a:srgbClr val="1F2F28"/>
                </a:solidFill>
                <a:latin typeface="Arial"/>
                <a:cs typeface="Arial"/>
              </a:rPr>
              <a:t>muestra </a:t>
            </a:r>
            <a:r>
              <a:rPr lang="es-MX" sz="1100">
                <a:solidFill>
                  <a:srgbClr val="1F2F28"/>
                </a:solidFill>
                <a:latin typeface="Arial"/>
                <a:cs typeface="Arial"/>
              </a:rPr>
              <a:t>h_canopy</a:t>
            </a:r>
            <a:r>
              <a:rPr lang="es-MX" sz="11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spc="-10">
                <a:solidFill>
                  <a:srgbClr val="1F2F28"/>
                </a:solidFill>
                <a:latin typeface="Arial"/>
                <a:cs typeface="Arial"/>
              </a:rPr>
              <a:t>(RH98).</a:t>
            </a:r>
            <a:endParaRPr lang="es-MX" sz="11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86200" y="1353235"/>
            <a:ext cx="7589520" cy="1875155"/>
            <a:chOff x="3886200" y="1353235"/>
            <a:chExt cx="7589520" cy="1875155"/>
          </a:xfrm>
        </p:grpSpPr>
        <p:sp>
          <p:nvSpPr>
            <p:cNvPr id="25" name="object 25"/>
            <p:cNvSpPr/>
            <p:nvPr/>
          </p:nvSpPr>
          <p:spPr>
            <a:xfrm>
              <a:off x="3886200" y="1353235"/>
              <a:ext cx="7589520" cy="1875155"/>
            </a:xfrm>
            <a:custGeom>
              <a:avLst/>
              <a:gdLst/>
              <a:ahLst/>
              <a:cxnLst/>
              <a:rect l="l" t="t" r="r" b="b"/>
              <a:pathLst>
                <a:path w="7589520" h="1875155">
                  <a:moveTo>
                    <a:pt x="0" y="1874520"/>
                  </a:moveTo>
                  <a:lnTo>
                    <a:pt x="7589520" y="1874888"/>
                  </a:lnTo>
                </a:path>
                <a:path w="7589520" h="1875155">
                  <a:moveTo>
                    <a:pt x="0" y="0"/>
                  </a:moveTo>
                  <a:lnTo>
                    <a:pt x="355" y="1874520"/>
                  </a:lnTo>
                </a:path>
              </a:pathLst>
            </a:custGeom>
            <a:ln w="10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86200" y="1353235"/>
              <a:ext cx="7589520" cy="1607185"/>
            </a:xfrm>
            <a:custGeom>
              <a:avLst/>
              <a:gdLst/>
              <a:ahLst/>
              <a:cxnLst/>
              <a:rect l="l" t="t" r="r" b="b"/>
              <a:pathLst>
                <a:path w="7589520" h="1607185">
                  <a:moveTo>
                    <a:pt x="0" y="1606689"/>
                  </a:moveTo>
                  <a:lnTo>
                    <a:pt x="7589520" y="1607045"/>
                  </a:lnTo>
                </a:path>
                <a:path w="7589520" h="1607185">
                  <a:moveTo>
                    <a:pt x="0" y="1071003"/>
                  </a:moveTo>
                  <a:lnTo>
                    <a:pt x="7589520" y="1071359"/>
                  </a:lnTo>
                </a:path>
                <a:path w="7589520" h="1607185">
                  <a:moveTo>
                    <a:pt x="0" y="535330"/>
                  </a:moveTo>
                  <a:lnTo>
                    <a:pt x="7589520" y="535686"/>
                  </a:lnTo>
                </a:path>
                <a:path w="7589520" h="1607185">
                  <a:moveTo>
                    <a:pt x="0" y="0"/>
                  </a:moveTo>
                  <a:lnTo>
                    <a:pt x="7589520" y="368"/>
                  </a:lnTo>
                </a:path>
              </a:pathLst>
            </a:custGeom>
            <a:ln w="5759">
              <a:solidFill>
                <a:srgbClr val="DCE1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86200" y="1533601"/>
              <a:ext cx="7589520" cy="1464310"/>
            </a:xfrm>
            <a:custGeom>
              <a:avLst/>
              <a:gdLst/>
              <a:ahLst/>
              <a:cxnLst/>
              <a:rect l="l" t="t" r="r" b="b"/>
              <a:pathLst>
                <a:path w="7589520" h="1464310">
                  <a:moveTo>
                    <a:pt x="0" y="572401"/>
                  </a:moveTo>
                  <a:lnTo>
                    <a:pt x="50761" y="557999"/>
                  </a:lnTo>
                </a:path>
                <a:path w="7589520" h="1464310">
                  <a:moveTo>
                    <a:pt x="50761" y="557999"/>
                  </a:moveTo>
                  <a:lnTo>
                    <a:pt x="305638" y="395643"/>
                  </a:lnTo>
                </a:path>
                <a:path w="7589520" h="1464310">
                  <a:moveTo>
                    <a:pt x="305638" y="395643"/>
                  </a:moveTo>
                  <a:lnTo>
                    <a:pt x="407885" y="369354"/>
                  </a:lnTo>
                </a:path>
                <a:path w="7589520" h="1464310">
                  <a:moveTo>
                    <a:pt x="407885" y="369354"/>
                  </a:moveTo>
                  <a:lnTo>
                    <a:pt x="1071003" y="248399"/>
                  </a:lnTo>
                </a:path>
                <a:path w="7589520" h="1464310">
                  <a:moveTo>
                    <a:pt x="1071003" y="248399"/>
                  </a:moveTo>
                  <a:lnTo>
                    <a:pt x="1275118" y="432003"/>
                  </a:lnTo>
                </a:path>
                <a:path w="7589520" h="1464310">
                  <a:moveTo>
                    <a:pt x="1275118" y="432003"/>
                  </a:moveTo>
                  <a:lnTo>
                    <a:pt x="1376997" y="455041"/>
                  </a:lnTo>
                </a:path>
                <a:path w="7589520" h="1464310">
                  <a:moveTo>
                    <a:pt x="1376997" y="455041"/>
                  </a:moveTo>
                  <a:lnTo>
                    <a:pt x="1478876" y="486714"/>
                  </a:lnTo>
                </a:path>
                <a:path w="7589520" h="1464310">
                  <a:moveTo>
                    <a:pt x="1478876" y="486714"/>
                  </a:moveTo>
                  <a:lnTo>
                    <a:pt x="1580756" y="597598"/>
                  </a:lnTo>
                </a:path>
                <a:path w="7589520" h="1464310">
                  <a:moveTo>
                    <a:pt x="1580756" y="597598"/>
                  </a:moveTo>
                  <a:lnTo>
                    <a:pt x="1683003" y="686523"/>
                  </a:lnTo>
                </a:path>
                <a:path w="7589520" h="1464310">
                  <a:moveTo>
                    <a:pt x="1683003" y="686523"/>
                  </a:moveTo>
                  <a:lnTo>
                    <a:pt x="1937880" y="579234"/>
                  </a:lnTo>
                </a:path>
                <a:path w="7589520" h="1464310">
                  <a:moveTo>
                    <a:pt x="1937880" y="579234"/>
                  </a:moveTo>
                  <a:lnTo>
                    <a:pt x="2141994" y="667080"/>
                  </a:lnTo>
                </a:path>
                <a:path w="7589520" h="1464310">
                  <a:moveTo>
                    <a:pt x="2141994" y="667080"/>
                  </a:moveTo>
                  <a:lnTo>
                    <a:pt x="2346121" y="847432"/>
                  </a:lnTo>
                </a:path>
                <a:path w="7589520" h="1464310">
                  <a:moveTo>
                    <a:pt x="2346121" y="847432"/>
                  </a:moveTo>
                  <a:lnTo>
                    <a:pt x="2397239" y="855357"/>
                  </a:lnTo>
                </a:path>
                <a:path w="7589520" h="1464310">
                  <a:moveTo>
                    <a:pt x="2397239" y="855357"/>
                  </a:moveTo>
                  <a:lnTo>
                    <a:pt x="2550236" y="828713"/>
                  </a:lnTo>
                </a:path>
                <a:path w="7589520" h="1464310">
                  <a:moveTo>
                    <a:pt x="2550236" y="828713"/>
                  </a:moveTo>
                  <a:lnTo>
                    <a:pt x="2600998" y="785520"/>
                  </a:lnTo>
                </a:path>
                <a:path w="7589520" h="1464310">
                  <a:moveTo>
                    <a:pt x="2600998" y="785520"/>
                  </a:moveTo>
                  <a:lnTo>
                    <a:pt x="2703245" y="701636"/>
                  </a:lnTo>
                </a:path>
                <a:path w="7589520" h="1464310">
                  <a:moveTo>
                    <a:pt x="2703245" y="701636"/>
                  </a:moveTo>
                  <a:lnTo>
                    <a:pt x="2856242" y="519112"/>
                  </a:lnTo>
                </a:path>
                <a:path w="7589520" h="1464310">
                  <a:moveTo>
                    <a:pt x="2856242" y="519112"/>
                  </a:moveTo>
                  <a:lnTo>
                    <a:pt x="3111119" y="342353"/>
                  </a:lnTo>
                </a:path>
                <a:path w="7589520" h="1464310">
                  <a:moveTo>
                    <a:pt x="3111119" y="342353"/>
                  </a:moveTo>
                  <a:lnTo>
                    <a:pt x="3213354" y="302399"/>
                  </a:lnTo>
                </a:path>
                <a:path w="7589520" h="1464310">
                  <a:moveTo>
                    <a:pt x="3213354" y="302399"/>
                  </a:moveTo>
                  <a:lnTo>
                    <a:pt x="3264115" y="315353"/>
                  </a:lnTo>
                </a:path>
                <a:path w="7589520" h="1464310">
                  <a:moveTo>
                    <a:pt x="3264115" y="315353"/>
                  </a:moveTo>
                  <a:lnTo>
                    <a:pt x="3467874" y="357124"/>
                  </a:lnTo>
                </a:path>
                <a:path w="7589520" h="1464310">
                  <a:moveTo>
                    <a:pt x="3467874" y="357124"/>
                  </a:moveTo>
                  <a:lnTo>
                    <a:pt x="3621239" y="184315"/>
                  </a:lnTo>
                </a:path>
                <a:path w="7589520" h="1464310">
                  <a:moveTo>
                    <a:pt x="3621239" y="184315"/>
                  </a:moveTo>
                  <a:lnTo>
                    <a:pt x="3774236" y="0"/>
                  </a:lnTo>
                </a:path>
                <a:path w="7589520" h="1464310">
                  <a:moveTo>
                    <a:pt x="3774236" y="0"/>
                  </a:moveTo>
                  <a:lnTo>
                    <a:pt x="3825354" y="61201"/>
                  </a:lnTo>
                </a:path>
                <a:path w="7589520" h="1464310">
                  <a:moveTo>
                    <a:pt x="3825354" y="61201"/>
                  </a:moveTo>
                  <a:lnTo>
                    <a:pt x="3978363" y="211683"/>
                  </a:lnTo>
                </a:path>
                <a:path w="7589520" h="1464310">
                  <a:moveTo>
                    <a:pt x="3978363" y="211683"/>
                  </a:moveTo>
                  <a:lnTo>
                    <a:pt x="4029125" y="209156"/>
                  </a:lnTo>
                </a:path>
                <a:path w="7589520" h="1464310">
                  <a:moveTo>
                    <a:pt x="4029125" y="209156"/>
                  </a:moveTo>
                  <a:lnTo>
                    <a:pt x="4284357" y="508317"/>
                  </a:lnTo>
                </a:path>
                <a:path w="7589520" h="1464310">
                  <a:moveTo>
                    <a:pt x="4284357" y="508317"/>
                  </a:moveTo>
                  <a:lnTo>
                    <a:pt x="4539233" y="637552"/>
                  </a:lnTo>
                </a:path>
                <a:path w="7589520" h="1464310">
                  <a:moveTo>
                    <a:pt x="4539233" y="637552"/>
                  </a:moveTo>
                  <a:lnTo>
                    <a:pt x="4590364" y="693724"/>
                  </a:lnTo>
                </a:path>
                <a:path w="7589520" h="1464310">
                  <a:moveTo>
                    <a:pt x="4590364" y="693724"/>
                  </a:moveTo>
                  <a:lnTo>
                    <a:pt x="4641481" y="743762"/>
                  </a:lnTo>
                </a:path>
                <a:path w="7589520" h="1464310">
                  <a:moveTo>
                    <a:pt x="4641481" y="743762"/>
                  </a:moveTo>
                  <a:lnTo>
                    <a:pt x="4743361" y="840244"/>
                  </a:lnTo>
                </a:path>
                <a:path w="7589520" h="1464310">
                  <a:moveTo>
                    <a:pt x="4743361" y="840244"/>
                  </a:moveTo>
                  <a:lnTo>
                    <a:pt x="4794478" y="893521"/>
                  </a:lnTo>
                </a:path>
                <a:path w="7589520" h="1464310">
                  <a:moveTo>
                    <a:pt x="4794478" y="893521"/>
                  </a:moveTo>
                  <a:lnTo>
                    <a:pt x="4845240" y="965161"/>
                  </a:lnTo>
                </a:path>
                <a:path w="7589520" h="1464310">
                  <a:moveTo>
                    <a:pt x="4845240" y="965161"/>
                  </a:moveTo>
                  <a:lnTo>
                    <a:pt x="4947119" y="954722"/>
                  </a:lnTo>
                </a:path>
                <a:path w="7589520" h="1464310">
                  <a:moveTo>
                    <a:pt x="4947119" y="954722"/>
                  </a:moveTo>
                  <a:lnTo>
                    <a:pt x="5049354" y="954354"/>
                  </a:lnTo>
                </a:path>
                <a:path w="7589520" h="1464310">
                  <a:moveTo>
                    <a:pt x="5049354" y="954354"/>
                  </a:moveTo>
                  <a:lnTo>
                    <a:pt x="5253482" y="1060919"/>
                  </a:lnTo>
                </a:path>
                <a:path w="7589520" h="1464310">
                  <a:moveTo>
                    <a:pt x="5253482" y="1060919"/>
                  </a:moveTo>
                  <a:lnTo>
                    <a:pt x="5304243" y="1054442"/>
                  </a:lnTo>
                </a:path>
                <a:path w="7589520" h="1464310">
                  <a:moveTo>
                    <a:pt x="5304243" y="1054442"/>
                  </a:moveTo>
                  <a:lnTo>
                    <a:pt x="5457596" y="1100518"/>
                  </a:lnTo>
                </a:path>
                <a:path w="7589520" h="1464310">
                  <a:moveTo>
                    <a:pt x="5457596" y="1100518"/>
                  </a:moveTo>
                  <a:lnTo>
                    <a:pt x="5508358" y="1137958"/>
                  </a:lnTo>
                </a:path>
                <a:path w="7589520" h="1464310">
                  <a:moveTo>
                    <a:pt x="5508358" y="1137958"/>
                  </a:moveTo>
                  <a:lnTo>
                    <a:pt x="5610606" y="1240561"/>
                  </a:lnTo>
                </a:path>
                <a:path w="7589520" h="1464310">
                  <a:moveTo>
                    <a:pt x="5610606" y="1240561"/>
                  </a:moveTo>
                  <a:lnTo>
                    <a:pt x="5661355" y="1239481"/>
                  </a:lnTo>
                </a:path>
                <a:path w="7589520" h="1464310">
                  <a:moveTo>
                    <a:pt x="5661355" y="1239481"/>
                  </a:moveTo>
                  <a:lnTo>
                    <a:pt x="5712485" y="1240193"/>
                  </a:lnTo>
                </a:path>
                <a:path w="7589520" h="1464310">
                  <a:moveTo>
                    <a:pt x="5712485" y="1240193"/>
                  </a:moveTo>
                  <a:lnTo>
                    <a:pt x="5916599" y="1344955"/>
                  </a:lnTo>
                </a:path>
                <a:path w="7589520" h="1464310">
                  <a:moveTo>
                    <a:pt x="5916599" y="1344955"/>
                  </a:moveTo>
                  <a:lnTo>
                    <a:pt x="6018479" y="1354683"/>
                  </a:lnTo>
                </a:path>
                <a:path w="7589520" h="1464310">
                  <a:moveTo>
                    <a:pt x="6018479" y="1354683"/>
                  </a:moveTo>
                  <a:lnTo>
                    <a:pt x="6120358" y="1361160"/>
                  </a:lnTo>
                </a:path>
                <a:path w="7589520" h="1464310">
                  <a:moveTo>
                    <a:pt x="6120358" y="1361160"/>
                  </a:moveTo>
                  <a:lnTo>
                    <a:pt x="6171476" y="1362240"/>
                  </a:lnTo>
                </a:path>
                <a:path w="7589520" h="1464310">
                  <a:moveTo>
                    <a:pt x="6171476" y="1362240"/>
                  </a:moveTo>
                  <a:lnTo>
                    <a:pt x="6222606" y="1369441"/>
                  </a:lnTo>
                </a:path>
                <a:path w="7589520" h="1464310">
                  <a:moveTo>
                    <a:pt x="6222606" y="1369441"/>
                  </a:moveTo>
                  <a:lnTo>
                    <a:pt x="6324485" y="1373759"/>
                  </a:lnTo>
                </a:path>
                <a:path w="7589520" h="1464310">
                  <a:moveTo>
                    <a:pt x="6324485" y="1373759"/>
                  </a:moveTo>
                  <a:lnTo>
                    <a:pt x="6426365" y="1386001"/>
                  </a:lnTo>
                </a:path>
                <a:path w="7589520" h="1464310">
                  <a:moveTo>
                    <a:pt x="6426365" y="1386001"/>
                  </a:moveTo>
                  <a:lnTo>
                    <a:pt x="6528244" y="1397876"/>
                  </a:lnTo>
                </a:path>
                <a:path w="7589520" h="1464310">
                  <a:moveTo>
                    <a:pt x="6528244" y="1397876"/>
                  </a:moveTo>
                  <a:lnTo>
                    <a:pt x="6579361" y="1399679"/>
                  </a:lnTo>
                </a:path>
                <a:path w="7589520" h="1464310">
                  <a:moveTo>
                    <a:pt x="6579361" y="1399679"/>
                  </a:moveTo>
                  <a:lnTo>
                    <a:pt x="6732358" y="1403273"/>
                  </a:lnTo>
                </a:path>
                <a:path w="7589520" h="1464310">
                  <a:moveTo>
                    <a:pt x="6732358" y="1403273"/>
                  </a:moveTo>
                  <a:lnTo>
                    <a:pt x="6936485" y="1309319"/>
                  </a:lnTo>
                </a:path>
                <a:path w="7589520" h="1464310">
                  <a:moveTo>
                    <a:pt x="6936485" y="1309319"/>
                  </a:moveTo>
                  <a:lnTo>
                    <a:pt x="7089482" y="1338834"/>
                  </a:lnTo>
                </a:path>
                <a:path w="7589520" h="1464310">
                  <a:moveTo>
                    <a:pt x="7089482" y="1338834"/>
                  </a:moveTo>
                  <a:lnTo>
                    <a:pt x="7140600" y="1353959"/>
                  </a:lnTo>
                </a:path>
                <a:path w="7589520" h="1464310">
                  <a:moveTo>
                    <a:pt x="7140600" y="1353959"/>
                  </a:moveTo>
                  <a:lnTo>
                    <a:pt x="7395476" y="1447558"/>
                  </a:lnTo>
                </a:path>
                <a:path w="7589520" h="1464310">
                  <a:moveTo>
                    <a:pt x="7395476" y="1447558"/>
                  </a:moveTo>
                  <a:lnTo>
                    <a:pt x="7446594" y="1464119"/>
                  </a:lnTo>
                </a:path>
                <a:path w="7589520" h="1464310">
                  <a:moveTo>
                    <a:pt x="7446594" y="1464119"/>
                  </a:moveTo>
                  <a:lnTo>
                    <a:pt x="7497356" y="1461960"/>
                  </a:lnTo>
                </a:path>
                <a:path w="7589520" h="1464310">
                  <a:moveTo>
                    <a:pt x="7497356" y="1461960"/>
                  </a:moveTo>
                  <a:lnTo>
                    <a:pt x="7548486" y="1457274"/>
                  </a:lnTo>
                </a:path>
                <a:path w="7589520" h="1464310">
                  <a:moveTo>
                    <a:pt x="7548486" y="1457274"/>
                  </a:moveTo>
                  <a:lnTo>
                    <a:pt x="7589520" y="1457642"/>
                  </a:lnTo>
                </a:path>
              </a:pathLst>
            </a:custGeom>
            <a:ln w="151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86200" y="1461604"/>
              <a:ext cx="7589520" cy="1483995"/>
            </a:xfrm>
            <a:custGeom>
              <a:avLst/>
              <a:gdLst/>
              <a:ahLst/>
              <a:cxnLst/>
              <a:rect l="l" t="t" r="r" b="b"/>
              <a:pathLst>
                <a:path w="7589520" h="1483995">
                  <a:moveTo>
                    <a:pt x="0" y="588949"/>
                  </a:moveTo>
                  <a:lnTo>
                    <a:pt x="50761" y="590029"/>
                  </a:lnTo>
                </a:path>
                <a:path w="7589520" h="1483995">
                  <a:moveTo>
                    <a:pt x="50761" y="590029"/>
                  </a:moveTo>
                  <a:lnTo>
                    <a:pt x="305638" y="415798"/>
                  </a:lnTo>
                </a:path>
                <a:path w="7589520" h="1483995">
                  <a:moveTo>
                    <a:pt x="305638" y="415798"/>
                  </a:moveTo>
                  <a:lnTo>
                    <a:pt x="407885" y="390232"/>
                  </a:lnTo>
                </a:path>
                <a:path w="7589520" h="1483995">
                  <a:moveTo>
                    <a:pt x="407885" y="390232"/>
                  </a:moveTo>
                  <a:lnTo>
                    <a:pt x="1071003" y="266039"/>
                  </a:lnTo>
                </a:path>
                <a:path w="7589520" h="1483995">
                  <a:moveTo>
                    <a:pt x="1071003" y="266039"/>
                  </a:moveTo>
                  <a:lnTo>
                    <a:pt x="1275118" y="448195"/>
                  </a:lnTo>
                </a:path>
                <a:path w="7589520" h="1483995">
                  <a:moveTo>
                    <a:pt x="1275118" y="448195"/>
                  </a:moveTo>
                  <a:lnTo>
                    <a:pt x="1376997" y="480237"/>
                  </a:lnTo>
                </a:path>
                <a:path w="7589520" h="1483995">
                  <a:moveTo>
                    <a:pt x="1376997" y="480237"/>
                  </a:moveTo>
                  <a:lnTo>
                    <a:pt x="1478876" y="507593"/>
                  </a:lnTo>
                </a:path>
                <a:path w="7589520" h="1483995">
                  <a:moveTo>
                    <a:pt x="1478876" y="507593"/>
                  </a:moveTo>
                  <a:lnTo>
                    <a:pt x="1580756" y="631431"/>
                  </a:lnTo>
                </a:path>
                <a:path w="7589520" h="1483995">
                  <a:moveTo>
                    <a:pt x="1580756" y="631431"/>
                  </a:moveTo>
                  <a:lnTo>
                    <a:pt x="1683003" y="705231"/>
                  </a:lnTo>
                </a:path>
                <a:path w="7589520" h="1483995">
                  <a:moveTo>
                    <a:pt x="1683003" y="705231"/>
                  </a:moveTo>
                  <a:lnTo>
                    <a:pt x="1937880" y="579958"/>
                  </a:lnTo>
                </a:path>
                <a:path w="7589520" h="1483995">
                  <a:moveTo>
                    <a:pt x="1937880" y="579958"/>
                  </a:moveTo>
                  <a:lnTo>
                    <a:pt x="2141994" y="680034"/>
                  </a:lnTo>
                </a:path>
                <a:path w="7589520" h="1483995">
                  <a:moveTo>
                    <a:pt x="2141994" y="680034"/>
                  </a:moveTo>
                  <a:lnTo>
                    <a:pt x="2346121" y="873709"/>
                  </a:lnTo>
                </a:path>
                <a:path w="7589520" h="1483995">
                  <a:moveTo>
                    <a:pt x="2346121" y="873709"/>
                  </a:moveTo>
                  <a:lnTo>
                    <a:pt x="2397239" y="875157"/>
                  </a:lnTo>
                </a:path>
                <a:path w="7589520" h="1483995">
                  <a:moveTo>
                    <a:pt x="2397239" y="875157"/>
                  </a:moveTo>
                  <a:lnTo>
                    <a:pt x="2550236" y="852474"/>
                  </a:lnTo>
                </a:path>
                <a:path w="7589520" h="1483995">
                  <a:moveTo>
                    <a:pt x="2550236" y="852474"/>
                  </a:moveTo>
                  <a:lnTo>
                    <a:pt x="2600998" y="796671"/>
                  </a:lnTo>
                </a:path>
                <a:path w="7589520" h="1483995">
                  <a:moveTo>
                    <a:pt x="2600998" y="796671"/>
                  </a:moveTo>
                  <a:lnTo>
                    <a:pt x="2703245" y="708113"/>
                  </a:lnTo>
                </a:path>
                <a:path w="7589520" h="1483995">
                  <a:moveTo>
                    <a:pt x="2703245" y="708113"/>
                  </a:moveTo>
                  <a:lnTo>
                    <a:pt x="2856242" y="546481"/>
                  </a:lnTo>
                </a:path>
                <a:path w="7589520" h="1483995">
                  <a:moveTo>
                    <a:pt x="2856242" y="546481"/>
                  </a:moveTo>
                  <a:lnTo>
                    <a:pt x="3111119" y="355320"/>
                  </a:lnTo>
                </a:path>
                <a:path w="7589520" h="1483995">
                  <a:moveTo>
                    <a:pt x="3111119" y="355320"/>
                  </a:moveTo>
                  <a:lnTo>
                    <a:pt x="3213354" y="305269"/>
                  </a:lnTo>
                </a:path>
                <a:path w="7589520" h="1483995">
                  <a:moveTo>
                    <a:pt x="3213354" y="305269"/>
                  </a:moveTo>
                  <a:lnTo>
                    <a:pt x="3264115" y="354952"/>
                  </a:lnTo>
                </a:path>
                <a:path w="7589520" h="1483995">
                  <a:moveTo>
                    <a:pt x="3264115" y="354952"/>
                  </a:moveTo>
                  <a:lnTo>
                    <a:pt x="3467874" y="370433"/>
                  </a:lnTo>
                </a:path>
                <a:path w="7589520" h="1483995">
                  <a:moveTo>
                    <a:pt x="3467874" y="370433"/>
                  </a:moveTo>
                  <a:lnTo>
                    <a:pt x="3621239" y="185750"/>
                  </a:lnTo>
                </a:path>
                <a:path w="7589520" h="1483995">
                  <a:moveTo>
                    <a:pt x="3621239" y="185750"/>
                  </a:moveTo>
                  <a:lnTo>
                    <a:pt x="3774236" y="0"/>
                  </a:lnTo>
                </a:path>
                <a:path w="7589520" h="1483995">
                  <a:moveTo>
                    <a:pt x="3774236" y="0"/>
                  </a:moveTo>
                  <a:lnTo>
                    <a:pt x="3825354" y="56514"/>
                  </a:lnTo>
                </a:path>
                <a:path w="7589520" h="1483995">
                  <a:moveTo>
                    <a:pt x="3825354" y="56514"/>
                  </a:moveTo>
                  <a:lnTo>
                    <a:pt x="3978363" y="219595"/>
                  </a:lnTo>
                </a:path>
                <a:path w="7589520" h="1483995">
                  <a:moveTo>
                    <a:pt x="3978363" y="219595"/>
                  </a:moveTo>
                  <a:lnTo>
                    <a:pt x="4029125" y="220675"/>
                  </a:lnTo>
                </a:path>
                <a:path w="7589520" h="1483995">
                  <a:moveTo>
                    <a:pt x="4029125" y="220675"/>
                  </a:moveTo>
                  <a:lnTo>
                    <a:pt x="4284357" y="525957"/>
                  </a:lnTo>
                </a:path>
                <a:path w="7589520" h="1483995">
                  <a:moveTo>
                    <a:pt x="4284357" y="525957"/>
                  </a:moveTo>
                  <a:lnTo>
                    <a:pt x="4539233" y="649795"/>
                  </a:lnTo>
                </a:path>
                <a:path w="7589520" h="1483995">
                  <a:moveTo>
                    <a:pt x="4539233" y="649795"/>
                  </a:moveTo>
                  <a:lnTo>
                    <a:pt x="4590364" y="700913"/>
                  </a:lnTo>
                </a:path>
                <a:path w="7589520" h="1483995">
                  <a:moveTo>
                    <a:pt x="4590364" y="700913"/>
                  </a:moveTo>
                  <a:lnTo>
                    <a:pt x="4641481" y="770394"/>
                  </a:lnTo>
                </a:path>
                <a:path w="7589520" h="1483995">
                  <a:moveTo>
                    <a:pt x="4641481" y="770394"/>
                  </a:moveTo>
                  <a:lnTo>
                    <a:pt x="4743361" y="847801"/>
                  </a:lnTo>
                </a:path>
                <a:path w="7589520" h="1483995">
                  <a:moveTo>
                    <a:pt x="4743361" y="847801"/>
                  </a:moveTo>
                  <a:lnTo>
                    <a:pt x="4794478" y="911148"/>
                  </a:lnTo>
                </a:path>
                <a:path w="7589520" h="1483995">
                  <a:moveTo>
                    <a:pt x="4794478" y="911148"/>
                  </a:moveTo>
                  <a:lnTo>
                    <a:pt x="4845240" y="975233"/>
                  </a:lnTo>
                </a:path>
                <a:path w="7589520" h="1483995">
                  <a:moveTo>
                    <a:pt x="4845240" y="975233"/>
                  </a:moveTo>
                  <a:lnTo>
                    <a:pt x="4947119" y="959040"/>
                  </a:lnTo>
                </a:path>
                <a:path w="7589520" h="1483995">
                  <a:moveTo>
                    <a:pt x="4947119" y="959040"/>
                  </a:moveTo>
                  <a:lnTo>
                    <a:pt x="5049354" y="963358"/>
                  </a:lnTo>
                </a:path>
                <a:path w="7589520" h="1483995">
                  <a:moveTo>
                    <a:pt x="5049354" y="963358"/>
                  </a:moveTo>
                  <a:lnTo>
                    <a:pt x="5253482" y="1081074"/>
                  </a:lnTo>
                </a:path>
                <a:path w="7589520" h="1483995">
                  <a:moveTo>
                    <a:pt x="5253482" y="1081074"/>
                  </a:moveTo>
                  <a:lnTo>
                    <a:pt x="5304243" y="1066317"/>
                  </a:lnTo>
                </a:path>
                <a:path w="7589520" h="1483995">
                  <a:moveTo>
                    <a:pt x="5304243" y="1066317"/>
                  </a:moveTo>
                  <a:lnTo>
                    <a:pt x="5457596" y="1106639"/>
                  </a:lnTo>
                </a:path>
                <a:path w="7589520" h="1483995">
                  <a:moveTo>
                    <a:pt x="5457596" y="1106639"/>
                  </a:moveTo>
                  <a:lnTo>
                    <a:pt x="5508358" y="1148029"/>
                  </a:lnTo>
                </a:path>
                <a:path w="7589520" h="1483995">
                  <a:moveTo>
                    <a:pt x="5508358" y="1148029"/>
                  </a:moveTo>
                  <a:lnTo>
                    <a:pt x="5610606" y="1247749"/>
                  </a:lnTo>
                </a:path>
                <a:path w="7589520" h="1483995">
                  <a:moveTo>
                    <a:pt x="5610606" y="1247749"/>
                  </a:moveTo>
                  <a:lnTo>
                    <a:pt x="5661355" y="1253159"/>
                  </a:lnTo>
                </a:path>
                <a:path w="7589520" h="1483995">
                  <a:moveTo>
                    <a:pt x="5661355" y="1253159"/>
                  </a:moveTo>
                  <a:lnTo>
                    <a:pt x="5712485" y="1251712"/>
                  </a:lnTo>
                </a:path>
                <a:path w="7589520" h="1483995">
                  <a:moveTo>
                    <a:pt x="5712485" y="1251712"/>
                  </a:moveTo>
                  <a:lnTo>
                    <a:pt x="5916599" y="1356118"/>
                  </a:lnTo>
                </a:path>
                <a:path w="7589520" h="1483995">
                  <a:moveTo>
                    <a:pt x="5916599" y="1356118"/>
                  </a:moveTo>
                  <a:lnTo>
                    <a:pt x="6018479" y="1372311"/>
                  </a:lnTo>
                </a:path>
                <a:path w="7589520" h="1483995">
                  <a:moveTo>
                    <a:pt x="6018479" y="1372311"/>
                  </a:moveTo>
                  <a:lnTo>
                    <a:pt x="6120358" y="1390675"/>
                  </a:lnTo>
                </a:path>
                <a:path w="7589520" h="1483995">
                  <a:moveTo>
                    <a:pt x="6120358" y="1390675"/>
                  </a:moveTo>
                  <a:lnTo>
                    <a:pt x="6171476" y="1383474"/>
                  </a:lnTo>
                </a:path>
                <a:path w="7589520" h="1483995">
                  <a:moveTo>
                    <a:pt x="6171476" y="1383474"/>
                  </a:moveTo>
                  <a:lnTo>
                    <a:pt x="6222606" y="1393558"/>
                  </a:lnTo>
                </a:path>
                <a:path w="7589520" h="1483995">
                  <a:moveTo>
                    <a:pt x="6222606" y="1393558"/>
                  </a:moveTo>
                  <a:lnTo>
                    <a:pt x="6324485" y="1391399"/>
                  </a:lnTo>
                </a:path>
                <a:path w="7589520" h="1483995">
                  <a:moveTo>
                    <a:pt x="6324485" y="1391399"/>
                  </a:moveTo>
                  <a:lnTo>
                    <a:pt x="6426365" y="1408315"/>
                  </a:lnTo>
                </a:path>
                <a:path w="7589520" h="1483995">
                  <a:moveTo>
                    <a:pt x="6426365" y="1408315"/>
                  </a:moveTo>
                  <a:lnTo>
                    <a:pt x="6528244" y="1416951"/>
                  </a:lnTo>
                </a:path>
                <a:path w="7589520" h="1483995">
                  <a:moveTo>
                    <a:pt x="6528244" y="1416951"/>
                  </a:moveTo>
                  <a:lnTo>
                    <a:pt x="6579361" y="1425232"/>
                  </a:lnTo>
                </a:path>
                <a:path w="7589520" h="1483995">
                  <a:moveTo>
                    <a:pt x="6579361" y="1425232"/>
                  </a:moveTo>
                  <a:lnTo>
                    <a:pt x="6732358" y="1425232"/>
                  </a:lnTo>
                </a:path>
                <a:path w="7589520" h="1483995">
                  <a:moveTo>
                    <a:pt x="6732358" y="1425232"/>
                  </a:moveTo>
                  <a:lnTo>
                    <a:pt x="6936485" y="1338110"/>
                  </a:lnTo>
                </a:path>
                <a:path w="7589520" h="1483995">
                  <a:moveTo>
                    <a:pt x="6936485" y="1338110"/>
                  </a:moveTo>
                  <a:lnTo>
                    <a:pt x="7089482" y="1364399"/>
                  </a:lnTo>
                </a:path>
                <a:path w="7589520" h="1483995">
                  <a:moveTo>
                    <a:pt x="7089482" y="1364399"/>
                  </a:moveTo>
                  <a:lnTo>
                    <a:pt x="7140600" y="1381315"/>
                  </a:lnTo>
                </a:path>
                <a:path w="7589520" h="1483995">
                  <a:moveTo>
                    <a:pt x="7140600" y="1381315"/>
                  </a:moveTo>
                  <a:lnTo>
                    <a:pt x="7395476" y="1469872"/>
                  </a:lnTo>
                </a:path>
                <a:path w="7589520" h="1483995">
                  <a:moveTo>
                    <a:pt x="7395476" y="1469872"/>
                  </a:moveTo>
                  <a:lnTo>
                    <a:pt x="7446594" y="1483918"/>
                  </a:lnTo>
                </a:path>
                <a:path w="7589520" h="1483995">
                  <a:moveTo>
                    <a:pt x="7446594" y="1483918"/>
                  </a:moveTo>
                  <a:lnTo>
                    <a:pt x="7497356" y="1483194"/>
                  </a:lnTo>
                </a:path>
                <a:path w="7589520" h="1483995">
                  <a:moveTo>
                    <a:pt x="7497356" y="1483194"/>
                  </a:moveTo>
                  <a:lnTo>
                    <a:pt x="7548486" y="1476349"/>
                  </a:lnTo>
                </a:path>
                <a:path w="7589520" h="1483995">
                  <a:moveTo>
                    <a:pt x="7548486" y="1476349"/>
                  </a:moveTo>
                  <a:lnTo>
                    <a:pt x="7589520" y="1477073"/>
                  </a:lnTo>
                </a:path>
              </a:pathLst>
            </a:custGeom>
            <a:ln w="2303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90175" y="2874505"/>
            <a:ext cx="26675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800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90175" y="2339175"/>
            <a:ext cx="26675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900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23221" y="1803501"/>
            <a:ext cx="346176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1000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32225" y="1267815"/>
            <a:ext cx="335686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1100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69587" y="1891143"/>
            <a:ext cx="161583" cy="1078420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Elevación</a:t>
            </a:r>
            <a:r>
              <a:rPr lang="es-ES" sz="105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(m)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82059" y="3249625"/>
            <a:ext cx="211302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0,0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292738" y="3249625"/>
            <a:ext cx="284734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14,9</a:t>
            </a:r>
            <a:endParaRPr lang="es-ES" sz="10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160520" y="1554479"/>
            <a:ext cx="2103120" cy="635"/>
            <a:chOff x="4160520" y="1554479"/>
            <a:chExt cx="2103120" cy="635"/>
          </a:xfrm>
        </p:grpSpPr>
        <p:sp>
          <p:nvSpPr>
            <p:cNvPr id="37" name="object 37"/>
            <p:cNvSpPr/>
            <p:nvPr/>
          </p:nvSpPr>
          <p:spPr>
            <a:xfrm>
              <a:off x="4160520" y="1554479"/>
              <a:ext cx="365760" cy="635"/>
            </a:xfrm>
            <a:custGeom>
              <a:avLst/>
              <a:gdLst/>
              <a:ahLst/>
              <a:cxnLst/>
              <a:rect l="l" t="t" r="r" b="b"/>
              <a:pathLst>
                <a:path w="365760" h="634">
                  <a:moveTo>
                    <a:pt x="0" y="0"/>
                  </a:moveTo>
                  <a:lnTo>
                    <a:pt x="365759" y="355"/>
                  </a:lnTo>
                </a:path>
              </a:pathLst>
            </a:custGeom>
            <a:ln w="16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97880" y="1554479"/>
              <a:ext cx="365760" cy="635"/>
            </a:xfrm>
            <a:custGeom>
              <a:avLst/>
              <a:gdLst/>
              <a:ahLst/>
              <a:cxnLst/>
              <a:rect l="l" t="t" r="r" b="b"/>
              <a:pathLst>
                <a:path w="365760" h="634">
                  <a:moveTo>
                    <a:pt x="0" y="0"/>
                  </a:moveTo>
                  <a:lnTo>
                    <a:pt x="365760" y="355"/>
                  </a:lnTo>
                </a:path>
              </a:pathLst>
            </a:custGeom>
            <a:ln w="2303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604664" y="1463662"/>
            <a:ext cx="1090980" cy="1782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Terreno</a:t>
            </a: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 spc="-10">
                <a:solidFill>
                  <a:srgbClr val="000000"/>
                </a:solidFill>
                <a:latin typeface="Arial"/>
                <a:cs typeface="Arial"/>
              </a:rPr>
              <a:t>ATL08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42024" y="1463662"/>
            <a:ext cx="1099221" cy="1782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ES" sz="1050" b="1">
                <a:solidFill>
                  <a:srgbClr val="C3862D"/>
                </a:solidFill>
                <a:latin typeface="Arial"/>
                <a:cs typeface="Arial"/>
              </a:rPr>
              <a:t>Tope</a:t>
            </a:r>
            <a:r>
              <a:rPr lang="es-ES" sz="1050" b="1" spc="10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1050" b="1">
                <a:solidFill>
                  <a:srgbClr val="C3862D"/>
                </a:solidFill>
                <a:latin typeface="Arial"/>
                <a:cs typeface="Arial"/>
              </a:rPr>
              <a:t>del</a:t>
            </a:r>
            <a:r>
              <a:rPr lang="es-ES" sz="1050" b="1" spc="10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1050" b="1" spc="-10">
                <a:solidFill>
                  <a:srgbClr val="C3862D"/>
                </a:solidFill>
                <a:latin typeface="Arial"/>
                <a:cs typeface="Arial"/>
              </a:rPr>
              <a:t>dosel</a:t>
            </a:r>
            <a:endParaRPr lang="es-ES" sz="10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863517" y="3822115"/>
            <a:ext cx="7635240" cy="1664970"/>
            <a:chOff x="3863517" y="3822115"/>
            <a:chExt cx="7635240" cy="1664970"/>
          </a:xfrm>
        </p:grpSpPr>
        <p:sp>
          <p:nvSpPr>
            <p:cNvPr id="42" name="object 42"/>
            <p:cNvSpPr/>
            <p:nvPr/>
          </p:nvSpPr>
          <p:spPr>
            <a:xfrm>
              <a:off x="3886199" y="3822115"/>
              <a:ext cx="7589520" cy="1664970"/>
            </a:xfrm>
            <a:custGeom>
              <a:avLst/>
              <a:gdLst/>
              <a:ahLst/>
              <a:cxnLst/>
              <a:rect l="l" t="t" r="r" b="b"/>
              <a:pathLst>
                <a:path w="7589520" h="1664970">
                  <a:moveTo>
                    <a:pt x="0" y="1664284"/>
                  </a:moveTo>
                  <a:lnTo>
                    <a:pt x="7589520" y="1664639"/>
                  </a:lnTo>
                </a:path>
                <a:path w="7589520" h="1664970">
                  <a:moveTo>
                    <a:pt x="0" y="0"/>
                  </a:moveTo>
                  <a:lnTo>
                    <a:pt x="355" y="1664284"/>
                  </a:lnTo>
                </a:path>
              </a:pathLst>
            </a:custGeom>
            <a:ln w="10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86199" y="3822115"/>
              <a:ext cx="7589520" cy="1664970"/>
            </a:xfrm>
            <a:custGeom>
              <a:avLst/>
              <a:gdLst/>
              <a:ahLst/>
              <a:cxnLst/>
              <a:rect l="l" t="t" r="r" b="b"/>
              <a:pathLst>
                <a:path w="7589520" h="1664970">
                  <a:moveTo>
                    <a:pt x="0" y="1664284"/>
                  </a:moveTo>
                  <a:lnTo>
                    <a:pt x="7589520" y="1664639"/>
                  </a:lnTo>
                </a:path>
                <a:path w="7589520" h="1664970">
                  <a:moveTo>
                    <a:pt x="0" y="332638"/>
                  </a:moveTo>
                  <a:lnTo>
                    <a:pt x="7589520" y="333006"/>
                  </a:lnTo>
                </a:path>
                <a:path w="7589520" h="1664970">
                  <a:moveTo>
                    <a:pt x="0" y="0"/>
                  </a:moveTo>
                  <a:lnTo>
                    <a:pt x="7589520" y="368"/>
                  </a:lnTo>
                </a:path>
              </a:pathLst>
            </a:custGeom>
            <a:ln w="5759">
              <a:solidFill>
                <a:srgbClr val="DCE1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3517" y="4484880"/>
              <a:ext cx="7635240" cy="67176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724097" y="5400979"/>
            <a:ext cx="109397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50">
                <a:solidFill>
                  <a:srgbClr val="000000"/>
                </a:solidFill>
                <a:latin typeface="Arial"/>
                <a:cs typeface="Arial"/>
              </a:rPr>
              <a:t>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24097" y="5067986"/>
            <a:ext cx="109397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50">
                <a:solidFill>
                  <a:srgbClr val="000000"/>
                </a:solidFill>
                <a:latin typeface="Arial"/>
                <a:cs typeface="Arial"/>
              </a:rPr>
              <a:t>5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57142" y="4735334"/>
            <a:ext cx="188074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10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57142" y="4402340"/>
            <a:ext cx="188074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15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57142" y="4069702"/>
            <a:ext cx="188074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20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657142" y="3736695"/>
            <a:ext cx="188074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29374" y="5699061"/>
            <a:ext cx="2247149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Distancia</a:t>
            </a: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lang="es-ES" sz="105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lo</a:t>
            </a: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largo</a:t>
            </a:r>
            <a:r>
              <a:rPr lang="es-ES" sz="105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del</a:t>
            </a: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perfil</a:t>
            </a:r>
            <a:r>
              <a:rPr lang="es-ES" sz="105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(km)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69587" y="4367224"/>
            <a:ext cx="161583" cy="774954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s-ES" sz="1050">
                <a:solidFill>
                  <a:srgbClr val="000000"/>
                </a:solidFill>
                <a:latin typeface="Arial"/>
                <a:cs typeface="Arial"/>
              </a:rPr>
              <a:t>RH98</a:t>
            </a:r>
            <a:r>
              <a:rPr lang="es-ES" sz="105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(m)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782059" y="5508269"/>
            <a:ext cx="211302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050" spc="-25">
                <a:solidFill>
                  <a:srgbClr val="000000"/>
                </a:solidFill>
                <a:latin typeface="Arial"/>
                <a:cs typeface="Arial"/>
              </a:rPr>
              <a:t>0,0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292738" y="5508269"/>
            <a:ext cx="284734" cy="1769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1050" spc="-20">
                <a:solidFill>
                  <a:srgbClr val="000000"/>
                </a:solidFill>
                <a:latin typeface="Arial"/>
                <a:cs typeface="Arial"/>
              </a:rPr>
              <a:t>14,9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886200" y="4807077"/>
            <a:ext cx="7589520" cy="635"/>
          </a:xfrm>
          <a:custGeom>
            <a:avLst/>
            <a:gdLst/>
            <a:ahLst/>
            <a:cxnLst/>
            <a:rect l="l" t="t" r="r" b="b"/>
            <a:pathLst>
              <a:path w="7589520" h="635">
                <a:moveTo>
                  <a:pt x="0" y="0"/>
                </a:moveTo>
                <a:lnTo>
                  <a:pt x="7589520" y="368"/>
                </a:lnTo>
              </a:path>
            </a:pathLst>
          </a:custGeom>
          <a:ln w="12599">
            <a:solidFill>
              <a:srgbClr val="C3862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0391661" y="4540948"/>
            <a:ext cx="1185391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50" b="1">
                <a:solidFill>
                  <a:srgbClr val="C3862D"/>
                </a:solidFill>
                <a:latin typeface="Arial"/>
                <a:cs typeface="Arial"/>
              </a:rPr>
              <a:t>Mediana</a:t>
            </a:r>
            <a:r>
              <a:rPr lang="es-ES" sz="1050" b="1" spc="-55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1050" b="1">
                <a:solidFill>
                  <a:srgbClr val="C3862D"/>
                </a:solidFill>
                <a:latin typeface="Arial"/>
                <a:cs typeface="Arial"/>
              </a:rPr>
              <a:t>10,2</a:t>
            </a:r>
            <a:r>
              <a:rPr lang="es-ES" sz="1050" b="1" spc="-50">
                <a:solidFill>
                  <a:srgbClr val="C3862D"/>
                </a:solidFill>
                <a:latin typeface="Arial"/>
                <a:cs typeface="Arial"/>
              </a:rPr>
              <a:t> m</a:t>
            </a:r>
            <a:endParaRPr lang="es-ES" sz="105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880000" y="5488182"/>
            <a:ext cx="7618757" cy="635"/>
          </a:xfrm>
          <a:custGeom>
            <a:avLst/>
            <a:gdLst/>
            <a:ahLst/>
            <a:cxnLst/>
            <a:rect l="l" t="t" r="r" b="b"/>
            <a:pathLst>
              <a:path w="7618757" h="635">
                <a:moveTo>
                  <a:pt x="0" y="0"/>
                </a:moveTo>
                <a:lnTo>
                  <a:pt x="7618757" y="355"/>
                </a:lnTo>
              </a:path>
            </a:pathLst>
          </a:custGeom>
          <a:ln w="12700">
            <a:solidFill>
              <a:srgbClr val="64726B"/>
            </a:solidFill>
            <a:prstDash val="solid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9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0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32/43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326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811924" y="-355"/>
            <a:ext cx="5380075" cy="6858000"/>
            <a:chOff x="6811924" y="-355"/>
            <a:chExt cx="5380075" cy="6858000"/>
          </a:xfrm>
        </p:grpSpPr>
        <p:pic>
          <p:nvPicPr>
            <p:cNvPr id="4" name="object 4" descr="/mnt/data/icesat2_work/unzip/ppt/media/image10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5147" y="12"/>
              <a:ext cx="5196230" cy="68572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95159" y="-355"/>
              <a:ext cx="5196840" cy="6858000"/>
            </a:xfrm>
            <a:custGeom>
              <a:avLst/>
              <a:gdLst/>
              <a:ahLst/>
              <a:cxnLst/>
              <a:rect l="l" t="t" r="r" b="b"/>
              <a:pathLst>
                <a:path w="5196840" h="6858000">
                  <a:moveTo>
                    <a:pt x="5196243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598115" y="6857631"/>
                  </a:lnTo>
                  <a:lnTo>
                    <a:pt x="5196243" y="6857631"/>
                  </a:lnTo>
                  <a:lnTo>
                    <a:pt x="5196243" y="0"/>
                  </a:lnTo>
                  <a:close/>
                </a:path>
              </a:pathLst>
            </a:custGeom>
            <a:solidFill>
              <a:srgbClr val="13261F">
                <a:alpha val="6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1924" y="-355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79" h="6858000">
                  <a:moveTo>
                    <a:pt x="1825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91440" y="6857631"/>
                  </a:lnTo>
                  <a:lnTo>
                    <a:pt x="182511" y="6857631"/>
                  </a:lnTo>
                  <a:lnTo>
                    <a:pt x="182511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8660" y="947419"/>
            <a:ext cx="89789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l-PL" sz="11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Ó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1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1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U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1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L</a:t>
            </a:r>
            <a:r>
              <a:rPr lang="pl-PL" sz="1100" b="1" spc="-155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</a:t>
            </a:r>
            <a:r>
              <a:rPr lang="pl-PL" sz="1100" b="1" spc="30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pl-PL" sz="1100" b="1" spc="-5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4</a:t>
            </a:r>
            <a:endParaRPr lang="pl-PL" sz="11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09015" y="1403908"/>
            <a:ext cx="5126355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Aplicación,</a:t>
            </a:r>
            <a:r>
              <a:rPr sz="3400" spc="-17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integración</a:t>
            </a:r>
            <a:r>
              <a:rPr sz="3400" spc="-17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400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 </a:t>
            </a:r>
            <a:r>
              <a:rPr sz="3400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síntesis</a:t>
            </a:r>
            <a:endParaRPr sz="3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024" y="2748140"/>
            <a:ext cx="47212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Incendios,</a:t>
            </a:r>
            <a:r>
              <a:rPr lang="es-MX" sz="1900" spc="-7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diseño</a:t>
            </a:r>
            <a:r>
              <a:rPr lang="es-MX" sz="1900" spc="-7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de</a:t>
            </a:r>
            <a:r>
              <a:rPr lang="es-MX" sz="1900" spc="-7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 spc="-1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comparación,</a:t>
            </a:r>
            <a:r>
              <a:rPr lang="es-MX" sz="1900" spc="-7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 spc="-1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biomasa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multisensor</a:t>
            </a:r>
            <a:r>
              <a:rPr lang="es-MX" sz="1900" spc="-85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y</a:t>
            </a:r>
            <a:r>
              <a:rPr lang="es-MX" sz="1900" spc="-8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próximos</a:t>
            </a:r>
            <a:r>
              <a:rPr lang="es-MX" sz="1900" spc="-8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900" spc="-10">
                <a:solidFill>
                  <a:srgbClr val="D5E1D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pasos.</a:t>
            </a:r>
            <a:endParaRPr lang="es-MX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0080" y="4069079"/>
            <a:ext cx="5669280" cy="635"/>
          </a:xfrm>
          <a:custGeom>
            <a:avLst/>
            <a:gdLst/>
            <a:ahLst/>
            <a:cxnLst/>
            <a:rect l="l" t="t" r="r" b="b"/>
            <a:pathLst>
              <a:path w="5669280" h="635">
                <a:moveTo>
                  <a:pt x="0" y="0"/>
                </a:moveTo>
                <a:lnTo>
                  <a:pt x="5669280" y="355"/>
                </a:lnTo>
              </a:path>
            </a:pathLst>
          </a:custGeom>
          <a:ln w="12599">
            <a:solidFill>
              <a:srgbClr val="547066"/>
            </a:solidFill>
          </a:ln>
        </p:spPr>
        <p:txBody>
          <a:bodyPr wrap="square" lIns="0" tIns="0" rIns="0" bIns="0" rtlCol="0"/>
          <a:lstStyle/>
          <a:p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024" y="4311980"/>
            <a:ext cx="5632450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200" b="1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Preguntas</a:t>
            </a:r>
            <a:r>
              <a:rPr lang="es-MX" sz="1200" b="1" spc="-6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200" b="1" spc="-20">
                <a:solidFill>
                  <a:srgbClr val="E1B2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guía</a:t>
            </a:r>
            <a:endParaRPr lang="es-MX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s-MX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¿Cómo</a:t>
            </a:r>
            <a:r>
              <a:rPr lang="es-MX" sz="1650" spc="-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evaluar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incendios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con</a:t>
            </a:r>
            <a:r>
              <a:rPr lang="es-MX" sz="1650" spc="-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huellas</a:t>
            </a:r>
            <a:r>
              <a:rPr lang="es-MX" sz="1650" spc="-3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no</a:t>
            </a:r>
            <a:r>
              <a:rPr lang="es-MX" sz="1650" spc="-4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repetidas?</a:t>
            </a:r>
            <a:r>
              <a:rPr lang="es-MX" sz="1650" spc="39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¿Cómo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integrar</a:t>
            </a:r>
            <a:r>
              <a:rPr lang="es-MX" sz="1650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LiDAR,</a:t>
            </a:r>
            <a:r>
              <a:rPr lang="es-MX" sz="1650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SAR,</a:t>
            </a:r>
            <a:r>
              <a:rPr lang="es-MX" sz="1650" spc="-2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óptico</a:t>
            </a:r>
            <a:r>
              <a:rPr lang="es-MX" sz="1650" spc="-3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y</a:t>
            </a:r>
            <a:r>
              <a:rPr lang="es-MX" sz="1650" spc="-25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s-MX" sz="1650" spc="-1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campo?</a:t>
            </a:r>
            <a:endParaRPr lang="es-MX" sz="16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Caso</a:t>
            </a:r>
            <a:r>
              <a:rPr spc="-90"/>
              <a:t> </a:t>
            </a:r>
            <a:r>
              <a:t>exploratorio</a:t>
            </a:r>
            <a:r>
              <a:rPr spc="-85"/>
              <a:t> </a:t>
            </a:r>
            <a:r>
              <a:t>de</a:t>
            </a:r>
            <a:r>
              <a:rPr spc="-90"/>
              <a:t> </a:t>
            </a:r>
            <a:r>
              <a:t>incendio:</a:t>
            </a:r>
            <a:r>
              <a:rPr spc="-85"/>
              <a:t> </a:t>
            </a:r>
            <a:r>
              <a:t>evidencia</a:t>
            </a:r>
            <a:r>
              <a:rPr spc="-85"/>
              <a:t> </a:t>
            </a:r>
            <a:r>
              <a:t>óptica</a:t>
            </a:r>
            <a:r>
              <a:rPr spc="-90"/>
              <a:t> </a:t>
            </a:r>
            <a:r>
              <a:t>y</a:t>
            </a:r>
            <a:r>
              <a:rPr spc="-85"/>
              <a:t> </a:t>
            </a:r>
            <a:r>
              <a:rPr spc="-10"/>
              <a:t>muestreo</a:t>
            </a:r>
            <a:r>
              <a:rPr spc="-170"/>
              <a:t> </a:t>
            </a:r>
            <a:r>
              <a:rPr spc="-10"/>
              <a:t>ATL08</a:t>
            </a:r>
          </a:p>
        </p:txBody>
      </p:sp>
      <p:grpSp>
        <p:nvGrpSpPr>
          <p:cNvPr id="5" name="object 5" descr="/mnt/data/icesat2_work/unzip/ppt/media/image9.png"/>
          <p:cNvGrpSpPr/>
          <p:nvPr/>
        </p:nvGrpSpPr>
        <p:grpSpPr>
          <a:xfrm>
            <a:off x="621715" y="1261795"/>
            <a:ext cx="3730625" cy="3401695"/>
            <a:chOff x="621715" y="1261795"/>
            <a:chExt cx="3730625" cy="3401695"/>
          </a:xfrm>
        </p:grpSpPr>
        <p:pic>
          <p:nvPicPr>
            <p:cNvPr id="6" name="object 6" descr="/mnt/data/icesat2_work/unzip/ppt/media/image9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15" y="1261808"/>
              <a:ext cx="3730307" cy="3401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object 7"/>
            <p:cNvSpPr/>
            <p:nvPr/>
          </p:nvSpPr>
          <p:spPr>
            <a:xfrm>
              <a:off x="621715" y="1261795"/>
              <a:ext cx="3730625" cy="438784"/>
            </a:xfrm>
            <a:custGeom>
              <a:avLst/>
              <a:gdLst/>
              <a:ahLst/>
              <a:cxnLst/>
              <a:rect l="l" t="t" r="r" b="b"/>
              <a:pathLst>
                <a:path w="3730625" h="438785">
                  <a:moveTo>
                    <a:pt x="373032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865160" y="438480"/>
                  </a:lnTo>
                  <a:lnTo>
                    <a:pt x="3730320" y="438480"/>
                  </a:lnTo>
                  <a:lnTo>
                    <a:pt x="3730320" y="0"/>
                  </a:lnTo>
                  <a:close/>
                </a:path>
              </a:pathLst>
            </a:custGeom>
            <a:solidFill>
              <a:srgbClr val="13261F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 descr="/mnt/data/icesat2_work/unzip/ppt/media/image10.png"/>
          <p:cNvGrpSpPr/>
          <p:nvPr/>
        </p:nvGrpSpPr>
        <p:grpSpPr>
          <a:xfrm>
            <a:off x="4535284" y="1261795"/>
            <a:ext cx="3730625" cy="3401695"/>
            <a:chOff x="4535284" y="1261795"/>
            <a:chExt cx="3730625" cy="3401695"/>
          </a:xfrm>
        </p:grpSpPr>
        <p:pic>
          <p:nvPicPr>
            <p:cNvPr id="9" name="object 9" descr="/mnt/data/icesat2_work/unzip/ppt/media/image10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5284" y="1261808"/>
              <a:ext cx="3730294" cy="3401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object 10"/>
            <p:cNvSpPr/>
            <p:nvPr/>
          </p:nvSpPr>
          <p:spPr>
            <a:xfrm>
              <a:off x="4535284" y="1261795"/>
              <a:ext cx="3730625" cy="438784"/>
            </a:xfrm>
            <a:custGeom>
              <a:avLst/>
              <a:gdLst/>
              <a:ahLst/>
              <a:cxnLst/>
              <a:rect l="l" t="t" r="r" b="b"/>
              <a:pathLst>
                <a:path w="3730625" h="438785">
                  <a:moveTo>
                    <a:pt x="373032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865160" y="438480"/>
                  </a:lnTo>
                  <a:lnTo>
                    <a:pt x="3730320" y="438480"/>
                  </a:lnTo>
                  <a:lnTo>
                    <a:pt x="3730320" y="0"/>
                  </a:lnTo>
                  <a:close/>
                </a:path>
              </a:pathLst>
            </a:custGeom>
            <a:solidFill>
              <a:srgbClr val="13261F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59420" y="1348460"/>
            <a:ext cx="18529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06</a:t>
            </a:r>
            <a:r>
              <a:rPr lang="es-ES" sz="1400" b="1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ABR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lang="es-ES" sz="1400" b="1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ANTES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45900" y="1348460"/>
            <a:ext cx="21069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04</a:t>
            </a:r>
            <a:r>
              <a:rPr lang="es-ES" sz="1400" b="1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ABR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lang="es-ES" sz="1400" b="1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DESPUÉS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3064" y="4830013"/>
            <a:ext cx="475678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Incendio</a:t>
            </a:r>
            <a:r>
              <a:rPr lang="es-MX" sz="1400" b="1" spc="5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informado: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diciembre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de</a:t>
            </a:r>
            <a:r>
              <a:rPr lang="es-MX" sz="1400" b="1" spc="5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2025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-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enero</a:t>
            </a:r>
            <a:r>
              <a:rPr lang="es-MX" sz="1400" b="1" spc="5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de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 spc="-20">
                <a:solidFill>
                  <a:srgbClr val="A8503B"/>
                </a:solidFill>
                <a:latin typeface="Arial"/>
                <a:cs typeface="Arial"/>
              </a:rPr>
              <a:t>2026</a:t>
            </a:r>
            <a:endParaRPr lang="es-MX"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609224" y="1321380"/>
            <a:ext cx="1271270" cy="1335405"/>
            <a:chOff x="8609224" y="1321380"/>
            <a:chExt cx="1271270" cy="1335405"/>
          </a:xfrm>
        </p:grpSpPr>
        <p:sp>
          <p:nvSpPr>
            <p:cNvPr id="15" name="object 15"/>
            <p:cNvSpPr/>
            <p:nvPr/>
          </p:nvSpPr>
          <p:spPr>
            <a:xfrm>
              <a:off x="8613724" y="1325880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80">
                  <a:moveTo>
                    <a:pt x="11883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1188720" y="1325524"/>
                  </a:lnTo>
                  <a:lnTo>
                    <a:pt x="1233090" y="1310420"/>
                  </a:lnTo>
                  <a:lnTo>
                    <a:pt x="1256254" y="1280695"/>
                  </a:lnTo>
                  <a:lnTo>
                    <a:pt x="1256330" y="1280539"/>
                  </a:lnTo>
                  <a:lnTo>
                    <a:pt x="1259306" y="1271655"/>
                  </a:lnTo>
                  <a:lnTo>
                    <a:pt x="1259366" y="1271476"/>
                  </a:lnTo>
                  <a:lnTo>
                    <a:pt x="1261148" y="1262280"/>
                  </a:lnTo>
                  <a:lnTo>
                    <a:pt x="1261188" y="1262075"/>
                  </a:lnTo>
                  <a:lnTo>
                    <a:pt x="1261772" y="1252804"/>
                  </a:lnTo>
                  <a:lnTo>
                    <a:pt x="1261795" y="1252435"/>
                  </a:lnTo>
                  <a:lnTo>
                    <a:pt x="1261440" y="73075"/>
                  </a:lnTo>
                  <a:lnTo>
                    <a:pt x="1246336" y="28705"/>
                  </a:lnTo>
                  <a:lnTo>
                    <a:pt x="1207392" y="2428"/>
                  </a:lnTo>
                  <a:lnTo>
                    <a:pt x="1197991" y="607"/>
                  </a:lnTo>
                  <a:lnTo>
                    <a:pt x="11883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13724" y="1325880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88351" y="0"/>
                  </a:lnTo>
                  <a:lnTo>
                    <a:pt x="1232884" y="15104"/>
                  </a:lnTo>
                  <a:lnTo>
                    <a:pt x="1259009" y="54224"/>
                  </a:lnTo>
                  <a:lnTo>
                    <a:pt x="1261440" y="73075"/>
                  </a:lnTo>
                  <a:lnTo>
                    <a:pt x="1261795" y="1252435"/>
                  </a:lnTo>
                  <a:lnTo>
                    <a:pt x="1261188" y="1262075"/>
                  </a:lnTo>
                  <a:lnTo>
                    <a:pt x="1259366" y="1271476"/>
                  </a:lnTo>
                  <a:lnTo>
                    <a:pt x="1233090" y="1310420"/>
                  </a:lnTo>
                  <a:lnTo>
                    <a:pt x="1188720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13724" y="1325880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80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847975" y="1440611"/>
            <a:ext cx="845185" cy="1453537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25">
                <a:solidFill>
                  <a:srgbClr val="1D4938"/>
                </a:solidFill>
                <a:latin typeface="Arial"/>
                <a:cs typeface="Arial"/>
              </a:rPr>
              <a:t>45</a:t>
            </a:r>
            <a:endParaRPr lang="es-ES" sz="25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  <a:spcBef>
                <a:spcPts val="1635"/>
              </a:spcBef>
            </a:pP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endParaRPr lang="es-ES" sz="12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</a:pP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·</a:t>
            </a:r>
            <a:r>
              <a:rPr lang="es-ES" sz="12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9</a:t>
            </a:r>
            <a:r>
              <a:rPr lang="es-ES" sz="12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dic</a:t>
            </a: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 spc="-20">
                <a:solidFill>
                  <a:srgbClr val="1F2F28"/>
                </a:solidFill>
                <a:latin typeface="Arial"/>
                <a:cs typeface="Arial"/>
              </a:rPr>
              <a:t>2025</a:t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072264" y="1321380"/>
            <a:ext cx="1271270" cy="1335405"/>
            <a:chOff x="10072264" y="1321380"/>
            <a:chExt cx="1271270" cy="1335405"/>
          </a:xfrm>
        </p:grpSpPr>
        <p:sp>
          <p:nvSpPr>
            <p:cNvPr id="20" name="object 20"/>
            <p:cNvSpPr/>
            <p:nvPr/>
          </p:nvSpPr>
          <p:spPr>
            <a:xfrm>
              <a:off x="10076764" y="1325880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80">
                  <a:moveTo>
                    <a:pt x="11883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1188720" y="1325524"/>
                  </a:lnTo>
                  <a:lnTo>
                    <a:pt x="1233090" y="1310420"/>
                  </a:lnTo>
                  <a:lnTo>
                    <a:pt x="1256254" y="1280695"/>
                  </a:lnTo>
                  <a:lnTo>
                    <a:pt x="1256330" y="1280539"/>
                  </a:lnTo>
                  <a:lnTo>
                    <a:pt x="1259306" y="1271655"/>
                  </a:lnTo>
                  <a:lnTo>
                    <a:pt x="1259366" y="1271476"/>
                  </a:lnTo>
                  <a:lnTo>
                    <a:pt x="1261148" y="1262280"/>
                  </a:lnTo>
                  <a:lnTo>
                    <a:pt x="1261188" y="1262075"/>
                  </a:lnTo>
                  <a:lnTo>
                    <a:pt x="1261772" y="1252804"/>
                  </a:lnTo>
                  <a:lnTo>
                    <a:pt x="1261795" y="1252435"/>
                  </a:lnTo>
                  <a:lnTo>
                    <a:pt x="1261440" y="73075"/>
                  </a:lnTo>
                  <a:lnTo>
                    <a:pt x="1246336" y="28705"/>
                  </a:lnTo>
                  <a:lnTo>
                    <a:pt x="1207392" y="2428"/>
                  </a:lnTo>
                  <a:lnTo>
                    <a:pt x="1197991" y="607"/>
                  </a:lnTo>
                  <a:lnTo>
                    <a:pt x="11883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76764" y="1325880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88351" y="0"/>
                  </a:lnTo>
                  <a:lnTo>
                    <a:pt x="1232884" y="15104"/>
                  </a:lnTo>
                  <a:lnTo>
                    <a:pt x="1259009" y="54224"/>
                  </a:lnTo>
                  <a:lnTo>
                    <a:pt x="1261440" y="73075"/>
                  </a:lnTo>
                  <a:lnTo>
                    <a:pt x="1261795" y="1252435"/>
                  </a:lnTo>
                  <a:lnTo>
                    <a:pt x="1261188" y="1262075"/>
                  </a:lnTo>
                  <a:lnTo>
                    <a:pt x="1259366" y="1271476"/>
                  </a:lnTo>
                  <a:lnTo>
                    <a:pt x="1233090" y="1310420"/>
                  </a:lnTo>
                  <a:lnTo>
                    <a:pt x="1188720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76764" y="1325880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80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311015" y="1430172"/>
            <a:ext cx="855980" cy="1463976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ts val="2270"/>
              </a:lnSpc>
              <a:spcBef>
                <a:spcPts val="100"/>
              </a:spcBef>
            </a:pPr>
            <a:r>
              <a:rPr lang="it-IT" sz="2100" b="1" spc="-10">
                <a:solidFill>
                  <a:srgbClr val="1D4938"/>
                </a:solidFill>
                <a:latin typeface="Arial"/>
                <a:cs typeface="Arial"/>
              </a:rPr>
              <a:t>13,38</a:t>
            </a:r>
            <a:endParaRPr lang="it-IT" sz="2100">
              <a:latin typeface="Arial"/>
              <a:cs typeface="Arial"/>
            </a:endParaRPr>
          </a:p>
          <a:p>
            <a:pPr marL="12700">
              <a:lnSpc>
                <a:spcPts val="2270"/>
              </a:lnSpc>
            </a:pPr>
            <a:r>
              <a:rPr lang="it-IT" sz="2100" b="1" spc="-50">
                <a:solidFill>
                  <a:srgbClr val="1D4938"/>
                </a:solidFill>
                <a:latin typeface="Arial"/>
                <a:cs typeface="Arial"/>
              </a:rPr>
              <a:t>m</a:t>
            </a:r>
            <a:endParaRPr lang="it-IT" sz="2100"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425"/>
              </a:spcBef>
            </a:pPr>
            <a:r>
              <a:rPr lang="it-IT" sz="1400" b="1">
                <a:solidFill>
                  <a:srgbClr val="1F2F28"/>
                </a:solidFill>
                <a:latin typeface="Arial"/>
                <a:cs typeface="Arial"/>
              </a:rPr>
              <a:t>mediana</a:t>
            </a:r>
            <a:r>
              <a:rPr lang="it-IT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it-IT" sz="1400" b="1" spc="-50">
                <a:solidFill>
                  <a:srgbClr val="1F2F28"/>
                </a:solidFill>
                <a:latin typeface="Arial"/>
                <a:cs typeface="Arial"/>
              </a:rPr>
              <a:t>· </a:t>
            </a:r>
            <a:r>
              <a:rPr lang="it-IT" sz="1400" b="1">
                <a:solidFill>
                  <a:srgbClr val="1F2F28"/>
                </a:solidFill>
                <a:latin typeface="Arial"/>
                <a:cs typeface="Arial"/>
              </a:rPr>
              <a:t>RGT</a:t>
            </a:r>
            <a:r>
              <a:rPr lang="it-IT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it-IT" sz="1400" b="1" spc="-20">
                <a:solidFill>
                  <a:srgbClr val="1F2F28"/>
                </a:solidFill>
                <a:latin typeface="Arial"/>
                <a:cs typeface="Arial"/>
              </a:rPr>
              <a:t>1314</a:t>
            </a:r>
            <a:endParaRPr lang="it-IT"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609224" y="2921580"/>
            <a:ext cx="1271270" cy="1335405"/>
            <a:chOff x="8609224" y="2921580"/>
            <a:chExt cx="1271270" cy="1335405"/>
          </a:xfrm>
        </p:grpSpPr>
        <p:sp>
          <p:nvSpPr>
            <p:cNvPr id="25" name="object 25"/>
            <p:cNvSpPr/>
            <p:nvPr/>
          </p:nvSpPr>
          <p:spPr>
            <a:xfrm>
              <a:off x="8613724" y="2926079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79">
                  <a:moveTo>
                    <a:pt x="11883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1188720" y="1325524"/>
                  </a:lnTo>
                  <a:lnTo>
                    <a:pt x="1233090" y="1310420"/>
                  </a:lnTo>
                  <a:lnTo>
                    <a:pt x="1259306" y="1271655"/>
                  </a:lnTo>
                  <a:lnTo>
                    <a:pt x="1259366" y="1271476"/>
                  </a:lnTo>
                  <a:lnTo>
                    <a:pt x="1261148" y="1262280"/>
                  </a:lnTo>
                  <a:lnTo>
                    <a:pt x="1261188" y="1262075"/>
                  </a:lnTo>
                  <a:lnTo>
                    <a:pt x="1261772" y="1252804"/>
                  </a:lnTo>
                  <a:lnTo>
                    <a:pt x="1261795" y="1252435"/>
                  </a:lnTo>
                  <a:lnTo>
                    <a:pt x="1261440" y="73075"/>
                  </a:lnTo>
                  <a:lnTo>
                    <a:pt x="1246336" y="28705"/>
                  </a:lnTo>
                  <a:lnTo>
                    <a:pt x="1207392" y="2428"/>
                  </a:lnTo>
                  <a:lnTo>
                    <a:pt x="1197991" y="607"/>
                  </a:lnTo>
                  <a:lnTo>
                    <a:pt x="11883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613724" y="2926079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88351" y="0"/>
                  </a:lnTo>
                  <a:lnTo>
                    <a:pt x="1232884" y="15104"/>
                  </a:lnTo>
                  <a:lnTo>
                    <a:pt x="1259009" y="54224"/>
                  </a:lnTo>
                  <a:lnTo>
                    <a:pt x="1261440" y="73075"/>
                  </a:lnTo>
                  <a:lnTo>
                    <a:pt x="1261795" y="1252435"/>
                  </a:lnTo>
                  <a:lnTo>
                    <a:pt x="1261188" y="1262075"/>
                  </a:lnTo>
                  <a:lnTo>
                    <a:pt x="1259366" y="1271476"/>
                  </a:lnTo>
                  <a:lnTo>
                    <a:pt x="1233090" y="1310420"/>
                  </a:lnTo>
                  <a:lnTo>
                    <a:pt x="1188720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13724" y="2926079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79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847975" y="3040811"/>
            <a:ext cx="854075" cy="1544253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50">
                <a:solidFill>
                  <a:srgbClr val="A8503B"/>
                </a:solidFill>
                <a:latin typeface="Arial"/>
                <a:cs typeface="Arial"/>
              </a:rPr>
              <a:t>3</a:t>
            </a:r>
            <a:endParaRPr lang="es-ES" sz="25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  <a:spcBef>
                <a:spcPts val="1635"/>
              </a:spcBef>
            </a:pP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endParaRPr lang="es-ES" sz="12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</a:pP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·</a:t>
            </a: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9</a:t>
            </a: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>feb</a:t>
            </a: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 spc="-20">
                <a:solidFill>
                  <a:srgbClr val="1F2F28"/>
                </a:solidFill>
                <a:latin typeface="Arial"/>
                <a:cs typeface="Arial"/>
              </a:rPr>
              <a:t>2026</a:t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072264" y="2921580"/>
            <a:ext cx="1271270" cy="1335405"/>
            <a:chOff x="10072264" y="2921580"/>
            <a:chExt cx="1271270" cy="1335405"/>
          </a:xfrm>
        </p:grpSpPr>
        <p:sp>
          <p:nvSpPr>
            <p:cNvPr id="30" name="object 30"/>
            <p:cNvSpPr/>
            <p:nvPr/>
          </p:nvSpPr>
          <p:spPr>
            <a:xfrm>
              <a:off x="10076764" y="2926079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79">
                  <a:moveTo>
                    <a:pt x="11883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1188720" y="1325524"/>
                  </a:lnTo>
                  <a:lnTo>
                    <a:pt x="1233090" y="1310420"/>
                  </a:lnTo>
                  <a:lnTo>
                    <a:pt x="1259306" y="1271655"/>
                  </a:lnTo>
                  <a:lnTo>
                    <a:pt x="1259366" y="1271476"/>
                  </a:lnTo>
                  <a:lnTo>
                    <a:pt x="1261148" y="1262280"/>
                  </a:lnTo>
                  <a:lnTo>
                    <a:pt x="1261188" y="1262075"/>
                  </a:lnTo>
                  <a:lnTo>
                    <a:pt x="1261772" y="1252804"/>
                  </a:lnTo>
                  <a:lnTo>
                    <a:pt x="1261795" y="1252435"/>
                  </a:lnTo>
                  <a:lnTo>
                    <a:pt x="1261440" y="73075"/>
                  </a:lnTo>
                  <a:lnTo>
                    <a:pt x="1246336" y="28705"/>
                  </a:lnTo>
                  <a:lnTo>
                    <a:pt x="1207392" y="2428"/>
                  </a:lnTo>
                  <a:lnTo>
                    <a:pt x="1197991" y="607"/>
                  </a:lnTo>
                  <a:lnTo>
                    <a:pt x="11883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076764" y="2926079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88351" y="0"/>
                  </a:lnTo>
                  <a:lnTo>
                    <a:pt x="1232884" y="15104"/>
                  </a:lnTo>
                  <a:lnTo>
                    <a:pt x="1259009" y="54224"/>
                  </a:lnTo>
                  <a:lnTo>
                    <a:pt x="1261440" y="73075"/>
                  </a:lnTo>
                  <a:lnTo>
                    <a:pt x="1261795" y="1252435"/>
                  </a:lnTo>
                  <a:lnTo>
                    <a:pt x="1261188" y="1262075"/>
                  </a:lnTo>
                  <a:lnTo>
                    <a:pt x="1259366" y="1271476"/>
                  </a:lnTo>
                  <a:lnTo>
                    <a:pt x="1233090" y="1310420"/>
                  </a:lnTo>
                  <a:lnTo>
                    <a:pt x="1188720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076764" y="2926079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79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311015" y="3030372"/>
            <a:ext cx="855980" cy="103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70"/>
              </a:lnSpc>
              <a:spcBef>
                <a:spcPts val="100"/>
              </a:spcBef>
            </a:pPr>
            <a:r>
              <a:rPr lang="it-IT" sz="2100" b="1" spc="-10">
                <a:solidFill>
                  <a:srgbClr val="A8503B"/>
                </a:solidFill>
                <a:latin typeface="Arial"/>
                <a:cs typeface="Arial"/>
              </a:rPr>
              <a:t>17,03</a:t>
            </a:r>
            <a:endParaRPr lang="it-IT" sz="2100">
              <a:latin typeface="Arial"/>
              <a:cs typeface="Arial"/>
            </a:endParaRPr>
          </a:p>
          <a:p>
            <a:pPr marL="12700">
              <a:lnSpc>
                <a:spcPts val="2270"/>
              </a:lnSpc>
            </a:pPr>
            <a:r>
              <a:rPr lang="it-IT" sz="2100" b="1" spc="-50">
                <a:solidFill>
                  <a:srgbClr val="A8503B"/>
                </a:solidFill>
                <a:latin typeface="Arial"/>
                <a:cs typeface="Arial"/>
              </a:rPr>
              <a:t>m</a:t>
            </a:r>
            <a:endParaRPr lang="it-IT" sz="2100"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425"/>
              </a:spcBef>
            </a:pPr>
            <a:r>
              <a:rPr lang="it-IT" sz="1400" b="1">
                <a:solidFill>
                  <a:srgbClr val="1F2F28"/>
                </a:solidFill>
                <a:latin typeface="Arial"/>
                <a:cs typeface="Arial"/>
              </a:rPr>
              <a:t>mediana</a:t>
            </a:r>
            <a:r>
              <a:rPr lang="it-IT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it-IT" sz="1400" b="1" spc="-50">
                <a:solidFill>
                  <a:srgbClr val="1F2F28"/>
                </a:solidFill>
                <a:latin typeface="Arial"/>
                <a:cs typeface="Arial"/>
              </a:rPr>
              <a:t>· </a:t>
            </a:r>
            <a:r>
              <a:rPr lang="it-IT" sz="1400" b="1">
                <a:solidFill>
                  <a:srgbClr val="1F2F28"/>
                </a:solidFill>
                <a:latin typeface="Arial"/>
                <a:cs typeface="Arial"/>
              </a:rPr>
              <a:t>RGT</a:t>
            </a:r>
            <a:r>
              <a:rPr lang="it-IT" sz="1400" b="1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it-IT" sz="1400" b="1" spc="-25">
                <a:solidFill>
                  <a:srgbClr val="1F2F28"/>
                </a:solidFill>
                <a:latin typeface="Arial"/>
                <a:cs typeface="Arial"/>
              </a:rPr>
              <a:t>872</a:t>
            </a:r>
            <a:endParaRPr lang="it-IT" sz="1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608855" y="4612496"/>
            <a:ext cx="2734310" cy="1015365"/>
            <a:chOff x="8608855" y="4612496"/>
            <a:chExt cx="2734310" cy="101536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5" name="object 35"/>
            <p:cNvSpPr/>
            <p:nvPr/>
          </p:nvSpPr>
          <p:spPr>
            <a:xfrm>
              <a:off x="8613355" y="4616996"/>
              <a:ext cx="2725420" cy="1006475"/>
            </a:xfrm>
            <a:custGeom>
              <a:avLst/>
              <a:gdLst/>
              <a:ahLst/>
              <a:cxnLst/>
              <a:rect l="l" t="t" r="r" b="b"/>
              <a:pathLst>
                <a:path w="2725420" h="1006475">
                  <a:moveTo>
                    <a:pt x="64439" y="0"/>
                  </a:moveTo>
                  <a:lnTo>
                    <a:pt x="25408" y="13364"/>
                  </a:lnTo>
                  <a:lnTo>
                    <a:pt x="2524" y="47520"/>
                  </a:lnTo>
                  <a:lnTo>
                    <a:pt x="0" y="942124"/>
                  </a:lnTo>
                  <a:lnTo>
                    <a:pt x="540" y="950472"/>
                  </a:lnTo>
                  <a:lnTo>
                    <a:pt x="18743" y="987348"/>
                  </a:lnTo>
                  <a:lnTo>
                    <a:pt x="18859" y="987482"/>
                  </a:lnTo>
                  <a:lnTo>
                    <a:pt x="55736" y="1005667"/>
                  </a:lnTo>
                  <a:lnTo>
                    <a:pt x="64084" y="1006208"/>
                  </a:lnTo>
                  <a:lnTo>
                    <a:pt x="2661119" y="1006208"/>
                  </a:lnTo>
                  <a:lnTo>
                    <a:pt x="2700162" y="992843"/>
                  </a:lnTo>
                  <a:lnTo>
                    <a:pt x="2723043" y="958683"/>
                  </a:lnTo>
                  <a:lnTo>
                    <a:pt x="2725204" y="942124"/>
                  </a:lnTo>
                  <a:lnTo>
                    <a:pt x="2725181" y="64084"/>
                  </a:lnTo>
                  <a:lnTo>
                    <a:pt x="2711846" y="25402"/>
                  </a:lnTo>
                  <a:lnTo>
                    <a:pt x="2677683" y="2524"/>
                  </a:lnTo>
                  <a:lnTo>
                    <a:pt x="2661119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13355" y="4616996"/>
              <a:ext cx="2725420" cy="1006475"/>
            </a:xfrm>
            <a:custGeom>
              <a:avLst/>
              <a:gdLst/>
              <a:ahLst/>
              <a:cxnLst/>
              <a:rect l="l" t="t" r="r" b="b"/>
              <a:pathLst>
                <a:path w="2725420" h="1006475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8" y="13364"/>
                  </a:lnTo>
                  <a:lnTo>
                    <a:pt x="64439" y="0"/>
                  </a:lnTo>
                  <a:lnTo>
                    <a:pt x="2661119" y="368"/>
                  </a:lnTo>
                  <a:lnTo>
                    <a:pt x="2700112" y="13570"/>
                  </a:lnTo>
                  <a:lnTo>
                    <a:pt x="2723043" y="47885"/>
                  </a:lnTo>
                  <a:lnTo>
                    <a:pt x="2725204" y="64439"/>
                  </a:lnTo>
                  <a:lnTo>
                    <a:pt x="2725204" y="942124"/>
                  </a:lnTo>
                  <a:lnTo>
                    <a:pt x="2724663" y="950472"/>
                  </a:lnTo>
                  <a:lnTo>
                    <a:pt x="2723043" y="958683"/>
                  </a:lnTo>
                  <a:lnTo>
                    <a:pt x="2700162" y="992843"/>
                  </a:lnTo>
                  <a:lnTo>
                    <a:pt x="2661119" y="1006208"/>
                  </a:lnTo>
                  <a:lnTo>
                    <a:pt x="64084" y="1006208"/>
                  </a:lnTo>
                  <a:lnTo>
                    <a:pt x="25097" y="992993"/>
                  </a:lnTo>
                  <a:lnTo>
                    <a:pt x="2162" y="958683"/>
                  </a:lnTo>
                  <a:lnTo>
                    <a:pt x="0" y="942124"/>
                  </a:lnTo>
                  <a:lnTo>
                    <a:pt x="368" y="64084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13724" y="4617364"/>
              <a:ext cx="82550" cy="1005840"/>
            </a:xfrm>
            <a:custGeom>
              <a:avLst/>
              <a:gdLst/>
              <a:ahLst/>
              <a:cxnLst/>
              <a:rect l="l" t="t" r="r" b="b"/>
              <a:pathLst>
                <a:path w="82550" h="1005839">
                  <a:moveTo>
                    <a:pt x="82080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41033" y="1005471"/>
                  </a:lnTo>
                  <a:lnTo>
                    <a:pt x="82080" y="1005471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847975" y="4775670"/>
            <a:ext cx="2303145" cy="75020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350"/>
              </a:spcBef>
            </a:pP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1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recorridos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orbitales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son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distintos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1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muestra</a:t>
            </a:r>
            <a:r>
              <a:rPr lang="es-MX" sz="11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posterior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es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insuficiente.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aumento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la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mediana</a:t>
            </a:r>
            <a:r>
              <a:rPr lang="es-MX" sz="11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demuestra</a:t>
            </a:r>
            <a:r>
              <a:rPr lang="es-MX" sz="11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10">
                <a:solidFill>
                  <a:srgbClr val="1F2F28"/>
                </a:solidFill>
                <a:latin typeface="Arial"/>
                <a:cs typeface="Arial"/>
              </a:rPr>
              <a:t>ausencia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daño</a:t>
            </a:r>
            <a:r>
              <a:rPr lang="es-MX" sz="11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ni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10">
                <a:solidFill>
                  <a:srgbClr val="1F2F28"/>
                </a:solidFill>
                <a:latin typeface="Arial"/>
                <a:cs typeface="Arial"/>
              </a:rPr>
              <a:t>recuperación.</a:t>
            </a:r>
            <a:endParaRPr lang="es-MX" sz="11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36456" y="5252576"/>
            <a:ext cx="7214870" cy="612775"/>
            <a:chOff x="836456" y="5252576"/>
            <a:chExt cx="7214870" cy="61277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0" name="object 40"/>
            <p:cNvSpPr/>
            <p:nvPr/>
          </p:nvSpPr>
          <p:spPr>
            <a:xfrm>
              <a:off x="840955" y="5257076"/>
              <a:ext cx="7205980" cy="603885"/>
            </a:xfrm>
            <a:custGeom>
              <a:avLst/>
              <a:gdLst/>
              <a:ahLst/>
              <a:cxnLst/>
              <a:rect l="l" t="t" r="r" b="b"/>
              <a:pathLst>
                <a:path w="7205980" h="603885">
                  <a:moveTo>
                    <a:pt x="64439" y="0"/>
                  </a:moveTo>
                  <a:lnTo>
                    <a:pt x="25408" y="13364"/>
                  </a:lnTo>
                  <a:lnTo>
                    <a:pt x="2524" y="47520"/>
                  </a:lnTo>
                  <a:lnTo>
                    <a:pt x="0" y="539648"/>
                  </a:lnTo>
                  <a:lnTo>
                    <a:pt x="540" y="547990"/>
                  </a:lnTo>
                  <a:lnTo>
                    <a:pt x="18739" y="584866"/>
                  </a:lnTo>
                  <a:lnTo>
                    <a:pt x="18859" y="585004"/>
                  </a:lnTo>
                  <a:lnTo>
                    <a:pt x="55736" y="603181"/>
                  </a:lnTo>
                  <a:lnTo>
                    <a:pt x="64084" y="603719"/>
                  </a:lnTo>
                  <a:lnTo>
                    <a:pt x="7141679" y="603719"/>
                  </a:lnTo>
                  <a:lnTo>
                    <a:pt x="7180722" y="590362"/>
                  </a:lnTo>
                  <a:lnTo>
                    <a:pt x="7203603" y="556201"/>
                  </a:lnTo>
                  <a:lnTo>
                    <a:pt x="7205764" y="539648"/>
                  </a:lnTo>
                  <a:lnTo>
                    <a:pt x="7205741" y="64084"/>
                  </a:lnTo>
                  <a:lnTo>
                    <a:pt x="7192406" y="25402"/>
                  </a:lnTo>
                  <a:lnTo>
                    <a:pt x="7158243" y="2524"/>
                  </a:lnTo>
                  <a:lnTo>
                    <a:pt x="7141679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1E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0955" y="5257076"/>
              <a:ext cx="7205980" cy="603885"/>
            </a:xfrm>
            <a:custGeom>
              <a:avLst/>
              <a:gdLst/>
              <a:ahLst/>
              <a:cxnLst/>
              <a:rect l="l" t="t" r="r" b="b"/>
              <a:pathLst>
                <a:path w="7205980" h="603885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8" y="13364"/>
                  </a:lnTo>
                  <a:lnTo>
                    <a:pt x="64439" y="0"/>
                  </a:lnTo>
                  <a:lnTo>
                    <a:pt x="7141679" y="368"/>
                  </a:lnTo>
                  <a:lnTo>
                    <a:pt x="7180672" y="13570"/>
                  </a:lnTo>
                  <a:lnTo>
                    <a:pt x="7203603" y="47885"/>
                  </a:lnTo>
                  <a:lnTo>
                    <a:pt x="7205764" y="64439"/>
                  </a:lnTo>
                  <a:lnTo>
                    <a:pt x="7205764" y="539648"/>
                  </a:lnTo>
                  <a:lnTo>
                    <a:pt x="7205223" y="547990"/>
                  </a:lnTo>
                  <a:lnTo>
                    <a:pt x="7203603" y="556201"/>
                  </a:lnTo>
                  <a:lnTo>
                    <a:pt x="7180722" y="590362"/>
                  </a:lnTo>
                  <a:lnTo>
                    <a:pt x="7141679" y="603719"/>
                  </a:lnTo>
                  <a:lnTo>
                    <a:pt x="64084" y="603719"/>
                  </a:lnTo>
                  <a:lnTo>
                    <a:pt x="25097" y="590517"/>
                  </a:lnTo>
                  <a:lnTo>
                    <a:pt x="2162" y="556201"/>
                  </a:lnTo>
                  <a:lnTo>
                    <a:pt x="0" y="539648"/>
                  </a:lnTo>
                  <a:lnTo>
                    <a:pt x="368" y="64084"/>
                  </a:lnTo>
                  <a:close/>
                </a:path>
              </a:pathLst>
            </a:custGeom>
            <a:ln w="899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1324" y="5257444"/>
              <a:ext cx="82550" cy="603250"/>
            </a:xfrm>
            <a:custGeom>
              <a:avLst/>
              <a:gdLst/>
              <a:ahLst/>
              <a:cxnLst/>
              <a:rect l="l" t="t" r="r" b="b"/>
              <a:pathLst>
                <a:path w="82550" h="603250">
                  <a:moveTo>
                    <a:pt x="82080" y="0"/>
                  </a:moveTo>
                  <a:lnTo>
                    <a:pt x="0" y="0"/>
                  </a:lnTo>
                  <a:lnTo>
                    <a:pt x="0" y="602996"/>
                  </a:lnTo>
                  <a:lnTo>
                    <a:pt x="41033" y="602996"/>
                  </a:lnTo>
                  <a:lnTo>
                    <a:pt x="82080" y="602996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167739" y="5363184"/>
            <a:ext cx="6640195" cy="43180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61594" marR="5080" indent="-49530">
              <a:lnSpc>
                <a:spcPts val="1520"/>
              </a:lnSpc>
              <a:spcBef>
                <a:spcPts val="284"/>
              </a:spcBef>
            </a:pP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imagen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óptica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muestra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un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cambio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amplio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compatible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evento,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pero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la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cicatriz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debe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delimitarse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índices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espectrales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control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estacionalidad.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44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5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6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34/43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Diseño</a:t>
            </a:r>
            <a:r>
              <a:rPr spc="-100"/>
              <a:t> </a:t>
            </a:r>
            <a:r>
              <a:t>correcto</a:t>
            </a:r>
            <a:r>
              <a:rPr spc="-95"/>
              <a:t> </a:t>
            </a:r>
            <a:r>
              <a:t>para</a:t>
            </a:r>
            <a:r>
              <a:rPr spc="-95"/>
              <a:t> </a:t>
            </a:r>
            <a:r>
              <a:t>cuantificar</a:t>
            </a:r>
            <a:r>
              <a:rPr spc="-100"/>
              <a:t> </a:t>
            </a:r>
            <a:r>
              <a:t>pérdida</a:t>
            </a:r>
            <a:r>
              <a:rPr spc="-95"/>
              <a:t> </a:t>
            </a:r>
            <a:r>
              <a:t>estructural</a:t>
            </a:r>
            <a:r>
              <a:rPr spc="-100"/>
              <a:t> </a:t>
            </a:r>
            <a:r>
              <a:t>por</a:t>
            </a:r>
            <a:r>
              <a:rPr spc="-95"/>
              <a:t> </a:t>
            </a:r>
            <a:r>
              <a:rPr spc="-10"/>
              <a:t>incendio</a:t>
            </a:r>
          </a:p>
        </p:txBody>
      </p:sp>
      <p:sp>
        <p:nvSpPr>
          <p:cNvPr id="5" name="object 5"/>
          <p:cNvSpPr/>
          <p:nvPr/>
        </p:nvSpPr>
        <p:spPr>
          <a:xfrm>
            <a:off x="749884" y="1362595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5">
                <a:moveTo>
                  <a:pt x="283311" y="0"/>
                </a:moveTo>
                <a:lnTo>
                  <a:pt x="210010" y="9588"/>
                </a:lnTo>
                <a:lnTo>
                  <a:pt x="141833" y="37807"/>
                </a:lnTo>
                <a:lnTo>
                  <a:pt x="83110" y="82894"/>
                </a:lnTo>
                <a:lnTo>
                  <a:pt x="38150" y="141477"/>
                </a:lnTo>
                <a:lnTo>
                  <a:pt x="9626" y="209972"/>
                </a:lnTo>
                <a:lnTo>
                  <a:pt x="0" y="283324"/>
                </a:lnTo>
                <a:lnTo>
                  <a:pt x="2417" y="320371"/>
                </a:lnTo>
                <a:lnTo>
                  <a:pt x="21559" y="391766"/>
                </a:lnTo>
                <a:lnTo>
                  <a:pt x="58757" y="455947"/>
                </a:lnTo>
                <a:lnTo>
                  <a:pt x="110904" y="508186"/>
                </a:lnTo>
                <a:lnTo>
                  <a:pt x="175026" y="545283"/>
                </a:lnTo>
                <a:lnTo>
                  <a:pt x="246275" y="564534"/>
                </a:lnTo>
                <a:lnTo>
                  <a:pt x="283311" y="567004"/>
                </a:lnTo>
                <a:lnTo>
                  <a:pt x="320560" y="564534"/>
                </a:lnTo>
                <a:lnTo>
                  <a:pt x="391959" y="545283"/>
                </a:lnTo>
                <a:lnTo>
                  <a:pt x="456086" y="508186"/>
                </a:lnTo>
                <a:lnTo>
                  <a:pt x="508234" y="455947"/>
                </a:lnTo>
                <a:lnTo>
                  <a:pt x="545431" y="391766"/>
                </a:lnTo>
                <a:lnTo>
                  <a:pt x="564573" y="320371"/>
                </a:lnTo>
                <a:lnTo>
                  <a:pt x="566991" y="283324"/>
                </a:lnTo>
                <a:lnTo>
                  <a:pt x="564573" y="246276"/>
                </a:lnTo>
                <a:lnTo>
                  <a:pt x="545431" y="174882"/>
                </a:lnTo>
                <a:lnTo>
                  <a:pt x="508234" y="110700"/>
                </a:lnTo>
                <a:lnTo>
                  <a:pt x="456086" y="58462"/>
                </a:lnTo>
                <a:lnTo>
                  <a:pt x="391959" y="21420"/>
                </a:lnTo>
                <a:lnTo>
                  <a:pt x="320560" y="2414"/>
                </a:lnTo>
                <a:lnTo>
                  <a:pt x="283311" y="0"/>
                </a:lnTo>
                <a:close/>
              </a:path>
            </a:pathLst>
          </a:custGeom>
          <a:solidFill>
            <a:srgbClr val="2E6E9D"/>
          </a:solidFill>
        </p:spPr>
        <p:txBody>
          <a:bodyPr wrap="square" lIns="0" tIns="0" rIns="0" bIns="0" rtlCol="0"/>
          <a:lstStyle/>
          <a:p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3897" y="1488503"/>
            <a:ext cx="1600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9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</a:t>
            </a:r>
            <a:endParaRPr lang="es-ES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67620" y="1265944"/>
            <a:ext cx="9912350" cy="768350"/>
            <a:chOff x="1567620" y="1265944"/>
            <a:chExt cx="9912350" cy="7683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" name="object 8"/>
            <p:cNvSpPr/>
            <p:nvPr/>
          </p:nvSpPr>
          <p:spPr>
            <a:xfrm>
              <a:off x="1572120" y="127044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8163" y="0"/>
                  </a:moveTo>
                  <a:lnTo>
                    <a:pt x="6477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721436"/>
                  </a:lnTo>
                  <a:lnTo>
                    <a:pt x="2159" y="729360"/>
                  </a:lnTo>
                  <a:lnTo>
                    <a:pt x="6121" y="736549"/>
                  </a:lnTo>
                  <a:lnTo>
                    <a:pt x="10083" y="743394"/>
                  </a:lnTo>
                  <a:lnTo>
                    <a:pt x="15836" y="749160"/>
                  </a:lnTo>
                  <a:lnTo>
                    <a:pt x="23037" y="753109"/>
                  </a:lnTo>
                  <a:lnTo>
                    <a:pt x="29883" y="757072"/>
                  </a:lnTo>
                  <a:lnTo>
                    <a:pt x="37795" y="759231"/>
                  </a:lnTo>
                  <a:lnTo>
                    <a:pt x="9865436" y="759231"/>
                  </a:lnTo>
                  <a:lnTo>
                    <a:pt x="9897122" y="736193"/>
                  </a:lnTo>
                  <a:lnTo>
                    <a:pt x="9901085" y="729360"/>
                  </a:lnTo>
                  <a:lnTo>
                    <a:pt x="9903244" y="721436"/>
                  </a:lnTo>
                  <a:lnTo>
                    <a:pt x="9903147" y="37795"/>
                  </a:lnTo>
                  <a:lnTo>
                    <a:pt x="9901085" y="30238"/>
                  </a:lnTo>
                  <a:lnTo>
                    <a:pt x="9897122" y="23037"/>
                  </a:lnTo>
                  <a:lnTo>
                    <a:pt x="9893160" y="16192"/>
                  </a:lnTo>
                  <a:lnTo>
                    <a:pt x="9887394" y="10439"/>
                  </a:lnTo>
                  <a:lnTo>
                    <a:pt x="9880193" y="6476"/>
                  </a:lnTo>
                  <a:lnTo>
                    <a:pt x="9873361" y="2514"/>
                  </a:lnTo>
                  <a:lnTo>
                    <a:pt x="9865436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72120" y="127044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55" y="45719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9857524" y="355"/>
                  </a:lnTo>
                  <a:lnTo>
                    <a:pt x="9865436" y="355"/>
                  </a:lnTo>
                  <a:lnTo>
                    <a:pt x="9873361" y="2514"/>
                  </a:lnTo>
                  <a:lnTo>
                    <a:pt x="9880193" y="6476"/>
                  </a:lnTo>
                  <a:lnTo>
                    <a:pt x="9887394" y="10439"/>
                  </a:lnTo>
                  <a:lnTo>
                    <a:pt x="9893160" y="16192"/>
                  </a:lnTo>
                  <a:lnTo>
                    <a:pt x="9897122" y="23037"/>
                  </a:lnTo>
                  <a:lnTo>
                    <a:pt x="9901085" y="30238"/>
                  </a:lnTo>
                  <a:lnTo>
                    <a:pt x="9903244" y="38150"/>
                  </a:lnTo>
                  <a:lnTo>
                    <a:pt x="9903244" y="46075"/>
                  </a:lnTo>
                  <a:lnTo>
                    <a:pt x="9903244" y="713511"/>
                  </a:lnTo>
                  <a:lnTo>
                    <a:pt x="9903244" y="721436"/>
                  </a:lnTo>
                  <a:lnTo>
                    <a:pt x="9901085" y="729360"/>
                  </a:lnTo>
                  <a:lnTo>
                    <a:pt x="9897122" y="736193"/>
                  </a:lnTo>
                  <a:lnTo>
                    <a:pt x="9893160" y="743394"/>
                  </a:lnTo>
                  <a:lnTo>
                    <a:pt x="9887394" y="749160"/>
                  </a:lnTo>
                  <a:lnTo>
                    <a:pt x="9880561" y="753109"/>
                  </a:lnTo>
                  <a:lnTo>
                    <a:pt x="9873361" y="757072"/>
                  </a:lnTo>
                  <a:lnTo>
                    <a:pt x="9865436" y="759231"/>
                  </a:lnTo>
                  <a:lnTo>
                    <a:pt x="9857524" y="759231"/>
                  </a:lnTo>
                  <a:lnTo>
                    <a:pt x="45719" y="759231"/>
                  </a:lnTo>
                  <a:lnTo>
                    <a:pt x="37795" y="759231"/>
                  </a:lnTo>
                  <a:lnTo>
                    <a:pt x="29883" y="757072"/>
                  </a:lnTo>
                  <a:lnTo>
                    <a:pt x="23037" y="753109"/>
                  </a:lnTo>
                  <a:lnTo>
                    <a:pt x="15836" y="749160"/>
                  </a:lnTo>
                  <a:lnTo>
                    <a:pt x="10083" y="743394"/>
                  </a:lnTo>
                  <a:lnTo>
                    <a:pt x="6121" y="736549"/>
                  </a:lnTo>
                  <a:lnTo>
                    <a:pt x="2159" y="729360"/>
                  </a:lnTo>
                  <a:lnTo>
                    <a:pt x="0" y="721436"/>
                  </a:lnTo>
                  <a:lnTo>
                    <a:pt x="0" y="713511"/>
                  </a:lnTo>
                  <a:lnTo>
                    <a:pt x="355" y="45719"/>
                  </a:lnTo>
                  <a:close/>
                </a:path>
              </a:pathLst>
            </a:custGeom>
            <a:ln w="8999">
              <a:solidFill>
                <a:srgbClr val="2E6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6100" y="1361058"/>
            <a:ext cx="1697989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650" b="1">
                <a:solidFill>
                  <a:srgbClr val="2E6E9D"/>
                </a:solidFill>
                <a:latin typeface="Arial"/>
                <a:cs typeface="Arial"/>
              </a:rPr>
              <a:t>Delimitar</a:t>
            </a:r>
            <a:r>
              <a:rPr lang="es-ES" sz="1650" b="1" spc="-85">
                <a:solidFill>
                  <a:srgbClr val="2E6E9D"/>
                </a:solidFill>
                <a:latin typeface="Arial"/>
                <a:cs typeface="Arial"/>
              </a:rPr>
              <a:t> </a:t>
            </a:r>
            <a:r>
              <a:rPr lang="es-ES" sz="1650" b="1" spc="-10">
                <a:solidFill>
                  <a:srgbClr val="2E6E9D"/>
                </a:solidFill>
                <a:latin typeface="Arial"/>
                <a:cs typeface="Arial"/>
              </a:rPr>
              <a:t>cicatriz</a:t>
            </a:r>
            <a:endParaRPr lang="es-ES" sz="1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91864" y="1350263"/>
            <a:ext cx="6891655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Calcular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dNBR/RdNBR con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 Sentinel-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2</a:t>
            </a:r>
            <a:r>
              <a:rPr lang="es-MX" sz="145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controlar</a:t>
            </a:r>
            <a:r>
              <a:rPr lang="es-MX" sz="145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estacionalidad,</a:t>
            </a:r>
            <a:r>
              <a:rPr lang="es-MX" sz="145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nubes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5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sombras.</a:t>
            </a:r>
            <a:endParaRPr lang="es-MX" sz="14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95756" y="1928696"/>
            <a:ext cx="76200" cy="302260"/>
            <a:chOff x="995756" y="1928696"/>
            <a:chExt cx="76200" cy="302260"/>
          </a:xfrm>
        </p:grpSpPr>
        <p:sp>
          <p:nvSpPr>
            <p:cNvPr id="13" name="object 13"/>
            <p:cNvSpPr/>
            <p:nvPr/>
          </p:nvSpPr>
          <p:spPr>
            <a:xfrm>
              <a:off x="1033195" y="1938235"/>
              <a:ext cx="635" cy="222250"/>
            </a:xfrm>
            <a:custGeom>
              <a:avLst/>
              <a:gdLst/>
              <a:ahLst/>
              <a:cxnLst/>
              <a:rect l="l" t="t" r="r" b="b"/>
              <a:pathLst>
                <a:path w="634" h="222250">
                  <a:moveTo>
                    <a:pt x="0" y="0"/>
                  </a:moveTo>
                  <a:lnTo>
                    <a:pt x="368" y="222123"/>
                  </a:lnTo>
                </a:path>
              </a:pathLst>
            </a:custGeom>
            <a:ln w="19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95756" y="21553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5" name="object 15"/>
          <p:cNvSpPr/>
          <p:nvPr/>
        </p:nvSpPr>
        <p:spPr>
          <a:xfrm>
            <a:off x="749884" y="2322715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5">
                <a:moveTo>
                  <a:pt x="283311" y="0"/>
                </a:moveTo>
                <a:lnTo>
                  <a:pt x="210010" y="9588"/>
                </a:lnTo>
                <a:lnTo>
                  <a:pt x="141833" y="37807"/>
                </a:lnTo>
                <a:lnTo>
                  <a:pt x="83110" y="82894"/>
                </a:lnTo>
                <a:lnTo>
                  <a:pt x="38150" y="141477"/>
                </a:lnTo>
                <a:lnTo>
                  <a:pt x="9626" y="209972"/>
                </a:lnTo>
                <a:lnTo>
                  <a:pt x="0" y="283324"/>
                </a:lnTo>
                <a:lnTo>
                  <a:pt x="2417" y="320371"/>
                </a:lnTo>
                <a:lnTo>
                  <a:pt x="21559" y="391766"/>
                </a:lnTo>
                <a:lnTo>
                  <a:pt x="58757" y="455947"/>
                </a:lnTo>
                <a:lnTo>
                  <a:pt x="110904" y="508186"/>
                </a:lnTo>
                <a:lnTo>
                  <a:pt x="175026" y="545283"/>
                </a:lnTo>
                <a:lnTo>
                  <a:pt x="246275" y="564534"/>
                </a:lnTo>
                <a:lnTo>
                  <a:pt x="283311" y="567004"/>
                </a:lnTo>
                <a:lnTo>
                  <a:pt x="320560" y="564534"/>
                </a:lnTo>
                <a:lnTo>
                  <a:pt x="391959" y="545283"/>
                </a:lnTo>
                <a:lnTo>
                  <a:pt x="456086" y="508186"/>
                </a:lnTo>
                <a:lnTo>
                  <a:pt x="508234" y="455947"/>
                </a:lnTo>
                <a:lnTo>
                  <a:pt x="545431" y="391766"/>
                </a:lnTo>
                <a:lnTo>
                  <a:pt x="564573" y="320371"/>
                </a:lnTo>
                <a:lnTo>
                  <a:pt x="566991" y="283324"/>
                </a:lnTo>
                <a:lnTo>
                  <a:pt x="564573" y="246276"/>
                </a:lnTo>
                <a:lnTo>
                  <a:pt x="545431" y="174882"/>
                </a:lnTo>
                <a:lnTo>
                  <a:pt x="508234" y="110700"/>
                </a:lnTo>
                <a:lnTo>
                  <a:pt x="456086" y="58462"/>
                </a:lnTo>
                <a:lnTo>
                  <a:pt x="391959" y="21420"/>
                </a:lnTo>
                <a:lnTo>
                  <a:pt x="320560" y="2414"/>
                </a:lnTo>
                <a:lnTo>
                  <a:pt x="283311" y="0"/>
                </a:lnTo>
                <a:close/>
              </a:path>
            </a:pathLst>
          </a:custGeom>
          <a:solidFill>
            <a:srgbClr val="296D6F"/>
          </a:solidFill>
        </p:spPr>
        <p:txBody>
          <a:bodyPr wrap="square" lIns="0" tIns="0" rIns="0" bIns="0" rtlCol="0"/>
          <a:lstStyle/>
          <a:p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3897" y="2448623"/>
            <a:ext cx="1600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9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2</a:t>
            </a:r>
            <a:endParaRPr lang="es-ES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67620" y="2226064"/>
            <a:ext cx="9912350" cy="768350"/>
            <a:chOff x="1567620" y="2226064"/>
            <a:chExt cx="9912350" cy="7683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8" name="object 18"/>
            <p:cNvSpPr/>
            <p:nvPr/>
          </p:nvSpPr>
          <p:spPr>
            <a:xfrm>
              <a:off x="1572120" y="223056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8163" y="0"/>
                  </a:moveTo>
                  <a:lnTo>
                    <a:pt x="6477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721436"/>
                  </a:lnTo>
                  <a:lnTo>
                    <a:pt x="2159" y="729361"/>
                  </a:lnTo>
                  <a:lnTo>
                    <a:pt x="6121" y="736549"/>
                  </a:lnTo>
                  <a:lnTo>
                    <a:pt x="10083" y="743394"/>
                  </a:lnTo>
                  <a:lnTo>
                    <a:pt x="15836" y="749160"/>
                  </a:lnTo>
                  <a:lnTo>
                    <a:pt x="23037" y="753110"/>
                  </a:lnTo>
                  <a:lnTo>
                    <a:pt x="29883" y="757072"/>
                  </a:lnTo>
                  <a:lnTo>
                    <a:pt x="37795" y="759231"/>
                  </a:lnTo>
                  <a:lnTo>
                    <a:pt x="9865436" y="759231"/>
                  </a:lnTo>
                  <a:lnTo>
                    <a:pt x="9897122" y="736193"/>
                  </a:lnTo>
                  <a:lnTo>
                    <a:pt x="9901085" y="729361"/>
                  </a:lnTo>
                  <a:lnTo>
                    <a:pt x="9903244" y="721436"/>
                  </a:lnTo>
                  <a:lnTo>
                    <a:pt x="9903147" y="37795"/>
                  </a:lnTo>
                  <a:lnTo>
                    <a:pt x="9901085" y="30238"/>
                  </a:lnTo>
                  <a:lnTo>
                    <a:pt x="9897122" y="23037"/>
                  </a:lnTo>
                  <a:lnTo>
                    <a:pt x="9893160" y="16192"/>
                  </a:lnTo>
                  <a:lnTo>
                    <a:pt x="9887394" y="10439"/>
                  </a:lnTo>
                  <a:lnTo>
                    <a:pt x="9880193" y="6476"/>
                  </a:lnTo>
                  <a:lnTo>
                    <a:pt x="9873361" y="2514"/>
                  </a:lnTo>
                  <a:lnTo>
                    <a:pt x="9865436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72120" y="223056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55" y="45720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9857524" y="355"/>
                  </a:lnTo>
                  <a:lnTo>
                    <a:pt x="9865436" y="355"/>
                  </a:lnTo>
                  <a:lnTo>
                    <a:pt x="9873361" y="2514"/>
                  </a:lnTo>
                  <a:lnTo>
                    <a:pt x="9880193" y="6476"/>
                  </a:lnTo>
                  <a:lnTo>
                    <a:pt x="9887394" y="10439"/>
                  </a:lnTo>
                  <a:lnTo>
                    <a:pt x="9893160" y="16192"/>
                  </a:lnTo>
                  <a:lnTo>
                    <a:pt x="9897122" y="23037"/>
                  </a:lnTo>
                  <a:lnTo>
                    <a:pt x="9901085" y="30238"/>
                  </a:lnTo>
                  <a:lnTo>
                    <a:pt x="9903244" y="38150"/>
                  </a:lnTo>
                  <a:lnTo>
                    <a:pt x="9903244" y="46075"/>
                  </a:lnTo>
                  <a:lnTo>
                    <a:pt x="9903244" y="713511"/>
                  </a:lnTo>
                  <a:lnTo>
                    <a:pt x="9903244" y="721436"/>
                  </a:lnTo>
                  <a:lnTo>
                    <a:pt x="9901085" y="729361"/>
                  </a:lnTo>
                  <a:lnTo>
                    <a:pt x="9897122" y="736193"/>
                  </a:lnTo>
                  <a:lnTo>
                    <a:pt x="9893160" y="743394"/>
                  </a:lnTo>
                  <a:lnTo>
                    <a:pt x="9887394" y="749160"/>
                  </a:lnTo>
                  <a:lnTo>
                    <a:pt x="9880561" y="753110"/>
                  </a:lnTo>
                  <a:lnTo>
                    <a:pt x="9873361" y="757072"/>
                  </a:lnTo>
                  <a:lnTo>
                    <a:pt x="9865436" y="759231"/>
                  </a:lnTo>
                  <a:lnTo>
                    <a:pt x="9857524" y="759231"/>
                  </a:lnTo>
                  <a:lnTo>
                    <a:pt x="45719" y="759231"/>
                  </a:lnTo>
                  <a:lnTo>
                    <a:pt x="37795" y="759231"/>
                  </a:lnTo>
                  <a:lnTo>
                    <a:pt x="29883" y="757072"/>
                  </a:lnTo>
                  <a:lnTo>
                    <a:pt x="23037" y="753110"/>
                  </a:lnTo>
                  <a:lnTo>
                    <a:pt x="15836" y="749160"/>
                  </a:lnTo>
                  <a:lnTo>
                    <a:pt x="10083" y="743394"/>
                  </a:lnTo>
                  <a:lnTo>
                    <a:pt x="6121" y="736549"/>
                  </a:lnTo>
                  <a:lnTo>
                    <a:pt x="2159" y="729361"/>
                  </a:lnTo>
                  <a:lnTo>
                    <a:pt x="0" y="721436"/>
                  </a:lnTo>
                  <a:lnTo>
                    <a:pt x="0" y="713511"/>
                  </a:lnTo>
                  <a:lnTo>
                    <a:pt x="355" y="45720"/>
                  </a:lnTo>
                  <a:close/>
                </a:path>
              </a:pathLst>
            </a:custGeom>
            <a:ln w="899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16100" y="2351062"/>
            <a:ext cx="19246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296D6F"/>
                </a:solidFill>
                <a:latin typeface="Arial"/>
                <a:cs typeface="Arial"/>
              </a:rPr>
              <a:t>Intersectar</a:t>
            </a:r>
            <a:r>
              <a:rPr lang="es-ES" sz="1400" b="1" spc="-40">
                <a:solidFill>
                  <a:srgbClr val="296D6F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296D6F"/>
                </a:solidFill>
                <a:latin typeface="Arial"/>
                <a:cs typeface="Arial"/>
              </a:rPr>
              <a:t>segmentos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91864" y="2310383"/>
            <a:ext cx="6776720" cy="449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Asignar</a:t>
            </a:r>
            <a:r>
              <a:rPr lang="es-ES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cada</a:t>
            </a:r>
            <a:r>
              <a:rPr lang="es-ES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segmento</a:t>
            </a:r>
            <a:r>
              <a:rPr lang="es-ES" sz="1450" spc="-10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spc="-10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s-ES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ES" sz="14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quemado,</a:t>
            </a:r>
            <a:r>
              <a:rPr lang="es-ES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borde,</a:t>
            </a:r>
            <a:r>
              <a:rPr lang="es-ES" sz="14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control</a:t>
            </a:r>
            <a:r>
              <a:rPr lang="es-ES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ES" sz="14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quemado</a:t>
            </a:r>
            <a:r>
              <a:rPr lang="es-ES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o</a:t>
            </a:r>
            <a:r>
              <a:rPr lang="es-ES" sz="145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>
                <a:solidFill>
                  <a:srgbClr val="1F2F28"/>
                </a:solidFill>
                <a:latin typeface="Arial"/>
                <a:cs typeface="Arial"/>
              </a:rPr>
              <a:t>fuera</a:t>
            </a:r>
            <a:r>
              <a:rPr lang="es-ES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450" spc="-25">
                <a:solidFill>
                  <a:srgbClr val="1F2F28"/>
                </a:solidFill>
                <a:latin typeface="Arial"/>
                <a:cs typeface="Arial"/>
              </a:rPr>
              <a:t>del </a:t>
            </a:r>
            <a:r>
              <a:rPr lang="es-ES" sz="1450" spc="-10">
                <a:solidFill>
                  <a:srgbClr val="1F2F28"/>
                </a:solidFill>
                <a:latin typeface="Arial"/>
                <a:cs typeface="Arial"/>
              </a:rPr>
              <a:t>evento.</a:t>
            </a:r>
            <a:endParaRPr lang="es-ES" sz="14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95756" y="2888816"/>
            <a:ext cx="76200" cy="302260"/>
            <a:chOff x="995756" y="2888816"/>
            <a:chExt cx="76200" cy="302260"/>
          </a:xfrm>
        </p:grpSpPr>
        <p:sp>
          <p:nvSpPr>
            <p:cNvPr id="23" name="object 23"/>
            <p:cNvSpPr/>
            <p:nvPr/>
          </p:nvSpPr>
          <p:spPr>
            <a:xfrm>
              <a:off x="1033195" y="2898355"/>
              <a:ext cx="635" cy="222250"/>
            </a:xfrm>
            <a:custGeom>
              <a:avLst/>
              <a:gdLst/>
              <a:ahLst/>
              <a:cxnLst/>
              <a:rect l="l" t="t" r="r" b="b"/>
              <a:pathLst>
                <a:path w="634" h="222250">
                  <a:moveTo>
                    <a:pt x="0" y="0"/>
                  </a:moveTo>
                  <a:lnTo>
                    <a:pt x="368" y="222123"/>
                  </a:lnTo>
                </a:path>
              </a:pathLst>
            </a:custGeom>
            <a:ln w="19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995756" y="311543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5" name="object 25"/>
          <p:cNvSpPr/>
          <p:nvPr/>
        </p:nvSpPr>
        <p:spPr>
          <a:xfrm>
            <a:off x="749884" y="3282835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4">
                <a:moveTo>
                  <a:pt x="283311" y="0"/>
                </a:moveTo>
                <a:lnTo>
                  <a:pt x="210010" y="9588"/>
                </a:lnTo>
                <a:lnTo>
                  <a:pt x="141833" y="37807"/>
                </a:lnTo>
                <a:lnTo>
                  <a:pt x="83110" y="82894"/>
                </a:lnTo>
                <a:lnTo>
                  <a:pt x="38150" y="141477"/>
                </a:lnTo>
                <a:lnTo>
                  <a:pt x="9626" y="209972"/>
                </a:lnTo>
                <a:lnTo>
                  <a:pt x="0" y="283324"/>
                </a:lnTo>
                <a:lnTo>
                  <a:pt x="2417" y="320371"/>
                </a:lnTo>
                <a:lnTo>
                  <a:pt x="21559" y="391766"/>
                </a:lnTo>
                <a:lnTo>
                  <a:pt x="58757" y="455947"/>
                </a:lnTo>
                <a:lnTo>
                  <a:pt x="110904" y="508186"/>
                </a:lnTo>
                <a:lnTo>
                  <a:pt x="175026" y="545283"/>
                </a:lnTo>
                <a:lnTo>
                  <a:pt x="246275" y="564534"/>
                </a:lnTo>
                <a:lnTo>
                  <a:pt x="283311" y="567004"/>
                </a:lnTo>
                <a:lnTo>
                  <a:pt x="320560" y="564534"/>
                </a:lnTo>
                <a:lnTo>
                  <a:pt x="391959" y="545283"/>
                </a:lnTo>
                <a:lnTo>
                  <a:pt x="456086" y="508186"/>
                </a:lnTo>
                <a:lnTo>
                  <a:pt x="508234" y="455947"/>
                </a:lnTo>
                <a:lnTo>
                  <a:pt x="545431" y="391766"/>
                </a:lnTo>
                <a:lnTo>
                  <a:pt x="564573" y="320371"/>
                </a:lnTo>
                <a:lnTo>
                  <a:pt x="566991" y="283324"/>
                </a:lnTo>
                <a:lnTo>
                  <a:pt x="564573" y="246276"/>
                </a:lnTo>
                <a:lnTo>
                  <a:pt x="545431" y="174882"/>
                </a:lnTo>
                <a:lnTo>
                  <a:pt x="508234" y="110700"/>
                </a:lnTo>
                <a:lnTo>
                  <a:pt x="456086" y="58462"/>
                </a:lnTo>
                <a:lnTo>
                  <a:pt x="391959" y="21420"/>
                </a:lnTo>
                <a:lnTo>
                  <a:pt x="320560" y="2414"/>
                </a:lnTo>
                <a:lnTo>
                  <a:pt x="283311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53897" y="3408743"/>
            <a:ext cx="1600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9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3</a:t>
            </a:r>
            <a:endParaRPr lang="es-ES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567620" y="3186184"/>
            <a:ext cx="9912350" cy="768350"/>
            <a:chOff x="1567620" y="3186184"/>
            <a:chExt cx="9912350" cy="7683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8" name="object 28"/>
            <p:cNvSpPr/>
            <p:nvPr/>
          </p:nvSpPr>
          <p:spPr>
            <a:xfrm>
              <a:off x="1572120" y="319068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8163" y="0"/>
                  </a:moveTo>
                  <a:lnTo>
                    <a:pt x="6477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721436"/>
                  </a:lnTo>
                  <a:lnTo>
                    <a:pt x="2159" y="729360"/>
                  </a:lnTo>
                  <a:lnTo>
                    <a:pt x="6121" y="736549"/>
                  </a:lnTo>
                  <a:lnTo>
                    <a:pt x="10083" y="743394"/>
                  </a:lnTo>
                  <a:lnTo>
                    <a:pt x="15836" y="749160"/>
                  </a:lnTo>
                  <a:lnTo>
                    <a:pt x="23037" y="753109"/>
                  </a:lnTo>
                  <a:lnTo>
                    <a:pt x="29883" y="757072"/>
                  </a:lnTo>
                  <a:lnTo>
                    <a:pt x="37795" y="759231"/>
                  </a:lnTo>
                  <a:lnTo>
                    <a:pt x="9865436" y="759231"/>
                  </a:lnTo>
                  <a:lnTo>
                    <a:pt x="9897122" y="736193"/>
                  </a:lnTo>
                  <a:lnTo>
                    <a:pt x="9901085" y="729360"/>
                  </a:lnTo>
                  <a:lnTo>
                    <a:pt x="9903244" y="721436"/>
                  </a:lnTo>
                  <a:lnTo>
                    <a:pt x="9903147" y="37795"/>
                  </a:lnTo>
                  <a:lnTo>
                    <a:pt x="9901085" y="30238"/>
                  </a:lnTo>
                  <a:lnTo>
                    <a:pt x="9897122" y="23037"/>
                  </a:lnTo>
                  <a:lnTo>
                    <a:pt x="9893160" y="16192"/>
                  </a:lnTo>
                  <a:lnTo>
                    <a:pt x="9887394" y="10439"/>
                  </a:lnTo>
                  <a:lnTo>
                    <a:pt x="9880193" y="6476"/>
                  </a:lnTo>
                  <a:lnTo>
                    <a:pt x="9873361" y="2514"/>
                  </a:lnTo>
                  <a:lnTo>
                    <a:pt x="9865436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72120" y="319068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55" y="45719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9857524" y="355"/>
                  </a:lnTo>
                  <a:lnTo>
                    <a:pt x="9865436" y="355"/>
                  </a:lnTo>
                  <a:lnTo>
                    <a:pt x="9873361" y="2514"/>
                  </a:lnTo>
                  <a:lnTo>
                    <a:pt x="9880193" y="6476"/>
                  </a:lnTo>
                  <a:lnTo>
                    <a:pt x="9887394" y="10439"/>
                  </a:lnTo>
                  <a:lnTo>
                    <a:pt x="9893160" y="16192"/>
                  </a:lnTo>
                  <a:lnTo>
                    <a:pt x="9897122" y="23037"/>
                  </a:lnTo>
                  <a:lnTo>
                    <a:pt x="9901085" y="30238"/>
                  </a:lnTo>
                  <a:lnTo>
                    <a:pt x="9903244" y="38150"/>
                  </a:lnTo>
                  <a:lnTo>
                    <a:pt x="9903244" y="46075"/>
                  </a:lnTo>
                  <a:lnTo>
                    <a:pt x="9903244" y="713511"/>
                  </a:lnTo>
                  <a:lnTo>
                    <a:pt x="9903244" y="721436"/>
                  </a:lnTo>
                  <a:lnTo>
                    <a:pt x="9901085" y="729360"/>
                  </a:lnTo>
                  <a:lnTo>
                    <a:pt x="9897122" y="736193"/>
                  </a:lnTo>
                  <a:lnTo>
                    <a:pt x="9893160" y="743394"/>
                  </a:lnTo>
                  <a:lnTo>
                    <a:pt x="9887394" y="749160"/>
                  </a:lnTo>
                  <a:lnTo>
                    <a:pt x="9880561" y="753109"/>
                  </a:lnTo>
                  <a:lnTo>
                    <a:pt x="9873361" y="757072"/>
                  </a:lnTo>
                  <a:lnTo>
                    <a:pt x="9865436" y="759231"/>
                  </a:lnTo>
                  <a:lnTo>
                    <a:pt x="9857524" y="759231"/>
                  </a:lnTo>
                  <a:lnTo>
                    <a:pt x="45719" y="759231"/>
                  </a:lnTo>
                  <a:lnTo>
                    <a:pt x="37795" y="759231"/>
                  </a:lnTo>
                  <a:lnTo>
                    <a:pt x="29883" y="757072"/>
                  </a:lnTo>
                  <a:lnTo>
                    <a:pt x="23037" y="753109"/>
                  </a:lnTo>
                  <a:lnTo>
                    <a:pt x="15836" y="749160"/>
                  </a:lnTo>
                  <a:lnTo>
                    <a:pt x="10083" y="743394"/>
                  </a:lnTo>
                  <a:lnTo>
                    <a:pt x="6121" y="736549"/>
                  </a:lnTo>
                  <a:lnTo>
                    <a:pt x="2159" y="729360"/>
                  </a:lnTo>
                  <a:lnTo>
                    <a:pt x="0" y="721436"/>
                  </a:lnTo>
                  <a:lnTo>
                    <a:pt x="0" y="713511"/>
                  </a:lnTo>
                  <a:lnTo>
                    <a:pt x="355" y="45719"/>
                  </a:lnTo>
                  <a:close/>
                </a:path>
              </a:pathLst>
            </a:custGeom>
            <a:ln w="89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816100" y="3328098"/>
            <a:ext cx="185991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 b="1">
                <a:solidFill>
                  <a:srgbClr val="1D4938"/>
                </a:solidFill>
                <a:latin typeface="Arial"/>
                <a:cs typeface="Arial"/>
              </a:rPr>
              <a:t>Asegurar</a:t>
            </a:r>
            <a:r>
              <a:rPr lang="es-ES" sz="1200" b="1" spc="-5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200" b="1" spc="-10">
                <a:solidFill>
                  <a:srgbClr val="1D4938"/>
                </a:solidFill>
                <a:latin typeface="Arial"/>
                <a:cs typeface="Arial"/>
              </a:rPr>
              <a:t>comparabilidad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91864" y="3270504"/>
            <a:ext cx="6521450" cy="449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Cotejar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RGT,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haz,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fecha,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geometría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distancia;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priorizar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huellas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coincidentes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50">
                <a:solidFill>
                  <a:srgbClr val="1F2F28"/>
                </a:solidFill>
                <a:latin typeface="Arial"/>
                <a:cs typeface="Arial"/>
              </a:rPr>
              <a:t>o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equivalentes.</a:t>
            </a:r>
            <a:endParaRPr lang="es-MX" sz="14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95756" y="3848935"/>
            <a:ext cx="76200" cy="302260"/>
            <a:chOff x="995756" y="3848935"/>
            <a:chExt cx="76200" cy="302260"/>
          </a:xfrm>
        </p:grpSpPr>
        <p:sp>
          <p:nvSpPr>
            <p:cNvPr id="33" name="object 33"/>
            <p:cNvSpPr/>
            <p:nvPr/>
          </p:nvSpPr>
          <p:spPr>
            <a:xfrm>
              <a:off x="1033195" y="3858475"/>
              <a:ext cx="635" cy="222250"/>
            </a:xfrm>
            <a:custGeom>
              <a:avLst/>
              <a:gdLst/>
              <a:ahLst/>
              <a:cxnLst/>
              <a:rect l="l" t="t" r="r" b="b"/>
              <a:pathLst>
                <a:path w="634" h="222250">
                  <a:moveTo>
                    <a:pt x="0" y="0"/>
                  </a:moveTo>
                  <a:lnTo>
                    <a:pt x="368" y="222122"/>
                  </a:lnTo>
                </a:path>
              </a:pathLst>
            </a:custGeom>
            <a:ln w="19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995756" y="40755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5" name="object 35"/>
          <p:cNvSpPr/>
          <p:nvPr/>
        </p:nvSpPr>
        <p:spPr>
          <a:xfrm>
            <a:off x="749884" y="4242955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4">
                <a:moveTo>
                  <a:pt x="283311" y="0"/>
                </a:moveTo>
                <a:lnTo>
                  <a:pt x="210010" y="9588"/>
                </a:lnTo>
                <a:lnTo>
                  <a:pt x="141833" y="37807"/>
                </a:lnTo>
                <a:lnTo>
                  <a:pt x="83110" y="82894"/>
                </a:lnTo>
                <a:lnTo>
                  <a:pt x="38150" y="141477"/>
                </a:lnTo>
                <a:lnTo>
                  <a:pt x="9626" y="209972"/>
                </a:lnTo>
                <a:lnTo>
                  <a:pt x="0" y="283324"/>
                </a:lnTo>
                <a:lnTo>
                  <a:pt x="2417" y="320371"/>
                </a:lnTo>
                <a:lnTo>
                  <a:pt x="21559" y="391766"/>
                </a:lnTo>
                <a:lnTo>
                  <a:pt x="58757" y="455947"/>
                </a:lnTo>
                <a:lnTo>
                  <a:pt x="110904" y="508186"/>
                </a:lnTo>
                <a:lnTo>
                  <a:pt x="175026" y="545228"/>
                </a:lnTo>
                <a:lnTo>
                  <a:pt x="246275" y="564234"/>
                </a:lnTo>
                <a:lnTo>
                  <a:pt x="283311" y="566648"/>
                </a:lnTo>
                <a:lnTo>
                  <a:pt x="320560" y="564234"/>
                </a:lnTo>
                <a:lnTo>
                  <a:pt x="391959" y="545228"/>
                </a:lnTo>
                <a:lnTo>
                  <a:pt x="456086" y="508186"/>
                </a:lnTo>
                <a:lnTo>
                  <a:pt x="508234" y="455947"/>
                </a:lnTo>
                <a:lnTo>
                  <a:pt x="545431" y="391766"/>
                </a:lnTo>
                <a:lnTo>
                  <a:pt x="564573" y="320371"/>
                </a:lnTo>
                <a:lnTo>
                  <a:pt x="566991" y="283324"/>
                </a:lnTo>
                <a:lnTo>
                  <a:pt x="564573" y="246276"/>
                </a:lnTo>
                <a:lnTo>
                  <a:pt x="545431" y="174882"/>
                </a:lnTo>
                <a:lnTo>
                  <a:pt x="508234" y="110700"/>
                </a:lnTo>
                <a:lnTo>
                  <a:pt x="456086" y="58462"/>
                </a:lnTo>
                <a:lnTo>
                  <a:pt x="391959" y="21420"/>
                </a:lnTo>
                <a:lnTo>
                  <a:pt x="320560" y="2414"/>
                </a:lnTo>
                <a:lnTo>
                  <a:pt x="283311" y="0"/>
                </a:lnTo>
                <a:close/>
              </a:path>
            </a:pathLst>
          </a:custGeom>
          <a:solidFill>
            <a:srgbClr val="C3862D"/>
          </a:solidFill>
        </p:spPr>
        <p:txBody>
          <a:bodyPr wrap="square" lIns="0" tIns="0" rIns="0" bIns="0" rtlCol="0"/>
          <a:lstStyle/>
          <a:p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3897" y="4368863"/>
            <a:ext cx="1600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9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4</a:t>
            </a:r>
            <a:endParaRPr lang="es-ES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567620" y="4146304"/>
            <a:ext cx="9912350" cy="768350"/>
            <a:chOff x="1567620" y="4146304"/>
            <a:chExt cx="9912350" cy="7683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8" name="object 38"/>
            <p:cNvSpPr/>
            <p:nvPr/>
          </p:nvSpPr>
          <p:spPr>
            <a:xfrm>
              <a:off x="1572120" y="415080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8163" y="0"/>
                  </a:moveTo>
                  <a:lnTo>
                    <a:pt x="6477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721436"/>
                  </a:lnTo>
                  <a:lnTo>
                    <a:pt x="2159" y="729360"/>
                  </a:lnTo>
                  <a:lnTo>
                    <a:pt x="6121" y="736549"/>
                  </a:lnTo>
                  <a:lnTo>
                    <a:pt x="10083" y="743394"/>
                  </a:lnTo>
                  <a:lnTo>
                    <a:pt x="15836" y="749160"/>
                  </a:lnTo>
                  <a:lnTo>
                    <a:pt x="23037" y="753109"/>
                  </a:lnTo>
                  <a:lnTo>
                    <a:pt x="29883" y="757072"/>
                  </a:lnTo>
                  <a:lnTo>
                    <a:pt x="37795" y="759231"/>
                  </a:lnTo>
                  <a:lnTo>
                    <a:pt x="9865436" y="759231"/>
                  </a:lnTo>
                  <a:lnTo>
                    <a:pt x="9897122" y="736193"/>
                  </a:lnTo>
                  <a:lnTo>
                    <a:pt x="9901085" y="729360"/>
                  </a:lnTo>
                  <a:lnTo>
                    <a:pt x="9903244" y="721436"/>
                  </a:lnTo>
                  <a:lnTo>
                    <a:pt x="9903147" y="37795"/>
                  </a:lnTo>
                  <a:lnTo>
                    <a:pt x="9901085" y="30238"/>
                  </a:lnTo>
                  <a:lnTo>
                    <a:pt x="9897122" y="23037"/>
                  </a:lnTo>
                  <a:lnTo>
                    <a:pt x="9893160" y="16192"/>
                  </a:lnTo>
                  <a:lnTo>
                    <a:pt x="9887394" y="10439"/>
                  </a:lnTo>
                  <a:lnTo>
                    <a:pt x="9880193" y="6476"/>
                  </a:lnTo>
                  <a:lnTo>
                    <a:pt x="9873361" y="2514"/>
                  </a:lnTo>
                  <a:lnTo>
                    <a:pt x="9865436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72120" y="415080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55" y="45719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9857524" y="355"/>
                  </a:lnTo>
                  <a:lnTo>
                    <a:pt x="9865436" y="355"/>
                  </a:lnTo>
                  <a:lnTo>
                    <a:pt x="9873361" y="2514"/>
                  </a:lnTo>
                  <a:lnTo>
                    <a:pt x="9880193" y="6476"/>
                  </a:lnTo>
                  <a:lnTo>
                    <a:pt x="9887394" y="10439"/>
                  </a:lnTo>
                  <a:lnTo>
                    <a:pt x="9893160" y="16192"/>
                  </a:lnTo>
                  <a:lnTo>
                    <a:pt x="9897122" y="23037"/>
                  </a:lnTo>
                  <a:lnTo>
                    <a:pt x="9901085" y="30238"/>
                  </a:lnTo>
                  <a:lnTo>
                    <a:pt x="9903244" y="38150"/>
                  </a:lnTo>
                  <a:lnTo>
                    <a:pt x="9903244" y="46075"/>
                  </a:lnTo>
                  <a:lnTo>
                    <a:pt x="9903244" y="713511"/>
                  </a:lnTo>
                  <a:lnTo>
                    <a:pt x="9903244" y="721436"/>
                  </a:lnTo>
                  <a:lnTo>
                    <a:pt x="9901085" y="729360"/>
                  </a:lnTo>
                  <a:lnTo>
                    <a:pt x="9897122" y="736193"/>
                  </a:lnTo>
                  <a:lnTo>
                    <a:pt x="9893160" y="743394"/>
                  </a:lnTo>
                  <a:lnTo>
                    <a:pt x="9887394" y="749160"/>
                  </a:lnTo>
                  <a:lnTo>
                    <a:pt x="9880561" y="753109"/>
                  </a:lnTo>
                  <a:lnTo>
                    <a:pt x="9873361" y="757072"/>
                  </a:lnTo>
                  <a:lnTo>
                    <a:pt x="9865436" y="759231"/>
                  </a:lnTo>
                  <a:lnTo>
                    <a:pt x="9857524" y="759231"/>
                  </a:lnTo>
                  <a:lnTo>
                    <a:pt x="45719" y="759231"/>
                  </a:lnTo>
                  <a:lnTo>
                    <a:pt x="37795" y="759231"/>
                  </a:lnTo>
                  <a:lnTo>
                    <a:pt x="29883" y="757072"/>
                  </a:lnTo>
                  <a:lnTo>
                    <a:pt x="23037" y="753109"/>
                  </a:lnTo>
                  <a:lnTo>
                    <a:pt x="15836" y="749160"/>
                  </a:lnTo>
                  <a:lnTo>
                    <a:pt x="10083" y="743394"/>
                  </a:lnTo>
                  <a:lnTo>
                    <a:pt x="6121" y="736549"/>
                  </a:lnTo>
                  <a:lnTo>
                    <a:pt x="2159" y="729360"/>
                  </a:lnTo>
                  <a:lnTo>
                    <a:pt x="0" y="721436"/>
                  </a:lnTo>
                  <a:lnTo>
                    <a:pt x="0" y="713511"/>
                  </a:lnTo>
                  <a:lnTo>
                    <a:pt x="355" y="45719"/>
                  </a:lnTo>
                  <a:close/>
                </a:path>
              </a:pathLst>
            </a:custGeom>
            <a:ln w="89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816100" y="4241419"/>
            <a:ext cx="1847214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650" b="1">
                <a:solidFill>
                  <a:srgbClr val="C3862D"/>
                </a:solidFill>
                <a:latin typeface="Arial"/>
                <a:cs typeface="Arial"/>
              </a:rPr>
              <a:t>Modelar</a:t>
            </a:r>
            <a:r>
              <a:rPr lang="es-ES" sz="1650" b="1" spc="-45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1650" b="1">
                <a:solidFill>
                  <a:srgbClr val="C3862D"/>
                </a:solidFill>
                <a:latin typeface="Arial"/>
                <a:cs typeface="Arial"/>
              </a:rPr>
              <a:t>el</a:t>
            </a:r>
            <a:r>
              <a:rPr lang="es-ES" sz="1650" b="1" spc="-45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1650" b="1" spc="-10">
                <a:solidFill>
                  <a:srgbClr val="C3862D"/>
                </a:solidFill>
                <a:latin typeface="Arial"/>
                <a:cs typeface="Arial"/>
              </a:rPr>
              <a:t>cambio</a:t>
            </a:r>
            <a:endParaRPr lang="es-ES" sz="16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91864" y="4230623"/>
            <a:ext cx="6130290" cy="237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Comparar</a:t>
            </a:r>
            <a:r>
              <a:rPr lang="es-MX" sz="145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antes/después</a:t>
            </a:r>
            <a:r>
              <a:rPr lang="es-MX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con</a:t>
            </a:r>
            <a:r>
              <a:rPr lang="es-MX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estructura</a:t>
            </a:r>
            <a:r>
              <a:rPr lang="es-MX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jerárquica</a:t>
            </a:r>
            <a:r>
              <a:rPr lang="es-MX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controles</a:t>
            </a:r>
            <a:r>
              <a:rPr lang="es-MX" sz="145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espaciales.</a:t>
            </a:r>
            <a:endParaRPr lang="es-MX" sz="145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95756" y="4809056"/>
            <a:ext cx="76200" cy="302260"/>
            <a:chOff x="995756" y="4809056"/>
            <a:chExt cx="76200" cy="302260"/>
          </a:xfrm>
        </p:grpSpPr>
        <p:sp>
          <p:nvSpPr>
            <p:cNvPr id="43" name="object 43"/>
            <p:cNvSpPr/>
            <p:nvPr/>
          </p:nvSpPr>
          <p:spPr>
            <a:xfrm>
              <a:off x="1033195" y="4818595"/>
              <a:ext cx="635" cy="222250"/>
            </a:xfrm>
            <a:custGeom>
              <a:avLst/>
              <a:gdLst/>
              <a:ahLst/>
              <a:cxnLst/>
              <a:rect l="l" t="t" r="r" b="b"/>
              <a:pathLst>
                <a:path w="634" h="222250">
                  <a:moveTo>
                    <a:pt x="0" y="0"/>
                  </a:moveTo>
                  <a:lnTo>
                    <a:pt x="368" y="222122"/>
                  </a:lnTo>
                </a:path>
              </a:pathLst>
            </a:custGeom>
            <a:ln w="190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995756" y="5035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</p:spPr>
          <p:txBody>
            <a:bodyPr wrap="square" lIns="0" tIns="0" rIns="0" bIns="0" rtlCol="0"/>
            <a:lstStyle/>
            <a:p>
              <a:endPara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5" name="object 45"/>
          <p:cNvSpPr/>
          <p:nvPr/>
        </p:nvSpPr>
        <p:spPr>
          <a:xfrm>
            <a:off x="749884" y="5202720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4">
                <a:moveTo>
                  <a:pt x="283311" y="0"/>
                </a:moveTo>
                <a:lnTo>
                  <a:pt x="210010" y="9766"/>
                </a:lnTo>
                <a:lnTo>
                  <a:pt x="141833" y="38163"/>
                </a:lnTo>
                <a:lnTo>
                  <a:pt x="83110" y="83250"/>
                </a:lnTo>
                <a:lnTo>
                  <a:pt x="38150" y="141833"/>
                </a:lnTo>
                <a:lnTo>
                  <a:pt x="9626" y="210327"/>
                </a:lnTo>
                <a:lnTo>
                  <a:pt x="0" y="283679"/>
                </a:lnTo>
                <a:lnTo>
                  <a:pt x="2417" y="320727"/>
                </a:lnTo>
                <a:lnTo>
                  <a:pt x="21559" y="392122"/>
                </a:lnTo>
                <a:lnTo>
                  <a:pt x="58757" y="456303"/>
                </a:lnTo>
                <a:lnTo>
                  <a:pt x="110904" y="508541"/>
                </a:lnTo>
                <a:lnTo>
                  <a:pt x="175026" y="545583"/>
                </a:lnTo>
                <a:lnTo>
                  <a:pt x="246275" y="564590"/>
                </a:lnTo>
                <a:lnTo>
                  <a:pt x="283311" y="567004"/>
                </a:lnTo>
                <a:lnTo>
                  <a:pt x="320560" y="564590"/>
                </a:lnTo>
                <a:lnTo>
                  <a:pt x="391959" y="545583"/>
                </a:lnTo>
                <a:lnTo>
                  <a:pt x="456086" y="508541"/>
                </a:lnTo>
                <a:lnTo>
                  <a:pt x="508234" y="456303"/>
                </a:lnTo>
                <a:lnTo>
                  <a:pt x="545431" y="392122"/>
                </a:lnTo>
                <a:lnTo>
                  <a:pt x="564573" y="320727"/>
                </a:lnTo>
                <a:lnTo>
                  <a:pt x="566991" y="283679"/>
                </a:lnTo>
                <a:lnTo>
                  <a:pt x="564573" y="246632"/>
                </a:lnTo>
                <a:lnTo>
                  <a:pt x="545431" y="175237"/>
                </a:lnTo>
                <a:lnTo>
                  <a:pt x="508234" y="111056"/>
                </a:lnTo>
                <a:lnTo>
                  <a:pt x="456086" y="58817"/>
                </a:lnTo>
                <a:lnTo>
                  <a:pt x="391959" y="21720"/>
                </a:lnTo>
                <a:lnTo>
                  <a:pt x="320560" y="2469"/>
                </a:lnTo>
                <a:lnTo>
                  <a:pt x="283311" y="0"/>
                </a:lnTo>
                <a:close/>
              </a:path>
            </a:pathLst>
          </a:custGeom>
          <a:solidFill>
            <a:srgbClr val="A8503B"/>
          </a:solidFill>
        </p:spPr>
        <p:txBody>
          <a:bodyPr wrap="square" lIns="0" tIns="0" rIns="0" bIns="0" rtlCol="0"/>
          <a:lstStyle/>
          <a:p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53897" y="5328983"/>
            <a:ext cx="1600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900" b="1" spc="-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5</a:t>
            </a:r>
            <a:endParaRPr lang="es-ES" sz="1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567620" y="5106424"/>
            <a:ext cx="9912350" cy="768350"/>
            <a:chOff x="1567620" y="5106424"/>
            <a:chExt cx="9912350" cy="7683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8" name="object 48"/>
            <p:cNvSpPr/>
            <p:nvPr/>
          </p:nvSpPr>
          <p:spPr>
            <a:xfrm>
              <a:off x="1572120" y="511092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8163" y="0"/>
                  </a:moveTo>
                  <a:lnTo>
                    <a:pt x="6477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721436"/>
                  </a:lnTo>
                  <a:lnTo>
                    <a:pt x="2159" y="729360"/>
                  </a:lnTo>
                  <a:lnTo>
                    <a:pt x="6121" y="736549"/>
                  </a:lnTo>
                  <a:lnTo>
                    <a:pt x="10083" y="743394"/>
                  </a:lnTo>
                  <a:lnTo>
                    <a:pt x="15836" y="749160"/>
                  </a:lnTo>
                  <a:lnTo>
                    <a:pt x="23037" y="753110"/>
                  </a:lnTo>
                  <a:lnTo>
                    <a:pt x="29883" y="757072"/>
                  </a:lnTo>
                  <a:lnTo>
                    <a:pt x="37795" y="759231"/>
                  </a:lnTo>
                  <a:lnTo>
                    <a:pt x="9865436" y="759231"/>
                  </a:lnTo>
                  <a:lnTo>
                    <a:pt x="9897122" y="736193"/>
                  </a:lnTo>
                  <a:lnTo>
                    <a:pt x="9901085" y="729360"/>
                  </a:lnTo>
                  <a:lnTo>
                    <a:pt x="9903244" y="721436"/>
                  </a:lnTo>
                  <a:lnTo>
                    <a:pt x="9903147" y="37795"/>
                  </a:lnTo>
                  <a:lnTo>
                    <a:pt x="9901085" y="30238"/>
                  </a:lnTo>
                  <a:lnTo>
                    <a:pt x="9897122" y="23037"/>
                  </a:lnTo>
                  <a:lnTo>
                    <a:pt x="9893160" y="16192"/>
                  </a:lnTo>
                  <a:lnTo>
                    <a:pt x="9887394" y="10439"/>
                  </a:lnTo>
                  <a:lnTo>
                    <a:pt x="9880193" y="6476"/>
                  </a:lnTo>
                  <a:lnTo>
                    <a:pt x="9873361" y="2514"/>
                  </a:lnTo>
                  <a:lnTo>
                    <a:pt x="9865436" y="355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572120" y="5110924"/>
              <a:ext cx="9903460" cy="759460"/>
            </a:xfrm>
            <a:custGeom>
              <a:avLst/>
              <a:gdLst/>
              <a:ahLst/>
              <a:cxnLst/>
              <a:rect l="l" t="t" r="r" b="b"/>
              <a:pathLst>
                <a:path w="9903460" h="759460">
                  <a:moveTo>
                    <a:pt x="355" y="45719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9857524" y="355"/>
                  </a:lnTo>
                  <a:lnTo>
                    <a:pt x="9865436" y="355"/>
                  </a:lnTo>
                  <a:lnTo>
                    <a:pt x="9873361" y="2514"/>
                  </a:lnTo>
                  <a:lnTo>
                    <a:pt x="9880193" y="6476"/>
                  </a:lnTo>
                  <a:lnTo>
                    <a:pt x="9887394" y="10439"/>
                  </a:lnTo>
                  <a:lnTo>
                    <a:pt x="9893160" y="16192"/>
                  </a:lnTo>
                  <a:lnTo>
                    <a:pt x="9897122" y="23037"/>
                  </a:lnTo>
                  <a:lnTo>
                    <a:pt x="9901085" y="30238"/>
                  </a:lnTo>
                  <a:lnTo>
                    <a:pt x="9903244" y="38150"/>
                  </a:lnTo>
                  <a:lnTo>
                    <a:pt x="9903244" y="46075"/>
                  </a:lnTo>
                  <a:lnTo>
                    <a:pt x="9903244" y="713511"/>
                  </a:lnTo>
                  <a:lnTo>
                    <a:pt x="9903244" y="721436"/>
                  </a:lnTo>
                  <a:lnTo>
                    <a:pt x="9901085" y="729360"/>
                  </a:lnTo>
                  <a:lnTo>
                    <a:pt x="9897122" y="736193"/>
                  </a:lnTo>
                  <a:lnTo>
                    <a:pt x="9893160" y="743394"/>
                  </a:lnTo>
                  <a:lnTo>
                    <a:pt x="9887394" y="749160"/>
                  </a:lnTo>
                  <a:lnTo>
                    <a:pt x="9880561" y="753110"/>
                  </a:lnTo>
                  <a:lnTo>
                    <a:pt x="9873361" y="757072"/>
                  </a:lnTo>
                  <a:lnTo>
                    <a:pt x="9865436" y="759231"/>
                  </a:lnTo>
                  <a:lnTo>
                    <a:pt x="9857524" y="759231"/>
                  </a:lnTo>
                  <a:lnTo>
                    <a:pt x="45719" y="759231"/>
                  </a:lnTo>
                  <a:lnTo>
                    <a:pt x="37795" y="759231"/>
                  </a:lnTo>
                  <a:lnTo>
                    <a:pt x="29883" y="757072"/>
                  </a:lnTo>
                  <a:lnTo>
                    <a:pt x="23037" y="753110"/>
                  </a:lnTo>
                  <a:lnTo>
                    <a:pt x="15836" y="749160"/>
                  </a:lnTo>
                  <a:lnTo>
                    <a:pt x="10083" y="743394"/>
                  </a:lnTo>
                  <a:lnTo>
                    <a:pt x="6121" y="736549"/>
                  </a:lnTo>
                  <a:lnTo>
                    <a:pt x="2159" y="729360"/>
                  </a:lnTo>
                  <a:lnTo>
                    <a:pt x="0" y="721436"/>
                  </a:lnTo>
                  <a:lnTo>
                    <a:pt x="0" y="713511"/>
                  </a:lnTo>
                  <a:lnTo>
                    <a:pt x="355" y="45719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816100" y="5201539"/>
            <a:ext cx="18135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650" b="1">
                <a:solidFill>
                  <a:srgbClr val="A8503B"/>
                </a:solidFill>
                <a:latin typeface="Arial"/>
                <a:cs typeface="Arial"/>
              </a:rPr>
              <a:t>Revisar</a:t>
            </a:r>
            <a:r>
              <a:rPr lang="es-ES" sz="1650" b="1" spc="-5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ES" sz="1650" b="1" spc="-10">
                <a:solidFill>
                  <a:srgbClr val="A8503B"/>
                </a:solidFill>
                <a:latin typeface="Arial"/>
                <a:cs typeface="Arial"/>
              </a:rPr>
              <a:t>descartes</a:t>
            </a:r>
            <a:endParaRPr lang="es-ES" sz="16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891864" y="5190744"/>
            <a:ext cx="6933565" cy="449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Auditar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segmentos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operacionales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causas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falta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calidad,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>
                <a:solidFill>
                  <a:srgbClr val="1F2F28"/>
                </a:solidFill>
                <a:latin typeface="Arial"/>
                <a:cs typeface="Arial"/>
              </a:rPr>
              <a:t>especialmente</a:t>
            </a:r>
            <a:r>
              <a:rPr lang="es-MX" sz="145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50" spc="-25">
                <a:solidFill>
                  <a:srgbClr val="1F2F28"/>
                </a:solidFill>
                <a:latin typeface="Arial"/>
                <a:cs typeface="Arial"/>
              </a:rPr>
              <a:t>en </a:t>
            </a:r>
            <a:r>
              <a:rPr lang="es-MX" sz="1450" spc="-10">
                <a:solidFill>
                  <a:srgbClr val="1F2F28"/>
                </a:solidFill>
                <a:latin typeface="Arial"/>
                <a:cs typeface="Arial"/>
              </a:rPr>
              <a:t>2026.</a:t>
            </a:r>
            <a:endParaRPr lang="es-MX" sz="1450">
              <a:latin typeface="Arial"/>
              <a:cs typeface="Arial"/>
            </a:endParaRPr>
          </a:p>
        </p:txBody>
      </p:sp>
      <p:sp>
        <p:nvSpPr>
          <p:cNvPr id="57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8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9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35/43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Integración</a:t>
            </a:r>
            <a:r>
              <a:rPr spc="-105"/>
              <a:t> </a:t>
            </a:r>
            <a:r>
              <a:t>multisensor</a:t>
            </a:r>
            <a:r>
              <a:rPr spc="-105"/>
              <a:t> </a:t>
            </a:r>
            <a:r>
              <a:t>para</a:t>
            </a:r>
            <a:r>
              <a:rPr spc="-105"/>
              <a:t> </a:t>
            </a:r>
            <a:r>
              <a:t>estimación</a:t>
            </a:r>
            <a:r>
              <a:rPr spc="-100"/>
              <a:t> </a:t>
            </a:r>
            <a:r>
              <a:t>de</a:t>
            </a:r>
            <a:r>
              <a:rPr spc="-105"/>
              <a:t> </a:t>
            </a:r>
            <a:r>
              <a:rPr spc="-10"/>
              <a:t>biomasa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5415" y="1292224"/>
            <a:ext cx="1914525" cy="1183005"/>
            <a:chOff x="615415" y="1292224"/>
            <a:chExt cx="1914525" cy="11830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21715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60" h="1170939">
                  <a:moveTo>
                    <a:pt x="182844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417" y="1125015"/>
                  </a:lnTo>
                  <a:lnTo>
                    <a:pt x="5470" y="1125170"/>
                  </a:lnTo>
                  <a:lnTo>
                    <a:pt x="36360" y="1160640"/>
                  </a:lnTo>
                  <a:lnTo>
                    <a:pt x="73088" y="1170355"/>
                  </a:lnTo>
                  <a:lnTo>
                    <a:pt x="1828800" y="1170000"/>
                  </a:lnTo>
                  <a:lnTo>
                    <a:pt x="1873177" y="1154896"/>
                  </a:lnTo>
                  <a:lnTo>
                    <a:pt x="1896341" y="1125170"/>
                  </a:lnTo>
                  <a:lnTo>
                    <a:pt x="1896418" y="1125015"/>
                  </a:lnTo>
                  <a:lnTo>
                    <a:pt x="1899397" y="1116131"/>
                  </a:lnTo>
                  <a:lnTo>
                    <a:pt x="1899458" y="1115952"/>
                  </a:lnTo>
                  <a:lnTo>
                    <a:pt x="1901241" y="1106756"/>
                  </a:lnTo>
                  <a:lnTo>
                    <a:pt x="1901281" y="1106551"/>
                  </a:lnTo>
                  <a:lnTo>
                    <a:pt x="1901865" y="1097280"/>
                  </a:lnTo>
                  <a:lnTo>
                    <a:pt x="1901888" y="1096911"/>
                  </a:lnTo>
                  <a:lnTo>
                    <a:pt x="1901520" y="73075"/>
                  </a:lnTo>
                  <a:lnTo>
                    <a:pt x="1886428" y="28698"/>
                  </a:lnTo>
                  <a:lnTo>
                    <a:pt x="1847478" y="2428"/>
                  </a:lnTo>
                  <a:lnTo>
                    <a:pt x="1838078" y="607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715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60" h="117093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1828444" y="0"/>
                  </a:lnTo>
                  <a:lnTo>
                    <a:pt x="1872971" y="15096"/>
                  </a:lnTo>
                  <a:lnTo>
                    <a:pt x="1899091" y="54219"/>
                  </a:lnTo>
                  <a:lnTo>
                    <a:pt x="1901520" y="73075"/>
                  </a:lnTo>
                  <a:lnTo>
                    <a:pt x="1901888" y="1096911"/>
                  </a:lnTo>
                  <a:lnTo>
                    <a:pt x="1901281" y="1106551"/>
                  </a:lnTo>
                  <a:lnTo>
                    <a:pt x="1899458" y="1115952"/>
                  </a:lnTo>
                  <a:lnTo>
                    <a:pt x="1873177" y="1154896"/>
                  </a:lnTo>
                  <a:lnTo>
                    <a:pt x="1828800" y="1170000"/>
                  </a:lnTo>
                  <a:lnTo>
                    <a:pt x="73088" y="1170355"/>
                  </a:lnTo>
                  <a:lnTo>
                    <a:pt x="28555" y="1155251"/>
                  </a:lnTo>
                  <a:lnTo>
                    <a:pt x="2430" y="1116131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4339" y="1505775"/>
            <a:ext cx="1577340" cy="100112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ES" sz="1550" b="1" spc="-20">
                <a:solidFill>
                  <a:srgbClr val="1D4938"/>
                </a:solidFill>
                <a:latin typeface="Arial"/>
                <a:cs typeface="Arial"/>
              </a:rPr>
              <a:t>ICESat-</a:t>
            </a:r>
            <a:r>
              <a:rPr lang="es-ES" sz="1550" b="1">
                <a:solidFill>
                  <a:srgbClr val="1D4938"/>
                </a:solidFill>
                <a:latin typeface="Arial"/>
                <a:cs typeface="Arial"/>
              </a:rPr>
              <a:t>2</a:t>
            </a:r>
            <a:r>
              <a:rPr lang="es-ES" sz="1550" b="1" spc="2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550" b="1">
                <a:solidFill>
                  <a:srgbClr val="1D4938"/>
                </a:solidFill>
                <a:latin typeface="Arial"/>
                <a:cs typeface="Arial"/>
              </a:rPr>
              <a:t>/</a:t>
            </a:r>
            <a:r>
              <a:rPr lang="es-ES" sz="155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550" b="1" spc="-10">
                <a:solidFill>
                  <a:srgbClr val="1D4938"/>
                </a:solidFill>
                <a:latin typeface="Arial"/>
                <a:cs typeface="Arial"/>
              </a:rPr>
              <a:t>ATL08</a:t>
            </a:r>
            <a:endParaRPr lang="es-ES" sz="1550">
              <a:latin typeface="Arial"/>
              <a:cs typeface="Arial"/>
            </a:endParaRPr>
          </a:p>
          <a:p>
            <a:pPr marL="163830" marR="160020" indent="1270" algn="ctr">
              <a:lnSpc>
                <a:spcPct val="103000"/>
              </a:lnSpc>
              <a:spcBef>
                <a:spcPts val="1150"/>
              </a:spcBef>
            </a:pP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RH98,</a:t>
            </a:r>
            <a:r>
              <a:rPr lang="es-ES" sz="1200" spc="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terreno,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cobertura,</a:t>
            </a:r>
            <a:r>
              <a:rPr lang="es-ES" sz="1200" spc="114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calidad</a:t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74060" y="1292224"/>
            <a:ext cx="1914525" cy="1183005"/>
            <a:chOff x="2874060" y="1292224"/>
            <a:chExt cx="1914525" cy="11830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0" name="object 10"/>
            <p:cNvSpPr/>
            <p:nvPr/>
          </p:nvSpPr>
          <p:spPr>
            <a:xfrm>
              <a:off x="2880359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60" h="1170939">
                  <a:moveTo>
                    <a:pt x="182844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94" y="1106551"/>
                  </a:lnTo>
                  <a:lnTo>
                    <a:pt x="607" y="1106756"/>
                  </a:lnTo>
                  <a:lnTo>
                    <a:pt x="2394" y="1115952"/>
                  </a:lnTo>
                  <a:lnTo>
                    <a:pt x="2428" y="1116131"/>
                  </a:lnTo>
                  <a:lnTo>
                    <a:pt x="5412" y="1125015"/>
                  </a:lnTo>
                  <a:lnTo>
                    <a:pt x="5464" y="1125170"/>
                  </a:lnTo>
                  <a:lnTo>
                    <a:pt x="9715" y="1133640"/>
                  </a:lnTo>
                  <a:lnTo>
                    <a:pt x="44984" y="1164890"/>
                  </a:lnTo>
                  <a:lnTo>
                    <a:pt x="73075" y="1170355"/>
                  </a:lnTo>
                  <a:lnTo>
                    <a:pt x="1828800" y="1170000"/>
                  </a:lnTo>
                  <a:lnTo>
                    <a:pt x="1873177" y="1154896"/>
                  </a:lnTo>
                  <a:lnTo>
                    <a:pt x="1899386" y="1116131"/>
                  </a:lnTo>
                  <a:lnTo>
                    <a:pt x="1899446" y="1115952"/>
                  </a:lnTo>
                  <a:lnTo>
                    <a:pt x="1901228" y="1106756"/>
                  </a:lnTo>
                  <a:lnTo>
                    <a:pt x="1901268" y="1106551"/>
                  </a:lnTo>
                  <a:lnTo>
                    <a:pt x="1901852" y="1097280"/>
                  </a:lnTo>
                  <a:lnTo>
                    <a:pt x="1901875" y="1096911"/>
                  </a:lnTo>
                  <a:lnTo>
                    <a:pt x="1901520" y="73075"/>
                  </a:lnTo>
                  <a:lnTo>
                    <a:pt x="1886421" y="28698"/>
                  </a:lnTo>
                  <a:lnTo>
                    <a:pt x="1847473" y="2428"/>
                  </a:lnTo>
                  <a:lnTo>
                    <a:pt x="1838076" y="607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0359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60" h="11709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1828444" y="0"/>
                  </a:lnTo>
                  <a:lnTo>
                    <a:pt x="1872964" y="15096"/>
                  </a:lnTo>
                  <a:lnTo>
                    <a:pt x="1899091" y="54219"/>
                  </a:lnTo>
                  <a:lnTo>
                    <a:pt x="1901520" y="73075"/>
                  </a:lnTo>
                  <a:lnTo>
                    <a:pt x="1901875" y="1096911"/>
                  </a:lnTo>
                  <a:lnTo>
                    <a:pt x="1901268" y="1106551"/>
                  </a:lnTo>
                  <a:lnTo>
                    <a:pt x="1899446" y="1115952"/>
                  </a:lnTo>
                  <a:lnTo>
                    <a:pt x="1873177" y="1154896"/>
                  </a:lnTo>
                  <a:lnTo>
                    <a:pt x="1828800" y="1170000"/>
                  </a:lnTo>
                  <a:lnTo>
                    <a:pt x="73075" y="1170355"/>
                  </a:lnTo>
                  <a:lnTo>
                    <a:pt x="28555" y="1155251"/>
                  </a:lnTo>
                  <a:lnTo>
                    <a:pt x="2428" y="1116131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564855" y="2534335"/>
            <a:ext cx="9050020" cy="1568450"/>
            <a:chOff x="1564855" y="2534335"/>
            <a:chExt cx="9050020" cy="1568450"/>
          </a:xfrm>
        </p:grpSpPr>
        <p:sp>
          <p:nvSpPr>
            <p:cNvPr id="13" name="object 13"/>
            <p:cNvSpPr/>
            <p:nvPr/>
          </p:nvSpPr>
          <p:spPr>
            <a:xfrm>
              <a:off x="1572475" y="2541955"/>
              <a:ext cx="4457065" cy="603885"/>
            </a:xfrm>
            <a:custGeom>
              <a:avLst/>
              <a:gdLst/>
              <a:ahLst/>
              <a:cxnLst/>
              <a:rect l="l" t="t" r="r" b="b"/>
              <a:pathLst>
                <a:path w="4457065" h="603885">
                  <a:moveTo>
                    <a:pt x="0" y="0"/>
                  </a:moveTo>
                  <a:lnTo>
                    <a:pt x="4456442" y="603364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18834" y="3107156"/>
              <a:ext cx="80010" cy="74930"/>
            </a:xfrm>
            <a:custGeom>
              <a:avLst/>
              <a:gdLst/>
              <a:ahLst/>
              <a:cxnLst/>
              <a:rect l="l" t="t" r="r" b="b"/>
              <a:pathLst>
                <a:path w="80010" h="74930">
                  <a:moveTo>
                    <a:pt x="10083" y="0"/>
                  </a:moveTo>
                  <a:lnTo>
                    <a:pt x="0" y="74879"/>
                  </a:lnTo>
                  <a:lnTo>
                    <a:pt x="79921" y="47523"/>
                  </a:lnTo>
                  <a:lnTo>
                    <a:pt x="10083" y="0"/>
                  </a:lnTo>
                  <a:close/>
                </a:path>
              </a:pathLst>
            </a:custGeom>
            <a:solidFill>
              <a:srgbClr val="CED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1120" y="2541955"/>
              <a:ext cx="2199640" cy="594360"/>
            </a:xfrm>
            <a:custGeom>
              <a:avLst/>
              <a:gdLst/>
              <a:ahLst/>
              <a:cxnLst/>
              <a:rect l="l" t="t" r="r" b="b"/>
              <a:pathLst>
                <a:path w="2199640" h="594360">
                  <a:moveTo>
                    <a:pt x="0" y="0"/>
                  </a:moveTo>
                  <a:lnTo>
                    <a:pt x="2199601" y="594360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5964" y="3098520"/>
              <a:ext cx="83185" cy="73660"/>
            </a:xfrm>
            <a:custGeom>
              <a:avLst/>
              <a:gdLst/>
              <a:ahLst/>
              <a:cxnLst/>
              <a:rect l="l" t="t" r="r" b="b"/>
              <a:pathLst>
                <a:path w="83185" h="73660">
                  <a:moveTo>
                    <a:pt x="19799" y="0"/>
                  </a:moveTo>
                  <a:lnTo>
                    <a:pt x="0" y="73075"/>
                  </a:lnTo>
                  <a:lnTo>
                    <a:pt x="82791" y="56159"/>
                  </a:lnTo>
                  <a:lnTo>
                    <a:pt x="19799" y="0"/>
                  </a:lnTo>
                  <a:close/>
                </a:path>
              </a:pathLst>
            </a:custGeom>
            <a:solidFill>
              <a:srgbClr val="CED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89764" y="2541955"/>
              <a:ext cx="8255" cy="542290"/>
            </a:xfrm>
            <a:custGeom>
              <a:avLst/>
              <a:gdLst/>
              <a:ahLst/>
              <a:cxnLst/>
              <a:rect l="l" t="t" r="r" b="b"/>
              <a:pathLst>
                <a:path w="8254" h="542289">
                  <a:moveTo>
                    <a:pt x="0" y="0"/>
                  </a:moveTo>
                  <a:lnTo>
                    <a:pt x="7912" y="542163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59881" y="3078365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5603" y="0"/>
                  </a:moveTo>
                  <a:lnTo>
                    <a:pt x="0" y="1435"/>
                  </a:lnTo>
                  <a:lnTo>
                    <a:pt x="38874" y="76314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CED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6802" y="2541955"/>
              <a:ext cx="2181860" cy="594360"/>
            </a:xfrm>
            <a:custGeom>
              <a:avLst/>
              <a:gdLst/>
              <a:ahLst/>
              <a:cxnLst/>
              <a:rect l="l" t="t" r="r" b="b"/>
              <a:pathLst>
                <a:path w="2181859" h="594360">
                  <a:moveTo>
                    <a:pt x="2181593" y="0"/>
                  </a:moveTo>
                  <a:lnTo>
                    <a:pt x="0" y="594004"/>
                  </a:lnTo>
                </a:path>
              </a:pathLst>
            </a:custGeom>
            <a:ln w="1511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8755" y="3098520"/>
              <a:ext cx="83185" cy="73025"/>
            </a:xfrm>
            <a:custGeom>
              <a:avLst/>
              <a:gdLst/>
              <a:ahLst/>
              <a:cxnLst/>
              <a:rect l="l" t="t" r="r" b="b"/>
              <a:pathLst>
                <a:path w="83185" h="73025">
                  <a:moveTo>
                    <a:pt x="63004" y="0"/>
                  </a:moveTo>
                  <a:lnTo>
                    <a:pt x="0" y="56159"/>
                  </a:lnTo>
                  <a:lnTo>
                    <a:pt x="82804" y="72720"/>
                  </a:lnTo>
                  <a:lnTo>
                    <a:pt x="63004" y="0"/>
                  </a:lnTo>
                  <a:close/>
                </a:path>
              </a:pathLst>
            </a:custGeom>
            <a:solidFill>
              <a:srgbClr val="CED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8605" y="2541955"/>
              <a:ext cx="4438650" cy="603885"/>
            </a:xfrm>
            <a:custGeom>
              <a:avLst/>
              <a:gdLst/>
              <a:ahLst/>
              <a:cxnLst/>
              <a:rect l="l" t="t" r="r" b="b"/>
              <a:pathLst>
                <a:path w="4438650" h="603885">
                  <a:moveTo>
                    <a:pt x="4438434" y="0"/>
                  </a:moveTo>
                  <a:lnTo>
                    <a:pt x="0" y="603364"/>
                  </a:lnTo>
                </a:path>
              </a:pathLst>
            </a:custGeom>
            <a:ln w="1511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98755" y="3107156"/>
              <a:ext cx="80010" cy="74930"/>
            </a:xfrm>
            <a:custGeom>
              <a:avLst/>
              <a:gdLst/>
              <a:ahLst/>
              <a:cxnLst/>
              <a:rect l="l" t="t" r="r" b="b"/>
              <a:pathLst>
                <a:path w="80010" h="74930">
                  <a:moveTo>
                    <a:pt x="69850" y="0"/>
                  </a:moveTo>
                  <a:lnTo>
                    <a:pt x="0" y="47523"/>
                  </a:lnTo>
                  <a:lnTo>
                    <a:pt x="79921" y="74879"/>
                  </a:lnTo>
                  <a:lnTo>
                    <a:pt x="69850" y="0"/>
                  </a:lnTo>
                  <a:close/>
                </a:path>
              </a:pathLst>
            </a:custGeom>
            <a:solidFill>
              <a:srgbClr val="CED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95280" y="3017164"/>
              <a:ext cx="4206875" cy="1079500"/>
            </a:xfrm>
            <a:custGeom>
              <a:avLst/>
              <a:gdLst/>
              <a:ahLst/>
              <a:cxnLst/>
              <a:rect l="l" t="t" r="r" b="b"/>
              <a:pathLst>
                <a:path w="4206875" h="1079500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987831"/>
                  </a:lnTo>
                  <a:lnTo>
                    <a:pt x="798" y="999838"/>
                  </a:lnTo>
                  <a:lnTo>
                    <a:pt x="18836" y="1043595"/>
                  </a:lnTo>
                  <a:lnTo>
                    <a:pt x="56505" y="1072290"/>
                  </a:lnTo>
                  <a:lnTo>
                    <a:pt x="91439" y="1079271"/>
                  </a:lnTo>
                  <a:lnTo>
                    <a:pt x="4115155" y="1079271"/>
                  </a:lnTo>
                  <a:lnTo>
                    <a:pt x="4160875" y="1067041"/>
                  </a:lnTo>
                  <a:lnTo>
                    <a:pt x="4194365" y="1033551"/>
                  </a:lnTo>
                  <a:lnTo>
                    <a:pt x="4206595" y="987831"/>
                  </a:lnTo>
                  <a:lnTo>
                    <a:pt x="4206571" y="91439"/>
                  </a:lnTo>
                  <a:lnTo>
                    <a:pt x="4194365" y="46075"/>
                  </a:lnTo>
                  <a:lnTo>
                    <a:pt x="4160875" y="12598"/>
                  </a:lnTo>
                  <a:lnTo>
                    <a:pt x="41151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E3E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95280" y="3017164"/>
              <a:ext cx="4206875" cy="1079500"/>
            </a:xfrm>
            <a:custGeom>
              <a:avLst/>
              <a:gdLst/>
              <a:ahLst/>
              <a:cxnLst/>
              <a:rect l="l" t="t" r="r" b="b"/>
              <a:pathLst>
                <a:path w="4206875" h="1079500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79"/>
                  </a:lnTo>
                  <a:lnTo>
                    <a:pt x="68130" y="3148"/>
                  </a:lnTo>
                  <a:lnTo>
                    <a:pt x="91795" y="0"/>
                  </a:lnTo>
                  <a:lnTo>
                    <a:pt x="4115155" y="355"/>
                  </a:lnTo>
                  <a:lnTo>
                    <a:pt x="4160875" y="12598"/>
                  </a:lnTo>
                  <a:lnTo>
                    <a:pt x="4194365" y="46075"/>
                  </a:lnTo>
                  <a:lnTo>
                    <a:pt x="4206595" y="91795"/>
                  </a:lnTo>
                  <a:lnTo>
                    <a:pt x="4206595" y="987831"/>
                  </a:lnTo>
                  <a:lnTo>
                    <a:pt x="4205797" y="999838"/>
                  </a:lnTo>
                  <a:lnTo>
                    <a:pt x="4203447" y="1011505"/>
                  </a:lnTo>
                  <a:lnTo>
                    <a:pt x="4179916" y="1052591"/>
                  </a:lnTo>
                  <a:lnTo>
                    <a:pt x="4138829" y="1076123"/>
                  </a:lnTo>
                  <a:lnTo>
                    <a:pt x="4115155" y="1079271"/>
                  </a:lnTo>
                  <a:lnTo>
                    <a:pt x="91439" y="1079271"/>
                  </a:lnTo>
                  <a:lnTo>
                    <a:pt x="45720" y="1067041"/>
                  </a:lnTo>
                  <a:lnTo>
                    <a:pt x="12242" y="1033551"/>
                  </a:lnTo>
                  <a:lnTo>
                    <a:pt x="0" y="987831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103460" y="1505775"/>
            <a:ext cx="1452880" cy="78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lang="es-ES" sz="1550" b="1" spc="-20">
                <a:solidFill>
                  <a:srgbClr val="296D6F"/>
                </a:solidFill>
                <a:latin typeface="Arial"/>
                <a:cs typeface="Arial"/>
              </a:rPr>
              <a:t>GEDI</a:t>
            </a:r>
            <a:endParaRPr lang="es-ES" sz="1550">
              <a:latin typeface="Arial"/>
              <a:cs typeface="Arial"/>
            </a:endParaRPr>
          </a:p>
          <a:p>
            <a:pPr marL="12700" marR="5080" algn="ctr">
              <a:lnSpc>
                <a:spcPct val="103000"/>
              </a:lnSpc>
              <a:spcBef>
                <a:spcPts val="1150"/>
              </a:spcBef>
            </a:pP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Métricas</a:t>
            </a:r>
            <a:r>
              <a:rPr lang="es-ES" sz="1200" spc="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RH</a:t>
            </a:r>
            <a:r>
              <a:rPr lang="es-ES" sz="1200" spc="6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lang="es-ES" sz="1200" spc="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20">
                <a:solidFill>
                  <a:srgbClr val="000000"/>
                </a:solidFill>
                <a:latin typeface="Arial"/>
                <a:cs typeface="Arial"/>
              </a:rPr>
              <a:t>forma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lang="es-ES" sz="1200" spc="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20">
                <a:solidFill>
                  <a:srgbClr val="000000"/>
                </a:solidFill>
                <a:latin typeface="Arial"/>
                <a:cs typeface="Arial"/>
              </a:rPr>
              <a:t>onda</a:t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132704" y="1292224"/>
            <a:ext cx="1914525" cy="1183005"/>
            <a:chOff x="5132704" y="1292224"/>
            <a:chExt cx="1914525" cy="11830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7" name="object 27"/>
            <p:cNvSpPr/>
            <p:nvPr/>
          </p:nvSpPr>
          <p:spPr>
            <a:xfrm>
              <a:off x="5139004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59" h="1170939">
                  <a:moveTo>
                    <a:pt x="18284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94" y="1106551"/>
                  </a:lnTo>
                  <a:lnTo>
                    <a:pt x="607" y="1106756"/>
                  </a:lnTo>
                  <a:lnTo>
                    <a:pt x="2394" y="1115952"/>
                  </a:lnTo>
                  <a:lnTo>
                    <a:pt x="2428" y="1116131"/>
                  </a:lnTo>
                  <a:lnTo>
                    <a:pt x="28548" y="1155251"/>
                  </a:lnTo>
                  <a:lnTo>
                    <a:pt x="73075" y="1170355"/>
                  </a:lnTo>
                  <a:lnTo>
                    <a:pt x="1828799" y="1170000"/>
                  </a:lnTo>
                  <a:lnTo>
                    <a:pt x="1873170" y="1154896"/>
                  </a:lnTo>
                  <a:lnTo>
                    <a:pt x="1896334" y="1125170"/>
                  </a:lnTo>
                  <a:lnTo>
                    <a:pt x="1896410" y="1125015"/>
                  </a:lnTo>
                  <a:lnTo>
                    <a:pt x="1899386" y="1116131"/>
                  </a:lnTo>
                  <a:lnTo>
                    <a:pt x="1899446" y="1115952"/>
                  </a:lnTo>
                  <a:lnTo>
                    <a:pt x="1901228" y="1106756"/>
                  </a:lnTo>
                  <a:lnTo>
                    <a:pt x="1901268" y="1106551"/>
                  </a:lnTo>
                  <a:lnTo>
                    <a:pt x="1901852" y="1097280"/>
                  </a:lnTo>
                  <a:lnTo>
                    <a:pt x="1901875" y="1096911"/>
                  </a:lnTo>
                  <a:lnTo>
                    <a:pt x="1901520" y="73075"/>
                  </a:lnTo>
                  <a:lnTo>
                    <a:pt x="1886416" y="28698"/>
                  </a:lnTo>
                  <a:lnTo>
                    <a:pt x="1847472" y="2428"/>
                  </a:lnTo>
                  <a:lnTo>
                    <a:pt x="1838070" y="607"/>
                  </a:lnTo>
                  <a:lnTo>
                    <a:pt x="182843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39004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59" h="11709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828431" y="0"/>
                  </a:lnTo>
                  <a:lnTo>
                    <a:pt x="1872964" y="15096"/>
                  </a:lnTo>
                  <a:lnTo>
                    <a:pt x="1899089" y="54219"/>
                  </a:lnTo>
                  <a:lnTo>
                    <a:pt x="1901520" y="73075"/>
                  </a:lnTo>
                  <a:lnTo>
                    <a:pt x="1901875" y="1096911"/>
                  </a:lnTo>
                  <a:lnTo>
                    <a:pt x="1901268" y="1106551"/>
                  </a:lnTo>
                  <a:lnTo>
                    <a:pt x="1899446" y="1115952"/>
                  </a:lnTo>
                  <a:lnTo>
                    <a:pt x="1873170" y="1154896"/>
                  </a:lnTo>
                  <a:lnTo>
                    <a:pt x="1828799" y="1170000"/>
                  </a:lnTo>
                  <a:lnTo>
                    <a:pt x="73075" y="1170355"/>
                  </a:lnTo>
                  <a:lnTo>
                    <a:pt x="28548" y="1155251"/>
                  </a:lnTo>
                  <a:lnTo>
                    <a:pt x="2428" y="1116131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73A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325021" y="1505775"/>
            <a:ext cx="1526540" cy="72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lang="es-MX" sz="1550" b="1" dirty="0">
                <a:solidFill>
                  <a:srgbClr val="173A54"/>
                </a:solidFill>
                <a:latin typeface="Arial"/>
                <a:cs typeface="Arial"/>
              </a:rPr>
              <a:t>SAR</a:t>
            </a:r>
            <a:r>
              <a:rPr lang="es-MX" sz="1550" b="1" spc="-20" dirty="0">
                <a:solidFill>
                  <a:srgbClr val="173A54"/>
                </a:solidFill>
                <a:latin typeface="Arial"/>
                <a:cs typeface="Arial"/>
              </a:rPr>
              <a:t> C</a:t>
            </a:r>
            <a:r>
              <a:rPr lang="es-MX" sz="1550" b="1" spc="-40" dirty="0">
                <a:solidFill>
                  <a:srgbClr val="173A54"/>
                </a:solidFill>
                <a:latin typeface="Arial"/>
                <a:cs typeface="Arial"/>
              </a:rPr>
              <a:t> </a:t>
            </a:r>
            <a:r>
              <a:rPr lang="es-MX" sz="1550" b="1" dirty="0">
                <a:solidFill>
                  <a:srgbClr val="173A54"/>
                </a:solidFill>
                <a:latin typeface="Arial"/>
                <a:cs typeface="Arial"/>
              </a:rPr>
              <a:t>/</a:t>
            </a:r>
            <a:r>
              <a:rPr lang="es-MX" sz="1550" b="1" spc="-15" dirty="0">
                <a:solidFill>
                  <a:srgbClr val="173A54"/>
                </a:solidFill>
                <a:latin typeface="Arial"/>
                <a:cs typeface="Arial"/>
              </a:rPr>
              <a:t> S </a:t>
            </a:r>
            <a:r>
              <a:rPr lang="es-MX" sz="1550" b="1" dirty="0">
                <a:solidFill>
                  <a:srgbClr val="173A54"/>
                </a:solidFill>
                <a:latin typeface="Arial"/>
                <a:cs typeface="Arial"/>
              </a:rPr>
              <a:t>/</a:t>
            </a:r>
            <a:r>
              <a:rPr lang="es-MX" sz="1550" b="1" spc="-20" dirty="0">
                <a:solidFill>
                  <a:srgbClr val="173A54"/>
                </a:solidFill>
                <a:latin typeface="Arial"/>
                <a:cs typeface="Arial"/>
              </a:rPr>
              <a:t> L / P</a:t>
            </a:r>
            <a:endParaRPr lang="es-MX" sz="1550" dirty="0">
              <a:latin typeface="Arial"/>
              <a:cs typeface="Arial"/>
            </a:endParaRPr>
          </a:p>
          <a:p>
            <a:pPr marL="12700" marR="5080" indent="1270" algn="ctr">
              <a:lnSpc>
                <a:spcPts val="1190"/>
              </a:lnSpc>
              <a:spcBef>
                <a:spcPts val="1305"/>
              </a:spcBef>
            </a:pPr>
            <a:r>
              <a:rPr lang="es-MX" sz="1100" spc="-10" dirty="0">
                <a:solidFill>
                  <a:srgbClr val="000000"/>
                </a:solidFill>
                <a:latin typeface="Arial"/>
                <a:cs typeface="Arial"/>
              </a:rPr>
              <a:t>Retrodispersión, </a:t>
            </a:r>
            <a:r>
              <a:rPr lang="es-MX" sz="1100" dirty="0">
                <a:solidFill>
                  <a:srgbClr val="000000"/>
                </a:solidFill>
                <a:latin typeface="Arial"/>
                <a:cs typeface="Arial"/>
              </a:rPr>
              <a:t>coherencia,</a:t>
            </a:r>
            <a:r>
              <a:rPr lang="es-MX" sz="110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100" spc="-10" dirty="0">
                <a:solidFill>
                  <a:srgbClr val="000000"/>
                </a:solidFill>
                <a:latin typeface="Arial"/>
                <a:cs typeface="Arial"/>
              </a:rPr>
              <a:t>polarimetría</a:t>
            </a:r>
            <a:endParaRPr lang="es-MX" sz="11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391335" y="1292224"/>
            <a:ext cx="1914525" cy="1183005"/>
            <a:chOff x="7391335" y="1292224"/>
            <a:chExt cx="1914525" cy="11830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1" name="object 31"/>
            <p:cNvSpPr/>
            <p:nvPr/>
          </p:nvSpPr>
          <p:spPr>
            <a:xfrm>
              <a:off x="7397635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59" h="1170939">
                  <a:moveTo>
                    <a:pt x="182844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417" y="1125015"/>
                  </a:lnTo>
                  <a:lnTo>
                    <a:pt x="5470" y="1125170"/>
                  </a:lnTo>
                  <a:lnTo>
                    <a:pt x="36360" y="1160640"/>
                  </a:lnTo>
                  <a:lnTo>
                    <a:pt x="73088" y="1170355"/>
                  </a:lnTo>
                  <a:lnTo>
                    <a:pt x="1828800" y="1170000"/>
                  </a:lnTo>
                  <a:lnTo>
                    <a:pt x="1873177" y="1154896"/>
                  </a:lnTo>
                  <a:lnTo>
                    <a:pt x="1896341" y="1125170"/>
                  </a:lnTo>
                  <a:lnTo>
                    <a:pt x="1896418" y="1125015"/>
                  </a:lnTo>
                  <a:lnTo>
                    <a:pt x="1901865" y="1097280"/>
                  </a:lnTo>
                  <a:lnTo>
                    <a:pt x="1901888" y="1096911"/>
                  </a:lnTo>
                  <a:lnTo>
                    <a:pt x="1901520" y="73075"/>
                  </a:lnTo>
                  <a:lnTo>
                    <a:pt x="1886428" y="28698"/>
                  </a:lnTo>
                  <a:lnTo>
                    <a:pt x="1847478" y="2428"/>
                  </a:lnTo>
                  <a:lnTo>
                    <a:pt x="1838078" y="607"/>
                  </a:lnTo>
                  <a:lnTo>
                    <a:pt x="182844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97635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59" h="117093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1828444" y="0"/>
                  </a:lnTo>
                  <a:lnTo>
                    <a:pt x="1872971" y="15096"/>
                  </a:lnTo>
                  <a:lnTo>
                    <a:pt x="1899091" y="54219"/>
                  </a:lnTo>
                  <a:lnTo>
                    <a:pt x="1901520" y="73075"/>
                  </a:lnTo>
                  <a:lnTo>
                    <a:pt x="1901888" y="1096911"/>
                  </a:lnTo>
                  <a:lnTo>
                    <a:pt x="1901281" y="1106551"/>
                  </a:lnTo>
                  <a:lnTo>
                    <a:pt x="1899458" y="1115952"/>
                  </a:lnTo>
                  <a:lnTo>
                    <a:pt x="1873177" y="1154896"/>
                  </a:lnTo>
                  <a:lnTo>
                    <a:pt x="1828800" y="1170000"/>
                  </a:lnTo>
                  <a:lnTo>
                    <a:pt x="73088" y="1170355"/>
                  </a:lnTo>
                  <a:lnTo>
                    <a:pt x="28555" y="1155251"/>
                  </a:lnTo>
                  <a:lnTo>
                    <a:pt x="2430" y="1116131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2E6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16139" y="1505775"/>
            <a:ext cx="1261745" cy="78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es-MX" sz="1550" b="1" spc="-10">
                <a:solidFill>
                  <a:srgbClr val="2E6E9D"/>
                </a:solidFill>
                <a:latin typeface="Arial"/>
                <a:cs typeface="Arial"/>
              </a:rPr>
              <a:t>Óptico</a:t>
            </a:r>
            <a:endParaRPr lang="es-MX" sz="1550">
              <a:latin typeface="Arial"/>
              <a:cs typeface="Arial"/>
            </a:endParaRPr>
          </a:p>
          <a:p>
            <a:pPr marL="12065" marR="5080" algn="ctr">
              <a:lnSpc>
                <a:spcPct val="103000"/>
              </a:lnSpc>
              <a:spcBef>
                <a:spcPts val="1150"/>
              </a:spcBef>
            </a:pP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Bandas,</a:t>
            </a:r>
            <a:r>
              <a:rPr lang="es-MX" sz="12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índices</a:t>
            </a:r>
            <a:r>
              <a:rPr lang="es-MX" sz="120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50">
                <a:solidFill>
                  <a:srgbClr val="000000"/>
                </a:solidFill>
                <a:latin typeface="Arial"/>
                <a:cs typeface="Arial"/>
              </a:rPr>
              <a:t>y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fenología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649624" y="1292224"/>
            <a:ext cx="1914525" cy="1183005"/>
            <a:chOff x="9649624" y="1292224"/>
            <a:chExt cx="1914525" cy="118300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5" name="object 35"/>
            <p:cNvSpPr/>
            <p:nvPr/>
          </p:nvSpPr>
          <p:spPr>
            <a:xfrm>
              <a:off x="9655924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59" h="1170939">
                  <a:moveTo>
                    <a:pt x="18284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97280"/>
                  </a:lnTo>
                  <a:lnTo>
                    <a:pt x="594" y="1106551"/>
                  </a:lnTo>
                  <a:lnTo>
                    <a:pt x="607" y="1106756"/>
                  </a:lnTo>
                  <a:lnTo>
                    <a:pt x="2394" y="1115952"/>
                  </a:lnTo>
                  <a:lnTo>
                    <a:pt x="2428" y="1116131"/>
                  </a:lnTo>
                  <a:lnTo>
                    <a:pt x="5412" y="1125015"/>
                  </a:lnTo>
                  <a:lnTo>
                    <a:pt x="5464" y="1125170"/>
                  </a:lnTo>
                  <a:lnTo>
                    <a:pt x="36360" y="1160640"/>
                  </a:lnTo>
                  <a:lnTo>
                    <a:pt x="73075" y="1170355"/>
                  </a:lnTo>
                  <a:lnTo>
                    <a:pt x="1828800" y="1170000"/>
                  </a:lnTo>
                  <a:lnTo>
                    <a:pt x="1873170" y="1154896"/>
                  </a:lnTo>
                  <a:lnTo>
                    <a:pt x="1896334" y="1125170"/>
                  </a:lnTo>
                  <a:lnTo>
                    <a:pt x="1896410" y="1125015"/>
                  </a:lnTo>
                  <a:lnTo>
                    <a:pt x="1899386" y="1116131"/>
                  </a:lnTo>
                  <a:lnTo>
                    <a:pt x="1899446" y="1115952"/>
                  </a:lnTo>
                  <a:lnTo>
                    <a:pt x="1901228" y="1106756"/>
                  </a:lnTo>
                  <a:lnTo>
                    <a:pt x="1901268" y="1106551"/>
                  </a:lnTo>
                  <a:lnTo>
                    <a:pt x="1901852" y="1097280"/>
                  </a:lnTo>
                  <a:lnTo>
                    <a:pt x="1901875" y="1096911"/>
                  </a:lnTo>
                  <a:lnTo>
                    <a:pt x="1901520" y="73075"/>
                  </a:lnTo>
                  <a:lnTo>
                    <a:pt x="1886416" y="28698"/>
                  </a:lnTo>
                  <a:lnTo>
                    <a:pt x="1847472" y="2428"/>
                  </a:lnTo>
                  <a:lnTo>
                    <a:pt x="1838071" y="607"/>
                  </a:lnTo>
                  <a:lnTo>
                    <a:pt x="182843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655924" y="1298524"/>
              <a:ext cx="1902460" cy="1170940"/>
            </a:xfrm>
            <a:custGeom>
              <a:avLst/>
              <a:gdLst/>
              <a:ahLst/>
              <a:cxnLst/>
              <a:rect l="l" t="t" r="r" b="b"/>
              <a:pathLst>
                <a:path w="1902459" h="11709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828431" y="0"/>
                  </a:lnTo>
                  <a:lnTo>
                    <a:pt x="1872964" y="15096"/>
                  </a:lnTo>
                  <a:lnTo>
                    <a:pt x="1899089" y="54219"/>
                  </a:lnTo>
                  <a:lnTo>
                    <a:pt x="1901520" y="73075"/>
                  </a:lnTo>
                  <a:lnTo>
                    <a:pt x="1901875" y="1096911"/>
                  </a:lnTo>
                  <a:lnTo>
                    <a:pt x="1901268" y="1106551"/>
                  </a:lnTo>
                  <a:lnTo>
                    <a:pt x="1899446" y="1115952"/>
                  </a:lnTo>
                  <a:lnTo>
                    <a:pt x="1873170" y="1154896"/>
                  </a:lnTo>
                  <a:lnTo>
                    <a:pt x="1828800" y="1170000"/>
                  </a:lnTo>
                  <a:lnTo>
                    <a:pt x="73075" y="1170355"/>
                  </a:lnTo>
                  <a:lnTo>
                    <a:pt x="28548" y="1155251"/>
                  </a:lnTo>
                  <a:lnTo>
                    <a:pt x="2428" y="1116131"/>
                  </a:lnTo>
                  <a:lnTo>
                    <a:pt x="0" y="109728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832225" y="1505775"/>
            <a:ext cx="1546860" cy="78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pt-BR" sz="1550" b="1">
                <a:solidFill>
                  <a:srgbClr val="C3862D"/>
                </a:solidFill>
                <a:latin typeface="Arial"/>
                <a:cs typeface="Arial"/>
              </a:rPr>
              <a:t>Campo</a:t>
            </a:r>
            <a:r>
              <a:rPr lang="pt-BR" sz="1550" b="1" spc="-30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pt-BR" sz="1550" b="1">
                <a:solidFill>
                  <a:srgbClr val="C3862D"/>
                </a:solidFill>
                <a:latin typeface="Arial"/>
                <a:cs typeface="Arial"/>
              </a:rPr>
              <a:t>/</a:t>
            </a:r>
            <a:r>
              <a:rPr lang="pt-BR" sz="1550" b="1" spc="-30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pt-BR" sz="1550" b="1" spc="-25">
                <a:solidFill>
                  <a:srgbClr val="C3862D"/>
                </a:solidFill>
                <a:latin typeface="Arial"/>
                <a:cs typeface="Arial"/>
              </a:rPr>
              <a:t>DEM</a:t>
            </a:r>
            <a:endParaRPr lang="pt-BR" sz="1550">
              <a:latin typeface="Arial"/>
              <a:cs typeface="Arial"/>
            </a:endParaRPr>
          </a:p>
          <a:p>
            <a:pPr marL="12065" marR="5080" algn="ctr">
              <a:lnSpc>
                <a:spcPct val="103000"/>
              </a:lnSpc>
              <a:spcBef>
                <a:spcPts val="1150"/>
              </a:spcBef>
            </a:pPr>
            <a:r>
              <a:rPr lang="pt-BR" sz="1200">
                <a:solidFill>
                  <a:srgbClr val="000000"/>
                </a:solidFill>
                <a:latin typeface="Arial"/>
                <a:cs typeface="Arial"/>
              </a:rPr>
              <a:t>Biomasa,</a:t>
            </a:r>
            <a:r>
              <a:rPr lang="pt-BR" sz="1200" spc="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1200" spc="-10">
                <a:solidFill>
                  <a:srgbClr val="000000"/>
                </a:solidFill>
                <a:latin typeface="Arial"/>
                <a:cs typeface="Arial"/>
              </a:rPr>
              <a:t>DAP,</a:t>
            </a:r>
            <a:r>
              <a:rPr lang="pt-BR" sz="120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sz="1200" spc="-10">
                <a:solidFill>
                  <a:srgbClr val="000000"/>
                </a:solidFill>
                <a:latin typeface="Arial"/>
                <a:cs typeface="Arial"/>
              </a:rPr>
              <a:t>altura, relieve</a:t>
            </a:r>
            <a:endParaRPr lang="pt-BR"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10900" y="3298215"/>
            <a:ext cx="3579495" cy="730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MX" sz="1300" b="1">
                <a:solidFill>
                  <a:srgbClr val="1D4938"/>
                </a:solidFill>
                <a:latin typeface="Arial"/>
                <a:cs typeface="Arial"/>
              </a:rPr>
              <a:t>Modelo</a:t>
            </a:r>
            <a:r>
              <a:rPr lang="es-MX" sz="1300" b="1" spc="-2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300" b="1" spc="-10">
                <a:solidFill>
                  <a:srgbClr val="1D4938"/>
                </a:solidFill>
                <a:latin typeface="Arial"/>
                <a:cs typeface="Arial"/>
              </a:rPr>
              <a:t>jerárquico</a:t>
            </a:r>
            <a:r>
              <a:rPr lang="es-MX" sz="1300" b="1" spc="-2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300" b="1">
                <a:solidFill>
                  <a:srgbClr val="1D4938"/>
                </a:solidFill>
                <a:latin typeface="Arial"/>
                <a:cs typeface="Arial"/>
              </a:rPr>
              <a:t>/</a:t>
            </a:r>
            <a:r>
              <a:rPr lang="es-MX" sz="1300" b="1" spc="-2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300" b="1" spc="-10">
                <a:solidFill>
                  <a:srgbClr val="1D4938"/>
                </a:solidFill>
                <a:latin typeface="Arial"/>
                <a:cs typeface="Arial"/>
              </a:rPr>
              <a:t>aprendizaje</a:t>
            </a:r>
            <a:r>
              <a:rPr lang="es-MX" sz="1300" b="1" spc="-2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MX" sz="1300" b="1" spc="-10">
                <a:solidFill>
                  <a:srgbClr val="1D4938"/>
                </a:solidFill>
                <a:latin typeface="Arial"/>
                <a:cs typeface="Arial"/>
              </a:rPr>
              <a:t>automático</a:t>
            </a:r>
            <a:endParaRPr lang="es-MX"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lang="es-MX" sz="1100">
                <a:solidFill>
                  <a:srgbClr val="000000"/>
                </a:solidFill>
                <a:latin typeface="Arial"/>
                <a:cs typeface="Arial"/>
              </a:rPr>
              <a:t>Calibración</a:t>
            </a:r>
            <a:r>
              <a:rPr lang="es-MX" sz="11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000000"/>
                </a:solidFill>
                <a:latin typeface="Arial"/>
                <a:cs typeface="Arial"/>
              </a:rPr>
              <a:t>·</a:t>
            </a:r>
            <a:r>
              <a:rPr lang="es-MX" sz="11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000000"/>
                </a:solidFill>
                <a:latin typeface="Arial"/>
                <a:cs typeface="Arial"/>
              </a:rPr>
              <a:t>validación</a:t>
            </a:r>
            <a:r>
              <a:rPr lang="es-MX" sz="11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000000"/>
                </a:solidFill>
                <a:latin typeface="Arial"/>
                <a:cs typeface="Arial"/>
              </a:rPr>
              <a:t>espacial</a:t>
            </a:r>
            <a:r>
              <a:rPr lang="es-MX" sz="11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000000"/>
                </a:solidFill>
                <a:latin typeface="Arial"/>
                <a:cs typeface="Arial"/>
              </a:rPr>
              <a:t>·</a:t>
            </a:r>
            <a:r>
              <a:rPr lang="es-MX" sz="11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000000"/>
                </a:solidFill>
                <a:latin typeface="Arial"/>
                <a:cs typeface="Arial"/>
              </a:rPr>
              <a:t>incertidumbre</a:t>
            </a:r>
            <a:r>
              <a:rPr lang="es-MX" sz="11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100">
                <a:solidFill>
                  <a:srgbClr val="000000"/>
                </a:solidFill>
                <a:latin typeface="Arial"/>
                <a:cs typeface="Arial"/>
              </a:rPr>
              <a:t>·</a:t>
            </a:r>
            <a:r>
              <a:rPr lang="es-MX" sz="11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100" spc="-10">
                <a:solidFill>
                  <a:srgbClr val="000000"/>
                </a:solidFill>
                <a:latin typeface="Arial"/>
                <a:cs typeface="Arial"/>
              </a:rPr>
              <a:t>extrapolación</a:t>
            </a:r>
            <a:endParaRPr lang="es-MX" sz="11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649225" y="4132795"/>
            <a:ext cx="4900000" cy="1136365"/>
            <a:chOff x="3649225" y="4132795"/>
            <a:chExt cx="4900000" cy="1136365"/>
          </a:xfrm>
        </p:grpSpPr>
        <p:sp>
          <p:nvSpPr>
            <p:cNvPr id="40" name="object 40"/>
            <p:cNvSpPr/>
            <p:nvPr/>
          </p:nvSpPr>
          <p:spPr>
            <a:xfrm>
              <a:off x="6098755" y="4132795"/>
              <a:ext cx="635" cy="459105"/>
            </a:xfrm>
            <a:custGeom>
              <a:avLst/>
              <a:gdLst/>
              <a:ahLst/>
              <a:cxnLst/>
              <a:rect l="l" t="t" r="r" b="b"/>
              <a:pathLst>
                <a:path w="635" h="459104">
                  <a:moveTo>
                    <a:pt x="0" y="0"/>
                  </a:moveTo>
                  <a:lnTo>
                    <a:pt x="368" y="459003"/>
                  </a:lnTo>
                </a:path>
              </a:pathLst>
            </a:custGeom>
            <a:ln w="25559">
              <a:solidFill>
                <a:srgbClr val="C386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60605" y="4586757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76669" y="0"/>
                  </a:moveTo>
                  <a:lnTo>
                    <a:pt x="0" y="0"/>
                  </a:lnTo>
                  <a:lnTo>
                    <a:pt x="38519" y="76682"/>
                  </a:lnTo>
                  <a:lnTo>
                    <a:pt x="76669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49225" y="4709160"/>
              <a:ext cx="4900000" cy="560000"/>
            </a:xfrm>
            <a:custGeom>
              <a:avLst/>
              <a:gdLst/>
              <a:ahLst/>
              <a:cxnLst/>
              <a:rect l="l" t="t" r="r" b="b"/>
              <a:pathLst>
                <a:path w="5834380" h="960120">
                  <a:moveTo>
                    <a:pt x="576036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594" y="896315"/>
                  </a:lnTo>
                  <a:lnTo>
                    <a:pt x="607" y="896520"/>
                  </a:lnTo>
                  <a:lnTo>
                    <a:pt x="2395" y="905716"/>
                  </a:lnTo>
                  <a:lnTo>
                    <a:pt x="2430" y="905895"/>
                  </a:lnTo>
                  <a:lnTo>
                    <a:pt x="5417" y="914779"/>
                  </a:lnTo>
                  <a:lnTo>
                    <a:pt x="36360" y="950404"/>
                  </a:lnTo>
                  <a:lnTo>
                    <a:pt x="73088" y="960119"/>
                  </a:lnTo>
                  <a:lnTo>
                    <a:pt x="5760720" y="959764"/>
                  </a:lnTo>
                  <a:lnTo>
                    <a:pt x="5805097" y="944660"/>
                  </a:lnTo>
                  <a:lnTo>
                    <a:pt x="5828261" y="914935"/>
                  </a:lnTo>
                  <a:lnTo>
                    <a:pt x="5828338" y="914779"/>
                  </a:lnTo>
                  <a:lnTo>
                    <a:pt x="5833785" y="887044"/>
                  </a:lnTo>
                  <a:lnTo>
                    <a:pt x="5833808" y="886675"/>
                  </a:lnTo>
                  <a:lnTo>
                    <a:pt x="5833440" y="73075"/>
                  </a:lnTo>
                  <a:lnTo>
                    <a:pt x="5818348" y="28705"/>
                  </a:lnTo>
                  <a:lnTo>
                    <a:pt x="5779398" y="2428"/>
                  </a:lnTo>
                  <a:lnTo>
                    <a:pt x="5769998" y="607"/>
                  </a:lnTo>
                  <a:lnTo>
                    <a:pt x="5760364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49225" y="4709159"/>
              <a:ext cx="4900000" cy="560000"/>
            </a:xfrm>
            <a:custGeom>
              <a:avLst/>
              <a:gdLst/>
              <a:ahLst/>
              <a:cxnLst/>
              <a:rect l="l" t="t" r="r" b="b"/>
              <a:pathLst>
                <a:path w="5834380" h="96012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5760364" y="0"/>
                  </a:lnTo>
                  <a:lnTo>
                    <a:pt x="5804891" y="15104"/>
                  </a:lnTo>
                  <a:lnTo>
                    <a:pt x="5831011" y="54224"/>
                  </a:lnTo>
                  <a:lnTo>
                    <a:pt x="5833440" y="73075"/>
                  </a:lnTo>
                  <a:lnTo>
                    <a:pt x="5833808" y="886675"/>
                  </a:lnTo>
                  <a:lnTo>
                    <a:pt x="5833201" y="896315"/>
                  </a:lnTo>
                  <a:lnTo>
                    <a:pt x="5831378" y="905716"/>
                  </a:lnTo>
                  <a:lnTo>
                    <a:pt x="5805097" y="944660"/>
                  </a:lnTo>
                  <a:lnTo>
                    <a:pt x="5760720" y="959764"/>
                  </a:lnTo>
                  <a:lnTo>
                    <a:pt x="73088" y="960119"/>
                  </a:lnTo>
                  <a:lnTo>
                    <a:pt x="28555" y="945015"/>
                  </a:lnTo>
                  <a:lnTo>
                    <a:pt x="2430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899225" y="4881000"/>
            <a:ext cx="440000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50" b="1">
                <a:solidFill>
                  <a:srgbClr val="FFFFFF"/>
                </a:solidFill>
                <a:latin typeface="Arial"/>
                <a:cs typeface="Arial"/>
              </a:rPr>
              <a:t>Mapa</a:t>
            </a:r>
            <a:r>
              <a:rPr lang="es-ES" sz="1250" b="1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250" b="1">
                <a:solidFill>
                  <a:srgbClr val="FFFFFF"/>
                </a:solidFill>
                <a:latin typeface="Arial"/>
                <a:cs typeface="Arial"/>
              </a:rPr>
              <a:t>continuo</a:t>
            </a:r>
            <a:r>
              <a:rPr lang="es-ES" sz="1250" b="1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25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lang="es-ES" sz="1250" b="1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250" b="1">
                <a:solidFill>
                  <a:srgbClr val="FFFFFF"/>
                </a:solidFill>
                <a:latin typeface="Arial"/>
                <a:cs typeface="Arial"/>
              </a:rPr>
              <a:t>biomasa</a:t>
            </a:r>
            <a:r>
              <a:rPr lang="es-ES" sz="1250" b="1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250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lang="es-ES" sz="1250" b="1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250" b="1">
                <a:solidFill>
                  <a:srgbClr val="FFFFFF"/>
                </a:solidFill>
                <a:latin typeface="Arial"/>
                <a:cs typeface="Arial"/>
              </a:rPr>
              <a:t>intervalos</a:t>
            </a:r>
            <a:r>
              <a:rPr lang="es-ES" sz="1250" b="1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25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lang="es-ES" sz="1250" b="1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250" b="1" spc="-10">
                <a:solidFill>
                  <a:srgbClr val="FFFFFF"/>
                </a:solidFill>
                <a:latin typeface="Arial"/>
                <a:cs typeface="Arial"/>
              </a:rPr>
              <a:t>incertidumbre</a:t>
            </a:r>
            <a:endParaRPr lang="es-ES" sz="12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37006" y="5525204"/>
            <a:ext cx="1071798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MX" sz="1400" b="1" spc="-10" dirty="0">
                <a:solidFill>
                  <a:srgbClr val="0070C0"/>
                </a:solidFill>
                <a:latin typeface="Arial"/>
                <a:cs typeface="Arial"/>
              </a:rPr>
              <a:t>Validación</a:t>
            </a:r>
            <a:r>
              <a:rPr lang="es-MX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spc="-10" dirty="0">
                <a:solidFill>
                  <a:srgbClr val="0070C0"/>
                </a:solidFill>
                <a:latin typeface="Arial"/>
                <a:cs typeface="Arial"/>
              </a:rPr>
              <a:t>independiente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y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partición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espacial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son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spc="-10" dirty="0">
                <a:solidFill>
                  <a:srgbClr val="0070C0"/>
                </a:solidFill>
                <a:latin typeface="Arial"/>
                <a:cs typeface="Arial"/>
              </a:rPr>
              <a:t>obligatorias: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una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alta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precisión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interna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puede</a:t>
            </a:r>
            <a:r>
              <a:rPr lang="es-MX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reflejar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fuga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espacial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o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dependencia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dirty="0">
                <a:solidFill>
                  <a:srgbClr val="0070C0"/>
                </a:solidFill>
                <a:latin typeface="Arial"/>
                <a:cs typeface="Arial"/>
              </a:rPr>
              <a:t>entre</a:t>
            </a:r>
            <a:r>
              <a:rPr lang="es-MX" sz="14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MX" sz="1400" b="1" spc="-10" dirty="0">
                <a:solidFill>
                  <a:srgbClr val="0070C0"/>
                </a:solidFill>
                <a:latin typeface="Arial"/>
                <a:cs typeface="Arial"/>
              </a:rPr>
              <a:t>segmentos.</a:t>
            </a:r>
            <a:endParaRPr lang="es-MX" sz="1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50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51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52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36/43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Conclusiones</a:t>
            </a:r>
          </a:p>
        </p:txBody>
      </p:sp>
      <p:sp>
        <p:nvSpPr>
          <p:cNvPr id="5" name="object 5"/>
          <p:cNvSpPr/>
          <p:nvPr/>
        </p:nvSpPr>
        <p:spPr>
          <a:xfrm>
            <a:off x="676440" y="130716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03311" y="9313"/>
                </a:lnTo>
                <a:lnTo>
                  <a:pt x="137160" y="36715"/>
                </a:lnTo>
                <a:lnTo>
                  <a:pt x="80327" y="80327"/>
                </a:lnTo>
                <a:lnTo>
                  <a:pt x="36715" y="137160"/>
                </a:lnTo>
                <a:lnTo>
                  <a:pt x="9313" y="203311"/>
                </a:lnTo>
                <a:lnTo>
                  <a:pt x="0" y="274320"/>
                </a:lnTo>
                <a:lnTo>
                  <a:pt x="2345" y="310228"/>
                </a:lnTo>
                <a:lnTo>
                  <a:pt x="20804" y="379215"/>
                </a:lnTo>
                <a:lnTo>
                  <a:pt x="56717" y="441397"/>
                </a:lnTo>
                <a:lnTo>
                  <a:pt x="107242" y="491922"/>
                </a:lnTo>
                <a:lnTo>
                  <a:pt x="169424" y="527835"/>
                </a:lnTo>
                <a:lnTo>
                  <a:pt x="238411" y="546294"/>
                </a:lnTo>
                <a:lnTo>
                  <a:pt x="274320" y="548639"/>
                </a:lnTo>
                <a:lnTo>
                  <a:pt x="310228" y="546294"/>
                </a:lnTo>
                <a:lnTo>
                  <a:pt x="379215" y="527835"/>
                </a:lnTo>
                <a:lnTo>
                  <a:pt x="441397" y="491922"/>
                </a:lnTo>
                <a:lnTo>
                  <a:pt x="491922" y="441397"/>
                </a:lnTo>
                <a:lnTo>
                  <a:pt x="527835" y="379215"/>
                </a:lnTo>
                <a:lnTo>
                  <a:pt x="546294" y="310228"/>
                </a:lnTo>
                <a:lnTo>
                  <a:pt x="548640" y="274320"/>
                </a:lnTo>
                <a:lnTo>
                  <a:pt x="546294" y="238411"/>
                </a:lnTo>
                <a:lnTo>
                  <a:pt x="527835" y="169424"/>
                </a:lnTo>
                <a:lnTo>
                  <a:pt x="491922" y="107242"/>
                </a:lnTo>
                <a:lnTo>
                  <a:pt x="441397" y="56717"/>
                </a:lnTo>
                <a:lnTo>
                  <a:pt x="379215" y="20804"/>
                </a:lnTo>
                <a:lnTo>
                  <a:pt x="310228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4699" y="143162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1620" y="1281849"/>
            <a:ext cx="714375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50" b="1" spc="-10">
                <a:solidFill>
                  <a:srgbClr val="1D4938"/>
                </a:solidFill>
                <a:latin typeface="Arial"/>
                <a:cs typeface="Arial"/>
              </a:rPr>
              <a:t>Métrica</a:t>
            </a:r>
            <a:endParaRPr lang="es-ES"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5015" y="1249095"/>
            <a:ext cx="7962265" cy="4639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h_canopy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(RH98)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es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variable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principal;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RH100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funciona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mejor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como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diagnóstico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sensible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5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extremos.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6440" y="2239924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03311" y="9313"/>
                </a:lnTo>
                <a:lnTo>
                  <a:pt x="137160" y="36715"/>
                </a:lnTo>
                <a:lnTo>
                  <a:pt x="80327" y="80317"/>
                </a:lnTo>
                <a:lnTo>
                  <a:pt x="36715" y="137160"/>
                </a:lnTo>
                <a:lnTo>
                  <a:pt x="9313" y="203306"/>
                </a:lnTo>
                <a:lnTo>
                  <a:pt x="0" y="274319"/>
                </a:lnTo>
                <a:lnTo>
                  <a:pt x="2345" y="310226"/>
                </a:lnTo>
                <a:lnTo>
                  <a:pt x="20804" y="379209"/>
                </a:lnTo>
                <a:lnTo>
                  <a:pt x="56717" y="441397"/>
                </a:lnTo>
                <a:lnTo>
                  <a:pt x="107242" y="491916"/>
                </a:lnTo>
                <a:lnTo>
                  <a:pt x="169424" y="527830"/>
                </a:lnTo>
                <a:lnTo>
                  <a:pt x="238411" y="546294"/>
                </a:lnTo>
                <a:lnTo>
                  <a:pt x="274320" y="548639"/>
                </a:lnTo>
                <a:lnTo>
                  <a:pt x="310228" y="546294"/>
                </a:lnTo>
                <a:lnTo>
                  <a:pt x="379215" y="527830"/>
                </a:lnTo>
                <a:lnTo>
                  <a:pt x="441397" y="491916"/>
                </a:lnTo>
                <a:lnTo>
                  <a:pt x="491922" y="441397"/>
                </a:lnTo>
                <a:lnTo>
                  <a:pt x="527835" y="379209"/>
                </a:lnTo>
                <a:lnTo>
                  <a:pt x="546294" y="310226"/>
                </a:lnTo>
                <a:lnTo>
                  <a:pt x="548640" y="274319"/>
                </a:lnTo>
                <a:lnTo>
                  <a:pt x="546294" y="238406"/>
                </a:lnTo>
                <a:lnTo>
                  <a:pt x="527835" y="169422"/>
                </a:lnTo>
                <a:lnTo>
                  <a:pt x="491922" y="107235"/>
                </a:lnTo>
                <a:lnTo>
                  <a:pt x="441397" y="56710"/>
                </a:lnTo>
                <a:lnTo>
                  <a:pt x="379215" y="20804"/>
                </a:lnTo>
                <a:lnTo>
                  <a:pt x="310228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296D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4699" y="236438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1620" y="2214613"/>
            <a:ext cx="834390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50" b="1" spc="-10">
                <a:solidFill>
                  <a:srgbClr val="296D6F"/>
                </a:solidFill>
                <a:latin typeface="Arial"/>
                <a:cs typeface="Arial"/>
              </a:rPr>
              <a:t>Hallazgo</a:t>
            </a:r>
            <a:endParaRPr lang="es-ES"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5015" y="2181860"/>
            <a:ext cx="8363584" cy="2449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muestra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operacional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Bosque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presenta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mayor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RH98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por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gránulo: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+3,75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m;</a:t>
            </a:r>
            <a:r>
              <a:rPr lang="es-MX" sz="1500" spc="-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IC95%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2,58-6,07.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6440" y="3172675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03311" y="9315"/>
                </a:lnTo>
                <a:lnTo>
                  <a:pt x="137160" y="36728"/>
                </a:lnTo>
                <a:lnTo>
                  <a:pt x="80327" y="80329"/>
                </a:lnTo>
                <a:lnTo>
                  <a:pt x="36715" y="137160"/>
                </a:lnTo>
                <a:lnTo>
                  <a:pt x="9313" y="203315"/>
                </a:lnTo>
                <a:lnTo>
                  <a:pt x="0" y="274319"/>
                </a:lnTo>
                <a:lnTo>
                  <a:pt x="2345" y="310233"/>
                </a:lnTo>
                <a:lnTo>
                  <a:pt x="20804" y="379217"/>
                </a:lnTo>
                <a:lnTo>
                  <a:pt x="56717" y="441404"/>
                </a:lnTo>
                <a:lnTo>
                  <a:pt x="107242" y="491929"/>
                </a:lnTo>
                <a:lnTo>
                  <a:pt x="169424" y="527835"/>
                </a:lnTo>
                <a:lnTo>
                  <a:pt x="238411" y="546294"/>
                </a:lnTo>
                <a:lnTo>
                  <a:pt x="274320" y="548639"/>
                </a:lnTo>
                <a:lnTo>
                  <a:pt x="310228" y="546294"/>
                </a:lnTo>
                <a:lnTo>
                  <a:pt x="379215" y="527835"/>
                </a:lnTo>
                <a:lnTo>
                  <a:pt x="441397" y="491929"/>
                </a:lnTo>
                <a:lnTo>
                  <a:pt x="491922" y="441404"/>
                </a:lnTo>
                <a:lnTo>
                  <a:pt x="527835" y="379217"/>
                </a:lnTo>
                <a:lnTo>
                  <a:pt x="546294" y="310233"/>
                </a:lnTo>
                <a:lnTo>
                  <a:pt x="548640" y="274319"/>
                </a:lnTo>
                <a:lnTo>
                  <a:pt x="546294" y="238413"/>
                </a:lnTo>
                <a:lnTo>
                  <a:pt x="527835" y="169430"/>
                </a:lnTo>
                <a:lnTo>
                  <a:pt x="491922" y="107242"/>
                </a:lnTo>
                <a:lnTo>
                  <a:pt x="441397" y="56723"/>
                </a:lnTo>
                <a:lnTo>
                  <a:pt x="379215" y="20809"/>
                </a:lnTo>
                <a:lnTo>
                  <a:pt x="310228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2E6E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4699" y="329713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1620" y="3147377"/>
            <a:ext cx="910590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50" b="1" spc="-10">
                <a:solidFill>
                  <a:srgbClr val="2E6E9D"/>
                </a:solidFill>
                <a:latin typeface="Arial"/>
                <a:cs typeface="Arial"/>
              </a:rPr>
              <a:t>Robustez</a:t>
            </a:r>
            <a:endParaRPr lang="es-ES"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95015" y="3114611"/>
            <a:ext cx="7843520" cy="4639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contraste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se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mantiene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al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exigir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más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segmentos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por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gránulo,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retirar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extremos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restringir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5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observaciones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diurnas.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6440" y="410544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03311" y="9313"/>
                </a:lnTo>
                <a:lnTo>
                  <a:pt x="137160" y="36715"/>
                </a:lnTo>
                <a:lnTo>
                  <a:pt x="80327" y="80327"/>
                </a:lnTo>
                <a:lnTo>
                  <a:pt x="36715" y="137159"/>
                </a:lnTo>
                <a:lnTo>
                  <a:pt x="9313" y="203311"/>
                </a:lnTo>
                <a:lnTo>
                  <a:pt x="0" y="274319"/>
                </a:lnTo>
                <a:lnTo>
                  <a:pt x="2345" y="310228"/>
                </a:lnTo>
                <a:lnTo>
                  <a:pt x="20804" y="379215"/>
                </a:lnTo>
                <a:lnTo>
                  <a:pt x="56717" y="441397"/>
                </a:lnTo>
                <a:lnTo>
                  <a:pt x="107242" y="491922"/>
                </a:lnTo>
                <a:lnTo>
                  <a:pt x="169424" y="527835"/>
                </a:lnTo>
                <a:lnTo>
                  <a:pt x="238411" y="546294"/>
                </a:lnTo>
                <a:lnTo>
                  <a:pt x="274320" y="548639"/>
                </a:lnTo>
                <a:lnTo>
                  <a:pt x="310228" y="546294"/>
                </a:lnTo>
                <a:lnTo>
                  <a:pt x="379215" y="527835"/>
                </a:lnTo>
                <a:lnTo>
                  <a:pt x="441397" y="491922"/>
                </a:lnTo>
                <a:lnTo>
                  <a:pt x="491922" y="441397"/>
                </a:lnTo>
                <a:lnTo>
                  <a:pt x="527835" y="379215"/>
                </a:lnTo>
                <a:lnTo>
                  <a:pt x="546294" y="310228"/>
                </a:lnTo>
                <a:lnTo>
                  <a:pt x="548640" y="274319"/>
                </a:lnTo>
                <a:lnTo>
                  <a:pt x="546294" y="238411"/>
                </a:lnTo>
                <a:lnTo>
                  <a:pt x="527835" y="169424"/>
                </a:lnTo>
                <a:lnTo>
                  <a:pt x="491922" y="107242"/>
                </a:lnTo>
                <a:lnTo>
                  <a:pt x="441397" y="56717"/>
                </a:lnTo>
                <a:lnTo>
                  <a:pt x="379215" y="20804"/>
                </a:lnTo>
                <a:lnTo>
                  <a:pt x="310228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A85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74699" y="422989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1620" y="4089501"/>
            <a:ext cx="132143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00" b="1" spc="-50">
                <a:solidFill>
                  <a:srgbClr val="A8503B"/>
                </a:solidFill>
                <a:latin typeface="Arial"/>
                <a:cs typeface="Arial"/>
              </a:rPr>
              <a:t>Límite</a:t>
            </a:r>
            <a:r>
              <a:rPr lang="es-ES" sz="1500" b="1" spc="-4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ES" sz="1500" b="1" spc="-35">
                <a:solidFill>
                  <a:srgbClr val="A8503B"/>
                </a:solidFill>
                <a:latin typeface="Arial"/>
                <a:cs typeface="Arial"/>
              </a:rPr>
              <a:t>decisivo</a:t>
            </a:r>
            <a:endParaRPr lang="es-ES"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95015" y="4047375"/>
            <a:ext cx="7598409" cy="4639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Exigir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incertidumbres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selecciona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alturas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menores,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especialmente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en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Bosque,</a:t>
            </a:r>
            <a:r>
              <a:rPr lang="es-MX" sz="1500" spc="-2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cambia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25">
                <a:solidFill>
                  <a:schemeClr val="tx1"/>
                </a:solidFill>
                <a:latin typeface="Arial"/>
                <a:cs typeface="Arial"/>
              </a:rPr>
              <a:t>la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población</a:t>
            </a:r>
            <a:r>
              <a:rPr lang="es-MX" sz="1500" spc="-3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analizada.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76440" y="5037835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03311" y="9315"/>
                </a:lnTo>
                <a:lnTo>
                  <a:pt x="137160" y="36728"/>
                </a:lnTo>
                <a:lnTo>
                  <a:pt x="80327" y="80329"/>
                </a:lnTo>
                <a:lnTo>
                  <a:pt x="36715" y="137159"/>
                </a:lnTo>
                <a:lnTo>
                  <a:pt x="9313" y="203315"/>
                </a:lnTo>
                <a:lnTo>
                  <a:pt x="0" y="274319"/>
                </a:lnTo>
                <a:lnTo>
                  <a:pt x="2345" y="310233"/>
                </a:lnTo>
                <a:lnTo>
                  <a:pt x="20804" y="379217"/>
                </a:lnTo>
                <a:lnTo>
                  <a:pt x="56717" y="441404"/>
                </a:lnTo>
                <a:lnTo>
                  <a:pt x="107242" y="491929"/>
                </a:lnTo>
                <a:lnTo>
                  <a:pt x="169424" y="527835"/>
                </a:lnTo>
                <a:lnTo>
                  <a:pt x="238411" y="546294"/>
                </a:lnTo>
                <a:lnTo>
                  <a:pt x="274320" y="548639"/>
                </a:lnTo>
                <a:lnTo>
                  <a:pt x="310228" y="546294"/>
                </a:lnTo>
                <a:lnTo>
                  <a:pt x="379215" y="527835"/>
                </a:lnTo>
                <a:lnTo>
                  <a:pt x="441397" y="491929"/>
                </a:lnTo>
                <a:lnTo>
                  <a:pt x="491922" y="441404"/>
                </a:lnTo>
                <a:lnTo>
                  <a:pt x="527835" y="379217"/>
                </a:lnTo>
                <a:lnTo>
                  <a:pt x="546294" y="310233"/>
                </a:lnTo>
                <a:lnTo>
                  <a:pt x="548640" y="274319"/>
                </a:lnTo>
                <a:lnTo>
                  <a:pt x="546294" y="238413"/>
                </a:lnTo>
                <a:lnTo>
                  <a:pt x="527835" y="169430"/>
                </a:lnTo>
                <a:lnTo>
                  <a:pt x="491922" y="107242"/>
                </a:lnTo>
                <a:lnTo>
                  <a:pt x="441397" y="56723"/>
                </a:lnTo>
                <a:lnTo>
                  <a:pt x="379215" y="20809"/>
                </a:lnTo>
                <a:lnTo>
                  <a:pt x="310228" y="2345"/>
                </a:lnTo>
                <a:lnTo>
                  <a:pt x="274320" y="0"/>
                </a:lnTo>
                <a:close/>
              </a:path>
            </a:pathLst>
          </a:custGeom>
          <a:solidFill>
            <a:srgbClr val="C386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74699" y="516229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s-ES"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31620" y="5012537"/>
            <a:ext cx="779780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50" b="1" spc="-10">
                <a:solidFill>
                  <a:srgbClr val="C3862D"/>
                </a:solidFill>
                <a:latin typeface="Arial"/>
                <a:cs typeface="Arial"/>
              </a:rPr>
              <a:t>Alcance</a:t>
            </a:r>
            <a:endParaRPr lang="es-ES" sz="1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95015" y="4979771"/>
            <a:ext cx="7419975" cy="4639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5"/>
              </a:spcBef>
            </a:pP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La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evidencia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no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identifica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un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efecto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causal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universal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del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tipo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cobertura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ni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permite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25">
                <a:solidFill>
                  <a:schemeClr val="tx1"/>
                </a:solidFill>
                <a:latin typeface="Arial"/>
                <a:cs typeface="Arial"/>
              </a:rPr>
              <a:t>un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antes/después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incendio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con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>
                <a:solidFill>
                  <a:schemeClr val="tx1"/>
                </a:solidFill>
                <a:latin typeface="Arial"/>
                <a:cs typeface="Arial"/>
              </a:rPr>
              <a:t>huellas</a:t>
            </a:r>
            <a:r>
              <a:rPr lang="es-MX" sz="1500" spc="-1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s-MX" sz="1500" spc="-10">
                <a:solidFill>
                  <a:schemeClr val="tx1"/>
                </a:solidFill>
                <a:latin typeface="Arial"/>
                <a:cs typeface="Arial"/>
              </a:rPr>
              <a:t>distintas.</a:t>
            </a:r>
            <a:endParaRPr lang="es-MX" sz="15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29584" y="5715000"/>
            <a:ext cx="9720580" cy="320675"/>
            <a:chOff x="1229584" y="5993100"/>
            <a:chExt cx="9720580" cy="320675"/>
          </a:xfrm>
        </p:grpSpPr>
        <p:sp>
          <p:nvSpPr>
            <p:cNvPr id="26" name="object 26"/>
            <p:cNvSpPr/>
            <p:nvPr/>
          </p:nvSpPr>
          <p:spPr>
            <a:xfrm>
              <a:off x="1234084" y="5997600"/>
              <a:ext cx="9711690" cy="311785"/>
            </a:xfrm>
            <a:custGeom>
              <a:avLst/>
              <a:gdLst/>
              <a:ahLst/>
              <a:cxnLst/>
              <a:rect l="l" t="t" r="r" b="b"/>
              <a:pathLst>
                <a:path w="9711690" h="311785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247319"/>
                  </a:lnTo>
                  <a:lnTo>
                    <a:pt x="538" y="255667"/>
                  </a:lnTo>
                  <a:lnTo>
                    <a:pt x="18735" y="292544"/>
                  </a:lnTo>
                  <a:lnTo>
                    <a:pt x="55728" y="310863"/>
                  </a:lnTo>
                  <a:lnTo>
                    <a:pt x="64071" y="311403"/>
                  </a:lnTo>
                  <a:lnTo>
                    <a:pt x="9647275" y="311403"/>
                  </a:lnTo>
                  <a:lnTo>
                    <a:pt x="9686312" y="298039"/>
                  </a:lnTo>
                  <a:lnTo>
                    <a:pt x="9709197" y="263879"/>
                  </a:lnTo>
                  <a:lnTo>
                    <a:pt x="9711359" y="247319"/>
                  </a:lnTo>
                  <a:lnTo>
                    <a:pt x="9711336" y="64084"/>
                  </a:lnTo>
                  <a:lnTo>
                    <a:pt x="9697995" y="25402"/>
                  </a:lnTo>
                  <a:lnTo>
                    <a:pt x="9663834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CE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34084" y="5997600"/>
              <a:ext cx="9711690" cy="311785"/>
            </a:xfrm>
            <a:custGeom>
              <a:avLst/>
              <a:gdLst/>
              <a:ahLst/>
              <a:cxnLst/>
              <a:rect l="l" t="t" r="r" b="b"/>
              <a:pathLst>
                <a:path w="9711690" h="311785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9647275" y="355"/>
                  </a:lnTo>
                  <a:lnTo>
                    <a:pt x="9686262" y="13570"/>
                  </a:lnTo>
                  <a:lnTo>
                    <a:pt x="9709197" y="47880"/>
                  </a:lnTo>
                  <a:lnTo>
                    <a:pt x="9711359" y="64439"/>
                  </a:lnTo>
                  <a:lnTo>
                    <a:pt x="9711359" y="247319"/>
                  </a:lnTo>
                  <a:lnTo>
                    <a:pt x="9710819" y="255667"/>
                  </a:lnTo>
                  <a:lnTo>
                    <a:pt x="9709197" y="263879"/>
                  </a:lnTo>
                  <a:lnTo>
                    <a:pt x="9686312" y="298039"/>
                  </a:lnTo>
                  <a:lnTo>
                    <a:pt x="9647275" y="311403"/>
                  </a:lnTo>
                  <a:lnTo>
                    <a:pt x="64071" y="311403"/>
                  </a:lnTo>
                  <a:lnTo>
                    <a:pt x="25086" y="298189"/>
                  </a:lnTo>
                  <a:lnTo>
                    <a:pt x="2155" y="263879"/>
                  </a:lnTo>
                  <a:lnTo>
                    <a:pt x="0" y="24731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34439" y="5997955"/>
              <a:ext cx="82550" cy="311150"/>
            </a:xfrm>
            <a:custGeom>
              <a:avLst/>
              <a:gdLst/>
              <a:ahLst/>
              <a:cxnLst/>
              <a:rect l="l" t="t" r="r" b="b"/>
              <a:pathLst>
                <a:path w="82550" h="311150">
                  <a:moveTo>
                    <a:pt x="82080" y="0"/>
                  </a:moveTo>
                  <a:lnTo>
                    <a:pt x="0" y="0"/>
                  </a:lnTo>
                  <a:lnTo>
                    <a:pt x="0" y="310680"/>
                  </a:lnTo>
                  <a:lnTo>
                    <a:pt x="41033" y="310680"/>
                  </a:lnTo>
                  <a:lnTo>
                    <a:pt x="82080" y="31068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35580" y="5806165"/>
            <a:ext cx="8983357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Sí:</a:t>
            </a:r>
            <a:r>
              <a:rPr lang="es-MX" sz="105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mayor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RH98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muestra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operacional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Bosque.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aún:</a:t>
            </a:r>
            <a:r>
              <a:rPr lang="es-MX" sz="105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diferencia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causal,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universal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o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cambio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>
                <a:solidFill>
                  <a:srgbClr val="1F2F28"/>
                </a:solidFill>
                <a:latin typeface="Arial"/>
                <a:cs typeface="Arial"/>
              </a:rPr>
              <a:t>incendio</a:t>
            </a:r>
            <a:r>
              <a:rPr lang="es-MX" sz="105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050" b="1" spc="-10">
                <a:solidFill>
                  <a:srgbClr val="1F2F28"/>
                </a:solidFill>
                <a:latin typeface="Arial"/>
                <a:cs typeface="Arial"/>
              </a:rPr>
              <a:t>cuantificado.</a:t>
            </a:r>
            <a:endParaRPr lang="es-MX" sz="1050">
              <a:latin typeface="Arial"/>
              <a:cs typeface="Arial"/>
            </a:endParaRPr>
          </a:p>
        </p:txBody>
      </p:sp>
      <p:sp>
        <p:nvSpPr>
          <p:cNvPr id="30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31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32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38/43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Próximos</a:t>
            </a:r>
            <a:r>
              <a:rPr spc="-60"/>
              <a:t> </a:t>
            </a:r>
            <a:r>
              <a:t>pasos</a:t>
            </a:r>
            <a:r>
              <a:rPr spc="-60"/>
              <a:t> </a:t>
            </a:r>
            <a:r>
              <a:t>y</a:t>
            </a:r>
            <a:r>
              <a:rPr spc="-60"/>
              <a:t> </a:t>
            </a:r>
            <a:r>
              <a:t>control</a:t>
            </a:r>
            <a:r>
              <a:rPr spc="-60"/>
              <a:t> </a:t>
            </a:r>
            <a:r>
              <a:t>de</a:t>
            </a:r>
            <a:r>
              <a:rPr spc="-60"/>
              <a:t> </a:t>
            </a:r>
            <a:r>
              <a:rPr spc="-10"/>
              <a:t>calidad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35580" y="1275660"/>
            <a:ext cx="3529965" cy="1440000"/>
            <a:chOff x="635580" y="1275660"/>
            <a:chExt cx="3529965" cy="127127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40079" y="1280160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80">
                  <a:moveTo>
                    <a:pt x="3446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88719"/>
                  </a:lnTo>
                  <a:lnTo>
                    <a:pt x="594" y="1197996"/>
                  </a:lnTo>
                  <a:lnTo>
                    <a:pt x="607" y="1198198"/>
                  </a:lnTo>
                  <a:lnTo>
                    <a:pt x="2393" y="1207393"/>
                  </a:lnTo>
                  <a:lnTo>
                    <a:pt x="2428" y="1207576"/>
                  </a:lnTo>
                  <a:lnTo>
                    <a:pt x="5410" y="1216455"/>
                  </a:lnTo>
                  <a:lnTo>
                    <a:pt x="5464" y="1216616"/>
                  </a:lnTo>
                  <a:lnTo>
                    <a:pt x="9715" y="1225080"/>
                  </a:lnTo>
                  <a:lnTo>
                    <a:pt x="44984" y="1256330"/>
                  </a:lnTo>
                  <a:lnTo>
                    <a:pt x="73075" y="1261795"/>
                  </a:lnTo>
                  <a:lnTo>
                    <a:pt x="3447364" y="1261440"/>
                  </a:lnTo>
                  <a:lnTo>
                    <a:pt x="3491734" y="1246341"/>
                  </a:lnTo>
                  <a:lnTo>
                    <a:pt x="3517949" y="1207576"/>
                  </a:lnTo>
                  <a:lnTo>
                    <a:pt x="3518011" y="1207393"/>
                  </a:lnTo>
                  <a:lnTo>
                    <a:pt x="3519793" y="1198198"/>
                  </a:lnTo>
                  <a:lnTo>
                    <a:pt x="3519832" y="1197996"/>
                  </a:lnTo>
                  <a:lnTo>
                    <a:pt x="3520417" y="1188719"/>
                  </a:lnTo>
                  <a:lnTo>
                    <a:pt x="3520084" y="73075"/>
                  </a:lnTo>
                  <a:lnTo>
                    <a:pt x="3504980" y="28705"/>
                  </a:lnTo>
                  <a:lnTo>
                    <a:pt x="3466036" y="2428"/>
                  </a:lnTo>
                  <a:lnTo>
                    <a:pt x="3456635" y="607"/>
                  </a:lnTo>
                  <a:lnTo>
                    <a:pt x="344699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79" y="1280160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446995" y="0"/>
                  </a:lnTo>
                  <a:lnTo>
                    <a:pt x="3491528" y="15104"/>
                  </a:lnTo>
                  <a:lnTo>
                    <a:pt x="3517653" y="54224"/>
                  </a:lnTo>
                  <a:lnTo>
                    <a:pt x="3520084" y="73075"/>
                  </a:lnTo>
                  <a:lnTo>
                    <a:pt x="3520440" y="1188364"/>
                  </a:lnTo>
                  <a:lnTo>
                    <a:pt x="3519832" y="1197996"/>
                  </a:lnTo>
                  <a:lnTo>
                    <a:pt x="3518011" y="1207393"/>
                  </a:lnTo>
                  <a:lnTo>
                    <a:pt x="3491734" y="1246341"/>
                  </a:lnTo>
                  <a:lnTo>
                    <a:pt x="3447364" y="1261440"/>
                  </a:lnTo>
                  <a:lnTo>
                    <a:pt x="73075" y="1261795"/>
                  </a:lnTo>
                  <a:lnTo>
                    <a:pt x="28555" y="1246698"/>
                  </a:lnTo>
                  <a:lnTo>
                    <a:pt x="2428" y="1207576"/>
                  </a:lnTo>
                  <a:lnTo>
                    <a:pt x="0" y="1188719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960" y="148103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20"/>
                  </a:lnTo>
                  <a:lnTo>
                    <a:pt x="18832" y="341433"/>
                  </a:lnTo>
                  <a:lnTo>
                    <a:pt x="51089" y="397322"/>
                  </a:lnTo>
                  <a:lnTo>
                    <a:pt x="96606" y="442839"/>
                  </a:lnTo>
                  <a:lnTo>
                    <a:pt x="152495" y="475095"/>
                  </a:lnTo>
                  <a:lnTo>
                    <a:pt x="214707" y="491791"/>
                  </a:lnTo>
                  <a:lnTo>
                    <a:pt x="246964" y="493928"/>
                  </a:lnTo>
                  <a:lnTo>
                    <a:pt x="279213" y="491791"/>
                  </a:lnTo>
                  <a:lnTo>
                    <a:pt x="341420" y="475095"/>
                  </a:lnTo>
                  <a:lnTo>
                    <a:pt x="397316" y="442839"/>
                  </a:lnTo>
                  <a:lnTo>
                    <a:pt x="442833" y="397322"/>
                  </a:lnTo>
                  <a:lnTo>
                    <a:pt x="475082" y="341433"/>
                  </a:lnTo>
                  <a:lnTo>
                    <a:pt x="491778" y="279220"/>
                  </a:lnTo>
                  <a:lnTo>
                    <a:pt x="493915" y="246964"/>
                  </a:lnTo>
                  <a:lnTo>
                    <a:pt x="491778" y="214707"/>
                  </a:lnTo>
                  <a:lnTo>
                    <a:pt x="475082" y="152495"/>
                  </a:lnTo>
                  <a:lnTo>
                    <a:pt x="442833" y="96606"/>
                  </a:lnTo>
                  <a:lnTo>
                    <a:pt x="397316" y="51089"/>
                  </a:lnTo>
                  <a:lnTo>
                    <a:pt x="341420" y="18832"/>
                  </a:lnTo>
                  <a:lnTo>
                    <a:pt x="279213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24102" y="157669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8335" y="1450340"/>
            <a:ext cx="2468245" cy="152704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>
                <a:solidFill>
                  <a:srgbClr val="1F2F28"/>
                </a:solidFill>
                <a:latin typeface="Arial"/>
                <a:cs typeface="Arial"/>
              </a:rPr>
              <a:t>Reextraer</a:t>
            </a:r>
            <a:r>
              <a:rPr lang="es-ES" sz="1700" b="1" spc="-10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700" b="1" spc="-20">
                <a:solidFill>
                  <a:srgbClr val="1F2F28"/>
                </a:solidFill>
                <a:latin typeface="Arial"/>
                <a:cs typeface="Arial"/>
              </a:rPr>
              <a:t>V007</a:t>
            </a:r>
            <a:endParaRPr lang="es-ES" sz="1700">
              <a:latin typeface="Arial"/>
              <a:cs typeface="Arial"/>
            </a:endParaRPr>
          </a:p>
          <a:p>
            <a:pPr marL="12700" marR="5080">
              <a:lnSpc>
                <a:spcPts val="1450"/>
              </a:lnSpc>
              <a:spcBef>
                <a:spcPts val="1535"/>
              </a:spcBef>
            </a:pP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Incorporar</a:t>
            </a:r>
            <a:r>
              <a:rPr lang="es-ES" sz="12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can_quality_score,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te_quality_score,</a:t>
            </a:r>
            <a:r>
              <a:rPr lang="es-ES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canopy_rh_conf,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h_canopy_uncertainty</a:t>
            </a:r>
            <a:r>
              <a:rPr lang="es-ES" sz="12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lang="es-ES" sz="12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rutas</a:t>
            </a:r>
            <a:r>
              <a:rPr lang="es-ES" sz="12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completas</a:t>
            </a:r>
            <a:r>
              <a:rPr lang="es-ES" sz="1200" spc="-25">
                <a:solidFill>
                  <a:srgbClr val="000000"/>
                </a:solidFill>
                <a:latin typeface="Arial"/>
                <a:cs typeface="Arial"/>
              </a:rPr>
              <a:t> de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percentiles.</a:t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29895" y="1275660"/>
            <a:ext cx="3529965" cy="1440000"/>
            <a:chOff x="4329895" y="1275660"/>
            <a:chExt cx="3529965" cy="127127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2" name="object 12"/>
            <p:cNvSpPr/>
            <p:nvPr/>
          </p:nvSpPr>
          <p:spPr>
            <a:xfrm>
              <a:off x="4334395" y="1280160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80">
                  <a:moveTo>
                    <a:pt x="344700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88719"/>
                  </a:lnTo>
                  <a:lnTo>
                    <a:pt x="594" y="1197996"/>
                  </a:lnTo>
                  <a:lnTo>
                    <a:pt x="607" y="1198198"/>
                  </a:lnTo>
                  <a:lnTo>
                    <a:pt x="2394" y="1207393"/>
                  </a:lnTo>
                  <a:lnTo>
                    <a:pt x="2430" y="1207576"/>
                  </a:lnTo>
                  <a:lnTo>
                    <a:pt x="5416" y="1216455"/>
                  </a:lnTo>
                  <a:lnTo>
                    <a:pt x="5470" y="1216616"/>
                  </a:lnTo>
                  <a:lnTo>
                    <a:pt x="9728" y="1225080"/>
                  </a:lnTo>
                  <a:lnTo>
                    <a:pt x="44984" y="1256330"/>
                  </a:lnTo>
                  <a:lnTo>
                    <a:pt x="73088" y="1261795"/>
                  </a:lnTo>
                  <a:lnTo>
                    <a:pt x="3447364" y="1261440"/>
                  </a:lnTo>
                  <a:lnTo>
                    <a:pt x="3491741" y="1246341"/>
                  </a:lnTo>
                  <a:lnTo>
                    <a:pt x="3517949" y="1207576"/>
                  </a:lnTo>
                  <a:lnTo>
                    <a:pt x="3518011" y="1207393"/>
                  </a:lnTo>
                  <a:lnTo>
                    <a:pt x="3519793" y="1198198"/>
                  </a:lnTo>
                  <a:lnTo>
                    <a:pt x="3519832" y="1197996"/>
                  </a:lnTo>
                  <a:lnTo>
                    <a:pt x="3520417" y="1188719"/>
                  </a:lnTo>
                  <a:lnTo>
                    <a:pt x="3520440" y="1188364"/>
                  </a:lnTo>
                  <a:lnTo>
                    <a:pt x="3520084" y="73075"/>
                  </a:lnTo>
                  <a:lnTo>
                    <a:pt x="3504985" y="28705"/>
                  </a:lnTo>
                  <a:lnTo>
                    <a:pt x="3466037" y="2428"/>
                  </a:lnTo>
                  <a:lnTo>
                    <a:pt x="3456640" y="607"/>
                  </a:lnTo>
                  <a:lnTo>
                    <a:pt x="344700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34395" y="1280160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8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47008" y="0"/>
                  </a:lnTo>
                  <a:lnTo>
                    <a:pt x="3491529" y="15104"/>
                  </a:lnTo>
                  <a:lnTo>
                    <a:pt x="3517655" y="54224"/>
                  </a:lnTo>
                  <a:lnTo>
                    <a:pt x="3520084" y="73075"/>
                  </a:lnTo>
                  <a:lnTo>
                    <a:pt x="3520440" y="1188364"/>
                  </a:lnTo>
                  <a:lnTo>
                    <a:pt x="3519832" y="1197996"/>
                  </a:lnTo>
                  <a:lnTo>
                    <a:pt x="3518011" y="1207393"/>
                  </a:lnTo>
                  <a:lnTo>
                    <a:pt x="3491741" y="1246341"/>
                  </a:lnTo>
                  <a:lnTo>
                    <a:pt x="3447364" y="1261440"/>
                  </a:lnTo>
                  <a:lnTo>
                    <a:pt x="73088" y="1261795"/>
                  </a:lnTo>
                  <a:lnTo>
                    <a:pt x="28555" y="1246698"/>
                  </a:lnTo>
                  <a:lnTo>
                    <a:pt x="2430" y="1207576"/>
                  </a:lnTo>
                  <a:lnTo>
                    <a:pt x="0" y="1188719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44275" y="148103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20"/>
                  </a:lnTo>
                  <a:lnTo>
                    <a:pt x="18832" y="341433"/>
                  </a:lnTo>
                  <a:lnTo>
                    <a:pt x="51089" y="397322"/>
                  </a:lnTo>
                  <a:lnTo>
                    <a:pt x="96606" y="442839"/>
                  </a:lnTo>
                  <a:lnTo>
                    <a:pt x="152495" y="475095"/>
                  </a:lnTo>
                  <a:lnTo>
                    <a:pt x="214707" y="491791"/>
                  </a:lnTo>
                  <a:lnTo>
                    <a:pt x="246964" y="493928"/>
                  </a:lnTo>
                  <a:lnTo>
                    <a:pt x="279220" y="491791"/>
                  </a:lnTo>
                  <a:lnTo>
                    <a:pt x="341433" y="475095"/>
                  </a:lnTo>
                  <a:lnTo>
                    <a:pt x="397322" y="442839"/>
                  </a:lnTo>
                  <a:lnTo>
                    <a:pt x="442839" y="397322"/>
                  </a:lnTo>
                  <a:lnTo>
                    <a:pt x="475095" y="341433"/>
                  </a:lnTo>
                  <a:lnTo>
                    <a:pt x="491791" y="279220"/>
                  </a:lnTo>
                  <a:lnTo>
                    <a:pt x="493928" y="246964"/>
                  </a:lnTo>
                  <a:lnTo>
                    <a:pt x="491791" y="214707"/>
                  </a:lnTo>
                  <a:lnTo>
                    <a:pt x="475095" y="152495"/>
                  </a:lnTo>
                  <a:lnTo>
                    <a:pt x="442839" y="96606"/>
                  </a:lnTo>
                  <a:lnTo>
                    <a:pt x="397322" y="51089"/>
                  </a:lnTo>
                  <a:lnTo>
                    <a:pt x="341433" y="18832"/>
                  </a:lnTo>
                  <a:lnTo>
                    <a:pt x="279220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18418" y="157669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62296" y="1450340"/>
            <a:ext cx="2416810" cy="135236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>
                <a:solidFill>
                  <a:srgbClr val="1F2F28"/>
                </a:solidFill>
                <a:latin typeface="Arial"/>
                <a:cs typeface="Arial"/>
              </a:rPr>
              <a:t>Modelar</a:t>
            </a:r>
            <a:r>
              <a:rPr lang="es-MX" sz="1700" b="1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rgbClr val="1F2F28"/>
                </a:solidFill>
                <a:latin typeface="Arial"/>
                <a:cs typeface="Arial"/>
              </a:rPr>
              <a:t>jerarquía</a:t>
            </a:r>
            <a:endParaRPr lang="es-MX" sz="1700">
              <a:latin typeface="Arial"/>
              <a:cs typeface="Arial"/>
            </a:endParaRPr>
          </a:p>
          <a:p>
            <a:pPr marL="12700" marR="5080">
              <a:lnSpc>
                <a:spcPts val="1450"/>
              </a:lnSpc>
              <a:spcBef>
                <a:spcPts val="1595"/>
              </a:spcBef>
            </a:pP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Segmentos</a:t>
            </a:r>
            <a:r>
              <a:rPr lang="es-MX" sz="12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dentro</a:t>
            </a:r>
            <a:r>
              <a:rPr lang="es-MX" sz="12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lang="es-MX" sz="12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gránulos,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con</a:t>
            </a:r>
            <a:r>
              <a:rPr lang="es-MX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efectos</a:t>
            </a:r>
            <a:r>
              <a:rPr lang="es-MX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lang="es-MX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haz,</a:t>
            </a:r>
            <a:r>
              <a:rPr lang="es-MX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fecha,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estación,</a:t>
            </a:r>
            <a:r>
              <a:rPr lang="es-MX" sz="12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día/noche</a:t>
            </a:r>
            <a:r>
              <a:rPr lang="es-MX" sz="12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lang="es-MX" sz="12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topografía.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23855" y="1275660"/>
            <a:ext cx="3529965" cy="1440000"/>
            <a:chOff x="8023855" y="1275660"/>
            <a:chExt cx="3529965" cy="127127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8" name="object 18"/>
            <p:cNvSpPr/>
            <p:nvPr/>
          </p:nvSpPr>
          <p:spPr>
            <a:xfrm>
              <a:off x="8028355" y="1280160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80">
                  <a:moveTo>
                    <a:pt x="344700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88719"/>
                  </a:lnTo>
                  <a:lnTo>
                    <a:pt x="594" y="1197996"/>
                  </a:lnTo>
                  <a:lnTo>
                    <a:pt x="607" y="1198198"/>
                  </a:lnTo>
                  <a:lnTo>
                    <a:pt x="2394" y="1207393"/>
                  </a:lnTo>
                  <a:lnTo>
                    <a:pt x="2430" y="1207576"/>
                  </a:lnTo>
                  <a:lnTo>
                    <a:pt x="5416" y="1216455"/>
                  </a:lnTo>
                  <a:lnTo>
                    <a:pt x="5470" y="1216616"/>
                  </a:lnTo>
                  <a:lnTo>
                    <a:pt x="36360" y="1252080"/>
                  </a:lnTo>
                  <a:lnTo>
                    <a:pt x="73088" y="1261795"/>
                  </a:lnTo>
                  <a:lnTo>
                    <a:pt x="3447364" y="1261440"/>
                  </a:lnTo>
                  <a:lnTo>
                    <a:pt x="3491741" y="1246341"/>
                  </a:lnTo>
                  <a:lnTo>
                    <a:pt x="3517949" y="1207576"/>
                  </a:lnTo>
                  <a:lnTo>
                    <a:pt x="3518011" y="1207393"/>
                  </a:lnTo>
                  <a:lnTo>
                    <a:pt x="3519793" y="1198198"/>
                  </a:lnTo>
                  <a:lnTo>
                    <a:pt x="3519832" y="1197996"/>
                  </a:lnTo>
                  <a:lnTo>
                    <a:pt x="3520417" y="1188719"/>
                  </a:lnTo>
                  <a:lnTo>
                    <a:pt x="3520440" y="1188364"/>
                  </a:lnTo>
                  <a:lnTo>
                    <a:pt x="3520084" y="73075"/>
                  </a:lnTo>
                  <a:lnTo>
                    <a:pt x="3504985" y="28705"/>
                  </a:lnTo>
                  <a:lnTo>
                    <a:pt x="3466037" y="2428"/>
                  </a:lnTo>
                  <a:lnTo>
                    <a:pt x="3456640" y="607"/>
                  </a:lnTo>
                  <a:lnTo>
                    <a:pt x="344700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28355" y="1280160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8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47008" y="0"/>
                  </a:lnTo>
                  <a:lnTo>
                    <a:pt x="3491529" y="15104"/>
                  </a:lnTo>
                  <a:lnTo>
                    <a:pt x="3517655" y="54224"/>
                  </a:lnTo>
                  <a:lnTo>
                    <a:pt x="3520084" y="73075"/>
                  </a:lnTo>
                  <a:lnTo>
                    <a:pt x="3520440" y="1188364"/>
                  </a:lnTo>
                  <a:lnTo>
                    <a:pt x="3519832" y="1197996"/>
                  </a:lnTo>
                  <a:lnTo>
                    <a:pt x="3518011" y="1207393"/>
                  </a:lnTo>
                  <a:lnTo>
                    <a:pt x="3491741" y="1246341"/>
                  </a:lnTo>
                  <a:lnTo>
                    <a:pt x="3447364" y="1261440"/>
                  </a:lnTo>
                  <a:lnTo>
                    <a:pt x="73088" y="1261795"/>
                  </a:lnTo>
                  <a:lnTo>
                    <a:pt x="28555" y="1246698"/>
                  </a:lnTo>
                  <a:lnTo>
                    <a:pt x="2430" y="1207576"/>
                  </a:lnTo>
                  <a:lnTo>
                    <a:pt x="0" y="1188719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38236" y="148103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20"/>
                  </a:lnTo>
                  <a:lnTo>
                    <a:pt x="18832" y="341433"/>
                  </a:lnTo>
                  <a:lnTo>
                    <a:pt x="51089" y="397322"/>
                  </a:lnTo>
                  <a:lnTo>
                    <a:pt x="96606" y="442839"/>
                  </a:lnTo>
                  <a:lnTo>
                    <a:pt x="152495" y="475095"/>
                  </a:lnTo>
                  <a:lnTo>
                    <a:pt x="214707" y="491791"/>
                  </a:lnTo>
                  <a:lnTo>
                    <a:pt x="246964" y="493928"/>
                  </a:lnTo>
                  <a:lnTo>
                    <a:pt x="279220" y="491791"/>
                  </a:lnTo>
                  <a:lnTo>
                    <a:pt x="341433" y="475095"/>
                  </a:lnTo>
                  <a:lnTo>
                    <a:pt x="397322" y="442839"/>
                  </a:lnTo>
                  <a:lnTo>
                    <a:pt x="442839" y="397322"/>
                  </a:lnTo>
                  <a:lnTo>
                    <a:pt x="475095" y="341433"/>
                  </a:lnTo>
                  <a:lnTo>
                    <a:pt x="491791" y="279220"/>
                  </a:lnTo>
                  <a:lnTo>
                    <a:pt x="493928" y="246964"/>
                  </a:lnTo>
                  <a:lnTo>
                    <a:pt x="491791" y="214707"/>
                  </a:lnTo>
                  <a:lnTo>
                    <a:pt x="475095" y="152495"/>
                  </a:lnTo>
                  <a:lnTo>
                    <a:pt x="442839" y="96606"/>
                  </a:lnTo>
                  <a:lnTo>
                    <a:pt x="397322" y="51089"/>
                  </a:lnTo>
                  <a:lnTo>
                    <a:pt x="341433" y="18832"/>
                  </a:lnTo>
                  <a:lnTo>
                    <a:pt x="279220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2E6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412378" y="157669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56624" y="1450340"/>
            <a:ext cx="2214245" cy="1352368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10">
                <a:solidFill>
                  <a:srgbClr val="1F2F28"/>
                </a:solidFill>
                <a:latin typeface="Arial"/>
                <a:cs typeface="Arial"/>
              </a:rPr>
              <a:t>Validar</a:t>
            </a:r>
            <a:endParaRPr lang="es-ES" sz="1700">
              <a:latin typeface="Arial"/>
              <a:cs typeface="Arial"/>
            </a:endParaRPr>
          </a:p>
          <a:p>
            <a:pPr marL="12700" marR="5080" algn="just">
              <a:lnSpc>
                <a:spcPts val="1450"/>
              </a:lnSpc>
              <a:spcBef>
                <a:spcPts val="1595"/>
              </a:spcBef>
            </a:pP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Contrastar</a:t>
            </a:r>
            <a:r>
              <a:rPr lang="es-ES" sz="1200" spc="-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RH98/RH100</a:t>
            </a:r>
            <a:r>
              <a:rPr lang="es-ES" sz="1200" spc="-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25">
                <a:solidFill>
                  <a:srgbClr val="000000"/>
                </a:solidFill>
                <a:latin typeface="Arial"/>
                <a:cs typeface="Arial"/>
              </a:rPr>
              <a:t>con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GEDI,</a:t>
            </a:r>
            <a:r>
              <a:rPr lang="es-ES" sz="1200" spc="-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ALS</a:t>
            </a:r>
            <a:r>
              <a:rPr lang="es-ES" sz="12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lang="es-ES" sz="12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campo</a:t>
            </a:r>
            <a:r>
              <a:rPr lang="es-ES" sz="12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lang="es-ES" sz="12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auditar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valores</a:t>
            </a:r>
            <a:r>
              <a:rPr lang="es-ES" sz="12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físicamente</a:t>
            </a:r>
            <a:r>
              <a:rPr lang="es-ES" sz="12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extremos.</a:t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5580" y="2830140"/>
            <a:ext cx="3529965" cy="1440000"/>
            <a:chOff x="635580" y="2830140"/>
            <a:chExt cx="3529965" cy="127127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4" name="object 24"/>
            <p:cNvSpPr/>
            <p:nvPr/>
          </p:nvSpPr>
          <p:spPr>
            <a:xfrm>
              <a:off x="640079" y="2834639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79">
                  <a:moveTo>
                    <a:pt x="3446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88720"/>
                  </a:lnTo>
                  <a:lnTo>
                    <a:pt x="594" y="1197996"/>
                  </a:lnTo>
                  <a:lnTo>
                    <a:pt x="607" y="1198198"/>
                  </a:lnTo>
                  <a:lnTo>
                    <a:pt x="21423" y="1240337"/>
                  </a:lnTo>
                  <a:lnTo>
                    <a:pt x="63443" y="1261188"/>
                  </a:lnTo>
                  <a:lnTo>
                    <a:pt x="73075" y="1261795"/>
                  </a:lnTo>
                  <a:lnTo>
                    <a:pt x="3447364" y="1261440"/>
                  </a:lnTo>
                  <a:lnTo>
                    <a:pt x="3491734" y="1246341"/>
                  </a:lnTo>
                  <a:lnTo>
                    <a:pt x="3517949" y="1207576"/>
                  </a:lnTo>
                  <a:lnTo>
                    <a:pt x="3518011" y="1207393"/>
                  </a:lnTo>
                  <a:lnTo>
                    <a:pt x="3519793" y="1198198"/>
                  </a:lnTo>
                  <a:lnTo>
                    <a:pt x="3519832" y="1197996"/>
                  </a:lnTo>
                  <a:lnTo>
                    <a:pt x="3520417" y="1188720"/>
                  </a:lnTo>
                  <a:lnTo>
                    <a:pt x="3520440" y="1188364"/>
                  </a:lnTo>
                  <a:lnTo>
                    <a:pt x="3520084" y="73075"/>
                  </a:lnTo>
                  <a:lnTo>
                    <a:pt x="3504980" y="28705"/>
                  </a:lnTo>
                  <a:lnTo>
                    <a:pt x="3466036" y="2428"/>
                  </a:lnTo>
                  <a:lnTo>
                    <a:pt x="3456635" y="607"/>
                  </a:lnTo>
                  <a:lnTo>
                    <a:pt x="3446995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0079" y="2834639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446995" y="0"/>
                  </a:lnTo>
                  <a:lnTo>
                    <a:pt x="3491528" y="15104"/>
                  </a:lnTo>
                  <a:lnTo>
                    <a:pt x="3517653" y="54224"/>
                  </a:lnTo>
                  <a:lnTo>
                    <a:pt x="3520084" y="73075"/>
                  </a:lnTo>
                  <a:lnTo>
                    <a:pt x="3520440" y="1188364"/>
                  </a:lnTo>
                  <a:lnTo>
                    <a:pt x="3519832" y="1197996"/>
                  </a:lnTo>
                  <a:lnTo>
                    <a:pt x="3518011" y="1207393"/>
                  </a:lnTo>
                  <a:lnTo>
                    <a:pt x="3491734" y="1246341"/>
                  </a:lnTo>
                  <a:lnTo>
                    <a:pt x="3447364" y="1261440"/>
                  </a:lnTo>
                  <a:lnTo>
                    <a:pt x="73075" y="1261795"/>
                  </a:lnTo>
                  <a:lnTo>
                    <a:pt x="28555" y="1246698"/>
                  </a:lnTo>
                  <a:lnTo>
                    <a:pt x="2428" y="1207576"/>
                  </a:lnTo>
                  <a:lnTo>
                    <a:pt x="0" y="1188720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9960" y="303551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20"/>
                  </a:lnTo>
                  <a:lnTo>
                    <a:pt x="18832" y="341433"/>
                  </a:lnTo>
                  <a:lnTo>
                    <a:pt x="51089" y="397322"/>
                  </a:lnTo>
                  <a:lnTo>
                    <a:pt x="96606" y="442839"/>
                  </a:lnTo>
                  <a:lnTo>
                    <a:pt x="152495" y="475095"/>
                  </a:lnTo>
                  <a:lnTo>
                    <a:pt x="214707" y="491791"/>
                  </a:lnTo>
                  <a:lnTo>
                    <a:pt x="246964" y="493928"/>
                  </a:lnTo>
                  <a:lnTo>
                    <a:pt x="279213" y="491791"/>
                  </a:lnTo>
                  <a:lnTo>
                    <a:pt x="341420" y="475095"/>
                  </a:lnTo>
                  <a:lnTo>
                    <a:pt x="397316" y="442839"/>
                  </a:lnTo>
                  <a:lnTo>
                    <a:pt x="442833" y="397322"/>
                  </a:lnTo>
                  <a:lnTo>
                    <a:pt x="475082" y="341433"/>
                  </a:lnTo>
                  <a:lnTo>
                    <a:pt x="491778" y="279220"/>
                  </a:lnTo>
                  <a:lnTo>
                    <a:pt x="493915" y="246964"/>
                  </a:lnTo>
                  <a:lnTo>
                    <a:pt x="491778" y="214707"/>
                  </a:lnTo>
                  <a:lnTo>
                    <a:pt x="475082" y="152495"/>
                  </a:lnTo>
                  <a:lnTo>
                    <a:pt x="442833" y="96606"/>
                  </a:lnTo>
                  <a:lnTo>
                    <a:pt x="397316" y="51089"/>
                  </a:lnTo>
                  <a:lnTo>
                    <a:pt x="341420" y="18832"/>
                  </a:lnTo>
                  <a:lnTo>
                    <a:pt x="279213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C38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24102" y="313117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68335" y="3004820"/>
            <a:ext cx="2268220" cy="10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>
                <a:solidFill>
                  <a:srgbClr val="1F2F28"/>
                </a:solidFill>
                <a:latin typeface="Arial"/>
                <a:cs typeface="Arial"/>
              </a:rPr>
              <a:t>Documentar</a:t>
            </a:r>
            <a:r>
              <a:rPr lang="es-ES" sz="1700" b="1" spc="-9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700" b="1" spc="-10">
                <a:solidFill>
                  <a:srgbClr val="1F2F28"/>
                </a:solidFill>
                <a:latin typeface="Arial"/>
                <a:cs typeface="Arial"/>
              </a:rPr>
              <a:t>filtros</a:t>
            </a:r>
            <a:endParaRPr lang="es-ES" sz="1700">
              <a:latin typeface="Arial"/>
              <a:cs typeface="Arial"/>
            </a:endParaRPr>
          </a:p>
          <a:p>
            <a:pPr marL="12700" marR="5080">
              <a:lnSpc>
                <a:spcPts val="1450"/>
              </a:lnSpc>
              <a:spcBef>
                <a:spcPts val="1595"/>
              </a:spcBef>
            </a:pP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Registrar</a:t>
            </a:r>
            <a:r>
              <a:rPr lang="es-ES" sz="1200" spc="-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criterio,</a:t>
            </a:r>
            <a:r>
              <a:rPr lang="es-ES" sz="1200" spc="-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campo,</a:t>
            </a:r>
            <a:r>
              <a:rPr lang="es-ES" sz="1200" spc="-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20">
                <a:solidFill>
                  <a:srgbClr val="000000"/>
                </a:solidFill>
                <a:latin typeface="Arial"/>
                <a:cs typeface="Arial"/>
              </a:rPr>
              <a:t>valor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lang="es-ES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corte,</a:t>
            </a:r>
            <a:r>
              <a:rPr lang="es-ES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motivo</a:t>
            </a:r>
            <a:r>
              <a:rPr lang="es-ES" sz="12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lang="es-ES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porcentaje </a:t>
            </a:r>
            <a:r>
              <a:rPr lang="es-ES" sz="1200">
                <a:solidFill>
                  <a:srgbClr val="000000"/>
                </a:solidFill>
                <a:latin typeface="Arial"/>
                <a:cs typeface="Arial"/>
              </a:rPr>
              <a:t>retenido</a:t>
            </a:r>
            <a:r>
              <a:rPr lang="es-ES" sz="1200" spc="-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10">
                <a:solidFill>
                  <a:srgbClr val="000000"/>
                </a:solidFill>
                <a:latin typeface="Arial"/>
                <a:cs typeface="Arial"/>
              </a:rPr>
              <a:t>por</a:t>
            </a:r>
            <a:r>
              <a:rPr lang="es-ES" sz="1200" spc="-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200" spc="-20">
                <a:solidFill>
                  <a:srgbClr val="000000"/>
                </a:solidFill>
                <a:latin typeface="Arial"/>
                <a:cs typeface="Arial"/>
              </a:rPr>
              <a:t>AOI.</a:t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329895" y="2830140"/>
            <a:ext cx="3529965" cy="1440000"/>
            <a:chOff x="4329895" y="2830140"/>
            <a:chExt cx="3529965" cy="127127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0" name="object 30"/>
            <p:cNvSpPr/>
            <p:nvPr/>
          </p:nvSpPr>
          <p:spPr>
            <a:xfrm>
              <a:off x="4334395" y="2834639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79">
                  <a:moveTo>
                    <a:pt x="344700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88720"/>
                  </a:lnTo>
                  <a:lnTo>
                    <a:pt x="594" y="1197996"/>
                  </a:lnTo>
                  <a:lnTo>
                    <a:pt x="607" y="1198198"/>
                  </a:lnTo>
                  <a:lnTo>
                    <a:pt x="2394" y="1207393"/>
                  </a:lnTo>
                  <a:lnTo>
                    <a:pt x="2430" y="1207576"/>
                  </a:lnTo>
                  <a:lnTo>
                    <a:pt x="5416" y="1216455"/>
                  </a:lnTo>
                  <a:lnTo>
                    <a:pt x="36360" y="1252080"/>
                  </a:lnTo>
                  <a:lnTo>
                    <a:pt x="73088" y="1261795"/>
                  </a:lnTo>
                  <a:lnTo>
                    <a:pt x="3447364" y="1261440"/>
                  </a:lnTo>
                  <a:lnTo>
                    <a:pt x="3491741" y="1246341"/>
                  </a:lnTo>
                  <a:lnTo>
                    <a:pt x="3517949" y="1207576"/>
                  </a:lnTo>
                  <a:lnTo>
                    <a:pt x="3518011" y="1207393"/>
                  </a:lnTo>
                  <a:lnTo>
                    <a:pt x="3519793" y="1198198"/>
                  </a:lnTo>
                  <a:lnTo>
                    <a:pt x="3519832" y="1197996"/>
                  </a:lnTo>
                  <a:lnTo>
                    <a:pt x="3520417" y="1188720"/>
                  </a:lnTo>
                  <a:lnTo>
                    <a:pt x="3520084" y="73075"/>
                  </a:lnTo>
                  <a:lnTo>
                    <a:pt x="3504985" y="28705"/>
                  </a:lnTo>
                  <a:lnTo>
                    <a:pt x="3466037" y="2428"/>
                  </a:lnTo>
                  <a:lnTo>
                    <a:pt x="3456640" y="607"/>
                  </a:lnTo>
                  <a:lnTo>
                    <a:pt x="344700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34395" y="2834639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47008" y="0"/>
                  </a:lnTo>
                  <a:lnTo>
                    <a:pt x="3491529" y="15104"/>
                  </a:lnTo>
                  <a:lnTo>
                    <a:pt x="3517655" y="54224"/>
                  </a:lnTo>
                  <a:lnTo>
                    <a:pt x="3520084" y="73075"/>
                  </a:lnTo>
                  <a:lnTo>
                    <a:pt x="3520440" y="1188364"/>
                  </a:lnTo>
                  <a:lnTo>
                    <a:pt x="3519832" y="1197996"/>
                  </a:lnTo>
                  <a:lnTo>
                    <a:pt x="3518011" y="1207393"/>
                  </a:lnTo>
                  <a:lnTo>
                    <a:pt x="3491741" y="1246341"/>
                  </a:lnTo>
                  <a:lnTo>
                    <a:pt x="3447364" y="1261440"/>
                  </a:lnTo>
                  <a:lnTo>
                    <a:pt x="73088" y="1261795"/>
                  </a:lnTo>
                  <a:lnTo>
                    <a:pt x="28555" y="1246698"/>
                  </a:lnTo>
                  <a:lnTo>
                    <a:pt x="2430" y="1207576"/>
                  </a:lnTo>
                  <a:lnTo>
                    <a:pt x="0" y="1188720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44275" y="303551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20"/>
                  </a:lnTo>
                  <a:lnTo>
                    <a:pt x="18832" y="341433"/>
                  </a:lnTo>
                  <a:lnTo>
                    <a:pt x="51089" y="397322"/>
                  </a:lnTo>
                  <a:lnTo>
                    <a:pt x="96606" y="442839"/>
                  </a:lnTo>
                  <a:lnTo>
                    <a:pt x="152495" y="475095"/>
                  </a:lnTo>
                  <a:lnTo>
                    <a:pt x="214707" y="491791"/>
                  </a:lnTo>
                  <a:lnTo>
                    <a:pt x="246964" y="493928"/>
                  </a:lnTo>
                  <a:lnTo>
                    <a:pt x="279220" y="491791"/>
                  </a:lnTo>
                  <a:lnTo>
                    <a:pt x="341433" y="475095"/>
                  </a:lnTo>
                  <a:lnTo>
                    <a:pt x="397322" y="442839"/>
                  </a:lnTo>
                  <a:lnTo>
                    <a:pt x="442839" y="397322"/>
                  </a:lnTo>
                  <a:lnTo>
                    <a:pt x="475095" y="341433"/>
                  </a:lnTo>
                  <a:lnTo>
                    <a:pt x="491791" y="279220"/>
                  </a:lnTo>
                  <a:lnTo>
                    <a:pt x="493928" y="246964"/>
                  </a:lnTo>
                  <a:lnTo>
                    <a:pt x="491791" y="214707"/>
                  </a:lnTo>
                  <a:lnTo>
                    <a:pt x="475095" y="152495"/>
                  </a:lnTo>
                  <a:lnTo>
                    <a:pt x="442839" y="96606"/>
                  </a:lnTo>
                  <a:lnTo>
                    <a:pt x="397322" y="51089"/>
                  </a:lnTo>
                  <a:lnTo>
                    <a:pt x="341433" y="18832"/>
                  </a:lnTo>
                  <a:lnTo>
                    <a:pt x="279220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718418" y="313117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62296" y="3004820"/>
            <a:ext cx="2440305" cy="1223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>
                <a:solidFill>
                  <a:srgbClr val="1F2F28"/>
                </a:solidFill>
                <a:latin typeface="Arial"/>
                <a:cs typeface="Arial"/>
              </a:rPr>
              <a:t>Controlar</a:t>
            </a:r>
            <a:r>
              <a:rPr lang="es-MX" sz="1700" b="1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rgbClr val="1F2F28"/>
                </a:solidFill>
                <a:latin typeface="Arial"/>
                <a:cs typeface="Arial"/>
              </a:rPr>
              <a:t>espacio</a:t>
            </a:r>
            <a:endParaRPr lang="es-MX" sz="1700">
              <a:latin typeface="Arial"/>
              <a:cs typeface="Arial"/>
            </a:endParaRPr>
          </a:p>
          <a:p>
            <a:pPr marL="12700" marR="5080">
              <a:lnSpc>
                <a:spcPts val="1450"/>
              </a:lnSpc>
              <a:spcBef>
                <a:spcPts val="1535"/>
              </a:spcBef>
            </a:pP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Usar</a:t>
            </a:r>
            <a:r>
              <a:rPr lang="es-MX" sz="12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particiones</a:t>
            </a:r>
            <a:r>
              <a:rPr lang="es-MX" sz="12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espaciales,</a:t>
            </a:r>
            <a:r>
              <a:rPr lang="es-MX" sz="12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huellas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equivalentes</a:t>
            </a:r>
            <a:r>
              <a:rPr lang="es-MX" sz="12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lang="es-MX" sz="12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validación</a:t>
            </a:r>
            <a:r>
              <a:rPr lang="es-MX" sz="120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independiente</a:t>
            </a:r>
            <a:r>
              <a:rPr lang="es-MX" sz="12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25">
                <a:solidFill>
                  <a:srgbClr val="000000"/>
                </a:solidFill>
                <a:latin typeface="Arial"/>
                <a:cs typeface="Arial"/>
              </a:rPr>
              <a:t>en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biomasa</a:t>
            </a:r>
            <a:r>
              <a:rPr lang="es-MX" sz="12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lang="es-MX" sz="12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incendio.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023855" y="2830140"/>
            <a:ext cx="3529965" cy="1440000"/>
            <a:chOff x="8023855" y="2830140"/>
            <a:chExt cx="3529965" cy="127127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6" name="object 36"/>
            <p:cNvSpPr/>
            <p:nvPr/>
          </p:nvSpPr>
          <p:spPr>
            <a:xfrm>
              <a:off x="8028355" y="2834639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79">
                  <a:moveTo>
                    <a:pt x="344700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88720"/>
                  </a:lnTo>
                  <a:lnTo>
                    <a:pt x="594" y="1197996"/>
                  </a:lnTo>
                  <a:lnTo>
                    <a:pt x="607" y="1198198"/>
                  </a:lnTo>
                  <a:lnTo>
                    <a:pt x="2394" y="1207393"/>
                  </a:lnTo>
                  <a:lnTo>
                    <a:pt x="2430" y="1207576"/>
                  </a:lnTo>
                  <a:lnTo>
                    <a:pt x="5416" y="1216455"/>
                  </a:lnTo>
                  <a:lnTo>
                    <a:pt x="5470" y="1216616"/>
                  </a:lnTo>
                  <a:lnTo>
                    <a:pt x="36360" y="1252080"/>
                  </a:lnTo>
                  <a:lnTo>
                    <a:pt x="73088" y="1261795"/>
                  </a:lnTo>
                  <a:lnTo>
                    <a:pt x="3447364" y="1261440"/>
                  </a:lnTo>
                  <a:lnTo>
                    <a:pt x="3491741" y="1246341"/>
                  </a:lnTo>
                  <a:lnTo>
                    <a:pt x="3517949" y="1207576"/>
                  </a:lnTo>
                  <a:lnTo>
                    <a:pt x="3518011" y="1207393"/>
                  </a:lnTo>
                  <a:lnTo>
                    <a:pt x="3519793" y="1198198"/>
                  </a:lnTo>
                  <a:lnTo>
                    <a:pt x="3519832" y="1197996"/>
                  </a:lnTo>
                  <a:lnTo>
                    <a:pt x="3520417" y="1188720"/>
                  </a:lnTo>
                  <a:lnTo>
                    <a:pt x="3520084" y="73075"/>
                  </a:lnTo>
                  <a:lnTo>
                    <a:pt x="3504985" y="28705"/>
                  </a:lnTo>
                  <a:lnTo>
                    <a:pt x="3466037" y="2428"/>
                  </a:lnTo>
                  <a:lnTo>
                    <a:pt x="3456640" y="607"/>
                  </a:lnTo>
                  <a:lnTo>
                    <a:pt x="3447008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28355" y="2834639"/>
              <a:ext cx="3520440" cy="1262380"/>
            </a:xfrm>
            <a:custGeom>
              <a:avLst/>
              <a:gdLst/>
              <a:ahLst/>
              <a:cxnLst/>
              <a:rect l="l" t="t" r="r" b="b"/>
              <a:pathLst>
                <a:path w="3520440" h="12623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47008" y="0"/>
                  </a:lnTo>
                  <a:lnTo>
                    <a:pt x="3491529" y="15104"/>
                  </a:lnTo>
                  <a:lnTo>
                    <a:pt x="3517655" y="54224"/>
                  </a:lnTo>
                  <a:lnTo>
                    <a:pt x="3520084" y="73075"/>
                  </a:lnTo>
                  <a:lnTo>
                    <a:pt x="3520440" y="1188364"/>
                  </a:lnTo>
                  <a:lnTo>
                    <a:pt x="3519832" y="1197996"/>
                  </a:lnTo>
                  <a:lnTo>
                    <a:pt x="3518011" y="1207393"/>
                  </a:lnTo>
                  <a:lnTo>
                    <a:pt x="3491741" y="1246341"/>
                  </a:lnTo>
                  <a:lnTo>
                    <a:pt x="3447364" y="1261440"/>
                  </a:lnTo>
                  <a:lnTo>
                    <a:pt x="73088" y="1261795"/>
                  </a:lnTo>
                  <a:lnTo>
                    <a:pt x="28555" y="1246698"/>
                  </a:lnTo>
                  <a:lnTo>
                    <a:pt x="2430" y="1207576"/>
                  </a:lnTo>
                  <a:lnTo>
                    <a:pt x="0" y="1188720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38236" y="3035515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964" y="0"/>
                  </a:moveTo>
                  <a:lnTo>
                    <a:pt x="183060" y="8459"/>
                  </a:lnTo>
                  <a:lnTo>
                    <a:pt x="123482" y="33121"/>
                  </a:lnTo>
                  <a:lnTo>
                    <a:pt x="72363" y="72363"/>
                  </a:lnTo>
                  <a:lnTo>
                    <a:pt x="33121" y="123482"/>
                  </a:lnTo>
                  <a:lnTo>
                    <a:pt x="8459" y="183060"/>
                  </a:lnTo>
                  <a:lnTo>
                    <a:pt x="0" y="246964"/>
                  </a:lnTo>
                  <a:lnTo>
                    <a:pt x="2137" y="279220"/>
                  </a:lnTo>
                  <a:lnTo>
                    <a:pt x="18832" y="341433"/>
                  </a:lnTo>
                  <a:lnTo>
                    <a:pt x="51089" y="397322"/>
                  </a:lnTo>
                  <a:lnTo>
                    <a:pt x="96606" y="442839"/>
                  </a:lnTo>
                  <a:lnTo>
                    <a:pt x="152495" y="475095"/>
                  </a:lnTo>
                  <a:lnTo>
                    <a:pt x="214707" y="491791"/>
                  </a:lnTo>
                  <a:lnTo>
                    <a:pt x="246964" y="493928"/>
                  </a:lnTo>
                  <a:lnTo>
                    <a:pt x="279220" y="491791"/>
                  </a:lnTo>
                  <a:lnTo>
                    <a:pt x="341433" y="475095"/>
                  </a:lnTo>
                  <a:lnTo>
                    <a:pt x="397322" y="442839"/>
                  </a:lnTo>
                  <a:lnTo>
                    <a:pt x="442839" y="397322"/>
                  </a:lnTo>
                  <a:lnTo>
                    <a:pt x="475095" y="341433"/>
                  </a:lnTo>
                  <a:lnTo>
                    <a:pt x="491791" y="279220"/>
                  </a:lnTo>
                  <a:lnTo>
                    <a:pt x="493928" y="246964"/>
                  </a:lnTo>
                  <a:lnTo>
                    <a:pt x="491791" y="214707"/>
                  </a:lnTo>
                  <a:lnTo>
                    <a:pt x="475095" y="152495"/>
                  </a:lnTo>
                  <a:lnTo>
                    <a:pt x="442839" y="96606"/>
                  </a:lnTo>
                  <a:lnTo>
                    <a:pt x="397322" y="51089"/>
                  </a:lnTo>
                  <a:lnTo>
                    <a:pt x="341433" y="18832"/>
                  </a:lnTo>
                  <a:lnTo>
                    <a:pt x="279220" y="2137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3C69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412378" y="313117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700" b="1" spc="-5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s-ES" sz="17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56624" y="3004820"/>
            <a:ext cx="2426335" cy="1717404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700" b="1">
                <a:solidFill>
                  <a:srgbClr val="1F2F28"/>
                </a:solidFill>
                <a:latin typeface="Arial"/>
                <a:cs typeface="Arial"/>
              </a:rPr>
              <a:t>Reportar</a:t>
            </a:r>
            <a:r>
              <a:rPr lang="es-MX" sz="1700" b="1" spc="-7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rgbClr val="1F2F28"/>
                </a:solidFill>
                <a:latin typeface="Arial"/>
                <a:cs typeface="Arial"/>
              </a:rPr>
              <a:t>incertidumbre</a:t>
            </a:r>
            <a:endParaRPr lang="es-MX" sz="1700">
              <a:latin typeface="Arial"/>
              <a:cs typeface="Arial"/>
            </a:endParaRPr>
          </a:p>
          <a:p>
            <a:pPr marL="12700" marR="208279">
              <a:lnSpc>
                <a:spcPts val="1450"/>
              </a:lnSpc>
              <a:spcBef>
                <a:spcPts val="1595"/>
              </a:spcBef>
            </a:pP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Separar</a:t>
            </a:r>
            <a:r>
              <a:rPr lang="es-MX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incertidumbre</a:t>
            </a:r>
            <a:r>
              <a:rPr lang="es-MX" sz="12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25">
                <a:solidFill>
                  <a:srgbClr val="000000"/>
                </a:solidFill>
                <a:latin typeface="Arial"/>
                <a:cs typeface="Arial"/>
              </a:rPr>
              <a:t>de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medición,</a:t>
            </a:r>
            <a:r>
              <a:rPr lang="es-MX" sz="1200" spc="-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selección,</a:t>
            </a:r>
            <a:r>
              <a:rPr lang="es-MX" sz="1200" spc="-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>
                <a:solidFill>
                  <a:srgbClr val="000000"/>
                </a:solidFill>
                <a:latin typeface="Arial"/>
                <a:cs typeface="Arial"/>
              </a:rPr>
              <a:t>modelo</a:t>
            </a:r>
            <a:r>
              <a:rPr lang="es-MX" sz="1200" spc="-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50">
                <a:solidFill>
                  <a:srgbClr val="000000"/>
                </a:solidFill>
                <a:latin typeface="Arial"/>
                <a:cs typeface="Arial"/>
              </a:rPr>
              <a:t>y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extrapolación</a:t>
            </a:r>
            <a:r>
              <a:rPr lang="es-MX" sz="1200" spc="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200" spc="-10">
                <a:solidFill>
                  <a:srgbClr val="000000"/>
                </a:solidFill>
                <a:latin typeface="Arial"/>
                <a:cs typeface="Arial"/>
              </a:rPr>
              <a:t>cartográfica.</a:t>
            </a:r>
            <a:endParaRPr lang="es-MX" sz="12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63824" y="4749656"/>
            <a:ext cx="10479405" cy="768350"/>
            <a:chOff x="863824" y="4749656"/>
            <a:chExt cx="10479405" cy="768350"/>
          </a:xfrm>
        </p:grpSpPr>
        <p:sp>
          <p:nvSpPr>
            <p:cNvPr id="42" name="object 42"/>
            <p:cNvSpPr/>
            <p:nvPr/>
          </p:nvSpPr>
          <p:spPr>
            <a:xfrm>
              <a:off x="868324" y="4754156"/>
              <a:ext cx="10470515" cy="759460"/>
            </a:xfrm>
            <a:custGeom>
              <a:avLst/>
              <a:gdLst/>
              <a:ahLst/>
              <a:cxnLst/>
              <a:rect l="l" t="t" r="r" b="b"/>
              <a:pathLst>
                <a:path w="10470515" h="759460">
                  <a:moveTo>
                    <a:pt x="64439" y="0"/>
                  </a:moveTo>
                  <a:lnTo>
                    <a:pt x="25397" y="13364"/>
                  </a:lnTo>
                  <a:lnTo>
                    <a:pt x="2516" y="47520"/>
                  </a:lnTo>
                  <a:lnTo>
                    <a:pt x="0" y="695159"/>
                  </a:lnTo>
                  <a:lnTo>
                    <a:pt x="538" y="703509"/>
                  </a:lnTo>
                  <a:lnTo>
                    <a:pt x="18735" y="740390"/>
                  </a:lnTo>
                  <a:lnTo>
                    <a:pt x="18851" y="740524"/>
                  </a:lnTo>
                  <a:lnTo>
                    <a:pt x="55728" y="758703"/>
                  </a:lnTo>
                  <a:lnTo>
                    <a:pt x="64071" y="759244"/>
                  </a:lnTo>
                  <a:lnTo>
                    <a:pt x="10406151" y="759244"/>
                  </a:lnTo>
                  <a:lnTo>
                    <a:pt x="10445193" y="745886"/>
                  </a:lnTo>
                  <a:lnTo>
                    <a:pt x="10468075" y="711723"/>
                  </a:lnTo>
                  <a:lnTo>
                    <a:pt x="10470235" y="695159"/>
                  </a:lnTo>
                  <a:lnTo>
                    <a:pt x="10470212" y="64084"/>
                  </a:lnTo>
                  <a:lnTo>
                    <a:pt x="10456877" y="25402"/>
                  </a:lnTo>
                  <a:lnTo>
                    <a:pt x="10422715" y="2524"/>
                  </a:lnTo>
                  <a:lnTo>
                    <a:pt x="10406151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DCE6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68324" y="4754156"/>
              <a:ext cx="10470515" cy="759460"/>
            </a:xfrm>
            <a:custGeom>
              <a:avLst/>
              <a:gdLst/>
              <a:ahLst/>
              <a:cxnLst/>
              <a:rect l="l" t="t" r="r" b="b"/>
              <a:pathLst>
                <a:path w="10470515" h="759460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64"/>
                  </a:lnTo>
                  <a:lnTo>
                    <a:pt x="64439" y="0"/>
                  </a:lnTo>
                  <a:lnTo>
                    <a:pt x="10406151" y="368"/>
                  </a:lnTo>
                  <a:lnTo>
                    <a:pt x="10445143" y="13570"/>
                  </a:lnTo>
                  <a:lnTo>
                    <a:pt x="10468075" y="47885"/>
                  </a:lnTo>
                  <a:lnTo>
                    <a:pt x="10470235" y="64439"/>
                  </a:lnTo>
                  <a:lnTo>
                    <a:pt x="10470235" y="695159"/>
                  </a:lnTo>
                  <a:lnTo>
                    <a:pt x="10469695" y="703509"/>
                  </a:lnTo>
                  <a:lnTo>
                    <a:pt x="10468075" y="711723"/>
                  </a:lnTo>
                  <a:lnTo>
                    <a:pt x="10445193" y="745886"/>
                  </a:lnTo>
                  <a:lnTo>
                    <a:pt x="10406151" y="759244"/>
                  </a:lnTo>
                  <a:lnTo>
                    <a:pt x="64071" y="759244"/>
                  </a:lnTo>
                  <a:lnTo>
                    <a:pt x="25086" y="746036"/>
                  </a:lnTo>
                  <a:lnTo>
                    <a:pt x="2155" y="711723"/>
                  </a:lnTo>
                  <a:lnTo>
                    <a:pt x="0" y="695159"/>
                  </a:lnTo>
                  <a:lnTo>
                    <a:pt x="355" y="64084"/>
                  </a:lnTo>
                  <a:close/>
                </a:path>
              </a:pathLst>
            </a:custGeom>
            <a:ln w="899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68680" y="4754524"/>
              <a:ext cx="82550" cy="758825"/>
            </a:xfrm>
            <a:custGeom>
              <a:avLst/>
              <a:gdLst/>
              <a:ahLst/>
              <a:cxnLst/>
              <a:rect l="l" t="t" r="r" b="b"/>
              <a:pathLst>
                <a:path w="82550" h="758825">
                  <a:moveTo>
                    <a:pt x="82080" y="0"/>
                  </a:moveTo>
                  <a:lnTo>
                    <a:pt x="0" y="0"/>
                  </a:lnTo>
                  <a:lnTo>
                    <a:pt x="0" y="758520"/>
                  </a:lnTo>
                  <a:lnTo>
                    <a:pt x="41033" y="758520"/>
                  </a:lnTo>
                  <a:lnTo>
                    <a:pt x="82080" y="758520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65465" y="4883302"/>
            <a:ext cx="9372600" cy="1148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27275" marR="5080" indent="-2315210">
              <a:lnSpc>
                <a:spcPct val="101299"/>
              </a:lnSpc>
              <a:spcBef>
                <a:spcPts val="95"/>
              </a:spcBef>
            </a:pP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Prioridad: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acumular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filtros,</a:t>
            </a:r>
            <a:r>
              <a:rPr lang="es-MX" sz="1600" b="1" spc="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sino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preservar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trazabilidad</a:t>
            </a:r>
            <a:r>
              <a:rPr lang="es-MX" sz="1600" b="1" spc="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entre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definición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600" b="1" spc="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calidad,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10">
                <a:solidFill>
                  <a:srgbClr val="1F2F28"/>
                </a:solidFill>
                <a:latin typeface="Arial"/>
                <a:cs typeface="Arial"/>
              </a:rPr>
              <a:t>población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retenida,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unidad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inferencia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600" b="1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>
                <a:solidFill>
                  <a:srgbClr val="1F2F28"/>
                </a:solidFill>
                <a:latin typeface="Arial"/>
                <a:cs typeface="Arial"/>
              </a:rPr>
              <a:t>afirmación</a:t>
            </a:r>
            <a:r>
              <a:rPr lang="es-MX" sz="1600" b="1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600" b="1" spc="-10">
                <a:solidFill>
                  <a:srgbClr val="1F2F28"/>
                </a:solidFill>
                <a:latin typeface="Arial"/>
                <a:cs typeface="Arial"/>
              </a:rPr>
              <a:t>final.</a:t>
            </a:r>
            <a:endParaRPr lang="es-MX"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lang="es-MX" sz="1600">
              <a:latin typeface="Arial"/>
              <a:cs typeface="Arial"/>
            </a:endParaRPr>
          </a:p>
          <a:p>
            <a:pPr marL="587375">
              <a:lnSpc>
                <a:spcPct val="100000"/>
              </a:lnSpc>
              <a:spcBef>
                <a:spcPts val="5"/>
              </a:spcBef>
            </a:pP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Producto</a:t>
            </a:r>
            <a:r>
              <a:rPr lang="es-MX" sz="135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lang="es-MX" sz="135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 spc="-10">
                <a:solidFill>
                  <a:srgbClr val="000000"/>
                </a:solidFill>
                <a:latin typeface="Arial"/>
                <a:cs typeface="Arial"/>
              </a:rPr>
              <a:t>referencia:</a:t>
            </a:r>
            <a:r>
              <a:rPr lang="es-MX" sz="1350" spc="-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 spc="-20">
                <a:solidFill>
                  <a:srgbClr val="000000"/>
                </a:solidFill>
                <a:latin typeface="Arial"/>
                <a:cs typeface="Arial"/>
              </a:rPr>
              <a:t>ATL08</a:t>
            </a:r>
            <a:r>
              <a:rPr lang="es-MX" sz="135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V007</a:t>
            </a:r>
            <a:r>
              <a:rPr lang="es-MX" sz="135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·</a:t>
            </a:r>
            <a:r>
              <a:rPr lang="es-MX" sz="135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segmentos</a:t>
            </a:r>
            <a:r>
              <a:rPr lang="es-MX" sz="135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nominales</a:t>
            </a:r>
            <a:r>
              <a:rPr lang="es-MX" sz="135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lang="es-MX" sz="135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100</a:t>
            </a:r>
            <a:r>
              <a:rPr lang="es-MX" sz="135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lang="es-MX" sz="135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·</a:t>
            </a:r>
            <a:r>
              <a:rPr lang="es-MX" sz="135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periodo</a:t>
            </a:r>
            <a:r>
              <a:rPr lang="es-MX" sz="135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>
                <a:solidFill>
                  <a:srgbClr val="000000"/>
                </a:solidFill>
                <a:latin typeface="Arial"/>
                <a:cs typeface="Arial"/>
              </a:rPr>
              <a:t>analizado</a:t>
            </a:r>
            <a:r>
              <a:rPr lang="es-MX" sz="135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MX" sz="1350" spc="-10">
                <a:solidFill>
                  <a:srgbClr val="000000"/>
                </a:solidFill>
                <a:latin typeface="Arial"/>
                <a:cs typeface="Arial"/>
              </a:rPr>
              <a:t>2018-</a:t>
            </a:r>
            <a:r>
              <a:rPr lang="es-MX" sz="1350" spc="-2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es-MX" sz="1350">
              <a:latin typeface="Arial"/>
              <a:cs typeface="Arial"/>
            </a:endParaRPr>
          </a:p>
        </p:txBody>
      </p:sp>
      <p:sp>
        <p:nvSpPr>
          <p:cNvPr id="46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7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8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39/43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Fuentes</a:t>
            </a:r>
            <a:r>
              <a:rPr spc="-120" dirty="0"/>
              <a:t> </a:t>
            </a:r>
            <a:r>
              <a:rPr dirty="0" err="1"/>
              <a:t>oficiales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654480" y="990600"/>
            <a:ext cx="10888345" cy="628650"/>
            <a:chOff x="654480" y="1258200"/>
            <a:chExt cx="10888345" cy="6286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object 6"/>
            <p:cNvSpPr/>
            <p:nvPr/>
          </p:nvSpPr>
          <p:spPr>
            <a:xfrm>
              <a:off x="657720" y="1261440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591845"/>
                  </a:lnTo>
                  <a:lnTo>
                    <a:pt x="1700" y="597954"/>
                  </a:lnTo>
                  <a:lnTo>
                    <a:pt x="1803" y="598322"/>
                  </a:lnTo>
                  <a:lnTo>
                    <a:pt x="5041" y="603719"/>
                  </a:lnTo>
                  <a:lnTo>
                    <a:pt x="8280" y="609485"/>
                  </a:lnTo>
                  <a:lnTo>
                    <a:pt x="12953" y="613803"/>
                  </a:lnTo>
                  <a:lnTo>
                    <a:pt x="18364" y="617042"/>
                  </a:lnTo>
                  <a:lnTo>
                    <a:pt x="24117" y="620280"/>
                  </a:lnTo>
                  <a:lnTo>
                    <a:pt x="30238" y="622084"/>
                  </a:lnTo>
                  <a:lnTo>
                    <a:pt x="10851476" y="622084"/>
                  </a:lnTo>
                  <a:lnTo>
                    <a:pt x="10857953" y="620280"/>
                  </a:lnTo>
                  <a:lnTo>
                    <a:pt x="10863364" y="617042"/>
                  </a:lnTo>
                  <a:lnTo>
                    <a:pt x="10869117" y="613803"/>
                  </a:lnTo>
                  <a:lnTo>
                    <a:pt x="10873435" y="609117"/>
                  </a:lnTo>
                  <a:lnTo>
                    <a:pt x="10876673" y="603719"/>
                  </a:lnTo>
                  <a:lnTo>
                    <a:pt x="10879924" y="597954"/>
                  </a:lnTo>
                  <a:lnTo>
                    <a:pt x="10881715" y="591845"/>
                  </a:lnTo>
                  <a:lnTo>
                    <a:pt x="10881617" y="30238"/>
                  </a:lnTo>
                  <a:lnTo>
                    <a:pt x="10879924" y="24117"/>
                  </a:lnTo>
                  <a:lnTo>
                    <a:pt x="10876673" y="18719"/>
                  </a:lnTo>
                  <a:lnTo>
                    <a:pt x="10873435" y="12953"/>
                  </a:lnTo>
                  <a:lnTo>
                    <a:pt x="10868761" y="8635"/>
                  </a:lnTo>
                  <a:lnTo>
                    <a:pt x="10863364" y="5397"/>
                  </a:lnTo>
                  <a:lnTo>
                    <a:pt x="10857598" y="2158"/>
                  </a:lnTo>
                  <a:lnTo>
                    <a:pt x="1085147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DF1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720" y="1261440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55" y="36715"/>
                  </a:moveTo>
                  <a:lnTo>
                    <a:pt x="355" y="30238"/>
                  </a:lnTo>
                  <a:lnTo>
                    <a:pt x="2159" y="24117"/>
                  </a:lnTo>
                  <a:lnTo>
                    <a:pt x="5397" y="18364"/>
                  </a:lnTo>
                  <a:lnTo>
                    <a:pt x="8635" y="12953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84" y="0"/>
                  </a:lnTo>
                  <a:lnTo>
                    <a:pt x="10844999" y="355"/>
                  </a:lnTo>
                  <a:lnTo>
                    <a:pt x="10851476" y="355"/>
                  </a:lnTo>
                  <a:lnTo>
                    <a:pt x="10857598" y="2158"/>
                  </a:lnTo>
                  <a:lnTo>
                    <a:pt x="10863364" y="5397"/>
                  </a:lnTo>
                  <a:lnTo>
                    <a:pt x="10868761" y="8635"/>
                  </a:lnTo>
                  <a:lnTo>
                    <a:pt x="10873435" y="12953"/>
                  </a:lnTo>
                  <a:lnTo>
                    <a:pt x="10876673" y="18719"/>
                  </a:lnTo>
                  <a:lnTo>
                    <a:pt x="10879924" y="24117"/>
                  </a:lnTo>
                  <a:lnTo>
                    <a:pt x="10881715" y="30594"/>
                  </a:lnTo>
                  <a:lnTo>
                    <a:pt x="10881715" y="37083"/>
                  </a:lnTo>
                  <a:lnTo>
                    <a:pt x="10881715" y="585355"/>
                  </a:lnTo>
                  <a:lnTo>
                    <a:pt x="10881715" y="591845"/>
                  </a:lnTo>
                  <a:lnTo>
                    <a:pt x="10879924" y="597954"/>
                  </a:lnTo>
                  <a:lnTo>
                    <a:pt x="10876673" y="603719"/>
                  </a:lnTo>
                  <a:lnTo>
                    <a:pt x="10873435" y="609117"/>
                  </a:lnTo>
                  <a:lnTo>
                    <a:pt x="10869117" y="613803"/>
                  </a:lnTo>
                  <a:lnTo>
                    <a:pt x="10863364" y="617042"/>
                  </a:lnTo>
                  <a:lnTo>
                    <a:pt x="10857953" y="620280"/>
                  </a:lnTo>
                  <a:lnTo>
                    <a:pt x="10851476" y="622084"/>
                  </a:lnTo>
                  <a:lnTo>
                    <a:pt x="10844999" y="622084"/>
                  </a:lnTo>
                  <a:lnTo>
                    <a:pt x="36715" y="622084"/>
                  </a:lnTo>
                  <a:lnTo>
                    <a:pt x="30238" y="622084"/>
                  </a:lnTo>
                  <a:lnTo>
                    <a:pt x="24117" y="620280"/>
                  </a:lnTo>
                  <a:lnTo>
                    <a:pt x="18364" y="617042"/>
                  </a:lnTo>
                  <a:lnTo>
                    <a:pt x="12953" y="613803"/>
                  </a:lnTo>
                  <a:lnTo>
                    <a:pt x="8280" y="609485"/>
                  </a:lnTo>
                  <a:lnTo>
                    <a:pt x="5041" y="603719"/>
                  </a:lnTo>
                  <a:lnTo>
                    <a:pt x="1803" y="598322"/>
                  </a:lnTo>
                  <a:lnTo>
                    <a:pt x="0" y="591845"/>
                  </a:lnTo>
                  <a:lnTo>
                    <a:pt x="0" y="585355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8680" y="1072935"/>
            <a:ext cx="19450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NASA</a:t>
            </a:r>
            <a:r>
              <a:rPr lang="es-ES" sz="1400" b="1" spc="-6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1D4938"/>
                </a:solidFill>
                <a:latin typeface="Arial"/>
                <a:cs typeface="Arial"/>
              </a:rPr>
              <a:t>ICESat-</a:t>
            </a: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2</a:t>
            </a:r>
            <a:r>
              <a:rPr lang="es-ES" sz="1400" b="1" spc="-10">
                <a:solidFill>
                  <a:srgbClr val="1D4938"/>
                </a:solidFill>
                <a:latin typeface="Arial"/>
                <a:cs typeface="Arial"/>
              </a:rPr>
              <a:t> Project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0479" y="1053860"/>
            <a:ext cx="725170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ATLAS</a:t>
            </a:r>
            <a:r>
              <a:rPr lang="en-US" sz="13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Technical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Specifications: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6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beams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/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3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pairs,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532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nm,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10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kHz,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~11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m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footprint,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91-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day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repeat.</a:t>
            </a:r>
            <a:endParaRPr lang="en-US" sz="13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4480" y="1777200"/>
            <a:ext cx="10888345" cy="628650"/>
            <a:chOff x="654480" y="2044800"/>
            <a:chExt cx="10888345" cy="6286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1" name="object 11"/>
            <p:cNvSpPr/>
            <p:nvPr/>
          </p:nvSpPr>
          <p:spPr>
            <a:xfrm>
              <a:off x="657720" y="2048040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591845"/>
                  </a:lnTo>
                  <a:lnTo>
                    <a:pt x="1700" y="597954"/>
                  </a:lnTo>
                  <a:lnTo>
                    <a:pt x="1803" y="598322"/>
                  </a:lnTo>
                  <a:lnTo>
                    <a:pt x="5041" y="603719"/>
                  </a:lnTo>
                  <a:lnTo>
                    <a:pt x="8280" y="609485"/>
                  </a:lnTo>
                  <a:lnTo>
                    <a:pt x="12953" y="613803"/>
                  </a:lnTo>
                  <a:lnTo>
                    <a:pt x="18364" y="617042"/>
                  </a:lnTo>
                  <a:lnTo>
                    <a:pt x="24117" y="620280"/>
                  </a:lnTo>
                  <a:lnTo>
                    <a:pt x="30238" y="622084"/>
                  </a:lnTo>
                  <a:lnTo>
                    <a:pt x="10851476" y="622084"/>
                  </a:lnTo>
                  <a:lnTo>
                    <a:pt x="10857953" y="620280"/>
                  </a:lnTo>
                  <a:lnTo>
                    <a:pt x="10863364" y="617042"/>
                  </a:lnTo>
                  <a:lnTo>
                    <a:pt x="10869117" y="613803"/>
                  </a:lnTo>
                  <a:lnTo>
                    <a:pt x="10873435" y="609117"/>
                  </a:lnTo>
                  <a:lnTo>
                    <a:pt x="10876673" y="603719"/>
                  </a:lnTo>
                  <a:lnTo>
                    <a:pt x="10879924" y="597954"/>
                  </a:lnTo>
                  <a:lnTo>
                    <a:pt x="10881715" y="591845"/>
                  </a:lnTo>
                  <a:lnTo>
                    <a:pt x="10881617" y="30238"/>
                  </a:lnTo>
                  <a:lnTo>
                    <a:pt x="10879924" y="24117"/>
                  </a:lnTo>
                  <a:lnTo>
                    <a:pt x="10876673" y="18719"/>
                  </a:lnTo>
                  <a:lnTo>
                    <a:pt x="10873435" y="12954"/>
                  </a:lnTo>
                  <a:lnTo>
                    <a:pt x="10868761" y="8636"/>
                  </a:lnTo>
                  <a:lnTo>
                    <a:pt x="10863364" y="5397"/>
                  </a:lnTo>
                  <a:lnTo>
                    <a:pt x="10857598" y="2159"/>
                  </a:lnTo>
                  <a:lnTo>
                    <a:pt x="1085147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7720" y="2048040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55" y="36715"/>
                  </a:moveTo>
                  <a:lnTo>
                    <a:pt x="355" y="30238"/>
                  </a:lnTo>
                  <a:lnTo>
                    <a:pt x="2159" y="24117"/>
                  </a:lnTo>
                  <a:lnTo>
                    <a:pt x="5397" y="18364"/>
                  </a:lnTo>
                  <a:lnTo>
                    <a:pt x="8635" y="12954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84" y="0"/>
                  </a:lnTo>
                  <a:lnTo>
                    <a:pt x="10844999" y="355"/>
                  </a:lnTo>
                  <a:lnTo>
                    <a:pt x="10851476" y="355"/>
                  </a:lnTo>
                  <a:lnTo>
                    <a:pt x="10857598" y="2159"/>
                  </a:lnTo>
                  <a:lnTo>
                    <a:pt x="10863364" y="5397"/>
                  </a:lnTo>
                  <a:lnTo>
                    <a:pt x="10868761" y="8636"/>
                  </a:lnTo>
                  <a:lnTo>
                    <a:pt x="10873435" y="12954"/>
                  </a:lnTo>
                  <a:lnTo>
                    <a:pt x="10876673" y="18719"/>
                  </a:lnTo>
                  <a:lnTo>
                    <a:pt x="10879924" y="24117"/>
                  </a:lnTo>
                  <a:lnTo>
                    <a:pt x="10881715" y="30594"/>
                  </a:lnTo>
                  <a:lnTo>
                    <a:pt x="10881715" y="37084"/>
                  </a:lnTo>
                  <a:lnTo>
                    <a:pt x="10881715" y="585355"/>
                  </a:lnTo>
                  <a:lnTo>
                    <a:pt x="10881715" y="591845"/>
                  </a:lnTo>
                  <a:lnTo>
                    <a:pt x="10879924" y="597954"/>
                  </a:lnTo>
                  <a:lnTo>
                    <a:pt x="10876673" y="603719"/>
                  </a:lnTo>
                  <a:lnTo>
                    <a:pt x="10873435" y="609117"/>
                  </a:lnTo>
                  <a:lnTo>
                    <a:pt x="10869117" y="613803"/>
                  </a:lnTo>
                  <a:lnTo>
                    <a:pt x="10863364" y="617042"/>
                  </a:lnTo>
                  <a:lnTo>
                    <a:pt x="10857953" y="620280"/>
                  </a:lnTo>
                  <a:lnTo>
                    <a:pt x="10851476" y="622084"/>
                  </a:lnTo>
                  <a:lnTo>
                    <a:pt x="10844999" y="622084"/>
                  </a:lnTo>
                  <a:lnTo>
                    <a:pt x="36715" y="622084"/>
                  </a:lnTo>
                  <a:lnTo>
                    <a:pt x="30238" y="622084"/>
                  </a:lnTo>
                  <a:lnTo>
                    <a:pt x="24117" y="620280"/>
                  </a:lnTo>
                  <a:lnTo>
                    <a:pt x="18364" y="617042"/>
                  </a:lnTo>
                  <a:lnTo>
                    <a:pt x="12953" y="613803"/>
                  </a:lnTo>
                  <a:lnTo>
                    <a:pt x="8280" y="609485"/>
                  </a:lnTo>
                  <a:lnTo>
                    <a:pt x="5041" y="603719"/>
                  </a:lnTo>
                  <a:lnTo>
                    <a:pt x="1803" y="598322"/>
                  </a:lnTo>
                  <a:lnTo>
                    <a:pt x="0" y="591845"/>
                  </a:lnTo>
                  <a:lnTo>
                    <a:pt x="0" y="585355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55980" y="1859535"/>
            <a:ext cx="25215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NASA</a:t>
            </a:r>
            <a:r>
              <a:rPr lang="es-ES" sz="1400" b="1" spc="-6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1D4938"/>
                </a:solidFill>
                <a:latin typeface="Arial"/>
                <a:cs typeface="Arial"/>
              </a:rPr>
              <a:t>ICESat-</a:t>
            </a: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2</a:t>
            </a:r>
            <a:r>
              <a:rPr lang="es-ES" sz="1400" b="1" spc="-1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Project</a:t>
            </a:r>
            <a:r>
              <a:rPr lang="es-ES" sz="1400" b="1" spc="-2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1D4938"/>
                </a:solidFill>
                <a:latin typeface="Arial"/>
                <a:cs typeface="Arial"/>
              </a:rPr>
              <a:t>(2020)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27779" y="1840460"/>
            <a:ext cx="6337935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Algorithm</a:t>
            </a:r>
            <a:r>
              <a:rPr lang="es-ES" sz="1300" spc="-7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Theoretical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Basis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Document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for</a:t>
            </a:r>
            <a:r>
              <a:rPr lang="es-ES" sz="1300" spc="-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ATL02,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Release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004.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Parámetros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orbitales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50">
                <a:solidFill>
                  <a:srgbClr val="1F2F28"/>
                </a:solidFill>
                <a:latin typeface="Arial"/>
                <a:cs typeface="Arial"/>
              </a:rPr>
              <a:t>e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instrumentales.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4480" y="2563444"/>
            <a:ext cx="10888345" cy="628650"/>
            <a:chOff x="654480" y="2831044"/>
            <a:chExt cx="10888345" cy="6286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6" name="object 16"/>
            <p:cNvSpPr/>
            <p:nvPr/>
          </p:nvSpPr>
          <p:spPr>
            <a:xfrm>
              <a:off x="657720" y="2834284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0594" y="0"/>
                  </a:moveTo>
                  <a:lnTo>
                    <a:pt x="24117" y="1790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591832"/>
                  </a:lnTo>
                  <a:lnTo>
                    <a:pt x="1704" y="597954"/>
                  </a:lnTo>
                  <a:lnTo>
                    <a:pt x="1803" y="598309"/>
                  </a:lnTo>
                  <a:lnTo>
                    <a:pt x="5041" y="603719"/>
                  </a:lnTo>
                  <a:lnTo>
                    <a:pt x="8280" y="609472"/>
                  </a:lnTo>
                  <a:lnTo>
                    <a:pt x="12953" y="613790"/>
                  </a:lnTo>
                  <a:lnTo>
                    <a:pt x="18364" y="617029"/>
                  </a:lnTo>
                  <a:lnTo>
                    <a:pt x="24117" y="620280"/>
                  </a:lnTo>
                  <a:lnTo>
                    <a:pt x="30238" y="622071"/>
                  </a:lnTo>
                  <a:lnTo>
                    <a:pt x="10851476" y="622071"/>
                  </a:lnTo>
                  <a:lnTo>
                    <a:pt x="10857953" y="620280"/>
                  </a:lnTo>
                  <a:lnTo>
                    <a:pt x="10863364" y="617029"/>
                  </a:lnTo>
                  <a:lnTo>
                    <a:pt x="10869117" y="613790"/>
                  </a:lnTo>
                  <a:lnTo>
                    <a:pt x="10873435" y="609117"/>
                  </a:lnTo>
                  <a:lnTo>
                    <a:pt x="10876673" y="603719"/>
                  </a:lnTo>
                  <a:lnTo>
                    <a:pt x="10879924" y="597954"/>
                  </a:lnTo>
                  <a:lnTo>
                    <a:pt x="10881715" y="591832"/>
                  </a:lnTo>
                  <a:lnTo>
                    <a:pt x="10881617" y="30238"/>
                  </a:lnTo>
                  <a:lnTo>
                    <a:pt x="10879924" y="24117"/>
                  </a:lnTo>
                  <a:lnTo>
                    <a:pt x="10876673" y="18719"/>
                  </a:lnTo>
                  <a:lnTo>
                    <a:pt x="10873435" y="12953"/>
                  </a:lnTo>
                  <a:lnTo>
                    <a:pt x="10868761" y="8635"/>
                  </a:lnTo>
                  <a:lnTo>
                    <a:pt x="10863364" y="5397"/>
                  </a:lnTo>
                  <a:lnTo>
                    <a:pt x="10857598" y="2158"/>
                  </a:lnTo>
                  <a:lnTo>
                    <a:pt x="1085147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DF1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7720" y="2834284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55" y="36715"/>
                  </a:moveTo>
                  <a:lnTo>
                    <a:pt x="355" y="30238"/>
                  </a:lnTo>
                  <a:lnTo>
                    <a:pt x="2159" y="24117"/>
                  </a:lnTo>
                  <a:lnTo>
                    <a:pt x="5397" y="18351"/>
                  </a:lnTo>
                  <a:lnTo>
                    <a:pt x="8635" y="12953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790"/>
                  </a:lnTo>
                  <a:lnTo>
                    <a:pt x="30594" y="0"/>
                  </a:lnTo>
                  <a:lnTo>
                    <a:pt x="37084" y="0"/>
                  </a:lnTo>
                  <a:lnTo>
                    <a:pt x="10844999" y="355"/>
                  </a:lnTo>
                  <a:lnTo>
                    <a:pt x="10851476" y="355"/>
                  </a:lnTo>
                  <a:lnTo>
                    <a:pt x="10857598" y="2158"/>
                  </a:lnTo>
                  <a:lnTo>
                    <a:pt x="10863364" y="5397"/>
                  </a:lnTo>
                  <a:lnTo>
                    <a:pt x="10868761" y="8635"/>
                  </a:lnTo>
                  <a:lnTo>
                    <a:pt x="10873435" y="12953"/>
                  </a:lnTo>
                  <a:lnTo>
                    <a:pt x="10876673" y="18719"/>
                  </a:lnTo>
                  <a:lnTo>
                    <a:pt x="10879924" y="24117"/>
                  </a:lnTo>
                  <a:lnTo>
                    <a:pt x="10881715" y="30594"/>
                  </a:lnTo>
                  <a:lnTo>
                    <a:pt x="10881715" y="37071"/>
                  </a:lnTo>
                  <a:lnTo>
                    <a:pt x="10881715" y="585355"/>
                  </a:lnTo>
                  <a:lnTo>
                    <a:pt x="10881715" y="591832"/>
                  </a:lnTo>
                  <a:lnTo>
                    <a:pt x="10879924" y="597954"/>
                  </a:lnTo>
                  <a:lnTo>
                    <a:pt x="10876673" y="603719"/>
                  </a:lnTo>
                  <a:lnTo>
                    <a:pt x="10873435" y="609117"/>
                  </a:lnTo>
                  <a:lnTo>
                    <a:pt x="10869117" y="613790"/>
                  </a:lnTo>
                  <a:lnTo>
                    <a:pt x="10863364" y="617029"/>
                  </a:lnTo>
                  <a:lnTo>
                    <a:pt x="10857953" y="620280"/>
                  </a:lnTo>
                  <a:lnTo>
                    <a:pt x="10851476" y="622071"/>
                  </a:lnTo>
                  <a:lnTo>
                    <a:pt x="10844999" y="622071"/>
                  </a:lnTo>
                  <a:lnTo>
                    <a:pt x="36715" y="622071"/>
                  </a:lnTo>
                  <a:lnTo>
                    <a:pt x="30238" y="622071"/>
                  </a:lnTo>
                  <a:lnTo>
                    <a:pt x="24117" y="620280"/>
                  </a:lnTo>
                  <a:lnTo>
                    <a:pt x="18364" y="617029"/>
                  </a:lnTo>
                  <a:lnTo>
                    <a:pt x="12953" y="613790"/>
                  </a:lnTo>
                  <a:lnTo>
                    <a:pt x="8280" y="609472"/>
                  </a:lnTo>
                  <a:lnTo>
                    <a:pt x="5041" y="603719"/>
                  </a:lnTo>
                  <a:lnTo>
                    <a:pt x="1803" y="598309"/>
                  </a:lnTo>
                  <a:lnTo>
                    <a:pt x="0" y="591832"/>
                  </a:lnTo>
                  <a:lnTo>
                    <a:pt x="0" y="585355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5980" y="2645780"/>
            <a:ext cx="25184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Neuenschwander</a:t>
            </a:r>
            <a:r>
              <a:rPr lang="es-ES" sz="1400" b="1" spc="-2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et</a:t>
            </a:r>
            <a:r>
              <a:rPr lang="es-ES" sz="1400" b="1" spc="-2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al.</a:t>
            </a:r>
            <a:r>
              <a:rPr lang="es-ES" sz="1400" b="1" spc="-1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1D4938"/>
                </a:solidFill>
                <a:latin typeface="Arial"/>
                <a:cs typeface="Arial"/>
              </a:rPr>
              <a:t>(2024)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27779" y="2626704"/>
            <a:ext cx="6650990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ICESat-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2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Project</a:t>
            </a:r>
            <a:r>
              <a:rPr lang="en-US" sz="1300" spc="-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ATBD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for</a:t>
            </a:r>
            <a:r>
              <a:rPr lang="en-U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Land-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Vegetation</a:t>
            </a:r>
            <a:r>
              <a:rPr lang="en-US" sz="1300" spc="-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Along-Track</a:t>
            </a:r>
            <a:r>
              <a:rPr lang="en-U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Products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(ATL08),</a:t>
            </a:r>
            <a:r>
              <a:rPr lang="en-U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Version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7.</a:t>
            </a:r>
            <a:r>
              <a:rPr lang="en-U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DOI: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10.5067/JDZIJEU0L481.</a:t>
            </a:r>
            <a:endParaRPr lang="en-US" sz="13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54480" y="3349676"/>
            <a:ext cx="10888345" cy="628650"/>
            <a:chOff x="654480" y="3617276"/>
            <a:chExt cx="10888345" cy="6286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1" name="object 21"/>
            <p:cNvSpPr/>
            <p:nvPr/>
          </p:nvSpPr>
          <p:spPr>
            <a:xfrm>
              <a:off x="657720" y="3620516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591845"/>
                  </a:lnTo>
                  <a:lnTo>
                    <a:pt x="1704" y="597966"/>
                  </a:lnTo>
                  <a:lnTo>
                    <a:pt x="1803" y="598322"/>
                  </a:lnTo>
                  <a:lnTo>
                    <a:pt x="5041" y="603719"/>
                  </a:lnTo>
                  <a:lnTo>
                    <a:pt x="8280" y="609485"/>
                  </a:lnTo>
                  <a:lnTo>
                    <a:pt x="12953" y="613803"/>
                  </a:lnTo>
                  <a:lnTo>
                    <a:pt x="18364" y="617042"/>
                  </a:lnTo>
                  <a:lnTo>
                    <a:pt x="24117" y="620280"/>
                  </a:lnTo>
                  <a:lnTo>
                    <a:pt x="30238" y="622084"/>
                  </a:lnTo>
                  <a:lnTo>
                    <a:pt x="10851476" y="622084"/>
                  </a:lnTo>
                  <a:lnTo>
                    <a:pt x="10857953" y="620280"/>
                  </a:lnTo>
                  <a:lnTo>
                    <a:pt x="10863364" y="617042"/>
                  </a:lnTo>
                  <a:lnTo>
                    <a:pt x="10869117" y="613803"/>
                  </a:lnTo>
                  <a:lnTo>
                    <a:pt x="10873435" y="609130"/>
                  </a:lnTo>
                  <a:lnTo>
                    <a:pt x="10876673" y="603719"/>
                  </a:lnTo>
                  <a:lnTo>
                    <a:pt x="10879924" y="597966"/>
                  </a:lnTo>
                  <a:lnTo>
                    <a:pt x="10881715" y="591845"/>
                  </a:lnTo>
                  <a:lnTo>
                    <a:pt x="10881613" y="30238"/>
                  </a:lnTo>
                  <a:lnTo>
                    <a:pt x="10879924" y="24129"/>
                  </a:lnTo>
                  <a:lnTo>
                    <a:pt x="10876673" y="18719"/>
                  </a:lnTo>
                  <a:lnTo>
                    <a:pt x="10873435" y="12966"/>
                  </a:lnTo>
                  <a:lnTo>
                    <a:pt x="10868761" y="8648"/>
                  </a:lnTo>
                  <a:lnTo>
                    <a:pt x="10863364" y="5410"/>
                  </a:lnTo>
                  <a:lnTo>
                    <a:pt x="10857598" y="2158"/>
                  </a:lnTo>
                  <a:lnTo>
                    <a:pt x="10851476" y="368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7720" y="3620516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55" y="36728"/>
                  </a:moveTo>
                  <a:lnTo>
                    <a:pt x="355" y="30238"/>
                  </a:lnTo>
                  <a:lnTo>
                    <a:pt x="2159" y="24129"/>
                  </a:lnTo>
                  <a:lnTo>
                    <a:pt x="5397" y="18364"/>
                  </a:lnTo>
                  <a:lnTo>
                    <a:pt x="8635" y="12966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84" y="0"/>
                  </a:lnTo>
                  <a:lnTo>
                    <a:pt x="10844999" y="368"/>
                  </a:lnTo>
                  <a:lnTo>
                    <a:pt x="10851476" y="368"/>
                  </a:lnTo>
                  <a:lnTo>
                    <a:pt x="10857598" y="2158"/>
                  </a:lnTo>
                  <a:lnTo>
                    <a:pt x="10863364" y="5410"/>
                  </a:lnTo>
                  <a:lnTo>
                    <a:pt x="10868761" y="8648"/>
                  </a:lnTo>
                  <a:lnTo>
                    <a:pt x="10873435" y="12966"/>
                  </a:lnTo>
                  <a:lnTo>
                    <a:pt x="10876673" y="18719"/>
                  </a:lnTo>
                  <a:lnTo>
                    <a:pt x="10879924" y="24129"/>
                  </a:lnTo>
                  <a:lnTo>
                    <a:pt x="10881715" y="30606"/>
                  </a:lnTo>
                  <a:lnTo>
                    <a:pt x="10881715" y="37083"/>
                  </a:lnTo>
                  <a:lnTo>
                    <a:pt x="10881715" y="585368"/>
                  </a:lnTo>
                  <a:lnTo>
                    <a:pt x="10881715" y="591845"/>
                  </a:lnTo>
                  <a:lnTo>
                    <a:pt x="10879924" y="597966"/>
                  </a:lnTo>
                  <a:lnTo>
                    <a:pt x="10876673" y="603719"/>
                  </a:lnTo>
                  <a:lnTo>
                    <a:pt x="10873435" y="609130"/>
                  </a:lnTo>
                  <a:lnTo>
                    <a:pt x="10869117" y="613803"/>
                  </a:lnTo>
                  <a:lnTo>
                    <a:pt x="10863364" y="617042"/>
                  </a:lnTo>
                  <a:lnTo>
                    <a:pt x="10857953" y="620280"/>
                  </a:lnTo>
                  <a:lnTo>
                    <a:pt x="10851476" y="622084"/>
                  </a:lnTo>
                  <a:lnTo>
                    <a:pt x="10844999" y="622084"/>
                  </a:lnTo>
                  <a:lnTo>
                    <a:pt x="36715" y="622084"/>
                  </a:lnTo>
                  <a:lnTo>
                    <a:pt x="30238" y="622084"/>
                  </a:lnTo>
                  <a:lnTo>
                    <a:pt x="24117" y="620280"/>
                  </a:lnTo>
                  <a:lnTo>
                    <a:pt x="18364" y="617042"/>
                  </a:lnTo>
                  <a:lnTo>
                    <a:pt x="12953" y="613803"/>
                  </a:lnTo>
                  <a:lnTo>
                    <a:pt x="8280" y="609485"/>
                  </a:lnTo>
                  <a:lnTo>
                    <a:pt x="5041" y="603719"/>
                  </a:lnTo>
                  <a:lnTo>
                    <a:pt x="1803" y="598322"/>
                  </a:lnTo>
                  <a:lnTo>
                    <a:pt x="0" y="591845"/>
                  </a:lnTo>
                  <a:lnTo>
                    <a:pt x="0" y="585368"/>
                  </a:lnTo>
                  <a:lnTo>
                    <a:pt x="355" y="36728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55980" y="3432024"/>
            <a:ext cx="170751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NSIDC</a:t>
            </a:r>
            <a:r>
              <a:rPr lang="es-ES" sz="1400" b="1" spc="-4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DAAC</a:t>
            </a:r>
            <a:r>
              <a:rPr lang="es-ES" sz="1400" b="1" spc="-4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1D4938"/>
                </a:solidFill>
                <a:latin typeface="Arial"/>
                <a:cs typeface="Arial"/>
              </a:rPr>
              <a:t>(2025)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27779" y="3413304"/>
            <a:ext cx="5496560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ATLAS/ICESat-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2</a:t>
            </a:r>
            <a:r>
              <a:rPr lang="en-US" sz="13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L3A</a:t>
            </a:r>
            <a:r>
              <a:rPr lang="en-US" sz="1300" spc="-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Land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Vegetation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Height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(ATL08,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Version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7).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DOI: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10.5067/ATLAS/ATL08.007.</a:t>
            </a:r>
            <a:endParaRPr lang="en-US" sz="13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54480" y="4136276"/>
            <a:ext cx="10888345" cy="628650"/>
            <a:chOff x="654480" y="4403876"/>
            <a:chExt cx="10888345" cy="6286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6" name="object 26"/>
            <p:cNvSpPr/>
            <p:nvPr/>
          </p:nvSpPr>
          <p:spPr>
            <a:xfrm>
              <a:off x="657720" y="4407116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591845"/>
                  </a:lnTo>
                  <a:lnTo>
                    <a:pt x="1704" y="597966"/>
                  </a:lnTo>
                  <a:lnTo>
                    <a:pt x="1803" y="598322"/>
                  </a:lnTo>
                  <a:lnTo>
                    <a:pt x="5041" y="603719"/>
                  </a:lnTo>
                  <a:lnTo>
                    <a:pt x="8280" y="609485"/>
                  </a:lnTo>
                  <a:lnTo>
                    <a:pt x="12953" y="613803"/>
                  </a:lnTo>
                  <a:lnTo>
                    <a:pt x="18364" y="617042"/>
                  </a:lnTo>
                  <a:lnTo>
                    <a:pt x="24117" y="620280"/>
                  </a:lnTo>
                  <a:lnTo>
                    <a:pt x="30238" y="622084"/>
                  </a:lnTo>
                  <a:lnTo>
                    <a:pt x="10851476" y="622084"/>
                  </a:lnTo>
                  <a:lnTo>
                    <a:pt x="10857953" y="620280"/>
                  </a:lnTo>
                  <a:lnTo>
                    <a:pt x="10863364" y="617042"/>
                  </a:lnTo>
                  <a:lnTo>
                    <a:pt x="10869117" y="613803"/>
                  </a:lnTo>
                  <a:lnTo>
                    <a:pt x="10873435" y="609130"/>
                  </a:lnTo>
                  <a:lnTo>
                    <a:pt x="10876673" y="603719"/>
                  </a:lnTo>
                  <a:lnTo>
                    <a:pt x="10879924" y="597966"/>
                  </a:lnTo>
                  <a:lnTo>
                    <a:pt x="10881715" y="591845"/>
                  </a:lnTo>
                  <a:lnTo>
                    <a:pt x="10881613" y="30238"/>
                  </a:lnTo>
                  <a:lnTo>
                    <a:pt x="10879924" y="24130"/>
                  </a:lnTo>
                  <a:lnTo>
                    <a:pt x="10876673" y="18719"/>
                  </a:lnTo>
                  <a:lnTo>
                    <a:pt x="10873435" y="12966"/>
                  </a:lnTo>
                  <a:lnTo>
                    <a:pt x="10868761" y="8648"/>
                  </a:lnTo>
                  <a:lnTo>
                    <a:pt x="10863364" y="5410"/>
                  </a:lnTo>
                  <a:lnTo>
                    <a:pt x="10857598" y="2159"/>
                  </a:lnTo>
                  <a:lnTo>
                    <a:pt x="10851476" y="368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DF1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7720" y="4407116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55" y="36728"/>
                  </a:moveTo>
                  <a:lnTo>
                    <a:pt x="355" y="30238"/>
                  </a:lnTo>
                  <a:lnTo>
                    <a:pt x="2159" y="24130"/>
                  </a:lnTo>
                  <a:lnTo>
                    <a:pt x="5397" y="18364"/>
                  </a:lnTo>
                  <a:lnTo>
                    <a:pt x="8635" y="12966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84" y="0"/>
                  </a:lnTo>
                  <a:lnTo>
                    <a:pt x="10844999" y="368"/>
                  </a:lnTo>
                  <a:lnTo>
                    <a:pt x="10851476" y="368"/>
                  </a:lnTo>
                  <a:lnTo>
                    <a:pt x="10857598" y="2159"/>
                  </a:lnTo>
                  <a:lnTo>
                    <a:pt x="10863364" y="5410"/>
                  </a:lnTo>
                  <a:lnTo>
                    <a:pt x="10868761" y="8648"/>
                  </a:lnTo>
                  <a:lnTo>
                    <a:pt x="10873435" y="12966"/>
                  </a:lnTo>
                  <a:lnTo>
                    <a:pt x="10876673" y="18719"/>
                  </a:lnTo>
                  <a:lnTo>
                    <a:pt x="10879924" y="24130"/>
                  </a:lnTo>
                  <a:lnTo>
                    <a:pt x="10881715" y="30606"/>
                  </a:lnTo>
                  <a:lnTo>
                    <a:pt x="10881715" y="37084"/>
                  </a:lnTo>
                  <a:lnTo>
                    <a:pt x="10881715" y="585368"/>
                  </a:lnTo>
                  <a:lnTo>
                    <a:pt x="10881715" y="591845"/>
                  </a:lnTo>
                  <a:lnTo>
                    <a:pt x="10879924" y="597966"/>
                  </a:lnTo>
                  <a:lnTo>
                    <a:pt x="10876673" y="603719"/>
                  </a:lnTo>
                  <a:lnTo>
                    <a:pt x="10873435" y="609130"/>
                  </a:lnTo>
                  <a:lnTo>
                    <a:pt x="10869117" y="613803"/>
                  </a:lnTo>
                  <a:lnTo>
                    <a:pt x="10863364" y="617042"/>
                  </a:lnTo>
                  <a:lnTo>
                    <a:pt x="10857953" y="620280"/>
                  </a:lnTo>
                  <a:lnTo>
                    <a:pt x="10851476" y="622084"/>
                  </a:lnTo>
                  <a:lnTo>
                    <a:pt x="10844999" y="622084"/>
                  </a:lnTo>
                  <a:lnTo>
                    <a:pt x="36715" y="622084"/>
                  </a:lnTo>
                  <a:lnTo>
                    <a:pt x="30238" y="622084"/>
                  </a:lnTo>
                  <a:lnTo>
                    <a:pt x="24117" y="620280"/>
                  </a:lnTo>
                  <a:lnTo>
                    <a:pt x="18364" y="617042"/>
                  </a:lnTo>
                  <a:lnTo>
                    <a:pt x="12953" y="613803"/>
                  </a:lnTo>
                  <a:lnTo>
                    <a:pt x="8280" y="609485"/>
                  </a:lnTo>
                  <a:lnTo>
                    <a:pt x="5041" y="603719"/>
                  </a:lnTo>
                  <a:lnTo>
                    <a:pt x="1803" y="598322"/>
                  </a:lnTo>
                  <a:lnTo>
                    <a:pt x="0" y="591845"/>
                  </a:lnTo>
                  <a:lnTo>
                    <a:pt x="0" y="585368"/>
                  </a:lnTo>
                  <a:lnTo>
                    <a:pt x="355" y="36728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55980" y="4218624"/>
            <a:ext cx="171703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NSIDC</a:t>
            </a:r>
            <a:r>
              <a:rPr lang="es-ES" sz="1400" b="1" spc="-3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DAAC</a:t>
            </a:r>
            <a:r>
              <a:rPr lang="es-ES" sz="1400" b="1" spc="-30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·</a:t>
            </a:r>
            <a:r>
              <a:rPr lang="es-ES" sz="1400" b="1" spc="-35">
                <a:solidFill>
                  <a:srgbClr val="1D4938"/>
                </a:solidFill>
                <a:latin typeface="Arial"/>
                <a:cs typeface="Arial"/>
              </a:rPr>
              <a:t> </a:t>
            </a:r>
            <a:r>
              <a:rPr lang="es-ES" sz="1400" b="1" spc="-20">
                <a:solidFill>
                  <a:srgbClr val="1D4938"/>
                </a:solidFill>
                <a:latin typeface="Arial"/>
                <a:cs typeface="Arial"/>
              </a:rPr>
              <a:t>V007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27779" y="4199536"/>
            <a:ext cx="7009765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s-ES" sz="13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Data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Dictionary,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Version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007.</a:t>
            </a:r>
            <a:r>
              <a:rPr lang="es-ES" sz="13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Definiciones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h_canopy,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h_max_canopy,</a:t>
            </a:r>
            <a:r>
              <a:rPr lang="es-ES" sz="13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quality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scores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50">
                <a:solidFill>
                  <a:srgbClr val="1F2F28"/>
                </a:solidFill>
                <a:latin typeface="Arial"/>
                <a:cs typeface="Arial"/>
              </a:rPr>
              <a:t>y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canopy_rh_conf.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54480" y="4922520"/>
            <a:ext cx="10888345" cy="628650"/>
            <a:chOff x="654480" y="5190120"/>
            <a:chExt cx="10888345" cy="6286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1" name="object 31"/>
            <p:cNvSpPr/>
            <p:nvPr/>
          </p:nvSpPr>
          <p:spPr>
            <a:xfrm>
              <a:off x="657720" y="5193360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591845"/>
                  </a:lnTo>
                  <a:lnTo>
                    <a:pt x="1700" y="597954"/>
                  </a:lnTo>
                  <a:lnTo>
                    <a:pt x="1803" y="598322"/>
                  </a:lnTo>
                  <a:lnTo>
                    <a:pt x="5041" y="603719"/>
                  </a:lnTo>
                  <a:lnTo>
                    <a:pt x="8280" y="609485"/>
                  </a:lnTo>
                  <a:lnTo>
                    <a:pt x="12953" y="613803"/>
                  </a:lnTo>
                  <a:lnTo>
                    <a:pt x="18364" y="617042"/>
                  </a:lnTo>
                  <a:lnTo>
                    <a:pt x="24117" y="620280"/>
                  </a:lnTo>
                  <a:lnTo>
                    <a:pt x="30238" y="622084"/>
                  </a:lnTo>
                  <a:lnTo>
                    <a:pt x="10851476" y="622084"/>
                  </a:lnTo>
                  <a:lnTo>
                    <a:pt x="10857953" y="620280"/>
                  </a:lnTo>
                  <a:lnTo>
                    <a:pt x="10863364" y="617042"/>
                  </a:lnTo>
                  <a:lnTo>
                    <a:pt x="10869117" y="613803"/>
                  </a:lnTo>
                  <a:lnTo>
                    <a:pt x="10873435" y="609117"/>
                  </a:lnTo>
                  <a:lnTo>
                    <a:pt x="10876673" y="603719"/>
                  </a:lnTo>
                  <a:lnTo>
                    <a:pt x="10879924" y="597954"/>
                  </a:lnTo>
                  <a:lnTo>
                    <a:pt x="10881715" y="591845"/>
                  </a:lnTo>
                  <a:lnTo>
                    <a:pt x="10881617" y="30238"/>
                  </a:lnTo>
                  <a:lnTo>
                    <a:pt x="10879924" y="24117"/>
                  </a:lnTo>
                  <a:lnTo>
                    <a:pt x="10876673" y="18719"/>
                  </a:lnTo>
                  <a:lnTo>
                    <a:pt x="10873435" y="12954"/>
                  </a:lnTo>
                  <a:lnTo>
                    <a:pt x="10868761" y="8636"/>
                  </a:lnTo>
                  <a:lnTo>
                    <a:pt x="10863364" y="5397"/>
                  </a:lnTo>
                  <a:lnTo>
                    <a:pt x="10857598" y="2159"/>
                  </a:lnTo>
                  <a:lnTo>
                    <a:pt x="1085147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7720" y="5193360"/>
              <a:ext cx="10881995" cy="622300"/>
            </a:xfrm>
            <a:custGeom>
              <a:avLst/>
              <a:gdLst/>
              <a:ahLst/>
              <a:cxnLst/>
              <a:rect l="l" t="t" r="r" b="b"/>
              <a:pathLst>
                <a:path w="10881995" h="622300">
                  <a:moveTo>
                    <a:pt x="355" y="36715"/>
                  </a:moveTo>
                  <a:lnTo>
                    <a:pt x="355" y="30238"/>
                  </a:lnTo>
                  <a:lnTo>
                    <a:pt x="2159" y="24117"/>
                  </a:lnTo>
                  <a:lnTo>
                    <a:pt x="5397" y="18364"/>
                  </a:lnTo>
                  <a:lnTo>
                    <a:pt x="8635" y="12954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84" y="0"/>
                  </a:lnTo>
                  <a:lnTo>
                    <a:pt x="10844999" y="355"/>
                  </a:lnTo>
                  <a:lnTo>
                    <a:pt x="10851476" y="355"/>
                  </a:lnTo>
                  <a:lnTo>
                    <a:pt x="10857598" y="2159"/>
                  </a:lnTo>
                  <a:lnTo>
                    <a:pt x="10863364" y="5397"/>
                  </a:lnTo>
                  <a:lnTo>
                    <a:pt x="10868761" y="8636"/>
                  </a:lnTo>
                  <a:lnTo>
                    <a:pt x="10873435" y="12954"/>
                  </a:lnTo>
                  <a:lnTo>
                    <a:pt x="10876673" y="18719"/>
                  </a:lnTo>
                  <a:lnTo>
                    <a:pt x="10879924" y="24117"/>
                  </a:lnTo>
                  <a:lnTo>
                    <a:pt x="10881715" y="30594"/>
                  </a:lnTo>
                  <a:lnTo>
                    <a:pt x="10881715" y="37084"/>
                  </a:lnTo>
                  <a:lnTo>
                    <a:pt x="10881715" y="585355"/>
                  </a:lnTo>
                  <a:lnTo>
                    <a:pt x="10881715" y="591845"/>
                  </a:lnTo>
                  <a:lnTo>
                    <a:pt x="10879924" y="597954"/>
                  </a:lnTo>
                  <a:lnTo>
                    <a:pt x="10876673" y="603719"/>
                  </a:lnTo>
                  <a:lnTo>
                    <a:pt x="10873435" y="609117"/>
                  </a:lnTo>
                  <a:lnTo>
                    <a:pt x="10869117" y="613803"/>
                  </a:lnTo>
                  <a:lnTo>
                    <a:pt x="10863364" y="617042"/>
                  </a:lnTo>
                  <a:lnTo>
                    <a:pt x="10857953" y="620280"/>
                  </a:lnTo>
                  <a:lnTo>
                    <a:pt x="10851476" y="622084"/>
                  </a:lnTo>
                  <a:lnTo>
                    <a:pt x="10844999" y="622084"/>
                  </a:lnTo>
                  <a:lnTo>
                    <a:pt x="36715" y="622084"/>
                  </a:lnTo>
                  <a:lnTo>
                    <a:pt x="30238" y="622084"/>
                  </a:lnTo>
                  <a:lnTo>
                    <a:pt x="24117" y="620280"/>
                  </a:lnTo>
                  <a:lnTo>
                    <a:pt x="18364" y="617042"/>
                  </a:lnTo>
                  <a:lnTo>
                    <a:pt x="12953" y="613803"/>
                  </a:lnTo>
                  <a:lnTo>
                    <a:pt x="8280" y="609485"/>
                  </a:lnTo>
                  <a:lnTo>
                    <a:pt x="5041" y="603719"/>
                  </a:lnTo>
                  <a:lnTo>
                    <a:pt x="1803" y="598322"/>
                  </a:lnTo>
                  <a:lnTo>
                    <a:pt x="0" y="591845"/>
                  </a:lnTo>
                  <a:lnTo>
                    <a:pt x="0" y="585355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55980" y="5004855"/>
            <a:ext cx="19348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296D6F"/>
                </a:solidFill>
                <a:latin typeface="Arial"/>
                <a:cs typeface="Arial"/>
              </a:rPr>
              <a:t>GEDI</a:t>
            </a:r>
            <a:r>
              <a:rPr lang="es-ES" sz="1400" b="1" spc="-30">
                <a:solidFill>
                  <a:srgbClr val="296D6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296D6F"/>
                </a:solidFill>
                <a:latin typeface="Arial"/>
                <a:cs typeface="Arial"/>
              </a:rPr>
              <a:t>Ecosystem</a:t>
            </a:r>
            <a:r>
              <a:rPr lang="es-ES" sz="1400" b="1" spc="-25">
                <a:solidFill>
                  <a:srgbClr val="296D6F"/>
                </a:solidFill>
                <a:latin typeface="Arial"/>
                <a:cs typeface="Arial"/>
              </a:rPr>
              <a:t> </a:t>
            </a:r>
            <a:r>
              <a:rPr lang="es-ES" sz="1400" b="1" spc="-20">
                <a:solidFill>
                  <a:srgbClr val="296D6F"/>
                </a:solidFill>
                <a:latin typeface="Arial"/>
                <a:cs typeface="Arial"/>
              </a:rPr>
              <a:t>Lidar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27779" y="4985780"/>
            <a:ext cx="664654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Instrument</a:t>
            </a:r>
            <a:r>
              <a:rPr lang="en-US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Specifications:</a:t>
            </a:r>
            <a:r>
              <a:rPr lang="en-US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full-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waveform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LiDAR,</a:t>
            </a:r>
            <a:r>
              <a:rPr lang="en-US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1064</a:t>
            </a:r>
            <a:r>
              <a:rPr lang="en-US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nm,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25</a:t>
            </a:r>
            <a:r>
              <a:rPr lang="en-US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m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footprints,</a:t>
            </a:r>
            <a:r>
              <a:rPr lang="en-US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8</a:t>
            </a:r>
            <a:r>
              <a:rPr lang="en-US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ground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tracks.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4699" y="5791200"/>
            <a:ext cx="1086260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Correcciones</a:t>
            </a:r>
            <a:r>
              <a:rPr lang="es-ES" sz="1400" b="1" spc="-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aplicadas: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altitud</a:t>
            </a:r>
            <a:r>
              <a:rPr lang="es-ES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nominal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≈500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km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(no</a:t>
            </a:r>
            <a:r>
              <a:rPr lang="es-ES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454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km);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huella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spc="-10" dirty="0">
                <a:solidFill>
                  <a:srgbClr val="0070C0"/>
                </a:solidFill>
                <a:latin typeface="Arial"/>
                <a:cs typeface="Arial"/>
              </a:rPr>
              <a:t>≈11</a:t>
            </a:r>
            <a:r>
              <a:rPr lang="es-ES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m;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 err="1">
                <a:solidFill>
                  <a:srgbClr val="0070C0"/>
                </a:solidFill>
                <a:latin typeface="Arial"/>
                <a:cs typeface="Arial"/>
              </a:rPr>
              <a:t>h_canopy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=</a:t>
            </a:r>
            <a:r>
              <a:rPr lang="es-ES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RH98;</a:t>
            </a:r>
            <a:r>
              <a:rPr lang="es-ES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 err="1">
                <a:solidFill>
                  <a:srgbClr val="0070C0"/>
                </a:solidFill>
                <a:latin typeface="Arial"/>
                <a:cs typeface="Arial"/>
              </a:rPr>
              <a:t>h_max_canopy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=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RH100;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cita</a:t>
            </a:r>
            <a:r>
              <a:rPr lang="es-ES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del</a:t>
            </a:r>
            <a:r>
              <a:rPr lang="es-ES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spc="-10" dirty="0">
                <a:solidFill>
                  <a:srgbClr val="0070C0"/>
                </a:solidFill>
                <a:latin typeface="Arial"/>
                <a:cs typeface="Arial"/>
              </a:rPr>
              <a:t>conjunto</a:t>
            </a:r>
            <a:r>
              <a:rPr lang="es-ES" sz="1400" b="1" spc="-5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spc="-10" dirty="0">
                <a:solidFill>
                  <a:srgbClr val="0070C0"/>
                </a:solidFill>
                <a:latin typeface="Arial"/>
                <a:cs typeface="Arial"/>
              </a:rPr>
              <a:t>ATL08</a:t>
            </a:r>
            <a:r>
              <a:rPr lang="es-ES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V007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actualizada</a:t>
            </a:r>
            <a:r>
              <a:rPr lang="es-ES"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dirty="0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lang="es-ES"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s-ES" sz="1400" b="1" spc="-10" dirty="0">
                <a:solidFill>
                  <a:srgbClr val="0070C0"/>
                </a:solidFill>
                <a:latin typeface="Arial"/>
                <a:cs typeface="Arial"/>
              </a:rPr>
              <a:t>2025.</a:t>
            </a:r>
            <a:endParaRPr lang="es-ES" sz="14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40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1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2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40/43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err="1"/>
              <a:t>Bibliografía</a:t>
            </a:r>
            <a:endParaRPr spc="-50"/>
          </a:p>
        </p:txBody>
      </p:sp>
      <p:sp>
        <p:nvSpPr>
          <p:cNvPr id="5" name="object 5"/>
          <p:cNvSpPr/>
          <p:nvPr/>
        </p:nvSpPr>
        <p:spPr>
          <a:xfrm>
            <a:off x="712800" y="130716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22502" y="1367535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 b="1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2380" y="1221739"/>
            <a:ext cx="9318625" cy="4072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5"/>
              </a:spcBef>
            </a:pP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Neuenschwander,</a:t>
            </a:r>
            <a:r>
              <a:rPr lang="en-US" sz="13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A.,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&amp;</a:t>
            </a:r>
            <a:r>
              <a:rPr lang="en-U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Pitts,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K.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(2019).</a:t>
            </a:r>
            <a:r>
              <a:rPr lang="en-US" sz="13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The</a:t>
            </a:r>
            <a:r>
              <a:rPr lang="en-US" sz="13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land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n-U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vegetation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product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for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the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ICESat-2</a:t>
            </a:r>
            <a:r>
              <a:rPr lang="en-U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Mission.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Remote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Sensing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of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Environment,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221,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247-259.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DOI: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10.1016/j.rse.2018.11.005.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5080" y="2039035"/>
            <a:ext cx="10067925" cy="635"/>
          </a:xfrm>
          <a:custGeom>
            <a:avLst/>
            <a:gdLst/>
            <a:ahLst/>
            <a:cxnLst/>
            <a:rect l="l" t="t" r="r" b="b"/>
            <a:pathLst>
              <a:path w="10067925" h="635">
                <a:moveTo>
                  <a:pt x="0" y="0"/>
                </a:moveTo>
                <a:lnTo>
                  <a:pt x="10067759" y="368"/>
                </a:lnTo>
              </a:path>
            </a:pathLst>
          </a:custGeom>
          <a:ln w="6479">
            <a:solidFill>
              <a:srgbClr val="CED6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2800" y="226728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2502" y="2327655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 b="1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2380" y="2181860"/>
            <a:ext cx="9575800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1600"/>
              </a:lnSpc>
              <a:spcBef>
                <a:spcPts val="95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Neumann,</a:t>
            </a:r>
            <a:r>
              <a:rPr lang="es-ES" sz="1300" spc="-9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35">
                <a:solidFill>
                  <a:srgbClr val="1F2F28"/>
                </a:solidFill>
                <a:latin typeface="Arial"/>
                <a:cs typeface="Arial"/>
              </a:rPr>
              <a:t>T.</a:t>
            </a:r>
            <a:r>
              <a:rPr lang="es-ES" sz="1300" spc="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A.,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Martino,</a:t>
            </a:r>
            <a:r>
              <a:rPr lang="es-ES" sz="13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A.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J.,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Markus, </a:t>
            </a:r>
            <a:r>
              <a:rPr lang="es-ES" sz="1300" spc="-35">
                <a:solidFill>
                  <a:srgbClr val="1F2F28"/>
                </a:solidFill>
                <a:latin typeface="Arial"/>
                <a:cs typeface="Arial"/>
              </a:rPr>
              <a:t>T.,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Bae,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S.,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Bock,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M.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R.,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Brenner,</a:t>
            </a:r>
            <a:r>
              <a:rPr lang="es-ES" sz="13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A.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C.,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et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al.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(2019).</a:t>
            </a:r>
            <a:r>
              <a:rPr lang="es-ES" sz="13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The</a:t>
            </a:r>
            <a:r>
              <a:rPr lang="es-ES" sz="1300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Ice,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Cloud,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Land</a:t>
            </a:r>
            <a:r>
              <a:rPr lang="es-ES" sz="1300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Elevation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Satellite-2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mission:</a:t>
            </a:r>
            <a:r>
              <a:rPr lang="es-ES" sz="13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ES" sz="13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global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geolocated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photon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product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derived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from</a:t>
            </a:r>
            <a:r>
              <a:rPr lang="es-ES" sz="13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ATLAS.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Remote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Sensing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of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Environment,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233,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111325.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DOI: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10.1016/j.rse.2019.111325.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25080" y="2999155"/>
            <a:ext cx="10067925" cy="635"/>
          </a:xfrm>
          <a:custGeom>
            <a:avLst/>
            <a:gdLst/>
            <a:ahLst/>
            <a:cxnLst/>
            <a:rect l="l" t="t" r="r" b="b"/>
            <a:pathLst>
              <a:path w="10067925" h="635">
                <a:moveTo>
                  <a:pt x="0" y="0"/>
                </a:moveTo>
                <a:lnTo>
                  <a:pt x="10067759" y="368"/>
                </a:lnTo>
              </a:path>
            </a:pathLst>
          </a:custGeom>
          <a:ln w="6479">
            <a:solidFill>
              <a:srgbClr val="CED6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2800" y="322740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22502" y="3287776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 b="1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2380" y="3141980"/>
            <a:ext cx="9669145" cy="4072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5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Lin,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X.,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Xu,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M.,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Cao,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C.,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Dang,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Y.,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Bashir,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B.,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Xie,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B.,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&amp;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Huang,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Z.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(2020).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Estimates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of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forest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canopy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height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using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combination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of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ICESat-2/ATLAS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data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stereo-photogrammetry.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Remote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Sensing,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12(21),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3649.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DOI: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10.3390/rs12213649.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25080" y="3959275"/>
            <a:ext cx="10067925" cy="635"/>
          </a:xfrm>
          <a:custGeom>
            <a:avLst/>
            <a:gdLst/>
            <a:ahLst/>
            <a:cxnLst/>
            <a:rect l="l" t="t" r="r" b="b"/>
            <a:pathLst>
              <a:path w="10067925" h="635">
                <a:moveTo>
                  <a:pt x="0" y="0"/>
                </a:moveTo>
                <a:lnTo>
                  <a:pt x="10067759" y="368"/>
                </a:lnTo>
              </a:path>
            </a:pathLst>
          </a:custGeom>
          <a:ln w="6479">
            <a:solidFill>
              <a:srgbClr val="CED6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2800" y="418752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2502" y="4247895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 b="1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2380" y="4102100"/>
            <a:ext cx="10058400" cy="4072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5"/>
              </a:spcBef>
            </a:pP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Narine,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L.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L.,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Popescu,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S.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C.,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&amp;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Malambo,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L.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(2020).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Using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ICESat-2</a:t>
            </a:r>
            <a:r>
              <a:rPr lang="en-US" sz="1300" spc="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to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estimate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map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forest</a:t>
            </a:r>
            <a:r>
              <a:rPr lang="en-U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aboveground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biomass:</a:t>
            </a:r>
            <a:r>
              <a:rPr lang="en-US" sz="1300" spc="-5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n-US" sz="13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first</a:t>
            </a:r>
            <a:r>
              <a:rPr lang="en-U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example.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Remote</a:t>
            </a:r>
            <a:r>
              <a:rPr lang="en-US" sz="13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Sensing, 12(11), 1824. DOI: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10.3390/rs12111824.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25080" y="4919395"/>
            <a:ext cx="10067925" cy="635"/>
          </a:xfrm>
          <a:custGeom>
            <a:avLst/>
            <a:gdLst/>
            <a:ahLst/>
            <a:cxnLst/>
            <a:rect l="l" t="t" r="r" b="b"/>
            <a:pathLst>
              <a:path w="10067925" h="635">
                <a:moveTo>
                  <a:pt x="0" y="0"/>
                </a:moveTo>
                <a:lnTo>
                  <a:pt x="10067759" y="368"/>
                </a:lnTo>
              </a:path>
            </a:pathLst>
          </a:custGeom>
          <a:ln w="6479">
            <a:solidFill>
              <a:srgbClr val="CED6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2800" y="514764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22502" y="5208015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200" b="1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s-ES"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12380" y="5062220"/>
            <a:ext cx="9736455" cy="4072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5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Neuenschwander,</a:t>
            </a:r>
            <a:r>
              <a:rPr lang="es-ES" sz="13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A.,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Guenther,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E.,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White,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J.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C.,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Duncanson,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L.,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&amp;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Montesano,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65">
                <a:solidFill>
                  <a:srgbClr val="1F2F28"/>
                </a:solidFill>
                <a:latin typeface="Arial"/>
                <a:cs typeface="Arial"/>
              </a:rPr>
              <a:t>P.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(2020).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Validation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of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ICESat-2</a:t>
            </a:r>
            <a:r>
              <a:rPr lang="es-ES" sz="1300" spc="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terrain</a:t>
            </a:r>
            <a:r>
              <a:rPr lang="es-ES" sz="1300" spc="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canopy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heights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in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boreal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forests.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Remote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Sensing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of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Environment,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251,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112110.</a:t>
            </a:r>
            <a:r>
              <a:rPr lang="es-ES" sz="1300" spc="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DOI:</a:t>
            </a:r>
            <a:r>
              <a:rPr lang="es-ES" sz="1300" spc="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10.1016/j.rse.2020.112110.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24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25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26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41/43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err="1"/>
              <a:t>Bibliografía</a:t>
            </a:r>
            <a:endParaRPr spc="-50"/>
          </a:p>
        </p:txBody>
      </p:sp>
      <p:sp>
        <p:nvSpPr>
          <p:cNvPr id="5" name="object 5"/>
          <p:cNvSpPr/>
          <p:nvPr/>
        </p:nvSpPr>
        <p:spPr>
          <a:xfrm>
            <a:off x="712800" y="130716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C386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23937" y="1371498"/>
            <a:ext cx="107314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5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2380" y="1221384"/>
            <a:ext cx="9995535" cy="6235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Feng,</a:t>
            </a:r>
            <a:r>
              <a:rPr lang="es-ES" sz="1300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T.,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Duncanson,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L.,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Montesano,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45">
                <a:solidFill>
                  <a:srgbClr val="1F2F28"/>
                </a:solidFill>
                <a:latin typeface="Arial"/>
                <a:cs typeface="Arial"/>
              </a:rPr>
              <a:t>P.,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Hancock,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S.,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Minor,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D.,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Guenther,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E.,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&amp;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Neuenschwander,</a:t>
            </a:r>
            <a:r>
              <a:rPr lang="es-ES" sz="1300" spc="-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A.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(2023).</a:t>
            </a:r>
            <a:r>
              <a:rPr lang="es-ES" sz="1300" spc="-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</a:t>
            </a:r>
            <a:r>
              <a:rPr lang="es-ES" sz="1300" spc="-8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systematic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evaluation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of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multi-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resolution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ICESat-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2</a:t>
            </a:r>
            <a:r>
              <a:rPr lang="es-ES" sz="1300" spc="-9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terrain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canopy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heights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in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boreal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forests.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Remote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Sensing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of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Environment,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291,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113570.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DOI: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10.1016/j.rse.2023.113570.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5080" y="2039035"/>
            <a:ext cx="10067925" cy="635"/>
          </a:xfrm>
          <a:custGeom>
            <a:avLst/>
            <a:gdLst/>
            <a:ahLst/>
            <a:cxnLst/>
            <a:rect l="l" t="t" r="r" b="b"/>
            <a:pathLst>
              <a:path w="10067925" h="635">
                <a:moveTo>
                  <a:pt x="0" y="0"/>
                </a:moveTo>
                <a:lnTo>
                  <a:pt x="10067759" y="368"/>
                </a:lnTo>
              </a:path>
            </a:pathLst>
          </a:custGeom>
          <a:ln w="6479">
            <a:solidFill>
              <a:srgbClr val="CED6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2800" y="226728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C386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3937" y="2331618"/>
            <a:ext cx="107314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5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2380" y="2181504"/>
            <a:ext cx="988123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Huang,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X.,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Cheng,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F.,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Wang,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J.,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Duan,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45">
                <a:solidFill>
                  <a:srgbClr val="1F2F28"/>
                </a:solidFill>
                <a:latin typeface="Arial"/>
                <a:cs typeface="Arial"/>
              </a:rPr>
              <a:t>P.,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&amp;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Wang,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J.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(2023).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Forest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canopy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height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extraction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method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based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on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ICESat-2/ATLAS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data.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IEEE</a:t>
            </a:r>
            <a:r>
              <a:rPr lang="es-ES" sz="1300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Transactions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on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Geoscience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Remote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Sensing,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61.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DOI: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10.1109/TGRS.2023.3240848.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25080" y="2999155"/>
            <a:ext cx="10067925" cy="635"/>
          </a:xfrm>
          <a:custGeom>
            <a:avLst/>
            <a:gdLst/>
            <a:ahLst/>
            <a:cxnLst/>
            <a:rect l="l" t="t" r="r" b="b"/>
            <a:pathLst>
              <a:path w="10067925" h="635">
                <a:moveTo>
                  <a:pt x="0" y="0"/>
                </a:moveTo>
                <a:lnTo>
                  <a:pt x="10067759" y="368"/>
                </a:lnTo>
              </a:path>
            </a:pathLst>
          </a:custGeom>
          <a:ln w="6479">
            <a:solidFill>
              <a:srgbClr val="CED6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2800" y="322740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C386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23937" y="3291738"/>
            <a:ext cx="107314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5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2380" y="3141624"/>
            <a:ext cx="9460865" cy="6235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Neuenschwander,</a:t>
            </a:r>
            <a:r>
              <a:rPr lang="es-ES" sz="1300" spc="-8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A.,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Pitts,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K.,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Jelley,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B.,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Robbins,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J.,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Markel,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J.,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Popescu,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S.,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Nelson,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Harding,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Pederson,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D.,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Klotz,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50">
                <a:solidFill>
                  <a:srgbClr val="1F2F28"/>
                </a:solidFill>
                <a:latin typeface="Arial"/>
                <a:cs typeface="Arial"/>
              </a:rPr>
              <a:t>&amp;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Sheridan,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R.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(2024).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ICESat-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2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Project</a:t>
            </a:r>
            <a:r>
              <a:rPr lang="es-ES" sz="1300" spc="-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ATBD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for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Land-Vegetation</a:t>
            </a:r>
            <a:r>
              <a:rPr lang="es-ES" sz="1300" spc="-8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Along-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Track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Products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(ATL08),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Version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7.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DOI: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10.5067/JDZIJEU0L481.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25080" y="3959275"/>
            <a:ext cx="10067925" cy="635"/>
          </a:xfrm>
          <a:custGeom>
            <a:avLst/>
            <a:gdLst/>
            <a:ahLst/>
            <a:cxnLst/>
            <a:rect l="l" t="t" r="r" b="b"/>
            <a:pathLst>
              <a:path w="10067925" h="635">
                <a:moveTo>
                  <a:pt x="0" y="0"/>
                </a:moveTo>
                <a:lnTo>
                  <a:pt x="10067759" y="368"/>
                </a:lnTo>
              </a:path>
            </a:pathLst>
          </a:custGeom>
          <a:ln w="6479">
            <a:solidFill>
              <a:srgbClr val="CED6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2800" y="418752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C386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3937" y="4251858"/>
            <a:ext cx="107314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5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2380" y="4101744"/>
            <a:ext cx="999299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Neuenschwander,</a:t>
            </a:r>
            <a:r>
              <a:rPr lang="es-ES" sz="1300" spc="-8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A.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L.,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Pitts,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K.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L.,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Jelley,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B.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45">
                <a:solidFill>
                  <a:srgbClr val="1F2F28"/>
                </a:solidFill>
                <a:latin typeface="Arial"/>
                <a:cs typeface="Arial"/>
              </a:rPr>
              <a:t>P.,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Robbins,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J.,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Markel,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J.,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Popescu,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S.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C.,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Nelson,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R.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40">
                <a:solidFill>
                  <a:srgbClr val="1F2F28"/>
                </a:solidFill>
                <a:latin typeface="Arial"/>
                <a:cs typeface="Arial"/>
              </a:rPr>
              <a:t>F.,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Harding,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Pederson,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D.,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Klotz,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B.,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&amp;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Sheridan,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R.</a:t>
            </a:r>
            <a:r>
              <a:rPr lang="es-ES" sz="13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(2025).</a:t>
            </a:r>
            <a:r>
              <a:rPr lang="es-ES" sz="1300" spc="-8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ATL08, Version</a:t>
            </a:r>
            <a:r>
              <a:rPr lang="es-ES" sz="13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7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[Data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set].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NASA</a:t>
            </a:r>
            <a:r>
              <a:rPr lang="es-ES" sz="1300" spc="-8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NSIDC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DAAC.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DOI:</a:t>
            </a:r>
            <a:r>
              <a:rPr lang="es-ES" sz="1300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10.5067/ATLAS/ATL08.007.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25080" y="4919395"/>
            <a:ext cx="10067925" cy="635"/>
          </a:xfrm>
          <a:custGeom>
            <a:avLst/>
            <a:gdLst/>
            <a:ahLst/>
            <a:cxnLst/>
            <a:rect l="l" t="t" r="r" b="b"/>
            <a:pathLst>
              <a:path w="10067925" h="635">
                <a:moveTo>
                  <a:pt x="0" y="0"/>
                </a:moveTo>
                <a:lnTo>
                  <a:pt x="10067759" y="368"/>
                </a:lnTo>
              </a:path>
            </a:pathLst>
          </a:custGeom>
          <a:ln w="6479">
            <a:solidFill>
              <a:srgbClr val="CED6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2800" y="5147640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5" h="329564">
                <a:moveTo>
                  <a:pt x="164515" y="0"/>
                </a:moveTo>
                <a:lnTo>
                  <a:pt x="121950" y="5578"/>
                </a:lnTo>
                <a:lnTo>
                  <a:pt x="82080" y="21958"/>
                </a:lnTo>
                <a:lnTo>
                  <a:pt x="48104" y="48148"/>
                </a:lnTo>
                <a:lnTo>
                  <a:pt x="21958" y="82435"/>
                </a:lnTo>
                <a:lnTo>
                  <a:pt x="5578" y="121994"/>
                </a:lnTo>
                <a:lnTo>
                  <a:pt x="0" y="164515"/>
                </a:lnTo>
                <a:lnTo>
                  <a:pt x="1405" y="186004"/>
                </a:lnTo>
                <a:lnTo>
                  <a:pt x="12451" y="227496"/>
                </a:lnTo>
                <a:lnTo>
                  <a:pt x="33934" y="264812"/>
                </a:lnTo>
                <a:lnTo>
                  <a:pt x="64231" y="295109"/>
                </a:lnTo>
                <a:lnTo>
                  <a:pt x="101541" y="316587"/>
                </a:lnTo>
                <a:lnTo>
                  <a:pt x="143032" y="327636"/>
                </a:lnTo>
                <a:lnTo>
                  <a:pt x="164515" y="329044"/>
                </a:lnTo>
                <a:lnTo>
                  <a:pt x="185999" y="327636"/>
                </a:lnTo>
                <a:lnTo>
                  <a:pt x="227341" y="316587"/>
                </a:lnTo>
                <a:lnTo>
                  <a:pt x="264657" y="295109"/>
                </a:lnTo>
                <a:lnTo>
                  <a:pt x="295103" y="264812"/>
                </a:lnTo>
                <a:lnTo>
                  <a:pt x="316587" y="227496"/>
                </a:lnTo>
                <a:lnTo>
                  <a:pt x="327636" y="186004"/>
                </a:lnTo>
                <a:lnTo>
                  <a:pt x="329044" y="164515"/>
                </a:lnTo>
                <a:lnTo>
                  <a:pt x="327636" y="143037"/>
                </a:lnTo>
                <a:lnTo>
                  <a:pt x="316587" y="101691"/>
                </a:lnTo>
                <a:lnTo>
                  <a:pt x="295103" y="64381"/>
                </a:lnTo>
                <a:lnTo>
                  <a:pt x="264657" y="33940"/>
                </a:lnTo>
                <a:lnTo>
                  <a:pt x="227341" y="12451"/>
                </a:lnTo>
                <a:lnTo>
                  <a:pt x="185999" y="1405"/>
                </a:lnTo>
                <a:lnTo>
                  <a:pt x="164515" y="0"/>
                </a:lnTo>
                <a:close/>
              </a:path>
            </a:pathLst>
          </a:custGeom>
          <a:solidFill>
            <a:srgbClr val="C386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83259" y="5211978"/>
            <a:ext cx="187960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150" b="1" spc="-25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lang="es-ES" sz="1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12380" y="5061864"/>
            <a:ext cx="980948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Akturk,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E.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(2026).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Investigating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ICESat-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2</a:t>
            </a:r>
            <a:r>
              <a:rPr lang="en-US" sz="1300" spc="-9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ATL08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terrain</a:t>
            </a:r>
            <a:r>
              <a:rPr lang="en-U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height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estimation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performance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affecting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factors:</a:t>
            </a:r>
            <a:r>
              <a:rPr lang="en-US" sz="1300" spc="-4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The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impact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of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land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cover,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slope,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and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acquisition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time.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Sensors,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26(8),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2485.</a:t>
            </a:r>
            <a:r>
              <a:rPr lang="en-U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>
                <a:solidFill>
                  <a:srgbClr val="1F2F28"/>
                </a:solidFill>
                <a:latin typeface="Arial"/>
                <a:cs typeface="Arial"/>
              </a:rPr>
              <a:t>DOI:</a:t>
            </a:r>
            <a:r>
              <a:rPr lang="en-US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n-US" sz="1300" spc="-10">
                <a:solidFill>
                  <a:srgbClr val="1F2F28"/>
                </a:solidFill>
                <a:latin typeface="Arial"/>
                <a:cs typeface="Arial"/>
              </a:rPr>
              <a:t>10.3390/s26082485.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24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25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26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42/43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err="1"/>
              <a:t>Glosario</a:t>
            </a:r>
            <a:r>
              <a:rPr spc="-105"/>
              <a:t> </a:t>
            </a:r>
            <a:r>
              <a:t>y</a:t>
            </a:r>
            <a:r>
              <a:rPr spc="-105"/>
              <a:t> </a:t>
            </a:r>
            <a:r>
              <a:t>mensaje</a:t>
            </a:r>
            <a:r>
              <a:rPr spc="-105"/>
              <a:t> </a:t>
            </a:r>
            <a:r>
              <a:rPr spc="-10"/>
              <a:t>final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8120" y="1276196"/>
            <a:ext cx="5292090" cy="518795"/>
            <a:chOff x="618120" y="1276196"/>
            <a:chExt cx="5292090" cy="518795"/>
          </a:xfrm>
        </p:grpSpPr>
        <p:sp>
          <p:nvSpPr>
            <p:cNvPr id="6" name="object 6"/>
            <p:cNvSpPr/>
            <p:nvPr/>
          </p:nvSpPr>
          <p:spPr>
            <a:xfrm>
              <a:off x="621360" y="1279436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482041"/>
                  </a:lnTo>
                  <a:lnTo>
                    <a:pt x="1704" y="488162"/>
                  </a:lnTo>
                  <a:lnTo>
                    <a:pt x="1803" y="488518"/>
                  </a:lnTo>
                  <a:lnTo>
                    <a:pt x="5041" y="493928"/>
                  </a:lnTo>
                  <a:lnTo>
                    <a:pt x="8280" y="499681"/>
                  </a:lnTo>
                  <a:lnTo>
                    <a:pt x="12953" y="503999"/>
                  </a:lnTo>
                  <a:lnTo>
                    <a:pt x="18364" y="507238"/>
                  </a:lnTo>
                  <a:lnTo>
                    <a:pt x="24117" y="510489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89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25"/>
                  </a:lnTo>
                  <a:lnTo>
                    <a:pt x="5280482" y="493928"/>
                  </a:lnTo>
                  <a:lnTo>
                    <a:pt x="5283720" y="488162"/>
                  </a:lnTo>
                  <a:lnTo>
                    <a:pt x="5285524" y="482041"/>
                  </a:lnTo>
                  <a:lnTo>
                    <a:pt x="5285421" y="30238"/>
                  </a:lnTo>
                  <a:lnTo>
                    <a:pt x="5283720" y="24129"/>
                  </a:lnTo>
                  <a:lnTo>
                    <a:pt x="5280482" y="18719"/>
                  </a:lnTo>
                  <a:lnTo>
                    <a:pt x="5277243" y="12966"/>
                  </a:lnTo>
                  <a:lnTo>
                    <a:pt x="5272557" y="8648"/>
                  </a:lnTo>
                  <a:lnTo>
                    <a:pt x="5267159" y="5410"/>
                  </a:lnTo>
                  <a:lnTo>
                    <a:pt x="5261394" y="2159"/>
                  </a:lnTo>
                  <a:lnTo>
                    <a:pt x="5255285" y="368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E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360" y="1279436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55" y="36728"/>
                  </a:moveTo>
                  <a:lnTo>
                    <a:pt x="355" y="30238"/>
                  </a:lnTo>
                  <a:lnTo>
                    <a:pt x="2158" y="24129"/>
                  </a:lnTo>
                  <a:lnTo>
                    <a:pt x="5397" y="18364"/>
                  </a:lnTo>
                  <a:lnTo>
                    <a:pt x="8635" y="12966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83" y="0"/>
                  </a:lnTo>
                  <a:lnTo>
                    <a:pt x="5248795" y="368"/>
                  </a:lnTo>
                  <a:lnTo>
                    <a:pt x="5255285" y="368"/>
                  </a:lnTo>
                  <a:lnTo>
                    <a:pt x="5261394" y="2159"/>
                  </a:lnTo>
                  <a:lnTo>
                    <a:pt x="5267159" y="5410"/>
                  </a:lnTo>
                  <a:lnTo>
                    <a:pt x="5272557" y="8648"/>
                  </a:lnTo>
                  <a:lnTo>
                    <a:pt x="5277243" y="12966"/>
                  </a:lnTo>
                  <a:lnTo>
                    <a:pt x="5280482" y="18719"/>
                  </a:lnTo>
                  <a:lnTo>
                    <a:pt x="5283720" y="24129"/>
                  </a:lnTo>
                  <a:lnTo>
                    <a:pt x="5285524" y="30607"/>
                  </a:lnTo>
                  <a:lnTo>
                    <a:pt x="5285524" y="37084"/>
                  </a:lnTo>
                  <a:lnTo>
                    <a:pt x="5285524" y="475564"/>
                  </a:lnTo>
                  <a:lnTo>
                    <a:pt x="5285524" y="482041"/>
                  </a:lnTo>
                  <a:lnTo>
                    <a:pt x="5283720" y="488162"/>
                  </a:lnTo>
                  <a:lnTo>
                    <a:pt x="5280482" y="493928"/>
                  </a:lnTo>
                  <a:lnTo>
                    <a:pt x="5277243" y="499325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89"/>
                  </a:lnTo>
                  <a:lnTo>
                    <a:pt x="5255285" y="512279"/>
                  </a:lnTo>
                  <a:lnTo>
                    <a:pt x="5248795" y="512279"/>
                  </a:lnTo>
                  <a:lnTo>
                    <a:pt x="36715" y="512279"/>
                  </a:lnTo>
                  <a:lnTo>
                    <a:pt x="30238" y="512279"/>
                  </a:lnTo>
                  <a:lnTo>
                    <a:pt x="24117" y="510489"/>
                  </a:lnTo>
                  <a:lnTo>
                    <a:pt x="18364" y="507238"/>
                  </a:lnTo>
                  <a:lnTo>
                    <a:pt x="12953" y="503999"/>
                  </a:lnTo>
                  <a:lnTo>
                    <a:pt x="8280" y="499681"/>
                  </a:lnTo>
                  <a:lnTo>
                    <a:pt x="5041" y="493928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64"/>
                  </a:lnTo>
                  <a:lnTo>
                    <a:pt x="355" y="36728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3681" y="1398142"/>
            <a:ext cx="52476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00"/>
              </a:spcBef>
              <a:tabLst>
                <a:tab pos="1504950" algn="l"/>
              </a:tabLst>
            </a:pPr>
            <a:r>
              <a:rPr lang="es-MX" sz="1400" b="1" spc="-25">
                <a:solidFill>
                  <a:srgbClr val="1D4938"/>
                </a:solidFill>
                <a:latin typeface="Arial"/>
                <a:cs typeface="Arial"/>
              </a:rPr>
              <a:t>AOI</a:t>
            </a:r>
            <a:r>
              <a:rPr lang="es-MX" sz="1400" b="1">
                <a:solidFill>
                  <a:srgbClr val="1D4938"/>
                </a:solidFill>
                <a:latin typeface="Arial"/>
                <a:cs typeface="Arial"/>
              </a:rPr>
              <a:t>	</a:t>
            </a:r>
            <a:r>
              <a:rPr lang="es-MX" sz="1950" baseline="2136">
                <a:solidFill>
                  <a:srgbClr val="1F2F28"/>
                </a:solidFill>
                <a:latin typeface="Arial"/>
                <a:cs typeface="Arial"/>
              </a:rPr>
              <a:t>Área</a:t>
            </a:r>
            <a:r>
              <a:rPr lang="es-MX" sz="1950" spc="-30" baseline="2136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950" baseline="2136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950" spc="-15" baseline="2136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950" baseline="2136">
                <a:solidFill>
                  <a:srgbClr val="1F2F28"/>
                </a:solidFill>
                <a:latin typeface="Arial"/>
                <a:cs typeface="Arial"/>
              </a:rPr>
              <a:t>interés</a:t>
            </a:r>
            <a:r>
              <a:rPr lang="es-MX" sz="1950" spc="-15" baseline="2136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950" baseline="2136">
                <a:solidFill>
                  <a:srgbClr val="1F2F28"/>
                </a:solidFill>
                <a:latin typeface="Arial"/>
                <a:cs typeface="Arial"/>
              </a:rPr>
              <a:t>delimitada</a:t>
            </a:r>
            <a:r>
              <a:rPr lang="es-MX" sz="1950" spc="-30" baseline="2136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950" baseline="2136">
                <a:solidFill>
                  <a:srgbClr val="1F2F28"/>
                </a:solidFill>
                <a:latin typeface="Arial"/>
                <a:cs typeface="Arial"/>
              </a:rPr>
              <a:t>para</a:t>
            </a:r>
            <a:r>
              <a:rPr lang="es-MX" sz="1950" spc="-15" baseline="2136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950" baseline="2136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950" spc="-15" baseline="2136">
                <a:solidFill>
                  <a:srgbClr val="1F2F28"/>
                </a:solidFill>
                <a:latin typeface="Arial"/>
                <a:cs typeface="Arial"/>
              </a:rPr>
              <a:t> análisis.</a:t>
            </a:r>
            <a:endParaRPr lang="es-MX" sz="1950" baseline="2136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8120" y="1934640"/>
            <a:ext cx="5292090" cy="518795"/>
            <a:chOff x="618120" y="1934640"/>
            <a:chExt cx="5292090" cy="518795"/>
          </a:xfrm>
        </p:grpSpPr>
        <p:sp>
          <p:nvSpPr>
            <p:cNvPr id="10" name="object 10"/>
            <p:cNvSpPr/>
            <p:nvPr/>
          </p:nvSpPr>
          <p:spPr>
            <a:xfrm>
              <a:off x="621360" y="1937880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482041"/>
                  </a:lnTo>
                  <a:lnTo>
                    <a:pt x="1704" y="488162"/>
                  </a:lnTo>
                  <a:lnTo>
                    <a:pt x="1803" y="488518"/>
                  </a:lnTo>
                  <a:lnTo>
                    <a:pt x="5041" y="493915"/>
                  </a:lnTo>
                  <a:lnTo>
                    <a:pt x="8280" y="499681"/>
                  </a:lnTo>
                  <a:lnTo>
                    <a:pt x="12953" y="503999"/>
                  </a:lnTo>
                  <a:lnTo>
                    <a:pt x="18364" y="507238"/>
                  </a:lnTo>
                  <a:lnTo>
                    <a:pt x="24117" y="510476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76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25"/>
                  </a:lnTo>
                  <a:lnTo>
                    <a:pt x="5280482" y="493915"/>
                  </a:lnTo>
                  <a:lnTo>
                    <a:pt x="5283720" y="488162"/>
                  </a:lnTo>
                  <a:lnTo>
                    <a:pt x="5285524" y="482041"/>
                  </a:lnTo>
                  <a:lnTo>
                    <a:pt x="5285425" y="30238"/>
                  </a:lnTo>
                  <a:lnTo>
                    <a:pt x="5283720" y="24117"/>
                  </a:lnTo>
                  <a:lnTo>
                    <a:pt x="5280482" y="18719"/>
                  </a:lnTo>
                  <a:lnTo>
                    <a:pt x="5277243" y="12953"/>
                  </a:lnTo>
                  <a:lnTo>
                    <a:pt x="5272557" y="8636"/>
                  </a:lnTo>
                  <a:lnTo>
                    <a:pt x="5267159" y="5397"/>
                  </a:lnTo>
                  <a:lnTo>
                    <a:pt x="5261394" y="2159"/>
                  </a:lnTo>
                  <a:lnTo>
                    <a:pt x="5255285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1360" y="1937880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55" y="36715"/>
                  </a:moveTo>
                  <a:lnTo>
                    <a:pt x="355" y="30238"/>
                  </a:lnTo>
                  <a:lnTo>
                    <a:pt x="2158" y="24117"/>
                  </a:lnTo>
                  <a:lnTo>
                    <a:pt x="5397" y="18364"/>
                  </a:lnTo>
                  <a:lnTo>
                    <a:pt x="8635" y="12953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83" y="0"/>
                  </a:lnTo>
                  <a:lnTo>
                    <a:pt x="5248795" y="355"/>
                  </a:lnTo>
                  <a:lnTo>
                    <a:pt x="5255285" y="355"/>
                  </a:lnTo>
                  <a:lnTo>
                    <a:pt x="5261394" y="2159"/>
                  </a:lnTo>
                  <a:lnTo>
                    <a:pt x="5267159" y="5397"/>
                  </a:lnTo>
                  <a:lnTo>
                    <a:pt x="5272557" y="8636"/>
                  </a:lnTo>
                  <a:lnTo>
                    <a:pt x="5277243" y="12953"/>
                  </a:lnTo>
                  <a:lnTo>
                    <a:pt x="5280482" y="18719"/>
                  </a:lnTo>
                  <a:lnTo>
                    <a:pt x="5283720" y="24117"/>
                  </a:lnTo>
                  <a:lnTo>
                    <a:pt x="5285524" y="30594"/>
                  </a:lnTo>
                  <a:lnTo>
                    <a:pt x="5285524" y="37084"/>
                  </a:lnTo>
                  <a:lnTo>
                    <a:pt x="5285524" y="475564"/>
                  </a:lnTo>
                  <a:lnTo>
                    <a:pt x="5285524" y="482041"/>
                  </a:lnTo>
                  <a:lnTo>
                    <a:pt x="5283720" y="488162"/>
                  </a:lnTo>
                  <a:lnTo>
                    <a:pt x="5280482" y="493915"/>
                  </a:lnTo>
                  <a:lnTo>
                    <a:pt x="5277243" y="499325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76"/>
                  </a:lnTo>
                  <a:lnTo>
                    <a:pt x="5255285" y="512279"/>
                  </a:lnTo>
                  <a:lnTo>
                    <a:pt x="5248795" y="512279"/>
                  </a:lnTo>
                  <a:lnTo>
                    <a:pt x="36715" y="512279"/>
                  </a:lnTo>
                  <a:lnTo>
                    <a:pt x="30238" y="512279"/>
                  </a:lnTo>
                  <a:lnTo>
                    <a:pt x="24117" y="510476"/>
                  </a:lnTo>
                  <a:lnTo>
                    <a:pt x="18364" y="507238"/>
                  </a:lnTo>
                  <a:lnTo>
                    <a:pt x="12953" y="503999"/>
                  </a:lnTo>
                  <a:lnTo>
                    <a:pt x="8280" y="499681"/>
                  </a:lnTo>
                  <a:lnTo>
                    <a:pt x="5041" y="493915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64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1895" y="2056587"/>
            <a:ext cx="6051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10">
                <a:solidFill>
                  <a:srgbClr val="1D4938"/>
                </a:solidFill>
                <a:latin typeface="Arial"/>
                <a:cs typeface="Arial"/>
              </a:rPr>
              <a:t>ATLAS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6139" y="2063419"/>
            <a:ext cx="3511550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Advanced</a:t>
            </a:r>
            <a:r>
              <a:rPr lang="es-ES" sz="13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Topographic</a:t>
            </a:r>
            <a:r>
              <a:rPr lang="es-ES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Laser</a:t>
            </a:r>
            <a:r>
              <a:rPr lang="es-ES" sz="1300" spc="-9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Altimeter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System.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8120" y="2593084"/>
            <a:ext cx="5292090" cy="518795"/>
            <a:chOff x="618120" y="2593084"/>
            <a:chExt cx="5292090" cy="518795"/>
          </a:xfrm>
        </p:grpSpPr>
        <p:sp>
          <p:nvSpPr>
            <p:cNvPr id="15" name="object 15"/>
            <p:cNvSpPr/>
            <p:nvPr/>
          </p:nvSpPr>
          <p:spPr>
            <a:xfrm>
              <a:off x="621360" y="2596324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0594" y="0"/>
                  </a:moveTo>
                  <a:lnTo>
                    <a:pt x="24117" y="1790"/>
                  </a:lnTo>
                  <a:lnTo>
                    <a:pt x="18719" y="5029"/>
                  </a:lnTo>
                  <a:lnTo>
                    <a:pt x="12953" y="8280"/>
                  </a:lnTo>
                  <a:lnTo>
                    <a:pt x="0" y="482041"/>
                  </a:lnTo>
                  <a:lnTo>
                    <a:pt x="1700" y="488149"/>
                  </a:lnTo>
                  <a:lnTo>
                    <a:pt x="1803" y="488518"/>
                  </a:lnTo>
                  <a:lnTo>
                    <a:pt x="5041" y="493915"/>
                  </a:lnTo>
                  <a:lnTo>
                    <a:pt x="8280" y="499681"/>
                  </a:lnTo>
                  <a:lnTo>
                    <a:pt x="12953" y="503999"/>
                  </a:lnTo>
                  <a:lnTo>
                    <a:pt x="18364" y="507238"/>
                  </a:lnTo>
                  <a:lnTo>
                    <a:pt x="24117" y="510476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76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13"/>
                  </a:lnTo>
                  <a:lnTo>
                    <a:pt x="5280482" y="493915"/>
                  </a:lnTo>
                  <a:lnTo>
                    <a:pt x="5283720" y="488149"/>
                  </a:lnTo>
                  <a:lnTo>
                    <a:pt x="5285524" y="482041"/>
                  </a:lnTo>
                  <a:lnTo>
                    <a:pt x="5285425" y="30238"/>
                  </a:lnTo>
                  <a:lnTo>
                    <a:pt x="5283720" y="24117"/>
                  </a:lnTo>
                  <a:lnTo>
                    <a:pt x="5280482" y="18719"/>
                  </a:lnTo>
                  <a:lnTo>
                    <a:pt x="5277243" y="12953"/>
                  </a:lnTo>
                  <a:lnTo>
                    <a:pt x="5272557" y="8636"/>
                  </a:lnTo>
                  <a:lnTo>
                    <a:pt x="5267159" y="5397"/>
                  </a:lnTo>
                  <a:lnTo>
                    <a:pt x="5261394" y="2159"/>
                  </a:lnTo>
                  <a:lnTo>
                    <a:pt x="5255285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E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1360" y="2596324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55" y="36715"/>
                  </a:moveTo>
                  <a:lnTo>
                    <a:pt x="355" y="30238"/>
                  </a:lnTo>
                  <a:lnTo>
                    <a:pt x="2158" y="24117"/>
                  </a:lnTo>
                  <a:lnTo>
                    <a:pt x="5397" y="18351"/>
                  </a:lnTo>
                  <a:lnTo>
                    <a:pt x="8635" y="12953"/>
                  </a:lnTo>
                  <a:lnTo>
                    <a:pt x="12953" y="8280"/>
                  </a:lnTo>
                  <a:lnTo>
                    <a:pt x="18719" y="5029"/>
                  </a:lnTo>
                  <a:lnTo>
                    <a:pt x="24117" y="1790"/>
                  </a:lnTo>
                  <a:lnTo>
                    <a:pt x="30594" y="0"/>
                  </a:lnTo>
                  <a:lnTo>
                    <a:pt x="37083" y="0"/>
                  </a:lnTo>
                  <a:lnTo>
                    <a:pt x="5248795" y="355"/>
                  </a:lnTo>
                  <a:lnTo>
                    <a:pt x="5255285" y="355"/>
                  </a:lnTo>
                  <a:lnTo>
                    <a:pt x="5261394" y="2159"/>
                  </a:lnTo>
                  <a:lnTo>
                    <a:pt x="5267159" y="5397"/>
                  </a:lnTo>
                  <a:lnTo>
                    <a:pt x="5272557" y="8636"/>
                  </a:lnTo>
                  <a:lnTo>
                    <a:pt x="5277243" y="12953"/>
                  </a:lnTo>
                  <a:lnTo>
                    <a:pt x="5280482" y="18719"/>
                  </a:lnTo>
                  <a:lnTo>
                    <a:pt x="5283720" y="24117"/>
                  </a:lnTo>
                  <a:lnTo>
                    <a:pt x="5285524" y="30594"/>
                  </a:lnTo>
                  <a:lnTo>
                    <a:pt x="5285524" y="37071"/>
                  </a:lnTo>
                  <a:lnTo>
                    <a:pt x="5285524" y="475551"/>
                  </a:lnTo>
                  <a:lnTo>
                    <a:pt x="5285524" y="482041"/>
                  </a:lnTo>
                  <a:lnTo>
                    <a:pt x="5283720" y="488149"/>
                  </a:lnTo>
                  <a:lnTo>
                    <a:pt x="5280482" y="493915"/>
                  </a:lnTo>
                  <a:lnTo>
                    <a:pt x="5277243" y="499313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76"/>
                  </a:lnTo>
                  <a:lnTo>
                    <a:pt x="5255285" y="512279"/>
                  </a:lnTo>
                  <a:lnTo>
                    <a:pt x="5248795" y="512279"/>
                  </a:lnTo>
                  <a:lnTo>
                    <a:pt x="36715" y="512279"/>
                  </a:lnTo>
                  <a:lnTo>
                    <a:pt x="30238" y="512279"/>
                  </a:lnTo>
                  <a:lnTo>
                    <a:pt x="24117" y="510476"/>
                  </a:lnTo>
                  <a:lnTo>
                    <a:pt x="18364" y="507238"/>
                  </a:lnTo>
                  <a:lnTo>
                    <a:pt x="12953" y="503999"/>
                  </a:lnTo>
                  <a:lnTo>
                    <a:pt x="8280" y="499681"/>
                  </a:lnTo>
                  <a:lnTo>
                    <a:pt x="5041" y="493915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51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8172" y="2715018"/>
            <a:ext cx="52527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  <a:tabLst>
                <a:tab pos="1510030" algn="l"/>
              </a:tabLst>
            </a:pPr>
            <a:r>
              <a:rPr lang="es-ES" sz="1400" b="1" spc="-10">
                <a:solidFill>
                  <a:srgbClr val="1D4938"/>
                </a:solidFill>
                <a:latin typeface="Arial"/>
                <a:cs typeface="Arial"/>
              </a:rPr>
              <a:t>ATL03</a:t>
            </a:r>
            <a:r>
              <a:rPr lang="es-ES" sz="1400" b="1">
                <a:solidFill>
                  <a:srgbClr val="1D4938"/>
                </a:solidFill>
                <a:latin typeface="Arial"/>
                <a:cs typeface="Arial"/>
              </a:rPr>
              <a:t>	</a:t>
            </a:r>
            <a:r>
              <a:rPr lang="es-ES" sz="1950" baseline="2136">
                <a:solidFill>
                  <a:srgbClr val="1F2F28"/>
                </a:solidFill>
                <a:latin typeface="Arial"/>
                <a:cs typeface="Arial"/>
              </a:rPr>
              <a:t>Producto</a:t>
            </a:r>
            <a:r>
              <a:rPr lang="es-ES" sz="1950" spc="-30" baseline="2136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950" baseline="2136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ES" sz="1950" spc="-30" baseline="2136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950" baseline="2136">
                <a:solidFill>
                  <a:srgbClr val="1F2F28"/>
                </a:solidFill>
                <a:latin typeface="Arial"/>
                <a:cs typeface="Arial"/>
              </a:rPr>
              <a:t>fotones</a:t>
            </a:r>
            <a:r>
              <a:rPr lang="es-ES" sz="1950" spc="-30" baseline="2136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950" spc="-15" baseline="2136">
                <a:solidFill>
                  <a:srgbClr val="1F2F28"/>
                </a:solidFill>
                <a:latin typeface="Arial"/>
                <a:cs typeface="Arial"/>
              </a:rPr>
              <a:t>geolocalizados.</a:t>
            </a:r>
            <a:endParaRPr lang="es-ES" sz="1950" baseline="2136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8120" y="3251160"/>
            <a:ext cx="5292090" cy="518795"/>
            <a:chOff x="618120" y="3251160"/>
            <a:chExt cx="5292090" cy="518795"/>
          </a:xfrm>
        </p:grpSpPr>
        <p:sp>
          <p:nvSpPr>
            <p:cNvPr id="19" name="object 19"/>
            <p:cNvSpPr/>
            <p:nvPr/>
          </p:nvSpPr>
          <p:spPr>
            <a:xfrm>
              <a:off x="621360" y="3254400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482041"/>
                  </a:lnTo>
                  <a:lnTo>
                    <a:pt x="1704" y="488162"/>
                  </a:lnTo>
                  <a:lnTo>
                    <a:pt x="1803" y="488518"/>
                  </a:lnTo>
                  <a:lnTo>
                    <a:pt x="5041" y="493915"/>
                  </a:lnTo>
                  <a:lnTo>
                    <a:pt x="8280" y="499681"/>
                  </a:lnTo>
                  <a:lnTo>
                    <a:pt x="12953" y="503999"/>
                  </a:lnTo>
                  <a:lnTo>
                    <a:pt x="18364" y="507238"/>
                  </a:lnTo>
                  <a:lnTo>
                    <a:pt x="24117" y="510476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76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25"/>
                  </a:lnTo>
                  <a:lnTo>
                    <a:pt x="5280482" y="493915"/>
                  </a:lnTo>
                  <a:lnTo>
                    <a:pt x="5283720" y="488162"/>
                  </a:lnTo>
                  <a:lnTo>
                    <a:pt x="5285524" y="482041"/>
                  </a:lnTo>
                  <a:lnTo>
                    <a:pt x="5285425" y="30238"/>
                  </a:lnTo>
                  <a:lnTo>
                    <a:pt x="5283720" y="24117"/>
                  </a:lnTo>
                  <a:lnTo>
                    <a:pt x="5280482" y="18719"/>
                  </a:lnTo>
                  <a:lnTo>
                    <a:pt x="5277243" y="12953"/>
                  </a:lnTo>
                  <a:lnTo>
                    <a:pt x="5272557" y="8636"/>
                  </a:lnTo>
                  <a:lnTo>
                    <a:pt x="5267159" y="5397"/>
                  </a:lnTo>
                  <a:lnTo>
                    <a:pt x="5261394" y="2159"/>
                  </a:lnTo>
                  <a:lnTo>
                    <a:pt x="5255285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1360" y="3254400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55" y="36715"/>
                  </a:moveTo>
                  <a:lnTo>
                    <a:pt x="355" y="30238"/>
                  </a:lnTo>
                  <a:lnTo>
                    <a:pt x="2158" y="24117"/>
                  </a:lnTo>
                  <a:lnTo>
                    <a:pt x="5397" y="18364"/>
                  </a:lnTo>
                  <a:lnTo>
                    <a:pt x="8635" y="12953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83" y="0"/>
                  </a:lnTo>
                  <a:lnTo>
                    <a:pt x="5248795" y="355"/>
                  </a:lnTo>
                  <a:lnTo>
                    <a:pt x="5255285" y="355"/>
                  </a:lnTo>
                  <a:lnTo>
                    <a:pt x="5261394" y="2159"/>
                  </a:lnTo>
                  <a:lnTo>
                    <a:pt x="5267159" y="5397"/>
                  </a:lnTo>
                  <a:lnTo>
                    <a:pt x="5272557" y="8636"/>
                  </a:lnTo>
                  <a:lnTo>
                    <a:pt x="5277243" y="12953"/>
                  </a:lnTo>
                  <a:lnTo>
                    <a:pt x="5280482" y="18719"/>
                  </a:lnTo>
                  <a:lnTo>
                    <a:pt x="5283720" y="24117"/>
                  </a:lnTo>
                  <a:lnTo>
                    <a:pt x="5285524" y="30594"/>
                  </a:lnTo>
                  <a:lnTo>
                    <a:pt x="5285524" y="37084"/>
                  </a:lnTo>
                  <a:lnTo>
                    <a:pt x="5285524" y="475564"/>
                  </a:lnTo>
                  <a:lnTo>
                    <a:pt x="5285524" y="482041"/>
                  </a:lnTo>
                  <a:lnTo>
                    <a:pt x="5283720" y="488162"/>
                  </a:lnTo>
                  <a:lnTo>
                    <a:pt x="5280482" y="493915"/>
                  </a:lnTo>
                  <a:lnTo>
                    <a:pt x="5277243" y="499325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76"/>
                  </a:lnTo>
                  <a:lnTo>
                    <a:pt x="5255285" y="512279"/>
                  </a:lnTo>
                  <a:lnTo>
                    <a:pt x="5248795" y="512279"/>
                  </a:lnTo>
                  <a:lnTo>
                    <a:pt x="36715" y="512279"/>
                  </a:lnTo>
                  <a:lnTo>
                    <a:pt x="30238" y="512279"/>
                  </a:lnTo>
                  <a:lnTo>
                    <a:pt x="24117" y="510476"/>
                  </a:lnTo>
                  <a:lnTo>
                    <a:pt x="18364" y="507238"/>
                  </a:lnTo>
                  <a:lnTo>
                    <a:pt x="12953" y="503999"/>
                  </a:lnTo>
                  <a:lnTo>
                    <a:pt x="8280" y="499681"/>
                  </a:lnTo>
                  <a:lnTo>
                    <a:pt x="5041" y="493915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64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1895" y="3373463"/>
            <a:ext cx="5562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10">
                <a:solidFill>
                  <a:srgbClr val="1D4938"/>
                </a:solidFill>
                <a:latin typeface="Arial"/>
                <a:cs typeface="Arial"/>
              </a:rPr>
              <a:t>ATL08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36139" y="3380295"/>
            <a:ext cx="2849880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MX" sz="1300">
                <a:solidFill>
                  <a:srgbClr val="1F2F28"/>
                </a:solidFill>
                <a:latin typeface="Arial"/>
                <a:cs typeface="Arial"/>
              </a:rPr>
              <a:t>Producto</a:t>
            </a:r>
            <a:r>
              <a:rPr lang="es-MX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rgbClr val="1F2F28"/>
                </a:solidFill>
                <a:latin typeface="Arial"/>
                <a:cs typeface="Arial"/>
              </a:rPr>
              <a:t>L3A</a:t>
            </a:r>
            <a:r>
              <a:rPr lang="es-MX" sz="1300" spc="-8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MX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rgbClr val="1F2F28"/>
                </a:solidFill>
                <a:latin typeface="Arial"/>
                <a:cs typeface="Arial"/>
              </a:rPr>
              <a:t>terreno</a:t>
            </a:r>
            <a:r>
              <a:rPr lang="es-MX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300" spc="-10">
                <a:solidFill>
                  <a:srgbClr val="1F2F28"/>
                </a:solidFill>
                <a:latin typeface="Arial"/>
                <a:cs typeface="Arial"/>
              </a:rPr>
              <a:t>vegetación.</a:t>
            </a:r>
            <a:endParaRPr lang="es-MX" sz="13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8120" y="3909604"/>
            <a:ext cx="5292090" cy="518795"/>
            <a:chOff x="618120" y="3909604"/>
            <a:chExt cx="5292090" cy="518795"/>
          </a:xfrm>
        </p:grpSpPr>
        <p:sp>
          <p:nvSpPr>
            <p:cNvPr id="24" name="object 24"/>
            <p:cNvSpPr/>
            <p:nvPr/>
          </p:nvSpPr>
          <p:spPr>
            <a:xfrm>
              <a:off x="621360" y="3912844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0594" y="0"/>
                  </a:moveTo>
                  <a:lnTo>
                    <a:pt x="24117" y="1790"/>
                  </a:lnTo>
                  <a:lnTo>
                    <a:pt x="18719" y="5029"/>
                  </a:lnTo>
                  <a:lnTo>
                    <a:pt x="12953" y="8280"/>
                  </a:lnTo>
                  <a:lnTo>
                    <a:pt x="0" y="482041"/>
                  </a:lnTo>
                  <a:lnTo>
                    <a:pt x="1700" y="488149"/>
                  </a:lnTo>
                  <a:lnTo>
                    <a:pt x="1803" y="488518"/>
                  </a:lnTo>
                  <a:lnTo>
                    <a:pt x="5041" y="493915"/>
                  </a:lnTo>
                  <a:lnTo>
                    <a:pt x="8280" y="499681"/>
                  </a:lnTo>
                  <a:lnTo>
                    <a:pt x="12953" y="503999"/>
                  </a:lnTo>
                  <a:lnTo>
                    <a:pt x="18364" y="507238"/>
                  </a:lnTo>
                  <a:lnTo>
                    <a:pt x="24117" y="510476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76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13"/>
                  </a:lnTo>
                  <a:lnTo>
                    <a:pt x="5280482" y="493915"/>
                  </a:lnTo>
                  <a:lnTo>
                    <a:pt x="5283720" y="488149"/>
                  </a:lnTo>
                  <a:lnTo>
                    <a:pt x="5285524" y="482041"/>
                  </a:lnTo>
                  <a:lnTo>
                    <a:pt x="5285425" y="30238"/>
                  </a:lnTo>
                  <a:lnTo>
                    <a:pt x="5283720" y="24117"/>
                  </a:lnTo>
                  <a:lnTo>
                    <a:pt x="5280482" y="18719"/>
                  </a:lnTo>
                  <a:lnTo>
                    <a:pt x="5277243" y="12953"/>
                  </a:lnTo>
                  <a:lnTo>
                    <a:pt x="5272557" y="8635"/>
                  </a:lnTo>
                  <a:lnTo>
                    <a:pt x="5267159" y="5397"/>
                  </a:lnTo>
                  <a:lnTo>
                    <a:pt x="5261394" y="2158"/>
                  </a:lnTo>
                  <a:lnTo>
                    <a:pt x="5255285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E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1360" y="3912844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55" y="36715"/>
                  </a:moveTo>
                  <a:lnTo>
                    <a:pt x="355" y="30238"/>
                  </a:lnTo>
                  <a:lnTo>
                    <a:pt x="2158" y="24117"/>
                  </a:lnTo>
                  <a:lnTo>
                    <a:pt x="5397" y="18351"/>
                  </a:lnTo>
                  <a:lnTo>
                    <a:pt x="8635" y="12953"/>
                  </a:lnTo>
                  <a:lnTo>
                    <a:pt x="12953" y="8280"/>
                  </a:lnTo>
                  <a:lnTo>
                    <a:pt x="18719" y="5029"/>
                  </a:lnTo>
                  <a:lnTo>
                    <a:pt x="24117" y="1790"/>
                  </a:lnTo>
                  <a:lnTo>
                    <a:pt x="30594" y="0"/>
                  </a:lnTo>
                  <a:lnTo>
                    <a:pt x="37083" y="0"/>
                  </a:lnTo>
                  <a:lnTo>
                    <a:pt x="5248795" y="355"/>
                  </a:lnTo>
                  <a:lnTo>
                    <a:pt x="5255285" y="355"/>
                  </a:lnTo>
                  <a:lnTo>
                    <a:pt x="5261394" y="2158"/>
                  </a:lnTo>
                  <a:lnTo>
                    <a:pt x="5267159" y="5397"/>
                  </a:lnTo>
                  <a:lnTo>
                    <a:pt x="5272557" y="8635"/>
                  </a:lnTo>
                  <a:lnTo>
                    <a:pt x="5277243" y="12953"/>
                  </a:lnTo>
                  <a:lnTo>
                    <a:pt x="5280482" y="18719"/>
                  </a:lnTo>
                  <a:lnTo>
                    <a:pt x="5283720" y="24117"/>
                  </a:lnTo>
                  <a:lnTo>
                    <a:pt x="5285524" y="30594"/>
                  </a:lnTo>
                  <a:lnTo>
                    <a:pt x="5285524" y="37071"/>
                  </a:lnTo>
                  <a:lnTo>
                    <a:pt x="5285524" y="475551"/>
                  </a:lnTo>
                  <a:lnTo>
                    <a:pt x="5285524" y="482041"/>
                  </a:lnTo>
                  <a:lnTo>
                    <a:pt x="5283720" y="488149"/>
                  </a:lnTo>
                  <a:lnTo>
                    <a:pt x="5280482" y="493915"/>
                  </a:lnTo>
                  <a:lnTo>
                    <a:pt x="5277243" y="499313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76"/>
                  </a:lnTo>
                  <a:lnTo>
                    <a:pt x="5255285" y="512279"/>
                  </a:lnTo>
                  <a:lnTo>
                    <a:pt x="5248795" y="512279"/>
                  </a:lnTo>
                  <a:lnTo>
                    <a:pt x="36715" y="512279"/>
                  </a:lnTo>
                  <a:lnTo>
                    <a:pt x="30238" y="512279"/>
                  </a:lnTo>
                  <a:lnTo>
                    <a:pt x="24117" y="510476"/>
                  </a:lnTo>
                  <a:lnTo>
                    <a:pt x="18364" y="507238"/>
                  </a:lnTo>
                  <a:lnTo>
                    <a:pt x="12953" y="503999"/>
                  </a:lnTo>
                  <a:lnTo>
                    <a:pt x="8280" y="499681"/>
                  </a:lnTo>
                  <a:lnTo>
                    <a:pt x="5041" y="493915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51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91895" y="4031906"/>
            <a:ext cx="4013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25">
                <a:solidFill>
                  <a:srgbClr val="1D4938"/>
                </a:solidFill>
                <a:latin typeface="Arial"/>
                <a:cs typeface="Arial"/>
              </a:rPr>
              <a:t>RGT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36139" y="4038739"/>
            <a:ext cx="1889760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Reference</a:t>
            </a:r>
            <a:r>
              <a:rPr lang="es-ES" sz="1300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Ground</a:t>
            </a:r>
            <a:r>
              <a:rPr lang="es-ES" sz="1300" spc="-5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Track.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8120" y="4568036"/>
            <a:ext cx="5292090" cy="518795"/>
            <a:chOff x="618120" y="4568036"/>
            <a:chExt cx="5292090" cy="518795"/>
          </a:xfrm>
        </p:grpSpPr>
        <p:sp>
          <p:nvSpPr>
            <p:cNvPr id="29" name="object 29"/>
            <p:cNvSpPr/>
            <p:nvPr/>
          </p:nvSpPr>
          <p:spPr>
            <a:xfrm>
              <a:off x="621360" y="4571276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3" y="8280"/>
                  </a:lnTo>
                  <a:lnTo>
                    <a:pt x="0" y="482041"/>
                  </a:lnTo>
                  <a:lnTo>
                    <a:pt x="1704" y="488162"/>
                  </a:lnTo>
                  <a:lnTo>
                    <a:pt x="1803" y="488518"/>
                  </a:lnTo>
                  <a:lnTo>
                    <a:pt x="5041" y="493928"/>
                  </a:lnTo>
                  <a:lnTo>
                    <a:pt x="8280" y="499681"/>
                  </a:lnTo>
                  <a:lnTo>
                    <a:pt x="12953" y="503999"/>
                  </a:lnTo>
                  <a:lnTo>
                    <a:pt x="18364" y="507238"/>
                  </a:lnTo>
                  <a:lnTo>
                    <a:pt x="24117" y="510489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89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25"/>
                  </a:lnTo>
                  <a:lnTo>
                    <a:pt x="5280482" y="493928"/>
                  </a:lnTo>
                  <a:lnTo>
                    <a:pt x="5283720" y="488162"/>
                  </a:lnTo>
                  <a:lnTo>
                    <a:pt x="5285524" y="482041"/>
                  </a:lnTo>
                  <a:lnTo>
                    <a:pt x="5285421" y="30238"/>
                  </a:lnTo>
                  <a:lnTo>
                    <a:pt x="5283720" y="24130"/>
                  </a:lnTo>
                  <a:lnTo>
                    <a:pt x="5280482" y="18719"/>
                  </a:lnTo>
                  <a:lnTo>
                    <a:pt x="5277243" y="12966"/>
                  </a:lnTo>
                  <a:lnTo>
                    <a:pt x="5272557" y="8648"/>
                  </a:lnTo>
                  <a:lnTo>
                    <a:pt x="5267159" y="5410"/>
                  </a:lnTo>
                  <a:lnTo>
                    <a:pt x="5261394" y="2159"/>
                  </a:lnTo>
                  <a:lnTo>
                    <a:pt x="5255285" y="368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1360" y="4571276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55" y="36728"/>
                  </a:moveTo>
                  <a:lnTo>
                    <a:pt x="355" y="30238"/>
                  </a:lnTo>
                  <a:lnTo>
                    <a:pt x="2158" y="24130"/>
                  </a:lnTo>
                  <a:lnTo>
                    <a:pt x="5397" y="18364"/>
                  </a:lnTo>
                  <a:lnTo>
                    <a:pt x="8635" y="12966"/>
                  </a:lnTo>
                  <a:lnTo>
                    <a:pt x="12953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83" y="0"/>
                  </a:lnTo>
                  <a:lnTo>
                    <a:pt x="5248795" y="368"/>
                  </a:lnTo>
                  <a:lnTo>
                    <a:pt x="5255285" y="368"/>
                  </a:lnTo>
                  <a:lnTo>
                    <a:pt x="5261394" y="2159"/>
                  </a:lnTo>
                  <a:lnTo>
                    <a:pt x="5267159" y="5410"/>
                  </a:lnTo>
                  <a:lnTo>
                    <a:pt x="5272557" y="8648"/>
                  </a:lnTo>
                  <a:lnTo>
                    <a:pt x="5277243" y="12966"/>
                  </a:lnTo>
                  <a:lnTo>
                    <a:pt x="5280482" y="18719"/>
                  </a:lnTo>
                  <a:lnTo>
                    <a:pt x="5283720" y="24130"/>
                  </a:lnTo>
                  <a:lnTo>
                    <a:pt x="5285524" y="30607"/>
                  </a:lnTo>
                  <a:lnTo>
                    <a:pt x="5285524" y="37084"/>
                  </a:lnTo>
                  <a:lnTo>
                    <a:pt x="5285524" y="475564"/>
                  </a:lnTo>
                  <a:lnTo>
                    <a:pt x="5285524" y="482041"/>
                  </a:lnTo>
                  <a:lnTo>
                    <a:pt x="5283720" y="488162"/>
                  </a:lnTo>
                  <a:lnTo>
                    <a:pt x="5280482" y="493928"/>
                  </a:lnTo>
                  <a:lnTo>
                    <a:pt x="5277243" y="499325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89"/>
                  </a:lnTo>
                  <a:lnTo>
                    <a:pt x="5255285" y="512279"/>
                  </a:lnTo>
                  <a:lnTo>
                    <a:pt x="5248795" y="512279"/>
                  </a:lnTo>
                  <a:lnTo>
                    <a:pt x="36715" y="512279"/>
                  </a:lnTo>
                  <a:lnTo>
                    <a:pt x="30238" y="512279"/>
                  </a:lnTo>
                  <a:lnTo>
                    <a:pt x="24117" y="510489"/>
                  </a:lnTo>
                  <a:lnTo>
                    <a:pt x="18364" y="507238"/>
                  </a:lnTo>
                  <a:lnTo>
                    <a:pt x="12953" y="503999"/>
                  </a:lnTo>
                  <a:lnTo>
                    <a:pt x="8280" y="499681"/>
                  </a:lnTo>
                  <a:lnTo>
                    <a:pt x="5041" y="493928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64"/>
                  </a:lnTo>
                  <a:lnTo>
                    <a:pt x="355" y="36728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91895" y="4689983"/>
            <a:ext cx="4806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20">
                <a:solidFill>
                  <a:srgbClr val="1D4938"/>
                </a:solidFill>
                <a:latin typeface="Arial"/>
                <a:cs typeface="Arial"/>
              </a:rPr>
              <a:t>RH98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36139" y="4696815"/>
            <a:ext cx="3015615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300">
                <a:solidFill>
                  <a:srgbClr val="1F2F28"/>
                </a:solidFill>
                <a:latin typeface="Arial"/>
                <a:cs typeface="Arial"/>
              </a:rPr>
              <a:t>h_canopy:</a:t>
            </a:r>
            <a:r>
              <a:rPr lang="pt-BR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pt-BR" sz="1300">
                <a:solidFill>
                  <a:srgbClr val="1F2F28"/>
                </a:solidFill>
                <a:latin typeface="Arial"/>
                <a:cs typeface="Arial"/>
              </a:rPr>
              <a:t>percentil</a:t>
            </a:r>
            <a:r>
              <a:rPr lang="pt-BR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pt-BR" sz="1300">
                <a:solidFill>
                  <a:srgbClr val="1F2F28"/>
                </a:solidFill>
                <a:latin typeface="Arial"/>
                <a:cs typeface="Arial"/>
              </a:rPr>
              <a:t>98</a:t>
            </a:r>
            <a:r>
              <a:rPr lang="pt-BR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pt-BR" sz="13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pt-BR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pt-BR" sz="1300">
                <a:solidFill>
                  <a:srgbClr val="1F2F28"/>
                </a:solidFill>
                <a:latin typeface="Arial"/>
                <a:cs typeface="Arial"/>
              </a:rPr>
              <a:t>altura</a:t>
            </a:r>
            <a:r>
              <a:rPr lang="pt-BR" sz="1300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pt-BR" sz="1300" spc="-10">
                <a:solidFill>
                  <a:srgbClr val="1F2F28"/>
                </a:solidFill>
                <a:latin typeface="Arial"/>
                <a:cs typeface="Arial"/>
              </a:rPr>
              <a:t>relativa.</a:t>
            </a:r>
            <a:endParaRPr lang="pt-BR" sz="13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78395" y="1276196"/>
            <a:ext cx="5292090" cy="518795"/>
            <a:chOff x="6278395" y="1276196"/>
            <a:chExt cx="5292090" cy="518795"/>
          </a:xfrm>
        </p:grpSpPr>
        <p:sp>
          <p:nvSpPr>
            <p:cNvPr id="34" name="object 34"/>
            <p:cNvSpPr/>
            <p:nvPr/>
          </p:nvSpPr>
          <p:spPr>
            <a:xfrm>
              <a:off x="6281635" y="1279436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0606" y="0"/>
                  </a:moveTo>
                  <a:lnTo>
                    <a:pt x="24129" y="1803"/>
                  </a:lnTo>
                  <a:lnTo>
                    <a:pt x="18719" y="5041"/>
                  </a:lnTo>
                  <a:lnTo>
                    <a:pt x="12966" y="8280"/>
                  </a:lnTo>
                  <a:lnTo>
                    <a:pt x="0" y="482041"/>
                  </a:lnTo>
                  <a:lnTo>
                    <a:pt x="1704" y="488162"/>
                  </a:lnTo>
                  <a:lnTo>
                    <a:pt x="1803" y="488518"/>
                  </a:lnTo>
                  <a:lnTo>
                    <a:pt x="5041" y="493928"/>
                  </a:lnTo>
                  <a:lnTo>
                    <a:pt x="8280" y="499681"/>
                  </a:lnTo>
                  <a:lnTo>
                    <a:pt x="12966" y="503999"/>
                  </a:lnTo>
                  <a:lnTo>
                    <a:pt x="18364" y="507238"/>
                  </a:lnTo>
                  <a:lnTo>
                    <a:pt x="24129" y="510489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89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25"/>
                  </a:lnTo>
                  <a:lnTo>
                    <a:pt x="5280482" y="493928"/>
                  </a:lnTo>
                  <a:lnTo>
                    <a:pt x="5283720" y="488162"/>
                  </a:lnTo>
                  <a:lnTo>
                    <a:pt x="5285524" y="482041"/>
                  </a:lnTo>
                  <a:lnTo>
                    <a:pt x="5285421" y="30238"/>
                  </a:lnTo>
                  <a:lnTo>
                    <a:pt x="5283720" y="24129"/>
                  </a:lnTo>
                  <a:lnTo>
                    <a:pt x="5280482" y="18719"/>
                  </a:lnTo>
                  <a:lnTo>
                    <a:pt x="5277243" y="12966"/>
                  </a:lnTo>
                  <a:lnTo>
                    <a:pt x="5272570" y="8648"/>
                  </a:lnTo>
                  <a:lnTo>
                    <a:pt x="5267159" y="5410"/>
                  </a:lnTo>
                  <a:lnTo>
                    <a:pt x="5261406" y="2159"/>
                  </a:lnTo>
                  <a:lnTo>
                    <a:pt x="5255285" y="368"/>
                  </a:lnTo>
                  <a:lnTo>
                    <a:pt x="30606" y="0"/>
                  </a:lnTo>
                  <a:close/>
                </a:path>
              </a:pathLst>
            </a:custGeom>
            <a:solidFill>
              <a:srgbClr val="EE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81635" y="1279436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68" y="36728"/>
                  </a:moveTo>
                  <a:lnTo>
                    <a:pt x="368" y="30238"/>
                  </a:lnTo>
                  <a:lnTo>
                    <a:pt x="2158" y="24129"/>
                  </a:lnTo>
                  <a:lnTo>
                    <a:pt x="5410" y="18364"/>
                  </a:lnTo>
                  <a:lnTo>
                    <a:pt x="8648" y="12966"/>
                  </a:lnTo>
                  <a:lnTo>
                    <a:pt x="12966" y="8280"/>
                  </a:lnTo>
                  <a:lnTo>
                    <a:pt x="18719" y="5041"/>
                  </a:lnTo>
                  <a:lnTo>
                    <a:pt x="24129" y="1803"/>
                  </a:lnTo>
                  <a:lnTo>
                    <a:pt x="30606" y="0"/>
                  </a:lnTo>
                  <a:lnTo>
                    <a:pt x="37083" y="0"/>
                  </a:lnTo>
                  <a:lnTo>
                    <a:pt x="5248808" y="368"/>
                  </a:lnTo>
                  <a:lnTo>
                    <a:pt x="5255285" y="368"/>
                  </a:lnTo>
                  <a:lnTo>
                    <a:pt x="5261406" y="2159"/>
                  </a:lnTo>
                  <a:lnTo>
                    <a:pt x="5267159" y="5410"/>
                  </a:lnTo>
                  <a:lnTo>
                    <a:pt x="5272570" y="8648"/>
                  </a:lnTo>
                  <a:lnTo>
                    <a:pt x="5277243" y="12966"/>
                  </a:lnTo>
                  <a:lnTo>
                    <a:pt x="5280482" y="18719"/>
                  </a:lnTo>
                  <a:lnTo>
                    <a:pt x="5283720" y="24129"/>
                  </a:lnTo>
                  <a:lnTo>
                    <a:pt x="5285524" y="30607"/>
                  </a:lnTo>
                  <a:lnTo>
                    <a:pt x="5285524" y="37084"/>
                  </a:lnTo>
                  <a:lnTo>
                    <a:pt x="5285524" y="475564"/>
                  </a:lnTo>
                  <a:lnTo>
                    <a:pt x="5285524" y="482041"/>
                  </a:lnTo>
                  <a:lnTo>
                    <a:pt x="5283720" y="488162"/>
                  </a:lnTo>
                  <a:lnTo>
                    <a:pt x="5280482" y="493928"/>
                  </a:lnTo>
                  <a:lnTo>
                    <a:pt x="5277243" y="499325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89"/>
                  </a:lnTo>
                  <a:lnTo>
                    <a:pt x="5255285" y="512279"/>
                  </a:lnTo>
                  <a:lnTo>
                    <a:pt x="5248808" y="512279"/>
                  </a:lnTo>
                  <a:lnTo>
                    <a:pt x="36728" y="512279"/>
                  </a:lnTo>
                  <a:lnTo>
                    <a:pt x="30238" y="512279"/>
                  </a:lnTo>
                  <a:lnTo>
                    <a:pt x="24129" y="510489"/>
                  </a:lnTo>
                  <a:lnTo>
                    <a:pt x="18364" y="507238"/>
                  </a:lnTo>
                  <a:lnTo>
                    <a:pt x="12966" y="503999"/>
                  </a:lnTo>
                  <a:lnTo>
                    <a:pt x="8280" y="499681"/>
                  </a:lnTo>
                  <a:lnTo>
                    <a:pt x="5041" y="493928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64"/>
                  </a:lnTo>
                  <a:lnTo>
                    <a:pt x="368" y="36728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452184" y="1398142"/>
            <a:ext cx="5797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10">
                <a:solidFill>
                  <a:srgbClr val="C3862D"/>
                </a:solidFill>
                <a:latin typeface="Arial"/>
                <a:cs typeface="Arial"/>
              </a:rPr>
              <a:t>RH100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96415" y="1404975"/>
            <a:ext cx="2914015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300">
                <a:solidFill>
                  <a:srgbClr val="1F2F28"/>
                </a:solidFill>
                <a:latin typeface="Arial"/>
                <a:cs typeface="Arial"/>
              </a:rPr>
              <a:t>h_max_canopy:</a:t>
            </a:r>
            <a:r>
              <a:rPr lang="pt-BR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pt-BR" sz="1300">
                <a:solidFill>
                  <a:srgbClr val="1F2F28"/>
                </a:solidFill>
                <a:latin typeface="Arial"/>
                <a:cs typeface="Arial"/>
              </a:rPr>
              <a:t>altura</a:t>
            </a:r>
            <a:r>
              <a:rPr lang="pt-BR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pt-BR" sz="1300">
                <a:solidFill>
                  <a:srgbClr val="1F2F28"/>
                </a:solidFill>
                <a:latin typeface="Arial"/>
                <a:cs typeface="Arial"/>
              </a:rPr>
              <a:t>relativa</a:t>
            </a:r>
            <a:r>
              <a:rPr lang="pt-BR" sz="1300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pt-BR" sz="1300" spc="-10">
                <a:solidFill>
                  <a:srgbClr val="1F2F28"/>
                </a:solidFill>
                <a:latin typeface="Arial"/>
                <a:cs typeface="Arial"/>
              </a:rPr>
              <a:t>máxima.</a:t>
            </a:r>
            <a:endParaRPr lang="pt-BR" sz="13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278395" y="1934640"/>
            <a:ext cx="5292090" cy="518795"/>
            <a:chOff x="6278395" y="1934640"/>
            <a:chExt cx="5292090" cy="518795"/>
          </a:xfrm>
        </p:grpSpPr>
        <p:sp>
          <p:nvSpPr>
            <p:cNvPr id="39" name="object 39"/>
            <p:cNvSpPr/>
            <p:nvPr/>
          </p:nvSpPr>
          <p:spPr>
            <a:xfrm>
              <a:off x="6281635" y="1937880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0606" y="0"/>
                  </a:moveTo>
                  <a:lnTo>
                    <a:pt x="24129" y="1803"/>
                  </a:lnTo>
                  <a:lnTo>
                    <a:pt x="18719" y="5041"/>
                  </a:lnTo>
                  <a:lnTo>
                    <a:pt x="12966" y="8280"/>
                  </a:lnTo>
                  <a:lnTo>
                    <a:pt x="0" y="482041"/>
                  </a:lnTo>
                  <a:lnTo>
                    <a:pt x="1704" y="488162"/>
                  </a:lnTo>
                  <a:lnTo>
                    <a:pt x="1803" y="488518"/>
                  </a:lnTo>
                  <a:lnTo>
                    <a:pt x="5041" y="493915"/>
                  </a:lnTo>
                  <a:lnTo>
                    <a:pt x="8280" y="499681"/>
                  </a:lnTo>
                  <a:lnTo>
                    <a:pt x="12966" y="503999"/>
                  </a:lnTo>
                  <a:lnTo>
                    <a:pt x="18364" y="507238"/>
                  </a:lnTo>
                  <a:lnTo>
                    <a:pt x="24129" y="510476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76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25"/>
                  </a:lnTo>
                  <a:lnTo>
                    <a:pt x="5280482" y="493915"/>
                  </a:lnTo>
                  <a:lnTo>
                    <a:pt x="5283720" y="488162"/>
                  </a:lnTo>
                  <a:lnTo>
                    <a:pt x="5285524" y="482041"/>
                  </a:lnTo>
                  <a:lnTo>
                    <a:pt x="5285425" y="30238"/>
                  </a:lnTo>
                  <a:lnTo>
                    <a:pt x="5283720" y="24117"/>
                  </a:lnTo>
                  <a:lnTo>
                    <a:pt x="5280482" y="18719"/>
                  </a:lnTo>
                  <a:lnTo>
                    <a:pt x="5277243" y="12953"/>
                  </a:lnTo>
                  <a:lnTo>
                    <a:pt x="5272570" y="8636"/>
                  </a:lnTo>
                  <a:lnTo>
                    <a:pt x="5267159" y="5397"/>
                  </a:lnTo>
                  <a:lnTo>
                    <a:pt x="5261406" y="2159"/>
                  </a:lnTo>
                  <a:lnTo>
                    <a:pt x="5255285" y="355"/>
                  </a:lnTo>
                  <a:lnTo>
                    <a:pt x="30606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81635" y="1937880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68" y="36715"/>
                  </a:moveTo>
                  <a:lnTo>
                    <a:pt x="368" y="30238"/>
                  </a:lnTo>
                  <a:lnTo>
                    <a:pt x="2158" y="24117"/>
                  </a:lnTo>
                  <a:lnTo>
                    <a:pt x="5410" y="18364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41"/>
                  </a:lnTo>
                  <a:lnTo>
                    <a:pt x="24129" y="1803"/>
                  </a:lnTo>
                  <a:lnTo>
                    <a:pt x="30606" y="0"/>
                  </a:lnTo>
                  <a:lnTo>
                    <a:pt x="37083" y="0"/>
                  </a:lnTo>
                  <a:lnTo>
                    <a:pt x="5248808" y="355"/>
                  </a:lnTo>
                  <a:lnTo>
                    <a:pt x="5255285" y="355"/>
                  </a:lnTo>
                  <a:lnTo>
                    <a:pt x="5261406" y="2159"/>
                  </a:lnTo>
                  <a:lnTo>
                    <a:pt x="5267159" y="5397"/>
                  </a:lnTo>
                  <a:lnTo>
                    <a:pt x="5272570" y="8636"/>
                  </a:lnTo>
                  <a:lnTo>
                    <a:pt x="5277243" y="12953"/>
                  </a:lnTo>
                  <a:lnTo>
                    <a:pt x="5280482" y="18719"/>
                  </a:lnTo>
                  <a:lnTo>
                    <a:pt x="5283720" y="24117"/>
                  </a:lnTo>
                  <a:lnTo>
                    <a:pt x="5285524" y="30594"/>
                  </a:lnTo>
                  <a:lnTo>
                    <a:pt x="5285524" y="37084"/>
                  </a:lnTo>
                  <a:lnTo>
                    <a:pt x="5285524" y="475564"/>
                  </a:lnTo>
                  <a:lnTo>
                    <a:pt x="5285524" y="482041"/>
                  </a:lnTo>
                  <a:lnTo>
                    <a:pt x="5283720" y="488162"/>
                  </a:lnTo>
                  <a:lnTo>
                    <a:pt x="5280482" y="493915"/>
                  </a:lnTo>
                  <a:lnTo>
                    <a:pt x="5277243" y="499325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76"/>
                  </a:lnTo>
                  <a:lnTo>
                    <a:pt x="5255285" y="512279"/>
                  </a:lnTo>
                  <a:lnTo>
                    <a:pt x="5248808" y="512279"/>
                  </a:lnTo>
                  <a:lnTo>
                    <a:pt x="36728" y="512279"/>
                  </a:lnTo>
                  <a:lnTo>
                    <a:pt x="30238" y="512279"/>
                  </a:lnTo>
                  <a:lnTo>
                    <a:pt x="24129" y="510476"/>
                  </a:lnTo>
                  <a:lnTo>
                    <a:pt x="18364" y="507238"/>
                  </a:lnTo>
                  <a:lnTo>
                    <a:pt x="12966" y="503999"/>
                  </a:lnTo>
                  <a:lnTo>
                    <a:pt x="8280" y="499681"/>
                  </a:lnTo>
                  <a:lnTo>
                    <a:pt x="5041" y="493915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64"/>
                  </a:lnTo>
                  <a:lnTo>
                    <a:pt x="368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452184" y="2056587"/>
            <a:ext cx="3416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25">
                <a:solidFill>
                  <a:srgbClr val="C3862D"/>
                </a:solidFill>
                <a:latin typeface="Arial"/>
                <a:cs typeface="Arial"/>
              </a:rPr>
              <a:t>IQR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796415" y="2063419"/>
            <a:ext cx="1594485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Rango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intercuartílico.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278395" y="2593084"/>
            <a:ext cx="5292090" cy="518795"/>
            <a:chOff x="6278395" y="2593084"/>
            <a:chExt cx="5292090" cy="518795"/>
          </a:xfrm>
        </p:grpSpPr>
        <p:sp>
          <p:nvSpPr>
            <p:cNvPr id="44" name="object 44"/>
            <p:cNvSpPr/>
            <p:nvPr/>
          </p:nvSpPr>
          <p:spPr>
            <a:xfrm>
              <a:off x="6281635" y="2596324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0606" y="0"/>
                  </a:moveTo>
                  <a:lnTo>
                    <a:pt x="24129" y="1790"/>
                  </a:lnTo>
                  <a:lnTo>
                    <a:pt x="18719" y="5029"/>
                  </a:lnTo>
                  <a:lnTo>
                    <a:pt x="12966" y="8280"/>
                  </a:lnTo>
                  <a:lnTo>
                    <a:pt x="0" y="482041"/>
                  </a:lnTo>
                  <a:lnTo>
                    <a:pt x="1700" y="488149"/>
                  </a:lnTo>
                  <a:lnTo>
                    <a:pt x="1803" y="488518"/>
                  </a:lnTo>
                  <a:lnTo>
                    <a:pt x="5041" y="493915"/>
                  </a:lnTo>
                  <a:lnTo>
                    <a:pt x="8280" y="499681"/>
                  </a:lnTo>
                  <a:lnTo>
                    <a:pt x="12966" y="503999"/>
                  </a:lnTo>
                  <a:lnTo>
                    <a:pt x="18364" y="507238"/>
                  </a:lnTo>
                  <a:lnTo>
                    <a:pt x="24129" y="510476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76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13"/>
                  </a:lnTo>
                  <a:lnTo>
                    <a:pt x="5280482" y="493915"/>
                  </a:lnTo>
                  <a:lnTo>
                    <a:pt x="5283720" y="488149"/>
                  </a:lnTo>
                  <a:lnTo>
                    <a:pt x="5285524" y="482041"/>
                  </a:lnTo>
                  <a:lnTo>
                    <a:pt x="5285425" y="30238"/>
                  </a:lnTo>
                  <a:lnTo>
                    <a:pt x="5283720" y="24117"/>
                  </a:lnTo>
                  <a:lnTo>
                    <a:pt x="5280482" y="18719"/>
                  </a:lnTo>
                  <a:lnTo>
                    <a:pt x="5277243" y="12953"/>
                  </a:lnTo>
                  <a:lnTo>
                    <a:pt x="5272570" y="8636"/>
                  </a:lnTo>
                  <a:lnTo>
                    <a:pt x="5267159" y="5397"/>
                  </a:lnTo>
                  <a:lnTo>
                    <a:pt x="5261406" y="2159"/>
                  </a:lnTo>
                  <a:lnTo>
                    <a:pt x="5255285" y="355"/>
                  </a:lnTo>
                  <a:lnTo>
                    <a:pt x="30606" y="0"/>
                  </a:lnTo>
                  <a:close/>
                </a:path>
              </a:pathLst>
            </a:custGeom>
            <a:solidFill>
              <a:srgbClr val="EE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81635" y="2596324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4">
                  <a:moveTo>
                    <a:pt x="368" y="36715"/>
                  </a:moveTo>
                  <a:lnTo>
                    <a:pt x="368" y="30238"/>
                  </a:lnTo>
                  <a:lnTo>
                    <a:pt x="2158" y="24117"/>
                  </a:lnTo>
                  <a:lnTo>
                    <a:pt x="5410" y="18351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29"/>
                  </a:lnTo>
                  <a:lnTo>
                    <a:pt x="24129" y="1790"/>
                  </a:lnTo>
                  <a:lnTo>
                    <a:pt x="30606" y="0"/>
                  </a:lnTo>
                  <a:lnTo>
                    <a:pt x="37083" y="0"/>
                  </a:lnTo>
                  <a:lnTo>
                    <a:pt x="5248808" y="355"/>
                  </a:lnTo>
                  <a:lnTo>
                    <a:pt x="5255285" y="355"/>
                  </a:lnTo>
                  <a:lnTo>
                    <a:pt x="5261406" y="2159"/>
                  </a:lnTo>
                  <a:lnTo>
                    <a:pt x="5267159" y="5397"/>
                  </a:lnTo>
                  <a:lnTo>
                    <a:pt x="5272570" y="8636"/>
                  </a:lnTo>
                  <a:lnTo>
                    <a:pt x="5277243" y="12953"/>
                  </a:lnTo>
                  <a:lnTo>
                    <a:pt x="5280482" y="18719"/>
                  </a:lnTo>
                  <a:lnTo>
                    <a:pt x="5283720" y="24117"/>
                  </a:lnTo>
                  <a:lnTo>
                    <a:pt x="5285524" y="30594"/>
                  </a:lnTo>
                  <a:lnTo>
                    <a:pt x="5285524" y="37071"/>
                  </a:lnTo>
                  <a:lnTo>
                    <a:pt x="5285524" y="475551"/>
                  </a:lnTo>
                  <a:lnTo>
                    <a:pt x="5285524" y="482041"/>
                  </a:lnTo>
                  <a:lnTo>
                    <a:pt x="5283720" y="488149"/>
                  </a:lnTo>
                  <a:lnTo>
                    <a:pt x="5280482" y="493915"/>
                  </a:lnTo>
                  <a:lnTo>
                    <a:pt x="5277243" y="499313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76"/>
                  </a:lnTo>
                  <a:lnTo>
                    <a:pt x="5255285" y="512279"/>
                  </a:lnTo>
                  <a:lnTo>
                    <a:pt x="5248808" y="512279"/>
                  </a:lnTo>
                  <a:lnTo>
                    <a:pt x="36728" y="512279"/>
                  </a:lnTo>
                  <a:lnTo>
                    <a:pt x="30238" y="512279"/>
                  </a:lnTo>
                  <a:lnTo>
                    <a:pt x="24129" y="510476"/>
                  </a:lnTo>
                  <a:lnTo>
                    <a:pt x="18364" y="507238"/>
                  </a:lnTo>
                  <a:lnTo>
                    <a:pt x="12966" y="503999"/>
                  </a:lnTo>
                  <a:lnTo>
                    <a:pt x="8280" y="499681"/>
                  </a:lnTo>
                  <a:lnTo>
                    <a:pt x="5041" y="493915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51"/>
                  </a:lnTo>
                  <a:lnTo>
                    <a:pt x="368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452184" y="2715018"/>
            <a:ext cx="56007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10">
                <a:solidFill>
                  <a:srgbClr val="C3862D"/>
                </a:solidFill>
                <a:latin typeface="Arial"/>
                <a:cs typeface="Arial"/>
              </a:rPr>
              <a:t>IC95%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796415" y="2721863"/>
            <a:ext cx="2342515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Intervalo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confianza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 95%.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278395" y="3251160"/>
            <a:ext cx="5292090" cy="518795"/>
            <a:chOff x="6278395" y="3251160"/>
            <a:chExt cx="5292090" cy="518795"/>
          </a:xfrm>
        </p:grpSpPr>
        <p:sp>
          <p:nvSpPr>
            <p:cNvPr id="49" name="object 49"/>
            <p:cNvSpPr/>
            <p:nvPr/>
          </p:nvSpPr>
          <p:spPr>
            <a:xfrm>
              <a:off x="6281635" y="3254400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0606" y="0"/>
                  </a:moveTo>
                  <a:lnTo>
                    <a:pt x="24129" y="1803"/>
                  </a:lnTo>
                  <a:lnTo>
                    <a:pt x="18719" y="5041"/>
                  </a:lnTo>
                  <a:lnTo>
                    <a:pt x="12966" y="8280"/>
                  </a:lnTo>
                  <a:lnTo>
                    <a:pt x="0" y="482041"/>
                  </a:lnTo>
                  <a:lnTo>
                    <a:pt x="1704" y="488162"/>
                  </a:lnTo>
                  <a:lnTo>
                    <a:pt x="1803" y="488518"/>
                  </a:lnTo>
                  <a:lnTo>
                    <a:pt x="5041" y="493915"/>
                  </a:lnTo>
                  <a:lnTo>
                    <a:pt x="8280" y="499681"/>
                  </a:lnTo>
                  <a:lnTo>
                    <a:pt x="12966" y="503999"/>
                  </a:lnTo>
                  <a:lnTo>
                    <a:pt x="18364" y="507238"/>
                  </a:lnTo>
                  <a:lnTo>
                    <a:pt x="24129" y="510476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76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25"/>
                  </a:lnTo>
                  <a:lnTo>
                    <a:pt x="5280482" y="493915"/>
                  </a:lnTo>
                  <a:lnTo>
                    <a:pt x="5283720" y="488162"/>
                  </a:lnTo>
                  <a:lnTo>
                    <a:pt x="5285524" y="482041"/>
                  </a:lnTo>
                  <a:lnTo>
                    <a:pt x="5285425" y="30238"/>
                  </a:lnTo>
                  <a:lnTo>
                    <a:pt x="5283720" y="24117"/>
                  </a:lnTo>
                  <a:lnTo>
                    <a:pt x="5280482" y="18719"/>
                  </a:lnTo>
                  <a:lnTo>
                    <a:pt x="5277243" y="12953"/>
                  </a:lnTo>
                  <a:lnTo>
                    <a:pt x="5272570" y="8636"/>
                  </a:lnTo>
                  <a:lnTo>
                    <a:pt x="5267159" y="5397"/>
                  </a:lnTo>
                  <a:lnTo>
                    <a:pt x="5261406" y="2159"/>
                  </a:lnTo>
                  <a:lnTo>
                    <a:pt x="5255285" y="355"/>
                  </a:lnTo>
                  <a:lnTo>
                    <a:pt x="30606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81635" y="3254400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68" y="36715"/>
                  </a:moveTo>
                  <a:lnTo>
                    <a:pt x="368" y="30238"/>
                  </a:lnTo>
                  <a:lnTo>
                    <a:pt x="2158" y="24117"/>
                  </a:lnTo>
                  <a:lnTo>
                    <a:pt x="5410" y="18364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41"/>
                  </a:lnTo>
                  <a:lnTo>
                    <a:pt x="24129" y="1803"/>
                  </a:lnTo>
                  <a:lnTo>
                    <a:pt x="30606" y="0"/>
                  </a:lnTo>
                  <a:lnTo>
                    <a:pt x="37083" y="0"/>
                  </a:lnTo>
                  <a:lnTo>
                    <a:pt x="5248808" y="355"/>
                  </a:lnTo>
                  <a:lnTo>
                    <a:pt x="5255285" y="355"/>
                  </a:lnTo>
                  <a:lnTo>
                    <a:pt x="5261406" y="2159"/>
                  </a:lnTo>
                  <a:lnTo>
                    <a:pt x="5267159" y="5397"/>
                  </a:lnTo>
                  <a:lnTo>
                    <a:pt x="5272570" y="8636"/>
                  </a:lnTo>
                  <a:lnTo>
                    <a:pt x="5277243" y="12953"/>
                  </a:lnTo>
                  <a:lnTo>
                    <a:pt x="5280482" y="18719"/>
                  </a:lnTo>
                  <a:lnTo>
                    <a:pt x="5283720" y="24117"/>
                  </a:lnTo>
                  <a:lnTo>
                    <a:pt x="5285524" y="30594"/>
                  </a:lnTo>
                  <a:lnTo>
                    <a:pt x="5285524" y="37084"/>
                  </a:lnTo>
                  <a:lnTo>
                    <a:pt x="5285524" y="475564"/>
                  </a:lnTo>
                  <a:lnTo>
                    <a:pt x="5285524" y="482041"/>
                  </a:lnTo>
                  <a:lnTo>
                    <a:pt x="5283720" y="488162"/>
                  </a:lnTo>
                  <a:lnTo>
                    <a:pt x="5280482" y="493915"/>
                  </a:lnTo>
                  <a:lnTo>
                    <a:pt x="5277243" y="499325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76"/>
                  </a:lnTo>
                  <a:lnTo>
                    <a:pt x="5255285" y="512279"/>
                  </a:lnTo>
                  <a:lnTo>
                    <a:pt x="5248808" y="512279"/>
                  </a:lnTo>
                  <a:lnTo>
                    <a:pt x="36728" y="512279"/>
                  </a:lnTo>
                  <a:lnTo>
                    <a:pt x="30238" y="512279"/>
                  </a:lnTo>
                  <a:lnTo>
                    <a:pt x="24129" y="510476"/>
                  </a:lnTo>
                  <a:lnTo>
                    <a:pt x="18364" y="507238"/>
                  </a:lnTo>
                  <a:lnTo>
                    <a:pt x="12966" y="503999"/>
                  </a:lnTo>
                  <a:lnTo>
                    <a:pt x="8280" y="499681"/>
                  </a:lnTo>
                  <a:lnTo>
                    <a:pt x="5041" y="493915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64"/>
                  </a:lnTo>
                  <a:lnTo>
                    <a:pt x="368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452184" y="3390734"/>
            <a:ext cx="119761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300" b="1">
                <a:solidFill>
                  <a:srgbClr val="C3862D"/>
                </a:solidFill>
                <a:latin typeface="Arial"/>
                <a:cs typeface="Arial"/>
              </a:rPr>
              <a:t>dNBR</a:t>
            </a:r>
            <a:r>
              <a:rPr lang="es-ES" sz="1300" b="1" spc="-20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1300" b="1">
                <a:solidFill>
                  <a:srgbClr val="C3862D"/>
                </a:solidFill>
                <a:latin typeface="Arial"/>
                <a:cs typeface="Arial"/>
              </a:rPr>
              <a:t>/</a:t>
            </a:r>
            <a:r>
              <a:rPr lang="es-ES" sz="1300" b="1" spc="-20">
                <a:solidFill>
                  <a:srgbClr val="C3862D"/>
                </a:solidFill>
                <a:latin typeface="Arial"/>
                <a:cs typeface="Arial"/>
              </a:rPr>
              <a:t> </a:t>
            </a:r>
            <a:r>
              <a:rPr lang="es-ES" sz="1300" b="1" spc="-10">
                <a:solidFill>
                  <a:srgbClr val="C3862D"/>
                </a:solidFill>
                <a:latin typeface="Arial"/>
                <a:cs typeface="Arial"/>
              </a:rPr>
              <a:t>RdNBR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96415" y="3380295"/>
            <a:ext cx="2490470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Índices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severidad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incendio.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278395" y="3909604"/>
            <a:ext cx="5292090" cy="518795"/>
            <a:chOff x="6278395" y="3909604"/>
            <a:chExt cx="5292090" cy="518795"/>
          </a:xfrm>
        </p:grpSpPr>
        <p:sp>
          <p:nvSpPr>
            <p:cNvPr id="54" name="object 54"/>
            <p:cNvSpPr/>
            <p:nvPr/>
          </p:nvSpPr>
          <p:spPr>
            <a:xfrm>
              <a:off x="6281635" y="3912844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0606" y="0"/>
                  </a:moveTo>
                  <a:lnTo>
                    <a:pt x="24129" y="1790"/>
                  </a:lnTo>
                  <a:lnTo>
                    <a:pt x="18719" y="5029"/>
                  </a:lnTo>
                  <a:lnTo>
                    <a:pt x="12966" y="8280"/>
                  </a:lnTo>
                  <a:lnTo>
                    <a:pt x="0" y="482041"/>
                  </a:lnTo>
                  <a:lnTo>
                    <a:pt x="1700" y="488149"/>
                  </a:lnTo>
                  <a:lnTo>
                    <a:pt x="1803" y="488518"/>
                  </a:lnTo>
                  <a:lnTo>
                    <a:pt x="5041" y="493915"/>
                  </a:lnTo>
                  <a:lnTo>
                    <a:pt x="8280" y="499681"/>
                  </a:lnTo>
                  <a:lnTo>
                    <a:pt x="12966" y="503999"/>
                  </a:lnTo>
                  <a:lnTo>
                    <a:pt x="18364" y="507238"/>
                  </a:lnTo>
                  <a:lnTo>
                    <a:pt x="24129" y="510476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76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13"/>
                  </a:lnTo>
                  <a:lnTo>
                    <a:pt x="5280482" y="493915"/>
                  </a:lnTo>
                  <a:lnTo>
                    <a:pt x="5283720" y="488149"/>
                  </a:lnTo>
                  <a:lnTo>
                    <a:pt x="5285524" y="482041"/>
                  </a:lnTo>
                  <a:lnTo>
                    <a:pt x="5285425" y="30238"/>
                  </a:lnTo>
                  <a:lnTo>
                    <a:pt x="5283720" y="24117"/>
                  </a:lnTo>
                  <a:lnTo>
                    <a:pt x="5280482" y="18719"/>
                  </a:lnTo>
                  <a:lnTo>
                    <a:pt x="5277243" y="12953"/>
                  </a:lnTo>
                  <a:lnTo>
                    <a:pt x="5272570" y="8635"/>
                  </a:lnTo>
                  <a:lnTo>
                    <a:pt x="5267159" y="5397"/>
                  </a:lnTo>
                  <a:lnTo>
                    <a:pt x="5261406" y="2158"/>
                  </a:lnTo>
                  <a:lnTo>
                    <a:pt x="5255285" y="355"/>
                  </a:lnTo>
                  <a:lnTo>
                    <a:pt x="30606" y="0"/>
                  </a:lnTo>
                  <a:close/>
                </a:path>
              </a:pathLst>
            </a:custGeom>
            <a:solidFill>
              <a:srgbClr val="EE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81635" y="3912844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68" y="36715"/>
                  </a:moveTo>
                  <a:lnTo>
                    <a:pt x="368" y="30238"/>
                  </a:lnTo>
                  <a:lnTo>
                    <a:pt x="2158" y="24117"/>
                  </a:lnTo>
                  <a:lnTo>
                    <a:pt x="5410" y="18351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29"/>
                  </a:lnTo>
                  <a:lnTo>
                    <a:pt x="24129" y="1790"/>
                  </a:lnTo>
                  <a:lnTo>
                    <a:pt x="30606" y="0"/>
                  </a:lnTo>
                  <a:lnTo>
                    <a:pt x="37083" y="0"/>
                  </a:lnTo>
                  <a:lnTo>
                    <a:pt x="5248808" y="355"/>
                  </a:lnTo>
                  <a:lnTo>
                    <a:pt x="5255285" y="355"/>
                  </a:lnTo>
                  <a:lnTo>
                    <a:pt x="5261406" y="2158"/>
                  </a:lnTo>
                  <a:lnTo>
                    <a:pt x="5267159" y="5397"/>
                  </a:lnTo>
                  <a:lnTo>
                    <a:pt x="5272570" y="8635"/>
                  </a:lnTo>
                  <a:lnTo>
                    <a:pt x="5277243" y="12953"/>
                  </a:lnTo>
                  <a:lnTo>
                    <a:pt x="5280482" y="18719"/>
                  </a:lnTo>
                  <a:lnTo>
                    <a:pt x="5283720" y="24117"/>
                  </a:lnTo>
                  <a:lnTo>
                    <a:pt x="5285524" y="30594"/>
                  </a:lnTo>
                  <a:lnTo>
                    <a:pt x="5285524" y="37071"/>
                  </a:lnTo>
                  <a:lnTo>
                    <a:pt x="5285524" y="475551"/>
                  </a:lnTo>
                  <a:lnTo>
                    <a:pt x="5285524" y="482041"/>
                  </a:lnTo>
                  <a:lnTo>
                    <a:pt x="5283720" y="488149"/>
                  </a:lnTo>
                  <a:lnTo>
                    <a:pt x="5280482" y="493915"/>
                  </a:lnTo>
                  <a:lnTo>
                    <a:pt x="5277243" y="499313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76"/>
                  </a:lnTo>
                  <a:lnTo>
                    <a:pt x="5255285" y="512279"/>
                  </a:lnTo>
                  <a:lnTo>
                    <a:pt x="5248808" y="512279"/>
                  </a:lnTo>
                  <a:lnTo>
                    <a:pt x="36728" y="512279"/>
                  </a:lnTo>
                  <a:lnTo>
                    <a:pt x="30238" y="512279"/>
                  </a:lnTo>
                  <a:lnTo>
                    <a:pt x="24129" y="510476"/>
                  </a:lnTo>
                  <a:lnTo>
                    <a:pt x="18364" y="507238"/>
                  </a:lnTo>
                  <a:lnTo>
                    <a:pt x="12966" y="503999"/>
                  </a:lnTo>
                  <a:lnTo>
                    <a:pt x="8280" y="499681"/>
                  </a:lnTo>
                  <a:lnTo>
                    <a:pt x="5041" y="493915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51"/>
                  </a:lnTo>
                  <a:lnTo>
                    <a:pt x="368" y="36715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452184" y="4031906"/>
            <a:ext cx="46100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 spc="-20">
                <a:solidFill>
                  <a:srgbClr val="C3862D"/>
                </a:solidFill>
                <a:latin typeface="Arial"/>
                <a:cs typeface="Arial"/>
              </a:rPr>
              <a:t>GEDI</a:t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796415" y="4038739"/>
            <a:ext cx="3338829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LiDAR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forma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onda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completa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ES" sz="1300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ISS.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278395" y="4568036"/>
            <a:ext cx="5292090" cy="518795"/>
            <a:chOff x="6278395" y="4568036"/>
            <a:chExt cx="5292090" cy="518795"/>
          </a:xfrm>
        </p:grpSpPr>
        <p:sp>
          <p:nvSpPr>
            <p:cNvPr id="59" name="object 59"/>
            <p:cNvSpPr/>
            <p:nvPr/>
          </p:nvSpPr>
          <p:spPr>
            <a:xfrm>
              <a:off x="6281635" y="4571276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0606" y="0"/>
                  </a:moveTo>
                  <a:lnTo>
                    <a:pt x="24129" y="1803"/>
                  </a:lnTo>
                  <a:lnTo>
                    <a:pt x="18719" y="5041"/>
                  </a:lnTo>
                  <a:lnTo>
                    <a:pt x="12966" y="8280"/>
                  </a:lnTo>
                  <a:lnTo>
                    <a:pt x="0" y="482041"/>
                  </a:lnTo>
                  <a:lnTo>
                    <a:pt x="1704" y="488162"/>
                  </a:lnTo>
                  <a:lnTo>
                    <a:pt x="1803" y="488518"/>
                  </a:lnTo>
                  <a:lnTo>
                    <a:pt x="5041" y="493928"/>
                  </a:lnTo>
                  <a:lnTo>
                    <a:pt x="8280" y="499681"/>
                  </a:lnTo>
                  <a:lnTo>
                    <a:pt x="12966" y="503999"/>
                  </a:lnTo>
                  <a:lnTo>
                    <a:pt x="18364" y="507238"/>
                  </a:lnTo>
                  <a:lnTo>
                    <a:pt x="24129" y="510489"/>
                  </a:lnTo>
                  <a:lnTo>
                    <a:pt x="30238" y="512279"/>
                  </a:lnTo>
                  <a:lnTo>
                    <a:pt x="5255285" y="512279"/>
                  </a:lnTo>
                  <a:lnTo>
                    <a:pt x="5261762" y="510489"/>
                  </a:lnTo>
                  <a:lnTo>
                    <a:pt x="5267159" y="507238"/>
                  </a:lnTo>
                  <a:lnTo>
                    <a:pt x="5272925" y="503999"/>
                  </a:lnTo>
                  <a:lnTo>
                    <a:pt x="5277243" y="499325"/>
                  </a:lnTo>
                  <a:lnTo>
                    <a:pt x="5280482" y="493928"/>
                  </a:lnTo>
                  <a:lnTo>
                    <a:pt x="5283720" y="488162"/>
                  </a:lnTo>
                  <a:lnTo>
                    <a:pt x="5285524" y="482041"/>
                  </a:lnTo>
                  <a:lnTo>
                    <a:pt x="5285421" y="30238"/>
                  </a:lnTo>
                  <a:lnTo>
                    <a:pt x="5283720" y="24130"/>
                  </a:lnTo>
                  <a:lnTo>
                    <a:pt x="5280482" y="18719"/>
                  </a:lnTo>
                  <a:lnTo>
                    <a:pt x="5277243" y="12966"/>
                  </a:lnTo>
                  <a:lnTo>
                    <a:pt x="5272570" y="8648"/>
                  </a:lnTo>
                  <a:lnTo>
                    <a:pt x="5267159" y="5410"/>
                  </a:lnTo>
                  <a:lnTo>
                    <a:pt x="5261406" y="2159"/>
                  </a:lnTo>
                  <a:lnTo>
                    <a:pt x="5255285" y="368"/>
                  </a:lnTo>
                  <a:lnTo>
                    <a:pt x="30606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281635" y="4571276"/>
              <a:ext cx="5285740" cy="512445"/>
            </a:xfrm>
            <a:custGeom>
              <a:avLst/>
              <a:gdLst/>
              <a:ahLst/>
              <a:cxnLst/>
              <a:rect l="l" t="t" r="r" b="b"/>
              <a:pathLst>
                <a:path w="5285740" h="512445">
                  <a:moveTo>
                    <a:pt x="368" y="36728"/>
                  </a:moveTo>
                  <a:lnTo>
                    <a:pt x="368" y="30238"/>
                  </a:lnTo>
                  <a:lnTo>
                    <a:pt x="2158" y="24130"/>
                  </a:lnTo>
                  <a:lnTo>
                    <a:pt x="5410" y="18364"/>
                  </a:lnTo>
                  <a:lnTo>
                    <a:pt x="8648" y="12966"/>
                  </a:lnTo>
                  <a:lnTo>
                    <a:pt x="12966" y="8280"/>
                  </a:lnTo>
                  <a:lnTo>
                    <a:pt x="18719" y="5041"/>
                  </a:lnTo>
                  <a:lnTo>
                    <a:pt x="24129" y="1803"/>
                  </a:lnTo>
                  <a:lnTo>
                    <a:pt x="30606" y="0"/>
                  </a:lnTo>
                  <a:lnTo>
                    <a:pt x="37083" y="0"/>
                  </a:lnTo>
                  <a:lnTo>
                    <a:pt x="5248808" y="368"/>
                  </a:lnTo>
                  <a:lnTo>
                    <a:pt x="5255285" y="368"/>
                  </a:lnTo>
                  <a:lnTo>
                    <a:pt x="5261406" y="2159"/>
                  </a:lnTo>
                  <a:lnTo>
                    <a:pt x="5267159" y="5410"/>
                  </a:lnTo>
                  <a:lnTo>
                    <a:pt x="5272570" y="8648"/>
                  </a:lnTo>
                  <a:lnTo>
                    <a:pt x="5277243" y="12966"/>
                  </a:lnTo>
                  <a:lnTo>
                    <a:pt x="5280482" y="18719"/>
                  </a:lnTo>
                  <a:lnTo>
                    <a:pt x="5283720" y="24130"/>
                  </a:lnTo>
                  <a:lnTo>
                    <a:pt x="5285524" y="30607"/>
                  </a:lnTo>
                  <a:lnTo>
                    <a:pt x="5285524" y="37084"/>
                  </a:lnTo>
                  <a:lnTo>
                    <a:pt x="5285524" y="475564"/>
                  </a:lnTo>
                  <a:lnTo>
                    <a:pt x="5285524" y="482041"/>
                  </a:lnTo>
                  <a:lnTo>
                    <a:pt x="5283720" y="488162"/>
                  </a:lnTo>
                  <a:lnTo>
                    <a:pt x="5280482" y="493928"/>
                  </a:lnTo>
                  <a:lnTo>
                    <a:pt x="5277243" y="499325"/>
                  </a:lnTo>
                  <a:lnTo>
                    <a:pt x="5272925" y="503999"/>
                  </a:lnTo>
                  <a:lnTo>
                    <a:pt x="5267159" y="507238"/>
                  </a:lnTo>
                  <a:lnTo>
                    <a:pt x="5261762" y="510489"/>
                  </a:lnTo>
                  <a:lnTo>
                    <a:pt x="5255285" y="512279"/>
                  </a:lnTo>
                  <a:lnTo>
                    <a:pt x="5248808" y="512279"/>
                  </a:lnTo>
                  <a:lnTo>
                    <a:pt x="36728" y="512279"/>
                  </a:lnTo>
                  <a:lnTo>
                    <a:pt x="30238" y="512279"/>
                  </a:lnTo>
                  <a:lnTo>
                    <a:pt x="24129" y="510489"/>
                  </a:lnTo>
                  <a:lnTo>
                    <a:pt x="18364" y="507238"/>
                  </a:lnTo>
                  <a:lnTo>
                    <a:pt x="12966" y="503999"/>
                  </a:lnTo>
                  <a:lnTo>
                    <a:pt x="8280" y="499681"/>
                  </a:lnTo>
                  <a:lnTo>
                    <a:pt x="5041" y="493928"/>
                  </a:lnTo>
                  <a:lnTo>
                    <a:pt x="1803" y="488518"/>
                  </a:lnTo>
                  <a:lnTo>
                    <a:pt x="0" y="482041"/>
                  </a:lnTo>
                  <a:lnTo>
                    <a:pt x="0" y="475564"/>
                  </a:lnTo>
                  <a:lnTo>
                    <a:pt x="368" y="36728"/>
                  </a:lnTo>
                  <a:close/>
                </a:path>
              </a:pathLst>
            </a:custGeom>
            <a:ln w="647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452184" y="4617973"/>
            <a:ext cx="1216025" cy="4025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410"/>
              </a:lnSpc>
              <a:spcBef>
                <a:spcPts val="270"/>
              </a:spcBef>
            </a:pPr>
            <a:r>
              <a:rPr lang="es-ES" sz="1300" b="1" spc="-10" err="1">
                <a:solidFill>
                  <a:srgbClr val="C3862D"/>
                </a:solidFill>
                <a:latin typeface="Arial"/>
                <a:cs typeface="Arial"/>
              </a:rPr>
              <a:t>Pseudorreplica-</a:t>
            </a:r>
            <a:r>
              <a:rPr lang="es-ES" sz="1300" b="1" spc="-20" err="1">
                <a:solidFill>
                  <a:srgbClr val="C3862D"/>
                </a:solidFill>
                <a:latin typeface="Arial"/>
                <a:cs typeface="Arial"/>
              </a:rPr>
              <a:t>ción</a:t>
            </a:r>
            <a:endParaRPr lang="es-ES" sz="13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796415" y="4616894"/>
            <a:ext cx="3074670" cy="4044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410"/>
              </a:lnSpc>
              <a:spcBef>
                <a:spcPts val="280"/>
              </a:spcBef>
            </a:pP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Tratar</a:t>
            </a:r>
            <a:r>
              <a:rPr lang="es-ES" sz="1300" spc="-6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observaciones</a:t>
            </a:r>
            <a:r>
              <a:rPr lang="es-ES" sz="13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dependientes</a:t>
            </a:r>
            <a:r>
              <a:rPr lang="es-ES" sz="1300" spc="-6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20">
                <a:solidFill>
                  <a:srgbClr val="1F2F28"/>
                </a:solidFill>
                <a:latin typeface="Arial"/>
                <a:cs typeface="Arial"/>
              </a:rPr>
              <a:t>como </a:t>
            </a:r>
            <a:r>
              <a:rPr lang="es-ES" sz="1300">
                <a:solidFill>
                  <a:srgbClr val="1F2F28"/>
                </a:solidFill>
                <a:latin typeface="Arial"/>
                <a:cs typeface="Arial"/>
              </a:rPr>
              <a:t>réplicas</a:t>
            </a:r>
            <a:r>
              <a:rPr lang="es-ES" sz="1300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300" spc="-10">
                <a:solidFill>
                  <a:srgbClr val="1F2F28"/>
                </a:solidFill>
                <a:latin typeface="Arial"/>
                <a:cs typeface="Arial"/>
              </a:rPr>
              <a:t>independientes.</a:t>
            </a:r>
            <a:endParaRPr lang="es-ES" sz="13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16320" y="5408284"/>
            <a:ext cx="10955655" cy="851535"/>
            <a:chOff x="616320" y="5408284"/>
            <a:chExt cx="10955655" cy="851535"/>
          </a:xfrm>
        </p:grpSpPr>
        <p:sp>
          <p:nvSpPr>
            <p:cNvPr id="64" name="object 64"/>
            <p:cNvSpPr/>
            <p:nvPr/>
          </p:nvSpPr>
          <p:spPr>
            <a:xfrm>
              <a:off x="621360" y="5413324"/>
              <a:ext cx="10945495" cy="841375"/>
            </a:xfrm>
            <a:custGeom>
              <a:avLst/>
              <a:gdLst/>
              <a:ahLst/>
              <a:cxnLst/>
              <a:rect l="l" t="t" r="r" b="b"/>
              <a:pathLst>
                <a:path w="10945495" h="841375">
                  <a:moveTo>
                    <a:pt x="1087200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768235"/>
                  </a:lnTo>
                  <a:lnTo>
                    <a:pt x="597" y="777512"/>
                  </a:lnTo>
                  <a:lnTo>
                    <a:pt x="607" y="777662"/>
                  </a:lnTo>
                  <a:lnTo>
                    <a:pt x="21285" y="819853"/>
                  </a:lnTo>
                  <a:lnTo>
                    <a:pt x="63443" y="840704"/>
                  </a:lnTo>
                  <a:lnTo>
                    <a:pt x="73075" y="841311"/>
                  </a:lnTo>
                  <a:lnTo>
                    <a:pt x="10872355" y="840955"/>
                  </a:lnTo>
                  <a:lnTo>
                    <a:pt x="10916733" y="825909"/>
                  </a:lnTo>
                  <a:lnTo>
                    <a:pt x="10942998" y="786953"/>
                  </a:lnTo>
                  <a:lnTo>
                    <a:pt x="10945444" y="767880"/>
                  </a:lnTo>
                  <a:lnTo>
                    <a:pt x="10945075" y="73075"/>
                  </a:lnTo>
                  <a:lnTo>
                    <a:pt x="10930034" y="28698"/>
                  </a:lnTo>
                  <a:lnTo>
                    <a:pt x="10891034" y="2428"/>
                  </a:lnTo>
                  <a:lnTo>
                    <a:pt x="10881633" y="607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21360" y="5413324"/>
              <a:ext cx="10945495" cy="841375"/>
            </a:xfrm>
            <a:custGeom>
              <a:avLst/>
              <a:gdLst/>
              <a:ahLst/>
              <a:cxnLst/>
              <a:rect l="l" t="t" r="r" b="b"/>
              <a:pathLst>
                <a:path w="10945495" h="841375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41"/>
                  </a:lnTo>
                  <a:lnTo>
                    <a:pt x="73075" y="0"/>
                  </a:lnTo>
                  <a:lnTo>
                    <a:pt x="10872000" y="0"/>
                  </a:lnTo>
                  <a:lnTo>
                    <a:pt x="10916677" y="15096"/>
                  </a:lnTo>
                  <a:lnTo>
                    <a:pt x="10942647" y="54357"/>
                  </a:lnTo>
                  <a:lnTo>
                    <a:pt x="10945075" y="73075"/>
                  </a:lnTo>
                  <a:lnTo>
                    <a:pt x="10945444" y="767880"/>
                  </a:lnTo>
                  <a:lnTo>
                    <a:pt x="10944836" y="777512"/>
                  </a:lnTo>
                  <a:lnTo>
                    <a:pt x="10943013" y="786909"/>
                  </a:lnTo>
                  <a:lnTo>
                    <a:pt x="10916733" y="825909"/>
                  </a:lnTo>
                  <a:lnTo>
                    <a:pt x="10872355" y="840955"/>
                  </a:lnTo>
                  <a:lnTo>
                    <a:pt x="73075" y="841311"/>
                  </a:lnTo>
                  <a:lnTo>
                    <a:pt x="28399" y="826214"/>
                  </a:lnTo>
                  <a:lnTo>
                    <a:pt x="2428" y="786953"/>
                  </a:lnTo>
                  <a:lnTo>
                    <a:pt x="0" y="7682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1D49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234147" y="5595734"/>
            <a:ext cx="9720000" cy="537968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789045" marR="5080" indent="-3776979" algn="just">
              <a:lnSpc>
                <a:spcPts val="1630"/>
              </a:lnSpc>
              <a:spcBef>
                <a:spcPts val="495"/>
              </a:spcBef>
            </a:pP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lang="es-MX" sz="1700" b="1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conclusión</a:t>
            </a:r>
            <a:r>
              <a:rPr lang="es-MX" sz="1700" b="1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científica</a:t>
            </a:r>
            <a:r>
              <a:rPr lang="es-MX" sz="1700" b="1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depende</a:t>
            </a:r>
            <a:r>
              <a:rPr lang="es-MX" sz="1700" b="1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tanto</a:t>
            </a:r>
            <a:r>
              <a:rPr lang="es-MX" sz="1700" b="1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lang="es-MX" sz="1700" b="1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sensor</a:t>
            </a:r>
            <a:r>
              <a:rPr lang="es-MX" sz="1700" b="1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lang="es-MX" sz="1700" b="1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lang="es-MX" sz="1700" b="1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lang="es-MX" sz="1700" b="1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selección,</a:t>
            </a:r>
            <a:r>
              <a:rPr lang="es-MX" sz="1700" b="1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lang="es-MX" sz="1700" b="1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r>
              <a:rPr lang="es-MX" sz="1700" b="1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lang="es-MX" sz="1700" b="1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análisis</a:t>
            </a:r>
          </a:p>
          <a:p>
            <a:pPr marL="3789045" marR="5080" indent="-3776979" algn="just">
              <a:lnSpc>
                <a:spcPts val="1630"/>
              </a:lnSpc>
              <a:spcBef>
                <a:spcPts val="495"/>
              </a:spcBef>
            </a:pPr>
            <a:r>
              <a:rPr lang="es-MX" sz="1700" b="1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lang="es-MX" sz="1700" b="1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 spc="-25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diseño</a:t>
            </a:r>
            <a:r>
              <a:rPr lang="es-MX" sz="1700" b="1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lang="es-MX" sz="1700" b="1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MX" sz="1700" b="1" spc="-10">
                <a:solidFill>
                  <a:srgbClr val="FFFFFF"/>
                </a:solidFill>
                <a:latin typeface="Arial"/>
                <a:cs typeface="Arial"/>
              </a:rPr>
              <a:t>comparación.</a:t>
            </a:r>
            <a:endParaRPr lang="es-MX" sz="1700">
              <a:latin typeface="Arial"/>
              <a:cs typeface="Arial"/>
            </a:endParaRPr>
          </a:p>
        </p:txBody>
      </p:sp>
      <p:sp>
        <p:nvSpPr>
          <p:cNvPr id="67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68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69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43/43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Control</a:t>
            </a:r>
            <a:r>
              <a:rPr spc="-90"/>
              <a:t> </a:t>
            </a:r>
            <a:r>
              <a:t>de</a:t>
            </a:r>
            <a:r>
              <a:rPr spc="-85"/>
              <a:t> </a:t>
            </a:r>
            <a:r>
              <a:t>terreno</a:t>
            </a:r>
            <a:r>
              <a:rPr spc="-90"/>
              <a:t> </a:t>
            </a:r>
            <a:r>
              <a:t>con</a:t>
            </a:r>
            <a:r>
              <a:rPr spc="-85"/>
              <a:t> </a:t>
            </a:r>
            <a:r>
              <a:t>FABDEM:</a:t>
            </a:r>
            <a:r>
              <a:rPr spc="-85"/>
              <a:t> </a:t>
            </a:r>
            <a:r>
              <a:t>el</a:t>
            </a:r>
            <a:r>
              <a:rPr spc="-90"/>
              <a:t> </a:t>
            </a:r>
            <a:r>
              <a:t>suelo,</a:t>
            </a:r>
            <a:r>
              <a:rPr spc="-85"/>
              <a:t> </a:t>
            </a:r>
            <a:r>
              <a:rPr spc="-10"/>
              <a:t>auditado</a:t>
            </a:r>
            <a:r>
              <a:rPr spc="-170"/>
              <a:t> </a:t>
            </a:r>
            <a:r>
              <a:rPr spc="-10"/>
              <a:t/>
            </a:r>
          </a:p>
        </p:txBody>
      </p:sp>
      <p:grpSp>
        <p:nvGrpSpPr>
          <p:cNvPr id="5" name="object 5" descr="/mnt/data/icesat2_work/unzip/ppt/media/image9.png"/>
          <p:cNvGrpSpPr/>
          <p:nvPr/>
        </p:nvGrpSpPr>
        <p:grpSpPr>
          <a:xfrm>
            <a:off x="621715" y="1261795"/>
            <a:ext cx="3730625" cy="3401695"/>
            <a:chOff x="621715" y="1261795"/>
            <a:chExt cx="3730625" cy="3401695"/>
          </a:xfrm>
        </p:grpSpPr>
        <p:pic>
          <p:nvPicPr>
            <p:cNvPr id="6" name="object 6" descr="/mnt/data/icesat2_work/unzip/ppt/media/image9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15" y="1261808"/>
              <a:ext cx="3730307" cy="3401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object 7"/>
            <p:cNvSpPr/>
            <p:nvPr/>
          </p:nvSpPr>
          <p:spPr>
            <a:xfrm>
              <a:off x="621715" y="1261795"/>
              <a:ext cx="3730625" cy="438784"/>
            </a:xfrm>
            <a:custGeom>
              <a:avLst/>
              <a:gdLst/>
              <a:ahLst/>
              <a:cxnLst/>
              <a:rect l="l" t="t" r="r" b="b"/>
              <a:pathLst>
                <a:path w="3730625" h="438785">
                  <a:moveTo>
                    <a:pt x="373032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865160" y="438480"/>
                  </a:lnTo>
                  <a:lnTo>
                    <a:pt x="3730320" y="438480"/>
                  </a:lnTo>
                  <a:lnTo>
                    <a:pt x="3730320" y="0"/>
                  </a:lnTo>
                  <a:close/>
                </a:path>
              </a:pathLst>
            </a:custGeom>
            <a:solidFill>
              <a:srgbClr val="13261F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 descr="/mnt/data/icesat2_work/unzip/ppt/media/image10.png"/>
          <p:cNvGrpSpPr/>
          <p:nvPr/>
        </p:nvGrpSpPr>
        <p:grpSpPr>
          <a:xfrm>
            <a:off x="4535284" y="1261795"/>
            <a:ext cx="3730625" cy="3401695"/>
            <a:chOff x="4535284" y="1261795"/>
            <a:chExt cx="3730625" cy="3401695"/>
          </a:xfrm>
        </p:grpSpPr>
        <p:pic>
          <p:nvPicPr>
            <p:cNvPr id="9" name="object 9" descr="/mnt/data/icesat2_work/unzip/ppt/media/image10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5284" y="1261808"/>
              <a:ext cx="3730294" cy="3401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object 10"/>
            <p:cNvSpPr/>
            <p:nvPr/>
          </p:nvSpPr>
          <p:spPr>
            <a:xfrm>
              <a:off x="4535284" y="1261795"/>
              <a:ext cx="3730625" cy="438784"/>
            </a:xfrm>
            <a:custGeom>
              <a:avLst/>
              <a:gdLst/>
              <a:ahLst/>
              <a:cxnLst/>
              <a:rect l="l" t="t" r="r" b="b"/>
              <a:pathLst>
                <a:path w="3730625" h="438785">
                  <a:moveTo>
                    <a:pt x="3730320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865160" y="438480"/>
                  </a:lnTo>
                  <a:lnTo>
                    <a:pt x="3730320" y="438480"/>
                  </a:lnTo>
                  <a:lnTo>
                    <a:pt x="3730320" y="0"/>
                  </a:lnTo>
                  <a:close/>
                </a:path>
              </a:pathLst>
            </a:custGeom>
            <a:solidFill>
              <a:srgbClr val="13261F">
                <a:alpha val="8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59420" y="1348460"/>
            <a:ext cx="18529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BOSQUE</a:t>
            </a:r>
            <a:r>
              <a:rPr lang="es-ES" sz="1400" b="1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76,3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%</a:t>
            </a:r>
            <a:r>
              <a:rPr lang="es-ES" sz="1400" b="1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/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45900" y="1348460"/>
            <a:ext cx="21069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ESTEPA</a:t>
            </a:r>
            <a:r>
              <a:rPr lang="es-ES" sz="1400" b="1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87,3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>
                <a:solidFill>
                  <a:srgbClr val="FFFFFF"/>
                </a:solidFill>
                <a:latin typeface="Arial"/>
                <a:cs typeface="Arial"/>
              </a:rPr>
              <a:t>%</a:t>
            </a:r>
            <a:r>
              <a:rPr lang="es-ES" sz="1400" b="1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1400" b="1" spc="-10">
                <a:solidFill>
                  <a:srgbClr val="FFFFFF"/>
                </a:solidFill>
                <a:latin typeface="Arial"/>
                <a:cs typeface="Arial"/>
              </a:rPr>
              <a:t/>
            </a:r>
            <a:endParaRPr lang="es-ES"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3064" y="4830013"/>
            <a:ext cx="475678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Umbral</a:t>
            </a:r>
            <a:r>
              <a:rPr lang="es-MX" sz="1400" b="1" spc="5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declarado: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±5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m</a:t>
            </a:r>
            <a:r>
              <a:rPr lang="es-MX" sz="1400" b="1" spc="5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sobre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FABDEM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+</a:t>
            </a:r>
            <a:r>
              <a:rPr lang="es-MX" sz="1400" b="1" spc="55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A8503B"/>
                </a:solidFill>
                <a:latin typeface="Arial"/>
                <a:cs typeface="Arial"/>
              </a:rPr>
              <a:t>EGM2008</a:t>
            </a:r>
            <a:r>
              <a:rPr lang="es-MX" sz="1400" b="1" spc="60">
                <a:solidFill>
                  <a:srgbClr val="A8503B"/>
                </a:solidFill>
                <a:latin typeface="Arial"/>
                <a:cs typeface="Arial"/>
              </a:rPr>
              <a:t> </a:t>
            </a:r>
            <a:r>
              <a:rPr lang="es-MX" sz="1400" b="1" spc="-20">
                <a:solidFill>
                  <a:srgbClr val="A8503B"/>
                </a:solidFill>
                <a:latin typeface="Arial"/>
                <a:cs typeface="Arial"/>
              </a:rPr>
              <a:t/>
            </a:r>
            <a:endParaRPr lang="es-MX"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609224" y="1321380"/>
            <a:ext cx="1271270" cy="1335405"/>
            <a:chOff x="8609224" y="1321380"/>
            <a:chExt cx="1271270" cy="1335405"/>
          </a:xfrm>
        </p:grpSpPr>
        <p:sp>
          <p:nvSpPr>
            <p:cNvPr id="15" name="object 15"/>
            <p:cNvSpPr/>
            <p:nvPr/>
          </p:nvSpPr>
          <p:spPr>
            <a:xfrm>
              <a:off x="8613724" y="1325880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80">
                  <a:moveTo>
                    <a:pt x="11883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1188720" y="1325524"/>
                  </a:lnTo>
                  <a:lnTo>
                    <a:pt x="1233090" y="1310420"/>
                  </a:lnTo>
                  <a:lnTo>
                    <a:pt x="1256254" y="1280695"/>
                  </a:lnTo>
                  <a:lnTo>
                    <a:pt x="1256330" y="1280539"/>
                  </a:lnTo>
                  <a:lnTo>
                    <a:pt x="1259306" y="1271655"/>
                  </a:lnTo>
                  <a:lnTo>
                    <a:pt x="1259366" y="1271476"/>
                  </a:lnTo>
                  <a:lnTo>
                    <a:pt x="1261148" y="1262280"/>
                  </a:lnTo>
                  <a:lnTo>
                    <a:pt x="1261188" y="1262075"/>
                  </a:lnTo>
                  <a:lnTo>
                    <a:pt x="1261772" y="1252804"/>
                  </a:lnTo>
                  <a:lnTo>
                    <a:pt x="1261795" y="1252435"/>
                  </a:lnTo>
                  <a:lnTo>
                    <a:pt x="1261440" y="73075"/>
                  </a:lnTo>
                  <a:lnTo>
                    <a:pt x="1246336" y="28705"/>
                  </a:lnTo>
                  <a:lnTo>
                    <a:pt x="1207392" y="2428"/>
                  </a:lnTo>
                  <a:lnTo>
                    <a:pt x="1197991" y="607"/>
                  </a:lnTo>
                  <a:lnTo>
                    <a:pt x="11883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13724" y="1325880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88351" y="0"/>
                  </a:lnTo>
                  <a:lnTo>
                    <a:pt x="1232884" y="15104"/>
                  </a:lnTo>
                  <a:lnTo>
                    <a:pt x="1259009" y="54224"/>
                  </a:lnTo>
                  <a:lnTo>
                    <a:pt x="1261440" y="73075"/>
                  </a:lnTo>
                  <a:lnTo>
                    <a:pt x="1261795" y="1252435"/>
                  </a:lnTo>
                  <a:lnTo>
                    <a:pt x="1261188" y="1262075"/>
                  </a:lnTo>
                  <a:lnTo>
                    <a:pt x="1259366" y="1271476"/>
                  </a:lnTo>
                  <a:lnTo>
                    <a:pt x="1233090" y="1310420"/>
                  </a:lnTo>
                  <a:lnTo>
                    <a:pt x="1188720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13724" y="1325880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80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847975" y="1440611"/>
            <a:ext cx="845185" cy="1453537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25">
                <a:solidFill>
                  <a:srgbClr val="1D4938"/>
                </a:solidFill>
                <a:latin typeface="Arial"/>
                <a:cs typeface="Arial"/>
              </a:rPr>
              <a:t>2,70×</a:t>
            </a:r>
            <a:endParaRPr lang="es-ES" sz="25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  <a:spcBef>
                <a:spcPts val="1635"/>
              </a:spcBef>
            </a:pP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antes del control</a:t>
            </a:r>
            <a:endParaRPr lang="es-ES" sz="12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</a:pP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/>
            </a:r>
            <a:r>
              <a:rPr lang="es-ES" sz="12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/>
            </a:r>
            <a:r>
              <a:rPr lang="es-ES" sz="12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/>
            </a: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 spc="-20">
                <a:solidFill>
                  <a:srgbClr val="1F2F28"/>
                </a:solidFill>
                <a:latin typeface="Arial"/>
                <a:cs typeface="Arial"/>
              </a:rPr>
              <a:t/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072264" y="1321380"/>
            <a:ext cx="1271270" cy="1335405"/>
            <a:chOff x="10072264" y="1321380"/>
            <a:chExt cx="1271270" cy="1335405"/>
          </a:xfrm>
        </p:grpSpPr>
        <p:sp>
          <p:nvSpPr>
            <p:cNvPr id="20" name="object 20"/>
            <p:cNvSpPr/>
            <p:nvPr/>
          </p:nvSpPr>
          <p:spPr>
            <a:xfrm>
              <a:off x="10076764" y="1325880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80">
                  <a:moveTo>
                    <a:pt x="11883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1188720" y="1325524"/>
                  </a:lnTo>
                  <a:lnTo>
                    <a:pt x="1233090" y="1310420"/>
                  </a:lnTo>
                  <a:lnTo>
                    <a:pt x="1256254" y="1280695"/>
                  </a:lnTo>
                  <a:lnTo>
                    <a:pt x="1256330" y="1280539"/>
                  </a:lnTo>
                  <a:lnTo>
                    <a:pt x="1259306" y="1271655"/>
                  </a:lnTo>
                  <a:lnTo>
                    <a:pt x="1259366" y="1271476"/>
                  </a:lnTo>
                  <a:lnTo>
                    <a:pt x="1261148" y="1262280"/>
                  </a:lnTo>
                  <a:lnTo>
                    <a:pt x="1261188" y="1262075"/>
                  </a:lnTo>
                  <a:lnTo>
                    <a:pt x="1261772" y="1252804"/>
                  </a:lnTo>
                  <a:lnTo>
                    <a:pt x="1261795" y="1252435"/>
                  </a:lnTo>
                  <a:lnTo>
                    <a:pt x="1261440" y="73075"/>
                  </a:lnTo>
                  <a:lnTo>
                    <a:pt x="1246336" y="28705"/>
                  </a:lnTo>
                  <a:lnTo>
                    <a:pt x="1207392" y="2428"/>
                  </a:lnTo>
                  <a:lnTo>
                    <a:pt x="1197991" y="607"/>
                  </a:lnTo>
                  <a:lnTo>
                    <a:pt x="11883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76764" y="1325880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8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88351" y="0"/>
                  </a:lnTo>
                  <a:lnTo>
                    <a:pt x="1232884" y="15104"/>
                  </a:lnTo>
                  <a:lnTo>
                    <a:pt x="1259009" y="54224"/>
                  </a:lnTo>
                  <a:lnTo>
                    <a:pt x="1261440" y="73075"/>
                  </a:lnTo>
                  <a:lnTo>
                    <a:pt x="1261795" y="1252435"/>
                  </a:lnTo>
                  <a:lnTo>
                    <a:pt x="1261188" y="1262075"/>
                  </a:lnTo>
                  <a:lnTo>
                    <a:pt x="1259366" y="1271476"/>
                  </a:lnTo>
                  <a:lnTo>
                    <a:pt x="1233090" y="1310420"/>
                  </a:lnTo>
                  <a:lnTo>
                    <a:pt x="1188720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76764" y="1325880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80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D4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311015" y="1430172"/>
            <a:ext cx="855980" cy="1463976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ts val="2270"/>
              </a:lnSpc>
              <a:spcBef>
                <a:spcPts val="100"/>
              </a:spcBef>
            </a:pPr>
            <a:r>
              <a:rPr lang="it-IT" sz="2100" b="1" spc="-10">
                <a:solidFill>
                  <a:srgbClr val="1D4938"/>
                </a:solidFill>
                <a:latin typeface="Arial"/>
                <a:cs typeface="Arial"/>
              </a:rPr>
              <a:t>1,87×</a:t>
            </a:r>
            <a:endParaRPr lang="it-IT" sz="2100">
              <a:latin typeface="Arial"/>
              <a:cs typeface="Arial"/>
            </a:endParaRPr>
          </a:p>
          <a:p>
            <a:pPr marL="12700">
              <a:lnSpc>
                <a:spcPts val="2270"/>
              </a:lnSpc>
            </a:pPr>
            <a:r>
              <a:rPr lang="it-IT" sz="2100" b="1" spc="-50">
                <a:solidFill>
                  <a:srgbClr val="1D4938"/>
                </a:solidFill>
                <a:latin typeface="Arial"/>
                <a:cs typeface="Arial"/>
              </a:rPr>
              <a:t/>
            </a:r>
            <a:endParaRPr lang="it-IT" sz="2100"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425"/>
              </a:spcBef>
            </a:pPr>
            <a:r>
              <a:rPr lang="it-IT" sz="1400" b="1">
                <a:solidFill>
                  <a:srgbClr val="1F2F28"/>
                </a:solidFill>
                <a:latin typeface="Arial"/>
                <a:cs typeface="Arial"/>
              </a:rPr>
              <a:t>tras el control</a:t>
            </a:r>
            <a:r>
              <a:rPr lang="it-IT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it-IT" sz="1400" b="1" spc="-50">
                <a:solidFill>
                  <a:srgbClr val="1F2F28"/>
                </a:solidFill>
                <a:latin typeface="Arial"/>
                <a:cs typeface="Arial"/>
              </a:rPr>
              <a:t/>
            </a:r>
            <a:r>
              <a:rPr lang="it-IT" sz="1400" b="1">
                <a:solidFill>
                  <a:srgbClr val="1F2F28"/>
                </a:solidFill>
                <a:latin typeface="Arial"/>
                <a:cs typeface="Arial"/>
              </a:rPr>
              <a:t>· Bosque</a:t>
            </a:r>
            <a:r>
              <a:rPr lang="it-IT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it-IT" sz="1400" b="1" spc="-20">
                <a:solidFill>
                  <a:srgbClr val="1F2F28"/>
                </a:solidFill>
                <a:latin typeface="Arial"/>
                <a:cs typeface="Arial"/>
              </a:rPr>
              <a:t/>
            </a:r>
            <a:endParaRPr lang="it-IT"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609224" y="2921580"/>
            <a:ext cx="1271270" cy="1335405"/>
            <a:chOff x="8609224" y="2921580"/>
            <a:chExt cx="1271270" cy="1335405"/>
          </a:xfrm>
        </p:grpSpPr>
        <p:sp>
          <p:nvSpPr>
            <p:cNvPr id="25" name="object 25"/>
            <p:cNvSpPr/>
            <p:nvPr/>
          </p:nvSpPr>
          <p:spPr>
            <a:xfrm>
              <a:off x="8613724" y="2926079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79">
                  <a:moveTo>
                    <a:pt x="11883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1188720" y="1325524"/>
                  </a:lnTo>
                  <a:lnTo>
                    <a:pt x="1233090" y="1310420"/>
                  </a:lnTo>
                  <a:lnTo>
                    <a:pt x="1259306" y="1271655"/>
                  </a:lnTo>
                  <a:lnTo>
                    <a:pt x="1259366" y="1271476"/>
                  </a:lnTo>
                  <a:lnTo>
                    <a:pt x="1261148" y="1262280"/>
                  </a:lnTo>
                  <a:lnTo>
                    <a:pt x="1261188" y="1262075"/>
                  </a:lnTo>
                  <a:lnTo>
                    <a:pt x="1261772" y="1252804"/>
                  </a:lnTo>
                  <a:lnTo>
                    <a:pt x="1261795" y="1252435"/>
                  </a:lnTo>
                  <a:lnTo>
                    <a:pt x="1261440" y="73075"/>
                  </a:lnTo>
                  <a:lnTo>
                    <a:pt x="1246336" y="28705"/>
                  </a:lnTo>
                  <a:lnTo>
                    <a:pt x="1207392" y="2428"/>
                  </a:lnTo>
                  <a:lnTo>
                    <a:pt x="1197991" y="607"/>
                  </a:lnTo>
                  <a:lnTo>
                    <a:pt x="11883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613724" y="2926079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88351" y="0"/>
                  </a:lnTo>
                  <a:lnTo>
                    <a:pt x="1232884" y="15104"/>
                  </a:lnTo>
                  <a:lnTo>
                    <a:pt x="1259009" y="54224"/>
                  </a:lnTo>
                  <a:lnTo>
                    <a:pt x="1261440" y="73075"/>
                  </a:lnTo>
                  <a:lnTo>
                    <a:pt x="1261795" y="1252435"/>
                  </a:lnTo>
                  <a:lnTo>
                    <a:pt x="1261188" y="1262075"/>
                  </a:lnTo>
                  <a:lnTo>
                    <a:pt x="1259366" y="1271476"/>
                  </a:lnTo>
                  <a:lnTo>
                    <a:pt x="1233090" y="1310420"/>
                  </a:lnTo>
                  <a:lnTo>
                    <a:pt x="1188720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13724" y="2926079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79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847975" y="3040811"/>
            <a:ext cx="854075" cy="1544253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50">
                <a:solidFill>
                  <a:srgbClr val="A8503B"/>
                </a:solidFill>
                <a:latin typeface="Arial"/>
                <a:cs typeface="Arial"/>
              </a:rPr>
              <a:t>3,28×</a:t>
            </a:r>
            <a:endParaRPr lang="es-ES" sz="25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  <a:spcBef>
                <a:spcPts val="1635"/>
              </a:spcBef>
            </a:pP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antes del control</a:t>
            </a:r>
            <a:endParaRPr lang="es-ES" sz="12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</a:pP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/>
            </a: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/>
            </a: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>
                <a:solidFill>
                  <a:srgbClr val="1F2F28"/>
                </a:solidFill>
                <a:latin typeface="Arial"/>
                <a:cs typeface="Arial"/>
              </a:rPr>
              <a:t/>
            </a:r>
            <a:r>
              <a:rPr lang="es-ES" sz="1200" b="1" spc="-1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ES" sz="1200" b="1" spc="-20">
                <a:solidFill>
                  <a:srgbClr val="1F2F28"/>
                </a:solidFill>
                <a:latin typeface="Arial"/>
                <a:cs typeface="Arial"/>
              </a:rPr>
              <a:t/>
            </a:r>
            <a:endParaRPr lang="es-ES" sz="1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072264" y="2921580"/>
            <a:ext cx="1271270" cy="1335405"/>
            <a:chOff x="10072264" y="2921580"/>
            <a:chExt cx="1271270" cy="1335405"/>
          </a:xfrm>
        </p:grpSpPr>
        <p:sp>
          <p:nvSpPr>
            <p:cNvPr id="30" name="object 30"/>
            <p:cNvSpPr/>
            <p:nvPr/>
          </p:nvSpPr>
          <p:spPr>
            <a:xfrm>
              <a:off x="10076764" y="2926079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79">
                  <a:moveTo>
                    <a:pt x="11883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52804"/>
                  </a:lnTo>
                  <a:lnTo>
                    <a:pt x="594" y="1262075"/>
                  </a:lnTo>
                  <a:lnTo>
                    <a:pt x="607" y="1262280"/>
                  </a:lnTo>
                  <a:lnTo>
                    <a:pt x="2394" y="1271476"/>
                  </a:lnTo>
                  <a:lnTo>
                    <a:pt x="2428" y="1271655"/>
                  </a:lnTo>
                  <a:lnTo>
                    <a:pt x="5412" y="1280539"/>
                  </a:lnTo>
                  <a:lnTo>
                    <a:pt x="36360" y="1316164"/>
                  </a:lnTo>
                  <a:lnTo>
                    <a:pt x="73075" y="1325880"/>
                  </a:lnTo>
                  <a:lnTo>
                    <a:pt x="1188720" y="1325524"/>
                  </a:lnTo>
                  <a:lnTo>
                    <a:pt x="1233090" y="1310420"/>
                  </a:lnTo>
                  <a:lnTo>
                    <a:pt x="1259306" y="1271655"/>
                  </a:lnTo>
                  <a:lnTo>
                    <a:pt x="1259366" y="1271476"/>
                  </a:lnTo>
                  <a:lnTo>
                    <a:pt x="1261148" y="1262280"/>
                  </a:lnTo>
                  <a:lnTo>
                    <a:pt x="1261188" y="1262075"/>
                  </a:lnTo>
                  <a:lnTo>
                    <a:pt x="1261772" y="1252804"/>
                  </a:lnTo>
                  <a:lnTo>
                    <a:pt x="1261795" y="1252435"/>
                  </a:lnTo>
                  <a:lnTo>
                    <a:pt x="1261440" y="73075"/>
                  </a:lnTo>
                  <a:lnTo>
                    <a:pt x="1246336" y="28705"/>
                  </a:lnTo>
                  <a:lnTo>
                    <a:pt x="1207392" y="2428"/>
                  </a:lnTo>
                  <a:lnTo>
                    <a:pt x="1197991" y="607"/>
                  </a:lnTo>
                  <a:lnTo>
                    <a:pt x="1188351" y="0"/>
                  </a:lnTo>
                  <a:close/>
                </a:path>
              </a:pathLst>
            </a:custGeom>
            <a:solidFill>
              <a:srgbClr val="FB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076764" y="2926079"/>
              <a:ext cx="1262380" cy="1325880"/>
            </a:xfrm>
            <a:custGeom>
              <a:avLst/>
              <a:gdLst/>
              <a:ahLst/>
              <a:cxnLst/>
              <a:rect l="l" t="t" r="r" b="b"/>
              <a:pathLst>
                <a:path w="1262379" h="13258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88351" y="0"/>
                  </a:lnTo>
                  <a:lnTo>
                    <a:pt x="1232884" y="15104"/>
                  </a:lnTo>
                  <a:lnTo>
                    <a:pt x="1259009" y="54224"/>
                  </a:lnTo>
                  <a:lnTo>
                    <a:pt x="1261440" y="73075"/>
                  </a:lnTo>
                  <a:lnTo>
                    <a:pt x="1261795" y="1252435"/>
                  </a:lnTo>
                  <a:lnTo>
                    <a:pt x="1261188" y="1262075"/>
                  </a:lnTo>
                  <a:lnTo>
                    <a:pt x="1259366" y="1271476"/>
                  </a:lnTo>
                  <a:lnTo>
                    <a:pt x="1233090" y="1310420"/>
                  </a:lnTo>
                  <a:lnTo>
                    <a:pt x="1188720" y="1325524"/>
                  </a:lnTo>
                  <a:lnTo>
                    <a:pt x="73075" y="1325880"/>
                  </a:lnTo>
                  <a:lnTo>
                    <a:pt x="28548" y="1310775"/>
                  </a:lnTo>
                  <a:lnTo>
                    <a:pt x="2428" y="1271655"/>
                  </a:lnTo>
                  <a:lnTo>
                    <a:pt x="0" y="1252804"/>
                  </a:lnTo>
                  <a:lnTo>
                    <a:pt x="0" y="73075"/>
                  </a:lnTo>
                  <a:close/>
                </a:path>
              </a:pathLst>
            </a:custGeom>
            <a:ln w="8999">
              <a:solidFill>
                <a:srgbClr val="CED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076764" y="2926079"/>
              <a:ext cx="73025" cy="1325880"/>
            </a:xfrm>
            <a:custGeom>
              <a:avLst/>
              <a:gdLst/>
              <a:ahLst/>
              <a:cxnLst/>
              <a:rect l="l" t="t" r="r" b="b"/>
              <a:pathLst>
                <a:path w="73025" h="1325879">
                  <a:moveTo>
                    <a:pt x="72720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6360" y="1325524"/>
                  </a:lnTo>
                  <a:lnTo>
                    <a:pt x="72720" y="13255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311015" y="3030372"/>
            <a:ext cx="855980" cy="103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70"/>
              </a:lnSpc>
              <a:spcBef>
                <a:spcPts val="100"/>
              </a:spcBef>
            </a:pPr>
            <a:r>
              <a:rPr lang="it-IT" sz="2100" b="1" spc="-10">
                <a:solidFill>
                  <a:srgbClr val="A8503B"/>
                </a:solidFill>
                <a:latin typeface="Arial"/>
                <a:cs typeface="Arial"/>
              </a:rPr>
              <a:t>3,21×</a:t>
            </a:r>
            <a:endParaRPr lang="it-IT" sz="2100">
              <a:latin typeface="Arial"/>
              <a:cs typeface="Arial"/>
            </a:endParaRPr>
          </a:p>
          <a:p>
            <a:pPr marL="12700">
              <a:lnSpc>
                <a:spcPts val="2270"/>
              </a:lnSpc>
            </a:pPr>
            <a:r>
              <a:rPr lang="it-IT" sz="2100" b="1" spc="-50">
                <a:solidFill>
                  <a:srgbClr val="A8503B"/>
                </a:solidFill>
                <a:latin typeface="Arial"/>
                <a:cs typeface="Arial"/>
              </a:rPr>
              <a:t/>
            </a:r>
            <a:endParaRPr lang="it-IT" sz="2100"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425"/>
              </a:spcBef>
            </a:pPr>
            <a:r>
              <a:rPr lang="it-IT" sz="1400" b="1">
                <a:solidFill>
                  <a:srgbClr val="1F2F28"/>
                </a:solidFill>
                <a:latin typeface="Arial"/>
                <a:cs typeface="Arial"/>
              </a:rPr>
              <a:t>tras el control</a:t>
            </a:r>
            <a:r>
              <a:rPr lang="it-IT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it-IT" sz="1400" b="1" spc="-50">
                <a:solidFill>
                  <a:srgbClr val="1F2F28"/>
                </a:solidFill>
                <a:latin typeface="Arial"/>
                <a:cs typeface="Arial"/>
              </a:rPr>
              <a:t/>
            </a:r>
            <a:r>
              <a:rPr lang="it-IT" sz="1400" b="1">
                <a:solidFill>
                  <a:srgbClr val="1F2F28"/>
                </a:solidFill>
                <a:latin typeface="Arial"/>
                <a:cs typeface="Arial"/>
              </a:rPr>
              <a:t>· Estepa</a:t>
            </a:r>
            <a:r>
              <a:rPr lang="it-IT" sz="1400" b="1" spc="-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it-IT" sz="1400" b="1" spc="-25">
                <a:solidFill>
                  <a:srgbClr val="1F2F28"/>
                </a:solidFill>
                <a:latin typeface="Arial"/>
                <a:cs typeface="Arial"/>
              </a:rPr>
              <a:t/>
            </a:r>
            <a:endParaRPr lang="it-IT" sz="1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608855" y="4612496"/>
            <a:ext cx="2734310" cy="1015365"/>
            <a:chOff x="8608855" y="4612496"/>
            <a:chExt cx="2734310" cy="101536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5" name="object 35"/>
            <p:cNvSpPr/>
            <p:nvPr/>
          </p:nvSpPr>
          <p:spPr>
            <a:xfrm>
              <a:off x="8613355" y="4616996"/>
              <a:ext cx="2725420" cy="1006475"/>
            </a:xfrm>
            <a:custGeom>
              <a:avLst/>
              <a:gdLst/>
              <a:ahLst/>
              <a:cxnLst/>
              <a:rect l="l" t="t" r="r" b="b"/>
              <a:pathLst>
                <a:path w="2725420" h="1006475">
                  <a:moveTo>
                    <a:pt x="64439" y="0"/>
                  </a:moveTo>
                  <a:lnTo>
                    <a:pt x="25408" y="13364"/>
                  </a:lnTo>
                  <a:lnTo>
                    <a:pt x="2524" y="47520"/>
                  </a:lnTo>
                  <a:lnTo>
                    <a:pt x="0" y="942124"/>
                  </a:lnTo>
                  <a:lnTo>
                    <a:pt x="540" y="950472"/>
                  </a:lnTo>
                  <a:lnTo>
                    <a:pt x="18743" y="987348"/>
                  </a:lnTo>
                  <a:lnTo>
                    <a:pt x="18859" y="987482"/>
                  </a:lnTo>
                  <a:lnTo>
                    <a:pt x="55736" y="1005667"/>
                  </a:lnTo>
                  <a:lnTo>
                    <a:pt x="64084" y="1006208"/>
                  </a:lnTo>
                  <a:lnTo>
                    <a:pt x="2661119" y="1006208"/>
                  </a:lnTo>
                  <a:lnTo>
                    <a:pt x="2700162" y="992843"/>
                  </a:lnTo>
                  <a:lnTo>
                    <a:pt x="2723043" y="958683"/>
                  </a:lnTo>
                  <a:lnTo>
                    <a:pt x="2725204" y="942124"/>
                  </a:lnTo>
                  <a:lnTo>
                    <a:pt x="2725181" y="64084"/>
                  </a:lnTo>
                  <a:lnTo>
                    <a:pt x="2711846" y="25402"/>
                  </a:lnTo>
                  <a:lnTo>
                    <a:pt x="2677683" y="2524"/>
                  </a:lnTo>
                  <a:lnTo>
                    <a:pt x="2661119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D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13355" y="4616996"/>
              <a:ext cx="2725420" cy="1006475"/>
            </a:xfrm>
            <a:custGeom>
              <a:avLst/>
              <a:gdLst/>
              <a:ahLst/>
              <a:cxnLst/>
              <a:rect l="l" t="t" r="r" b="b"/>
              <a:pathLst>
                <a:path w="2725420" h="1006475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8" y="13364"/>
                  </a:lnTo>
                  <a:lnTo>
                    <a:pt x="64439" y="0"/>
                  </a:lnTo>
                  <a:lnTo>
                    <a:pt x="2661119" y="368"/>
                  </a:lnTo>
                  <a:lnTo>
                    <a:pt x="2700112" y="13570"/>
                  </a:lnTo>
                  <a:lnTo>
                    <a:pt x="2723043" y="47885"/>
                  </a:lnTo>
                  <a:lnTo>
                    <a:pt x="2725204" y="64439"/>
                  </a:lnTo>
                  <a:lnTo>
                    <a:pt x="2725204" y="942124"/>
                  </a:lnTo>
                  <a:lnTo>
                    <a:pt x="2724663" y="950472"/>
                  </a:lnTo>
                  <a:lnTo>
                    <a:pt x="2723043" y="958683"/>
                  </a:lnTo>
                  <a:lnTo>
                    <a:pt x="2700162" y="992843"/>
                  </a:lnTo>
                  <a:lnTo>
                    <a:pt x="2661119" y="1006208"/>
                  </a:lnTo>
                  <a:lnTo>
                    <a:pt x="64084" y="1006208"/>
                  </a:lnTo>
                  <a:lnTo>
                    <a:pt x="25097" y="992993"/>
                  </a:lnTo>
                  <a:lnTo>
                    <a:pt x="2162" y="958683"/>
                  </a:lnTo>
                  <a:lnTo>
                    <a:pt x="0" y="942124"/>
                  </a:lnTo>
                  <a:lnTo>
                    <a:pt x="368" y="64084"/>
                  </a:lnTo>
                  <a:close/>
                </a:path>
              </a:pathLst>
            </a:custGeom>
            <a:ln w="8999">
              <a:solidFill>
                <a:srgbClr val="A85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13724" y="4617364"/>
              <a:ext cx="82550" cy="1005840"/>
            </a:xfrm>
            <a:custGeom>
              <a:avLst/>
              <a:gdLst/>
              <a:ahLst/>
              <a:cxnLst/>
              <a:rect l="l" t="t" r="r" b="b"/>
              <a:pathLst>
                <a:path w="82550" h="1005839">
                  <a:moveTo>
                    <a:pt x="82080" y="0"/>
                  </a:moveTo>
                  <a:lnTo>
                    <a:pt x="0" y="0"/>
                  </a:lnTo>
                  <a:lnTo>
                    <a:pt x="0" y="1005471"/>
                  </a:lnTo>
                  <a:lnTo>
                    <a:pt x="41033" y="1005471"/>
                  </a:lnTo>
                  <a:lnTo>
                    <a:pt x="82080" y="1005471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A8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847975" y="4775670"/>
            <a:ext cx="2303145" cy="75020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350"/>
              </a:spcBef>
            </a:pP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1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descartados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(rojo)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son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los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del</a:t>
            </a:r>
            <a:r>
              <a:rPr lang="es-MX" sz="11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dosel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más</a:t>
            </a:r>
            <a:r>
              <a:rPr lang="es-MX" sz="11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alto: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el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suelo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mal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detectado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inflaba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25">
                <a:solidFill>
                  <a:srgbClr val="1F2F28"/>
                </a:solidFill>
                <a:latin typeface="Arial"/>
                <a:cs typeface="Arial"/>
              </a:rPr>
              <a:t>la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altura.</a:t>
            </a:r>
            <a:r>
              <a:rPr lang="es-MX" sz="11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100" b="1" spc="-3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100" b="1" spc="-3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10">
                <a:solidFill>
                  <a:srgbClr val="1F2F28"/>
                </a:solidFill>
                <a:latin typeface="Arial"/>
                <a:cs typeface="Arial"/>
              </a:rPr>
              <a:t>estepa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filtro</a:t>
            </a:r>
            <a:r>
              <a:rPr lang="es-MX" sz="11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>
                <a:solidFill>
                  <a:srgbClr val="1F2F28"/>
                </a:solidFill>
                <a:latin typeface="Arial"/>
                <a:cs typeface="Arial"/>
              </a:rPr>
              <a:t>no</a:t>
            </a:r>
            <a:r>
              <a:rPr lang="es-MX" sz="11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100" b="1" spc="-10">
                <a:solidFill>
                  <a:srgbClr val="1F2F28"/>
                </a:solidFill>
                <a:latin typeface="Arial"/>
                <a:cs typeface="Arial"/>
              </a:rPr>
              <a:t>la mueve: límite del método.</a:t>
            </a:r>
            <a:endParaRPr lang="es-MX" sz="11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36456" y="5252576"/>
            <a:ext cx="7214870" cy="612775"/>
            <a:chOff x="836456" y="5252576"/>
            <a:chExt cx="7214870" cy="61277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0" name="object 40"/>
            <p:cNvSpPr/>
            <p:nvPr/>
          </p:nvSpPr>
          <p:spPr>
            <a:xfrm>
              <a:off x="840955" y="5257076"/>
              <a:ext cx="7205980" cy="603885"/>
            </a:xfrm>
            <a:custGeom>
              <a:avLst/>
              <a:gdLst/>
              <a:ahLst/>
              <a:cxnLst/>
              <a:rect l="l" t="t" r="r" b="b"/>
              <a:pathLst>
                <a:path w="7205980" h="603885">
                  <a:moveTo>
                    <a:pt x="64439" y="0"/>
                  </a:moveTo>
                  <a:lnTo>
                    <a:pt x="25408" y="13364"/>
                  </a:lnTo>
                  <a:lnTo>
                    <a:pt x="2524" y="47520"/>
                  </a:lnTo>
                  <a:lnTo>
                    <a:pt x="0" y="539648"/>
                  </a:lnTo>
                  <a:lnTo>
                    <a:pt x="540" y="547990"/>
                  </a:lnTo>
                  <a:lnTo>
                    <a:pt x="18739" y="584866"/>
                  </a:lnTo>
                  <a:lnTo>
                    <a:pt x="18859" y="585004"/>
                  </a:lnTo>
                  <a:lnTo>
                    <a:pt x="55736" y="603181"/>
                  </a:lnTo>
                  <a:lnTo>
                    <a:pt x="64084" y="603719"/>
                  </a:lnTo>
                  <a:lnTo>
                    <a:pt x="7141679" y="603719"/>
                  </a:lnTo>
                  <a:lnTo>
                    <a:pt x="7180722" y="590362"/>
                  </a:lnTo>
                  <a:lnTo>
                    <a:pt x="7203603" y="556201"/>
                  </a:lnTo>
                  <a:lnTo>
                    <a:pt x="7205764" y="539648"/>
                  </a:lnTo>
                  <a:lnTo>
                    <a:pt x="7205741" y="64084"/>
                  </a:lnTo>
                  <a:lnTo>
                    <a:pt x="7192406" y="25402"/>
                  </a:lnTo>
                  <a:lnTo>
                    <a:pt x="7158243" y="2524"/>
                  </a:lnTo>
                  <a:lnTo>
                    <a:pt x="7141679" y="368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1E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0955" y="5257076"/>
              <a:ext cx="7205980" cy="603885"/>
            </a:xfrm>
            <a:custGeom>
              <a:avLst/>
              <a:gdLst/>
              <a:ahLst/>
              <a:cxnLst/>
              <a:rect l="l" t="t" r="r" b="b"/>
              <a:pathLst>
                <a:path w="7205980" h="603885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8" y="13364"/>
                  </a:lnTo>
                  <a:lnTo>
                    <a:pt x="64439" y="0"/>
                  </a:lnTo>
                  <a:lnTo>
                    <a:pt x="7141679" y="368"/>
                  </a:lnTo>
                  <a:lnTo>
                    <a:pt x="7180672" y="13570"/>
                  </a:lnTo>
                  <a:lnTo>
                    <a:pt x="7203603" y="47885"/>
                  </a:lnTo>
                  <a:lnTo>
                    <a:pt x="7205764" y="64439"/>
                  </a:lnTo>
                  <a:lnTo>
                    <a:pt x="7205764" y="539648"/>
                  </a:lnTo>
                  <a:lnTo>
                    <a:pt x="7205223" y="547990"/>
                  </a:lnTo>
                  <a:lnTo>
                    <a:pt x="7203603" y="556201"/>
                  </a:lnTo>
                  <a:lnTo>
                    <a:pt x="7180722" y="590362"/>
                  </a:lnTo>
                  <a:lnTo>
                    <a:pt x="7141679" y="603719"/>
                  </a:lnTo>
                  <a:lnTo>
                    <a:pt x="64084" y="603719"/>
                  </a:lnTo>
                  <a:lnTo>
                    <a:pt x="25097" y="590517"/>
                  </a:lnTo>
                  <a:lnTo>
                    <a:pt x="2162" y="556201"/>
                  </a:lnTo>
                  <a:lnTo>
                    <a:pt x="0" y="539648"/>
                  </a:lnTo>
                  <a:lnTo>
                    <a:pt x="368" y="64084"/>
                  </a:lnTo>
                  <a:close/>
                </a:path>
              </a:pathLst>
            </a:custGeom>
            <a:ln w="8999">
              <a:solidFill>
                <a:srgbClr val="296D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1324" y="5257444"/>
              <a:ext cx="82550" cy="603250"/>
            </a:xfrm>
            <a:custGeom>
              <a:avLst/>
              <a:gdLst/>
              <a:ahLst/>
              <a:cxnLst/>
              <a:rect l="l" t="t" r="r" b="b"/>
              <a:pathLst>
                <a:path w="82550" h="603250">
                  <a:moveTo>
                    <a:pt x="82080" y="0"/>
                  </a:moveTo>
                  <a:lnTo>
                    <a:pt x="0" y="0"/>
                  </a:lnTo>
                  <a:lnTo>
                    <a:pt x="0" y="602996"/>
                  </a:lnTo>
                  <a:lnTo>
                    <a:pt x="41033" y="602996"/>
                  </a:lnTo>
                  <a:lnTo>
                    <a:pt x="82080" y="602996"/>
                  </a:lnTo>
                  <a:lnTo>
                    <a:pt x="82080" y="0"/>
                  </a:lnTo>
                  <a:close/>
                </a:path>
              </a:pathLst>
            </a:custGeom>
            <a:solidFill>
              <a:srgbClr val="296D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167739" y="5363184"/>
            <a:ext cx="6640195" cy="43180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61594" marR="5080" indent="-49530">
              <a:lnSpc>
                <a:spcPts val="1520"/>
              </a:lnSpc>
              <a:spcBef>
                <a:spcPts val="284"/>
              </a:spcBef>
            </a:pP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GEDI,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ante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el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mismo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árbitro,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pasa: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mediana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+0,22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m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(bosque)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y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+0,47</a:t>
            </a:r>
            <a:r>
              <a:rPr lang="es-MX" sz="1400" b="1" spc="-20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25">
                <a:solidFill>
                  <a:srgbClr val="1F2F28"/>
                </a:solidFill>
                <a:latin typeface="Arial"/>
                <a:cs typeface="Arial"/>
              </a:rPr>
              <a:t>m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(estepa).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La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referencia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queda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auditada;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ATL08,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partido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en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>
                <a:solidFill>
                  <a:srgbClr val="1F2F28"/>
                </a:solidFill>
                <a:latin typeface="Arial"/>
                <a:cs typeface="Arial"/>
              </a:rPr>
              <a:t>dos</a:t>
            </a:r>
            <a:r>
              <a:rPr lang="es-MX" sz="1400" b="1" spc="-15">
                <a:solidFill>
                  <a:srgbClr val="1F2F28"/>
                </a:solidFill>
                <a:latin typeface="Arial"/>
                <a:cs typeface="Arial"/>
              </a:rPr>
              <a:t> </a:t>
            </a:r>
            <a:r>
              <a:rPr lang="es-MX" sz="1400" b="1" spc="-10">
                <a:solidFill>
                  <a:srgbClr val="1F2F28"/>
                </a:solidFill>
                <a:latin typeface="Arial"/>
                <a:cs typeface="Arial"/>
              </a:rPr>
              <a:t>(pasos 15–16 del TP2).</a:t>
            </a:r>
            <a:endParaRPr lang="es-MX" sz="1400">
              <a:latin typeface="Arial"/>
              <a:cs typeface="Arial"/>
            </a:endParaRPr>
          </a:p>
        </p:txBody>
      </p:sp>
      <p:sp>
        <p:nvSpPr>
          <p:cNvPr id="44" name="footer left"/>
          <p:cNvSpPr txBox="1"/>
          <p:nvPr/>
        </p:nvSpPr>
        <p:spPr>
          <a:xfrm>
            <a:off x="489864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ICESat-2 ATLAS</a:t>
            </a:r>
          </a:p>
        </p:txBody>
      </p:sp>
      <p:sp>
        <p:nvSpPr>
          <p:cNvPr id="45" name="footer center"/>
          <p:cNvSpPr txBox="1"/>
          <p:nvPr/>
        </p:nvSpPr>
        <p:spPr>
          <a:xfrm>
            <a:off x="4296000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Héctor Francisco del Valle</a:t>
            </a:r>
          </a:p>
        </p:txBody>
      </p:sp>
      <p:sp>
        <p:nvSpPr>
          <p:cNvPr id="46" name="footer right"/>
          <p:cNvSpPr txBox="1"/>
          <p:nvPr/>
        </p:nvSpPr>
        <p:spPr>
          <a:xfrm>
            <a:off x="8102136" y="6350000"/>
            <a:ext cx="36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</a:pPr>
            <a:r>
              <a:rPr lang="es-ES" sz="900" spc="10">
                <a:solidFill>
                  <a:srgbClr val="3F4A44"/>
                </a:solidFill>
                <a:latin typeface="Arial"/>
                <a:cs typeface="Arial"/>
              </a:rPr>
              <a:t>37/43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5135</Words>
  <Application>Microsoft Office PowerPoint</Application>
  <PresentationFormat>Panorámica</PresentationFormat>
  <Paragraphs>906</Paragraphs>
  <Slides>42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4" baseType="lpstr">
      <vt:lpstr>Arial</vt:lpstr>
      <vt:lpstr>Office Theme</vt:lpstr>
      <vt:lpstr>Presentación de PowerPoint</vt:lpstr>
      <vt:lpstr>Propósito y resultados de aprendizaje</vt:lpstr>
      <vt:lpstr>Presentación de PowerPoint</vt:lpstr>
      <vt:lpstr>Ruta de la presentación</vt:lpstr>
      <vt:lpstr>Presentación de PowerPoint</vt:lpstr>
      <vt:lpstr>Tres conceptos que no deben confundirse</vt:lpstr>
      <vt:lpstr>Cómo mide ATLAS: tiempo de vuelo y conteo de fotones</vt:lpstr>
      <vt:lpstr>Geometría de medición: seis haces en tres pares</vt:lpstr>
      <vt:lpstr>Escalas que conviven en ICESat-2 y ATL08</vt:lpstr>
      <vt:lpstr>De los eventos instrumentales a las métricas de vegetación</vt:lpstr>
      <vt:lpstr>Qué contiene ATL08 V007</vt:lpstr>
      <vt:lpstr>Variables estructurales y campos de calidad</vt:lpstr>
      <vt:lpstr>ICESat-2 / ATLAS y GEDI: complementariedad, no equivalencia</vt:lpstr>
      <vt:lpstr>Potencial y límites en el ecotono bosque-estepa</vt:lpstr>
      <vt:lpstr>Diseño del análisis</vt:lpstr>
      <vt:lpstr>Pregunta, datos y alcance de la comparación</vt:lpstr>
      <vt:lpstr>Dos AOI separadas y muestras espacialmente distintas</vt:lpstr>
      <vt:lpstr>Jerarquía de observaciones y riesgo de pseudorreplicación</vt:lpstr>
      <vt:lpstr>Cadena de control de calidad y retención</vt:lpstr>
      <vt:lpstr>Operacional y conservador responden preguntas distintas</vt:lpstr>
      <vt:lpstr>Estrategia estadística y reglas de lectura</vt:lpstr>
      <vt:lpstr>Resultados y sensibilidad</vt:lpstr>
      <vt:lpstr>Panorama de la muestra retenida</vt:lpstr>
      <vt:lpstr>RH98 a nivel de segmento: diferencia descriptiva</vt:lpstr>
      <vt:lpstr>La diferencia persiste al resumir por gránulo</vt:lpstr>
      <vt:lpstr>Pruebas de robustez: umbral de segmentos por gránulo</vt:lpstr>
      <vt:lpstr>Sesgo de selección: la incertidumbre no está disponible al azar</vt:lpstr>
      <vt:lpstr>Sensibilidad del contraste al mecanismo de selección</vt:lpstr>
      <vt:lpstr>Composición de cobertura y condición solar</vt:lpstr>
      <vt:lpstr>Síntesis de la evidencia: qué se sostiene y qué no</vt:lpstr>
      <vt:lpstr>Perfil ATL08 en Bosque</vt:lpstr>
      <vt:lpstr>Perfil ATL08 en Estepa</vt:lpstr>
      <vt:lpstr>Aplicación, integración y síntesis</vt:lpstr>
      <vt:lpstr>Caso exploratorio de incendio: evidencia óptica y muestreo ATL08</vt:lpstr>
      <vt:lpstr>Diseño correcto para cuantificar pérdida estructural por incendio</vt:lpstr>
      <vt:lpstr>Integración multisensor para estimación de biomasa</vt:lpstr>
      <vt:lpstr>Conclusiones</vt:lpstr>
      <vt:lpstr>Próximos pasos y control de calidad</vt:lpstr>
      <vt:lpstr>Fuentes oficiales</vt:lpstr>
      <vt:lpstr>Bibliografía</vt:lpstr>
      <vt:lpstr>Bibliografía</vt:lpstr>
      <vt:lpstr>Glosario y mensaje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ICESat-2 / ATLAS: fundamentos, calidad e inferencia con ATL08 V007</dc:title>
  <dc:subject>ICESat-2, ATLAS y ATL08 V007 para análisis de altura de dosel y biomasa multisensor</dc:subject>
  <dc:creator>Héctor Francisco del Valle</dc:creator>
  <cp:lastModifiedBy>Hector Francisco del Valle</cp:lastModifiedBy>
  <cp:revision>14</cp:revision>
  <dcterms:created xsi:type="dcterms:W3CDTF">2026-08-24T19:31:16Z</dcterms:created>
  <dcterms:modified xsi:type="dcterms:W3CDTF">2026-08-24T23:05:10Z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2026-08-24T00:00:00Z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25.2.3.2 (X86_64) / LibreOffice Community</vt:lpwstr>
  </property>
  <property fmtid="{D5CDD505-2E9C-101B-9397-08002B2CF9AE}" pid="5" name="LastSaved">
    <vt:filetime>2026-08-24T00:00:00Z</vt:filetime>
  </property>
</Properties>
</file>