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76" r:id="rId2"/>
    <p:sldId id="363" r:id="rId3"/>
    <p:sldId id="364" r:id="rId4"/>
    <p:sldId id="388" r:id="rId5"/>
    <p:sldId id="383" r:id="rId6"/>
    <p:sldId id="366" r:id="rId7"/>
    <p:sldId id="371" r:id="rId8"/>
    <p:sldId id="258" r:id="rId9"/>
    <p:sldId id="374" r:id="rId10"/>
    <p:sldId id="307" r:id="rId11"/>
    <p:sldId id="306" r:id="rId12"/>
    <p:sldId id="259" r:id="rId13"/>
    <p:sldId id="260" r:id="rId14"/>
    <p:sldId id="261" r:id="rId15"/>
    <p:sldId id="304" r:id="rId16"/>
    <p:sldId id="263" r:id="rId17"/>
    <p:sldId id="264" r:id="rId18"/>
    <p:sldId id="265" r:id="rId19"/>
    <p:sldId id="266" r:id="rId20"/>
    <p:sldId id="267" r:id="rId21"/>
    <p:sldId id="268" r:id="rId22"/>
    <p:sldId id="395" r:id="rId23"/>
    <p:sldId id="394" r:id="rId24"/>
    <p:sldId id="402" r:id="rId25"/>
    <p:sldId id="401" r:id="rId26"/>
    <p:sldId id="269" r:id="rId27"/>
    <p:sldId id="270" r:id="rId28"/>
    <p:sldId id="271" r:id="rId29"/>
    <p:sldId id="272" r:id="rId30"/>
    <p:sldId id="403" r:id="rId31"/>
    <p:sldId id="273" r:id="rId32"/>
    <p:sldId id="274" r:id="rId33"/>
    <p:sldId id="305" r:id="rId34"/>
    <p:sldId id="298" r:id="rId35"/>
    <p:sldId id="396" r:id="rId36"/>
    <p:sldId id="300" r:id="rId37"/>
    <p:sldId id="301" r:id="rId38"/>
    <p:sldId id="397" r:id="rId39"/>
    <p:sldId id="303" r:id="rId40"/>
    <p:sldId id="398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5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Fijar expectativas desde el inicio evita la frustración del «¿dónde está el código?».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mosaico es lo que ningún sensor describe por sí solo; de ahí el enfoque multisensor.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Fijar expectativas desde el inicio evita la frustración del «¿dónde está el código?».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reconstruida en la propia diapositiva (editable). Corregido: GEDI es LiDAR desde la Estación Espacial Internacional, no aerotransportado.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Extensión deliberadamente desigual según lo exige cada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Sirve para dimensionar hasta dónde llega hoy la herramienta y dónde sigue siendo un intento.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Barberá es la referencia obligada — clima, acumulación de combustible y alternancia de bosque y matorral en el propio ecotono.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entre la gestión del fuego y la teledetección cuantitativa.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Pertinente para el ecotono, donde la estacionalidad hídrica gobierna la disponibilidad de combustible.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empieza el contenido que sostiene los cinco trabajos prácticos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bosque aleatorio de potenciación del gradiente; no son familias intercambiables.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estepa no es un caso menor del bosque; tiene antecedentes metodológicos propios.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generada sobre bosques nacionales; argumento fuerte para incorporar el SAOCOM al componente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generada sobre bosques nacionales; argumento fuerte para incorporar el SAOCOM al componente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generada sobre bosques nacionales; argumento fuerte para incorporar el SAOCOM al componente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Evidencia generada sobre bosques nacionales; argumento fuerte para incorporar el SAOCOM al componente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Reproducir la Tabla como tabla de cuatro filas; es la diapositiva más consultada del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clave para el aula — ya no falta el dato, falta el criterio para usarlo.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Figura, aclarando que es una representación conceptual y no una medición.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openEO importa por reproducibilidad y por no depender de un único proveedor.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integración es tanto un asunto técnico como metodológico y de buenas prácticas.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paralelo con la ciencia abierta en el hemisferio sur (Ibrahim et al., 2024) resuena en la Patagonia.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estas herramientas no reemplazan el criterio de quien conoce el campo; lo extienden.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55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5285/95913ffb6467447ca72c4e9d8cf30501" TargetMode="External"/><Relationship Id="rId2" Type="http://schemas.openxmlformats.org/officeDocument/2006/relationships/hyperlink" Target="https://doi.org/10.1007/s10661-023-12133-5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8000" y="2468355"/>
            <a:ext cx="2556000" cy="612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Fundamentos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000" y="1012828"/>
            <a:ext cx="12132000" cy="16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Modelos de Inteligencia Artificial Multisensor </a:t>
            </a:r>
            <a:endParaRPr lang="es-ES" sz="22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 Biomasa en Bosques Andinos y Pastizales </a:t>
            </a:r>
            <a:r>
              <a:rPr lang="es-ES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del Ecotono Bosque-Estepa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Curso de posgrado · Esquel, Chubut · 14 al 19 de septiembre de 2026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4A441C-34DB-E03A-2731-24BBC16B185D}"/>
              </a:ext>
            </a:extLst>
          </p:cNvPr>
          <p:cNvSpPr txBox="1"/>
          <p:nvPr/>
        </p:nvSpPr>
        <p:spPr>
          <a:xfrm>
            <a:off x="1974000" y="2999922"/>
            <a:ext cx="8244000" cy="269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Héctor Francisco del Valle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Regional de Geomática (CeReGeo), Facultad de Ciencia y Tecnología (FCyT)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Universidad Autónoma de Entre Ríos (UADER) 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Laboratorio de Ecología, Meteorología y Gestión de Fuegos (LEMIV)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Ingeniería, Universidad Nacional de la Patagonia San Juan Bosco (UNPSJB) </a:t>
            </a:r>
          </a:p>
          <a:p>
            <a:pPr algn="ctr"/>
            <a:endParaRPr lang="es-MX" sz="1600" b="0" i="0" u="none" strike="noStrik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Correo Electrónico: </a:t>
            </a:r>
            <a:r>
              <a:rPr lang="es-MX" sz="1600" b="0" i="1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hfdelvalle@gmail.com </a:t>
            </a:r>
            <a:endParaRPr lang="es-E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A69BBF9-FB56-668F-1698-3A48A0A6353E}"/>
              </a:ext>
            </a:extLst>
          </p:cNvPr>
          <p:cNvGrpSpPr/>
          <p:nvPr/>
        </p:nvGrpSpPr>
        <p:grpSpPr>
          <a:xfrm>
            <a:off x="2082921" y="147103"/>
            <a:ext cx="8026158" cy="1044000"/>
            <a:chOff x="1703744" y="147103"/>
            <a:chExt cx="8026158" cy="1044000"/>
          </a:xfrm>
        </p:grpSpPr>
        <p:pic>
          <p:nvPicPr>
            <p:cNvPr id="7" name="Gráfico 6" descr="Secretaría de Ciencia y Tecnología del Chubut">
              <a:extLst>
                <a:ext uri="{FF2B5EF4-FFF2-40B4-BE49-F238E27FC236}">
                  <a16:creationId xmlns:a16="http://schemas.microsoft.com/office/drawing/2014/main" id="{18639BCD-9388-DE43-6F3D-6A0E1FFAC6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03744" y="402478"/>
              <a:ext cx="2295000" cy="53325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02845A6-AA4E-BE46-88B4-531A79C7B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7933" y="147103"/>
              <a:ext cx="873551" cy="104400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D4356AA-627D-0D5B-8DA4-289E704ED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8708" y="453103"/>
              <a:ext cx="1941194" cy="432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AE45CF2-9033-4C1E-BBA5-241C0224A5D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s-ES"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Objetivos</a:t>
            </a:r>
            <a:r>
              <a:rPr lang="es-ES" sz="26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 de aprendizaje</a:t>
            </a:r>
            <a:endParaRPr sz="2600" b="1" dirty="0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55AEB3-19EE-496B-9695-9D60F894078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2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1</a:t>
            </a:r>
            <a:endParaRPr sz="200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CF18C2F-C710-4166-AFF2-1417DB304185}"/>
              </a:ext>
            </a:extLst>
          </p:cNvPr>
          <p:cNvSpPr>
            <a:spLocks noGrp="1"/>
          </p:cNvSpPr>
          <p:nvPr/>
        </p:nvSpPr>
        <p:spPr>
          <a:xfrm>
            <a:off x="1428750" y="1562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0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Interpretar</a:t>
            </a:r>
            <a:endParaRPr sz="2000" b="1" dirty="0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743DC3-F450-4A7A-AAA0-5FEF275F32D8}"/>
              </a:ext>
            </a:extLst>
          </p:cNvPr>
          <p:cNvSpPr>
            <a:spLocks noGrp="1"/>
          </p:cNvSpPr>
          <p:nvPr/>
        </p:nvSpPr>
        <p:spPr>
          <a:xfrm>
            <a:off x="3562350" y="1562100"/>
            <a:ext cx="7677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6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s-ES" sz="200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Comprender qué mide cada sensor y cómo se vincula con la biomasa.</a:t>
            </a:r>
            <a:endParaRPr sz="2000" b="0" dirty="0">
              <a:solidFill>
                <a:srgbClr val="21212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" name="Conector recto de flecha 27"/>
          <p:cNvCxnSpPr/>
          <p:nvPr/>
        </p:nvCxnSpPr>
        <p:spPr>
          <a:xfrm>
            <a:off x="1428750" y="2305050"/>
            <a:ext cx="9810750" cy="0"/>
          </a:xfrm>
          <a:prstGeom prst="straightConnector1">
            <a:avLst/>
          </a:prstGeom>
          <a:ln w="9525">
            <a:solidFill>
              <a:srgbClr val="C9D2C6"/>
            </a:solidFill>
            <a:prstDash val="solid"/>
          </a:ln>
        </p:spPr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B538D8F8-2D11-4BE0-AD7C-EF0A103C7939}"/>
              </a:ext>
            </a:extLst>
          </p:cNvPr>
          <p:cNvSpPr>
            <a:spLocks noGrp="1"/>
          </p:cNvSpPr>
          <p:nvPr/>
        </p:nvSpPr>
        <p:spPr>
          <a:xfrm>
            <a:off x="514350" y="26670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2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2</a:t>
            </a:r>
            <a:endParaRPr sz="200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6DE4F3D-5301-43D4-A3B1-4306C68D5EF2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0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Seleccionar</a:t>
            </a:r>
            <a:endParaRPr sz="2000" b="1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08B2EA-2A2E-4869-8D23-121F3846AE45}"/>
              </a:ext>
            </a:extLst>
          </p:cNvPr>
          <p:cNvSpPr>
            <a:spLocks noGrp="1"/>
          </p:cNvSpPr>
          <p:nvPr/>
        </p:nvSpPr>
        <p:spPr>
          <a:xfrm>
            <a:off x="3562350" y="2667000"/>
            <a:ext cx="7677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6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s-ES" sz="2000" b="0" noProof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Elegir</a:t>
            </a:r>
            <a:r>
              <a:rPr lang="es-ES" sz="200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colecciones, resolución, fechas, polarización adecuada, entre otras características.</a:t>
            </a:r>
          </a:p>
        </p:txBody>
      </p:sp>
      <p:cxnSp>
        <p:nvCxnSpPr>
          <p:cNvPr id="32" name="Conector recto de flecha 31"/>
          <p:cNvCxnSpPr/>
          <p:nvPr/>
        </p:nvCxnSpPr>
        <p:spPr>
          <a:xfrm>
            <a:off x="1428750" y="3409950"/>
            <a:ext cx="9810750" cy="0"/>
          </a:xfrm>
          <a:prstGeom prst="straightConnector1">
            <a:avLst/>
          </a:prstGeom>
          <a:ln w="9525">
            <a:solidFill>
              <a:srgbClr val="C9D2C6"/>
            </a:solidFill>
            <a:prstDash val="solid"/>
          </a:ln>
        </p:spPr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396AAC2-38DC-499B-860D-CBEDC30FB9EB}"/>
              </a:ext>
            </a:extLst>
          </p:cNvPr>
          <p:cNvSpPr>
            <a:spLocks noGrp="1"/>
          </p:cNvSpPr>
          <p:nvPr/>
        </p:nvSpPr>
        <p:spPr>
          <a:xfrm>
            <a:off x="514350" y="37719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9BED516-1AF8-4D03-8532-30276B9957DC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0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Diseñar</a:t>
            </a:r>
            <a:endParaRPr sz="2000" b="1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179028F-B872-47FF-BA20-E78F47138928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7677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6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n-US" sz="2000"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Plantear comparaciones pre/post que distingan el incendio del efecto estacional.</a:t>
            </a:r>
            <a:endParaRPr sz="2000" b="0">
              <a:solidFill>
                <a:srgbClr val="21212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Conector recto de flecha 35"/>
          <p:cNvCxnSpPr/>
          <p:nvPr/>
        </p:nvCxnSpPr>
        <p:spPr>
          <a:xfrm>
            <a:off x="1428750" y="4514850"/>
            <a:ext cx="9810750" cy="0"/>
          </a:xfrm>
          <a:prstGeom prst="straightConnector1">
            <a:avLst/>
          </a:prstGeom>
          <a:ln w="9525">
            <a:solidFill>
              <a:srgbClr val="C9D2C6"/>
            </a:solidFill>
            <a:prstDash val="solid"/>
          </a:ln>
        </p:spPr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38C9838-67E1-4901-AB15-E0916DC6B0EB}"/>
              </a:ext>
            </a:extLst>
          </p:cNvPr>
          <p:cNvSpPr>
            <a:spLocks noGrp="1"/>
          </p:cNvSpPr>
          <p:nvPr/>
        </p:nvSpPr>
        <p:spPr>
          <a:xfrm>
            <a:off x="514350" y="48768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C389AF9-C015-4F2A-9CF2-B2D614702618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0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Validar</a:t>
            </a:r>
            <a:endParaRPr sz="2000" b="1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3513FDC-E145-4BE7-88E7-4D8F415D2713}"/>
              </a:ext>
            </a:extLst>
          </p:cNvPr>
          <p:cNvSpPr>
            <a:spLocks noGrp="1"/>
          </p:cNvSpPr>
          <p:nvPr/>
        </p:nvSpPr>
        <p:spPr>
          <a:xfrm>
            <a:off x="3562350" y="4876800"/>
            <a:ext cx="7677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6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n-US" sz="2000"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Evaluar sesgo, saturación e incertidumbre según las condiciones del ambiente.</a:t>
            </a:r>
            <a:endParaRPr sz="2000" b="0">
              <a:solidFill>
                <a:srgbClr val="21212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" name="Conector recto de flecha 39"/>
          <p:cNvCxnSpPr/>
          <p:nvPr/>
        </p:nvCxnSpPr>
        <p:spPr>
          <a:xfrm>
            <a:off x="1428750" y="5619750"/>
            <a:ext cx="9810750" cy="0"/>
          </a:xfrm>
          <a:prstGeom prst="straightConnector1">
            <a:avLst/>
          </a:prstGeom>
          <a:ln w="9525">
            <a:solidFill>
              <a:srgbClr val="C9D2C6"/>
            </a:solidFill>
            <a:prstDash val="solid"/>
          </a:ln>
        </p:spPr>
      </p:cxnSp>
      <p:sp>
        <p:nvSpPr>
          <p:cNvPr id="8" name="FooterIzq">
            <a:extLst>
              <a:ext uri="{FF2B5EF4-FFF2-40B4-BE49-F238E27FC236}">
                <a16:creationId xmlns:a16="http://schemas.microsoft.com/office/drawing/2014/main" id="{BDD4419D-8F8D-4F6C-9E48-0820FCFA5673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2" name="FooterCentro">
            <a:extLst>
              <a:ext uri="{FF2B5EF4-FFF2-40B4-BE49-F238E27FC236}">
                <a16:creationId xmlns:a16="http://schemas.microsoft.com/office/drawing/2014/main" id="{2D7612A8-31E2-45B5-BD24-59849DDE1B4F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6" name="FooterDer">
            <a:extLst>
              <a:ext uri="{FF2B5EF4-FFF2-40B4-BE49-F238E27FC236}">
                <a16:creationId xmlns:a16="http://schemas.microsoft.com/office/drawing/2014/main" id="{62D94DF9-5621-4F60-9816-1BF324916644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2/40</a:t>
            </a:r>
          </a:p>
        </p:txBody>
      </p:sp>
    </p:spTree>
    <p:extLst>
      <p:ext uri="{BB962C8B-B14F-4D97-AF65-F5344CB8AC3E}">
        <p14:creationId xmlns:p14="http://schemas.microsoft.com/office/powerpoint/2010/main" val="196368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C18D6D5-7217-467A-AFC8-956A2E1D9372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La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biomasa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es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una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variable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latente</a:t>
            </a:r>
            <a:endParaRPr sz="2600" b="1" dirty="0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F9BEB60-9240-45F4-923E-50DC42AD70B1}"/>
              </a:ext>
            </a:extLst>
          </p:cNvPr>
          <p:cNvSpPr>
            <a:spLocks noGrp="1"/>
          </p:cNvSpPr>
          <p:nvPr/>
        </p:nvSpPr>
        <p:spPr>
          <a:xfrm>
            <a:off x="461185" y="1411022"/>
            <a:ext cx="1116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19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s-ES" sz="2000" b="0" noProof="0" dirty="0">
                <a:solidFill>
                  <a:srgbClr val="EE0000"/>
                </a:solidFill>
                <a:latin typeface="Arial"/>
                <a:ea typeface="Arial"/>
                <a:cs typeface="Arial"/>
              </a:rPr>
              <a:t>No existe una “banda de biomasa”. </a:t>
            </a:r>
            <a:r>
              <a:rPr lang="es-ES" sz="2000" b="1" noProof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El modelo aproxima una variable ecológica usando observables imperfectos.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FD1A32A-9F62-46E4-A081-1B3991E69B9A}"/>
              </a:ext>
            </a:extLst>
          </p:cNvPr>
          <p:cNvSpPr>
            <a:spLocks noGrp="1"/>
          </p:cNvSpPr>
          <p:nvPr/>
        </p:nvSpPr>
        <p:spPr>
          <a:xfrm>
            <a:off x="514350" y="2763140"/>
            <a:ext cx="11144250" cy="1638300"/>
          </a:xfrm>
          <a:prstGeom prst="roundRect">
            <a:avLst>
              <a:gd name="adj" fmla="val 4651"/>
            </a:avLst>
          </a:prstGeom>
          <a:solidFill>
            <a:srgbClr val="EAF2F8"/>
          </a:solidFill>
          <a:ln w="9525">
            <a:solidFill>
              <a:srgbClr val="0070C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92CC70F-1FA7-49E5-9FE1-BCF0FF158815}"/>
              </a:ext>
            </a:extLst>
          </p:cNvPr>
          <p:cNvSpPr>
            <a:spLocks noGrp="1"/>
          </p:cNvSpPr>
          <p:nvPr/>
        </p:nvSpPr>
        <p:spPr>
          <a:xfrm>
            <a:off x="781050" y="3182240"/>
            <a:ext cx="10610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17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AGB = f(</a:t>
            </a:r>
            <a:r>
              <a:rPr lang="es-ES" sz="2175" b="1" noProof="0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óptico, SAR, LiDAR, altura, topografía, historia de fuego….</a:t>
            </a:r>
            <a:r>
              <a:rPr sz="2175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26CF09-2A2B-4591-B8E3-92BED4412644}"/>
              </a:ext>
            </a:extLst>
          </p:cNvPr>
          <p:cNvSpPr>
            <a:spLocks noGrp="1"/>
          </p:cNvSpPr>
          <p:nvPr/>
        </p:nvSpPr>
        <p:spPr>
          <a:xfrm>
            <a:off x="781050" y="3829940"/>
            <a:ext cx="1061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0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2000" b="1" noProof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La función f cambia con especie, densidad, humedad, relieve y perturbación.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9AFCF8A-F3A0-4572-912C-E0661B2DC403}"/>
              </a:ext>
            </a:extLst>
          </p:cNvPr>
          <p:cNvSpPr>
            <a:spLocks noGrp="1"/>
          </p:cNvSpPr>
          <p:nvPr/>
        </p:nvSpPr>
        <p:spPr>
          <a:xfrm>
            <a:off x="1430536" y="48196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defRPr sz="36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señal</a:t>
            </a:r>
            <a:endParaRPr sz="360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3D2CAA-2904-4F97-AA45-73B0A075FBAE}"/>
              </a:ext>
            </a:extLst>
          </p:cNvPr>
          <p:cNvSpPr>
            <a:spLocks noGrp="1"/>
          </p:cNvSpPr>
          <p:nvPr/>
        </p:nvSpPr>
        <p:spPr>
          <a:xfrm>
            <a:off x="1430536" y="53911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lang="es-ES" sz="2000" b="0" noProof="0">
                <a:solidFill>
                  <a:srgbClr val="212121"/>
                </a:solidFill>
                <a:latin typeface="Arial"/>
                <a:ea typeface="Arial"/>
                <a:cs typeface="Arial"/>
              </a:rPr>
              <a:t>lo que observa el sensor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E36156-E057-4D10-8CA7-5B939FAD5F25}"/>
              </a:ext>
            </a:extLst>
          </p:cNvPr>
          <p:cNvSpPr>
            <a:spLocks noGrp="1"/>
          </p:cNvSpPr>
          <p:nvPr/>
        </p:nvSpPr>
        <p:spPr>
          <a:xfrm>
            <a:off x="5183386" y="48196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defRPr sz="3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proxy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2CB46F-D811-496D-91F0-C15E73D4D619}"/>
              </a:ext>
            </a:extLst>
          </p:cNvPr>
          <p:cNvSpPr>
            <a:spLocks noGrp="1"/>
          </p:cNvSpPr>
          <p:nvPr/>
        </p:nvSpPr>
        <p:spPr>
          <a:xfrm>
            <a:off x="5183386" y="53911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lo relacionado con biomasa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1E278A-DD65-40A4-A96A-4238633309BD}"/>
              </a:ext>
            </a:extLst>
          </p:cNvPr>
          <p:cNvSpPr>
            <a:spLocks noGrp="1"/>
          </p:cNvSpPr>
          <p:nvPr/>
        </p:nvSpPr>
        <p:spPr>
          <a:xfrm>
            <a:off x="8898136" y="48196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defRPr sz="36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9075A2-3B8C-481E-93C0-E50BFAA13C1B}"/>
              </a:ext>
            </a:extLst>
          </p:cNvPr>
          <p:cNvSpPr>
            <a:spLocks noGrp="1"/>
          </p:cNvSpPr>
          <p:nvPr/>
        </p:nvSpPr>
        <p:spPr>
          <a:xfrm>
            <a:off x="8898136" y="53911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la relación aprendida</a:t>
            </a:r>
          </a:p>
        </p:txBody>
      </p:sp>
      <p:sp>
        <p:nvSpPr>
          <p:cNvPr id="15" name="FooterIzq">
            <a:extLst>
              <a:ext uri="{FF2B5EF4-FFF2-40B4-BE49-F238E27FC236}">
                <a16:creationId xmlns:a16="http://schemas.microsoft.com/office/drawing/2014/main" id="{DC2CEC61-7892-41FE-B08E-1A13ED14BCC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6" name="FooterCentro">
            <a:extLst>
              <a:ext uri="{FF2B5EF4-FFF2-40B4-BE49-F238E27FC236}">
                <a16:creationId xmlns:a16="http://schemas.microsoft.com/office/drawing/2014/main" id="{8B56AFBA-7A64-4BEC-BA9F-D81FD7658CD8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8" name="FooterDer">
            <a:extLst>
              <a:ext uri="{FF2B5EF4-FFF2-40B4-BE49-F238E27FC236}">
                <a16:creationId xmlns:a16="http://schemas.microsoft.com/office/drawing/2014/main" id="{99B1D408-ECAF-44FD-83DF-EB6BC5CFEEEA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3/40</a:t>
            </a:r>
          </a:p>
        </p:txBody>
      </p:sp>
    </p:spTree>
    <p:extLst>
      <p:ext uri="{BB962C8B-B14F-4D97-AF65-F5344CB8AC3E}">
        <p14:creationId xmlns:p14="http://schemas.microsoft.com/office/powerpoint/2010/main" val="79723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6D7DF3-330B-4CF7-84AA-E94F8B82A31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El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incendio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y la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estación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pueden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producir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señales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parecidas</a:t>
            </a:r>
            <a:endParaRPr sz="2600" b="1" dirty="0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5FEE134-43D6-47E6-A5B0-39BA3C0B492F}"/>
              </a:ext>
            </a:extLst>
          </p:cNvPr>
          <p:cNvSpPr>
            <a:spLocks noGrp="1"/>
          </p:cNvSpPr>
          <p:nvPr/>
        </p:nvSpPr>
        <p:spPr>
          <a:xfrm>
            <a:off x="514350" y="1600200"/>
            <a:ext cx="5219700" cy="1428750"/>
          </a:xfrm>
          <a:prstGeom prst="roundRect">
            <a:avLst>
              <a:gd name="adj" fmla="val 5333"/>
            </a:avLst>
          </a:prstGeom>
          <a:solidFill>
            <a:srgbClr val="F4CCCC"/>
          </a:solidFill>
          <a:ln w="31750">
            <a:solidFill>
              <a:srgbClr val="C0000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3CFD2EA-A643-4F77-86F0-A793AAF7A9C7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Incendio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466268-819C-4EDB-960C-DEA68A124C17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pérdida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de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copa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,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ceniza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,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suelo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expuesto</a:t>
            </a:r>
            <a:endParaRPr b="0" dirty="0">
              <a:solidFill>
                <a:srgbClr val="2121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B683B2F-B9AC-4315-9089-6A0ACBAB6B11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219700" cy="142875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31750">
            <a:solidFill>
              <a:srgbClr val="0070C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9AE8CF5-F172-491D-ACE9-5067D49926E7}"/>
              </a:ext>
            </a:extLst>
          </p:cNvPr>
          <p:cNvSpPr>
            <a:spLocks noGrp="1"/>
          </p:cNvSpPr>
          <p:nvPr/>
        </p:nvSpPr>
        <p:spPr>
          <a:xfrm>
            <a:off x="6343650" y="1809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Sequía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FC7EDB-E915-4634-B8B7-1902CC8D60EA}"/>
              </a:ext>
            </a:extLst>
          </p:cNvPr>
          <p:cNvSpPr>
            <a:spLocks noGrp="1"/>
          </p:cNvSpPr>
          <p:nvPr/>
        </p:nvSpPr>
        <p:spPr>
          <a:xfrm>
            <a:off x="6343650" y="226695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menor humedad y actividad fotosintética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C28EADE-326D-4644-BB03-5A76D729E429}"/>
              </a:ext>
            </a:extLst>
          </p:cNvPr>
          <p:cNvSpPr>
            <a:spLocks noGrp="1"/>
          </p:cNvSpPr>
          <p:nvPr/>
        </p:nvSpPr>
        <p:spPr>
          <a:xfrm>
            <a:off x="514350" y="3409950"/>
            <a:ext cx="5219700" cy="1428750"/>
          </a:xfrm>
          <a:prstGeom prst="roundRect">
            <a:avLst>
              <a:gd name="adj" fmla="val 5333"/>
            </a:avLst>
          </a:prstGeom>
          <a:solidFill>
            <a:srgbClr val="D9EAD3"/>
          </a:solidFill>
          <a:ln w="31750">
            <a:solidFill>
              <a:srgbClr val="2C5F2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5156E6-7F4F-4794-A0E9-C8CFD986DD00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21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Otoño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F521B26-DC46-45BD-AD89-03611A06A3D4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212121"/>
                </a:solidFill>
                <a:latin typeface="Arial"/>
                <a:ea typeface="Arial"/>
                <a:cs typeface="Arial"/>
              </a:rPr>
              <a:t>senescencia y cambio fenológico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F031C7B-4003-4E93-85D6-2566663DA752}"/>
              </a:ext>
            </a:extLst>
          </p:cNvPr>
          <p:cNvSpPr>
            <a:spLocks noGrp="1"/>
          </p:cNvSpPr>
          <p:nvPr/>
        </p:nvSpPr>
        <p:spPr>
          <a:xfrm>
            <a:off x="6134100" y="3409950"/>
            <a:ext cx="5219700" cy="1428750"/>
          </a:xfrm>
          <a:prstGeom prst="roundRect">
            <a:avLst>
              <a:gd name="adj" fmla="val 5333"/>
            </a:avLst>
          </a:prstGeom>
          <a:solidFill>
            <a:srgbClr val="DDE3EA"/>
          </a:solidFill>
          <a:ln w="31750">
            <a:solidFill>
              <a:srgbClr val="5B7C99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8CB95D7-72C7-455B-B90A-4B794415DA97}"/>
              </a:ext>
            </a:extLst>
          </p:cNvPr>
          <p:cNvSpPr>
            <a:spLocks noGrp="1"/>
          </p:cNvSpPr>
          <p:nvPr/>
        </p:nvSpPr>
        <p:spPr>
          <a:xfrm>
            <a:off x="6343650" y="3619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Sombra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912DF7D-709E-4F45-9A1E-BCB78A4DCA15}"/>
              </a:ext>
            </a:extLst>
          </p:cNvPr>
          <p:cNvSpPr>
            <a:spLocks noGrp="1"/>
          </p:cNvSpPr>
          <p:nvPr/>
        </p:nvSpPr>
        <p:spPr>
          <a:xfrm>
            <a:off x="6343650" y="407670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212121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relieve,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nubes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y </a:t>
            </a:r>
            <a:r>
              <a:rPr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geometría</a:t>
            </a:r>
            <a:r>
              <a:rPr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solar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99A916C-300F-44A4-A89B-DD58625A495D}"/>
              </a:ext>
            </a:extLst>
          </p:cNvPr>
          <p:cNvSpPr>
            <a:spLocks noGrp="1"/>
          </p:cNvSpPr>
          <p:nvPr/>
        </p:nvSpPr>
        <p:spPr>
          <a:xfrm>
            <a:off x="444000" y="5505450"/>
            <a:ext cx="1130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Solución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: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comparar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fechas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de la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misma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estación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y usar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polígonos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quemados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con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fecha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b="1" i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confiable</a:t>
            </a:r>
            <a:r>
              <a:rPr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21" name="Graphic 21" descr="Incend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4600" y="1752600"/>
            <a:ext cx="482600" cy="482600"/>
          </a:xfrm>
          <a:prstGeom prst="rect">
            <a:avLst/>
          </a:prstGeom>
        </p:spPr>
      </p:pic>
      <p:pic>
        <p:nvPicPr>
          <p:cNvPr id="22" name="Graphic 22" descr="Sequí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0" y="1752600"/>
            <a:ext cx="482600" cy="482600"/>
          </a:xfrm>
          <a:prstGeom prst="rect">
            <a:avLst/>
          </a:prstGeom>
        </p:spPr>
      </p:pic>
      <p:pic>
        <p:nvPicPr>
          <p:cNvPr id="24" name="Graphic 24" descr="Somb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0" y="3517900"/>
            <a:ext cx="609600" cy="609600"/>
          </a:xfrm>
          <a:prstGeom prst="rect">
            <a:avLst/>
          </a:prstGeom>
        </p:spPr>
      </p:pic>
      <p:pic>
        <p:nvPicPr>
          <p:cNvPr id="25" name="Graphic 25" descr="Otoñ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4600" y="3568700"/>
            <a:ext cx="482600" cy="482600"/>
          </a:xfrm>
          <a:prstGeom prst="rect">
            <a:avLst/>
          </a:prstGeom>
        </p:spPr>
      </p:pic>
      <p:sp>
        <p:nvSpPr>
          <p:cNvPr id="3" name="FooterIzq">
            <a:extLst>
              <a:ext uri="{FF2B5EF4-FFF2-40B4-BE49-F238E27FC236}">
                <a16:creationId xmlns:a16="http://schemas.microsoft.com/office/drawing/2014/main" id="{67D74986-C73D-4D5E-9FF0-FBAFEE8B59D7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4" name="FooterCentro">
            <a:extLst>
              <a:ext uri="{FF2B5EF4-FFF2-40B4-BE49-F238E27FC236}">
                <a16:creationId xmlns:a16="http://schemas.microsoft.com/office/drawing/2014/main" id="{CDB3C011-124B-4B39-8261-C09D75BE1671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8" name="FooterDer">
            <a:extLst>
              <a:ext uri="{FF2B5EF4-FFF2-40B4-BE49-F238E27FC236}">
                <a16:creationId xmlns:a16="http://schemas.microsoft.com/office/drawing/2014/main" id="{72F9DB79-6B46-4550-93C0-99623AF9DBB6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4/40</a:t>
            </a:r>
          </a:p>
        </p:txBody>
      </p:sp>
    </p:spTree>
    <p:extLst>
      <p:ext uri="{BB962C8B-B14F-4D97-AF65-F5344CB8AC3E}">
        <p14:creationId xmlns:p14="http://schemas.microsoft.com/office/powerpoint/2010/main" val="160352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7E41148-484E-487A-A7B4-061CB3F1D1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AF2F8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ES" sz="2600" b="1">
              <a:solidFill>
                <a:srgbClr val="2C5F2D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E8DC872-3C41-4FF0-87BB-81E304DA45E6}"/>
              </a:ext>
            </a:extLst>
          </p:cNvPr>
          <p:cNvSpPr>
            <a:spLocks noGrp="1"/>
          </p:cNvSpPr>
          <p:nvPr/>
        </p:nvSpPr>
        <p:spPr>
          <a:xfrm>
            <a:off x="419100" y="2476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525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Pre y post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deben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observar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el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mismo</a:t>
            </a:r>
            <a:r>
              <a:rPr sz="2600" b="1" dirty="0">
                <a:solidFill>
                  <a:srgbClr val="2C5F2D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2C5F2D"/>
                </a:solidFill>
                <a:latin typeface="Arial"/>
                <a:ea typeface="Arial"/>
                <a:cs typeface="Arial"/>
              </a:rPr>
              <a:t>sistema</a:t>
            </a:r>
            <a:endParaRPr sz="2600" b="1" dirty="0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5D6651-2EE8-9D63-F746-2EF01DA1156B}"/>
              </a:ext>
            </a:extLst>
          </p:cNvPr>
          <p:cNvSpPr txBox="1"/>
          <p:nvPr/>
        </p:nvSpPr>
        <p:spPr>
          <a:xfrm>
            <a:off x="406461" y="6039293"/>
            <a:ext cx="1168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PRE:</a:t>
            </a: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misma estación                                         Fecha del evento                   </a:t>
            </a: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POST:</a:t>
            </a: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Respuesta + Recuperación  </a:t>
            </a:r>
          </a:p>
        </p:txBody>
      </p:sp>
      <p:sp>
        <p:nvSpPr>
          <p:cNvPr id="13" name="FooterIzq">
            <a:extLst>
              <a:ext uri="{FF2B5EF4-FFF2-40B4-BE49-F238E27FC236}">
                <a16:creationId xmlns:a16="http://schemas.microsoft.com/office/drawing/2014/main" id="{48B7518B-797E-4C38-832A-938AE64ADA35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4" name="FooterCentro">
            <a:extLst>
              <a:ext uri="{FF2B5EF4-FFF2-40B4-BE49-F238E27FC236}">
                <a16:creationId xmlns:a16="http://schemas.microsoft.com/office/drawing/2014/main" id="{C6BC9770-E650-49D6-A2F4-0B4AF8D1FC6A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chemeClr val="bg1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5" name="FooterDer">
            <a:extLst>
              <a:ext uri="{FF2B5EF4-FFF2-40B4-BE49-F238E27FC236}">
                <a16:creationId xmlns:a16="http://schemas.microsoft.com/office/drawing/2014/main" id="{C35C23D1-83F6-4846-9795-B6FB627EBF68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chemeClr val="bg1"/>
                </a:solidFill>
                <a:latin typeface="Arial"/>
                <a:cs typeface="Arial"/>
              </a:rPr>
              <a:t>5/40</a:t>
            </a:r>
          </a:p>
        </p:txBody>
      </p:sp>
    </p:spTree>
    <p:extLst>
      <p:ext uri="{BB962C8B-B14F-4D97-AF65-F5344CB8AC3E}">
        <p14:creationId xmlns:p14="http://schemas.microsoft.com/office/powerpoint/2010/main" val="64390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B18AA7-D45B-4622-AC47-796D98E24B1F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Tres familias de sensores, tres observables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5C92E47-2958-4DAF-810A-4E2E675A5F39}"/>
              </a:ext>
            </a:extLst>
          </p:cNvPr>
          <p:cNvSpPr>
            <a:spLocks noGrp="1"/>
          </p:cNvSpPr>
          <p:nvPr/>
        </p:nvSpPr>
        <p:spPr>
          <a:xfrm>
            <a:off x="419100" y="5427919"/>
            <a:ext cx="11353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7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2000" b="1" i="1" noProof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Conclusión: ningún sensor sustituye a los demás; la sinergia funciona cuando escalas y fechas son comparables.</a:t>
            </a:r>
          </a:p>
        </p:txBody>
      </p:sp>
      <p:graphicFrame>
        <p:nvGraphicFramePr>
          <p:cNvPr id="60" name="Tabla sens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437552"/>
              </p:ext>
            </p:extLst>
          </p:nvPr>
        </p:nvGraphicFramePr>
        <p:xfrm>
          <a:off x="419100" y="1498600"/>
          <a:ext cx="11366500" cy="3550920"/>
        </p:xfrm>
        <a:graphic>
          <a:graphicData uri="http://schemas.openxmlformats.org/drawingml/2006/table">
            <a:tbl>
              <a:tblPr firstRow="1" bandRow="1"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Medición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Aporte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Óptico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Reflectancia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Pigmentos, área foliar, humedad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Nubes · saturación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Sentinel‑2 / Landsat 9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Retrodispersión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Estructura, agua, rugosidad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Speckle · relieve · ángulo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Sentinel‑1 / PALSAR / SAOCOM / NISAR / BIOMASS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 retorno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Altura y perfil vertical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Muestreo discontinuo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GEDI L2A / L4A – ICESat2 ATLAS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Izq">
            <a:extLst>
              <a:ext uri="{FF2B5EF4-FFF2-40B4-BE49-F238E27FC236}">
                <a16:creationId xmlns:a16="http://schemas.microsoft.com/office/drawing/2014/main" id="{14D78EE5-FA55-41CC-BDF1-07D69E7A1D5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4" name="FooterCentro">
            <a:extLst>
              <a:ext uri="{FF2B5EF4-FFF2-40B4-BE49-F238E27FC236}">
                <a16:creationId xmlns:a16="http://schemas.microsoft.com/office/drawing/2014/main" id="{D5DBDF83-12B9-4A37-A4EC-40D782775031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" name="FooterDer">
            <a:extLst>
              <a:ext uri="{FF2B5EF4-FFF2-40B4-BE49-F238E27FC236}">
                <a16:creationId xmlns:a16="http://schemas.microsoft.com/office/drawing/2014/main" id="{79557DCE-1CE0-4418-913D-4C6D9FF25B80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6/40</a:t>
            </a:r>
          </a:p>
        </p:txBody>
      </p:sp>
    </p:spTree>
    <p:extLst>
      <p:ext uri="{BB962C8B-B14F-4D97-AF65-F5344CB8AC3E}">
        <p14:creationId xmlns:p14="http://schemas.microsoft.com/office/powerpoint/2010/main" val="391504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este curso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curso de programación: por qué el criterio importa más que el código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5836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2000" b="1" dirty="0">
                <a:solidFill>
                  <a:srgbClr val="2C5F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 IA ya escribe el código:</a:t>
            </a:r>
            <a:r>
              <a:rPr lang="es-ES" sz="200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lo escaso deja de ser la sintaxis y pasa a ser el </a:t>
            </a:r>
            <a:r>
              <a:rPr lang="es-ES" sz="2000" b="1" dirty="0">
                <a:solidFill>
                  <a:srgbClr val="0070C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criterio</a:t>
            </a:r>
            <a:r>
              <a:rPr lang="es-ES" sz="200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2000" b="1" dirty="0">
                <a:solidFill>
                  <a:srgbClr val="2C5F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Dirigir un asistente exige conceptos:</a:t>
            </a:r>
            <a:r>
              <a:rPr lang="es-ES" sz="200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qué sensor, qué escala, qué fecha y bajo qué supuestos se pide el resultado.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2000" b="1" dirty="0">
                <a:solidFill>
                  <a:srgbClr val="2C5F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 validación sigue siendo humana:</a:t>
            </a:r>
            <a:r>
              <a:rPr lang="es-ES" sz="200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la IA produce respuestas </a:t>
            </a:r>
            <a:r>
              <a:rPr lang="es-ES" sz="2000" b="1" dirty="0">
                <a:solidFill>
                  <a:srgbClr val="0070C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plausibles</a:t>
            </a:r>
            <a:r>
              <a:rPr lang="es-ES" sz="200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s-ES" sz="2000" dirty="0">
                <a:solidFill>
                  <a:srgbClr val="EE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necesariamente correctas.</a:t>
            </a:r>
            <a:endParaRPr lang="es-ES" sz="2000" dirty="0">
              <a:solidFill>
                <a:srgbClr val="EE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 quienes no dominan Python o JavaScript: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ES" sz="18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es entender qué hacen las herramientas, no escribirlas.</a:t>
            </a:r>
            <a:endParaRPr lang="es-ES" sz="1800" dirty="0">
              <a:solidFill>
                <a:srgbClr val="0070C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86384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0" y="2331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el código, la exploración y la documentación cuando el problema ya está bien planteado.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635240" y="370332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863840" y="3886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63840" y="4343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 de dominio: elegir el dato, juzgar el supuesto y validar el resultado.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baja la barrera del código; por eso mismo sube el valor del criterio.</a:t>
            </a:r>
            <a:endParaRPr lang="en-US" sz="2000" dirty="0"/>
          </a:p>
        </p:txBody>
      </p:sp>
      <p:sp>
        <p:nvSpPr>
          <p:cNvPr id="12" name="FooterIzq">
            <a:extLst>
              <a:ext uri="{FF2B5EF4-FFF2-40B4-BE49-F238E27FC236}">
                <a16:creationId xmlns:a16="http://schemas.microsoft.com/office/drawing/2014/main" id="{5F865BBF-4AA5-4879-A86C-9FE2FE3D9CDA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3" name="FooterCentro">
            <a:extLst>
              <a:ext uri="{FF2B5EF4-FFF2-40B4-BE49-F238E27FC236}">
                <a16:creationId xmlns:a16="http://schemas.microsoft.com/office/drawing/2014/main" id="{4844B3FF-1EB0-4E78-ABA8-1462868F7958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4" name="FooterDer">
            <a:extLst>
              <a:ext uri="{FF2B5EF4-FFF2-40B4-BE49-F238E27FC236}">
                <a16:creationId xmlns:a16="http://schemas.microsoft.com/office/drawing/2014/main" id="{9865A048-798D-42DC-A21E-8CA56D58D967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7/40</a:t>
            </a:r>
          </a:p>
        </p:txBody>
      </p:sp>
    </p:spTree>
    <p:extLst>
      <p:ext uri="{BB962C8B-B14F-4D97-AF65-F5344CB8AC3E}">
        <p14:creationId xmlns:p14="http://schemas.microsoft.com/office/powerpoint/2010/main" val="331318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geográfico: el ecotono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bosque húmedo de Nothofagus a la estepa, en pocos kilómetros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Gradiente del bosque húmedo de Nothofagus a la estepa,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lo largo de Chubut.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productividad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cambian abruptamente en distancias muy cortas.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Régimen de incendios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notablemente alterado en las últimas décadas.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178808" y="3611880"/>
            <a:ext cx="3840480" cy="109728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78808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Chubut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mosaico es lo que ningún sensor describe por sí solo: de ahí el enfoque multisensor.</a:t>
            </a:r>
            <a:endParaRPr lang="en-US" sz="2000" dirty="0"/>
          </a:p>
        </p:txBody>
      </p:sp>
      <p:sp>
        <p:nvSpPr>
          <p:cNvPr id="12" name="FooterIzq">
            <a:extLst>
              <a:ext uri="{FF2B5EF4-FFF2-40B4-BE49-F238E27FC236}">
                <a16:creationId xmlns:a16="http://schemas.microsoft.com/office/drawing/2014/main" id="{95183FA1-BC81-4FCB-9D49-18343F5D66C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3" name="FooterCentro">
            <a:extLst>
              <a:ext uri="{FF2B5EF4-FFF2-40B4-BE49-F238E27FC236}">
                <a16:creationId xmlns:a16="http://schemas.microsoft.com/office/drawing/2014/main" id="{367F6FE1-EADC-4237-83C6-5D195BC7382D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4" name="FooterDer">
            <a:extLst>
              <a:ext uri="{FF2B5EF4-FFF2-40B4-BE49-F238E27FC236}">
                <a16:creationId xmlns:a16="http://schemas.microsoft.com/office/drawing/2014/main" id="{3CF622BE-3FC2-4624-92F3-3C7767248C8A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8/40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trabajamos: cobertura forestal del Chubut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áreas de interés sobre el gradiente bosque–estepa</a:t>
            </a:r>
          </a:p>
        </p:txBody>
      </p:sp>
      <p:sp>
        <p:nvSpPr>
          <p:cNvPr id="4" name="Text 2"/>
          <p:cNvSpPr/>
          <p:nvPr/>
        </p:nvSpPr>
        <p:spPr>
          <a:xfrm>
            <a:off x="3048000" y="1689100"/>
            <a:ext cx="8432800" cy="379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bosque nativo sobre la franja cordillerana; </a:t>
            </a: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ocre: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estepa patagónica.</a:t>
            </a:r>
            <a:endParaRPr lang="es-ES" sz="1800" dirty="0"/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transición ocurre en pocos kilómetros: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ese estrechamiento es el </a:t>
            </a:r>
            <a:r>
              <a:rPr lang="es-ES" sz="18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ecotono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ES" sz="1800" dirty="0"/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AOI en el noroeste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(recuadros rojos), elegidos para cubrir ambos lados de la transición.</a:t>
            </a:r>
            <a:endParaRPr lang="es-ES" sz="1800" dirty="0"/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s-E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trabajo:</a:t>
            </a:r>
            <a:r>
              <a:rPr lang="es-E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provincial para el contexto, de AOI para el ajuste y la validación.</a:t>
            </a:r>
            <a:endParaRPr lang="es-E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AOI no son arbitrarios: se ubican donde el gradiente cambia más rápido en menos distancia.</a:t>
            </a:r>
            <a:endParaRPr lang="en-US" sz="2000" dirty="0"/>
          </a:p>
        </p:txBody>
      </p:sp>
      <p:sp>
        <p:nvSpPr>
          <p:cNvPr id="12" name="FooterIzq">
            <a:extLst>
              <a:ext uri="{FF2B5EF4-FFF2-40B4-BE49-F238E27FC236}">
                <a16:creationId xmlns:a16="http://schemas.microsoft.com/office/drawing/2014/main" id="{5F865BBF-4AA5-4879-A86C-9FE2FE3D9CDA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3" name="FooterCentro">
            <a:extLst>
              <a:ext uri="{FF2B5EF4-FFF2-40B4-BE49-F238E27FC236}">
                <a16:creationId xmlns:a16="http://schemas.microsoft.com/office/drawing/2014/main" id="{4844B3FF-1EB0-4E78-ABA8-1462868F7958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4" name="FooterDer">
            <a:extLst>
              <a:ext uri="{FF2B5EF4-FFF2-40B4-BE49-F238E27FC236}">
                <a16:creationId xmlns:a16="http://schemas.microsoft.com/office/drawing/2014/main" id="{9865A048-798D-42DC-A21E-8CA56D58D967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9/40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9E1D5D-EAA1-0E1E-BA63-E8E615AD98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2000" contrast="18000"/>
          </a:blip>
          <a:stretch>
            <a:fillRect/>
          </a:stretch>
        </p:blipFill>
        <p:spPr>
          <a:xfrm>
            <a:off x="762000" y="1689100"/>
            <a:ext cx="1756645" cy="3797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527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gradiente oeste–este: del bosque a la estepa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Precipitación decreciente, estructura decreciente: el ecotono es la franja del medio</a:t>
            </a:r>
            <a:endParaRPr lang="en-US" sz="1600" dirty="0"/>
          </a:p>
        </p:txBody>
      </p:sp>
      <p:sp>
        <p:nvSpPr>
          <p:cNvPr id="12" name="FooterIzq">
            <a:extLst>
              <a:ext uri="{FF2B5EF4-FFF2-40B4-BE49-F238E27FC236}">
                <a16:creationId xmlns:a16="http://schemas.microsoft.com/office/drawing/2014/main" id="{95183FA1-BC81-4FCB-9D49-18343F5D66C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3" name="FooterCentro">
            <a:extLst>
              <a:ext uri="{FF2B5EF4-FFF2-40B4-BE49-F238E27FC236}">
                <a16:creationId xmlns:a16="http://schemas.microsoft.com/office/drawing/2014/main" id="{367F6FE1-EADC-4237-83C6-5D195BC7382D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4" name="FooterDer">
            <a:extLst>
              <a:ext uri="{FF2B5EF4-FFF2-40B4-BE49-F238E27FC236}">
                <a16:creationId xmlns:a16="http://schemas.microsoft.com/office/drawing/2014/main" id="{3CF622BE-3FC2-4624-92F3-3C7767248C8A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10/40</a:t>
            </a:r>
          </a:p>
        </p:txBody>
      </p:sp>
      <p:pic>
        <p:nvPicPr>
          <p:cNvPr id="210" name="Gradiente bosque-este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8" y="1234440"/>
            <a:ext cx="10241280" cy="5120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bosque nativo 2017 en los dos recintos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 y estepa, 15 × 15 km cada uno, sobre la misma grilla de 10 m</a:t>
            </a:r>
            <a:endParaRPr lang="en-US" sz="1800" dirty="0"/>
          </a:p>
        </p:txBody>
      </p:sp>
      <p:sp>
        <p:nvSpPr>
          <p:cNvPr id="12" name="FooterIzq">
            <a:extLst>
              <a:ext uri="{FF2B5EF4-FFF2-40B4-BE49-F238E27FC236}">
                <a16:creationId xmlns:a16="http://schemas.microsoft.com/office/drawing/2014/main" id="{95183FA1-BC81-4FCB-9D49-18343F5D66C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3" name="FooterCentro">
            <a:extLst>
              <a:ext uri="{FF2B5EF4-FFF2-40B4-BE49-F238E27FC236}">
                <a16:creationId xmlns:a16="http://schemas.microsoft.com/office/drawing/2014/main" id="{367F6FE1-EADC-4237-83C6-5D195BC7382D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4" name="FooterDer">
            <a:extLst>
              <a:ext uri="{FF2B5EF4-FFF2-40B4-BE49-F238E27FC236}">
                <a16:creationId xmlns:a16="http://schemas.microsoft.com/office/drawing/2014/main" id="{3CF622BE-3FC2-4624-92F3-3C7767248C8A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11/40</a:t>
            </a:r>
          </a:p>
        </p:txBody>
      </p:sp>
      <p:sp>
        <p:nvSpPr>
          <p:cNvPr id="200" name="Rotulo Bosque"/>
          <p:cNvSpPr txBox="1"/>
          <p:nvPr/>
        </p:nvSpPr>
        <p:spPr>
          <a:xfrm>
            <a:off x="566928" y="1572768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buNone/>
            </a:pPr>
            <a:r>
              <a:rPr lang="es-AR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Recinto de bosque</a:t>
            </a:r>
            <a:r>
              <a:rPr lang="es-AR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BOSQUE_NW_02</a:t>
            </a:r>
          </a:p>
        </p:txBody>
      </p:sp>
      <p:pic>
        <p:nvPicPr>
          <p:cNvPr id="201" name="Cobertura bosque 20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5440680" cy="3104388"/>
          </a:xfrm>
          <a:prstGeom prst="rect">
            <a:avLst/>
          </a:prstGeom>
        </p:spPr>
      </p:pic>
      <p:sp>
        <p:nvSpPr>
          <p:cNvPr id="202" name="Rotulo Estepa"/>
          <p:cNvSpPr txBox="1"/>
          <p:nvPr/>
        </p:nvSpPr>
        <p:spPr>
          <a:xfrm>
            <a:off x="6181344" y="1572768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buNone/>
            </a:pPr>
            <a:r>
              <a:rPr lang="es-AR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Recinto de estepa</a:t>
            </a:r>
            <a:r>
              <a:rPr lang="es-AR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ESTEPA_NW_02</a:t>
            </a:r>
          </a:p>
        </p:txBody>
      </p:sp>
      <p:pic>
        <p:nvPicPr>
          <p:cNvPr id="203" name="Cobertura estepa 2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993392"/>
            <a:ext cx="5440680" cy="3048324"/>
          </a:xfrm>
          <a:prstGeom prst="rect">
            <a:avLst/>
          </a:prstGeom>
        </p:spPr>
      </p:pic>
      <p:sp>
        <p:nvSpPr>
          <p:cNvPr id="204" name="Cierre"/>
          <p:cNvSpPr txBox="1"/>
          <p:nvPr/>
        </p:nvSpPr>
        <p:spPr>
          <a:xfrm>
            <a:off x="566928" y="5230368"/>
            <a:ext cx="110550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buNone/>
            </a:pPr>
            <a:r>
              <a:rPr lang="es-AR" sz="15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no es un caso menor: la estepa aporta el 84,6 % de su recinto y el bosque, el 89,8 % del suyo.</a:t>
            </a:r>
          </a:p>
        </p:txBody>
      </p:sp>
      <p:sp>
        <p:nvSpPr>
          <p:cNvPr id="205" name="Fuente"/>
          <p:cNvSpPr txBox="1"/>
          <p:nvPr/>
        </p:nvSpPr>
        <p:spPr>
          <a:xfrm>
            <a:off x="566928" y="5742432"/>
            <a:ext cx="1105509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buNone/>
            </a:pPr>
            <a:r>
              <a:rPr lang="es-AR" sz="1100" b="1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</a:t>
            </a:r>
            <a:r>
              <a:rPr lang="es-AR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Nacional de Monitoreo de Bosques Nativos, SNMBN (2017). Cobertura de Bosque de la Región Bosque Andino Patagónico, provincia de Chubut 2017 [Conjunto de datos geográficos vectoriales, escala 1:40.000, versión Cobertura BAP 1.0]. Centro de Información Ambiental (CIAM). https://ciam.ambiente.gob.ar/geovisor.php?layer_id=477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26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multisensor?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sensor responde a una propiedad distinta del terreno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3C6E8F"/>
          </a:solidFill>
          <a:ln w="12700">
            <a:solidFill>
              <a:srgbClr val="3C6E8F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3520440" cy="86868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</a:t>
            </a:r>
            <a:endParaRPr lang="en-US" sz="1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· Landsat-9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2542032"/>
            <a:ext cx="3520440" cy="280800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 w="12700">
            <a:solidFill>
              <a:srgbClr val="3C6E8F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68096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Reflectancia y color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de vegetación (NDVI, EVI)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y vigor foliar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i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nubes y saturación en dosel denso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8C6D3F"/>
          </a:solidFill>
          <a:ln w="12700">
            <a:solidFill>
              <a:srgbClr val="8C6D3F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334256" y="1600200"/>
            <a:ext cx="3520440" cy="86868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(SAR)</a:t>
            </a:r>
            <a:endParaRPr lang="en-US" sz="1900" dirty="0"/>
          </a:p>
          <a:p>
            <a:pPr algn="ctr">
              <a:lnSpc>
                <a:spcPct val="110000"/>
              </a:lnSpc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· PALSAR · SAOCOM · NISAR · BIOMASS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34256" y="2542032"/>
            <a:ext cx="3520440" cy="280800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 w="12700">
            <a:solidFill>
              <a:srgbClr val="8C6D3F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35424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humedad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Penetración de nubes (todo el tiempo)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L y S: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penetración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dosel</a:t>
            </a:r>
            <a:endParaRPr lang="en-US" sz="1400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Banda P: mayor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penetración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i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saturación en biomasa alta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4D7A51"/>
          </a:solidFill>
          <a:ln w="12700">
            <a:solidFill>
              <a:srgbClr val="4D7A5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101584" y="1600200"/>
            <a:ext cx="3520440" cy="86868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· </a:t>
            </a:r>
            <a:r>
              <a:rPr lang="en-US" sz="1300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ICESat2_ATLAS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01584" y="2542032"/>
            <a:ext cx="3520440" cy="280800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 w="12700">
            <a:solidFill>
              <a:srgbClr val="4D7A5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302752" y="2697480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vertical 3D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de dosel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</a:t>
            </a:r>
            <a:endParaRPr lang="en-US" sz="1400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i="1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</a:t>
            </a:r>
            <a:r>
              <a:rPr lang="en-US" sz="1400" i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cobertura espacial parcial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Procesados con aprendizaje automático, el enfoque multisensor se ha consolidado como referencia en paisajes heterogéneos.</a:t>
            </a:r>
            <a:endParaRPr lang="en-US" sz="1700" dirty="0"/>
          </a:p>
        </p:txBody>
      </p:sp>
      <p:sp>
        <p:nvSpPr>
          <p:cNvPr id="17" name="FooterIzq">
            <a:extLst>
              <a:ext uri="{FF2B5EF4-FFF2-40B4-BE49-F238E27FC236}">
                <a16:creationId xmlns:a16="http://schemas.microsoft.com/office/drawing/2014/main" id="{9BC788C4-7777-4A76-93A7-BC5CA0AE2FC0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8" name="FooterCentro">
            <a:extLst>
              <a:ext uri="{FF2B5EF4-FFF2-40B4-BE49-F238E27FC236}">
                <a16:creationId xmlns:a16="http://schemas.microsoft.com/office/drawing/2014/main" id="{C47F3083-9906-47B8-AF50-50FFFB3E2144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9" name="FooterDer">
            <a:extLst>
              <a:ext uri="{FF2B5EF4-FFF2-40B4-BE49-F238E27FC236}">
                <a16:creationId xmlns:a16="http://schemas.microsoft.com/office/drawing/2014/main" id="{5EA0DF09-D4DB-4558-93BC-DC4F05509A5D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12/40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ruta: los siete apartados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completo de la exposición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86968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8696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5146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y gestión de incendios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56432" y="173736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0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en biomasa combustible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7064" y="173736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428232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2823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Diluvio de datos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97696" y="173736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9198864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19886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98864" y="25146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plataformas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86968" y="39044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8696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44805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en flujos de trabajo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56432" y="37033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657600" y="39044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6576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44805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abierto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27064" y="37033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428232" y="39044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428232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28232" y="44805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Alcances y limitaciones</a:t>
            </a:r>
            <a:endParaRPr lang="en-US" sz="1500" dirty="0"/>
          </a:p>
        </p:txBody>
      </p:sp>
      <p:sp>
        <p:nvSpPr>
          <p:cNvPr id="33" name="FooterIzq">
            <a:extLst>
              <a:ext uri="{FF2B5EF4-FFF2-40B4-BE49-F238E27FC236}">
                <a16:creationId xmlns:a16="http://schemas.microsoft.com/office/drawing/2014/main" id="{73C31E1B-CBFF-485E-8B66-7E97FEEC42B0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34" name="FooterCentro">
            <a:extLst>
              <a:ext uri="{FF2B5EF4-FFF2-40B4-BE49-F238E27FC236}">
                <a16:creationId xmlns:a16="http://schemas.microsoft.com/office/drawing/2014/main" id="{F6121A6A-A22C-4322-9335-5EBF199A1C6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35" name="FooterDer">
            <a:extLst>
              <a:ext uri="{FF2B5EF4-FFF2-40B4-BE49-F238E27FC236}">
                <a16:creationId xmlns:a16="http://schemas.microsoft.com/office/drawing/2014/main" id="{7D54DD5B-B33B-46D0-84B7-9B281034DD41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13/40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supresión a la anticipación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giro de la gestión del fuego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décadas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6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fuego se gestionó como respuesta: detectar y suprimir.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19672" y="169164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793992" y="1874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Giro reciente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2128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93992" y="27889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anticipatoria basada en datos, previa a la ignición.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70448" y="2514600"/>
            <a:ext cx="502920" cy="411480"/>
          </a:xfrm>
          <a:prstGeom prst="rightArrow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 et al. (2020)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 todo el ciclo: ocurrencia, combustibles, detección temprana, comportamiento e impactos.</a:t>
            </a:r>
            <a:endParaRPr lang="en-US" sz="180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dimensionar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dónde llega hoy la herramienta y dónde sigue siendo un intento.</a:t>
            </a:r>
            <a:endParaRPr lang="en-US" sz="1800" dirty="0">
              <a:solidFill>
                <a:srgbClr val="EE0000"/>
              </a:solidFill>
            </a:endParaRPr>
          </a:p>
        </p:txBody>
      </p:sp>
      <p:sp>
        <p:nvSpPr>
          <p:cNvPr id="14" name="FooterIzq">
            <a:extLst>
              <a:ext uri="{FF2B5EF4-FFF2-40B4-BE49-F238E27FC236}">
                <a16:creationId xmlns:a16="http://schemas.microsoft.com/office/drawing/2014/main" id="{19759F08-4000-48EC-895A-52D42419D4F8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5" name="FooterCentro">
            <a:extLst>
              <a:ext uri="{FF2B5EF4-FFF2-40B4-BE49-F238E27FC236}">
                <a16:creationId xmlns:a16="http://schemas.microsoft.com/office/drawing/2014/main" id="{0F28D765-84F9-40EB-BCFF-61D0A34B3A9D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6" name="FooterDer">
            <a:extLst>
              <a:ext uri="{FF2B5EF4-FFF2-40B4-BE49-F238E27FC236}">
                <a16:creationId xmlns:a16="http://schemas.microsoft.com/office/drawing/2014/main" id="{FF9DBC6E-8977-49E3-8064-9B9C6269F3FD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14/40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el peligro: modelos e interpretabilidad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exactitud a la adopción operativa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profundas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integran meteorología, estado de la vegetación y teledetección sin especificar cada relación.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Kondylatos et al. (2022):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interpretabilidad. </a:t>
            </a:r>
            <a:r>
              <a:rPr lang="en-US" sz="19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organismo adopta una caja negra.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Apostolakis et al. (2022), Ejaz y Choudhury (2025), Xu, Z. et al. (2025):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flujos completos de riesgo diario.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regional: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Gajardo et al. (2025) y Jaque Castillo et al. (2021) en Chile; </a:t>
            </a:r>
            <a:r>
              <a:rPr lang="en-US" sz="19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Barberá et al. (2025) 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noroeste patagónico.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55046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Barberá et al. (2025): clima, acumulación de combustible y alternancia de bosque y matorral en el propio ecotono.</a:t>
            </a:r>
            <a:endParaRPr lang="en-US" sz="1700" dirty="0"/>
          </a:p>
        </p:txBody>
      </p:sp>
      <p:sp>
        <p:nvSpPr>
          <p:cNvPr id="6" name="FooterIzq">
            <a:extLst>
              <a:ext uri="{FF2B5EF4-FFF2-40B4-BE49-F238E27FC236}">
                <a16:creationId xmlns:a16="http://schemas.microsoft.com/office/drawing/2014/main" id="{71142185-C0E3-4E0A-B25F-116E27623E1D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7" name="FooterCentro">
            <a:extLst>
              <a:ext uri="{FF2B5EF4-FFF2-40B4-BE49-F238E27FC236}">
                <a16:creationId xmlns:a16="http://schemas.microsoft.com/office/drawing/2014/main" id="{D7D757C2-A665-43B0-A198-76B272104F0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8" name="FooterDer">
            <a:extLst>
              <a:ext uri="{FF2B5EF4-FFF2-40B4-BE49-F238E27FC236}">
                <a16:creationId xmlns:a16="http://schemas.microsoft.com/office/drawing/2014/main" id="{A83FD053-B3BF-45A1-A7CA-6F5DE599D0AB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15/40</a:t>
            </a:r>
          </a:p>
        </p:txBody>
      </p:sp>
    </p:spTree>
    <p:extLst>
      <p:ext uri="{BB962C8B-B14F-4D97-AF65-F5344CB8AC3E}">
        <p14:creationId xmlns:p14="http://schemas.microsoft.com/office/powerpoint/2010/main" val="3501115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Cartografía de combustibles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riesgo al mapa: qué arde y dónde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Alipour et al. (2023):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fusión multisensor con aprendizaje profundo a gran escala.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Carbone et al. (2023):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redes convolucionales para clasificar tipos de combustible.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Sismanis et al. (2024)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series temporales de Sentinel-2; </a:t>
            </a: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Solares-Canal et al. (2023)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combinando ALS y Sentinel-2.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carga de combustible es biomasa vista desde el riesgo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(Abdollahi y Yebra, 2025).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es el puente entre la gestión del fuego y la teledetección cuantitativa.</a:t>
            </a:r>
            <a:endParaRPr lang="en-US" sz="1700" dirty="0"/>
          </a:p>
        </p:txBody>
      </p:sp>
      <p:sp>
        <p:nvSpPr>
          <p:cNvPr id="6" name="FooterIzq">
            <a:extLst>
              <a:ext uri="{FF2B5EF4-FFF2-40B4-BE49-F238E27FC236}">
                <a16:creationId xmlns:a16="http://schemas.microsoft.com/office/drawing/2014/main" id="{B75A099F-3435-46E7-8E65-B53025C585B2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7" name="FooterCentro">
            <a:extLst>
              <a:ext uri="{FF2B5EF4-FFF2-40B4-BE49-F238E27FC236}">
                <a16:creationId xmlns:a16="http://schemas.microsoft.com/office/drawing/2014/main" id="{7D629AD7-0413-41A7-9B23-9CC7926E8B5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8" name="FooterDer">
            <a:extLst>
              <a:ext uri="{FF2B5EF4-FFF2-40B4-BE49-F238E27FC236}">
                <a16:creationId xmlns:a16="http://schemas.microsoft.com/office/drawing/2014/main" id="{9EF7230F-E1B1-4A4E-8176-23DE60626AE9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16/40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tercera dimensión: humedad del combustible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la inflamabilidad y la velocidad de propagación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Combustible vivo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Rao et al. (2020) con SAR.</a:t>
            </a:r>
            <a:endParaRPr lang="en-US" sz="15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et al. (2024), seguimiento sub-diario con Himawari-8.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Combustible fino muerto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Z. et al. (2024) con Landsat.</a:t>
            </a:r>
            <a:endParaRPr lang="en-US" sz="15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W. et al. (2025) con fusión y aprendizaje profundo.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operativo: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Watt et al. (2025) proponen una hoja de ruta para un sistema en tiempo casi real.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Pertinente para el ecotono,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donde la estacionalidad hídrica gobierna la disponibilidad de combustible.</a:t>
            </a:r>
            <a:endParaRPr lang="en-US" sz="1800" dirty="0"/>
          </a:p>
        </p:txBody>
      </p:sp>
      <p:sp>
        <p:nvSpPr>
          <p:cNvPr id="11" name="FooterIzq">
            <a:extLst>
              <a:ext uri="{FF2B5EF4-FFF2-40B4-BE49-F238E27FC236}">
                <a16:creationId xmlns:a16="http://schemas.microsoft.com/office/drawing/2014/main" id="{79C7A84A-AB7B-4C9C-B025-2A69E86AC732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2" name="FooterCentro">
            <a:extLst>
              <a:ext uri="{FF2B5EF4-FFF2-40B4-BE49-F238E27FC236}">
                <a16:creationId xmlns:a16="http://schemas.microsoft.com/office/drawing/2014/main" id="{8315D436-85AB-45CD-BCDC-21F3093F1CD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3" name="FooterDer">
            <a:extLst>
              <a:ext uri="{FF2B5EF4-FFF2-40B4-BE49-F238E27FC236}">
                <a16:creationId xmlns:a16="http://schemas.microsoft.com/office/drawing/2014/main" id="{15FF03E1-5997-4F51-BBE3-2CAFFC990AB9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17/40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núcleo: la biomasa como problema de regresión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correlación empírica al ajuste no lineal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planteo: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relacionar variables derivadas de sensores con mediciones de biomasa en el terreno.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es una regresión compleja: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relaciones no lineales y rara vez nítidas.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aprendizaje automático desplazó a los modelos empíricos lineales tradicionales.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78308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138160" y="2057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f (X)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13816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lineal, ruidosa y dependiente del sitio.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0" y="3794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el ajuste importa tanto como el sensor.</a:t>
            </a:r>
            <a:endParaRPr lang="en-US" sz="1600" dirty="0">
              <a:solidFill>
                <a:srgbClr val="EE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5394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empieza el contenido que sostiene los cinco trabajos prácticos del curso.</a:t>
            </a:r>
            <a:endParaRPr lang="en-US" sz="1700" dirty="0"/>
          </a:p>
        </p:txBody>
      </p:sp>
      <p:sp>
        <p:nvSpPr>
          <p:cNvPr id="10" name="FooterIzq">
            <a:extLst>
              <a:ext uri="{FF2B5EF4-FFF2-40B4-BE49-F238E27FC236}">
                <a16:creationId xmlns:a16="http://schemas.microsoft.com/office/drawing/2014/main" id="{C57A76A4-7A28-435D-AF73-B7807720E65F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1" name="FooterCentro">
            <a:extLst>
              <a:ext uri="{FF2B5EF4-FFF2-40B4-BE49-F238E27FC236}">
                <a16:creationId xmlns:a16="http://schemas.microsoft.com/office/drawing/2014/main" id="{011A244D-5D69-4AAC-8C2C-3E6EA449806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2" name="FooterDer">
            <a:extLst>
              <a:ext uri="{FF2B5EF4-FFF2-40B4-BE49-F238E27FC236}">
                <a16:creationId xmlns:a16="http://schemas.microsoft.com/office/drawing/2014/main" id="{602A3529-D707-48CE-861F-EBBDA105A368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18/40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de la </a:t>
            </a:r>
            <a:r>
              <a:rPr lang="en-US" sz="26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20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gana la estimación cuando se suman sensors?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270589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Y. et al. (2020):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Landsat 8 + Sentinel-1A mejora la exactitud frente a un solo sensor.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C. et al. (2024):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Sentinel-1, Sentinel-2, ALOS PALSAR-2 y GEDI.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D. et al. (2025):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 sobre datos multifuente.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 et al. (2023):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comparación sistemática que aporta criterios objetivos de selección.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Arquitecturas específicas: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DeepBioFusion (Hanan et al., 2025) y Hemati et al. (2024).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540559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bosque aleatorio (Random Forest) de potenciación del gradiente (Gradient Boosting): no son familias intercambiables.</a:t>
            </a:r>
            <a:endParaRPr lang="en-US" sz="1700" dirty="0"/>
          </a:p>
        </p:txBody>
      </p:sp>
      <p:sp>
        <p:nvSpPr>
          <p:cNvPr id="6" name="FooterIzq">
            <a:extLst>
              <a:ext uri="{FF2B5EF4-FFF2-40B4-BE49-F238E27FC236}">
                <a16:creationId xmlns:a16="http://schemas.microsoft.com/office/drawing/2014/main" id="{6CE0DC7B-F92C-411E-93A8-EDADDAFAB006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7" name="FooterCentro">
            <a:extLst>
              <a:ext uri="{FF2B5EF4-FFF2-40B4-BE49-F238E27FC236}">
                <a16:creationId xmlns:a16="http://schemas.microsoft.com/office/drawing/2014/main" id="{989FC406-C411-4D72-8801-14A8BB1B5659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8" name="FooterDer">
            <a:extLst>
              <a:ext uri="{FF2B5EF4-FFF2-40B4-BE49-F238E27FC236}">
                <a16:creationId xmlns:a16="http://schemas.microsoft.com/office/drawing/2014/main" id="{8138E082-0EB9-4036-A2B3-40EA0652857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19/40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Pastizal y estepa: la mitad relegada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estepa no es un caso menor del bosque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et al. (2022):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biomasa de pastizales de altura con Sentinel-2 y bosque aleatorio.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Rapiya et al. (2023):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biomasa estacional con Sentinel-1 y Sentinel-2, </a:t>
            </a:r>
            <a:r>
              <a:rPr lang="en-US" sz="19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análogo directo de la estepa patagónica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D’Este et al. (2021) y Bao et al. (2022):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traslado de la estimación a la carga de combustible.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0120" y="47091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estepa tiene antecedentes metodológicos propios: no se resuelve extrapolando lo del bosque.</a:t>
            </a:r>
            <a:endParaRPr lang="en-US" sz="1800" dirty="0"/>
          </a:p>
        </p:txBody>
      </p:sp>
      <p:sp>
        <p:nvSpPr>
          <p:cNvPr id="7" name="FooterIzq">
            <a:extLst>
              <a:ext uri="{FF2B5EF4-FFF2-40B4-BE49-F238E27FC236}">
                <a16:creationId xmlns:a16="http://schemas.microsoft.com/office/drawing/2014/main" id="{0BACC1F2-4D92-4F38-9FB6-15166595A5E3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8" name="FooterCentro">
            <a:extLst>
              <a:ext uri="{FF2B5EF4-FFF2-40B4-BE49-F238E27FC236}">
                <a16:creationId xmlns:a16="http://schemas.microsoft.com/office/drawing/2014/main" id="{C43B7BB2-9020-4E72-8D90-B98260895DC0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" name="FooterDer">
            <a:extLst>
              <a:ext uri="{FF2B5EF4-FFF2-40B4-BE49-F238E27FC236}">
                <a16:creationId xmlns:a16="http://schemas.microsoft.com/office/drawing/2014/main" id="{78CA4BA1-293D-4F2B-B683-1C02490CE253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20/40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banda L y soberanía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longitud de onda cambia lo que se mide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C6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C · 5,6 cm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temporal extensa y geometría estable. Satura pronto en dosel denso.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L · 23,5 cm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· NISAR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penetración en el dosel y mayor sensibilidad a la fracción leñosa.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Seppi et al. (2022):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coherencia interferométrica del SAOCOM en banda L frente a la banda C de Sentinel-1.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Buss et al. (2026):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polarimetría del SAOCOM-1A sobre el Caldén semiárido argentino.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inmediato: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misión </a:t>
            </a:r>
            <a:r>
              <a:rPr lang="en-US" sz="17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(NASA-ISRO), bandas L y </a:t>
            </a:r>
            <a:r>
              <a:rPr lang="en-US" sz="17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productos de acceso abierto.</a:t>
            </a:r>
            <a:endParaRPr lang="en-US" sz="1700" dirty="0"/>
          </a:p>
        </p:txBody>
      </p:sp>
      <p:sp>
        <p:nvSpPr>
          <p:cNvPr id="13" name="FooterIzq">
            <a:extLst>
              <a:ext uri="{FF2B5EF4-FFF2-40B4-BE49-F238E27FC236}">
                <a16:creationId xmlns:a16="http://schemas.microsoft.com/office/drawing/2014/main" id="{4BCE04AA-FB35-4491-AD7C-D80247B1824C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4" name="FooterCentro">
            <a:extLst>
              <a:ext uri="{FF2B5EF4-FFF2-40B4-BE49-F238E27FC236}">
                <a16:creationId xmlns:a16="http://schemas.microsoft.com/office/drawing/2014/main" id="{589C4DB7-C35B-4EAE-8B3B-A6135953C825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5" name="FooterDer">
            <a:extLst>
              <a:ext uri="{FF2B5EF4-FFF2-40B4-BE49-F238E27FC236}">
                <a16:creationId xmlns:a16="http://schemas.microsoft.com/office/drawing/2014/main" id="{E1141EB0-DD09-4AA9-A8D7-6B66B3E3CA5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21/40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P: el escalón que faltaba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 y la señal que llega al tronco</a:t>
            </a:r>
            <a:endParaRPr lang="en-US" sz="2000" dirty="0"/>
          </a:p>
        </p:txBody>
      </p:sp>
      <p:sp>
        <p:nvSpPr>
          <p:cNvPr id="13" name="FooterIzq">
            <a:extLst>
              <a:ext uri="{FF2B5EF4-FFF2-40B4-BE49-F238E27FC236}">
                <a16:creationId xmlns:a16="http://schemas.microsoft.com/office/drawing/2014/main" id="{4BCE04AA-FB35-4491-AD7C-D80247B1824C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4" name="FooterCentro">
            <a:extLst>
              <a:ext uri="{FF2B5EF4-FFF2-40B4-BE49-F238E27FC236}">
                <a16:creationId xmlns:a16="http://schemas.microsoft.com/office/drawing/2014/main" id="{589C4DB7-C35B-4EAE-8B3B-A6135953C825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5" name="FooterDer">
            <a:extLst>
              <a:ext uri="{FF2B5EF4-FFF2-40B4-BE49-F238E27FC236}">
                <a16:creationId xmlns:a16="http://schemas.microsoft.com/office/drawing/2014/main" id="{E1141EB0-DD09-4AA9-A8D7-6B66B3E3CA5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22/40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FAA1CC1-DF9F-45B7-84D8-2697147DEDE6}"/>
              </a:ext>
            </a:extLst>
          </p:cNvPr>
          <p:cNvSpPr txBox="1"/>
          <p:nvPr/>
        </p:nvSpPr>
        <p:spPr>
          <a:xfrm>
            <a:off x="558800" y="1676400"/>
            <a:ext cx="2260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>
                <a:solidFill>
                  <a:srgbClr val="212121"/>
                </a:solidFill>
                <a:latin typeface="Arial"/>
                <a:cs typeface="Arial"/>
              </a:rPr>
              <a:t>Banda C · 5,6 cm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54E5B3-B816-4A21-B3B4-1CB3AB1DF612}"/>
              </a:ext>
            </a:extLst>
          </p:cNvPr>
          <p:cNvSpPr/>
          <p:nvPr/>
        </p:nvSpPr>
        <p:spPr>
          <a:xfrm>
            <a:off x="2946400" y="1676400"/>
            <a:ext cx="673100" cy="330200"/>
          </a:xfrm>
          <a:prstGeom prst="rect">
            <a:avLst/>
          </a:prstGeom>
          <a:solidFill>
            <a:srgbClr val="54765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2BDD68A-8ADB-4B80-9FF0-1EA3877D5EA3}"/>
              </a:ext>
            </a:extLst>
          </p:cNvPr>
          <p:cNvSpPr txBox="1"/>
          <p:nvPr/>
        </p:nvSpPr>
        <p:spPr>
          <a:xfrm>
            <a:off x="3746500" y="1676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>
                <a:solidFill>
                  <a:srgbClr val="595959"/>
                </a:solidFill>
                <a:latin typeface="Arial"/>
                <a:cs typeface="Arial"/>
              </a:rPr>
              <a:t>Sentinel‑1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6FAD8C2-6374-4AF1-A947-D8C39141A044}"/>
              </a:ext>
            </a:extLst>
          </p:cNvPr>
          <p:cNvSpPr txBox="1"/>
          <p:nvPr/>
        </p:nvSpPr>
        <p:spPr>
          <a:xfrm>
            <a:off x="558800" y="2108200"/>
            <a:ext cx="2260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>
                <a:solidFill>
                  <a:srgbClr val="212121"/>
                </a:solidFill>
                <a:latin typeface="Arial"/>
                <a:cs typeface="Arial"/>
              </a:rPr>
              <a:t>Banda L · 23,5 cm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A0665F-AC86-4BFB-92F8-A1060DA67E27}"/>
              </a:ext>
            </a:extLst>
          </p:cNvPr>
          <p:cNvSpPr/>
          <p:nvPr/>
        </p:nvSpPr>
        <p:spPr>
          <a:xfrm>
            <a:off x="2946400" y="2108200"/>
            <a:ext cx="2844800" cy="330200"/>
          </a:xfrm>
          <a:prstGeom prst="rect">
            <a:avLst/>
          </a:prstGeom>
          <a:solidFill>
            <a:srgbClr val="3E6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SAOCOM · NISAR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1A65C3-BD2C-4284-8CE0-6B870CCD6AF6}"/>
              </a:ext>
            </a:extLst>
          </p:cNvPr>
          <p:cNvSpPr txBox="1"/>
          <p:nvPr/>
        </p:nvSpPr>
        <p:spPr>
          <a:xfrm>
            <a:off x="558800" y="2540000"/>
            <a:ext cx="2260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>
                <a:solidFill>
                  <a:srgbClr val="212121"/>
                </a:solidFill>
                <a:latin typeface="Arial"/>
                <a:cs typeface="Arial"/>
              </a:rPr>
              <a:t>Banda P · ~70 cm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A9E9C9C-A431-41EE-8701-59B3A63816A6}"/>
              </a:ext>
            </a:extLst>
          </p:cNvPr>
          <p:cNvSpPr/>
          <p:nvPr/>
        </p:nvSpPr>
        <p:spPr>
          <a:xfrm>
            <a:off x="2946400" y="2540000"/>
            <a:ext cx="8483600" cy="330200"/>
          </a:xfrm>
          <a:prstGeom prst="rect">
            <a:avLst/>
          </a:prstGeom>
          <a:solidFill>
            <a:srgbClr val="2C5F2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BIOMASS (ESA) · primer SAR en banda P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E2CA26F-F65B-47C5-B1E7-1E01DB96DD7B}"/>
              </a:ext>
            </a:extLst>
          </p:cNvPr>
          <p:cNvSpPr/>
          <p:nvPr/>
        </p:nvSpPr>
        <p:spPr>
          <a:xfrm>
            <a:off x="685800" y="3149600"/>
            <a:ext cx="5257800" cy="2336800"/>
          </a:xfrm>
          <a:prstGeom prst="roundRect">
            <a:avLst/>
          </a:prstGeom>
          <a:solidFill>
            <a:srgbClr val="F5F5F5"/>
          </a:solidFill>
          <a:ln w="19050" cap="flat" cmpd="sng" algn="ctr">
            <a:solidFill>
              <a:srgbClr val="C8D2C8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6765F63-160D-4544-B7B5-ADEA63AF06B6}"/>
              </a:ext>
            </a:extLst>
          </p:cNvPr>
          <p:cNvSpPr txBox="1"/>
          <p:nvPr/>
        </p:nvSpPr>
        <p:spPr>
          <a:xfrm>
            <a:off x="965200" y="3327400"/>
            <a:ext cx="4711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b="1">
                <a:solidFill>
                  <a:srgbClr val="2C5F2D"/>
                </a:solidFill>
                <a:latin typeface="Arial"/>
                <a:cs typeface="Arial"/>
              </a:rPr>
              <a:t>Qué aporta la banda P</a:t>
            </a:r>
            <a:endParaRPr lang="es-ES" b="1">
              <a:solidFill>
                <a:srgbClr val="2C5F2D"/>
              </a:solidFill>
              <a:latin typeface="Arial"/>
              <a:cs typeface="Ari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79E03F8-4FAB-4045-BE49-CBB0709C4AFB}"/>
              </a:ext>
            </a:extLst>
          </p:cNvPr>
          <p:cNvSpPr txBox="1"/>
          <p:nvPr/>
        </p:nvSpPr>
        <p:spPr>
          <a:xfrm>
            <a:off x="965200" y="3733800"/>
            <a:ext cx="47117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MX" sz="1400" dirty="0">
                <a:solidFill>
                  <a:srgbClr val="212121"/>
                </a:solidFill>
                <a:latin typeface="Arial"/>
                <a:cs typeface="Arial"/>
              </a:rPr>
              <a:t>Penetra el dosel y responde a troncos y ramas gruesas, donde está la mayor parte del carbono.
Satura mucho más tarde que C y L: mide donde las otras bandas ya no distinguen.
Sensible a la fracción leñosa, no a la hoja.</a:t>
            </a:r>
            <a:endParaRPr lang="es-ES" sz="1400" dirty="0">
              <a:solidFill>
                <a:srgbClr val="212121"/>
              </a:solidFill>
              <a:latin typeface="Arial"/>
              <a:cs typeface="Arial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336CF5E5-57EE-4828-95E0-55E56F72B7F6}"/>
              </a:ext>
            </a:extLst>
          </p:cNvPr>
          <p:cNvSpPr/>
          <p:nvPr/>
        </p:nvSpPr>
        <p:spPr>
          <a:xfrm>
            <a:off x="6223000" y="3149600"/>
            <a:ext cx="5257800" cy="2336800"/>
          </a:xfrm>
          <a:prstGeom prst="roundRect">
            <a:avLst/>
          </a:prstGeom>
          <a:solidFill>
            <a:srgbClr val="F5F5F5"/>
          </a:solidFill>
          <a:ln w="19050" cap="flat" cmpd="sng" algn="ctr">
            <a:solidFill>
              <a:srgbClr val="C8D2C8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7F6C05D-570B-4E28-A939-8794F0CA905B}"/>
              </a:ext>
            </a:extLst>
          </p:cNvPr>
          <p:cNvSpPr txBox="1"/>
          <p:nvPr/>
        </p:nvSpPr>
        <p:spPr>
          <a:xfrm>
            <a:off x="6502400" y="3327400"/>
            <a:ext cx="4711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b="1">
                <a:solidFill>
                  <a:srgbClr val="2C5F2D"/>
                </a:solidFill>
                <a:latin typeface="Arial"/>
                <a:cs typeface="Arial"/>
              </a:rPr>
              <a:t>La misión, en datos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16C50F-1D0A-4893-BEDD-AAB98C6264E5}"/>
              </a:ext>
            </a:extLst>
          </p:cNvPr>
          <p:cNvSpPr txBox="1"/>
          <p:nvPr/>
        </p:nvSpPr>
        <p:spPr>
          <a:xfrm>
            <a:off x="6502400" y="3733800"/>
            <a:ext cx="47117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MX" sz="1400" dirty="0">
                <a:solidFill>
                  <a:srgbClr val="212121"/>
                </a:solidFill>
                <a:latin typeface="Arial"/>
                <a:cs typeface="Arial"/>
              </a:rPr>
              <a:t>Lanzada el 29/04/2025 · primer SAR en banda P en órbita.</a:t>
            </a:r>
          </a:p>
          <a:p>
            <a:pPr algn="just"/>
            <a:r>
              <a:rPr lang="es-MX" sz="1400" dirty="0">
                <a:solidFill>
                  <a:srgbClr val="212121"/>
                </a:solidFill>
                <a:latin typeface="Arial"/>
                <a:cs typeface="Arial"/>
              </a:rPr>
              <a:t>Reflector de malla desplegable de 12 m.</a:t>
            </a:r>
          </a:p>
          <a:p>
            <a:pPr algn="just"/>
            <a:r>
              <a:rPr lang="es-MX" sz="1400" dirty="0">
                <a:solidFill>
                  <a:srgbClr val="212121"/>
                </a:solidFill>
                <a:latin typeface="Arial"/>
                <a:cs typeface="Arial"/>
              </a:rPr>
              <a:t>Biomasa y altura a 200 m; disturbio a 50 m, cada 6 meses.</a:t>
            </a:r>
          </a:p>
          <a:p>
            <a:pPr algn="just"/>
            <a:r>
              <a:rPr lang="es-MX" sz="1400" dirty="0">
                <a:solidFill>
                  <a:srgbClr val="212121"/>
                </a:solidFill>
                <a:latin typeface="Arial"/>
                <a:cs typeface="Arial"/>
              </a:rPr>
              <a:t>Nivel 1 abierto desde enero de 2026; Nivel 2 en liberación por fases durante 2026.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088EEAB-2F89-4337-A591-9A39E5E15635}"/>
              </a:ext>
            </a:extLst>
          </p:cNvPr>
          <p:cNvSpPr txBox="1"/>
          <p:nvPr/>
        </p:nvSpPr>
        <p:spPr>
          <a:xfrm>
            <a:off x="685800" y="5588000"/>
            <a:ext cx="10795000" cy="8771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buNone/>
            </a:pPr>
            <a:r>
              <a:rPr lang="es-ES" sz="16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 la escala: dentro del AOI los 200 m sirven para estadísticas y validación de paisaje, pero no para interpretar detalles menores a ese soporte.</a:t>
            </a:r>
          </a:p>
          <a:p>
            <a:pPr algn="just">
              <a:lnSpc>
                <a:spcPts val="600"/>
              </a:lnSpc>
              <a:buNone/>
            </a:pPr>
            <a:endParaRPr lang="es-ES" sz="1600" i="1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>
              <a:buNone/>
            </a:pPr>
            <a:r>
              <a:rPr lang="es-ES" sz="1400" i="1" dirty="0">
                <a:solidFill>
                  <a:srgbClr val="595959"/>
                </a:solidFill>
                <a:latin typeface="Arial" pitchFamily="34" charset="0"/>
                <a:cs typeface="Arial" pitchFamily="34" charset="-120"/>
              </a:rPr>
              <a:t>Fuente: </a:t>
            </a:r>
            <a:r>
              <a:rPr lang="es-ES" sz="1400" dirty="0">
                <a:solidFill>
                  <a:srgbClr val="595959"/>
                </a:solidFill>
                <a:latin typeface="Arial" pitchFamily="34" charset="0"/>
                <a:cs typeface="Arial" pitchFamily="34" charset="-120"/>
              </a:rPr>
              <a:t>ESA (2026). Biomass (Earth Explorer 7). https://www.esa.int/Applications/Observing_the_Earth/FutureEO/Biomass</a:t>
            </a:r>
          </a:p>
        </p:txBody>
      </p:sp>
    </p:spTree>
    <p:extLst>
      <p:ext uri="{BB962C8B-B14F-4D97-AF65-F5344CB8AC3E}">
        <p14:creationId xmlns:p14="http://schemas.microsoft.com/office/powerpoint/2010/main" val="2581025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200 m de BIOMASS: qué permiten y qué 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 de escalas en AOI de 15 × 15 km</a:t>
            </a:r>
            <a:endParaRPr lang="en-US" sz="2000" dirty="0"/>
          </a:p>
        </p:txBody>
      </p:sp>
      <p:sp>
        <p:nvSpPr>
          <p:cNvPr id="13" name="FooterIzq">
            <a:extLst>
              <a:ext uri="{FF2B5EF4-FFF2-40B4-BE49-F238E27FC236}">
                <a16:creationId xmlns:a16="http://schemas.microsoft.com/office/drawing/2014/main" id="{4BCE04AA-FB35-4491-AD7C-D80247B1824C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4" name="FooterCentro">
            <a:extLst>
              <a:ext uri="{FF2B5EF4-FFF2-40B4-BE49-F238E27FC236}">
                <a16:creationId xmlns:a16="http://schemas.microsoft.com/office/drawing/2014/main" id="{589C4DB7-C35B-4EAE-8B3B-A6135953C825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5" name="FooterDer">
            <a:extLst>
              <a:ext uri="{FF2B5EF4-FFF2-40B4-BE49-F238E27FC236}">
                <a16:creationId xmlns:a16="http://schemas.microsoft.com/office/drawing/2014/main" id="{E1141EB0-DD09-4AA9-A8D7-6B66B3E3CA5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23/40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5F6BF9A-D8AD-4C6B-A540-790344F3FAEE}"/>
              </a:ext>
            </a:extLst>
          </p:cNvPr>
          <p:cNvSpPr/>
          <p:nvPr/>
        </p:nvSpPr>
        <p:spPr>
          <a:xfrm>
            <a:off x="685800" y="1778000"/>
            <a:ext cx="3429000" cy="2921000"/>
          </a:xfrm>
          <a:prstGeom prst="roundRect">
            <a:avLst/>
          </a:prstGeom>
          <a:solidFill>
            <a:srgbClr val="E3EFE0"/>
          </a:solidFill>
          <a:ln w="31750" cap="flat" cmpd="sng" algn="ctr">
            <a:solidFill>
              <a:srgbClr val="2C5F2D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A601D6-A7FB-4A2D-87DE-6B2AF1E749BE}"/>
              </a:ext>
            </a:extLst>
          </p:cNvPr>
          <p:cNvSpPr txBox="1"/>
          <p:nvPr/>
        </p:nvSpPr>
        <p:spPr>
          <a:xfrm>
            <a:off x="914400" y="1981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b="1">
                <a:solidFill>
                  <a:srgbClr val="2C5F2D"/>
                </a:solidFill>
                <a:latin typeface="Arial"/>
                <a:cs typeface="Arial"/>
              </a:rPr>
              <a:t>SÍ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B1CE62-5170-48A1-B41D-3DDB70736882}"/>
              </a:ext>
            </a:extLst>
          </p:cNvPr>
          <p:cNvSpPr txBox="1"/>
          <p:nvPr/>
        </p:nvSpPr>
        <p:spPr>
          <a:xfrm>
            <a:off x="914400" y="2438400"/>
            <a:ext cx="29718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MX" dirty="0">
                <a:solidFill>
                  <a:srgbClr val="212121"/>
                </a:solidFill>
                <a:latin typeface="Arial"/>
                <a:cs typeface="Arial"/>
              </a:rPr>
              <a:t>Estadísticas internas del AOI de 15 × 15 km.
Comparación y validación a escala de paisaje.</a:t>
            </a:r>
            <a:endParaRPr lang="es-ES" dirty="0">
              <a:solidFill>
                <a:srgbClr val="212121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9CDF431-BB2C-4EE4-8084-3FB03A6AB18A}"/>
              </a:ext>
            </a:extLst>
          </p:cNvPr>
          <p:cNvSpPr/>
          <p:nvPr/>
        </p:nvSpPr>
        <p:spPr>
          <a:xfrm>
            <a:off x="4368800" y="1778000"/>
            <a:ext cx="3429000" cy="2921000"/>
          </a:xfrm>
          <a:prstGeom prst="roundRect">
            <a:avLst/>
          </a:prstGeom>
          <a:solidFill>
            <a:srgbClr val="FFF2CC"/>
          </a:solidFill>
          <a:ln w="31750" cap="flat" cmpd="sng" algn="ctr">
            <a:solidFill>
              <a:srgbClr val="C87A0A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5AE0B4-DFFC-43D2-A55F-913305B1DE5C}"/>
              </a:ext>
            </a:extLst>
          </p:cNvPr>
          <p:cNvSpPr txBox="1"/>
          <p:nvPr/>
        </p:nvSpPr>
        <p:spPr>
          <a:xfrm>
            <a:off x="4597400" y="1981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b="1">
                <a:solidFill>
                  <a:srgbClr val="C87A0A"/>
                </a:solidFill>
                <a:latin typeface="Arial"/>
                <a:cs typeface="Arial"/>
              </a:rPr>
              <a:t>CON CONDICIONES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241E9D-1B7F-4300-8781-E0D75B5FEBB1}"/>
              </a:ext>
            </a:extLst>
          </p:cNvPr>
          <p:cNvSpPr txBox="1"/>
          <p:nvPr/>
        </p:nvSpPr>
        <p:spPr>
          <a:xfrm>
            <a:off x="4522969" y="2438400"/>
            <a:ext cx="3096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MX" dirty="0">
                <a:solidFill>
                  <a:srgbClr val="212121"/>
                </a:solidFill>
                <a:latin typeface="Arial"/>
                <a:cs typeface="Arial"/>
              </a:rPr>
              <a:t>Uso en el ajuste, siempre que las variables y observaciones se armonicen a su soporte espacial de 200 m.</a:t>
            </a:r>
            <a:endParaRPr lang="es-ES" dirty="0">
              <a:solidFill>
                <a:srgbClr val="212121"/>
              </a:solidFill>
              <a:latin typeface="Arial"/>
              <a:cs typeface="Arial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EA9F509-4BD0-4F86-984C-36DF60CDF8B8}"/>
              </a:ext>
            </a:extLst>
          </p:cNvPr>
          <p:cNvSpPr/>
          <p:nvPr/>
        </p:nvSpPr>
        <p:spPr>
          <a:xfrm>
            <a:off x="8051800" y="1778000"/>
            <a:ext cx="3429000" cy="2921000"/>
          </a:xfrm>
          <a:prstGeom prst="roundRect">
            <a:avLst/>
          </a:prstGeom>
          <a:solidFill>
            <a:srgbClr val="F4CCCC"/>
          </a:solidFill>
          <a:ln w="31750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EC1264-AF90-4FDB-8E0F-A510F5CF86EF}"/>
              </a:ext>
            </a:extLst>
          </p:cNvPr>
          <p:cNvSpPr txBox="1"/>
          <p:nvPr/>
        </p:nvSpPr>
        <p:spPr>
          <a:xfrm>
            <a:off x="8280400" y="1981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b="1">
                <a:solidFill>
                  <a:srgbClr val="C00000"/>
                </a:solidFill>
                <a:latin typeface="Arial"/>
                <a:cs typeface="Arial"/>
              </a:rPr>
              <a:t>NO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775229-E21A-475B-8487-630D73EDA34B}"/>
              </a:ext>
            </a:extLst>
          </p:cNvPr>
          <p:cNvSpPr txBox="1"/>
          <p:nvPr/>
        </p:nvSpPr>
        <p:spPr>
          <a:xfrm>
            <a:off x="8280400" y="2438400"/>
            <a:ext cx="2971800" cy="175432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>
                <a:solidFill>
                  <a:srgbClr val="212121"/>
                </a:solidFill>
                <a:latin typeface="Arial"/>
                <a:cs typeface="Arial"/>
              </a:rPr>
              <a:t>Referencia directa para variación a escala de parcela.
Insumo para modelos de 10–30 m.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0C4DEAF-FB94-4662-9CBF-8B567E854344}"/>
              </a:ext>
            </a:extLst>
          </p:cNvPr>
          <p:cNvSpPr/>
          <p:nvPr/>
        </p:nvSpPr>
        <p:spPr>
          <a:xfrm>
            <a:off x="685800" y="4978400"/>
            <a:ext cx="10795000" cy="11520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C8D2C8"/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474958A-D6F0-4117-AEBA-E040EBAB6204}"/>
              </a:ext>
            </a:extLst>
          </p:cNvPr>
          <p:cNvSpPr txBox="1"/>
          <p:nvPr/>
        </p:nvSpPr>
        <p:spPr>
          <a:xfrm>
            <a:off x="939800" y="5130800"/>
            <a:ext cx="102870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MX" sz="2000" i="1" dirty="0">
                <a:solidFill>
                  <a:srgbClr val="EE0000"/>
                </a:solidFill>
                <a:latin typeface="Arial"/>
                <a:cs typeface="Arial"/>
              </a:rPr>
              <a:t>No confundir </a:t>
            </a:r>
            <a:r>
              <a:rPr lang="es-MX" sz="2000" i="1" dirty="0">
                <a:solidFill>
                  <a:srgbClr val="0070C0"/>
                </a:solidFill>
                <a:latin typeface="Arial"/>
                <a:cs typeface="Arial"/>
              </a:rPr>
              <a:t>con CCI </a:t>
            </a:r>
            <a:r>
              <a:rPr lang="es-MX" sz="2000" i="1" dirty="0" err="1">
                <a:solidFill>
                  <a:srgbClr val="0070C0"/>
                </a:solidFill>
                <a:latin typeface="Arial"/>
                <a:cs typeface="Arial"/>
              </a:rPr>
              <a:t>Biomass</a:t>
            </a:r>
            <a:r>
              <a:rPr lang="es-MX" sz="2000" i="1" dirty="0">
                <a:solidFill>
                  <a:srgbClr val="0070C0"/>
                </a:solidFill>
                <a:latin typeface="Arial"/>
                <a:cs typeface="Arial"/>
              </a:rPr>
              <a:t>: producto de 100 m basado principalmente en SAR de bandas C y L, complementado con información </a:t>
            </a:r>
            <a:r>
              <a:rPr lang="es-MX" sz="2000" i="1" dirty="0" err="1">
                <a:solidFill>
                  <a:srgbClr val="0070C0"/>
                </a:solidFill>
                <a:latin typeface="Arial"/>
                <a:cs typeface="Arial"/>
              </a:rPr>
              <a:t>lidar</a:t>
            </a:r>
            <a:r>
              <a:rPr lang="es-MX" sz="2000" i="1" dirty="0">
                <a:solidFill>
                  <a:srgbClr val="0070C0"/>
                </a:solidFill>
                <a:latin typeface="Arial"/>
                <a:cs typeface="Arial"/>
              </a:rPr>
              <a:t> — </a:t>
            </a:r>
            <a:r>
              <a:rPr lang="es-MX" sz="2000" i="1" dirty="0">
                <a:solidFill>
                  <a:srgbClr val="EE0000"/>
                </a:solidFill>
                <a:latin typeface="Arial"/>
                <a:cs typeface="Arial"/>
              </a:rPr>
              <a:t>no en la banda P de la misión BIOMASS.</a:t>
            </a:r>
            <a:endParaRPr lang="es-ES" sz="2000" i="1" dirty="0">
              <a:solidFill>
                <a:srgbClr val="EE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701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B18AA7-D45B-4622-AC47-796D98E24B1F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6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CCI Biomass: qué mide, con qué sensores y en qué años</a:t>
            </a:r>
            <a:endParaRPr sz="2600" b="1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5C92E47-2958-4DAF-810A-4E2E675A5F39}"/>
              </a:ext>
            </a:extLst>
          </p:cNvPr>
          <p:cNvSpPr>
            <a:spLocks noGrp="1"/>
          </p:cNvSpPr>
          <p:nvPr/>
        </p:nvSpPr>
        <p:spPr>
          <a:xfrm>
            <a:off x="419100" y="5427919"/>
            <a:ext cx="11353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7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2000" b="1" i="1" noProof="0">
                <a:solidFill>
                  <a:srgbClr val="0070C0"/>
                </a:solidFill>
                <a:latin typeface="Arial"/>
                <a:ea typeface="Arial"/>
                <a:cs typeface="Arial"/>
              </a:rPr>
              <a:t>Versión 7.0 (2026): AGB anual para 2005–2012 y 2015–2024 · https://climate.esa.int/en/projects/biomass/data/ · datos en el archivo CEDA.</a:t>
            </a:r>
          </a:p>
        </p:txBody>
      </p:sp>
      <p:graphicFrame>
        <p:nvGraphicFramePr>
          <p:cNvPr id="60" name="Tabla sens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918388"/>
              </p:ext>
            </p:extLst>
          </p:nvPr>
        </p:nvGraphicFramePr>
        <p:xfrm>
          <a:off x="419100" y="1498600"/>
          <a:ext cx="11366500" cy="3550920"/>
        </p:xfrm>
        <a:graphic>
          <a:graphicData uri="http://schemas.openxmlformats.org/drawingml/2006/table">
            <a:tbl>
              <a:tblPr firstRow="1" bandRow="1"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Sensores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Aporte al producto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Épocas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banda 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ALOS PALSAR / ALOS-2 PALSAR-2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Sensibilidad a la fracción leñosa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2005–2012 · 2015–2024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AGB en Mg/ha, 100 m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banda C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Sentinel-1 · Envisat ASAR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Continuidad y densidad temporal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2015–2024 · épocas tempranas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 de incertidumbre por píxel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de calibración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ICESat GLAS · ICESat-2 · GEDI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Altura y estructura del dosel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Calibración según el año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Mapas anuales comparables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Izq">
            <a:extLst>
              <a:ext uri="{FF2B5EF4-FFF2-40B4-BE49-F238E27FC236}">
                <a16:creationId xmlns:a16="http://schemas.microsoft.com/office/drawing/2014/main" id="{14D78EE5-FA55-41CC-BDF1-07D69E7A1D5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4" name="FooterCentro">
            <a:extLst>
              <a:ext uri="{FF2B5EF4-FFF2-40B4-BE49-F238E27FC236}">
                <a16:creationId xmlns:a16="http://schemas.microsoft.com/office/drawing/2014/main" id="{D5DBDF83-12B9-4A37-A4EC-40D782775031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" name="FooterDer">
            <a:extLst>
              <a:ext uri="{FF2B5EF4-FFF2-40B4-BE49-F238E27FC236}">
                <a16:creationId xmlns:a16="http://schemas.microsoft.com/office/drawing/2014/main" id="{79557DCE-1CE0-4418-913D-4C6D9FF25B80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24/40</a:t>
            </a:r>
          </a:p>
        </p:txBody>
      </p:sp>
    </p:spTree>
    <p:extLst>
      <p:ext uri="{BB962C8B-B14F-4D97-AF65-F5344CB8AC3E}">
        <p14:creationId xmlns:p14="http://schemas.microsoft.com/office/powerpoint/2010/main" val="2888409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CCI Biomass en el ecotono: alcance y cautelas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puede sostener con un producto global de 100 m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8C6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· 100 m</a:t>
            </a:r>
            <a:endParaRPr lang="en-US" sz="210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comparación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externa de los órdenes de magnitud y del gradiente bosque–estepa a escala de paisaje.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Cautelas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baja y cambio</a:t>
            </a: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estepa la incertidumbre relativa es alta; las diferencias entre versiones no son cambio real.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Épocas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series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anuales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2005–2012 y 2015–2024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7.0 del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razonable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covariable o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externa,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armonizada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100 m y con la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propagada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verificable</a:t>
            </a: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https://climate.esa.int/en/projects/biomass/data/</a:t>
            </a:r>
            <a:endParaRPr lang="en-US" sz="1700" dirty="0"/>
          </a:p>
        </p:txBody>
      </p:sp>
      <p:sp>
        <p:nvSpPr>
          <p:cNvPr id="13" name="FooterIzq">
            <a:extLst>
              <a:ext uri="{FF2B5EF4-FFF2-40B4-BE49-F238E27FC236}">
                <a16:creationId xmlns:a16="http://schemas.microsoft.com/office/drawing/2014/main" id="{4BCE04AA-FB35-4491-AD7C-D80247B1824C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4" name="FooterCentro">
            <a:extLst>
              <a:ext uri="{FF2B5EF4-FFF2-40B4-BE49-F238E27FC236}">
                <a16:creationId xmlns:a16="http://schemas.microsoft.com/office/drawing/2014/main" id="{589C4DB7-C35B-4EAE-8B3B-A6135953C825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5" name="FooterDer">
            <a:extLst>
              <a:ext uri="{FF2B5EF4-FFF2-40B4-BE49-F238E27FC236}">
                <a16:creationId xmlns:a16="http://schemas.microsoft.com/office/drawing/2014/main" id="{E1141EB0-DD09-4AA9-A8D7-6B66B3E3CA5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25/40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3C1B21-520C-7917-D79E-EFD9DA26C6C4}"/>
              </a:ext>
            </a:extLst>
          </p:cNvPr>
          <p:cNvSpPr txBox="1"/>
          <p:nvPr/>
        </p:nvSpPr>
        <p:spPr>
          <a:xfrm>
            <a:off x="1155700" y="5878403"/>
            <a:ext cx="241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Santoro y </a:t>
            </a:r>
            <a:r>
              <a:rPr lang="es-ES" sz="1600" b="0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Cartus</a:t>
            </a:r>
            <a:r>
              <a:rPr lang="es-ES" sz="16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(2025)</a:t>
            </a:r>
            <a:endParaRPr lang="es-E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766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algoritmo y para qué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familias, cuatro compromisos distintos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88620"/>
              </p:ext>
            </p:extLst>
          </p:nvPr>
        </p:nvGraphicFramePr>
        <p:xfrm>
          <a:off x="685800" y="1737360"/>
          <a:ext cx="10789920" cy="3611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Fortalezas</a:t>
                      </a:r>
                      <a:endParaRPr lang="en-US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Cautelas</a:t>
                      </a:r>
                      <a:endParaRPr lang="en-US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Robusto; entrega importancia de variables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Tiende a saturar en biomasa alta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/ Gradient Boosting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exactitud; capta no linealidades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Exige ajuste; riesgo de sobreajuste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 profundas (CNN, LSTM)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Patrones espaciales y temporales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Muchos datos; menor interpretabilidad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SVR / k-NN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Simples; útiles con pocas muestras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Limitados en alta dimensión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710134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familia domina en todo: la elección depende del tamaño de la muestra y del rango de biomasa.</a:t>
            </a:r>
            <a:endParaRPr lang="en-US" sz="1700" dirty="0"/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DFFDC422-CFC6-4FBD-8401-6F7437D2E136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6" name="FooterCentro">
            <a:extLst>
              <a:ext uri="{FF2B5EF4-FFF2-40B4-BE49-F238E27FC236}">
                <a16:creationId xmlns:a16="http://schemas.microsoft.com/office/drawing/2014/main" id="{3CC619BF-8947-4D0B-B6C1-DB797C263601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7" name="FooterDer">
            <a:extLst>
              <a:ext uri="{FF2B5EF4-FFF2-40B4-BE49-F238E27FC236}">
                <a16:creationId xmlns:a16="http://schemas.microsoft.com/office/drawing/2014/main" id="{A32F2246-0675-4D12-8C36-CCA46F32BD11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26/40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diluvio de datos satelitales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cambió de signo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79476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Petabytes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renuevan sin pausa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Landsat, Sentinel, GEDI y SAOCOM, en archivos abiertos.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78308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Landsat abiertos, constelación Sentinel, GEDI y SAOCOM: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volumen se renueva más rápido de lo que se consume.</a:t>
            </a:r>
            <a:endParaRPr lang="en-US" sz="1700" dirty="0">
              <a:solidFill>
                <a:srgbClr val="EE0000"/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cambió de signo: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escasean las imágenes; escasea la capacidad de almacenar, procesar y extraer.</a:t>
            </a:r>
            <a:endParaRPr lang="en-US" sz="1700" dirty="0">
              <a:solidFill>
                <a:srgbClr val="EE0000"/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Gomes et al. (2020)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comparan las plataformas de análisis a escala de petabyte.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falta el dato: falta el criterio para usarlo.</a:t>
            </a:r>
            <a:endParaRPr lang="en-US" sz="2000" dirty="0"/>
          </a:p>
        </p:txBody>
      </p:sp>
      <p:sp>
        <p:nvSpPr>
          <p:cNvPr id="10" name="FooterIzq">
            <a:extLst>
              <a:ext uri="{FF2B5EF4-FFF2-40B4-BE49-F238E27FC236}">
                <a16:creationId xmlns:a16="http://schemas.microsoft.com/office/drawing/2014/main" id="{C56004F0-EE2A-4DAF-84E2-2E981AE88238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1" name="FooterCentro">
            <a:extLst>
              <a:ext uri="{FF2B5EF4-FFF2-40B4-BE49-F238E27FC236}">
                <a16:creationId xmlns:a16="http://schemas.microsoft.com/office/drawing/2014/main" id="{71312CB1-213F-42A6-9AC7-5F4028B8246B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2" name="FooterDer">
            <a:extLst>
              <a:ext uri="{FF2B5EF4-FFF2-40B4-BE49-F238E27FC236}">
                <a16:creationId xmlns:a16="http://schemas.microsoft.com/office/drawing/2014/main" id="{DDC7FAF6-A47B-4FEF-A142-8DCB4E1FAD9B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27/40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respuesta: nube, cómputo distribuido y series temporales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Acercar el procesamiento a donde residen los datos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 et al. (2020), Xu, C. et al. (2022) y Guo et al. (2022):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arquitecturas distribuidas y sistemas en contenedores.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de fondo: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acercar el procesamiento a donde residen los datos.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 analítico, no solo de infraestructura: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fenología y detección de perturbaciones (Fu et al., 2024).</a:t>
            </a:r>
            <a:endParaRPr lang="en-US" sz="16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humana: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adopción depende de la formación y de las barreras de acceso (Wagemann et al., 2021).</a:t>
            </a:r>
            <a:endParaRPr lang="en-US" sz="1600" dirty="0"/>
          </a:p>
        </p:txBody>
      </p:sp>
      <p:pic>
        <p:nvPicPr>
          <p:cNvPr id="5" name="Image 0" descr="/home/claude/img/fig_dilu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74520"/>
            <a:ext cx="4937760" cy="2862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48646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Representación conceptual del crecimiento de los archivos de observación de la Tierra: no es una medición.</a:t>
            </a:r>
            <a:endParaRPr lang="en-US" sz="1200" dirty="0"/>
          </a:p>
        </p:txBody>
      </p:sp>
      <p:sp>
        <p:nvSpPr>
          <p:cNvPr id="7" name="FooterIzq">
            <a:extLst>
              <a:ext uri="{FF2B5EF4-FFF2-40B4-BE49-F238E27FC236}">
                <a16:creationId xmlns:a16="http://schemas.microsoft.com/office/drawing/2014/main" id="{6CBA93E8-6ED0-42FF-9AE4-65D64524AD27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8" name="FooterCentro">
            <a:extLst>
              <a:ext uri="{FF2B5EF4-FFF2-40B4-BE49-F238E27FC236}">
                <a16:creationId xmlns:a16="http://schemas.microsoft.com/office/drawing/2014/main" id="{7F0BB7EE-5ABA-4162-A95C-E1BB32F7BCCD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" name="FooterDer">
            <a:extLst>
              <a:ext uri="{FF2B5EF4-FFF2-40B4-BE49-F238E27FC236}">
                <a16:creationId xmlns:a16="http://schemas.microsoft.com/office/drawing/2014/main" id="{94B404EF-71EB-40AF-90BB-B4830EB8759B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28/40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plataformas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se trabaja, según dónde se trabaje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3957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Earth Engine · openEO · Microsoft Planetary Computer · AWS Open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957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SNAP para SAR y </a:t>
            </a:r>
            <a:r>
              <a:rPr lang="en-US" sz="15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ópticos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QGIS para visualización y análisis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3616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(scikit-learn, PyTorch, GDAL, rasterio) · R (caret, randomForest, terra)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C8D2C8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92240" y="3886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referencia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43616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L4A a nivel de huella y L4B grillado, de acceso abierto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openEO importa por reproducibilidad y por no depender de un único proveedor.</a:t>
            </a:r>
            <a:endParaRPr lang="en-US" sz="1700" dirty="0"/>
          </a:p>
        </p:txBody>
      </p:sp>
      <p:sp>
        <p:nvSpPr>
          <p:cNvPr id="17" name="FooterIzq">
            <a:extLst>
              <a:ext uri="{FF2B5EF4-FFF2-40B4-BE49-F238E27FC236}">
                <a16:creationId xmlns:a16="http://schemas.microsoft.com/office/drawing/2014/main" id="{3734CD70-E10C-47FE-97E1-CDBAF9E858CA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18" name="FooterCentro">
            <a:extLst>
              <a:ext uri="{FF2B5EF4-FFF2-40B4-BE49-F238E27FC236}">
                <a16:creationId xmlns:a16="http://schemas.microsoft.com/office/drawing/2014/main" id="{5BB4645C-ABCD-4092-BB3F-F56265E05A4F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19" name="FooterDer">
            <a:extLst>
              <a:ext uri="{FF2B5EF4-FFF2-40B4-BE49-F238E27FC236}">
                <a16:creationId xmlns:a16="http://schemas.microsoft.com/office/drawing/2014/main" id="{C8E7B140-020B-4A80-81B5-BF186540F507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29/40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B18AA7-D45B-4622-AC47-796D98E24B1F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600" b="1">
                <a:solidFill>
                  <a:srgbClr val="2C5F2D"/>
                </a:solidFill>
                <a:latin typeface="Arial"/>
                <a:ea typeface="Arial"/>
                <a:cs typeface="Arial"/>
              </a:defRPr>
            </a:pPr>
            <a:r>
              <a:rPr lang="en-US" sz="26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Colecciones en Google Earth Engine: qué hay y desde cuándo</a:t>
            </a:r>
            <a:endParaRPr sz="2600" b="1">
              <a:solidFill>
                <a:srgbClr val="2C5F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5C92E47-2958-4DAF-810A-4E2E675A5F39}"/>
              </a:ext>
            </a:extLst>
          </p:cNvPr>
          <p:cNvSpPr>
            <a:spLocks noGrp="1"/>
          </p:cNvSpPr>
          <p:nvPr/>
        </p:nvSpPr>
        <p:spPr>
          <a:xfrm>
            <a:off x="419100" y="5588722"/>
            <a:ext cx="1135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just">
              <a:defRPr sz="17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lang="es-ES" sz="1600" i="1" noProof="0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Embeddings</a:t>
            </a:r>
            <a:r>
              <a:rPr lang="es-ES" sz="1600" i="1" noProof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: GOOGLE/SATELLITE_EMBEDDING/V1/ANNUAL · 10 m · 2017–2025 · 64 dimensiones que resumen óptico, radar y </a:t>
            </a:r>
            <a:r>
              <a:rPr lang="es-ES" sz="1600" i="1" noProof="0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lidar</a:t>
            </a:r>
            <a:r>
              <a:rPr lang="es-ES" sz="1600" i="1" noProof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en un vector por píxel.</a:t>
            </a:r>
          </a:p>
        </p:txBody>
      </p:sp>
      <p:graphicFrame>
        <p:nvGraphicFramePr>
          <p:cNvPr id="60" name="Tabla sens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71368"/>
              </p:ext>
            </p:extLst>
          </p:nvPr>
        </p:nvGraphicFramePr>
        <p:xfrm>
          <a:off x="582200" y="1498600"/>
          <a:ext cx="11027600" cy="3749040"/>
        </p:xfrm>
        <a:graphic>
          <a:graphicData uri="http://schemas.openxmlformats.org/drawingml/2006/table">
            <a:tbl>
              <a:tblPr firstRow="1" bandRow="1"/>
              <a:tblGrid>
                <a:gridCol w="11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Colección en GEE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Resolución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temporal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biomasa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Óptico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COPERNICUS/S2_SR_HARMONIZED · LANDSAT/LC08 y LC09/C02/T1_L2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 m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2017–  2013-2021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Índices, composiciones estacionales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COPERNICUS/S1_GRD (banda C) · JAXA/ALOS/PALSAR/YEARLY/SAR_EPOCH (banda L)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2014-  2007- 2010  2015 – 2021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y humedad, sin dependencia de nubes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GEDI L2A y L4A por huella · GEDI L4B grillado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km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2019 - · 2019 - 2021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Altura, perfil vertical y AGBD de referencia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Izq">
            <a:extLst>
              <a:ext uri="{FF2B5EF4-FFF2-40B4-BE49-F238E27FC236}">
                <a16:creationId xmlns:a16="http://schemas.microsoft.com/office/drawing/2014/main" id="{14D78EE5-FA55-41CC-BDF1-07D69E7A1D5B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4" name="FooterCentro">
            <a:extLst>
              <a:ext uri="{FF2B5EF4-FFF2-40B4-BE49-F238E27FC236}">
                <a16:creationId xmlns:a16="http://schemas.microsoft.com/office/drawing/2014/main" id="{D5DBDF83-12B9-4A37-A4EC-40D782775031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" name="FooterDer">
            <a:extLst>
              <a:ext uri="{FF2B5EF4-FFF2-40B4-BE49-F238E27FC236}">
                <a16:creationId xmlns:a16="http://schemas.microsoft.com/office/drawing/2014/main" id="{79557DCE-1CE0-4418-913D-4C6D9FF25B80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30/40</a:t>
            </a:r>
          </a:p>
        </p:txBody>
      </p:sp>
    </p:spTree>
    <p:extLst>
      <p:ext uri="{BB962C8B-B14F-4D97-AF65-F5344CB8AC3E}">
        <p14:creationId xmlns:p14="http://schemas.microsoft.com/office/powerpoint/2010/main" val="480211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conjunto de piezas al flujo de trabajo</a:t>
            </a:r>
            <a:endParaRPr lang="en-US" sz="2600" dirty="0"/>
          </a:p>
        </p:txBody>
      </p:sp>
      <p:pic>
        <p:nvPicPr>
          <p:cNvPr id="3" name="Image 0" descr="/home/claude/img/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960120"/>
            <a:ext cx="8842248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212080"/>
            <a:ext cx="1078992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completa: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adquisición, preprocesamiento, extracción de variables, modelado, validación de campo y producto final, con ciclos de retroalimentación que obligan a reajustar el modelo.</a:t>
            </a:r>
            <a:endParaRPr lang="en-US" sz="1400" dirty="0"/>
          </a:p>
          <a:p>
            <a:pPr marL="342900" indent="-342900" algn="just">
              <a:lnSpc>
                <a:spcPct val="11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Vanguardia: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Shendryk (2022) con fusión GEDI-EO de extremo a extremo; Jiang et al. (2025). </a:t>
            </a:r>
            <a:r>
              <a:rPr lang="en-US" sz="14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Exigencia creciente: reproducibilidad, datos FAIR y cubos de datos.</a:t>
            </a:r>
            <a:endParaRPr lang="en-US" sz="1400" dirty="0"/>
          </a:p>
        </p:txBody>
      </p:sp>
      <p:sp>
        <p:nvSpPr>
          <p:cNvPr id="5" name="FooterIzq">
            <a:extLst>
              <a:ext uri="{FF2B5EF4-FFF2-40B4-BE49-F238E27FC236}">
                <a16:creationId xmlns:a16="http://schemas.microsoft.com/office/drawing/2014/main" id="{A7F974CF-A2F0-4CD9-8BDA-ACE53BD78832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6" name="FooterCentro">
            <a:extLst>
              <a:ext uri="{FF2B5EF4-FFF2-40B4-BE49-F238E27FC236}">
                <a16:creationId xmlns:a16="http://schemas.microsoft.com/office/drawing/2014/main" id="{9D59D470-6BD1-45AC-A3F9-AAB9567121A9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7" name="FooterDer">
            <a:extLst>
              <a:ext uri="{FF2B5EF4-FFF2-40B4-BE49-F238E27FC236}">
                <a16:creationId xmlns:a16="http://schemas.microsoft.com/office/drawing/2014/main" id="{AD1FA6C5-ADCF-48B3-9140-EA9A6438B1F6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31/40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abierto y democratización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el </a:t>
            </a:r>
            <a:r>
              <a:rPr lang="en-US" sz="20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</a:t>
            </a: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</a:t>
            </a:r>
            <a:r>
              <a:rPr lang="en-US" sz="20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condición necesaria, no suficiente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liberación del archivo Landsat en 2008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marcó un antes y un después (Wulder et al., 2022).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adoptó la misma filosofía;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Sawyer et al. (2022) cuantifican su valor.</a:t>
            </a:r>
            <a:endParaRPr lang="en-US" sz="19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Democratizar exige además</a:t>
            </a: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cómputo, software libre y formación.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443484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506000" y="4434840"/>
            <a:ext cx="918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97BC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El SAOCOM (CONAE) como activo estratégico: </a:t>
            </a:r>
            <a:r>
              <a:rPr lang="en-US" sz="19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soberanía de datos en banda L.</a:t>
            </a:r>
            <a:endParaRPr lang="en-US" sz="1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FooterIzq">
            <a:extLst>
              <a:ext uri="{FF2B5EF4-FFF2-40B4-BE49-F238E27FC236}">
                <a16:creationId xmlns:a16="http://schemas.microsoft.com/office/drawing/2014/main" id="{8B02656F-AE87-4795-AFA2-6ACBA97420F7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8" name="FooterCentro">
            <a:extLst>
              <a:ext uri="{FF2B5EF4-FFF2-40B4-BE49-F238E27FC236}">
                <a16:creationId xmlns:a16="http://schemas.microsoft.com/office/drawing/2014/main" id="{0DF581EE-C5D5-4AB4-93BF-A6722ED759C8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" name="FooterDer">
            <a:extLst>
              <a:ext uri="{FF2B5EF4-FFF2-40B4-BE49-F238E27FC236}">
                <a16:creationId xmlns:a16="http://schemas.microsoft.com/office/drawing/2014/main" id="{34EE31CC-BEB9-41B7-BC6A-BAEFD6122184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32/40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Alcances, límites y consideración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18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puede y qué no puede sostener </a:t>
            </a:r>
            <a:r>
              <a:rPr lang="en-US" sz="18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</a:t>
            </a: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</a:t>
            </a:r>
            <a:r>
              <a:rPr lang="en-US" sz="1800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 y selección de referencias: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reemplaza la formación en programación ni en teledetección.</a:t>
            </a:r>
            <a:endParaRPr lang="en-US" sz="170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límites documentados: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 de la señal en biomasa alta, incertidumbre y dependencia de datos de campo.</a:t>
            </a:r>
            <a:endParaRPr lang="en-US" sz="2000" dirty="0">
              <a:solidFill>
                <a:srgbClr val="EE0000"/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Transferibilidad: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desempeño decae al aplicar los modelos fuera del área de entrenamiento </a:t>
            </a:r>
            <a:r>
              <a:rPr lang="en-US" sz="17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(Chen et al., 2023)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Anclaje local: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Loguercio et al. (2024), Taylor-Zavala et al. (2021), Peri et al. (2024), Curcio et al. (2023) y Seppi et al. (2024).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5440680"/>
            <a:ext cx="10789920" cy="91440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05840" y="54406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Estas herramientas no reemplazan el criterio de quien conoce el campo: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lo extienden</a:t>
            </a:r>
            <a:r>
              <a:rPr lang="en-US" sz="2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FooterIzq">
            <a:extLst>
              <a:ext uri="{FF2B5EF4-FFF2-40B4-BE49-F238E27FC236}">
                <a16:creationId xmlns:a16="http://schemas.microsoft.com/office/drawing/2014/main" id="{5C62FA09-F10E-445E-BB17-D2AE24C4BD51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8" name="FooterCentro">
            <a:extLst>
              <a:ext uri="{FF2B5EF4-FFF2-40B4-BE49-F238E27FC236}">
                <a16:creationId xmlns:a16="http://schemas.microsoft.com/office/drawing/2014/main" id="{17322A35-A090-4F47-AAEF-B03B69267DC3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" name="FooterDer">
            <a:extLst>
              <a:ext uri="{FF2B5EF4-FFF2-40B4-BE49-F238E27FC236}">
                <a16:creationId xmlns:a16="http://schemas.microsoft.com/office/drawing/2014/main" id="{40CD9994-9061-4214-B0AA-F44353258FE8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33/40</a:t>
            </a:r>
          </a:p>
        </p:txBody>
      </p:sp>
    </p:spTree>
    <p:extLst>
      <p:ext uri="{BB962C8B-B14F-4D97-AF65-F5344CB8AC3E}">
        <p14:creationId xmlns:p14="http://schemas.microsoft.com/office/powerpoint/2010/main" val="1435148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(1/6)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219200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Abdollahi, A., &amp; Yebra, M. (2025). Challenges and opportunities in remote sensing-based fuel load estimation for wildfire behavior and management: A comprehensive review. Remote Sensing, 17(3), 415. https://doi.org/10.3390/rs17030415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Alipour, M., La Puma, I., Picotte, J., Shamsaei, K., Rowell, E., Watts, A., Kosovic, B., Ebrahimian, H., &amp; Taciroglu, E. (2023). A multimodal data fusion and deep learning framework for large-scale wildfire surface fuel mapping. Fire, 6(2), 36. https://doi.org/10.3390/fire6020036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Apostolakis, A., Girtsou, S., Giannopoulos, G., Bartsotas, N. S., &amp; Kontoes, C. (2022). Estimating next day's forest fire risk via a complete machine learning methodology. Remote Sensing, 14(5), 1222. https://doi.org/10.3390/rs14051222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Bao, W., Yu, F., Chang, Y., Guo, M., Zhou, F., &amp; Zhong, C. (2022). Estimation of fuel load using remote sensing data in Hulunbuir Grassland. Natural Hazards Research, 2, 375-383. https://doi.org/10.1016/j.nhres.2022.11.004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Barberá, I., Cingolani, A. M., Tiribelli, F., Mermoz, M. A., Morales, J. M., &amp; Kitzberger, T. (2025). Biotic and physical drivers of fire in northwestern Patagonia. Fire Ecology, 21, 14. https://doi.org/10.1186/s42408-025-00353-8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Carbone, A., Spiller, D., &amp; Laneve, G. (2023). Fuel type mapping using a CNN-based remote sensing approach: A case study in Sardinia. Fire, 6(10), 395. https://doi.org/10.3390/fire6100395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L., Lin, H., Long, J., Liu, Z., Yang, P., &amp; Zhang, T. (2023). Evaluating the transferability of spectral variables and prediction models for mapping forest aboveground biomass using transfer learning methods. Remote Sensing, 15(22), 5358. https://doi.org/10.3390/rs15225358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Curcio, M., Irisarri, G., García Martínez, G., &amp; Oesterheld, M. (2023). Trends of aboveground net primary productivity of Patagonian meadows, the omitted ecosystem in desertification studies. Remote Sensing, 15(10), 2531. https://doi.org/10.3390/rs15102531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99C4537B-93AD-41A0-B2CE-78F92A0A678E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5DE863E0-4F20-4FF2-BF17-58D796F4267E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9D05672E-8439-4B55-89CA-254C983A33CE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34/40</a:t>
            </a:r>
          </a:p>
        </p:txBody>
      </p:sp>
    </p:spTree>
    <p:extLst>
      <p:ext uri="{BB962C8B-B14F-4D97-AF65-F5344CB8AC3E}">
        <p14:creationId xmlns:p14="http://schemas.microsoft.com/office/powerpoint/2010/main" val="1672500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(2/6)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219200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D’Este, M., Elia, M., Giannico, V., Spano, G., Lafortezza, R., &amp; Sanesi, G. (2021). Machine learning techniques for fine dead fuel load estimation using multi-source remote sensing data. Remote Sensing, 13(9), 1658. https://doi.org/10.3390/rs13091658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Ejaz, N., &amp; Choudhury, S. (2025). A comprehensive survey of the machine learning pipeline for wildfire risk prediction and assessment. Ecological Informatics, 90, 103325. https://doi.org/10.1016/j.ecoinf.2025.103325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Space Agency. (2026). Biomass: the forest mission (Earth Explorer 7) [Misión satelital]. ESA. https://www.esa.int/Applications/Observing_the_Earth/FutureEO/Biomass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Fan, X., He, G., Zhang, W., Long, T., Zhang, X., Wang, G., Sun, G., Zhou, H., Shang, Z., Tian, D., Li, X., &amp; Song, X. (2022). Sentinel-2 images based modeling of grassland above-ground biomass using random forest algorithm: A case study on the Tibetan Plateau. Remote Sensing, 14(21), 5321. https://doi.org/10.3390/rs14215321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Buss, E., Argañaraz, J. P., &amp; Frery, A. C. (2026). Exploratory data analysis from SAOCOM-1A polarimetric images over forest attributes of the semiarid Caldén (Neltuma caldenia) forest, Argentina. Sustainability, 18(1), 369. https://doi.org/10.3390/su18010369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Fu, Y., Zhu, Z., Liu, L., Zhan, W., He, T., Shen, H., Zhao, J., Liu, Y., Zhang, H., Liu, Z., Xue, Y., &amp; Ao, Z. (2024). Remote sensing time series analysis: A review of data and applications. Journal of Remote Sensing, 4, 0285. https://doi.org/10.34133/remotesensing.0285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Gajardo, J., Yáñez, M., Padilla, R., Espinoza, S., &amp; Carrasco-Benavides, M. (2025). Modeling the spatial distribution of wildfire risk in Chile under current and future climate scenarios. Fire, 8(3), 113. https://doi.org/10.3390/fire8030113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Gomes, V. C. F., Queiroz, G. R., &amp; Ferreira, K. R. (2020). An overview of platforms for big Earth observation data management and analysis. Remote Sensing, 12(8), 1253. https://doi.org/10.3390/rs12081253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Guo, J., Huang, C., &amp; Hou, J. (2022). A scalable computing resources system for remote sensing big data processing using GeoPySpark based on Spark on K8s. Remote Sensing, 14(3), 521. https://doi.org/10.3390/rs14030521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1377F3E8-404B-4A0B-9F48-34A9671E758C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2E6E77A8-1E71-4B85-BEBC-CC393D81A6DC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050C25E7-25E1-43F5-8A67-4F47EECCA3CA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35/40</a:t>
            </a:r>
          </a:p>
        </p:txBody>
      </p:sp>
    </p:spTree>
    <p:extLst>
      <p:ext uri="{BB962C8B-B14F-4D97-AF65-F5344CB8AC3E}">
        <p14:creationId xmlns:p14="http://schemas.microsoft.com/office/powerpoint/2010/main" val="3446188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(3/6)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210491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Hanan, A., Khan, M., Fernandez-Anez, N., &amp; Arghandeh, R. (2025). DeepBioFusion: Multi-modal deep learning based above ground biomass estimation using SAR and optical satellite images. Ecological Informatics, 90, 103277. https://doi.org/10.1016/j.ecoinf.2025.103277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Hemati, M., Mahdianpari, M., Shiri, H., &amp; Mohammadimanesh, F. (2024). Integrating SAR and optical data for aboveground biomass estimation of coastal wetlands using machine learning: Multi-scale approach. Remote Sensing, 16(5), 831. https://doi.org/10.3390/rs16050831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Ibrahim, R. E., El-Magd, I. A., Motshegwa, T., Ead, H. A., Ogot, M., Wafula, J., Abotalib, A. Z., Mchunu, N. P., Hachigonta, S., Kinyuru, J., &amp; Ali, E. M. (2024). The role of open science and geoinformatics in advancing sustainable development goals in Africa: A strategic framework and an action plan. Data Science Journal, 23(1), 47. https://doi.org/10.5334/dsj-2024-047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Jain, P., Coogan, S. C. P., Subramanian, S. G., Crowley, M., Taylor, S., &amp; Flannigan, M. D. (2020). A review of machine learning applications in wildfire science and management. Environmental Reviews, 28(4), 478-505. https://doi.org/10.1139/er-2020-0019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Jaque Castillo, E., Fernández, A., Fuentes Robles, R., &amp; Ojeda, C. G. (2021). Data-based wildfire risk model for Mediterranean ecosystems – Case study of the Concepción metropolitan area in central Chile. Natural Hazards and Earth System Sciences, 21(12), 3663-3678. https://doi.org/10.5194/nhess-21-3663-2021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Jiang, W., Zhang, L., Zhang, X., Gao, S., Gao, H., Sun, L., &amp; Yan, G. (2025). Multi-Decision Vector Fusion Model for enhanced mapping of aboveground biomass in subtropical forests integrating Sentinel-1, Sentinel-2, and airborne LiDAR data. Remote Sensing, 17(7), 1285. https://doi.org/10.3390/rs17071285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Kondylatos, S., Prapas, I., Ronco, M., Papoutsis, I., Camps-Valls, G., Piles, M., Fernández-Torres, M.-Á., &amp; Carvalhais, N. (2022). Wildfire danger prediction and understanding with deep learning. Geophysical Research Letters, 49(17), e2022GL099368. https://doi.org/10.1029/2022GL099368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Y., Li, M., Li, C., &amp; Liu, Z. (2020). Forest aboveground biomass estimation using Landsat 8 and Sentinel-1A data with machine learning algorithms. Scientific Reports, 10, 9952. https://doi.org/10.1038/s41598-020-67024-3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Z., Wu, Z., Zhu, S., Hou, X., &amp; Li, S. (2024). Estimation of understory fine dead fuel moisture content in subtropical forests of southern China based on Landsat images. Forests, 15(11), 2002. https://doi.org/10.3390/f15112002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9762750A-53BC-47CA-AC7D-6111110EB4B0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075E440D-A581-452E-8C35-701C9AF2DC26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882DFD48-1530-4AD6-87E0-E34A15B1FC31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36/40</a:t>
            </a:r>
          </a:p>
        </p:txBody>
      </p:sp>
    </p:spTree>
    <p:extLst>
      <p:ext uri="{BB962C8B-B14F-4D97-AF65-F5344CB8AC3E}">
        <p14:creationId xmlns:p14="http://schemas.microsoft.com/office/powerpoint/2010/main" val="134119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(4/6)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093082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Loguercio, G. A., Simon, A., Winter, A. N., Ivancich, H., Reiter, E. J., Caselli, M., Heinzle, F. G., Leuschner, C., &amp; Walentowski, H. (2024). Carbon density and sequestration in the temperate forests of northern Patagonia, Argentina. Frontiers in Forests and Global Change, 7, 1373187. https://doi.org/10.3389/ffgc.2024.1373187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Peri, P. L., Gaitán, J., Díaz, B., Almonacid, L., Morales, C., Ferrer, F., Lasagno, R., Rodríguez-Souilla, J., &amp; Martínez Pastur, G. (2024). Vegetation type mapping in southern Patagonia and its relationship with ecosystem services, soil carbon stock, and biodiversity. Sustainability, 16(5), 2025. https://doi.org/10.3390/su16052025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Quan, X., Chen, R., Yebra, M., Riaño, D., Resco de Dios, V., Li, X., He, B., Nolan, R. H., Griebel, A., Boer, M. M., &amp; Sun, Y. (2024). Sub-daily live fuel moisture content estimation from Himawari-8 data. Remote Sensing of Environment, 308, 114170. https://doi.org/10.1016/j.rse.2024.114170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Rao, K., Williams, A. P., Fortin Flefil, J., &amp; Konings, A. G. (2020). SAR-enhanced mapping of live fuel moisture content. Remote Sensing of Environment, 245, 111797. https://doi.org/10.1016/j.rse.2020.111797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Rapiya, M., Ramoelo, A., &amp; Truter, W. (2023). Seasonal evaluation and mapping of aboveground biomass in natural rangelands using Sentinel-1 and Sentinel-2 data. Environmental Monitoring and Assessment, 195(12), 1544. </a:t>
            </a: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hlinkClick r:id="rId2"/>
              </a:rPr>
              <a:t>https://doi.org/10.1007/s10661-023-12133-5</a:t>
            </a:r>
            <a:endParaRPr lang="es-ES" sz="1350" dirty="0">
              <a:solidFill>
                <a:srgbClr val="212121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Santoro, M.;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Cartus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, O. (2025): ESA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Change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Biomass_cci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): Global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forest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above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-ground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2007, 2010, 2015, 2016, 2017, 2018, 2019, 2020, 2021 and 2022, v6.0. NERC EDS Centre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s-ES" sz="1350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ES" sz="1350" i="1" dirty="0">
                <a:latin typeface="Arial" panose="020B0604020202020204" pitchFamily="34" charset="0"/>
                <a:cs typeface="Arial" panose="020B0604020202020204" pitchFamily="34" charset="0"/>
              </a:rPr>
              <a:t>17 April 2025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</a:rPr>
              <a:t>. doi:10.5285/95913ffb6467447ca72c4e9d8cf30501. </a:t>
            </a:r>
            <a:r>
              <a:rPr lang="es-ES" sz="13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https://dx.doi.org/10.5285/95913ffb6467447ca72c4e9d8cf30501</a:t>
            </a:r>
            <a:endParaRPr lang="es-ES" sz="1350" dirty="0">
              <a:solidFill>
                <a:srgbClr val="212121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Sawyer, G., Mamais, E., &amp; Papadakis, D. (2022). The six dimensions of value associated to the use of Copernicus Sentinel data: Key findings from the Sentinel benefits study. Frontiers in Environmental Science, 10, 804862. https://doi.org/10.3389/fenvs.2022.804862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Seppi, S. A., López-Martínez, C., &amp; Joseau, M. J. (2022). Assessment of L-band SAOCOM InSAR coherence and its comparison with C-band: A case study over managed forests in Argentina. Remote Sensing, 14(22), 5652. https://doi.org/10.3390/rs14225652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350" dirty="0">
                <a:solidFill>
                  <a:srgbClr val="2121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Seppi, S. A., López-Martínez, C., &amp; Joseau, M. J. (2024). An assessment of SAOCOM L-band PolInSAR capabilities for canopy height estimation: A case study over managed forests in Argentina. IEEE Journal of Selected Topics in Applied Earth Observations and Remote Sensing, 17. https://doi.org/10.1109/JSTARS.2024.3363435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2CBBB9CC-7697-463F-A1B6-12C298DAE088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ED1239EE-93E9-4F09-A331-23B5620DF6E4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A0E88C0B-3D4D-4688-A63B-37793AA2F989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37/40</a:t>
            </a:r>
          </a:p>
        </p:txBody>
      </p:sp>
    </p:spTree>
    <p:extLst>
      <p:ext uri="{BB962C8B-B14F-4D97-AF65-F5344CB8AC3E}">
        <p14:creationId xmlns:p14="http://schemas.microsoft.com/office/powerpoint/2010/main" val="2813353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(5/6)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219200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Shendryk, Y. (2022). Fusing GEDI with Earth observation data for large area aboveground biomass mapping. International Journal of Applied Earth Observation and Geoinformation, 115, 103108. https://doi.org/10.1016/j.jag.2022.103108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Nacional de Monitoreo de Bosques Nativos. (2017). Cobertura de bosque de la Región Bosque Andino Patagónico, provincia de Chubut 2017 (Versión Cobertura BAP 1.0) [Conjunto de datos geográficos vectoriales, escala 1:40.000]. Ministerio de Ambiente y Desarrollo Sostenible, Centro de Información Ambiental. https://ciam.ambiente.gob.ar/geovisor.php?layer_id=477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Sismanis, M., Gitas, I. Z., Stavrakoudis, D., Georgopoulos, N., Antoniadis, K., &amp; Gkounti, E. (2024). A novel spectral–spatial methodology for hierarchical fuel type mapping in Mediterranean ecosystems using Sentinel-2 timeseries and auxiliary thematic data. Fire, 7(11), 407. https://doi.org/10.3390/fire7110407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Solares-Canal, A., Alonso, L., Rincón, T., Picos, J., Molina-Terrén, D. M., Becerra, C., &amp; Armesto, J. (2023). Operational fuel model map for Atlantic landscapes using ALS and Sentinel-2 images. Fire Ecology, 19, 61. https://doi.org/10.1186/s42408-023-00218-y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Taylor-Zavala, R., Ramírez-Rodríguez, O., de Armas-Ricard, M., Sanhueza, H., Higueras-Fredes, F., &amp; Mattar, C. (2021). Quantifying biochemical traits over the Patagonian sub-Antarctic forests and their relation to multispectral vegetation indices. Remote Sensing, 13(21), 4232. https://doi.org/10.3390/rs13214232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Wagemann, J., Siemen, S., Seeger, B., &amp; Bendix, J. (2021). Users of open big Earth data – An analysis of the current state. Computers &amp; Geosciences, 157, 104916. https://doi.org/10.1016/j.cageo.2021.104916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C., Zhang, W., Ji, Y., Marino, A., Li, C., Wang, L., Zhao, H., &amp; Wang, M. (2024). Estimation of aboveground biomass for different forest types using data from Sentinel-1, Sentinel-2, ALOS PALSAR-2, and GEDI. Forests, 15(1), 215. https://doi.org/10.3390/f15010215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D., Xing, Y., Fu, A., Tang, J., Chang, X., Yang, H., Yang, S., &amp; Li, Y. (2025). Mapping forest aboveground biomass using multi-source remote sensing data based on the XGBoost algorithm. Forests, 16(2), 347. https://doi.org/10.3390/f16020347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W., Zhou, C., Zhang, J., Li, Y., Chen, Z., &amp; Luo, Y. (2025). A novel approach for inverting forest fuel moisture content utilizing multi-source remote sensing and deep learning. Forests, 16(9), 1423. https://doi.org/10.3390/f16091423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04F1A07B-38FB-451F-8DD8-6DEA1773555E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E3413C7C-C5BC-4395-B767-0135A2856E09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9396EB38-A616-433A-9BDE-248BC4B1CE62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38/40</a:t>
            </a:r>
          </a:p>
        </p:txBody>
      </p:sp>
    </p:spTree>
    <p:extLst>
      <p:ext uri="{BB962C8B-B14F-4D97-AF65-F5344CB8AC3E}">
        <p14:creationId xmlns:p14="http://schemas.microsoft.com/office/powerpoint/2010/main" val="3124206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 (6/6)</a:t>
            </a:r>
          </a:p>
        </p:txBody>
      </p:sp>
      <p:sp>
        <p:nvSpPr>
          <p:cNvPr id="3" name="Cuerpo Ref"/>
          <p:cNvSpPr txBox="1"/>
          <p:nvPr/>
        </p:nvSpPr>
        <p:spPr>
          <a:xfrm>
            <a:off x="685800" y="1219200"/>
            <a:ext cx="1079500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Watt, M. S., Gross, S., Difuntorum, J. K., McCarty, J. L., Pearce, H. G., Shuman, J. K., &amp; Yebra, M. (2025). Monitoring wildfire risk with a near-real-time live fuel moisture content system: A review and roadmap for operational application in New Zealand. Remote Sensing, 17(21), 3580. https://doi.org/10.3390/rs17213580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Wulder, M. A., Roy, D. P., Radeloff, V. C., Loveland, T. R., Anderson, M. C., Johnson, D. M., … Cook, B. D. (2022). Fifty years of Landsat science and impacts. Remote Sensing of Environment, 280, 113195. https://doi.org/10.1016/j.rse.2022.113195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Xu, C., Du, X., Fan, X., Giuliani, G., Hu, Z., Wang, W., Liu, J., Wang, T., Yan, Z., Zhu, J., Jiang, T., &amp; Guo, H. (2022). Cloud-based storage and computing for remote sensing big data: A technical review. International Journal of Digital Earth, 15(1), 1417-1445. https://doi.org/10.1080/17538947.2022.2115567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Xu, Z., Li, J., Cheng, S., Rui, X., Zhao, Y., He, H., Guan, H., Sharma, A., Erxleben, M., Chang, R., &amp; Xu, L. L. (2025). Deep learning for wildfire risk prediction: Integrating remote sensing and environmental data. ISPRS Journal of Photogrammetry and Remote Sensing, 227, 632-677. https://doi.org/10.1016/j.isprsjprs.2025.06.002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Yan, X., Li, J., Smith, A. R., Yang, D., Ma, T., Su, Y., &amp; Shao, J. (2023). Evaluation of machine learning methods and multi-source remote sensing data combinations to construct forest above-ground biomass models. International Journal of Digital Earth, 16(2), 4471-4491. https://doi.org/10.1080/17538947.2023.2270459</a:t>
            </a:r>
          </a:p>
          <a:p>
            <a:pPr marL="285750" indent="-285750" algn="just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Yao, X., Li, G., Xia, J., Ben, J., Cao, Q., Zhao, L., Ma, Y., Zhang, L., &amp; Zhu, D. (2020). Enabling the big Earth observation data via cloud computing and DGGS: Opportunities and challenges. Remote Sensing, 12(1), 62. https://doi.org/10.3390/rs12010062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292C20C4-80ED-491F-AF32-AD43D9B10D44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222D5630-35E5-4886-9663-3208FE9F1EB5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528D3025-59A1-4C7E-96D3-C1F55358DBE3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39/40</a:t>
            </a:r>
          </a:p>
        </p:txBody>
      </p:sp>
    </p:spTree>
    <p:extLst>
      <p:ext uri="{BB962C8B-B14F-4D97-AF65-F5344CB8AC3E}">
        <p14:creationId xmlns:p14="http://schemas.microsoft.com/office/powerpoint/2010/main" val="447070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f"/>
          <p:cNvSpPr txBox="1"/>
          <p:nvPr/>
        </p:nvSpPr>
        <p:spPr>
          <a:xfrm>
            <a:off x="546100" y="292100"/>
            <a:ext cx="110617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sz="26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Acrónimos y siglas</a:t>
            </a:r>
          </a:p>
        </p:txBody>
      </p:sp>
      <p:sp>
        <p:nvSpPr>
          <p:cNvPr id="91" name="Acronimos Izq"/>
          <p:cNvSpPr txBox="1"/>
          <p:nvPr/>
        </p:nvSpPr>
        <p:spPr>
          <a:xfrm>
            <a:off x="685800" y="1219200"/>
            <a:ext cx="539496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 — Biomasa aérea (Aboveground Biomass)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 PALSAR — Advanced Land Observing Satellite / Phased Array L-band SAR (JAXA)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— Escaneo láser aerotransportado (Airborne Laser Scanning)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— Área de interés (Area of Interest)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 — Misión SAR en banda P de la ESA (Earth Explorer 7)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CCI — Climate Change Initiative (ESA)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Red neuronal convolucional (Convolutional Neural Network)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CONAE — Comisión Nacional de Actividades Espaciales (Argentina)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 — Observación de la Tierra (Earth Observation)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— Agencia Espacial Europea (European Space Agency)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 — Índice de vegetación mejorado (Enhanced Vegetation Index)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— Findable, Accessible, Interoperable, Reusable (principios de datos)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— Global Ecosystem Dynamics Investigation (LiDAR espacial de la NASA)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— Inteligencia artificial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ICESat-2 / ATLAS — Ice, Cloud and land Elevation Satellite-2 / Advanced Topographic Laser Altimeter System</a:t>
            </a:r>
          </a:p>
        </p:txBody>
      </p:sp>
      <p:sp>
        <p:nvSpPr>
          <p:cNvPr id="92" name="Acronimos Der"/>
          <p:cNvSpPr txBox="1"/>
          <p:nvPr/>
        </p:nvSpPr>
        <p:spPr>
          <a:xfrm>
            <a:off x="6355080" y="1219200"/>
            <a:ext cx="5120640" cy="5207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InSAR / PolInSAR — Interferometría SAR / Interferometría SAR polarimétrica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— k vecinos más cercanos (k-Nearest Neighbors)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— Light Detection and Ranging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— Memoria de largo y corto plazo (Long Short-Term Memory)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— National Aeronautics and Space Administration (EE. UU.)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— Índice de vegetación de diferencia normalizada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— NASA-ISRO Synthetic Aperture Radar (bandas L y S)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— Quantum GIS (software libre de análisis geoespacial)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— Satélite Argentino de Observación con Microondas (banda L, CONAE)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— Radar de apertura sintética (Synthetic Aperture Radar)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— Sentinel Application Platform (ESA)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SNMBN — Sistema Nacional de Monitoreo de Bosques Nativos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 — Regresión de vectores de soporte (Support Vector Regression)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s-ES" sz="12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— Extreme Gradient Boosting</a:t>
            </a:r>
          </a:p>
        </p:txBody>
      </p:sp>
      <p:sp>
        <p:nvSpPr>
          <p:cNvPr id="4" name="FooterIzq">
            <a:extLst>
              <a:ext uri="{FF2B5EF4-FFF2-40B4-BE49-F238E27FC236}">
                <a16:creationId xmlns:a16="http://schemas.microsoft.com/office/drawing/2014/main" id="{D24FBCA6-61AE-48BD-BFC2-F39C9BA30F0D}"/>
              </a:ext>
            </a:extLst>
          </p:cNvPr>
          <p:cNvSpPr txBox="1"/>
          <p:nvPr/>
        </p:nvSpPr>
        <p:spPr>
          <a:xfrm>
            <a:off x="5461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Fundamentos</a:t>
            </a:r>
          </a:p>
        </p:txBody>
      </p:sp>
      <p:sp>
        <p:nvSpPr>
          <p:cNvPr id="5" name="FooterCentro">
            <a:extLst>
              <a:ext uri="{FF2B5EF4-FFF2-40B4-BE49-F238E27FC236}">
                <a16:creationId xmlns:a16="http://schemas.microsoft.com/office/drawing/2014/main" id="{A53D1717-C097-4629-8F68-E81D0272B3C2}"/>
              </a:ext>
            </a:extLst>
          </p:cNvPr>
          <p:cNvSpPr txBox="1"/>
          <p:nvPr/>
        </p:nvSpPr>
        <p:spPr>
          <a:xfrm>
            <a:off x="4267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" name="FooterDer">
            <a:extLst>
              <a:ext uri="{FF2B5EF4-FFF2-40B4-BE49-F238E27FC236}">
                <a16:creationId xmlns:a16="http://schemas.microsoft.com/office/drawing/2014/main" id="{13975604-BF70-4A5C-8520-627399090B30}"/>
              </a:ext>
            </a:extLst>
          </p:cNvPr>
          <p:cNvSpPr txBox="1"/>
          <p:nvPr/>
        </p:nvSpPr>
        <p:spPr>
          <a:xfrm>
            <a:off x="7950200" y="65405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s-ES" sz="900">
                <a:solidFill>
                  <a:srgbClr val="595959"/>
                </a:solidFill>
                <a:latin typeface="Arial"/>
                <a:cs typeface="Arial"/>
              </a:rPr>
              <a:t>40/40</a:t>
            </a:r>
          </a:p>
        </p:txBody>
      </p:sp>
    </p:spTree>
    <p:extLst>
      <p:ext uri="{BB962C8B-B14F-4D97-AF65-F5344CB8AC3E}">
        <p14:creationId xmlns:p14="http://schemas.microsoft.com/office/powerpoint/2010/main" val="379736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6BB953-0FCD-49D5-A7AB-81A3E5087C3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3ddef551-193f-4045-a6d7-489d3fbc80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7518</Words>
  <Application>Microsoft Office PowerPoint</Application>
  <PresentationFormat>Panorámica</PresentationFormat>
  <Paragraphs>607</Paragraphs>
  <Slides>40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Arial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Hector Francisco del Valle</cp:lastModifiedBy>
  <cp:revision>28</cp:revision>
  <dcterms:created xsi:type="dcterms:W3CDTF">2026-08-07T13:07:02Z</dcterms:created>
  <dcterms:modified xsi:type="dcterms:W3CDTF">2026-08-23T22:44:56Z</dcterms:modified>
</cp:coreProperties>
</file>