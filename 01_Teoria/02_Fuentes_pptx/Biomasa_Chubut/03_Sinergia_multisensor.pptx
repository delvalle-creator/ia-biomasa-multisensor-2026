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jpg" ContentType="image/jpg"/>
  <Override PartName="/ppt/media/image8.jpg" ContentType="image/jpg"/>
  <Override PartName="/ppt/media/image9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55" r:id="rId101"/>
    <p:sldId id="356" r:id="rId102"/>
    <p:sldId id="357" r:id="rId103"/>
    <p:sldId id="358" r:id="rId104"/>
    <p:sldId id="406" r:id="rId156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410" r:id="rId160"/>
    <p:sldId id="409" r:id="rId159"/>
    <p:sldId id="407" r:id="rId157"/>
    <p:sldId id="408" r:id="rId158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6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1" Type="http://schemas.openxmlformats.org/officeDocument/2006/relationships/slide" Target="slides/slide1.xml"/><Relationship Id="rId102" Type="http://schemas.openxmlformats.org/officeDocument/2006/relationships/slide" Target="slides/slide2.xml"/><Relationship Id="rId103" Type="http://schemas.openxmlformats.org/officeDocument/2006/relationships/slide" Target="slides/slide3.xml"/><Relationship Id="rId104" Type="http://schemas.openxmlformats.org/officeDocument/2006/relationships/slide" Target="slides/slide4.xml"/><Relationship Id="rId105" Type="http://schemas.openxmlformats.org/officeDocument/2006/relationships/slide" Target="slides/slide6.xml"/><Relationship Id="rId106" Type="http://schemas.openxmlformats.org/officeDocument/2006/relationships/slide" Target="slides/slide7.xml"/><Relationship Id="rId107" Type="http://schemas.openxmlformats.org/officeDocument/2006/relationships/slide" Target="slides/slide8.xml"/><Relationship Id="rId108" Type="http://schemas.openxmlformats.org/officeDocument/2006/relationships/slide" Target="slides/slide9.xml"/><Relationship Id="rId109" Type="http://schemas.openxmlformats.org/officeDocument/2006/relationships/slide" Target="slides/slide10.xml"/><Relationship Id="rId110" Type="http://schemas.openxmlformats.org/officeDocument/2006/relationships/slide" Target="slides/slide11.xml"/><Relationship Id="rId111" Type="http://schemas.openxmlformats.org/officeDocument/2006/relationships/slide" Target="slides/slide12.xml"/><Relationship Id="rId112" Type="http://schemas.openxmlformats.org/officeDocument/2006/relationships/slide" Target="slides/slide13.xml"/><Relationship Id="rId113" Type="http://schemas.openxmlformats.org/officeDocument/2006/relationships/slide" Target="slides/slide14.xml"/><Relationship Id="rId114" Type="http://schemas.openxmlformats.org/officeDocument/2006/relationships/slide" Target="slides/slide15.xml"/><Relationship Id="rId115" Type="http://schemas.openxmlformats.org/officeDocument/2006/relationships/slide" Target="slides/slide16.xml"/><Relationship Id="rId116" Type="http://schemas.openxmlformats.org/officeDocument/2006/relationships/slide" Target="slides/slide17.xml"/><Relationship Id="rId117" Type="http://schemas.openxmlformats.org/officeDocument/2006/relationships/slide" Target="slides/slide18.xml"/><Relationship Id="rId118" Type="http://schemas.openxmlformats.org/officeDocument/2006/relationships/slide" Target="slides/slide19.xml"/><Relationship Id="rId119" Type="http://schemas.openxmlformats.org/officeDocument/2006/relationships/slide" Target="slides/slide20.xml"/><Relationship Id="rId120" Type="http://schemas.openxmlformats.org/officeDocument/2006/relationships/slide" Target="slides/slide21.xml"/><Relationship Id="rId121" Type="http://schemas.openxmlformats.org/officeDocument/2006/relationships/slide" Target="slides/slide22.xml"/><Relationship Id="rId122" Type="http://schemas.openxmlformats.org/officeDocument/2006/relationships/slide" Target="slides/slide27.xml"/><Relationship Id="rId123" Type="http://schemas.openxmlformats.org/officeDocument/2006/relationships/slide" Target="slides/slide28.xml"/><Relationship Id="rId124" Type="http://schemas.openxmlformats.org/officeDocument/2006/relationships/slide" Target="slides/slide29.xml"/><Relationship Id="rId125" Type="http://schemas.openxmlformats.org/officeDocument/2006/relationships/slide" Target="slides/slide30.xml"/><Relationship Id="rId126" Type="http://schemas.openxmlformats.org/officeDocument/2006/relationships/slide" Target="slides/slide31.xml"/><Relationship Id="rId127" Type="http://schemas.openxmlformats.org/officeDocument/2006/relationships/slide" Target="slides/slide32.xml"/><Relationship Id="rId128" Type="http://schemas.openxmlformats.org/officeDocument/2006/relationships/slide" Target="slides/slide33.xml"/><Relationship Id="rId129" Type="http://schemas.openxmlformats.org/officeDocument/2006/relationships/slide" Target="slides/slide34.xml"/><Relationship Id="rId130" Type="http://schemas.openxmlformats.org/officeDocument/2006/relationships/slide" Target="slides/slide35.xml"/><Relationship Id="rId131" Type="http://schemas.openxmlformats.org/officeDocument/2006/relationships/slide" Target="slides/slide36.xml"/><Relationship Id="rId132" Type="http://schemas.openxmlformats.org/officeDocument/2006/relationships/slide" Target="slides/slide37.xml"/><Relationship Id="rId133" Type="http://schemas.openxmlformats.org/officeDocument/2006/relationships/slide" Target="slides/slide38.xml"/><Relationship Id="rId134" Type="http://schemas.openxmlformats.org/officeDocument/2006/relationships/slide" Target="slides/slide39.xml"/><Relationship Id="rId135" Type="http://schemas.openxmlformats.org/officeDocument/2006/relationships/slide" Target="slides/slide40.xml"/><Relationship Id="rId136" Type="http://schemas.openxmlformats.org/officeDocument/2006/relationships/slide" Target="slides/slide41.xml"/><Relationship Id="rId137" Type="http://schemas.openxmlformats.org/officeDocument/2006/relationships/slide" Target="slides/slide42.xml"/><Relationship Id="rId138" Type="http://schemas.openxmlformats.org/officeDocument/2006/relationships/slide" Target="slides/slide43.xml"/><Relationship Id="rId139" Type="http://schemas.openxmlformats.org/officeDocument/2006/relationships/slide" Target="slides/slide44.xml"/><Relationship Id="rId140" Type="http://schemas.openxmlformats.org/officeDocument/2006/relationships/slide" Target="slides/slide45.xml"/><Relationship Id="rId141" Type="http://schemas.openxmlformats.org/officeDocument/2006/relationships/slide" Target="slides/slide46.xml"/><Relationship Id="rId142" Type="http://schemas.openxmlformats.org/officeDocument/2006/relationships/slide" Target="slides/slide47.xml"/><Relationship Id="rId143" Type="http://schemas.openxmlformats.org/officeDocument/2006/relationships/slide" Target="slides/slide48.xml"/><Relationship Id="rId144" Type="http://schemas.openxmlformats.org/officeDocument/2006/relationships/slide" Target="slides/slide49.xml"/><Relationship Id="rId145" Type="http://schemas.openxmlformats.org/officeDocument/2006/relationships/slide" Target="slides/slide50.xml"/><Relationship Id="rId146" Type="http://schemas.openxmlformats.org/officeDocument/2006/relationships/slide" Target="slides/slide51.xml"/><Relationship Id="rId147" Type="http://schemas.openxmlformats.org/officeDocument/2006/relationships/slide" Target="slides/slide52.xml"/><Relationship Id="rId148" Type="http://schemas.openxmlformats.org/officeDocument/2006/relationships/slide" Target="slides/slide53.xml"/><Relationship Id="rId149" Type="http://schemas.openxmlformats.org/officeDocument/2006/relationships/slide" Target="slides/slide54.xml"/><Relationship Id="rId150" Type="http://schemas.openxmlformats.org/officeDocument/2006/relationships/slide" Target="slides/slide55.xml"/><Relationship Id="rId151" Type="http://schemas.openxmlformats.org/officeDocument/2006/relationships/slide" Target="slides/slide56.xml"/><Relationship Id="rId152" Type="http://schemas.openxmlformats.org/officeDocument/2006/relationships/presProps" Target="presProps.xml"/><Relationship Id="rId153" Type="http://schemas.openxmlformats.org/officeDocument/2006/relationships/viewProps" Target="viewProps.xml"/><Relationship Id="rId154" Type="http://schemas.openxmlformats.org/officeDocument/2006/relationships/theme" Target="theme/theme1.xml"/><Relationship Id="rId155" Type="http://schemas.openxmlformats.org/officeDocument/2006/relationships/tableStyles" Target="tableStyles.xml"/><Relationship Id="rId156" Type="http://schemas.openxmlformats.org/officeDocument/2006/relationships/slide" Target="slides/slide5.xml"/><Relationship Id="rId157" Type="http://schemas.openxmlformats.org/officeDocument/2006/relationships/slide" Target="slides/slide25.xml"/><Relationship Id="rId158" Type="http://schemas.openxmlformats.org/officeDocument/2006/relationships/slide" Target="slides/slide26.xml"/><Relationship Id="rId159" Type="http://schemas.openxmlformats.org/officeDocument/2006/relationships/slide" Target="slides/slide24.xml"/><Relationship Id="rId160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high_detail_scientific_illustration_infogr_batch_3.png"/>
          <p:cNvPicPr>
            <a:picLocks noChangeAspect="1"/>
          </p:cNvPicPr>
          <p:nvPr/>
        </p:nvPicPr>
        <p:blipFill>
          <a:blip r:embed="rId2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14173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200" b="1" i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Sinergia GEDI con óptico y radar para mapear biomasa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58368" y="5687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Transición | 100/150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Ilustración conceptual generada; fuentes técnicas: USGS/NASA Landsat, ESA/Copernicus Sentinel y CONAE SAOCOM.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100/179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high_detail_scientific_illustration_infogr_batch_3.png"/>
          <p:cNvPicPr>
            <a:picLocks noChangeAspect="1"/>
          </p:cNvPicPr>
          <p:nvPr/>
        </p:nvPicPr>
        <p:blipFill>
          <a:blip r:embed="rId2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14173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200" b="1" i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Fusión de GEDI con Landsat, Sentinel-2, Sentinel-1 y SAOCOM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58368" y="5687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 | 101–150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USGS Landsat Collection 2; ESA/Copernicus Sentinel-2 MSI; NASA HLS. ESA/Copernicus Sentinel-1; CONAE SAOCOM; SAOCOM Mission Products Definition (2024).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101/179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fusionar sensores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da profundidad; óptico y radar dan continuidad espacial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mide estructura en huellas discontinuas.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Landsat y Sentinel-2 cubren el paisaje con señales espectrales y fenológicas.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Sentinel-1 y SAOCOM aportan retrodispersión sensible a estructura, rugosidad y humedad.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fusión permite pasar de muestra a mapa, con validación e incertidumbre.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897880" y="1298448"/>
            <a:ext cx="5623559" cy="603504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1 · </a:t>
            </a:r>
            <a:r>
              <a:rPr sz="1600" b="1">
                <a:solidFill>
                  <a:srgbClr val="1B4332"/>
                </a:solidFill>
                <a:latin typeface="Arial"/>
              </a:rPr>
              <a:t>GEDI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97880" y="2176272"/>
            <a:ext cx="5623559" cy="603504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2 · </a:t>
            </a:r>
            <a:r>
              <a:rPr sz="1600" b="1">
                <a:solidFill>
                  <a:srgbClr val="1B4332"/>
                </a:solidFill>
                <a:latin typeface="Arial"/>
              </a:rPr>
              <a:t>óptico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97880" y="3054096"/>
            <a:ext cx="5623559" cy="603504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3 · </a:t>
            </a:r>
            <a:r>
              <a:rPr sz="1600" b="1">
                <a:solidFill>
                  <a:srgbClr val="1B4332"/>
                </a:solidFill>
                <a:latin typeface="Arial"/>
              </a:rPr>
              <a:t>radar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97880" y="3931920"/>
            <a:ext cx="5623559" cy="603504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4 · </a:t>
            </a:r>
            <a:r>
              <a:rPr sz="1600" b="1">
                <a:solidFill>
                  <a:srgbClr val="1B4332"/>
                </a:solidFill>
                <a:latin typeface="Arial"/>
              </a:rPr>
              <a:t>topografía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97880" y="4809744"/>
            <a:ext cx="5623559" cy="603504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5 · </a:t>
            </a:r>
            <a:r>
              <a:rPr sz="1600" b="1">
                <a:solidFill>
                  <a:srgbClr val="1B4332"/>
                </a:solidFill>
                <a:latin typeface="Arial"/>
              </a:rPr>
              <a:t>modelo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97880" y="5687568"/>
            <a:ext cx="5623559" cy="603504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6 · </a:t>
            </a:r>
            <a:r>
              <a:rPr sz="1600" b="1">
                <a:solidFill>
                  <a:srgbClr val="1B4332"/>
                </a:solidFill>
                <a:latin typeface="Arial"/>
              </a:rPr>
              <a:t>mapa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GEDI/UMD; NASA GSFC SVS 13090; Dubayah et al. (2020). USGS Landsat Collection 2; ESA/Copernicus Sentinel-2 MSI; NASA HLS. ESA/Copernicus Sentinel-1; CONAE SAOCOM; SAOCOM Mission Products Definition (2024).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102/179</a:t>
            </a:r>
            <a:endParaRPr lang="en-US" sz="750" dirty="0"/>
          </a:p>
        </p:txBody>
      </p:sp>
      <p:sp>
        <p:nvSpPr>
          <p:cNvPr id="20" name="TextBox 19"/>
          <p:cNvSpPr txBox="1"/>
          <p:nvPr/>
        </p:nvSpPr>
        <p:spPr>
          <a:xfrm>
            <a:off x="8435340" y="1911095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5340" y="2788920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5340" y="3666744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5340" y="4544568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5340" y="5422392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Landsat: la serie larga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 medio siglo de memoria del paisaje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Landsat permite reconstruir disturbios, recuperación y edad aparente de rodales.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2 ofrece reflectancia de superficie y productos consistentes para series temporales.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Resolución de 30 m es coherente con huellas GEDI y mapas regionales.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Combinado con Landsat 8/9, la revisitabilidad mejora para monitoreo anual.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897880" y="1371600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971032" y="1481328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89320" y="2894030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base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8791956" y="1371600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865108" y="1481328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1972+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83396" y="2894030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larga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5897880" y="3808476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971032" y="3918204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89320" y="5330906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reflectancia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791956" y="3808476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8865108" y="3918204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883396" y="5330906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armonización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USGS Landsat Collection 2; ESA/Copernicus Sentinel-2 MSI; NASA HLS.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103/179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Landsat 9: la continuidad, y la cadencia de ocho días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OLI-2 y TIRS-2, en órbita desde septiembre de 2021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0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Landsat 9 recorre la misma órbita que Landsat 8 con ocho días de desfase: juntos entregan una escena cada ocho días, no cada dieciséis.</a:t>
            </a:r>
            <a:endParaRPr lang="en-US" sz="1800" dirty="0"/>
          </a:p>
          <a:p>
            <a:pPr marL="0" indent="0" algn="just">
              <a:lnSpc>
                <a:spcPct val="100000"/>
              </a:lnSpc>
              <a:buFont typeface="Wingdings" pitchFamily="2" charset="2"/>
              <a:buChar char="ü"/>
            </a:pPr>
            <a:r>
              <a:rPr sz="1800">
                <a:solidFill>
                  <a:srgbClr val="111827"/>
                </a:solidFill>
                <a:latin typeface="Arial"/>
              </a:rPr>
              <a:t>El OLI-2 cuantifica en 14 bits contra los 12 bits del OLI: menos ruido en las sombras de ladera, que en el bosque andino son muchas.</a:t>
            </a:r>
          </a:p>
          <a:p>
            <a:pPr marL="0" indent="0" algn="just">
              <a:lnSpc>
                <a:spcPct val="100000"/>
              </a:lnSpc>
              <a:buFont typeface="Wingdings" pitchFamily="2" charset="2"/>
              <a:buChar char="ü"/>
            </a:pPr>
            <a:r>
              <a:rPr sz="1800">
                <a:solidFill>
                  <a:srgbClr val="111827"/>
                </a:solidFill>
                <a:latin typeface="Arial"/>
              </a:rPr>
              <a:t>La Colección 2 Nivel 2 llega con reflectancia de superficie ya corregida y con la máscara QA_PIXEL; se baja del Planetary Computer sin credencial.</a:t>
            </a:r>
          </a:p>
          <a:p>
            <a:pPr marL="0" indent="0" algn="just">
              <a:lnSpc>
                <a:spcPct val="100000"/>
              </a:lnSpc>
              <a:buFont typeface="Wingdings" pitchFamily="2" charset="2"/>
              <a:buChar char="ü"/>
            </a:pPr>
            <a:r>
              <a:rPr sz="1800">
                <a:solidFill>
                  <a:srgbClr val="111827"/>
                </a:solidFill>
                <a:latin typeface="Arial"/>
              </a:rPr>
              <a:t>Sobre los dos recintos del curso hay tres fechas descargadas: 03/03/2024, 04/01/2026 y 21/02/2026, las tres con cero nubes dentro del AOI.</a:t>
            </a:r>
          </a:p>
        </p:txBody>
      </p:sp>
      <p:sp>
        <p:nvSpPr>
          <p:cNvPr id="6" name="Shape 4"/>
          <p:cNvSpPr/>
          <p:nvPr/>
        </p:nvSpPr>
        <p:spPr>
          <a:xfrm>
            <a:off x="5897880" y="1371600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971032" y="1481328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89320" y="2894030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bandas reflectivas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8791956" y="1371600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865108" y="1481328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días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83396" y="2894030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junto a Landsat 8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5897880" y="3808476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971032" y="3918204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bits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89320" y="5330906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cuantificación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791956" y="3808476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8865108" y="3918204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fechas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883396" y="5330906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curso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USGS Landsat Collection 2 Level-2 (OLI-2/TIRS-2); NASA/USGS Landsat 9, lanzamiento 27/09/2021; Microsoft Planetary Computer (STAC). Datos del proyecto: matriz de datos del TP1.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104/179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Landsat: predictores útiles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Bandas e índices que capturan vigor, humedad y disturbio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NDVI/EVI: vigor fotosintético, con saturación en doseles densos.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NDMI/NBR: humedad foliar/estructura y severidad de incendio.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Bandas SWIR: sensibilidad a agua, lignina/celulosa y material quemado.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Texturas y percentiles temporales ayudan a resumir heterogeneidad.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Predictor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777240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964692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5897880" y="1764792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NDVI/EVI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7772400" y="1764792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vigor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9646920" y="1764792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5897880" y="2655418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NDMI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7772400" y="2655418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humedad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9646920" y="2655418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sitio/estrés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5897880" y="3546043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NBR/dNBR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7772400" y="3546043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fuego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9646920" y="3546043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disturbio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5897880" y="4436669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SWIR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7772400" y="4436669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agua/material seco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9646920" y="4436669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biomasa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5897880" y="5327294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percentiles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7772400" y="5327294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fenología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9646920" y="5327294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robustez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USGS Landsat Collection 2; ESA/Copernicus Sentinel-2 MSI; NASA HLS.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105/179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Landsat y disturbios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biomasa actual necesita historia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biomasa baja puede deberse a sitio pobre o a disturbio reciente: Landsat ayuda a separar causas.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LandTrendr, CCDC o series NBR detectan año e intensidad de cambio.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como “años desde disturbio” mejoran modelos de recuperación.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Chubut, fuego y manejo selectivo justifican usar historial temporal.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17920" y="3504438"/>
            <a:ext cx="4983480" cy="0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14476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80644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562356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bosque maduro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780592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46760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disturbio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728472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 SWIR/NBR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946708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912876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t+1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894588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rebrote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1112824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1078992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t+n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060704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recuperación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USGS Landsat Collection 2; ESA/Copernicus Sentinel-2 MSI; NASA HLS. CIEFAP/SNMBN Bosque Andino Patagónico; Argentina Ambiente Mapas de Bosque Nativo; Chubut OTBN.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106/179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Sentinel-2: resolución y red-edge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ojo fino para bordes, claros y estructura de copa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Bandas de 10 m permiten mapas más detallados en rodales pequeños.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Bandas red-edge ayudan a capturar contenido de clorofila y estructura de vegetación.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SWIR de 20 m aporta humedad y disturbio, re-muestreable con cuidado.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frecuencia temporal facilita composiciones libres de nube en temporada de crecimiento.</a:t>
            </a:r>
            <a:endParaRPr lang="en-US" sz="1800" dirty="0"/>
          </a:p>
        </p:txBody>
      </p:sp>
      <p:pic>
        <p:nvPicPr>
          <p:cNvPr id="6" name="Image 0" descr="/mnt/data/gedi_assets/sentinel2.jpg"/>
          <p:cNvPicPr>
            <a:picLocks noChangeAspect="1"/>
          </p:cNvPicPr>
          <p:nvPr/>
        </p:nvPicPr>
        <p:blipFill>
          <a:blip r:embed="rId2"/>
          <a:srcRect l="5058" r="5058"/>
          <a:stretch/>
        </p:blipFill>
        <p:spPr>
          <a:xfrm>
            <a:off x="5897880" y="1234440"/>
            <a:ext cx="5623560" cy="46908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97880" y="5980176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ESA: ilustración del satélite Sentinel-2 y medición multiespectral.</a:t>
            </a:r>
            <a:endParaRPr lang="en-US" sz="720" dirty="0"/>
          </a:p>
        </p:txBody>
      </p:sp>
      <p:sp>
        <p:nvSpPr>
          <p:cNvPr id="8" name="Shape 5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Imagen: ESA/ATG medialab o ESA-P. Carril. Datos: Copernicus Sentinel. USGS Landsat Collection 2; ESA/Copernicus Sentinel-2 MSI; NASA HLS.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107/179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Sentinel-2: índices recomendados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allá del NDVI: el red-edge merece su mate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NDVI y EVI para vigor general.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NDRE y red-edge chlorophyll indices para estructura/copa en bosques densos.</a:t>
            </a:r>
            <a:endParaRPr lang="en-US" sz="1800" dirty="0"/>
          </a:p>
          <a:p>
            <a:pPr marL="0" indent="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NDMI y MSI para humedad de vegetación.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NBR y dNBR para fuego y recuperación post-disturbio.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7240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Bandas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4692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Interpretación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897880" y="1764792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NDVI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1764792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NIR, rojo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646920" y="1764792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vigor/cobertura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897880" y="2655418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NDRE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772400" y="2655418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NIR, red-edge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646920" y="2655418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copa/clorofila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897880" y="3546043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NDMI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772400" y="3546043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NIR, SWIR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646920" y="3546043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humedad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897880" y="4436669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772400" y="4436669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NIR, SWIR2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646920" y="4436669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fuego/biomasa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897880" y="5327294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MSI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772400" y="5327294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SWIR/NIR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646920" y="5327294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estrés hídrico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USGS Landsat Collection 2; ESA/Copernicus Sentinel-2 MSI; NASA HLS.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108/179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Composites estacionales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fecha del píxel también es una variable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mediana o percentiles de verano para reducir nubes y nieve.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primavera, verano y otoño para capturar fenología caducifolia.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Incluir métricas de variabilidad temporal, no solo una imagen.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Alinear ventana temporal con fechas GEDI y estado del bosque.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17920" y="3504438"/>
            <a:ext cx="4983480" cy="0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14476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80644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primavera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562356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rebrote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780592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46760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verano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728472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máximo dosel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946708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912876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otoño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894588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senescencia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1112824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1078992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invierno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060704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nieve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USGS Landsat Collection 2; ESA/Copernicus Sentinel-2 MSI; NASA HLS. CIEFAP/SNMBN Bosque Andino Patagónico; Argentina Ambiente Mapas de Bosque Nativo; Chubut OTBN.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109/179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HLS: Landsat + Sentinel-2 armonizados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 consistentes para series densas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HLS combina Landsat y Sentinel-2 en reflectancia de superficie armonizada.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útil cuando se desea 30 m, series temporales densas y compatibilidad con GEDI.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problemas de diferencias de sensor, aunque siempre requiere máscaras de nube/nieve.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Chubut, puede ser un puente entre detalle Sentinel-2 e historia Landsat.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897880" y="1298448"/>
            <a:ext cx="5623560" cy="779068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1 · </a:t>
            </a:r>
            <a:r>
              <a:rPr sz="1600" b="1">
                <a:solidFill>
                  <a:srgbClr val="1B4332"/>
                </a:solidFill>
                <a:latin typeface="Arial"/>
              </a:rPr>
              <a:t>Landsat SR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97880" y="2351836"/>
            <a:ext cx="5623560" cy="779068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2 · </a:t>
            </a:r>
            <a:r>
              <a:rPr sz="1600" b="1">
                <a:solidFill>
                  <a:srgbClr val="1B4332"/>
                </a:solidFill>
                <a:latin typeface="Arial"/>
              </a:rPr>
              <a:t>Sentinel-2 SR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97880" y="3405225"/>
            <a:ext cx="5623560" cy="779068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3 · </a:t>
            </a:r>
            <a:r>
              <a:rPr sz="1600" b="1">
                <a:solidFill>
                  <a:srgbClr val="1B4332"/>
                </a:solidFill>
                <a:latin typeface="Arial"/>
              </a:rPr>
              <a:t>armonización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97880" y="4458614"/>
            <a:ext cx="5623560" cy="779068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4 · </a:t>
            </a:r>
            <a:r>
              <a:rPr sz="1600" b="1">
                <a:solidFill>
                  <a:srgbClr val="1B4332"/>
                </a:solidFill>
                <a:latin typeface="Arial"/>
              </a:rPr>
              <a:t>HLS 30 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97880" y="5512003"/>
            <a:ext cx="5623560" cy="779068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5 · </a:t>
            </a:r>
            <a:r>
              <a:rPr sz="1600" b="1">
                <a:solidFill>
                  <a:srgbClr val="1B4332"/>
                </a:solidFill>
                <a:latin typeface="Arial"/>
              </a:rPr>
              <a:t>features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USGS Landsat Collection 2; ESA/Copernicus Sentinel-2 MSI; NASA HLS.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110/179</a:t>
            </a:r>
            <a:endParaRPr lang="en-US" sz="750" dirty="0"/>
          </a:p>
        </p:txBody>
      </p:sp>
      <p:sp>
        <p:nvSpPr>
          <p:cNvPr id="18" name="TextBox 17"/>
          <p:cNvSpPr txBox="1"/>
          <p:nvPr/>
        </p:nvSpPr>
        <p:spPr>
          <a:xfrm>
            <a:off x="8435340" y="2086660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5340" y="3140049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5340" y="4193438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5340" y="5246827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Limitaciones ópticas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 no siempre significa más biomasa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Índices ópticos se saturan en doseles cerrados y altos.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Sombras topográficas en valles y laderas generan variación no biológica.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Nubes y nieve reducen disponibilidad temporal.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y radar ayudan a recuperar información estructural donde el óptico se queda corto.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179576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Saturación conceptual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97880" y="1453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biomasa baja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7360920" y="1499616"/>
            <a:ext cx="1280160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695944" y="1453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97880" y="2596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7360920" y="2642616"/>
            <a:ext cx="2560320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9976104" y="2596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897880" y="3739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360920" y="3785616"/>
            <a:ext cx="3108960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10524744" y="3739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897880" y="4882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muy alta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360920" y="4928616"/>
            <a:ext cx="3218688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10634472" y="4882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USGS Landsat Collection 2; ESA/Copernicus Sentinel-2 MSI; NASA HLS.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111/179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Sentinel-1: radar C-band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Nubes afuera, microondas adentro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Sentinel-1 es una misión SAR C-band, día/noche y casi todo tiempo.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VV y VH aportan retrodispersión relacionada con rugosidad, humedad y estructura superficial.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bosques, VH suele responder a volumen y dispersión múltiple, con saturación a biomasa alta.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gratuito y global, ideal para series temporales y humedad relativa del paisaje.</a:t>
            </a:r>
            <a:endParaRPr lang="en-US" sz="1800" dirty="0"/>
          </a:p>
        </p:txBody>
      </p:sp>
      <p:pic>
        <p:nvPicPr>
          <p:cNvPr id="6" name="Image 0" descr="/mnt/data/gedi_assets/sentinel1.jpg"/>
          <p:cNvPicPr>
            <a:picLocks noChangeAspect="1"/>
          </p:cNvPicPr>
          <p:nvPr/>
        </p:nvPicPr>
        <p:blipFill>
          <a:blip r:embed="rId2"/>
          <a:srcRect l="5044" r="5044"/>
          <a:stretch/>
        </p:blipFill>
        <p:spPr>
          <a:xfrm>
            <a:off x="5897880" y="1234440"/>
            <a:ext cx="5623560" cy="46908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97880" y="5980176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ESA-P. Carril: impresión artística de Sentinel-1A.</a:t>
            </a:r>
            <a:endParaRPr lang="en-US" sz="720" dirty="0"/>
          </a:p>
        </p:txBody>
      </p:sp>
      <p:sp>
        <p:nvSpPr>
          <p:cNvPr id="8" name="Shape 5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Imagen: ESA/ATG medialab o ESA-P. Carril. Datos: Copernicus Sentinel. ESA/Copernicus Sentinel-1; CONAE SAOCOM; SAOCOM Mission Products Definition (2024).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112/179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Preprocesamiento Sentinel-1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radar crudo necesita buenos modales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órbita precisa, remoción de ruido, calibración radiométrica y corrección geométrica/terreno.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Convertir a sigma0/gamma0 en dB según flujo elegido.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Filtrar speckle con cuidado: suavizar demasiado borra bordes forestales.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montaña, la corrección por terreno y máscaras de layover/shadow son esenciales.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897880" y="1298448"/>
            <a:ext cx="5623560" cy="779068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1 · </a:t>
            </a:r>
            <a:r>
              <a:rPr sz="1600" b="1">
                <a:solidFill>
                  <a:srgbClr val="1B4332"/>
                </a:solidFill>
                <a:latin typeface="Arial"/>
              </a:rPr>
              <a:t>órbita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97880" y="2351836"/>
            <a:ext cx="5623560" cy="779068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2 · </a:t>
            </a:r>
            <a:r>
              <a:rPr sz="1600" b="1">
                <a:solidFill>
                  <a:srgbClr val="1B4332"/>
                </a:solidFill>
                <a:latin typeface="Arial"/>
              </a:rPr>
              <a:t>ruido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97880" y="3405225"/>
            <a:ext cx="5623560" cy="779068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3 · </a:t>
            </a:r>
            <a:r>
              <a:rPr sz="1600" b="1">
                <a:solidFill>
                  <a:srgbClr val="1B4332"/>
                </a:solidFill>
                <a:latin typeface="Arial"/>
              </a:rPr>
              <a:t>calibración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97880" y="4458614"/>
            <a:ext cx="5623560" cy="779068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4 · </a:t>
            </a:r>
            <a:r>
              <a:rPr sz="1600" b="1">
                <a:solidFill>
                  <a:srgbClr val="1B4332"/>
                </a:solidFill>
                <a:latin typeface="Arial"/>
              </a:rPr>
              <a:t>terrain correction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97880" y="5512003"/>
            <a:ext cx="5623560" cy="779068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5 · </a:t>
            </a:r>
            <a:r>
              <a:rPr sz="1600" b="1">
                <a:solidFill>
                  <a:srgbClr val="1B4332"/>
                </a:solidFill>
                <a:latin typeface="Arial"/>
              </a:rPr>
              <a:t>features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ESA/Copernicus Sentinel-1; CONAE SAOCOM; SAOCOM Mission Products Definition (2024). ESA Sentinel-1 Product/SAR guides.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113/179</a:t>
            </a:r>
            <a:endParaRPr lang="en-US" sz="750" dirty="0"/>
          </a:p>
        </p:txBody>
      </p:sp>
      <p:sp>
        <p:nvSpPr>
          <p:cNvPr id="18" name="TextBox 17"/>
          <p:cNvSpPr txBox="1"/>
          <p:nvPr/>
        </p:nvSpPr>
        <p:spPr>
          <a:xfrm>
            <a:off x="8435340" y="2086660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5340" y="3140049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5340" y="4193438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5340" y="5246827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Sentinel-1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VV, VH, ratios y textura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VV y VH medianos por temporada reducen ruido meteorológico.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VH/VV o VV−VH capturan diferencias de dispersión y humedad.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Texturas GLCM pueden agregar estructura, pero aumentan riesgo de overfit.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multi-temporales ayudan a distinguir humedad estacional de biomasa.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7240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4692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897880" y="1764792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VV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1764792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superficie/estructura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646920" y="1764792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humedad/suelo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897880" y="2655418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772400" y="2655418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646920" y="2655418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saturación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897880" y="3546043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VH/VV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772400" y="3546043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relación polarimétrica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646920" y="3546043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ruido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897880" y="4436669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textura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772400" y="4436669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heterogeneidad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646920" y="4436669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ventana/tuning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897880" y="5327294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percentiles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772400" y="5327294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temporalidad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646920" y="5327294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ESA/Copernicus Sentinel-1; CONAE SAOCOM; SAOCOM Mission Products Definition (2024).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114/179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 y saturación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C-band no atraviesa el bosque como si fuera alambre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C-band es sensible a copa y ramas finas, con penetración limitada en bosques densos.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biomasa alta, la respuesta puede saturarse y depender más de humedad que de stock.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señal mejora cuando se combina con L-band, óptico y altura GEDI.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interpretar backscatter alto como biomasa alta sin controlar humedad y geometría.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179576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Sensibilidad conceptual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97880" y="1453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C-band bajo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7360920" y="1499616"/>
            <a:ext cx="1463040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878824" y="1453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sensible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97880" y="2596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C-band medio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7360920" y="2642616"/>
            <a:ext cx="2633472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0049256" y="2596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útil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897880" y="3739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C-band alto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360920" y="3785616"/>
            <a:ext cx="2926080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10341864" y="3739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897880" y="4882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L-band alto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360920" y="4928616"/>
            <a:ext cx="3364992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10780776" y="4882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info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ESA/Copernicus Sentinel-1; CONAE SAOCOM; SAOCOM Mission Products Definition (2024).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115/179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SAOCOM: radar L-band argentino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ventaja estratégica para Patagonia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SAOCOM 1A/1B opera con SAR L-band, más penetrante que C-band en vegetación.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banda L es valiosa para estructura leñosa, humedad de suelo y aplicaciones agrohidrológicas.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productos se consultan en el Catálogo SAOCOM y requieren licencia/registro según modalidad.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bosques chubutenses, SAOCOM puede complementar GEDI y Sentinel-1 donde la estructura es clave.</a:t>
            </a:r>
            <a:endParaRPr lang="en-US" sz="1800" dirty="0"/>
          </a:p>
        </p:txBody>
      </p:sp>
      <p:pic>
        <p:nvPicPr>
          <p:cNvPr id="6" name="Image 0" descr="/mnt/data/gedi_assets/saocom_satellite.jpg"/>
          <p:cNvPicPr>
            <a:picLocks noChangeAspect="1"/>
          </p:cNvPicPr>
          <p:nvPr/>
        </p:nvPicPr>
        <p:blipFill>
          <a:blip r:embed="rId2"/>
          <a:srcRect l="16810" r="16810"/>
          <a:stretch/>
        </p:blipFill>
        <p:spPr>
          <a:xfrm>
            <a:off x="5897880" y="1234440"/>
            <a:ext cx="5623560" cy="46908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97880" y="5980176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Ilustración de SAOCOM; usar datos oficiales CONAE para análisis.</a:t>
            </a:r>
            <a:endParaRPr lang="en-US" sz="720" dirty="0"/>
          </a:p>
        </p:txBody>
      </p:sp>
      <p:sp>
        <p:nvSpPr>
          <p:cNvPr id="8" name="Shape 5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Imagen: CONAE/UNLP o Agencia TSS. Datos: CONAE SAOCOM. ESA/Copernicus Sentinel-1; CONAE SAOCOM; SAOCOM Mission Products Definition (2024).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116/179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SAOCOM: productos y acceso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catálogo a SNAP/QGIS/Python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Catálogo SAOCOM permite buscar productos disponibles y gestionar descargas o pedidos.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 Nivel 1 incluyen SLC, detected image y geocoded/terrain corrected según definición.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lectura puede hacerse en SNAP, QGIS o librerías SAR compatibles, verificando formato.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 modo, polarización, incidencia, fecha, órbita y nivel de procesamiento.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7240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4692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89788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SLC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complejo/fase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64692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InSAR/polarimetría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89788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77240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detectado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64692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backscatter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89788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GEC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77240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geocodificado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64692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89788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GTC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77240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terrain corrected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64692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montaña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ESA/Copernicus Sentinel-1; CONAE SAOCOM; SAOCOM Mission Products Definition (2024). CONAE Catálogo SAOCOM.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117/179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C-band vs L-band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radares, dos profundidades de conversación con el dosel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Sentinel-1 C-band responde más a copa, ramas finas y humedad superficial.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SAOCOM L-band penetra más y se relaciona mejor con componentes leñosos intermedios.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Ambos se afectan por humedad, geometría y rugosidad del terreno.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fusión C+L reduce ambigüedad y puede mejorar biomasa en bosques densos.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281178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</a:t>
            </a:r>
            <a:endParaRPr lang="en-US" sz="890" dirty="0"/>
          </a:p>
        </p:txBody>
      </p:sp>
      <p:sp>
        <p:nvSpPr>
          <p:cNvPr id="7" name="Text 5"/>
          <p:cNvSpPr/>
          <p:nvPr/>
        </p:nvSpPr>
        <p:spPr>
          <a:xfrm>
            <a:off x="8709660" y="1234440"/>
            <a:ext cx="281178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Aporte principal</a:t>
            </a:r>
            <a:endParaRPr lang="en-US" sz="890" dirty="0"/>
          </a:p>
        </p:txBody>
      </p:sp>
      <p:sp>
        <p:nvSpPr>
          <p:cNvPr id="8" name="Text 6"/>
          <p:cNvSpPr/>
          <p:nvPr/>
        </p:nvSpPr>
        <p:spPr>
          <a:xfrm>
            <a:off x="5897880" y="1764792"/>
            <a:ext cx="281178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Sentinel-1 C</a:t>
            </a:r>
            <a:endParaRPr lang="en-US" sz="890" dirty="0"/>
          </a:p>
        </p:txBody>
      </p:sp>
      <p:sp>
        <p:nvSpPr>
          <p:cNvPr id="9" name="Text 7"/>
          <p:cNvSpPr/>
          <p:nvPr/>
        </p:nvSpPr>
        <p:spPr>
          <a:xfrm>
            <a:off x="8709660" y="1764792"/>
            <a:ext cx="281178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frecuencia temporal y todo tiempo</a:t>
            </a:r>
            <a:endParaRPr lang="en-US" sz="890" dirty="0"/>
          </a:p>
        </p:txBody>
      </p:sp>
      <p:sp>
        <p:nvSpPr>
          <p:cNvPr id="10" name="Text 8"/>
          <p:cNvSpPr/>
          <p:nvPr/>
        </p:nvSpPr>
        <p:spPr>
          <a:xfrm>
            <a:off x="5897880" y="2878074"/>
            <a:ext cx="281178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SAOCOM L</a:t>
            </a:r>
            <a:endParaRPr lang="en-US" sz="890" dirty="0"/>
          </a:p>
        </p:txBody>
      </p:sp>
      <p:sp>
        <p:nvSpPr>
          <p:cNvPr id="11" name="Text 9"/>
          <p:cNvSpPr/>
          <p:nvPr/>
        </p:nvSpPr>
        <p:spPr>
          <a:xfrm>
            <a:off x="8709660" y="2878074"/>
            <a:ext cx="281178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penetración y estructura leñosa</a:t>
            </a:r>
            <a:endParaRPr lang="en-US" sz="890" dirty="0"/>
          </a:p>
        </p:txBody>
      </p:sp>
      <p:sp>
        <p:nvSpPr>
          <p:cNvPr id="12" name="Text 10"/>
          <p:cNvSpPr/>
          <p:nvPr/>
        </p:nvSpPr>
        <p:spPr>
          <a:xfrm>
            <a:off x="5897880" y="3991356"/>
            <a:ext cx="281178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lidar</a:t>
            </a:r>
            <a:endParaRPr lang="en-US" sz="890" dirty="0"/>
          </a:p>
        </p:txBody>
      </p:sp>
      <p:sp>
        <p:nvSpPr>
          <p:cNvPr id="13" name="Text 11"/>
          <p:cNvSpPr/>
          <p:nvPr/>
        </p:nvSpPr>
        <p:spPr>
          <a:xfrm>
            <a:off x="8709660" y="3991356"/>
            <a:ext cx="281178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altura/perfil 3D</a:t>
            </a:r>
            <a:endParaRPr lang="en-US" sz="890" dirty="0"/>
          </a:p>
        </p:txBody>
      </p:sp>
      <p:sp>
        <p:nvSpPr>
          <p:cNvPr id="14" name="Text 12"/>
          <p:cNvSpPr/>
          <p:nvPr/>
        </p:nvSpPr>
        <p:spPr>
          <a:xfrm>
            <a:off x="5897880" y="5104638"/>
            <a:ext cx="281178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Óptico</a:t>
            </a:r>
            <a:endParaRPr lang="en-US" sz="890" dirty="0"/>
          </a:p>
        </p:txBody>
      </p:sp>
      <p:sp>
        <p:nvSpPr>
          <p:cNvPr id="15" name="Text 13"/>
          <p:cNvSpPr/>
          <p:nvPr/>
        </p:nvSpPr>
        <p:spPr>
          <a:xfrm>
            <a:off x="8709660" y="5104638"/>
            <a:ext cx="281178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fenología y cobertura</a:t>
            </a:r>
            <a:endParaRPr lang="en-US" sz="890" dirty="0"/>
          </a:p>
        </p:txBody>
      </p:sp>
      <p:sp>
        <p:nvSpPr>
          <p:cNvPr id="16" name="Shape 14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ESA/Copernicus Sentinel-1; CONAE SAOCOM; SAOCOM Mission Products Definition (2024). NASA GEDI/UMD; NASA GSFC SVS 13090; Dubayah et al. (2020).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118/179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Preprocesamiento SAOCOM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 oficio SAR, con particularidades de producto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Calibración radiométrica a backscatter comparable.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Corrección geométrica/terrain correction con DEM adecuado para Andes.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de polarizaciones y ángulos de incidencia consistentes.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temporal si se combinan escenas con humedad distinta.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897880" y="1298448"/>
            <a:ext cx="5623560" cy="779068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1 · </a:t>
            </a:r>
            <a:r>
              <a:rPr sz="1600" b="1">
                <a:solidFill>
                  <a:srgbClr val="1B4332"/>
                </a:solidFill>
                <a:latin typeface="Arial"/>
              </a:rPr>
              <a:t>catálogo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97880" y="2351836"/>
            <a:ext cx="5623560" cy="779068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2 · </a:t>
            </a:r>
            <a:r>
              <a:rPr sz="1600" b="1">
                <a:solidFill>
                  <a:srgbClr val="1B4332"/>
                </a:solidFill>
                <a:latin typeface="Arial"/>
              </a:rPr>
              <a:t>calibración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97880" y="3405225"/>
            <a:ext cx="5623560" cy="779068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3 · </a:t>
            </a:r>
            <a:r>
              <a:rPr sz="1600" b="1">
                <a:solidFill>
                  <a:srgbClr val="1B4332"/>
                </a:solidFill>
                <a:latin typeface="Arial"/>
              </a:rPr>
              <a:t>terrain correction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97880" y="4458614"/>
            <a:ext cx="5623560" cy="779068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4 · </a:t>
            </a:r>
            <a:r>
              <a:rPr sz="1600" b="1">
                <a:solidFill>
                  <a:srgbClr val="1B4332"/>
                </a:solidFill>
                <a:latin typeface="Arial"/>
              </a:rPr>
              <a:t>polarizaciones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97880" y="5512003"/>
            <a:ext cx="5623560" cy="779068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5 · </a:t>
            </a:r>
            <a:r>
              <a:rPr sz="1600" b="1">
                <a:solidFill>
                  <a:srgbClr val="1B4332"/>
                </a:solidFill>
                <a:latin typeface="Arial"/>
              </a:rPr>
              <a:t>features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ESA/Copernicus Sentinel-1; CONAE SAOCOM; SAOCOM Mission Products Definition (2024).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119/179</a:t>
            </a:r>
            <a:endParaRPr lang="en-US" sz="750" dirty="0"/>
          </a:p>
        </p:txBody>
      </p:sp>
      <p:sp>
        <p:nvSpPr>
          <p:cNvPr id="18" name="TextBox 17"/>
          <p:cNvSpPr txBox="1"/>
          <p:nvPr/>
        </p:nvSpPr>
        <p:spPr>
          <a:xfrm>
            <a:off x="8435340" y="2086660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5340" y="3140049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5340" y="4193438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5340" y="5246827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Polarizaciones y biomasa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señal cruzada suele hablar de volumen; no siempre dice la verdad completa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Cross-pol se asocia a dispersión volumétrica y estructura de vegetación.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Co-pol puede aportar superficie, orientación y humedad.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L-band, polarimetría completa puede mejorar separación de mecanismos de dispersión.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ángulo de incidencia debe usarse como covariable o criterio de homogenización.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Polarización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7240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Posible señal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4692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89788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HH/VV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superficie/orientación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64692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incidencia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89788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HV/VH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77240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64692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ruido/saturación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89788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77240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64692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sensibles al ruido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89788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decomposición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77240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mecanismos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64692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procesamiento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ESA/Copernicus Sentinel-1; CONAE SAOCOM; SAOCOM Mission Products Definition (2024).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120/179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Corrección topográfica SAR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los Andes, ignorarla es invitar al error con empanadas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Pendientes generan layover, foreshortening y shadow.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DEM de calidad y corrección radiométrica por terreno cuando corresponda.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Máscaras de geometría radar evitan entrenar con píxeles físicamente problemáticos.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 desempeño por pendiente/exposición para detectar artefactos residuales.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371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35331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 consistente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331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31343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terrain correction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97880" y="3291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27355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máscara layover/shadow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4251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423367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incidencia local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97880" y="5212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519379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por pendiente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ESA/Copernicus Sentinel-1; CONAE SAOCOM; SAOCOM Mission Products Definition (2024). CIEFAP/SNMBN Bosque Andino Patagónico; Argentina Ambiente Mapas de Bosque Nativo; Chubut OTBN.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121/179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NISAR: banda L de acceso libre, y ya geocodificada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misión conjunta de la NASA y la ISRO</a:t>
            </a:r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0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NISAR lleva dos radares en la misma plataforma, uno de banda L, de unos 24 cm, y otro de banda S; su antena desplegable de doce metros ilumina una franja ancha sin resignar resolución.</a:t>
            </a:r>
          </a:p>
          <a:p>
            <a:pPr marL="0" indent="0" algn="just">
              <a:lnSpc>
                <a:spcPct val="10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 productos son de acceso libre por Earthdata y el ASF, sin pedido previo: es la única fuente de banda L del curso que no exige solicitud ni autorización.</a:t>
            </a:r>
          </a:p>
          <a:p>
            <a:pPr marL="0" indent="0" algn="just">
              <a:lnSpc>
                <a:spcPct val="10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GCOV es un producto de nivel 2 que llega ya geocodificado y corregido por terreno, con la covarianza polarimétrica: se puede usar sin pasar por SNAP.</a:t>
            </a:r>
          </a:p>
          <a:p>
            <a:pPr marL="0" indent="0" algn="just">
              <a:lnSpc>
                <a:spcPct val="10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los dos recintos hay tres fechas útiles de nueve, el 04/12/2025, el 28/12/2025 y el 08/01/2026, de las trazas 003 y 169.</a:t>
            </a:r>
          </a:p>
        </p:txBody>
      </p:sp>
      <p:sp>
        <p:nvSpPr>
          <p:cNvPr id="6" name="Shape 4"/>
          <p:cNvSpPr/>
          <p:nvPr/>
        </p:nvSpPr>
        <p:spPr>
          <a:xfrm>
            <a:off x="5897880" y="1371600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971032" y="1481328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y S</a:t>
            </a:r>
          </a:p>
        </p:txBody>
      </p:sp>
      <p:sp>
        <p:nvSpPr>
          <p:cNvPr id="8" name="Text 6"/>
          <p:cNvSpPr/>
          <p:nvPr/>
        </p:nvSpPr>
        <p:spPr>
          <a:xfrm>
            <a:off x="5989320" y="2894030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bandas a la vez</a:t>
            </a:r>
          </a:p>
        </p:txBody>
      </p:sp>
      <p:sp>
        <p:nvSpPr>
          <p:cNvPr id="9" name="Shape 7"/>
          <p:cNvSpPr/>
          <p:nvPr/>
        </p:nvSpPr>
        <p:spPr>
          <a:xfrm>
            <a:off x="8791956" y="1371600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865108" y="1481328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días</a:t>
            </a:r>
          </a:p>
        </p:txBody>
      </p:sp>
      <p:sp>
        <p:nvSpPr>
          <p:cNvPr id="11" name="Text 9"/>
          <p:cNvSpPr/>
          <p:nvPr/>
        </p:nvSpPr>
        <p:spPr>
          <a:xfrm>
            <a:off x="8883396" y="2894030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repetición</a:t>
            </a:r>
          </a:p>
        </p:txBody>
      </p:sp>
      <p:sp>
        <p:nvSpPr>
          <p:cNvPr id="12" name="Shape 10"/>
          <p:cNvSpPr/>
          <p:nvPr/>
        </p:nvSpPr>
        <p:spPr>
          <a:xfrm>
            <a:off x="5897880" y="3808476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971032" y="3918204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GCOV</a:t>
            </a:r>
          </a:p>
        </p:txBody>
      </p:sp>
      <p:sp>
        <p:nvSpPr>
          <p:cNvPr id="14" name="Text 12"/>
          <p:cNvSpPr/>
          <p:nvPr/>
        </p:nvSpPr>
        <p:spPr>
          <a:xfrm>
            <a:off x="5989320" y="5330906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2, ya geocodificado</a:t>
            </a:r>
          </a:p>
        </p:txBody>
      </p:sp>
      <p:sp>
        <p:nvSpPr>
          <p:cNvPr id="15" name="Shape 13"/>
          <p:cNvSpPr/>
          <p:nvPr/>
        </p:nvSpPr>
        <p:spPr>
          <a:xfrm>
            <a:off x="8791956" y="3808476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8865108" y="3918204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fechas</a:t>
            </a:r>
          </a:p>
        </p:txBody>
      </p:sp>
      <p:sp>
        <p:nvSpPr>
          <p:cNvPr id="17" name="Text 15"/>
          <p:cNvSpPr/>
          <p:nvPr/>
        </p:nvSpPr>
        <p:spPr>
          <a:xfrm>
            <a:off x="8883396" y="5330906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útiles de nueve, en el curso</a:t>
            </a:r>
          </a:p>
        </p:txBody>
      </p:sp>
      <p:sp>
        <p:nvSpPr>
          <p:cNvPr id="18" name="Shape 16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NASA/ISRO NISAR; NASA Earthdata / ASF DAAC, producto GCOV. Datos del proyecto: matriz de datos del TP1, trazas 003 y 169.</a:t>
            </a:r>
          </a:p>
        </p:txBody>
      </p:sp>
      <p:sp>
        <p:nvSpPr>
          <p:cNvPr id="20" name="Text 18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122/179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NISAR frente a SAOCOM y a PALSAR-2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radares de banda L que llegan al usuario en estados distintos</a:t>
            </a:r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0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tres son de banda L, pero no cuestan lo mismo: NISAR llega geocodificado, el SAOCOM llega en nivel 1A complejo y PALSAR-2 llega como mosaico de todo un año.</a:t>
            </a:r>
          </a:p>
          <a:p>
            <a:pPr marL="0" indent="0" algn="just">
              <a:lnSpc>
                <a:spcPct val="10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Medido sobre las 690 huellas válidas del bosque, la polarización cruzada de NISAR es la que mejor sigue la altura del dosel: R² de 0,18 con ventana de 30 m y de 0,28 con ventana de 150 m.</a:t>
            </a:r>
          </a:p>
          <a:p>
            <a:pPr marL="0" indent="0" algn="just">
              <a:lnSpc>
                <a:spcPct val="10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contraste entre bosque y estepa, las tres de banda L separan entre 9,9 y 11,7 dB, contra 4,2 dB de la banda C de Sentinel-1.</a:t>
            </a:r>
          </a:p>
          <a:p>
            <a:pPr marL="0" indent="0" algn="just">
              <a:lnSpc>
                <a:spcPct val="10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dos sensores independientes coincidan sobre el mismo bosque es lo que permite creerles; por eso el TP4 los compara con dos días de diferencia.</a:t>
            </a:r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</a:t>
            </a:r>
          </a:p>
        </p:txBody>
      </p:sp>
      <p:sp>
        <p:nvSpPr>
          <p:cNvPr id="7" name="Text 5"/>
          <p:cNvSpPr/>
          <p:nvPr/>
        </p:nvSpPr>
        <p:spPr>
          <a:xfrm>
            <a:off x="777240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llega</a:t>
            </a:r>
          </a:p>
        </p:txBody>
      </p:sp>
      <p:sp>
        <p:nvSpPr>
          <p:cNvPr id="8" name="Text 6"/>
          <p:cNvSpPr/>
          <p:nvPr/>
        </p:nvSpPr>
        <p:spPr>
          <a:xfrm>
            <a:off x="964692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exige</a:t>
            </a:r>
          </a:p>
        </p:txBody>
      </p:sp>
      <p:sp>
        <p:nvSpPr>
          <p:cNvPr id="9" name="Text 7"/>
          <p:cNvSpPr/>
          <p:nvPr/>
        </p:nvSpPr>
        <p:spPr>
          <a:xfrm>
            <a:off x="589788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NISAR GCOV</a:t>
            </a:r>
          </a:p>
        </p:txBody>
      </p:sp>
      <p:sp>
        <p:nvSpPr>
          <p:cNvPr id="10" name="Text 8"/>
          <p:cNvSpPr/>
          <p:nvPr/>
        </p:nvSpPr>
        <p:spPr>
          <a:xfrm>
            <a:off x="777240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geocodificado, nivel 2</a:t>
            </a:r>
          </a:p>
        </p:txBody>
      </p:sp>
      <p:sp>
        <p:nvSpPr>
          <p:cNvPr id="11" name="Text 9"/>
          <p:cNvSpPr/>
          <p:nvPr/>
        </p:nvSpPr>
        <p:spPr>
          <a:xfrm>
            <a:off x="964692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 de Earthdata</a:t>
            </a:r>
          </a:p>
        </p:txBody>
      </p:sp>
      <p:sp>
        <p:nvSpPr>
          <p:cNvPr id="12" name="Text 10"/>
          <p:cNvSpPr/>
          <p:nvPr/>
        </p:nvSpPr>
        <p:spPr>
          <a:xfrm>
            <a:off x="589788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SAOCOM L1A</a:t>
            </a:r>
          </a:p>
        </p:txBody>
      </p:sp>
      <p:sp>
        <p:nvSpPr>
          <p:cNvPr id="13" name="Text 11"/>
          <p:cNvSpPr/>
          <p:nvPr/>
        </p:nvSpPr>
        <p:spPr>
          <a:xfrm>
            <a:off x="777240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complejo, con fase</a:t>
            </a:r>
          </a:p>
        </p:txBody>
      </p:sp>
      <p:sp>
        <p:nvSpPr>
          <p:cNvPr id="14" name="Text 12"/>
          <p:cNvSpPr/>
          <p:nvPr/>
        </p:nvSpPr>
        <p:spPr>
          <a:xfrm>
            <a:off x="964692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 CONAE y autorización</a:t>
            </a:r>
          </a:p>
        </p:txBody>
      </p:sp>
      <p:sp>
        <p:nvSpPr>
          <p:cNvPr id="15" name="Text 13"/>
          <p:cNvSpPr/>
          <p:nvPr/>
        </p:nvSpPr>
        <p:spPr>
          <a:xfrm>
            <a:off x="589788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PALSAR-2</a:t>
            </a:r>
          </a:p>
        </p:txBody>
      </p:sp>
      <p:sp>
        <p:nvSpPr>
          <p:cNvPr id="16" name="Text 14"/>
          <p:cNvSpPr/>
          <p:nvPr/>
        </p:nvSpPr>
        <p:spPr>
          <a:xfrm>
            <a:off x="777240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mosaico anual de 25 m</a:t>
            </a:r>
          </a:p>
        </p:txBody>
      </p:sp>
      <p:sp>
        <p:nvSpPr>
          <p:cNvPr id="17" name="Text 15"/>
          <p:cNvSpPr/>
          <p:nvPr/>
        </p:nvSpPr>
        <p:spPr>
          <a:xfrm>
            <a:off x="964692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gratuito en JAXA</a:t>
            </a:r>
          </a:p>
        </p:txBody>
      </p:sp>
      <p:sp>
        <p:nvSpPr>
          <p:cNvPr id="18" name="Text 16"/>
          <p:cNvSpPr/>
          <p:nvPr/>
        </p:nvSpPr>
        <p:spPr>
          <a:xfrm>
            <a:off x="589788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Sentinel-1</a:t>
            </a:r>
          </a:p>
        </p:txBody>
      </p:sp>
      <p:sp>
        <p:nvSpPr>
          <p:cNvPr id="19" name="Text 17"/>
          <p:cNvSpPr/>
          <p:nvPr/>
        </p:nvSpPr>
        <p:spPr>
          <a:xfrm>
            <a:off x="777240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GRD y SLC, banda C</a:t>
            </a:r>
          </a:p>
        </p:txBody>
      </p:sp>
      <p:sp>
        <p:nvSpPr>
          <p:cNvPr id="20" name="Text 18"/>
          <p:cNvSpPr/>
          <p:nvPr/>
        </p:nvSpPr>
        <p:spPr>
          <a:xfrm>
            <a:off x="964692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 del CDSE</a:t>
            </a:r>
          </a:p>
        </p:txBody>
      </p:sp>
      <p:sp>
        <p:nvSpPr>
          <p:cNvPr id="21" name="Shape 19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NASA/ISRO NISAR (GCOV); CONAE SAOCOM; JAXA EORC ALOS-2/PALSAR-2; ESA/Copernicus Sentinel-1. Mediciones del TP4 sobre 690 huellas del bosque, rehechas el 6/08/2026.</a:t>
            </a:r>
          </a:p>
        </p:txBody>
      </p:sp>
      <p:sp>
        <p:nvSpPr>
          <p:cNvPr id="23" name="Text 21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123/179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ALOS-1 PALSAR: la serie histórica en banda 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2006 a 2011, y el único cuadripolar completo del archivo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0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PALSAR de ALOS-1 fue el primer radar de banda L de acceso civil abierto con polarimetría completa: HH, HV, VH y VV en la misma pasada.</a:t>
            </a:r>
            <a:endParaRPr lang="en-US" sz="1800" dirty="0"/>
          </a:p>
          <a:p>
            <a:pPr marL="0" indent="0" algn="just">
              <a:lnSpc>
                <a:spcPct val="100000"/>
              </a:lnSpc>
              <a:buFont typeface="Wingdings" pitchFamily="2" charset="2"/>
              <a:buChar char="ü"/>
            </a:pPr>
            <a:r>
              <a:rPr sz="1800">
                <a:solidFill>
                  <a:srgbClr val="111827"/>
                </a:solidFill>
                <a:latin typeface="Arial"/>
              </a:rPr>
              <a:t>Su archivo, de 2006 a 2011, es la única ventana de banda L anterior a los incendios y al manejo de las últimas dos décadas.</a:t>
            </a:r>
          </a:p>
          <a:p>
            <a:pPr marL="0" indent="0" algn="just">
              <a:lnSpc>
                <a:spcPct val="100000"/>
              </a:lnSpc>
              <a:buFont typeface="Wingdings" pitchFamily="2" charset="2"/>
              <a:buChar char="ü"/>
            </a:pPr>
            <a:r>
              <a:rPr sz="1800">
                <a:solidFill>
                  <a:srgbClr val="111827"/>
                </a:solidFill>
                <a:latin typeface="Arial"/>
              </a:rPr>
              <a:t>Se distribuye por el ASF con la credencial de Earthdata, en nivel 1.1 complejo, que conserva la fase y permite polarimetría.</a:t>
            </a:r>
          </a:p>
          <a:p>
            <a:pPr marL="0" indent="0" algn="just">
              <a:lnSpc>
                <a:spcPct val="100000"/>
              </a:lnSpc>
              <a:buFont typeface="Wingdings" pitchFamily="2" charset="2"/>
              <a:buChar char="ü"/>
            </a:pPr>
            <a:r>
              <a:rPr sz="1800">
                <a:solidFill>
                  <a:srgbClr val="111827"/>
                </a:solidFill>
                <a:latin typeface="Arial"/>
              </a:rPr>
              <a:t>En el curso hay cinco fechas entre 2007 y 2009, diez frames, sobre el recinto de bosque; sobre la estepa la cobertura llega al 93 %.</a:t>
            </a:r>
          </a:p>
        </p:txBody>
      </p:sp>
      <p:sp>
        <p:nvSpPr>
          <p:cNvPr id="6" name="Shape 4"/>
          <p:cNvSpPr/>
          <p:nvPr/>
        </p:nvSpPr>
        <p:spPr>
          <a:xfrm>
            <a:off x="6217920" y="3504438"/>
            <a:ext cx="4983480" cy="0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14476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80644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2006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562356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lanzamiento de ALOS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780592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46760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2007-2009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728472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cinco fechas del curso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946708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912876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2011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894588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de la misión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1112824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1078992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23,6 cm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060704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 de onda, banda L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JAXA EORC ALOS/PALSAR; NASA Earthdata / ASF DAAC, nivel 1.1. Datos del proyecto: 00_COMUN\08_Originales_crudos\00_alos, cinco fechas de 2007-07-21 a 2009-06-06.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124/179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ALOS-2 PALSAR-2: el mosaico anual de banda 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Veinticinco metros, dos polarizaciones y un archivo por año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JAXA publica un mosaico global anual de PALSAR-2 a 25 m, ortorrectificado y normalizado por terreno.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sz="1800">
                <a:solidFill>
                  <a:srgbClr val="111827"/>
                </a:solidFill>
                <a:latin typeface="Arial"/>
              </a:rPr>
              <a:t>No es una escena de una fecha: resume el año entero. Sirve de referencia externa al proyecto, no para seguir un cambio abrupto.</a:t>
            </a:r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sz="1800">
                <a:solidFill>
                  <a:srgbClr val="111827"/>
                </a:solidFill>
                <a:latin typeface="Arial"/>
              </a:rPr>
              <a:t>Se descarga del portal EORC de la JAXA con registro gratuito; el tile que cubre los dos recintos es el S42W072.</a:t>
            </a:r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sz="1800">
                <a:solidFill>
                  <a:srgbClr val="111827"/>
                </a:solidFill>
                <a:latin typeface="Arial"/>
              </a:rPr>
              <a:t>En el curso entran los años 2023, 2024 y 2025: dos de línea de base y uno anterior al incendio.</a:t>
            </a:r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7240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4692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89788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Mosaico anual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 y HV a 25 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64692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 externa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89788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CEOS-ARD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77240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normalizado por terreno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64692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comparable entre años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89788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 L1.1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77240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complejo, con fase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64692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InSAR y polarimetría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89788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Máscara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77240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 y sin dato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64692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calidad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JAXA EORC ALOS-2/PALSAR-2 Global 25 m Mosaic, producto CEOS-ARD. Datos del proyecto: TP4, ALOS_PALSAR_2, tile S42W072, años 2023, 2024 y 2025.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125/179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stack de predictores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buena pila no es una bolsa de variables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Óptico: bandas, índices, percentiles y variables de disturbio.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Radar: VV/VH, polarizaciones L-band, ratios, texturas y métricas temporales.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Topografía: elevación, pendiente, exposición, curvatura y clima si disponible.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GEDI: solo como objetivo/etiqueta o como predictor cuando el mapa final lo permita.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777240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964692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Resolución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5897880" y="1764792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Landsat/HLS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7772400" y="1764792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NBR, NDMI, series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9646920" y="1764792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5897880" y="2655418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Sentinel-2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7772400" y="2655418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red-edge, NDVI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9646920" y="2655418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10–20 m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5897880" y="3546043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Sentinel-1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7772400" y="3546043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VV/VH, textura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9646920" y="3546043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5897880" y="4436669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SAOCOM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7772400" y="4436669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L-band pol.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9646920" y="4436669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5897880" y="5327294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Topografía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7772400" y="5327294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DEM/slope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9646920" y="5327294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10–30 m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USGS Landsat Collection 2; ESA/Copernicus Sentinel-2 MSI; NASA HLS. ESA/Copernicus Sentinel-1; CONAE SAOCOM; SAOCOM Mission Products Definition (2024).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126/179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Alinear huella y píxel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soporte espacial no se arregla con “nearest” y fe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Extraer estadísticas dentro de un buffer aproximado al footprint GEDI, no solo el píxel central.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10 m, usar media/mediana de píxeles dentro de 12,5 m o 15 m.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30 m, evaluar si el píxel cubre adecuadamente la huella.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bordes, usar proporción de bosque dentro del buffer como filtro o predictor.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897880" y="1298448"/>
            <a:ext cx="5623560" cy="779068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1 · </a:t>
            </a:r>
            <a:r>
              <a:rPr sz="1600" b="1">
                <a:solidFill>
                  <a:srgbClr val="1B4332"/>
                </a:solidFill>
                <a:latin typeface="Arial"/>
              </a:rPr>
              <a:t>footprint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97880" y="2351836"/>
            <a:ext cx="5623560" cy="779068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2 · </a:t>
            </a:r>
            <a:r>
              <a:rPr sz="1600" b="1">
                <a:solidFill>
                  <a:srgbClr val="1B4332"/>
                </a:solidFill>
                <a:latin typeface="Arial"/>
              </a:rPr>
              <a:t>buffer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97880" y="3405225"/>
            <a:ext cx="5623560" cy="779068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3 · </a:t>
            </a:r>
            <a:r>
              <a:rPr sz="1600" b="1">
                <a:solidFill>
                  <a:srgbClr val="1B4332"/>
                </a:solidFill>
                <a:latin typeface="Arial"/>
              </a:rPr>
              <a:t>estadísticas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97880" y="4458614"/>
            <a:ext cx="5623560" cy="779068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4 · </a:t>
            </a:r>
            <a:r>
              <a:rPr sz="1600" b="1">
                <a:solidFill>
                  <a:srgbClr val="1B4332"/>
                </a:solidFill>
                <a:latin typeface="Arial"/>
              </a:rPr>
              <a:t>proporción bosque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97880" y="5512003"/>
            <a:ext cx="5623560" cy="779068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5 · </a:t>
            </a:r>
            <a:r>
              <a:rPr sz="1600" b="1">
                <a:solidFill>
                  <a:srgbClr val="1B4332"/>
                </a:solidFill>
                <a:latin typeface="Arial"/>
              </a:rPr>
              <a:t>muestra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GEDI/UMD; NASA GSFC SVS 13090; Dubayah et al. (2020). USGS Landsat Collection 2; ESA/Copernicus Sentinel-2 MSI; NASA HLS. ESA/Copernicus Sentinel-1; CONAE SAOCOM; SAOCOM Mission Products Definition (2024).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127/179</a:t>
            </a:r>
            <a:endParaRPr lang="en-US" sz="750" dirty="0"/>
          </a:p>
        </p:txBody>
      </p:sp>
      <p:sp>
        <p:nvSpPr>
          <p:cNvPr id="18" name="TextBox 17"/>
          <p:cNvSpPr txBox="1"/>
          <p:nvPr/>
        </p:nvSpPr>
        <p:spPr>
          <a:xfrm>
            <a:off x="8435340" y="2086660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5340" y="3140049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5340" y="4193438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5340" y="5246827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Alineación temporal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GEDI de 2019 con un Sentinel de 2025 puede contar una novela de ciencia ficción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Seleccionar covariables de la misma temporada/año que GEDI cuando se entrena con huellas.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mapa actual, entrenar con huellas no perturbadas o corregir por cambio temporal.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Landsat para detectar cambios entre fecha GEDI y fecha del mapa final.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Eliminar o etiquetar huellas con disturbio posterior a la adquisición.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17920" y="3504438"/>
            <a:ext cx="4983480" cy="0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14476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80644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GEDI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562356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780592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46760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728472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 temporada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946708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912876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894588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detectar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1112824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1078992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final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060704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ajustar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USGS Landsat Collection 2; ESA/Copernicus Sentinel-2 MSI; NASA HLS. NASA Earthdata GEDI v3 release; ORNL DAAC GEDI L4A v3, DOI 10.3334/ORNLDAAC/2508.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128/179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Máscaras de nube, sombra y nieve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mejor índice es el que no incluye nube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QA bands, SCL de Sentinel-2 y algoritmos de cloud/shadow masking.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Patagonia, nieve estacional debe tratarse como clase aparte o excluirse.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Composites de verano reducen nieve, pero no eliminan nubes orográficas.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 ayuda a mantener observación cuando el óptico queda incompleto.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371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35331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nube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331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31343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sombra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97880" y="3291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27355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nieve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4251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423367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97880" y="5212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519379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píxeles saturados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USGS Landsat Collection 2; ESA/Copernicus Sentinel-2 MSI; NASA HLS. ESA/Copernicus Sentinel-1; CONAE SAOCOM; SAOCOM Mission Products Definition (2024).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129/179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Humedad y radar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radar mide bosque, pero también agua; a veces agua con mucho entusiasmo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Retrodispersión SAR cambia con humedad de suelo, lluvia previa y nieve húmeda.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ventanas temporales comparables o métricas robustas como mediana/percentiles.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Incluir variables climáticas o humedad antecedente puede separar biomasa de estado hídrico.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SAOCOM es especialmente valioso, pero su sensibilidad a humedad debe manejarse.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179576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SAR conceptual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97880" y="1453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7360920" y="1499616"/>
            <a:ext cx="1645920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9061704" y="1453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97880" y="2596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7360920" y="2642616"/>
            <a:ext cx="2377440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9793224" y="2596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897880" y="3739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húmedo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360920" y="3785616"/>
            <a:ext cx="3108960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10524744" y="3739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897880" y="4882896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nieve húmeda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360920" y="4928616"/>
            <a:ext cx="3474720" cy="9784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10890504" y="4882896"/>
            <a:ext cx="4389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ESA/Copernicus Sentinel-1; CONAE SAOCOM; SAOCOM Mission Products Definition (2024). CIEFAP/SNMBN Bosque Andino Patagónico; Argentina Ambiente Mapas de Bosque Nativo; Chubut OTBN.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130/179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multifuente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base para mapa de 10–30 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Entrenar con huellas GEDI L4A filtradas como etiquetas.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predictores ópticos, radar, topografía y disturbio temporal.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validación espacial y evaluación por estratos forestales.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Predecir biomasa y cuantiles/incertidumbre para cada píxel forestal válido.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897880" y="1298448"/>
            <a:ext cx="5623560" cy="779068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1 · </a:t>
            </a:r>
            <a:r>
              <a:rPr sz="1600" b="1">
                <a:solidFill>
                  <a:srgbClr val="1B4332"/>
                </a:solidFill>
                <a:latin typeface="Arial"/>
              </a:rPr>
              <a:t>GEDI L4A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97880" y="2351836"/>
            <a:ext cx="5623560" cy="779068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2 · </a:t>
            </a:r>
            <a:r>
              <a:rPr sz="1600" b="1">
                <a:solidFill>
                  <a:srgbClr val="1B4332"/>
                </a:solidFill>
                <a:latin typeface="Arial"/>
              </a:rPr>
              <a:t>stack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97880" y="3405225"/>
            <a:ext cx="5623560" cy="779068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3 · </a:t>
            </a:r>
            <a:r>
              <a:rPr sz="1600" b="1">
                <a:solidFill>
                  <a:srgbClr val="1B4332"/>
                </a:solidFill>
                <a:latin typeface="Arial"/>
              </a:rPr>
              <a:t>RF/XGB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97880" y="4458614"/>
            <a:ext cx="5623560" cy="779068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4 · </a:t>
            </a:r>
            <a:r>
              <a:rPr sz="1600" b="1">
                <a:solidFill>
                  <a:srgbClr val="1B4332"/>
                </a:solidFill>
                <a:latin typeface="Arial"/>
              </a:rPr>
              <a:t>validación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97880" y="5512003"/>
            <a:ext cx="5623560" cy="779068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5 · </a:t>
            </a:r>
            <a:r>
              <a:rPr sz="1600" b="1">
                <a:solidFill>
                  <a:srgbClr val="1B4332"/>
                </a:solidFill>
                <a:latin typeface="Arial"/>
              </a:rPr>
              <a:t>mapa AGBD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Duncanson et al. (2022); Kellner et al. (2023); Wang et al. (2024); Subedi y Zurqani (2025). NASA Earthdata GEDI v3 release; ORNL DAAC GEDI L4A v3, DOI 10.3334/ORNLDAAC/2508. USGS Landsat Collection 2; ESA/Copernicus Sentinel-2 MSI; NASA HLS. ESA/Copernicus Sentinel-1; CONAE SAOCOM; SAOCOM Mission Products Definition (2024).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131/179</a:t>
            </a:r>
            <a:endParaRPr lang="en-US" sz="750" dirty="0"/>
          </a:p>
        </p:txBody>
      </p:sp>
      <p:sp>
        <p:nvSpPr>
          <p:cNvPr id="18" name="TextBox 17"/>
          <p:cNvSpPr txBox="1"/>
          <p:nvPr/>
        </p:nvSpPr>
        <p:spPr>
          <a:xfrm>
            <a:off x="8435340" y="2086660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5340" y="3140049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5340" y="4193438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5340" y="5246827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vs XGBoost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caballos fuertes; el jockey sigue siendo el diseño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es robusto, sencillo y tolerante a variables correlacionadas.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puede capturar interacciones complejas con tuning cuidadoso.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Ambos pueden fallar fuera del dominio de entrenamiento.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comparación debe hacerse con la misma validación espacial y las mismas muestras.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777240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964692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589788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777240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estable, interpretable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964692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extrapolación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589788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777240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precisión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964692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tuning/overfit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589788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Lineal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777240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964692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sesgos no lineales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589788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777240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robusto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964692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complejidad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132/179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extrapolación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no debe adivinar en territorios que nunca vio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distribución de predictores de huellas vs paisaje completo.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distancia multivariada o mapas de área de aplicabilidad.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Marcar píxeles fuera del dominio de entrenamiento con mayor incertidumbre.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Agregar parcelas o huellas adicionales en estratos poco representados.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897880" y="1298448"/>
            <a:ext cx="5623560" cy="779068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1 · </a:t>
            </a:r>
            <a:r>
              <a:rPr sz="1600" b="1">
                <a:solidFill>
                  <a:srgbClr val="1B4332"/>
                </a:solidFill>
                <a:latin typeface="Arial"/>
              </a:rPr>
              <a:t>muestras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97880" y="2351836"/>
            <a:ext cx="5623560" cy="779068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2 · </a:t>
            </a:r>
            <a:r>
              <a:rPr sz="1600" b="1">
                <a:solidFill>
                  <a:srgbClr val="1B4332"/>
                </a:solidFill>
                <a:latin typeface="Arial"/>
              </a:rPr>
              <a:t>paisaje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97880" y="3405225"/>
            <a:ext cx="5623560" cy="779068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3 · </a:t>
            </a:r>
            <a:r>
              <a:rPr sz="1600" b="1">
                <a:solidFill>
                  <a:srgbClr val="1B4332"/>
                </a:solidFill>
                <a:latin typeface="Arial"/>
              </a:rPr>
              <a:t>distancia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97880" y="4458614"/>
            <a:ext cx="5623560" cy="779068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4 · </a:t>
            </a:r>
            <a:r>
              <a:rPr sz="1600" b="1">
                <a:solidFill>
                  <a:srgbClr val="1B4332"/>
                </a:solidFill>
                <a:latin typeface="Arial"/>
              </a:rPr>
              <a:t>máscara AOI aplicable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97880" y="5512003"/>
            <a:ext cx="5623560" cy="779068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5 · </a:t>
            </a:r>
            <a:r>
              <a:rPr sz="1600" b="1">
                <a:solidFill>
                  <a:srgbClr val="1B4332"/>
                </a:solidFill>
                <a:latin typeface="Arial"/>
              </a:rPr>
              <a:t>incertidumbre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133/179</a:t>
            </a:r>
            <a:endParaRPr lang="en-US" sz="750" dirty="0"/>
          </a:p>
        </p:txBody>
      </p:sp>
      <p:sp>
        <p:nvSpPr>
          <p:cNvPr id="18" name="TextBox 17"/>
          <p:cNvSpPr txBox="1"/>
          <p:nvPr/>
        </p:nvSpPr>
        <p:spPr>
          <a:xfrm>
            <a:off x="8435340" y="2086660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5340" y="3140049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5340" y="4193438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5340" y="5246827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Importancia de variables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Interpretar sin convertir RF en oráculo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Permutation importance o SHAP ayudan a entender predictores dominantes.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Importancia alta no prueba causalidad: puede reflejar correlación espacial.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 importancia por estrato forestal y estación.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radar domina, revisar si está midiendo biomasa o humedad/incidencia.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179576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Importancia conceptual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97880" y="1453896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 proxy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7360920" y="1499616"/>
            <a:ext cx="3291840" cy="7498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0707624" y="1453896"/>
            <a:ext cx="438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97880" y="2368296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NDMI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7360920" y="2414016"/>
            <a:ext cx="2414016" cy="7498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9829800" y="2368296"/>
            <a:ext cx="438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897880" y="3282696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360920" y="3328416"/>
            <a:ext cx="2121408" cy="7498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9537192" y="3282696"/>
            <a:ext cx="438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897880" y="4197096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360920" y="4242816"/>
            <a:ext cx="1645920" cy="7498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9061704" y="4197096"/>
            <a:ext cx="438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897880" y="5111496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NBR hist.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7360920" y="5157216"/>
            <a:ext cx="2560320" cy="7498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9976104" y="5111496"/>
            <a:ext cx="438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Duncanson et al. (2022); Kellner et al. (2023); Wang et al. (2024); Subedi y Zurqani (2025). ESA/Copernicus Sentinel-1; CONAE SAOCOM; SAOCOM Mission Products Definition (2024). USGS Landsat Collection 2; ESA/Copernicus Sentinel-2 MSI; NASA HLS.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134/179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Resolución del mapa final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 para detalle; 30 m para robustez temporal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 con Sentinel-2/Sentinel-1 mejora bordes y unidades pequeñas.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 con Landsat/HLS mejora estabilidad histórica y reduce ruido espacial.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SAOCOM puede tener resoluciones variables según producto/modo.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Entregar ambos niveles puede ser útil: operativo 30 m y detalle 10 m para zonas prioritarias.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281178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Resolución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709660" y="1234440"/>
            <a:ext cx="281178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sugerido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5897880" y="1764792"/>
            <a:ext cx="281178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8709660" y="1764792"/>
            <a:ext cx="281178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rodales pequeños, bordes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897880" y="2878074"/>
            <a:ext cx="281178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8709660" y="2878074"/>
            <a:ext cx="281178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red-edge/SWIR Sentinel-2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897880" y="3991356"/>
            <a:ext cx="281178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8709660" y="3991356"/>
            <a:ext cx="281178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 y GEDI/HLS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5897880" y="5104638"/>
            <a:ext cx="281178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km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8709660" y="5104638"/>
            <a:ext cx="281178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regional L4B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USGS Landsat Collection 2; ESA/Copernicus Sentinel-2 MSI; NASA HLS. ESA/Copernicus Sentinel-1; CONAE SAOCOM; SAOCOM Mission Products Definition (2024). GEDI/UMD Products; LP DAAC GEDI02 User Guides; ORNL DAAC L4A/L4B.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135/179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biomasa e incertidumbre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mapas inseparables: el valor y la confianza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AGBD expresa biomasa predicha por píxel o unidad.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incertidumbre puede ser SE, intervalo 90/95% o coeficiente de variación.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paletas y clases coherentes con rangos locales y evitar falsa precisión decimal.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Incluir máscara de no aplicabilidad y notas de versión.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897880" y="1371600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971032" y="1481328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AGBD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89320" y="2894030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8791956" y="1371600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865108" y="1481328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SE/PI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83396" y="2894030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incertidumbre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5897880" y="3808476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971032" y="3918204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89320" y="5330906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aplicabilidad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791956" y="3808476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8865108" y="3918204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883396" y="5330906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válida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Duncanson et al. (2022); Kellner et al. (2023); Wang et al. (2024); Subedi y Zurqani (2025). NASA Earthdata GEDI v3 release; ORNL DAAC GEDI L4A v3, DOI 10.3334/ORNLDAAC/2508.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136/179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independiente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prueba que decide si el mapa sale del laboratorio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Reservar parcelas o zonas no usadas en entrenamiento ni tuning.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contra inventarios forestales, ALS o parcelas permanentes cuando existan.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 métricas por tipo forestal, edad/disturbio y topografía.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 fallas: un mapa honesto con límites claros es más útil que uno invencible en PowerPoint.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897880" y="1298448"/>
            <a:ext cx="5623560" cy="779068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1 · </a:t>
            </a:r>
            <a:r>
              <a:rPr sz="1600" b="1">
                <a:solidFill>
                  <a:srgbClr val="1B4332"/>
                </a:solidFill>
                <a:latin typeface="Arial"/>
              </a:rPr>
              <a:t>parcelas independientes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97880" y="2351836"/>
            <a:ext cx="5623560" cy="779068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2 · </a:t>
            </a:r>
            <a:r>
              <a:rPr sz="1600" b="1">
                <a:solidFill>
                  <a:srgbClr val="1B4332"/>
                </a:solidFill>
                <a:latin typeface="Arial"/>
              </a:rPr>
              <a:t>mapa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97880" y="3405225"/>
            <a:ext cx="5623560" cy="779068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3 · </a:t>
            </a:r>
            <a:r>
              <a:rPr sz="1600" b="1">
                <a:solidFill>
                  <a:srgbClr val="1B4332"/>
                </a:solidFill>
                <a:latin typeface="Arial"/>
              </a:rPr>
              <a:t>métricas por estrato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97880" y="4458614"/>
            <a:ext cx="5623560" cy="779068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4 · </a:t>
            </a:r>
            <a:r>
              <a:rPr sz="1600" b="1">
                <a:solidFill>
                  <a:srgbClr val="1B4332"/>
                </a:solidFill>
                <a:latin typeface="Arial"/>
              </a:rPr>
              <a:t>errores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97880" y="5512003"/>
            <a:ext cx="5623560" cy="779068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5 · </a:t>
            </a:r>
            <a:r>
              <a:rPr sz="1600" b="1">
                <a:solidFill>
                  <a:srgbClr val="1B4332"/>
                </a:solidFill>
                <a:latin typeface="Arial"/>
              </a:rPr>
              <a:t>revisión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Duncanson et al. (2022); Kellner et al. (2023); Wang et al. (2024); Subedi y Zurqani (2025). CIEFAP/SNMBN Bosque Andino Patagónico; Argentina Ambiente Mapas de Bosque Nativo; Chubut OTBN.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137/179</a:t>
            </a:r>
            <a:endParaRPr lang="en-US" sz="750" dirty="0"/>
          </a:p>
        </p:txBody>
      </p:sp>
      <p:sp>
        <p:nvSpPr>
          <p:cNvPr id="18" name="TextBox 17"/>
          <p:cNvSpPr txBox="1"/>
          <p:nvPr/>
        </p:nvSpPr>
        <p:spPr>
          <a:xfrm>
            <a:off x="8435340" y="2086660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5340" y="3140049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5340" y="4193438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5340" y="5246827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muestreo de campo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puede decir dónde conviene caminar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Priorizar estratos con pocas huellas, alta incertidumbre o alto valor de conservación.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Balancear tipos forestales, gradientes altitudinales y disturbios.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parcelas compatibles con footprint o diseñar subparcelas agregables.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mapas preliminares para optimizar accesos y costos.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897880" y="1298448"/>
            <a:ext cx="5623560" cy="779068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1 · </a:t>
            </a:r>
            <a:r>
              <a:rPr sz="1600" b="1">
                <a:solidFill>
                  <a:srgbClr val="1B4332"/>
                </a:solidFill>
                <a:latin typeface="Arial"/>
              </a:rPr>
              <a:t>incertidumbre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97880" y="2351836"/>
            <a:ext cx="5623560" cy="779068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2 · </a:t>
            </a:r>
            <a:r>
              <a:rPr sz="1600" b="1">
                <a:solidFill>
                  <a:srgbClr val="1B4332"/>
                </a:solidFill>
                <a:latin typeface="Arial"/>
              </a:rPr>
              <a:t>estratos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97880" y="3405225"/>
            <a:ext cx="5623560" cy="779068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3 · </a:t>
            </a:r>
            <a:r>
              <a:rPr sz="1600" b="1">
                <a:solidFill>
                  <a:srgbClr val="1B4332"/>
                </a:solidFill>
                <a:latin typeface="Arial"/>
              </a:rPr>
              <a:t>accesos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97880" y="4458614"/>
            <a:ext cx="5623560" cy="779068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4 · </a:t>
            </a:r>
            <a:r>
              <a:rPr sz="1600" b="1">
                <a:solidFill>
                  <a:srgbClr val="1B4332"/>
                </a:solidFill>
                <a:latin typeface="Arial"/>
              </a:rPr>
              <a:t>parcelas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97880" y="5512003"/>
            <a:ext cx="5623560" cy="779068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5 · </a:t>
            </a:r>
            <a:r>
              <a:rPr sz="1600" b="1">
                <a:solidFill>
                  <a:srgbClr val="1B4332"/>
                </a:solidFill>
                <a:latin typeface="Arial"/>
              </a:rPr>
              <a:t>validación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Duncanson et al. (2022); Kellner et al. (2023); Wang et al. (2024); Subedi y Zurqani (2025). CIEFAP/SNMBN Bosque Andino Patagónico; Argentina Ambiente Mapas de Bosque Nativo; Chubut OTBN.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138/179</a:t>
            </a:r>
            <a:endParaRPr lang="en-US" sz="750" dirty="0"/>
          </a:p>
        </p:txBody>
      </p:sp>
      <p:sp>
        <p:nvSpPr>
          <p:cNvPr id="18" name="TextBox 17"/>
          <p:cNvSpPr txBox="1"/>
          <p:nvPr/>
        </p:nvSpPr>
        <p:spPr>
          <a:xfrm>
            <a:off x="8435340" y="2086660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5340" y="3140049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5340" y="4193438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5340" y="5246827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Ecuaciones alométricas locales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biomasa nace en el árbol, no en el satélite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Seleccionar ecuaciones por especie o grupo funcional documentado.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Declarar si se estima biomasa aérea total, fuste o volumen comercial.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Incluir densidad de madera cuando la ecuación lo requiera.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Propagar error alométrico hacia validación y calibración.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 de campo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777240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964692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589788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DAP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777240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biomasa individual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9646920" y="1764792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medición/forma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589788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altura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777240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ajuste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9646920" y="2878074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faltantes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589788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especie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777240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ec. específica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9646920" y="3991356"/>
            <a:ext cx="1874520" cy="111328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identificación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589788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densidad madera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777240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conversión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9646920" y="5104638"/>
            <a:ext cx="1874520" cy="111328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variabilidad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CIEFAP/SNMBN Bosque Andino Patagónico; Argentina Ambiente Mapas de Bosque Nativo; Chubut OTBN.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139/179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SAOCOM + Sentinel-1 + GEDI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trío activo para estructura y humedad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ancla altura/AGBD; Sentinel-1 aporta frecuencia C-band; SAOCOM aporta L-band.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combinación puede mejorar bosques densos donde óptico y C-band saturan.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Requiere armonizar fechas, incidencia, polarización y correcciones topográficas.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por humedad/temporada evita confundir agua con madera.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897880" y="1298448"/>
            <a:ext cx="5623560" cy="779068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1 · </a:t>
            </a:r>
            <a:r>
              <a:rPr sz="1600" b="1">
                <a:solidFill>
                  <a:srgbClr val="1B4332"/>
                </a:solidFill>
                <a:latin typeface="Arial"/>
              </a:rPr>
              <a:t>GEDI AGBD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97880" y="2351836"/>
            <a:ext cx="5623560" cy="779068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2 · </a:t>
            </a:r>
            <a:r>
              <a:rPr sz="1600" b="1">
                <a:solidFill>
                  <a:srgbClr val="1B4332"/>
                </a:solidFill>
                <a:latin typeface="Arial"/>
              </a:rPr>
              <a:t>S1 C-band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97880" y="3405225"/>
            <a:ext cx="5623560" cy="779068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3 · </a:t>
            </a:r>
            <a:r>
              <a:rPr sz="1600" b="1">
                <a:solidFill>
                  <a:srgbClr val="1B4332"/>
                </a:solidFill>
                <a:latin typeface="Arial"/>
              </a:rPr>
              <a:t>SAOCOM L-band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97880" y="4458614"/>
            <a:ext cx="5623560" cy="779068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4 · </a:t>
            </a:r>
            <a:r>
              <a:rPr sz="1600" b="1">
                <a:solidFill>
                  <a:srgbClr val="1B4332"/>
                </a:solidFill>
                <a:latin typeface="Arial"/>
              </a:rPr>
              <a:t>features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97880" y="5512003"/>
            <a:ext cx="5623560" cy="779068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5 · </a:t>
            </a:r>
            <a:r>
              <a:rPr sz="1600" b="1">
                <a:solidFill>
                  <a:srgbClr val="1B4332"/>
                </a:solidFill>
                <a:latin typeface="Arial"/>
              </a:rPr>
              <a:t>AGBD map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Earthdata GEDI v3 release; ORNL DAAC GEDI L4A v3, DOI 10.3334/ORNLDAAC/2508. ESA/Copernicus Sentinel-1; CONAE SAOCOM; SAOCOM Mission Products Definition (2024).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140/179</a:t>
            </a:r>
            <a:endParaRPr lang="en-US" sz="750" dirty="0"/>
          </a:p>
        </p:txBody>
      </p:sp>
      <p:sp>
        <p:nvSpPr>
          <p:cNvPr id="18" name="TextBox 17"/>
          <p:cNvSpPr txBox="1"/>
          <p:nvPr/>
        </p:nvSpPr>
        <p:spPr>
          <a:xfrm>
            <a:off x="8435340" y="2086660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5340" y="3140049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5340" y="4193438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5340" y="5246827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Landsat + Sentinel-2 + GEDI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Fenología, disturbio y estructura en una sola mesa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Landsat aporta historia de disturbio y recuperación.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Sentinel-2 aporta detalle espacial y red-edge actual.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aporta estructura vertical y AGBD por huella.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debe elegir variables robustas, no acumular índices como colección de figuritas.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897880" y="1298448"/>
            <a:ext cx="5623560" cy="779068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1 · </a:t>
            </a:r>
            <a:r>
              <a:rPr sz="1600" b="1">
                <a:solidFill>
                  <a:srgbClr val="1B4332"/>
                </a:solidFill>
                <a:latin typeface="Arial"/>
              </a:rPr>
              <a:t>historia Landsat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97880" y="2351836"/>
            <a:ext cx="5623560" cy="779068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2 · </a:t>
            </a:r>
            <a:r>
              <a:rPr sz="1600" b="1">
                <a:solidFill>
                  <a:srgbClr val="1B4332"/>
                </a:solidFill>
                <a:latin typeface="Arial"/>
              </a:rPr>
              <a:t>detalle S2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97880" y="3405225"/>
            <a:ext cx="5623560" cy="779068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3 · </a:t>
            </a:r>
            <a:r>
              <a:rPr sz="1600" b="1">
                <a:solidFill>
                  <a:srgbClr val="1B4332"/>
                </a:solidFill>
                <a:latin typeface="Arial"/>
              </a:rPr>
              <a:t>GEDI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97880" y="4458614"/>
            <a:ext cx="5623560" cy="779068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4 · </a:t>
            </a:r>
            <a:r>
              <a:rPr sz="1600" b="1">
                <a:solidFill>
                  <a:srgbClr val="1B4332"/>
                </a:solidFill>
                <a:latin typeface="Arial"/>
              </a:rPr>
              <a:t>modelo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97880" y="5512003"/>
            <a:ext cx="5623560" cy="779068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5 · </a:t>
            </a:r>
            <a:r>
              <a:rPr sz="1600" b="1">
                <a:solidFill>
                  <a:srgbClr val="1B4332"/>
                </a:solidFill>
                <a:latin typeface="Arial"/>
              </a:rPr>
              <a:t>mapa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USGS Landsat Collection 2; ESA/Copernicus Sentinel-2 MSI; NASA HLS. NASA Earthdata GEDI v3 release; ORNL DAAC GEDI L4A v3, DOI 10.3334/ORNLDAAC/2508.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141/179</a:t>
            </a:r>
            <a:endParaRPr lang="en-US" sz="750" dirty="0"/>
          </a:p>
        </p:txBody>
      </p:sp>
      <p:sp>
        <p:nvSpPr>
          <p:cNvPr id="18" name="TextBox 17"/>
          <p:cNvSpPr txBox="1"/>
          <p:nvPr/>
        </p:nvSpPr>
        <p:spPr>
          <a:xfrm>
            <a:off x="8435340" y="2086660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5340" y="3140049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5340" y="4193438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5340" y="5246827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recomendado para Chubut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configuración inicial defendible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GEDI L4A v3 AGBD filtrado.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Óptico: HLS 30 m y Sentinel-2 red-edge/índices de verano.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Radar: Sentinel-1 VV/VH temporales y SAOCOM L-band corregido por terreno.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Contexto: DEM, pendiente, exposición, tipo forestal, años desde disturbio.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777240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iniciales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9646920" y="1234440"/>
            <a:ext cx="187452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Comentario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5897880" y="1764792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7772400" y="1764792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agbd, agbd_se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9646920" y="1764792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etiqueta/peso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5897880" y="2655418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Óptico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7772400" y="2655418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NDMI, NBR, NDRE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9646920" y="2655418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fenología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5897880" y="3546043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7772400" y="3546043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VH, ratios, L-band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9646920" y="3546043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estructura/humedad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5897880" y="4436669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Topografía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7772400" y="4436669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elev, slope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9646920" y="4436669"/>
            <a:ext cx="187452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sitio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5897880" y="5327294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Disturbio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7772400" y="5327294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año/intensidad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9646920" y="5327294"/>
            <a:ext cx="187452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Earthdata GEDI v3 release; ORNL DAAC GEDI L4A v3, DOI 10.3334/ORNLDAAC/2508. USGS Landsat Collection 2; ESA/Copernicus Sentinel-2 MSI; NASA HLS. ESA/Copernicus Sentinel-1; CONAE SAOCOM; SAOCOM Mission Products Definition (2024). CIEFAP/SNMBN Bosque Andino Patagónico; Argentina Ambiente Mapas de Bosque Nativo; Chubut OTBN.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142/179</a:t>
            </a:r>
            <a:endParaRPr lang="en-US" sz="7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operativo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dato abierto al producto de gestión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Automatizar descarga/actualización de GEDI y covariables.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Ejecutar filtros, extracción, entrenamiento y validación con scripts versionados.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mapas COG y tablas GPKG/CSV con metadatos.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resultados con expertos forestales antes de tomar decisiones.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897880" y="1298448"/>
            <a:ext cx="5623559" cy="603504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1 · </a:t>
            </a:r>
            <a:r>
              <a:rPr sz="1600" b="1">
                <a:solidFill>
                  <a:srgbClr val="1B4332"/>
                </a:solidFill>
                <a:latin typeface="Arial"/>
              </a:rPr>
              <a:t>datos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97880" y="2176272"/>
            <a:ext cx="5623559" cy="603504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2 · </a:t>
            </a:r>
            <a:r>
              <a:rPr sz="1600" b="1">
                <a:solidFill>
                  <a:srgbClr val="1B4332"/>
                </a:solidFill>
                <a:latin typeface="Arial"/>
              </a:rPr>
              <a:t>procesamiento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97880" y="3054096"/>
            <a:ext cx="5623559" cy="603504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3 · </a:t>
            </a:r>
            <a:r>
              <a:rPr sz="1600" b="1">
                <a:solidFill>
                  <a:srgbClr val="1B4332"/>
                </a:solidFill>
                <a:latin typeface="Arial"/>
              </a:rPr>
              <a:t>modelo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97880" y="3931920"/>
            <a:ext cx="5623559" cy="603504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4 · </a:t>
            </a:r>
            <a:r>
              <a:rPr sz="1600" b="1">
                <a:solidFill>
                  <a:srgbClr val="1B4332"/>
                </a:solidFill>
                <a:latin typeface="Arial"/>
              </a:rPr>
              <a:t>validación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97880" y="4809744"/>
            <a:ext cx="5623559" cy="603504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5 · </a:t>
            </a:r>
            <a:r>
              <a:rPr sz="1600" b="1">
                <a:solidFill>
                  <a:srgbClr val="1B4332"/>
                </a:solidFill>
                <a:latin typeface="Arial"/>
              </a:rPr>
              <a:t>publicación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97880" y="5687568"/>
            <a:ext cx="5623559" cy="603504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6 · </a:t>
            </a:r>
            <a:r>
              <a:rPr sz="1600" b="1">
                <a:solidFill>
                  <a:srgbClr val="1B4332"/>
                </a:solidFill>
                <a:latin typeface="Arial"/>
              </a:rPr>
              <a:t>revisión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 Data Resources; LP DAAC Quick Guide; Earthdata Cloud Cookbook. Elaboración propia.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143/179</a:t>
            </a:r>
            <a:endParaRPr lang="en-US" sz="750" dirty="0"/>
          </a:p>
        </p:txBody>
      </p:sp>
      <p:sp>
        <p:nvSpPr>
          <p:cNvPr id="20" name="TextBox 19"/>
          <p:cNvSpPr txBox="1"/>
          <p:nvPr/>
        </p:nvSpPr>
        <p:spPr>
          <a:xfrm>
            <a:off x="8435340" y="1911095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5340" y="2788920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5340" y="3666744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5340" y="4544568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5340" y="5422392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 sugerido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proyecto realista en fases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1: AOI, datos, filtros y exploración GEDI.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2: stack óptico/radar y modelo preliminar.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3: campaña de campo dirigida por incertidumbre.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4: validación final, mapa operativo y documentación.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17920" y="3504438"/>
            <a:ext cx="4983480" cy="0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14476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80644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 mes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562356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datos/AOI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780592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46760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meses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728472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preliminar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946708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912876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4-6 meses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894588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1112824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1078992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7-8 meses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060704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final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Elaboración propia.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144/179</a:t>
            </a:r>
            <a:endParaRPr lang="en-US" sz="7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Aplicación: carbono y reporte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mapa de AGBD al stock con trazabilidad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Convertir AGBD a biomasa total de área y luego a carbono con factor explícito.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stocks por jurisdicción, cuenca, categoría OTBN o tipo forestal.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Reportar incertidumbre del stock y área válida.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Mantener consistencia temporal para monitoreo de cambios.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783080"/>
            <a:ext cx="562356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AGBD mapa  +  área válida  +  fracción C  +  incertidumbre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89320" y="2697480"/>
            <a:ext cx="5440680" cy="3429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= suma de píxeles forestales válidos.</a:t>
            </a:r>
            <a:endParaRPr lang="en-US" sz="12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Reportar Mg biomasa, Mg C o Mg CO₂e sin mezclarlos.</a:t>
            </a:r>
            <a:endParaRPr lang="en-US" sz="1200" dirty="0"/>
          </a:p>
          <a:p>
            <a:pPr marL="0" indent="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categorías oficiales para agregación.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CIEFAP/SNMBN Bosque Andino Patagónico; Argentina Ambiente Mapas de Bosque Nativo; Chubut OTBN.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145/179</a:t>
            </a:r>
            <a:endParaRPr lang="en-US" sz="7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Aplicación: recuperación post-incendio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Estructura, vigor y humedad cuentan partes distintas del regreso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Landsat/Sentinel-2 detectan severidad y trayectoria espectral.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Sentinel-1/SAOCOM aportan cambios de estructura/humedad incluso con nubes.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valida recuperación vertical cuando hay nuevas huellas o se usa como referencia histórica.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puede mapear biomasa recuperada y zonas con regeneración lenta.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17920" y="3504438"/>
            <a:ext cx="4983480" cy="0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14476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80644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incendio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562356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dNBR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780592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46760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año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728472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rebrote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946708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912876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 años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894588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11128248" y="343128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10789920" y="29740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años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0607040" y="365074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USGS Landsat Collection 2; ESA/Copernicus Sentinel-2 MSI; NASA HLS. ESA/Copernicus Sentinel-1; CONAE SAOCOM; SAOCOM Mission Products Definition (2024). NASA GEDI/UMD; NASA GSFC SVS 13090; Dubayah et al. (2020). CIEFAP/SNMBN Bosque Andino Patagónico; Argentina Ambiente Mapas de Bosque Nativo; Chubut OTBN.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146/179</a:t>
            </a:r>
            <a:endParaRPr lang="en-US" sz="7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Aplicación: manejo forestal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Biomasa no es plan de corta, pero ayuda a ordenar prioridades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rodales con alto stock, baja incertidumbre y accesibilidad conocida.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áreas de conservación, restauración y uso sostenible según OTBN y normativa local.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Cruzar biomasa con pendiente, cuencas, caminos y valores de biodiversidad.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campo para confirmar antes de decisiones silvícolas.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897880" y="1298448"/>
            <a:ext cx="5623560" cy="779068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1 · </a:t>
            </a:r>
            <a:r>
              <a:rPr sz="1600" b="1">
                <a:solidFill>
                  <a:srgbClr val="1B4332"/>
                </a:solidFill>
                <a:latin typeface="Arial"/>
              </a:rPr>
              <a:t>biomasa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97880" y="2351836"/>
            <a:ext cx="5623560" cy="779068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2 · </a:t>
            </a:r>
            <a:r>
              <a:rPr sz="1600" b="1">
                <a:solidFill>
                  <a:srgbClr val="1B4332"/>
                </a:solidFill>
                <a:latin typeface="Arial"/>
              </a:rPr>
              <a:t>incertidumbre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97880" y="3405225"/>
            <a:ext cx="5623560" cy="779068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3 · </a:t>
            </a:r>
            <a:r>
              <a:rPr sz="1600" b="1">
                <a:solidFill>
                  <a:srgbClr val="1B4332"/>
                </a:solidFill>
                <a:latin typeface="Arial"/>
              </a:rPr>
              <a:t>OTBN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97880" y="4458614"/>
            <a:ext cx="5623560" cy="779068"/>
          </a:xfrm>
          <a:prstGeom prst="rect">
            <a:avLst/>
          </a:prstGeom>
          <a:solidFill>
            <a:srgbClr val="ECFDF5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4 · </a:t>
            </a:r>
            <a:r>
              <a:rPr sz="1600" b="1">
                <a:solidFill>
                  <a:srgbClr val="1B4332"/>
                </a:solidFill>
                <a:latin typeface="Arial"/>
              </a:rPr>
              <a:t>accesos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97880" y="5512003"/>
            <a:ext cx="5623560" cy="779068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82880" tIns="0" rIns="128016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2D6A4F"/>
                </a:solidFill>
                <a:latin typeface="Arial"/>
              </a:rPr>
              <a:t>5 · </a:t>
            </a:r>
            <a:r>
              <a:rPr sz="1600" b="1">
                <a:solidFill>
                  <a:srgbClr val="1B4332"/>
                </a:solidFill>
                <a:latin typeface="Arial"/>
              </a:rPr>
              <a:t>decisión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CIEFAP/SNMBN Bosque Andino Patagónico; Argentina Ambiente Mapas de Bosque Nativo; Chubut OTBN.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147/179</a:t>
            </a:r>
            <a:endParaRPr lang="en-US" sz="750" dirty="0"/>
          </a:p>
        </p:txBody>
      </p:sp>
      <p:sp>
        <p:nvSpPr>
          <p:cNvPr id="18" name="TextBox 17"/>
          <p:cNvSpPr txBox="1"/>
          <p:nvPr/>
        </p:nvSpPr>
        <p:spPr>
          <a:xfrm>
            <a:off x="8435340" y="2086660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5340" y="3140049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5340" y="4193438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5340" y="5246827"/>
            <a:ext cx="54864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7BC62"/>
                </a:solidFill>
                <a:latin typeface="Arial"/>
              </a:rPr>
              <a:t>▼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Aplicación: biodiversidad y estructura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no solo mide carbono: mide arquitectura del hábitat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FHD, PAVD y altura ayudan a caracterizar complejidad vertical.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estructura se relaciona con hábitat, conectividad y conservación.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Sentinel-2 aporta composición/cobertura; SAR aporta estructura y humedad.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Mapas de complejidad pueden complementar biomasa en áreas protegidas.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234440"/>
            <a:ext cx="281178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8709660" y="1234440"/>
            <a:ext cx="2811780" cy="530352"/>
          </a:xfrm>
          <a:prstGeom prst="rect">
            <a:avLst/>
          </a:prstGeom>
          <a:solidFill>
            <a:srgbClr val="2D6A4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5897880" y="1764792"/>
            <a:ext cx="281178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RH98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8709660" y="1764792"/>
            <a:ext cx="281178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altura dominante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5897880" y="2655418"/>
            <a:ext cx="281178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FHD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8709660" y="2655418"/>
            <a:ext cx="281178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diversidad vertical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5897880" y="3546043"/>
            <a:ext cx="281178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PAVD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8709660" y="3546043"/>
            <a:ext cx="281178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estratos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5897880" y="4436669"/>
            <a:ext cx="281178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8709660" y="4436669"/>
            <a:ext cx="2811780" cy="89062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 copa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5897880" y="5327294"/>
            <a:ext cx="281178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AGBD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8709660" y="5327294"/>
            <a:ext cx="2811780" cy="89062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de carbono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GEDI/UMD Products; LP DAAC GEDI02 User Guides; ORNL DAAC L4A/L4B. CIEFAP/SNMBN Bosque Andino Patagónico; Argentina Ambiente Mapas de Bosque Nativo; Chubut OTBN.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148/179</a:t>
            </a:r>
            <a:endParaRPr lang="en-US" sz="7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Limitaciones finales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honestidad metodológica también es una capa SIG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es muestral y su densidad puede ser baja en áreas pequeñas.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Óptico se satura y sufre nubes/sombras/nieve.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 requiere correcciones topográficas y control de humedad.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ML predicen bien dentro del dominio; extrapolan mal donde no fueron entrenados.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371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35331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GEDI limitada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331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31343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saturación óptica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97880" y="3291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27355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 topográfico/humedad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4251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423367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sesgo local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97880" y="5212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519379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extrapolación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GEDI/UMD; NASA GSFC SVS 13090; Dubayah et al. (2020). USGS Landsat Collection 2; ESA/Copernicus Sentinel-2 MSI; NASA HLS. ESA/Copernicus Sentinel-1; CONAE SAOCOM; SAOCOM Mission Products Definition (2024).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149/179</a:t>
            </a:r>
            <a:endParaRPr lang="en-US" sz="7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 clave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flujo robusto para el bosque andino chubutense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GEDI L4A v3 filtrado como referencia inicial y validar localmente.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dos stacks: 30 m histórico HLS/Landsat y 10 m Sentinel-2/Sentinel-1.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Incorporar SAOCOM L-band donde haya disponibilidad y corrección SAR sólida.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Entregar siempre mapa de biomasa, incertidumbre, aplicabilidad y metadatos.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897880" y="1371600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971032" y="1481328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89320" y="2894030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8791956" y="1371600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865108" y="1481328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83396" y="2894030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5897880" y="3808476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971032" y="3918204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89320" y="5330906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791956" y="3808476"/>
            <a:ext cx="2729484" cy="2272284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8865108" y="3918204"/>
            <a:ext cx="2583180" cy="1090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L-band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883396" y="5330906"/>
            <a:ext cx="2546604" cy="4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SAOCOM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Earthdata GEDI v3 release; ORNL DAAC GEDI L4A v3, DOI 10.3334/ORNLDAAC/2508. USGS Landsat Collection 2; ESA/Copernicus Sentinel-2 MSI; NASA HLS. ESA/Copernicus Sentinel-1; CONAE SAOCOM; SAOCOM Mission Products Definition (2024).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150/179</a:t>
            </a:r>
            <a:endParaRPr lang="en-US" sz="7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mínimo viable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mínimo que debería entregar un piloto serio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Puntos GEDI filtrados con tabla de conteos por filtro.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de covariables documentado y reproducible.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validado espacialmente con métricas por estrato.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Raster AGBD, raster de incertidumbre y reporte metodológico con referencias.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371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353312"/>
            <a:ext cx="530352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filtrado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1717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153412"/>
            <a:ext cx="530352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reproducible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97880" y="2971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2953512"/>
            <a:ext cx="530352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espacial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37719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3753612"/>
            <a:ext cx="530352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AGBD raster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97880" y="45720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4553712"/>
            <a:ext cx="530352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incertidumbre raster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897880" y="53721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5353812"/>
            <a:ext cx="530352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Elaboración propia. NASA GEDI Data Resources; LP DAAC Quick Guide; Earthdata Cloud Cookbook.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151/179</a:t>
            </a:r>
            <a:endParaRPr lang="en-US" sz="7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final para Chubut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publicar o usar el mapa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¿La capa de bosque nativo y OTBN están actualizadas y citadas?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¿Se excluyeron huellas con mala calidad, borde, nieve, agua y disturbios no representativos?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¿La validación es espacial y por tipo forestal?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¿El usuario final entiende límites, resolución, fecha y unidades?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371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35331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capas oficiales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331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31343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 documentados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97880" y="3291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27355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por estrato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4251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423367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unidades claras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97880" y="5212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5193792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limitaciones visibles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CIEFAP/SNMBN Bosque Andino Patagónico; Argentina Ambiente Mapas de Bosque Nativo; Chubut OTBN. GEDI/UMD Products; LP DAAC GEDI02 User Guides; ORNL DAAC L4A/L4B.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152/179</a:t>
            </a:r>
            <a:endParaRPr lang="en-US" sz="7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Síntesis final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no reemplaza el bosque de campo; lo vuelve escalable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98348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 da estructura vertical y biomasa por huella con trazabilidad internacional.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Landsat y Sentinel-2 aportan continuidad óptica, fenología e historia de disturbio.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Sentinel-1 y SAOCOM aportan observación radar bajo nubes y señales estructurales complementarias.</a:t>
            </a:r>
            <a:endParaRPr lang="en-US" sz="1800" dirty="0"/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clave no es el sensor más “moderno”, sino una inferencia transparente, validada y útil para manejo.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737360"/>
            <a:ext cx="5623560" cy="1828800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i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mejor estimación de biomasa no es la que tiene más capas; es la que declara qué sabe, qué no sabe y cuánto se equivoca.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GEDI/UMD; NASA GSFC SVS 13090; Dubayah et al. (2020). USGS Landsat Collection 2; ESA/Copernicus Sentinel-2 MSI; NASA HLS. ESA/Copernicus Sentinel-1; CONAE SAOCOM; SAOCOM Mission Products Definition (2024). Duncanson et al. (2022); Kellner et al. (2023); Wang et al. (2024); Subedi y Zurqani (2025).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153/179</a:t>
            </a:r>
            <a:endParaRPr lang="en-US" sz="7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 principales 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GEDI, descarga y datos ópticos/radar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89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Dubayah, R. et al. (2020). The Global Ecosystem Dynamics Investigation: High-resolution laser ranging of the Earth’s forests and topography. Science of Remote Sensing, 1, 100002. DOI: 10.1016/j.srs.2020.100002.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10789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Duncanson, L. et al. (2022). Aboveground biomass density models for NASA’s GEDI lidar mission. Remote Sensing of Environment, 270, 112845. DOI: 10.1016/j.rse.2021.112845.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685800" y="2423160"/>
            <a:ext cx="10789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Kellner, J.R., Armston, J., &amp; Duncanson, L. (2023). Algorithm theoretical basis document for GEDI footprint aboveground biomass density. Earth and Space Science. DOI: 10.1029/2022EA002516.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685800" y="3063240"/>
            <a:ext cx="10789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Dubayah, R.O. et al. (2026). GEDI L4A Footprint Level Aboveground Biomass Density, Version 3. ORNL DAAC. DOI: 10.3334/ORNLDAAC/2508.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685800" y="3703320"/>
            <a:ext cx="10789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NASA Earthdata / LP DAAC (2026). GEDI Version 3 Data Products Released; GEDI L1B, L2A, L2B V003.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685800" y="4343400"/>
            <a:ext cx="10789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NASA GEDI Data Resources GitHub; LP DAAC GEDI Quick Guide V2; NASA Earthdata Cloud Cookbook GEDI L4A tutorials.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685800" y="4983480"/>
            <a:ext cx="10789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USGS Landsat Collection 2 Level-2 Science Products; NASA/USGS Landsat 8/9 documentation; NASA Harmonized Landsat Sentinel-2 (HLS).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685800" y="5623560"/>
            <a:ext cx="10789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ESA/Copernicus Sentinel-2 MSI and Sentinel-1 mission/product documentation; Copernicus Data Space Ecosystem.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Referencias citadas en la presentación.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154/179</a:t>
            </a:r>
            <a:endParaRPr lang="en-US" sz="7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 principales II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SAOCOM, contexto regional y modelado multifuente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1320" y="219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89920" cy="807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CONAE (2024–2026). SAOCOM Mission Products Definition; Manual de Usuario del Catálogo SAOCOM; acceso a productos SAOCOM.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685800" y="1996440"/>
            <a:ext cx="10789920" cy="807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CIEFAP / Secretaría de Ambiente y Desarrollo Sustentable (2019). Monitoreo de la superficie de bosque nativo. Región forestal Bosque Andino Patagónico.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685800" y="2849880"/>
            <a:ext cx="10789920" cy="807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Argentina.gob.ar Ambiente. Mapas de bosques nativos; Provincia del Chubut. Ordenamiento Territorial del Bosque Nativo.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685800" y="3703320"/>
            <a:ext cx="10789920" cy="807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Wang, C. et al. (2024). Estimation of aboveground biomass for different forest types using Sentinel-1, Sentinel-2, ALOS PALSAR-2, and GEDI. Forests, 15(1), 215.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685800" y="4556760"/>
            <a:ext cx="10789920" cy="807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Subedi, P.B. &amp; Zurqani, H.A. (2025). Multi-sensor forest aboveground biomass estimation using GEDI, machine learning, and deep learning techniques. Advances in Space Research.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685800" y="5410200"/>
            <a:ext cx="10789920" cy="807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Moudrý, V. et al. (2024). How to find accurate terrain and canopy height GEDI estimates: filtering and validation guidance.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457200" y="6428232"/>
            <a:ext cx="11201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02920" y="6483096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Referencias citadas en la presentación.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1064240" y="6483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155/179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18698</Words>
  <Application>Microsoft Office PowerPoint</Application>
  <PresentationFormat>Panorámica</PresentationFormat>
  <Paragraphs>2547</Paragraphs>
  <Slides>150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150</vt:i4>
      </vt:variant>
    </vt:vector>
  </HeadingPairs>
  <TitlesOfParts>
    <vt:vector size="153" baseType="lpstr">
      <vt:lpstr>Arial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Uso de GEDI para estimación de biomasa forestal en el bosque andino chubutense</dc:title>
  <dc:subject>GEDI, biomasa forestal, bosque andino chubutense</dc:subject>
  <dc:creator>OpenAI</dc:creator>
  <cp:lastModifiedBy>Hector Francisco del Valle</cp:lastModifiedBy>
  <cp:revision>13</cp:revision>
  <dcterms:created xsi:type="dcterms:W3CDTF">2026-07-10T19:40:20Z</dcterms:created>
  <dcterms:modified xsi:type="dcterms:W3CDTF">2026-07-10T21:31:50Z</dcterms:modified>
</cp:coreProperties>
</file>