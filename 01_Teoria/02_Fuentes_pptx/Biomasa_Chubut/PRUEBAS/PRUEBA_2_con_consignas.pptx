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slide" Target="slides/slide10.xml"/><Relationship Id="rId61" Type="http://schemas.openxmlformats.org/officeDocument/2006/relationships/slide" Target="slides/slide11.xml"/><Relationship Id="rId62" Type="http://schemas.openxmlformats.org/officeDocument/2006/relationships/slide" Target="slides/slide12.xml"/><Relationship Id="rId63" Type="http://schemas.openxmlformats.org/officeDocument/2006/relationships/slide" Target="slides/slide13.xml"/><Relationship Id="rId64" Type="http://schemas.openxmlformats.org/officeDocument/2006/relationships/slide" Target="slides/slide14.xml"/><Relationship Id="rId65" Type="http://schemas.openxmlformats.org/officeDocument/2006/relationships/slide" Target="slides/slide15.xml"/><Relationship Id="rId66" Type="http://schemas.openxmlformats.org/officeDocument/2006/relationships/slide" Target="slides/slide16.xml"/><Relationship Id="rId67" Type="http://schemas.openxmlformats.org/officeDocument/2006/relationships/slide" Target="slides/slide17.xml"/><Relationship Id="rId68" Type="http://schemas.openxmlformats.org/officeDocument/2006/relationships/slide" Target="slides/slide18.xml"/><Relationship Id="rId69" Type="http://schemas.openxmlformats.org/officeDocument/2006/relationships/slide" Target="slides/slide19.xml"/><Relationship Id="rId70" Type="http://schemas.openxmlformats.org/officeDocument/2006/relationships/slide" Target="slides/slide20.xml"/><Relationship Id="rId71" Type="http://schemas.openxmlformats.org/officeDocument/2006/relationships/slide" Target="slides/slide21.xml"/><Relationship Id="rId72" Type="http://schemas.openxmlformats.org/officeDocument/2006/relationships/slide" Target="slides/slide22.xml"/><Relationship Id="rId73" Type="http://schemas.openxmlformats.org/officeDocument/2006/relationships/slide" Target="slides/slide23.xml"/><Relationship Id="rId74" Type="http://schemas.openxmlformats.org/officeDocument/2006/relationships/slide" Target="slides/slide24.xml"/><Relationship Id="rId75" Type="http://schemas.openxmlformats.org/officeDocument/2006/relationships/slide" Target="slides/slide25.xml"/><Relationship Id="rId76" Type="http://schemas.openxmlformats.org/officeDocument/2006/relationships/slide" Target="slides/slide26.xml"/><Relationship Id="rId77" Type="http://schemas.openxmlformats.org/officeDocument/2006/relationships/slide" Target="slides/slide27.xml"/><Relationship Id="rId78" Type="http://schemas.openxmlformats.org/officeDocument/2006/relationships/slide" Target="slides/slide28.xml"/><Relationship Id="rId79" Type="http://schemas.openxmlformats.org/officeDocument/2006/relationships/slide" Target="slides/slide29.xml"/><Relationship Id="rId80" Type="http://schemas.openxmlformats.org/officeDocument/2006/relationships/slide" Target="slides/slide30.xml"/><Relationship Id="rId81" Type="http://schemas.openxmlformats.org/officeDocument/2006/relationships/slide" Target="slides/slide31.xml"/><Relationship Id="rId82" Type="http://schemas.openxmlformats.org/officeDocument/2006/relationships/slide" Target="slides/slide32.xml"/><Relationship Id="rId83" Type="http://schemas.openxmlformats.org/officeDocument/2006/relationships/slide" Target="slides/slide33.xml"/><Relationship Id="rId84" Type="http://schemas.openxmlformats.org/officeDocument/2006/relationships/slide" Target="slides/slide34.xml"/><Relationship Id="rId85" Type="http://schemas.openxmlformats.org/officeDocument/2006/relationships/slide" Target="slides/slide35.xml"/><Relationship Id="rId86" Type="http://schemas.openxmlformats.org/officeDocument/2006/relationships/slide" Target="slides/slide36.xml"/><Relationship Id="rId87" Type="http://schemas.openxmlformats.org/officeDocument/2006/relationships/slide" Target="slides/slide37.xml"/><Relationship Id="rId88" Type="http://schemas.openxmlformats.org/officeDocument/2006/relationships/slide" Target="slides/slide38.xml"/><Relationship Id="rId89" Type="http://schemas.openxmlformats.org/officeDocument/2006/relationships/slide" Target="slides/slide39.xml"/><Relationship Id="rId90" Type="http://schemas.openxmlformats.org/officeDocument/2006/relationships/slide" Target="slides/slide40.xml"/><Relationship Id="rId91" Type="http://schemas.openxmlformats.org/officeDocument/2006/relationships/slide" Target="slides/slide41.xml"/><Relationship Id="rId92" Type="http://schemas.openxmlformats.org/officeDocument/2006/relationships/slide" Target="slides/slide42.xml"/><Relationship Id="rId93" Type="http://schemas.openxmlformats.org/officeDocument/2006/relationships/slide" Target="slides/slide43.xml"/><Relationship Id="rId94" Type="http://schemas.openxmlformats.org/officeDocument/2006/relationships/slide" Target="slides/slide44.xml"/><Relationship Id="rId95" Type="http://schemas.openxmlformats.org/officeDocument/2006/relationships/slide" Target="slides/slide45.xml"/><Relationship Id="rId96" Type="http://schemas.openxmlformats.org/officeDocument/2006/relationships/slide" Target="slides/slide46.xml"/><Relationship Id="rId97" Type="http://schemas.openxmlformats.org/officeDocument/2006/relationships/slide" Target="slides/slide47.xml"/><Relationship Id="rId98" Type="http://schemas.openxmlformats.org/officeDocument/2006/relationships/slide" Target="slides/slide48.xml"/><Relationship Id="rId99" Type="http://schemas.openxmlformats.org/officeDocument/2006/relationships/slide" Target="slides/slide49.xml"/><Relationship Id="rId100" Type="http://schemas.openxmlformats.org/officeDocument/2006/relationships/slide" Target="slides/slide50.xml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realistic_high_detail_scene_of_a_modern_work_batch_4.png"/>
          <p:cNvPicPr>
            <a:picLocks noChangeAspect="1"/>
          </p:cNvPicPr>
          <p:nvPr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b="1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Descarga, filtrado, análisis y validación de datos GEDI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5687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Transición | 50/150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Ilustración conceptual generada; fuentes técnicas: NASA GEDI Data Resources, LP DAAC y ORNL DAAC.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50/179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realistic_high_detail_scene_of_a_modern_work_batch_4.png"/>
          <p:cNvPicPr>
            <a:picLocks noChangeAspect="1"/>
          </p:cNvPicPr>
          <p:nvPr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b="1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y análisis de GEDI: de HDF5 a biomasa con incertidumbre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5687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 | 51–100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Earthdata GEDI v3 release; ORNL DAAC GEDI L4A v3, DOI 10.3334/ORNLDAAC/2508.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51/179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general de descarga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 completa, sin magia negra ni carpetas llamadas final_final_v3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área de interés y período temporal representativo.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producto: L2A/L2B para estructura o L4A para AGBD.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granules con Earthdata Search, CMR/earthaccess, OPeNDAP o GEE.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 calidad, extraer variables, cruzar covariables y validar.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23888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68705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650224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961339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0576560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897880" y="2430475"/>
            <a:ext cx="807720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61048" y="2430475"/>
            <a:ext cx="807720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24216" y="2430475"/>
            <a:ext cx="807720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87384" y="2430475"/>
            <a:ext cx="807720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50552" y="2430475"/>
            <a:ext cx="807720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13720" y="2430475"/>
            <a:ext cx="807720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52/179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área de interés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polígono manda: todo lo demás obedece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un polígono oficial o validado de bosque andino chubutense.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CRS, fecha, escala y procedencia de la capa.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AOI de análisis, área de entrenamiento y área de validación cuando sea posible.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versiones del polígono para repetir exactamente la búsqueda.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 en GeoJSON/GeoPackage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CRS declarado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oficial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actualización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si aplica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CIEFAP/SNMBN Bosque Andino Patagónico; Argentina Ambiente Mapas de Bosque Nativo; Chubut OTBN. Elaboración propia.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53/179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período temporal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bosque no espera al satélite; el análisis sí debe elegir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mapa actual, combinar GEDI reciente con covariables del mismo período.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línea base, seleccionar años previos a incendios o cambios conocidos.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mezclar adquisiciones antes/después de disturbios sin etiquetar.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valles con pocas huellas, ampliar años, pero controlar cambios.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2019-2022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pre-pausa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nuevos datos desde marzo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reanudación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validación/máscaras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54/179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cuenta Earthdata Login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puerta de entrada a NASA sin costo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usuario en Earthdata Login y aceptar términos de acceso.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credenciales seguras para Python o R: nunca pegarlas en scripts públicos.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servicios de LP DAAC/ORNL cuando el flujo lo solicite.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fecha de acceso para citar datasets con DOI.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token/credenciales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Earthdata Login.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55/179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1: Earthdata Search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manual y subsetting visual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por “GEDI04_A v003” o el short name del producto.</a:t>
            </a:r>
            <a:endParaRPr lang="en-US" sz="18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Dibujar/cargar AOI y filtrar por fechas.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granules intersectantes y aplicar subset espacial si está disponible.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Descargar HDF5 y archivos auxiliares; registrar DOI y versión.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LP DAAC GEDI Quick Guide.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56/179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Earthdata Search: buenas prácticas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no significa improvisado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descargar “todo Chubut” sin estimar volumen; GEDI puede ser pesado.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nombres de carpetas con producto, versión, período y AOI.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manifest o lista de URLs para trazabilidad.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granules que no descargaron y reintentar, no rellenar con esperanza.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guardado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en carpeta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checksums si existen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de descarga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 en README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57/179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2: Python con earthaccess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reproducible desde CMR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earthaccess autentica, consulta CMR y descarga o abre archivos remotos.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automatizar AOI, fechas, short_name y versión.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Conviene trabajar por lotes para no saturar memoria ni red.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script sirve para actualizar cuando salen nuevas adquisiciones.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2105406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</p:spPr>
        <p:txBody>
          <a:bodyPr wrap="none" lIns="146304" tIns="128016" rIns="146304" bIns="128016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earthaccess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earthaccess.login(strategy="netrc")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= earthaccess.search_data(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short_name="GEDI04_A",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version="003",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temporal=("2024-04-26", "2025-07-10"),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bounding_box=(-72.5, -45.0, -70.8, -42.0)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= earthaccess.download(results, "data/gedi_l4a_v3")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GEDI Data Resources.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58/179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3: OPeNDAP / Hyrax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variables sin bajar el camión entero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 solo se necesitan latitud, longitud, AGBD, SE y flags.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transferencia y acelera exploración en entornos cloud.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manejar URLs, autenticación y estructura HDF5 remota.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prototipos antes de montar una descarga masiva.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Hyrax URL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Earthdata Cloud Cookbook.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59/179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4: Google Earth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para prototipos, cuidadoso para producción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 ofrece versiones rasterizadas/mensuales de GEDI v2/v2.1 para algunos productos.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excelente para exploración, filtros y fusión con Sentinel/Landsat en la nube.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una auditoría estricta de GEDI v3, revisar disponibilidad y metadata actual.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confundir raster mensual con el producto HDF5 original de huellas.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1315212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</p:spPr>
        <p:txBody>
          <a:bodyPr wrap="none" lIns="146304" tIns="128016" rIns="146304" bIns="128016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gedi = ee.ImageCollection('LARSE/GEDI/GEDI04_A_002_MONTHLY')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.filterBounds(aoi)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.filterDate('2021-01-01', '2021-12-31')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.map(function(img){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return img.updateMask(img.select('l4_quality_flag').eq(1));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Google Earth Engine Data Catalog GEDI.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60/179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rutas de acceso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“mejor”, hay “adecuada al objetivo”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Earthdata Search: ideal para usuarios GIS y descargas puntuales.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earthaccess: ideal para reproducibilidad y procesamiento masivo.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OPeNDAP/Hyrax: ideal para extraer pocas variables de muchos granules.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GEE: ideal para prototipado espacial y fusión rápida con otros sensores.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usar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Earthdata Search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descargas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earthaccess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Python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OPeNDAP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selectivo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puntuales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GIS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y fusión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61/179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HDF5 de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viven dentro de beams, grupos y variables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archivo HDF5 contiene grupos METADATA, BEAMXXXX y variables por beam.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todos los beams tienen la misma densidad ni calidad de datos.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debe iterar por beam y concatenar resultados con el identificador original.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shot_number es clave para trazabilidad y deduplicación.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.h5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BEAM0000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GeoDataFrame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shot_id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ORNL DAAC/LP DAAC Data Dictionaries.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62/179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mínimas L4A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tabla de huellas lista para mapear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lat_lowestmode y lon_lowestmode o coordenadas equivalentes.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agbd: densidad de biomasa aérea; agbd_se: error estándar.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l4_quality_flag, degrade_flag, sensitivity y selected_algorithm.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beam, shot_number, fecha y predictor/model metadata para auditoría.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lat/lon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geometría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numérico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agbd_se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numérico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peso/incertidumbre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quality/degrade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shot_number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63/179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mínimas L2A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Alturas relativas y control del terreno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metrics: RH25 a RH100 según producto y beam.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elev_lowestmode y elev_highestreturn para revisar terreno y copa.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y quality_flag para filtrar retornos confiables.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solar_elevation y flags auxiliares pueden ayudar a detectar condiciones raras.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rh95/rh98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 de dosel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 fuerte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elev_lowestmode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con DEM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quality_flag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primero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según bosque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64/179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mínimas L2B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vertical para mejorar modelos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cover: cierre de copa por huella.</a:t>
            </a:r>
            <a:endParaRPr lang="en-US" sz="18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pai: índice de área vegetal acumulado.</a:t>
            </a:r>
            <a:endParaRPr lang="en-US" sz="18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pavd: densidad de área vegetal por estratos.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fhd_normal: diversidad vertical, útil para complejidad del bosque.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copa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vegetal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pavd_z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vertical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estratos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fhd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diversidad vertical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hábitat/biomasa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65/179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HDF5 con Python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receta mínima para no pelearse con beams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archivo con h5py y listar grupos BEAM.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solo variables necesarias para ahorrar memoria.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arrays a DataFrame y luego a GeoDataFrame.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Conservar beam, archivo y shot_number para trazabilidad.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2849117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</p:spPr>
        <p:txBody>
          <a:bodyPr wrap="none" lIns="146304" tIns="128016" rIns="146304" bIns="128016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h5py, pandas as pd, geopandas as gpd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= []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h5py.File(path, 'r') as f: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for beam in [k for k in f.keys() if k.startswith('BEAM')]: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 = f[beam]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df = pd.DataFrame({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'beam': beam,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'shot_number': g['shot_number'][:],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'lon': g['lon_lowestmode'][:],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'lat': g['lat_lowestmode'][:],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'agbd': g['agbd'][:],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'agbd_se': g['agbd_se'][:]})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rows.append(df)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 = gpd.GeoDataFrame(pd.concat(rows),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geometry=gpd.points_from_xy(df.lon, df.lat), crs='EPSG:4326')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h5py documentation; NASA GEDI tutorials.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66/179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espacial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dentro del AOI, luego dentro del bosque válido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Intersectar huellas con el polígono de bosque andino chubutense.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máscaras de bosque nativo, agua, nieve, urbano, plantación y áreas no objetivo.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Excluir huellas cercanas a borde si se busca entrenamiento limpio.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una tabla con conteos antes/después de cada filtro.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huellas brutas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filtrada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CIEFAP/SNMBN Bosque Andino Patagónico; Argentina Ambiente Mapas de Bosque Nativo; Chubut OTBN. NASA GEDI Data Resources; LP DAAC Quick Guide; Earthdata Cloud Cookbook.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67/179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de calidad recomendado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orden práctico para no perderse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flags oficiales: quality y degrade.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Luego sensibilidad mínima, rangos plausibles de AGBD y SE.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filtros espaciales: bosque, pendiente, distancia a borde y agua.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Finalmente diagnóstico de outliers con covariables y revisión visual.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NASA EarthRISE GEDI training.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68/179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de huellas por filtro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transparencia empieza con una tabla aburrida; sí, aburrida pero santa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conteo permite evaluar si el modelo pierde estratos importantes.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cuántas huellas se excluyen por calidad, bosque, pendiente o borde.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filtro elimina demasiado, revisar umbrales por tipo forestal.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ocultar pérdidas de muestra: son parte de la calidad del producto final.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criterio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esperada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bruto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intersecta AOI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inicial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= 1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confiable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nativa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objetivo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umbral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estable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rango/DEM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final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GEDI/UMD Products; LP DAAC GEDI02 User Guides; ORNL DAAC L4A/L4B.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69/179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Reproyección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métrica espacial necesita metros, no solo grados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WGS84 para descarga y trazabilidad original.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Reproyectar a CRS métrico adecuado para buffers, distancias y agregación.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Patagonia argentina puede usarse UTM 19S/18S según zona o CRS oficial del proyecto.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CRS de cada capa y evitar mezclas silenciosas.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WGS84 original conservado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CRS métrico para análisis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 en metros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en hectáreas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 con EPSG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70/179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con DEM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terreno y variables ambientales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elevación, pendiente, exposición, curvatura y distancia a drenajes si corresponde.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elevación GEDI con DEM para detectar errores groseros.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DEM de resolución coherente con la huella y el mapa final.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laderas, revisar si errores se concentran por pendiente/exposición.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filtro/modelo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Moudrý et al. (2024).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71/179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inicial de AGBD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modelo: mirar, resumir y sospechar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de AGBD por tipo forestal y período.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huellas para detectar clústeres, vacíos y transectas problemáticas.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Dispersión AGBD vs RH98, cover, pendiente y reflectancia.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agbd_se para ponderar o filtrar datos ruidosos.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conceptual de AGBD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0-50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10972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51306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50-150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274320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158984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150-300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20116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427464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&gt;300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54864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964424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Earthdata GEDI v3 release; ORNL DAAC GEDI L4A v3, DOI 10.3334/ORNLDAAC/2508.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72/179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huellas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la muestra evita enamorarse de un promedio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huellas por año, beam, calidad y tipo forestal.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zonas sin cobertura y áreas con sesgo de muestreo.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Superponer incendios, pendientes y clases forestales.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mapas de control para discusión con especialistas locales.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instrumental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forestal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73/179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Ponderación por incertidumbre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todas las huellas deben pesar igual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agbd_se permite usar pesos inversamente proporcionales a la varianza.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pueden entrenarse con pesos o usarse para filtrar observaciones débiles.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Ponderar no corrige sesgos sistemáticos; solo reduce influencia de datos ruidosos.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modelos con y sin pesos para evaluar estabilidad.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783080"/>
            <a:ext cx="5623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pesoᵢ = 1 / SEᵢ²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89320" y="2697480"/>
            <a:ext cx="544068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Normalizar pesos si el algoritmo lo requiere.</a:t>
            </a:r>
            <a:endParaRPr lang="en-US" sz="12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si pesos bajos se concentran por tipo forestal.</a:t>
            </a:r>
            <a:endParaRPr lang="en-US" sz="12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la decisión en metadatos.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74/179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outliers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raros: algunos son errores, otros son ciencia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 valores imposibles de AGBD, altura o coordenadas.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altura GEDI con cobertura óptica y clases forestales.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outliers altos en coihuales, alerces o rodales antiguos antes de descartarlos.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un campo “motivo_exclusion” para auditoría.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 físico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forestal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 / pendiente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óptica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documentado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CIEFAP/SNMBN Bosque Andino Patagónico; Argentina Ambiente Mapas de Bosque Nativo; Chubut OTBN.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75/179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parcelas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satélite propone; el bosque dispone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Unir parcelas a huellas cercanas o píxeles predichos con reglas de distancia y soporte.</a:t>
            </a:r>
            <a:endParaRPr lang="en-US" sz="18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validación local de ajuste de sesgo.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por tipo forestal, pendiente y rango de biomasa.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incertidumbre de la parcela, no solo del satélite.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allometría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76/179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datos ALS o drones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existen, son oro metodológico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aéreo puede evaluar altura y estructura de forma más densa que GEDI.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 fotogramétricos ayudan en canopy height models, aunque con límites bajo copa.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Sirven para calibrar sesgo de geolocalización y soporte espacial.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ALS/drone exige fecha cercana y control de cambios de cobertura.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70966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589788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70966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altura/estructura densa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89788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RGB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70966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ortomosaico y copa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89788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LiDAR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70966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fina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89788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70966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orbital estandarizado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NASA GEDI/UMD; NASA GSFC SVS 13090; Dubayah et al. (2020).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77/179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variable objetivo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 GEDI, AGB parcela o una combinación jerárquica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hay parcelas, L4A puede actuar como referencia proxy con advertencias explícitas.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parcelas, calibrar/validar la relación local con GEDI y covariables.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mezclar AGBD GEDI y AGB parcela como si fueran idénticos sin modelar errores.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debe mantenerse fijo en entrenamiento, validación y reporte.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70966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/ riesgo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89788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L4A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70966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 cobertura / sesgo local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89788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0966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local / pocas muestras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89788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70966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densidad / costo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89788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70966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potente / más supuestos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NASA Earthdata GEDI v3 release; ORNL DAAC GEDI L4A v3, DOI 10.3334/ORNLDAAC/2508.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78/179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GEDI-only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Útiles para entender estructura, insuficientes para mapa continuo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Relacionar AGBD con RH metrics, cover, PAI y topografía permite diagnóstico rápido.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Estos modelos solo predicen donde hay huellas o se interpolan variables GEDI.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Sirven para detectar qué métricas estructurales explican biomasa localmente.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pared-a-pared, se necesitan covariables continuas ópticas/radar/topográficas.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conceptual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RH98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310896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52474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2121408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537192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2267712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683496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128016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695944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79/179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regresión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Lineal, robusto, RF, XGBoost: el algoritmo no absuelve datos malos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lineal ayuda a interpretar relaciones y sesgo.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maneja no linealidad y variables correlacionadas con buen desempeño operativo.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XGBoost/LightGBM pueden mejorar precisión, pero exigen tuning y control de overfit.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espaciales o GPR ayudan a incertidumbre, con mayor costo computacional.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linealidad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robusto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extrapolación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GPR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80/179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espacial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que vecinos cercanos se copien la tarea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bloques espaciales o agrupación por transecta/órbita para particiones de validación.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validación aleatoria puede sobreestimar desempeño por autocorrelación.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métricas por bloque, no solo promedio global.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transferibilidad entre cuencas o sectores norte/centro/sur de la cordillera chubutense.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espacial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81/179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desempeño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R² alto no paga las cuentas si el sesgo es grande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y MAE indican error absoluto en Mg ha⁻¹.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NRMSE o %RMSE facilitan comparación entre estratos.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identifica sobre/subestimación sistemática.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intervalos evalúa si la incertidumbre prometida se cumple.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82/179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residuos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de errores suele contar la verdadera historia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Graficar residuales vs AGBD, elevación, pendiente, tipo forestal y fecha.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residuales para detectar zonas con sesgo espacial.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residuales altos con imágenes ópticas y radar.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residuos para diseñar nuevas parcelas o ajustar estratos.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conceptual por estrato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lenga alta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237744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79322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ñire bajo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146304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878824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ciprés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20116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427464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quemado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29260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341864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83/179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 a rodal o cuenca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píxel al número que usa gestión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Promediar píxeles válidos por unidad de manejo y calcular área efectiva.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Propagar incertidumbre: error del modelo, área y autocorrelación.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distribución, no solo media: percentiles ayudan a gestión.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máscaras y clases coherentes con inventario y OTBN.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783080"/>
            <a:ext cx="5623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Σ(AGBDᵢ × áreaᵢ)  +  incertidumbre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89320" y="2697480"/>
            <a:ext cx="544068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por unidad = suma ponderada por área.</a:t>
            </a:r>
            <a:endParaRPr lang="en-US" sz="12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= total / área válida.</a:t>
            </a:r>
            <a:endParaRPr lang="en-US" sz="12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número de píxeles y cobertura.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84/179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Propagación de incertidumbre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no desaparece; se muda de columna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incertidumbre de GEDI, modelo, covariables y agregación espacial.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por bloques ayuda a capturar dependencia espacial.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de cuantiles o intervalos son más informativos que una sola superficie.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de manejo deben considerar zonas de alta incertidumbre.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espacial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85/179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de resultados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que otros puedan abrir sin invocar espíritus SIG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GeoPackage para puntos GEDI filtrados y tablas de atributos.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GeoTIFF/COG para mapas de biomasa e incertidumbre.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CSV/parquet para muestras de entrenamiento y métricas.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con versión, filtros, CRS, variables, fecha y referencias.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GPKG puntos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 rasters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CSV/parquet muestras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parámetros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metodológico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GEDI Data Resources; LP DAAC Quick Guide; Earthdata Cloud Cookbook.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86/179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GEE: exportar muestras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covariables continuas sobre huellas GEDI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huellas filtradas como FeatureCollection o usar GEDI en catálogo si aplica.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composite óptico/radar/topográfico de la misma ventana temporal.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sampleRegions extrae predictores en cada huella.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a Drive/Cloud Storage para modelado en Python/R.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2461767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</p:spPr>
        <p:txBody>
          <a:bodyPr wrap="none" lIns="146304" tIns="128016" rIns="146304" bIns="128016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samples = predictors.sampleRegions({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collection: gedi_points,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properties: ['agbd', 'agbd_se', 'forest_type'],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scale: 30,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geometries: true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});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Export.table.toDrive({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collection: samples,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description: 'gedi_covariates_chubut'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Google Earth Engine documentation.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87/179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entrenar un modelo base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mínimo con Random Forest y validación espacial simplificada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predictores X, objetivo y y pesos opcionales.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GroupKFold por bloque espacial o cuenca.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modelo, variables y métricas por fold.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usar este ejemplo sin ajustar a datos reales y estratos locales.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1532128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</p:spPr>
        <p:txBody>
          <a:bodyPr wrap="none" lIns="146304" tIns="128016" rIns="146304" bIns="128016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sklearn.ensemble import RandomForestRegressor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sklearn.model_selection import GroupKFold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sklearn.metrics import mean_squared_error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= RandomForestRegressor(n_estimators=500, random_state=42, n_jobs=-1)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tr, te in GroupKFold(n_splits=5).split(X, y, groups=blocks):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rf.fit(X.iloc[tr], y.iloc[tr], sample_weight=w.iloc[tr])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pred = rf.predict(X.iloc[te])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rmse = mean_squared_error(y.iloc[te], pred, squared=False)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scikit-learn documentation.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88/179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una alternativa tidy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sf, terra y tidymodels para flujos reproducibles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maneja huellas y polígonos; terra maneja rasters.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tidymodels/caret permiten validación y tuning reproducible.</a:t>
            </a:r>
            <a:endParaRPr lang="en-US" sz="18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ranger es eficiente para Random Forest.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o drake ayudan a automatizar pipelines con dependencias.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5623560" cy="1594104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</p:spPr>
        <p:txBody>
          <a:bodyPr wrap="none" lIns="146304" tIns="128016" rIns="146304" bIns="128016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library(sf); library(terra); library(ranger)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&lt;- st_read('gedi_l4a_filtered.gpkg')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preds &lt;- rast('stack_predictors.tif')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&lt;- terra::extract(preds, vect(gedi), bind=TRUE)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&lt;- ranger(agbd ~ ., data=train,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num.trees=500, importance='permutation')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R packages sf/terra/ranger.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89/179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Paralelización y volumen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no es inmanejable, pero tampoco entra en una planilla feliz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Procesar por granule, beam o mosaicos espaciales.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intermedios filtrados para no releer HDF5 completo.</a:t>
            </a:r>
            <a:endParaRPr lang="en-US" sz="18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parquet/geoparquet para tablas grandes.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memoria: concatenar por chunks y validar conteos.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Elaboración propia.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90/179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 obligatorios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reproducibilidad vive en detalles pequeños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Producto, versión, DOI, fecha de descarga y DAAC.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AOI, CRS, filtros de calidad, variables extraídas y scripts usados.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Covariables: colección, fechas, máscaras, resolución y reproyección.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algoritmo, hiperparámetros, particiones de validación y métricas.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producto/versión/DOI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AOI/CRS/filtros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covariables/fechas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modelo/validación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resultados/incertidumbre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EOSDIS Data Use and Citation Guidance.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91/179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 visual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ojos no reemplazan métricas, pero detectan barbaridades muy rápido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Superponer huellas sobre Sentinel-2 natural color, falso color y radar.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valores altos/bajos extremos con imágenes de la fecha más cercana.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Inspeccionar áreas quemadas, nieve, agua, borde urbano y plantaciones.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capturas o mapas de auditoría para decisiones de filtrado.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RGB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S1/SAOCOM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ESA/Copernicus Sentinel-1; CONAE SAOCOM; SAOCOM Mission Products Definition (2024). GEDI/UMD Products; LP DAAC GEDI02 User Guides; ORNL DAAC L4A/L4B.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92/179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de “no hacer” que ahorra mates fríos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GEDI sin flags de calidad.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Mezclar productos v2/v3 sin documentar versión.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con huellas fuera de bosque objetivo.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aleatoriamente cuando hay autocorrelación espacial.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un único número sin incertidumbre ni área válida.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omitir flags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mezclar versiones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usar no-bosque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CV aleatoria ciega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ocultar incertidumbre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GEDI/UMD Products; LP DAAC GEDI02 User Guides; ORNL DAAC L4A/L4B.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93/179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operativo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pasar a Landsat/Sentinel/radar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 y máscara forestal listas y citadas.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descargado con producto, versión y DOI documentados.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Huellas filtradas con conteos por paso y motivo de exclusión.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final con geometría, AGBD/SE, flags, fecha, beam y covariables base.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 validado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trazable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auditados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final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94/179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la Sección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descarga a dataset modelable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se descarga desde Earthdata/DAACs o se consulta con earthaccess, OPeNDAP o GEE.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HDF5 debe convertirse en tablas geoespaciales por beam con trazabilidad completa.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calidad, filtros espaciales y validación importan más que el algoritmo elegido.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 final de esta sección es una muestra limpia para fusión con sensores continuos.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limpia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NASA Earthdata GEDI v3 release; ORNL DAAC GEDI L4A v3, DOI 10.3334/ORNLDAAC/2508.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95/179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 del código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metodología también necesita historial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Git o un repositorio equivalente para scripts y parámetros.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versiones de paquetes críticos: earthaccess, h5py, geopandas, rasterio, sklearn o equivalentes.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archivos de ambiente para reproducir resultados.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Nombrar salidas con fecha, versión GEDI y hash o etiqueta de ejecución.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requirements/renv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YAML/JSON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de release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GEDI Data Resources; LP DAAC Quick Guide; Earthdata Cloud Cookbook.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96/179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del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 el análisis debe ser una orden, no una aventura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tareas: descarga, lectura, filtros, covariables, entrenamiento, predicción y reporte.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Make, Snakemake, targets, Airflow o scripts modulares según escala.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dependencias entre archivos para evitar reprocesamientos innecesarios.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el flujo en un AOI pequeño antes de correr todo Chubut.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16522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72323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228125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383926" y="3601593"/>
            <a:ext cx="10058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97880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3682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9483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65285" y="2430475"/>
            <a:ext cx="1000354" cy="2342236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21086" y="2430475"/>
            <a:ext cx="1000354" cy="2342236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GEDI Data Resources; LP DAAC Quick Guide; Earthdata Cloud Cookbook.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97/179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de la Sección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debe quedar listo antes de fusionar sensores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huellas GEDI filtradas y citadas, con agbd, SE y flags.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conteos de filtros por producto, año, beam y tipo forestal.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Muestras con covariables base y bloques espaciales de validación.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metodológico corto con decisiones, limitaciones y rutas de datos.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GPKG/GeoParquet GEDI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filtros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muestras modelables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de CV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98/179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go/no-go para fusión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todos los AOI están listos para un mapa operativo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Go: suficientes huellas por estrato, filtros claros y covariables temporales coherentes.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condicionado: pocos datos en estratos raros; requiere campo o modelos separados.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No-go temporal: cambios recientes no capturados o sin validación mínima.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debe documentarse antes de invertir tiempo en mapas de alta resolución.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balanceada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condicionado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estrato débil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campo/estratificar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incoherentes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redefinir período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no-go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validación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exploratorio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99/179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18698</Words>
  <Application>Microsoft Office PowerPoint</Application>
  <PresentationFormat>Panorámica</PresentationFormat>
  <Paragraphs>2547</Paragraphs>
  <Slides>150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150</vt:i4>
      </vt:variant>
    </vt:vector>
  </HeadingPairs>
  <TitlesOfParts>
    <vt:vector size="153" baseType="lpstr">
      <vt:lpstr>Arial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GEDI para estimación de biomasa forestal en el bosque andino chubutense</dc:title>
  <dc:subject>GEDI, biomasa forestal, bosque andino chubutense</dc:subject>
  <dc:creator>OpenAI</dc:creator>
  <cp:lastModifiedBy>Hector Francisco del Valle</cp:lastModifiedBy>
  <cp:revision>13</cp:revision>
  <dcterms:created xsi:type="dcterms:W3CDTF">2026-07-10T19:40:20Z</dcterms:created>
  <dcterms:modified xsi:type="dcterms:W3CDTF">2026-07-10T21:31:50Z</dcterms:modified>
</cp:coreProperties>
</file>