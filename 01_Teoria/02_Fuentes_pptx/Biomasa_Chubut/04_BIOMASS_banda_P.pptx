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8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cm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X</c:v>
              </c:pt>
              <c:pt idx="1">
                <c:v>C</c:v>
              </c:pt>
              <c:pt idx="2">
                <c:v>L</c:v>
              </c:pt>
              <c:pt idx="3">
                <c:v>P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5.6</c:v>
              </c:pt>
              <c:pt idx="2">
                <c:v>24</c:v>
              </c:pt>
              <c:pt idx="3">
                <c:v>69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41C-43CA-BDBC-B82CD009FB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0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</c:v>
          </c:tx>
          <c:spPr>
            <a:solidFill>
              <a:srgbClr val="6DCB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SLC rango</c:v>
              </c:pt>
              <c:pt idx="1">
                <c:v>DGM</c:v>
              </c:pt>
              <c:pt idx="2">
                <c:v>Disturbio</c:v>
              </c:pt>
              <c:pt idx="3">
                <c:v>AGB/altura</c:v>
              </c:pt>
            </c:strLit>
          </c:cat>
          <c:val>
            <c:numLit>
              <c:formatCode>General</c:formatCode>
              <c:ptCount val="4"/>
              <c:pt idx="0">
                <c:v>25</c:v>
              </c:pt>
              <c:pt idx="1">
                <c:v>60</c:v>
              </c:pt>
              <c:pt idx="2">
                <c:v>50</c:v>
              </c:pt>
              <c:pt idx="3">
                <c:v>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62-4BF3-AE46-F7CA557A3AC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00">
                <a:solidFill>
                  <a:schemeClr val="tx1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9C2D45D-0393-47CC-A52F-98807E703A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D22D58-9312-4902-8452-B560749E531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590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RADAR SAR DE BANDA P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07CADA-4B9F-4E1A-8F9D-AC5AB7EE06C4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6953250" cy="87630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ESA Biomass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6601AD-6CAC-4335-B515-6E2D585214F4}"/>
              </a:ext>
            </a:extLst>
          </p:cNvPr>
          <p:cNvSpPr>
            <a:spLocks noGrp="1"/>
          </p:cNvSpPr>
          <p:nvPr/>
        </p:nvSpPr>
        <p:spPr>
          <a:xfrm>
            <a:off x="590550" y="3095625"/>
            <a:ext cx="6477000" cy="1381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Fundamentos, datos y procesamiento con SNAP para estimación de biomasa forestal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132A41-10C3-43A6-8A52-7C3290E9F4A4}"/>
              </a:ext>
            </a:extLst>
          </p:cNvPr>
          <p:cNvSpPr>
            <a:spLocks noGrp="1"/>
          </p:cNvSpPr>
          <p:nvPr/>
        </p:nvSpPr>
        <p:spPr>
          <a:xfrm>
            <a:off x="7953375" y="6381750"/>
            <a:ext cx="3619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Imagen: ESA · Bolivia · composición Pauli</a:t>
            </a:r>
          </a:p>
        </p:txBody>
      </p:sp>
    </p:spTree>
    <p:extLst>
      <p:ext uri="{BB962C8B-B14F-4D97-AF65-F5344CB8AC3E}">
        <p14:creationId xmlns:p14="http://schemas.microsoft.com/office/powerpoint/2010/main" val="858060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B5D69B6E-C2BB-4714-8F33-9AA834F8F11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La misión observa la estructura leñosa, no el color del bosque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74C408F-8146-402E-88CF-40248E4DB4E0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429250" cy="1714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Biomass mide amplitud, fase y polarización de la señal dispersada por troncos, ramas, copa y suelo. La biomasa aparece después de una inversión biofísica o un modelo calibrado.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8D55BB-EE1E-4248-BC22-A7E80695C072}"/>
              </a:ext>
            </a:extLst>
          </p:cNvPr>
          <p:cNvSpPr>
            <a:spLocks noGrp="1"/>
          </p:cNvSpPr>
          <p:nvPr/>
        </p:nvSpPr>
        <p:spPr>
          <a:xfrm>
            <a:off x="400050" y="3600450"/>
            <a:ext cx="5429250" cy="1905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179E5C-FC70-4CDE-A3FB-EFB66007746F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8577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Primera misión espacial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667460-C230-4DF9-87AF-119E91B81876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4762500" cy="809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SAR completamente polarimétrico en banda P · acceso abierto desde enero de 2026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567A88-B81F-4B22-8D20-3DB399B2AB1C}"/>
              </a:ext>
            </a:extLst>
          </p:cNvPr>
          <p:cNvSpPr>
            <a:spLocks noGrp="1"/>
          </p:cNvSpPr>
          <p:nvPr/>
        </p:nvSpPr>
        <p:spPr>
          <a:xfrm>
            <a:off x="400050" y="6031611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i="1" dirty="0">
                <a:latin typeface="Arial"/>
              </a:rPr>
              <a:t>Fuente: </a:t>
            </a:r>
            <a:r>
              <a:rPr sz="1400" dirty="0">
                <a:latin typeface="Arial"/>
              </a:rPr>
              <a:t>ESA Biomass goes live; ESA Biomass launched to count forest carbon.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rcRect t="20501" b="20501"/>
          <a:stretch>
            <a:fillRect/>
          </a:stretch>
        </p:blipFill>
        <p:spPr>
          <a:xfrm>
            <a:off x="6429375" y="1219200"/>
            <a:ext cx="538162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1262B74B-1314-4496-8942-698041A4DA1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 fontScale="93919"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La banda P alcanza estructuras leñosas que las bandas cortas apenas ven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4EECD5-F064-421E-9351-F221A0A1AFD1}"/>
              </a:ext>
            </a:extLst>
          </p:cNvPr>
          <p:cNvSpPr>
            <a:spLocks noGrp="1"/>
          </p:cNvSpPr>
          <p:nvPr/>
        </p:nvSpPr>
        <p:spPr>
          <a:xfrm>
            <a:off x="400050" y="1190625"/>
            <a:ext cx="5715000" cy="3333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2000" i="1" dirty="0" err="1">
                <a:solidFill>
                  <a:srgbClr val="0070C0"/>
                </a:solidFill>
                <a:latin typeface="Arial"/>
              </a:rPr>
              <a:t>Longitud</a:t>
            </a:r>
            <a:r>
              <a:rPr sz="2000" i="1" dirty="0">
                <a:solidFill>
                  <a:srgbClr val="0070C0"/>
                </a:solidFill>
                <a:latin typeface="Arial"/>
              </a:rPr>
              <a:t> de </a:t>
            </a:r>
            <a:r>
              <a:rPr sz="2000" i="1" dirty="0" err="1">
                <a:solidFill>
                  <a:srgbClr val="0070C0"/>
                </a:solidFill>
                <a:latin typeface="Arial"/>
              </a:rPr>
              <a:t>onda</a:t>
            </a:r>
            <a:r>
              <a:rPr sz="2000" i="1" dirty="0">
                <a:solidFill>
                  <a:srgbClr val="0070C0"/>
                </a:solidFill>
                <a:latin typeface="Arial"/>
              </a:rPr>
              <a:t> </a:t>
            </a:r>
            <a:r>
              <a:rPr sz="2000" i="1" dirty="0" err="1">
                <a:solidFill>
                  <a:srgbClr val="0070C0"/>
                </a:solidFill>
                <a:latin typeface="Arial"/>
              </a:rPr>
              <a:t>aproximada</a:t>
            </a:r>
            <a:r>
              <a:rPr sz="2000" i="1" dirty="0">
                <a:solidFill>
                  <a:srgbClr val="0070C0"/>
                </a:solidFill>
                <a:latin typeface="Arial"/>
              </a:rPr>
              <a:t> (cm)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C2CE159-29CC-4041-825A-FA83D995EDAE}"/>
              </a:ext>
            </a:extLst>
          </p:cNvPr>
          <p:cNvSpPr>
            <a:spLocks noGrp="1"/>
          </p:cNvSpPr>
          <p:nvPr/>
        </p:nvSpPr>
        <p:spPr>
          <a:xfrm>
            <a:off x="8382000" y="1285875"/>
            <a:ext cx="2857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≈</a:t>
            </a:r>
            <a:r>
              <a:rPr lang="es-ES" dirty="0">
                <a:latin typeface="Arial"/>
              </a:rPr>
              <a:t> </a:t>
            </a:r>
            <a:r>
              <a:rPr dirty="0">
                <a:latin typeface="Arial"/>
              </a:rPr>
              <a:t>69 cm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415A79-A796-4389-B3E0-5894EB546DE5}"/>
              </a:ext>
            </a:extLst>
          </p:cNvPr>
          <p:cNvSpPr>
            <a:spLocks noGrp="1"/>
          </p:cNvSpPr>
          <p:nvPr/>
        </p:nvSpPr>
        <p:spPr>
          <a:xfrm>
            <a:off x="7239000" y="2333625"/>
            <a:ext cx="4095750" cy="1381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A 435 MHz, λ=c/f. La </a:t>
            </a:r>
            <a:r>
              <a:rPr dirty="0" err="1">
                <a:latin typeface="Arial"/>
              </a:rPr>
              <a:t>penetración</a:t>
            </a:r>
            <a:r>
              <a:rPr dirty="0">
                <a:latin typeface="Arial"/>
              </a:rPr>
              <a:t> real </a:t>
            </a:r>
            <a:r>
              <a:rPr dirty="0" err="1">
                <a:latin typeface="Arial"/>
              </a:rPr>
              <a:t>depende</a:t>
            </a:r>
            <a:r>
              <a:rPr dirty="0">
                <a:latin typeface="Arial"/>
              </a:rPr>
              <a:t> de </a:t>
            </a:r>
            <a:r>
              <a:rPr dirty="0" err="1">
                <a:latin typeface="Arial"/>
              </a:rPr>
              <a:t>humedad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densidad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geometría</a:t>
            </a:r>
            <a:r>
              <a:rPr dirty="0">
                <a:latin typeface="Arial"/>
              </a:rPr>
              <a:t> y </a:t>
            </a:r>
            <a:r>
              <a:rPr dirty="0" err="1">
                <a:latin typeface="Arial"/>
              </a:rPr>
              <a:t>tamaño</a:t>
            </a:r>
            <a:r>
              <a:rPr dirty="0">
                <a:latin typeface="Arial"/>
              </a:rPr>
              <a:t> de </a:t>
            </a:r>
            <a:r>
              <a:rPr dirty="0" err="1">
                <a:latin typeface="Arial"/>
              </a:rPr>
              <a:t>los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elementos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5613A0-5E9B-4DD6-B8F9-24931E788A5B}"/>
              </a:ext>
            </a:extLst>
          </p:cNvPr>
          <p:cNvSpPr>
            <a:spLocks noGrp="1"/>
          </p:cNvSpPr>
          <p:nvPr/>
        </p:nvSpPr>
        <p:spPr>
          <a:xfrm>
            <a:off x="7239000" y="4385553"/>
            <a:ext cx="4095750" cy="128587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5CAB03-54AB-4BCC-86B7-973B53CF339A}"/>
              </a:ext>
            </a:extLst>
          </p:cNvPr>
          <p:cNvSpPr>
            <a:spLocks noGrp="1"/>
          </p:cNvSpPr>
          <p:nvPr/>
        </p:nvSpPr>
        <p:spPr>
          <a:xfrm>
            <a:off x="7524750" y="4457700"/>
            <a:ext cx="3429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Interpretación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E290012-D6AB-4021-9152-4C12F0E3E394}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342900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ct val="100000"/>
              </a:lnSpc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latin typeface="Arial"/>
              </a:rPr>
              <a:t>La </a:t>
            </a:r>
            <a:r>
              <a:rPr sz="1600" dirty="0" err="1">
                <a:latin typeface="Arial"/>
              </a:rPr>
              <a:t>banda</a:t>
            </a:r>
            <a:r>
              <a:rPr sz="1600" dirty="0">
                <a:latin typeface="Arial"/>
              </a:rPr>
              <a:t> P reduce la </a:t>
            </a:r>
            <a:r>
              <a:rPr sz="1600" dirty="0" err="1">
                <a:latin typeface="Arial"/>
              </a:rPr>
              <a:t>saturación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relativa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frente</a:t>
            </a:r>
            <a:r>
              <a:rPr sz="1600" dirty="0">
                <a:latin typeface="Arial"/>
              </a:rPr>
              <a:t> a C/L, </a:t>
            </a:r>
            <a:r>
              <a:rPr sz="1600" dirty="0" err="1">
                <a:latin typeface="Arial"/>
              </a:rPr>
              <a:t>pero</a:t>
            </a:r>
            <a:r>
              <a:rPr sz="1600" dirty="0">
                <a:latin typeface="Arial"/>
              </a:rPr>
              <a:t> no </a:t>
            </a:r>
            <a:r>
              <a:rPr sz="1600" dirty="0" err="1">
                <a:latin typeface="Arial"/>
              </a:rPr>
              <a:t>elimina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humedad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ni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topografía</a:t>
            </a:r>
            <a:r>
              <a:rPr sz="1600" dirty="0">
                <a:latin typeface="Arial"/>
              </a:rPr>
              <a:t>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417F3CE-1F01-4A0C-A3ED-E4ECA73E8BD4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i="1" dirty="0">
                <a:latin typeface="Arial"/>
              </a:rPr>
              <a:t>Fuente: </a:t>
            </a:r>
            <a:r>
              <a:rPr sz="1400" dirty="0">
                <a:latin typeface="Arial"/>
              </a:rPr>
              <a:t>ESA The instrument; </a:t>
            </a:r>
            <a:r>
              <a:rPr sz="1400" dirty="0" err="1">
                <a:latin typeface="Arial"/>
              </a:rPr>
              <a:t>valores</a:t>
            </a:r>
            <a:r>
              <a:rPr sz="1400" dirty="0">
                <a:latin typeface="Arial"/>
              </a:rPr>
              <a:t> X/C/L </a:t>
            </a:r>
            <a:r>
              <a:rPr sz="1400" dirty="0" err="1">
                <a:latin typeface="Arial"/>
              </a:rPr>
              <a:t>aproximados</a:t>
            </a:r>
            <a:r>
              <a:rPr sz="1400" dirty="0">
                <a:latin typeface="Arial"/>
              </a:rPr>
              <a:t> para </a:t>
            </a:r>
            <a:r>
              <a:rPr sz="1400" dirty="0" err="1">
                <a:latin typeface="Arial"/>
              </a:rPr>
              <a:t>comparación</a:t>
            </a:r>
            <a:r>
              <a:rPr sz="1400" dirty="0">
                <a:latin typeface="Arial"/>
              </a:rPr>
              <a:t>.</a:t>
            </a: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1330928153"/>
              </p:ext>
            </p:extLst>
          </p:nvPr>
        </p:nvGraphicFramePr>
        <p:xfrm>
          <a:off x="400050" y="1714500"/>
          <a:ext cx="61912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260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C5732B6-1FCA-4543-B21C-F69AADD475F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 fontScale="93858"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Una antena de 12 m </a:t>
            </a:r>
            <a:r>
              <a:rPr dirty="0" err="1">
                <a:latin typeface="Arial"/>
              </a:rPr>
              <a:t>sostiene</a:t>
            </a:r>
            <a:r>
              <a:rPr dirty="0">
                <a:latin typeface="Arial"/>
              </a:rPr>
              <a:t> la </a:t>
            </a:r>
            <a:r>
              <a:rPr dirty="0" err="1">
                <a:latin typeface="Arial"/>
              </a:rPr>
              <a:t>sensibilidad</a:t>
            </a:r>
            <a:r>
              <a:rPr dirty="0">
                <a:latin typeface="Arial"/>
              </a:rPr>
              <a:t> del primer SAR P orbital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3C5FE76-C200-4336-9F7C-288B7CB7E681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2381250" cy="14287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1FFFA8D-DC9D-43A0-A17C-849CC753453B}"/>
              </a:ext>
            </a:extLst>
          </p:cNvPr>
          <p:cNvSpPr>
            <a:spLocks noGrp="1"/>
          </p:cNvSpPr>
          <p:nvPr/>
        </p:nvSpPr>
        <p:spPr>
          <a:xfrm>
            <a:off x="647700" y="1666875"/>
            <a:ext cx="1905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dirty="0">
                <a:latin typeface="Arial"/>
              </a:rPr>
              <a:t>435 MHz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723E74-A65D-453E-982D-9D81F2E4F7D5}"/>
              </a:ext>
            </a:extLst>
          </p:cNvPr>
          <p:cNvSpPr>
            <a:spLocks noGrp="1"/>
          </p:cNvSpPr>
          <p:nvPr/>
        </p:nvSpPr>
        <p:spPr>
          <a:xfrm>
            <a:off x="647700" y="2286000"/>
            <a:ext cx="19800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 err="1">
                <a:latin typeface="Arial"/>
              </a:rPr>
              <a:t>frecuencia</a:t>
            </a:r>
            <a:r>
              <a:rPr sz="1600" dirty="0">
                <a:latin typeface="Arial"/>
              </a:rPr>
              <a:t> central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C2F17DF-E8E2-461E-8F5B-585B192A3DB3}"/>
              </a:ext>
            </a:extLst>
          </p:cNvPr>
          <p:cNvSpPr>
            <a:spLocks noGrp="1"/>
          </p:cNvSpPr>
          <p:nvPr/>
        </p:nvSpPr>
        <p:spPr>
          <a:xfrm>
            <a:off x="3028950" y="1381125"/>
            <a:ext cx="2381250" cy="14287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C84410-5169-434C-B4DF-DEA3379317D0}"/>
              </a:ext>
            </a:extLst>
          </p:cNvPr>
          <p:cNvSpPr>
            <a:spLocks noGrp="1"/>
          </p:cNvSpPr>
          <p:nvPr/>
        </p:nvSpPr>
        <p:spPr>
          <a:xfrm>
            <a:off x="3276600" y="1666875"/>
            <a:ext cx="1905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>
                <a:latin typeface="Arial"/>
              </a:rPr>
              <a:t>6 MHz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A596B7-ECDA-4BBE-86A3-C0E709EC22E9}"/>
              </a:ext>
            </a:extLst>
          </p:cNvPr>
          <p:cNvSpPr>
            <a:spLocks noGrp="1"/>
          </p:cNvSpPr>
          <p:nvPr/>
        </p:nvSpPr>
        <p:spPr>
          <a:xfrm>
            <a:off x="3276600" y="2286000"/>
            <a:ext cx="19800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</a:rPr>
              <a:t>ancho de banda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84483D-3EA8-4BBC-B96B-D5B590F15BAA}"/>
              </a:ext>
            </a:extLst>
          </p:cNvPr>
          <p:cNvSpPr>
            <a:spLocks noGrp="1"/>
          </p:cNvSpPr>
          <p:nvPr/>
        </p:nvSpPr>
        <p:spPr>
          <a:xfrm>
            <a:off x="400050" y="3095625"/>
            <a:ext cx="2381250" cy="14287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4C09296-BDB0-4BF1-BBBF-1B4153918ECE}"/>
              </a:ext>
            </a:extLst>
          </p:cNvPr>
          <p:cNvSpPr>
            <a:spLocks noGrp="1"/>
          </p:cNvSpPr>
          <p:nvPr/>
        </p:nvSpPr>
        <p:spPr>
          <a:xfrm>
            <a:off x="647700" y="3381375"/>
            <a:ext cx="1905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>
                <a:latin typeface="Arial"/>
              </a:rPr>
              <a:t>666 km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33C1FB4-1583-427F-90FD-4A3172EB1B21}"/>
              </a:ext>
            </a:extLst>
          </p:cNvPr>
          <p:cNvSpPr>
            <a:spLocks noGrp="1"/>
          </p:cNvSpPr>
          <p:nvPr/>
        </p:nvSpPr>
        <p:spPr>
          <a:xfrm>
            <a:off x="647700" y="4000500"/>
            <a:ext cx="19800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 err="1">
                <a:latin typeface="Arial"/>
              </a:rPr>
              <a:t>altitud</a:t>
            </a:r>
            <a:r>
              <a:rPr sz="1600" dirty="0">
                <a:latin typeface="Arial"/>
              </a:rPr>
              <a:t> orbital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DE2AC1E-9509-4214-A236-D6F61EB1C745}"/>
              </a:ext>
            </a:extLst>
          </p:cNvPr>
          <p:cNvSpPr>
            <a:spLocks noGrp="1"/>
          </p:cNvSpPr>
          <p:nvPr/>
        </p:nvSpPr>
        <p:spPr>
          <a:xfrm>
            <a:off x="3028950" y="3095625"/>
            <a:ext cx="2381250" cy="14287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53DE05C-9A5E-4FCF-9931-431222EA0719}"/>
              </a:ext>
            </a:extLst>
          </p:cNvPr>
          <p:cNvSpPr>
            <a:spLocks noGrp="1"/>
          </p:cNvSpPr>
          <p:nvPr/>
        </p:nvSpPr>
        <p:spPr>
          <a:xfrm>
            <a:off x="3276600" y="3381375"/>
            <a:ext cx="1905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>
                <a:latin typeface="Arial"/>
              </a:rPr>
              <a:t>HH HV VH VV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051031E-EBD3-40EF-87FD-F26FE181603A}"/>
              </a:ext>
            </a:extLst>
          </p:cNvPr>
          <p:cNvSpPr>
            <a:spLocks noGrp="1"/>
          </p:cNvSpPr>
          <p:nvPr/>
        </p:nvSpPr>
        <p:spPr>
          <a:xfrm>
            <a:off x="3276600" y="4000500"/>
            <a:ext cx="19800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</a:rPr>
              <a:t>polarimetría completa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12607FB-0FFD-4B11-BE3D-48810EC7BF1A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504825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00" i="1" dirty="0" err="1">
                <a:solidFill>
                  <a:srgbClr val="0070C0"/>
                </a:solidFill>
                <a:latin typeface="Arial"/>
              </a:rPr>
              <a:t>Órbita</a:t>
            </a:r>
            <a:r>
              <a:rPr sz="1600" i="1" dirty="0">
                <a:solidFill>
                  <a:srgbClr val="0070C0"/>
                </a:solidFill>
                <a:latin typeface="Arial"/>
              </a:rPr>
              <a:t> heliosincrónica </a:t>
            </a:r>
            <a:r>
              <a:rPr sz="1600" i="1" dirty="0" err="1">
                <a:solidFill>
                  <a:srgbClr val="0070C0"/>
                </a:solidFill>
                <a:latin typeface="Arial"/>
              </a:rPr>
              <a:t>amanecer</a:t>
            </a:r>
            <a:r>
              <a:rPr sz="1600" i="1" dirty="0">
                <a:solidFill>
                  <a:srgbClr val="0070C0"/>
                </a:solidFill>
                <a:latin typeface="Arial"/>
              </a:rPr>
              <a:t>–</a:t>
            </a:r>
            <a:r>
              <a:rPr sz="1600" i="1" dirty="0" err="1">
                <a:solidFill>
                  <a:srgbClr val="0070C0"/>
                </a:solidFill>
                <a:latin typeface="Arial"/>
              </a:rPr>
              <a:t>anochecer</a:t>
            </a:r>
            <a:r>
              <a:rPr sz="1600" i="1" dirty="0">
                <a:solidFill>
                  <a:srgbClr val="0070C0"/>
                </a:solidFill>
                <a:latin typeface="Arial"/>
              </a:rPr>
              <a:t> · </a:t>
            </a:r>
            <a:r>
              <a:rPr sz="1600" i="1" dirty="0" err="1">
                <a:solidFill>
                  <a:srgbClr val="0070C0"/>
                </a:solidFill>
                <a:latin typeface="Arial"/>
              </a:rPr>
              <a:t>observación</a:t>
            </a:r>
            <a:r>
              <a:rPr sz="1600" i="1" dirty="0">
                <a:solidFill>
                  <a:srgbClr val="0070C0"/>
                </a:solidFill>
                <a:latin typeface="Arial"/>
              </a:rPr>
              <a:t> a la </a:t>
            </a:r>
            <a:r>
              <a:rPr sz="1600" i="1" dirty="0" err="1">
                <a:solidFill>
                  <a:srgbClr val="0070C0"/>
                </a:solidFill>
                <a:latin typeface="Arial"/>
              </a:rPr>
              <a:t>izquierda</a:t>
            </a:r>
            <a:r>
              <a:rPr sz="1600" i="1" dirty="0">
                <a:solidFill>
                  <a:srgbClr val="0070C0"/>
                </a:solidFill>
                <a:latin typeface="Arial"/>
              </a:rPr>
              <a:t> · </a:t>
            </a:r>
            <a:r>
              <a:rPr sz="1600" i="1" dirty="0" err="1">
                <a:solidFill>
                  <a:srgbClr val="0070C0"/>
                </a:solidFill>
                <a:latin typeface="Arial"/>
              </a:rPr>
              <a:t>franja</a:t>
            </a:r>
            <a:r>
              <a:rPr sz="1600" i="1" dirty="0">
                <a:solidFill>
                  <a:srgbClr val="0070C0"/>
                </a:solidFill>
                <a:latin typeface="Arial"/>
              </a:rPr>
              <a:t> de 50–60 km · </a:t>
            </a:r>
            <a:r>
              <a:rPr sz="1600" i="1" dirty="0" err="1">
                <a:solidFill>
                  <a:srgbClr val="0070C0"/>
                </a:solidFill>
                <a:latin typeface="Arial"/>
              </a:rPr>
              <a:t>repetición</a:t>
            </a:r>
            <a:r>
              <a:rPr sz="1600" i="1" dirty="0">
                <a:solidFill>
                  <a:srgbClr val="0070C0"/>
                </a:solidFill>
                <a:latin typeface="Arial"/>
              </a:rPr>
              <a:t> interferométrica de 3 días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68001D4-29EB-4A8F-AD08-F67AC8BB1CC8}"/>
              </a:ext>
            </a:extLst>
          </p:cNvPr>
          <p:cNvSpPr>
            <a:spLocks noGrp="1"/>
          </p:cNvSpPr>
          <p:nvPr/>
        </p:nvSpPr>
        <p:spPr>
          <a:xfrm>
            <a:off x="400050" y="6052427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600" i="1" dirty="0">
                <a:latin typeface="Arial"/>
              </a:rPr>
              <a:t>Fuente</a:t>
            </a:r>
            <a:r>
              <a:rPr sz="1600" dirty="0">
                <a:latin typeface="Arial"/>
              </a:rPr>
              <a:t>: ESA Facts and figures; ESA The satellite; ESA The instrument.</a:t>
            </a:r>
          </a:p>
        </p:txBody>
      </p:sp>
      <p:pic>
        <p:nvPicPr>
          <p:cNvPr id="34" name="Imagen 33"/>
          <p:cNvPicPr>
            <a:picLocks noChangeAspect="1"/>
          </p:cNvPicPr>
          <p:nvPr/>
        </p:nvPicPr>
        <p:blipFill>
          <a:blip r:embed="rId3"/>
          <a:srcRect l="14275" r="14275"/>
          <a:stretch>
            <a:fillRect/>
          </a:stretch>
        </p:blipFill>
        <p:spPr>
          <a:xfrm>
            <a:off x="6000750" y="1381125"/>
            <a:ext cx="5810250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935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6E552693-A819-4FEC-9080-EFB152E4F32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124000" cy="504000"/>
          </a:xfrm>
          <a:prstGeom prst="rect">
            <a:avLst/>
          </a:prstGeom>
        </p:spPr>
        <p:txBody>
          <a:bodyPr wrap="square" lIns="0" tIns="0" rIns="0" bIns="0" anchor="t">
            <a:normAutofit fontScale="99481"/>
          </a:bodyPr>
          <a:lstStyle/>
          <a:p>
            <a:pPr algn="just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El </a:t>
            </a:r>
            <a:r>
              <a:rPr dirty="0" err="1">
                <a:latin typeface="Arial"/>
              </a:rPr>
              <a:t>diseño</a:t>
            </a:r>
            <a:r>
              <a:rPr dirty="0">
                <a:latin typeface="Arial"/>
              </a:rPr>
              <a:t> orbital </a:t>
            </a:r>
            <a:r>
              <a:rPr dirty="0" err="1">
                <a:latin typeface="Arial"/>
              </a:rPr>
              <a:t>convierte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repetición</a:t>
            </a:r>
            <a:r>
              <a:rPr dirty="0">
                <a:latin typeface="Arial"/>
              </a:rPr>
              <a:t> temporal </a:t>
            </a:r>
            <a:r>
              <a:rPr dirty="0" err="1">
                <a:latin typeface="Arial"/>
              </a:rPr>
              <a:t>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información</a:t>
            </a:r>
            <a:r>
              <a:rPr dirty="0">
                <a:latin typeface="Arial"/>
              </a:rPr>
              <a:t> vertical</a:t>
            </a:r>
          </a:p>
        </p:txBody>
      </p:sp>
      <p:cxnSp>
        <p:nvCxnSpPr>
          <p:cNvPr id="23" name="Conector recto de flecha 22"/>
          <p:cNvCxnSpPr/>
          <p:nvPr/>
        </p:nvCxnSpPr>
        <p:spPr>
          <a:xfrm>
            <a:off x="857250" y="2560864"/>
            <a:ext cx="10287000" cy="9525"/>
          </a:xfrm>
          <a:prstGeom prst="straightConnector1">
            <a:avLst/>
          </a:prstGeom>
          <a:ln w="28575">
            <a:solidFill>
              <a:srgbClr val="000000"/>
            </a:solidFill>
            <a:prstDash val="solid"/>
          </a:ln>
        </p:spPr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B40F5557-5D71-435B-81F9-B5DB2AAC7BBD}"/>
              </a:ext>
            </a:extLst>
          </p:cNvPr>
          <p:cNvSpPr>
            <a:spLocks noGrp="1"/>
          </p:cNvSpPr>
          <p:nvPr/>
        </p:nvSpPr>
        <p:spPr>
          <a:xfrm>
            <a:off x="1047750" y="2484664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93C79A4-4DC2-4907-A8E0-BF455F7DE519}"/>
              </a:ext>
            </a:extLst>
          </p:cNvPr>
          <p:cNvSpPr>
            <a:spLocks noGrp="1"/>
          </p:cNvSpPr>
          <p:nvPr/>
        </p:nvSpPr>
        <p:spPr>
          <a:xfrm>
            <a:off x="1000125" y="1941739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29 ABR 2025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31D1A19-2513-47AF-A82E-9EF5FA1C7B26}"/>
              </a:ext>
            </a:extLst>
          </p:cNvPr>
          <p:cNvSpPr>
            <a:spLocks noGrp="1"/>
          </p:cNvSpPr>
          <p:nvPr/>
        </p:nvSpPr>
        <p:spPr>
          <a:xfrm>
            <a:off x="1000125" y="2989489"/>
            <a:ext cx="21907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Lanzamiento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7B17B16-38EA-40A3-BEFB-0CB190C0F6F3}"/>
              </a:ext>
            </a:extLst>
          </p:cNvPr>
          <p:cNvSpPr>
            <a:spLocks noGrp="1"/>
          </p:cNvSpPr>
          <p:nvPr/>
        </p:nvSpPr>
        <p:spPr>
          <a:xfrm>
            <a:off x="1000125" y="3465739"/>
            <a:ext cx="2190750" cy="809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Vega-C · Kourou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F8DB34F-1D96-4563-9F7F-3B9F8FD2ED40}"/>
              </a:ext>
            </a:extLst>
          </p:cNvPr>
          <p:cNvSpPr>
            <a:spLocks noGrp="1"/>
          </p:cNvSpPr>
          <p:nvPr/>
        </p:nvSpPr>
        <p:spPr>
          <a:xfrm>
            <a:off x="3714750" y="2484664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B692E0-3F6E-4868-9627-7F486E8D0B95}"/>
              </a:ext>
            </a:extLst>
          </p:cNvPr>
          <p:cNvSpPr>
            <a:spLocks noGrp="1"/>
          </p:cNvSpPr>
          <p:nvPr/>
        </p:nvSpPr>
        <p:spPr>
          <a:xfrm>
            <a:off x="3667125" y="1941739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26 ENE 2026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388DBCB-C7B1-4CFA-BD3F-A2B5D9654C65}"/>
              </a:ext>
            </a:extLst>
          </p:cNvPr>
          <p:cNvSpPr>
            <a:spLocks noGrp="1"/>
          </p:cNvSpPr>
          <p:nvPr/>
        </p:nvSpPr>
        <p:spPr>
          <a:xfrm>
            <a:off x="3667125" y="2989489"/>
            <a:ext cx="21907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Datos abiertos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71BF05-E1DB-48D0-B6CF-90AF3E240BE8}"/>
              </a:ext>
            </a:extLst>
          </p:cNvPr>
          <p:cNvSpPr>
            <a:spLocks noGrp="1"/>
          </p:cNvSpPr>
          <p:nvPr/>
        </p:nvSpPr>
        <p:spPr>
          <a:xfrm>
            <a:off x="3667125" y="3465739"/>
            <a:ext cx="2190750" cy="809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Comisión completada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4BC246E-ECAE-40DE-8E75-9BD76F1ACA13}"/>
              </a:ext>
            </a:extLst>
          </p:cNvPr>
          <p:cNvSpPr>
            <a:spLocks noGrp="1"/>
          </p:cNvSpPr>
          <p:nvPr/>
        </p:nvSpPr>
        <p:spPr>
          <a:xfrm>
            <a:off x="6667500" y="2484664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2E71C5B-EAE4-4478-A153-D08CF7AAA71A}"/>
              </a:ext>
            </a:extLst>
          </p:cNvPr>
          <p:cNvSpPr>
            <a:spLocks noGrp="1"/>
          </p:cNvSpPr>
          <p:nvPr/>
        </p:nvSpPr>
        <p:spPr>
          <a:xfrm>
            <a:off x="6619875" y="1941739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FASE TOM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7B1A74C-FE51-46EF-B25D-DD07A035A4D4}"/>
              </a:ext>
            </a:extLst>
          </p:cNvPr>
          <p:cNvSpPr>
            <a:spLocks noGrp="1"/>
          </p:cNvSpPr>
          <p:nvPr/>
        </p:nvSpPr>
        <p:spPr>
          <a:xfrm>
            <a:off x="6619875" y="2989489"/>
            <a:ext cx="21907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7 adquisiciones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E280C0-2F24-4094-8A0F-069467F732CC}"/>
              </a:ext>
            </a:extLst>
          </p:cNvPr>
          <p:cNvSpPr>
            <a:spLocks noGrp="1"/>
          </p:cNvSpPr>
          <p:nvPr/>
        </p:nvSpPr>
        <p:spPr>
          <a:xfrm>
            <a:off x="6619875" y="3465739"/>
            <a:ext cx="2190750" cy="809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Tomografía y estructura 3D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C30A55C-EA64-4159-AE52-DDDB85E141A9}"/>
              </a:ext>
            </a:extLst>
          </p:cNvPr>
          <p:cNvSpPr>
            <a:spLocks noGrp="1"/>
          </p:cNvSpPr>
          <p:nvPr/>
        </p:nvSpPr>
        <p:spPr>
          <a:xfrm>
            <a:off x="9620250" y="2484664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7FAD2D5-B8AE-4746-8E29-05C7337EA0B0}"/>
              </a:ext>
            </a:extLst>
          </p:cNvPr>
          <p:cNvSpPr>
            <a:spLocks noGrp="1"/>
          </p:cNvSpPr>
          <p:nvPr/>
        </p:nvSpPr>
        <p:spPr>
          <a:xfrm>
            <a:off x="9572625" y="1941739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FASE INT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76DA5E5-6476-49DF-91BE-D4D7080D05F1}"/>
              </a:ext>
            </a:extLst>
          </p:cNvPr>
          <p:cNvSpPr>
            <a:spLocks noGrp="1"/>
          </p:cNvSpPr>
          <p:nvPr/>
        </p:nvSpPr>
        <p:spPr>
          <a:xfrm>
            <a:off x="9572625" y="2989489"/>
            <a:ext cx="21907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3 adquisiciones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8CDDAC3-569F-4957-BBBA-2AF03A0CFB3B}"/>
              </a:ext>
            </a:extLst>
          </p:cNvPr>
          <p:cNvSpPr>
            <a:spLocks noGrp="1"/>
          </p:cNvSpPr>
          <p:nvPr/>
        </p:nvSpPr>
        <p:spPr>
          <a:xfrm>
            <a:off x="9572625" y="3465739"/>
            <a:ext cx="2190750" cy="809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dirty="0" err="1">
                <a:solidFill>
                  <a:srgbClr val="EE0000"/>
                </a:solidFill>
                <a:latin typeface="Arial"/>
              </a:rPr>
              <a:t>PolInSAR</a:t>
            </a:r>
            <a:r>
              <a:rPr dirty="0">
                <a:solidFill>
                  <a:srgbClr val="EE0000"/>
                </a:solidFill>
                <a:latin typeface="Arial"/>
              </a:rPr>
              <a:t>, </a:t>
            </a:r>
            <a:r>
              <a:rPr dirty="0" err="1">
                <a:solidFill>
                  <a:srgbClr val="EE0000"/>
                </a:solidFill>
                <a:latin typeface="Arial"/>
              </a:rPr>
              <a:t>altura</a:t>
            </a:r>
            <a:r>
              <a:rPr dirty="0">
                <a:solidFill>
                  <a:srgbClr val="EE0000"/>
                </a:solidFill>
                <a:latin typeface="Arial"/>
              </a:rPr>
              <a:t> y AGB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366E0EB-B957-41E9-B2A8-C75D489F12E5}"/>
              </a:ext>
            </a:extLst>
          </p:cNvPr>
          <p:cNvSpPr>
            <a:spLocks noGrp="1"/>
          </p:cNvSpPr>
          <p:nvPr/>
        </p:nvSpPr>
        <p:spPr>
          <a:xfrm>
            <a:off x="400050" y="4875439"/>
            <a:ext cx="9036000" cy="4286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ct val="100000"/>
              </a:lnSpc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i="1" dirty="0">
                <a:solidFill>
                  <a:srgbClr val="0070C0"/>
                </a:solidFill>
                <a:latin typeface="Arial"/>
              </a:rPr>
              <a:t>La </a:t>
            </a:r>
            <a:r>
              <a:rPr i="1" dirty="0" err="1">
                <a:solidFill>
                  <a:srgbClr val="0070C0"/>
                </a:solidFill>
                <a:latin typeface="Arial"/>
              </a:rPr>
              <a:t>misión</a:t>
            </a:r>
            <a:r>
              <a:rPr i="1" dirty="0">
                <a:solidFill>
                  <a:srgbClr val="0070C0"/>
                </a:solidFill>
                <a:latin typeface="Arial"/>
              </a:rPr>
              <a:t> </a:t>
            </a:r>
            <a:r>
              <a:rPr i="1" dirty="0" err="1">
                <a:solidFill>
                  <a:srgbClr val="0070C0"/>
                </a:solidFill>
                <a:latin typeface="Arial"/>
              </a:rPr>
              <a:t>explota</a:t>
            </a:r>
            <a:r>
              <a:rPr i="1" dirty="0">
                <a:solidFill>
                  <a:srgbClr val="0070C0"/>
                </a:solidFill>
                <a:latin typeface="Arial"/>
              </a:rPr>
              <a:t> </a:t>
            </a:r>
            <a:r>
              <a:rPr i="1" dirty="0" err="1">
                <a:solidFill>
                  <a:srgbClr val="0070C0"/>
                </a:solidFill>
                <a:latin typeface="Arial"/>
              </a:rPr>
              <a:t>líneas</a:t>
            </a:r>
            <a:r>
              <a:rPr i="1" dirty="0">
                <a:solidFill>
                  <a:srgbClr val="0070C0"/>
                </a:solidFill>
                <a:latin typeface="Arial"/>
              </a:rPr>
              <a:t> de base </a:t>
            </a:r>
            <a:r>
              <a:rPr i="1" dirty="0" err="1">
                <a:solidFill>
                  <a:srgbClr val="0070C0"/>
                </a:solidFill>
                <a:latin typeface="Arial"/>
              </a:rPr>
              <a:t>diferentes</a:t>
            </a:r>
            <a:r>
              <a:rPr i="1" dirty="0">
                <a:solidFill>
                  <a:srgbClr val="0070C0"/>
                </a:solidFill>
                <a:latin typeface="Arial"/>
              </a:rPr>
              <a:t>; </a:t>
            </a:r>
            <a:r>
              <a:rPr i="1" dirty="0" err="1">
                <a:solidFill>
                  <a:srgbClr val="0070C0"/>
                </a:solidFill>
                <a:latin typeface="Arial"/>
              </a:rPr>
              <a:t>una</a:t>
            </a:r>
            <a:r>
              <a:rPr i="1" dirty="0">
                <a:solidFill>
                  <a:srgbClr val="0070C0"/>
                </a:solidFill>
                <a:latin typeface="Arial"/>
              </a:rPr>
              <a:t> pila no es </a:t>
            </a:r>
            <a:r>
              <a:rPr i="1" dirty="0" err="1">
                <a:solidFill>
                  <a:srgbClr val="0070C0"/>
                </a:solidFill>
                <a:latin typeface="Arial"/>
              </a:rPr>
              <a:t>una</a:t>
            </a:r>
            <a:r>
              <a:rPr i="1" dirty="0">
                <a:solidFill>
                  <a:srgbClr val="0070C0"/>
                </a:solidFill>
                <a:latin typeface="Arial"/>
              </a:rPr>
              <a:t> simple </a:t>
            </a:r>
            <a:r>
              <a:rPr i="1" dirty="0" err="1">
                <a:solidFill>
                  <a:srgbClr val="0070C0"/>
                </a:solidFill>
                <a:latin typeface="Arial"/>
              </a:rPr>
              <a:t>serie</a:t>
            </a:r>
            <a:r>
              <a:rPr i="1" dirty="0">
                <a:solidFill>
                  <a:srgbClr val="0070C0"/>
                </a:solidFill>
                <a:latin typeface="Arial"/>
              </a:rPr>
              <a:t> temporal.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5F74FD8-4187-4662-8B74-274F9B19557C}"/>
              </a:ext>
            </a:extLst>
          </p:cNvPr>
          <p:cNvSpPr>
            <a:spLocks noGrp="1"/>
          </p:cNvSpPr>
          <p:nvPr/>
        </p:nvSpPr>
        <p:spPr>
          <a:xfrm>
            <a:off x="619125" y="5694589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i="1" dirty="0">
                <a:latin typeface="Arial"/>
              </a:rPr>
              <a:t>Fuente: </a:t>
            </a:r>
            <a:r>
              <a:rPr sz="1400" dirty="0">
                <a:latin typeface="Arial"/>
              </a:rPr>
              <a:t>ESA Biomass on biomass; ESA Operations and data flow.</a:t>
            </a:r>
          </a:p>
        </p:txBody>
      </p:sp>
    </p:spTree>
    <p:extLst>
      <p:ext uri="{BB962C8B-B14F-4D97-AF65-F5344CB8AC3E}">
        <p14:creationId xmlns:p14="http://schemas.microsoft.com/office/powerpoint/2010/main" val="2173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F54C1FD1-60F7-4D00-B23C-0D5187D6BEB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476000" cy="432000"/>
          </a:xfrm>
          <a:prstGeom prst="rect">
            <a:avLst/>
          </a:prstGeom>
        </p:spPr>
        <p:txBody>
          <a:bodyPr wrap="square" lIns="0" tIns="0" rIns="0" bIns="0" anchor="t">
            <a:normAutofit fontScale="98286"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La </a:t>
            </a:r>
            <a:r>
              <a:rPr dirty="0" err="1">
                <a:latin typeface="Arial"/>
              </a:rPr>
              <a:t>polarimetría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separa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mecanismos</a:t>
            </a:r>
            <a:r>
              <a:rPr dirty="0">
                <a:latin typeface="Arial"/>
              </a:rPr>
              <a:t>; </a:t>
            </a:r>
            <a:r>
              <a:rPr dirty="0" err="1">
                <a:latin typeface="Arial"/>
              </a:rPr>
              <a:t>los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colores</a:t>
            </a:r>
            <a:r>
              <a:rPr dirty="0">
                <a:latin typeface="Arial"/>
              </a:rPr>
              <a:t> no son naturales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64A2523-55E6-42EF-BA57-3C95749309C2}"/>
              </a:ext>
            </a:extLst>
          </p:cNvPr>
          <p:cNvSpPr>
            <a:spLocks noGrp="1"/>
          </p:cNvSpPr>
          <p:nvPr/>
        </p:nvSpPr>
        <p:spPr>
          <a:xfrm>
            <a:off x="7524750" y="1381125"/>
            <a:ext cx="37147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Pauli RGB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B0A849-311B-441D-8BF9-82353F0C66E8}"/>
              </a:ext>
            </a:extLst>
          </p:cNvPr>
          <p:cNvSpPr>
            <a:spLocks noGrp="1"/>
          </p:cNvSpPr>
          <p:nvPr/>
        </p:nvSpPr>
        <p:spPr>
          <a:xfrm>
            <a:off x="7524750" y="1952625"/>
            <a:ext cx="228600" cy="228600"/>
          </a:xfrm>
          <a:prstGeom prst="rect">
            <a:avLst/>
          </a:prstGeom>
          <a:solidFill>
            <a:srgbClr val="2B7BFF"/>
          </a:solidFill>
          <a:ln w="0">
            <a:solidFill>
              <a:srgbClr val="2B7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7BC5E77-083A-45F8-A312-C7827A08ACA7}"/>
              </a:ext>
            </a:extLst>
          </p:cNvPr>
          <p:cNvSpPr>
            <a:spLocks noGrp="1"/>
          </p:cNvSpPr>
          <p:nvPr/>
        </p:nvSpPr>
        <p:spPr>
          <a:xfrm>
            <a:off x="7953375" y="1905000"/>
            <a:ext cx="3429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Azul · dispersión superficial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40DB65A-809E-4D3C-ABD8-B7BEC4498165}"/>
              </a:ext>
            </a:extLst>
          </p:cNvPr>
          <p:cNvSpPr>
            <a:spLocks noGrp="1"/>
          </p:cNvSpPr>
          <p:nvPr/>
        </p:nvSpPr>
        <p:spPr>
          <a:xfrm>
            <a:off x="7524750" y="2524125"/>
            <a:ext cx="228600" cy="228600"/>
          </a:xfrm>
          <a:prstGeom prst="rect">
            <a:avLst/>
          </a:prstGeom>
          <a:solidFill>
            <a:srgbClr val="E24545"/>
          </a:solidFill>
          <a:ln w="0">
            <a:solidFill>
              <a:srgbClr val="E24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02491F-0420-400A-886B-00719C01F656}"/>
              </a:ext>
            </a:extLst>
          </p:cNvPr>
          <p:cNvSpPr>
            <a:spLocks noGrp="1"/>
          </p:cNvSpPr>
          <p:nvPr/>
        </p:nvSpPr>
        <p:spPr>
          <a:xfrm>
            <a:off x="7953375" y="2476500"/>
            <a:ext cx="3429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Rojo · doble rebote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5CEC6F-DE42-4AF6-8FCE-353B56B0BB95}"/>
              </a:ext>
            </a:extLst>
          </p:cNvPr>
          <p:cNvSpPr>
            <a:spLocks noGrp="1"/>
          </p:cNvSpPr>
          <p:nvPr/>
        </p:nvSpPr>
        <p:spPr>
          <a:xfrm>
            <a:off x="7524750" y="3095625"/>
            <a:ext cx="228600" cy="228600"/>
          </a:xfrm>
          <a:prstGeom prst="rect">
            <a:avLst/>
          </a:prstGeom>
          <a:solidFill>
            <a:srgbClr val="42A86B"/>
          </a:solidFill>
          <a:ln w="0">
            <a:solidFill>
              <a:srgbClr val="42A8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F6EDEB-C871-43EE-BDB2-512DFF01FF05}"/>
              </a:ext>
            </a:extLst>
          </p:cNvPr>
          <p:cNvSpPr>
            <a:spLocks noGrp="1"/>
          </p:cNvSpPr>
          <p:nvPr/>
        </p:nvSpPr>
        <p:spPr>
          <a:xfrm>
            <a:off x="7953375" y="3048000"/>
            <a:ext cx="3429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Verde · volumen / multirrebote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6D9B5B-2F5A-4EE5-8706-39F4E6BC974E}"/>
              </a:ext>
            </a:extLst>
          </p:cNvPr>
          <p:cNvSpPr>
            <a:spLocks noGrp="1"/>
          </p:cNvSpPr>
          <p:nvPr/>
        </p:nvSpPr>
        <p:spPr>
          <a:xfrm>
            <a:off x="7524750" y="3857625"/>
            <a:ext cx="1944000" cy="15716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56F141A-30DB-405D-A50E-159FBC2BA148}"/>
              </a:ext>
            </a:extLst>
          </p:cNvPr>
          <p:cNvSpPr>
            <a:spLocks noGrp="1"/>
          </p:cNvSpPr>
          <p:nvPr/>
        </p:nvSpPr>
        <p:spPr>
          <a:xfrm>
            <a:off x="7858125" y="4171950"/>
            <a:ext cx="3143250" cy="1000125"/>
          </a:xfrm>
          <a:prstGeom prst="rect">
            <a:avLst/>
          </a:prstGeom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 = |HH − VV|²
G = 2|HV|²
B = |HH + VV|²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818DDF-1D35-493A-977F-59EA20C62092}"/>
              </a:ext>
            </a:extLst>
          </p:cNvPr>
          <p:cNvSpPr>
            <a:spLocks noGrp="1"/>
          </p:cNvSpPr>
          <p:nvPr/>
        </p:nvSpPr>
        <p:spPr>
          <a:xfrm>
            <a:off x="7524750" y="5676900"/>
            <a:ext cx="3714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35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dirty="0" err="1">
                <a:latin typeface="Arial"/>
              </a:rPr>
              <a:t>Requiere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fase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relativa</a:t>
            </a:r>
            <a:r>
              <a:rPr dirty="0">
                <a:latin typeface="Arial"/>
              </a:rPr>
              <a:t>: use SCS, no un DGM </a:t>
            </a:r>
            <a:r>
              <a:rPr dirty="0" err="1">
                <a:latin typeface="Arial"/>
              </a:rPr>
              <a:t>detectado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49DD1E7-D440-486E-B491-F1036EC9D61B}"/>
              </a:ext>
            </a:extLst>
          </p:cNvPr>
          <p:cNvSpPr>
            <a:spLocks noGrp="1"/>
          </p:cNvSpPr>
          <p:nvPr/>
        </p:nvSpPr>
        <p:spPr>
          <a:xfrm>
            <a:off x="400050" y="6195331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latin typeface="Arial"/>
              </a:rPr>
              <a:t>Imagen: ESA/DLR, </a:t>
            </a:r>
            <a:r>
              <a:rPr sz="1400" dirty="0" err="1">
                <a:latin typeface="Arial"/>
              </a:rPr>
              <a:t>río</a:t>
            </a:r>
            <a:r>
              <a:rPr sz="1400" dirty="0">
                <a:latin typeface="Arial"/>
              </a:rPr>
              <a:t> Beni, Bolivia. </a:t>
            </a:r>
            <a:r>
              <a:rPr sz="1400" dirty="0" err="1">
                <a:latin typeface="Arial"/>
              </a:rPr>
              <a:t>Interpretación</a:t>
            </a:r>
            <a:r>
              <a:rPr sz="1400" dirty="0">
                <a:latin typeface="Arial"/>
              </a:rPr>
              <a:t> Pauli </a:t>
            </a:r>
            <a:r>
              <a:rPr sz="1400" dirty="0" err="1">
                <a:latin typeface="Arial"/>
              </a:rPr>
              <a:t>según</a:t>
            </a:r>
            <a:r>
              <a:rPr sz="1400" dirty="0">
                <a:latin typeface="Arial"/>
              </a:rPr>
              <a:t> ESA.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rcRect t="22820" b="22820"/>
          <a:stretch>
            <a:fillRect/>
          </a:stretch>
        </p:blipFill>
        <p:spPr>
          <a:xfrm>
            <a:off x="400050" y="1333500"/>
            <a:ext cx="65722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B8819EB1-8953-4110-8A25-7BF8CFF686B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Cuatro resoluciones describen productos distintos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1A88DA-7E79-49F7-B534-D93DC9A9A79D}"/>
              </a:ext>
            </a:extLst>
          </p:cNvPr>
          <p:cNvSpPr>
            <a:spLocks noGrp="1"/>
          </p:cNvSpPr>
          <p:nvPr/>
        </p:nvSpPr>
        <p:spPr>
          <a:xfrm>
            <a:off x="400050" y="1190625"/>
            <a:ext cx="619125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ct val="150000"/>
              </a:lnSpc>
              <a:defRPr sz="1425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2000" i="1" dirty="0" err="1">
                <a:solidFill>
                  <a:srgbClr val="0070C0"/>
                </a:solidFill>
                <a:latin typeface="Arial"/>
              </a:rPr>
              <a:t>Tamaño</a:t>
            </a:r>
            <a:r>
              <a:rPr sz="2000" i="1" dirty="0">
                <a:solidFill>
                  <a:srgbClr val="0070C0"/>
                </a:solidFill>
                <a:latin typeface="Arial"/>
              </a:rPr>
              <a:t> </a:t>
            </a:r>
            <a:r>
              <a:rPr sz="2000" i="1" dirty="0" err="1">
                <a:solidFill>
                  <a:srgbClr val="0070C0"/>
                </a:solidFill>
                <a:latin typeface="Arial"/>
              </a:rPr>
              <a:t>característico</a:t>
            </a:r>
            <a:r>
              <a:rPr sz="2000" i="1" dirty="0">
                <a:solidFill>
                  <a:srgbClr val="0070C0"/>
                </a:solidFill>
                <a:latin typeface="Arial"/>
              </a:rPr>
              <a:t> (m; </a:t>
            </a:r>
            <a:r>
              <a:rPr sz="2000" i="1" dirty="0" err="1">
                <a:solidFill>
                  <a:srgbClr val="0070C0"/>
                </a:solidFill>
                <a:latin typeface="Arial"/>
              </a:rPr>
              <a:t>escala</a:t>
            </a:r>
            <a:r>
              <a:rPr sz="2000" i="1" dirty="0">
                <a:solidFill>
                  <a:srgbClr val="0070C0"/>
                </a:solidFill>
                <a:latin typeface="Arial"/>
              </a:rPr>
              <a:t> log conceptual)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13638A-9A20-44E2-AF1D-57DBB7021F23}"/>
              </a:ext>
            </a:extLst>
          </p:cNvPr>
          <p:cNvSpPr>
            <a:spLocks noGrp="1"/>
          </p:cNvSpPr>
          <p:nvPr/>
        </p:nvSpPr>
        <p:spPr>
          <a:xfrm>
            <a:off x="7286625" y="1600200"/>
            <a:ext cx="3276000" cy="2700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E636C5B-EFB7-4968-8F7A-B86C7E559D20}"/>
              </a:ext>
            </a:extLst>
          </p:cNvPr>
          <p:cNvSpPr>
            <a:spLocks noGrp="1"/>
          </p:cNvSpPr>
          <p:nvPr/>
        </p:nvSpPr>
        <p:spPr>
          <a:xfrm>
            <a:off x="7620000" y="1811109"/>
            <a:ext cx="3429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No </a:t>
            </a:r>
            <a:r>
              <a:rPr dirty="0" err="1">
                <a:latin typeface="Arial"/>
              </a:rPr>
              <a:t>confundir</a:t>
            </a:r>
            <a:endParaRPr dirty="0">
              <a:latin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CB0EFB-1870-44F1-B1BF-98E78A0072FA}"/>
              </a:ext>
            </a:extLst>
          </p:cNvPr>
          <p:cNvSpPr>
            <a:spLocks noGrp="1"/>
          </p:cNvSpPr>
          <p:nvPr/>
        </p:nvSpPr>
        <p:spPr>
          <a:xfrm>
            <a:off x="7620000" y="2334984"/>
            <a:ext cx="3381375" cy="1762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25 m · rango inclinado SLC
50–60 m · DGM multilook
50 m · perturbación
200 m · AGB y altura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C65CFFE-0E9D-4A4E-A0FF-F64F92C334B0}"/>
              </a:ext>
            </a:extLst>
          </p:cNvPr>
          <p:cNvSpPr>
            <a:spLocks noGrp="1"/>
          </p:cNvSpPr>
          <p:nvPr/>
        </p:nvSpPr>
        <p:spPr>
          <a:xfrm>
            <a:off x="7286625" y="5143500"/>
            <a:ext cx="4048125" cy="714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650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 dirty="0" err="1">
                <a:latin typeface="Arial"/>
              </a:rPr>
              <a:t>Remuestrear</a:t>
            </a:r>
            <a:r>
              <a:rPr dirty="0">
                <a:latin typeface="Arial"/>
              </a:rPr>
              <a:t> AGB de 200 m a 10 m no </a:t>
            </a:r>
            <a:r>
              <a:rPr dirty="0" err="1">
                <a:latin typeface="Arial"/>
              </a:rPr>
              <a:t>crea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nueva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información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930E532-CA14-414F-A9E1-CA451AF00253}"/>
              </a:ext>
            </a:extLst>
          </p:cNvPr>
          <p:cNvSpPr>
            <a:spLocks noGrp="1"/>
          </p:cNvSpPr>
          <p:nvPr/>
        </p:nvSpPr>
        <p:spPr>
          <a:xfrm>
            <a:off x="762000" y="5881687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latin typeface="Arial"/>
              </a:rPr>
              <a:t>Fuente: </a:t>
            </a:r>
            <a:r>
              <a:rPr sz="1400" dirty="0" err="1">
                <a:latin typeface="Arial"/>
              </a:rPr>
              <a:t>requisitos</a:t>
            </a:r>
            <a:r>
              <a:rPr sz="1400" dirty="0">
                <a:latin typeface="Arial"/>
              </a:rPr>
              <a:t> </a:t>
            </a:r>
            <a:r>
              <a:rPr sz="1400" dirty="0" err="1">
                <a:latin typeface="Arial"/>
              </a:rPr>
              <a:t>instrumentales</a:t>
            </a:r>
            <a:r>
              <a:rPr sz="1400" dirty="0">
                <a:latin typeface="Arial"/>
              </a:rPr>
              <a:t> ESA; </a:t>
            </a:r>
            <a:r>
              <a:rPr sz="1400" dirty="0" err="1">
                <a:latin typeface="Arial"/>
              </a:rPr>
              <a:t>resolución</a:t>
            </a:r>
            <a:r>
              <a:rPr sz="1400" dirty="0">
                <a:latin typeface="Arial"/>
              </a:rPr>
              <a:t> de </a:t>
            </a:r>
            <a:r>
              <a:rPr sz="1400" dirty="0" err="1">
                <a:latin typeface="Arial"/>
              </a:rPr>
              <a:t>productos</a:t>
            </a:r>
            <a:r>
              <a:rPr sz="1400" dirty="0">
                <a:latin typeface="Arial"/>
              </a:rPr>
              <a:t> ESA Biomass.</a:t>
            </a:r>
          </a:p>
        </p:txBody>
      </p:sp>
      <p:graphicFrame>
        <p:nvGraphicFramePr>
          <p:cNvPr id="18" name="Chart"/>
          <p:cNvGraphicFramePr/>
          <p:nvPr>
            <p:extLst>
              <p:ext uri="{D42A27DB-BD31-4B8C-83A1-F6EECF244321}">
                <p14:modId xmlns:p14="http://schemas.microsoft.com/office/powerpoint/2010/main" val="3393724768"/>
              </p:ext>
            </p:extLst>
          </p:nvPr>
        </p:nvGraphicFramePr>
        <p:xfrm>
          <a:off x="400050" y="1714500"/>
          <a:ext cx="61912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6091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7B8135B-809C-45FA-8B78-A043EBDEEE2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El nivel de producto determina qué física puede recuperarse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7E2908-8CD7-4A90-87C8-CF6E0FD44C04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82375" cy="476250"/>
          </a:xfrm>
          <a:prstGeom prst="rect">
            <a:avLst/>
          </a:prstGeom>
        </p:spPr>
        <p:txBody>
          <a:bodyPr wrap="square" lIns="0" tIns="0" rIns="0" bIns="0" anchor="t">
            <a:normAutofit fontScale="92500"/>
          </a:bodyPr>
          <a:lstStyle/>
          <a:p>
            <a:pPr algn="l">
              <a:defRPr sz="2000" b="0" i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Para comenzar: DGM para retrodispersión, SCS para PolSAR y FP_AGB_L2B para biomasa operacional.</a:t>
            </a:r>
          </a:p>
        </p:txBody>
      </p:sp>
      <p:graphicFrame>
        <p:nvGraphicFramePr>
          <p:cNvPr id="8" name="products-table"/>
          <p:cNvGraphicFramePr/>
          <p:nvPr/>
        </p:nvGraphicFramePr>
        <p:xfrm>
          <a:off x="400050" y="1809750"/>
          <a:ext cx="11401425" cy="3857628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Nivel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Familia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Conserva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L1A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Amplitud + 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PolSAR / PolInSAR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L1B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DGM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Potencia detectada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Retrodispersión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L1C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Pila coregistrada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Interferometría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L2A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FP_*_L2A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Variables por pila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Entrada a teselas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L2B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FP_AGB/FD/FH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Producto biofísico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AGB / disturbio / altura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619E7E9B-44B7-436A-AE72-2C11A121F5B6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Fuente: ESA MAAP Biomass Data Offer; STEP supported Biomass products.</a:t>
            </a:r>
          </a:p>
        </p:txBody>
      </p:sp>
    </p:spTree>
    <p:extLst>
      <p:ext uri="{BB962C8B-B14F-4D97-AF65-F5344CB8AC3E}">
        <p14:creationId xmlns:p14="http://schemas.microsoft.com/office/powerpoint/2010/main" val="467181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CD994F30-841B-43A0-9D1B-1522B2ED8A2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 fontScale="98333" lnSpcReduction="10000"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ESA MAAP permite descubrir, previsualizar y descargar por producto o activo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630634B-693B-4E29-A14D-CBBFE49208CC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1952625" cy="3048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D527C72-9993-465A-807A-E01851758710}"/>
              </a:ext>
            </a:extLst>
          </p:cNvPr>
          <p:cNvSpPr>
            <a:spLocks noGrp="1"/>
          </p:cNvSpPr>
          <p:nvPr/>
        </p:nvSpPr>
        <p:spPr>
          <a:xfrm>
            <a:off x="638175" y="2238375"/>
            <a:ext cx="52387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00D688-AF95-4AD4-8A26-0BC5120299AB}"/>
              </a:ext>
            </a:extLst>
          </p:cNvPr>
          <p:cNvSpPr>
            <a:spLocks noGrp="1"/>
          </p:cNvSpPr>
          <p:nvPr/>
        </p:nvSpPr>
        <p:spPr>
          <a:xfrm>
            <a:off x="638175" y="3048000"/>
            <a:ext cx="1524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EO Sign In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EF6EB3-B370-4729-A7AD-3592B79AB8CD}"/>
              </a:ext>
            </a:extLst>
          </p:cNvPr>
          <p:cNvSpPr>
            <a:spLocks noGrp="1"/>
          </p:cNvSpPr>
          <p:nvPr/>
        </p:nvSpPr>
        <p:spPr>
          <a:xfrm>
            <a:off x="638175" y="3714750"/>
            <a:ext cx="152400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Cuenta ESA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011FF8-81C1-4203-B0DC-9D58BF74451E}"/>
              </a:ext>
            </a:extLst>
          </p:cNvPr>
          <p:cNvSpPr>
            <a:spLocks noGrp="1"/>
          </p:cNvSpPr>
          <p:nvPr/>
        </p:nvSpPr>
        <p:spPr>
          <a:xfrm>
            <a:off x="2686050" y="2000250"/>
            <a:ext cx="1952625" cy="3048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4C7F7A-0A56-4EF3-8898-EB056300D80B}"/>
              </a:ext>
            </a:extLst>
          </p:cNvPr>
          <p:cNvSpPr>
            <a:spLocks noGrp="1"/>
          </p:cNvSpPr>
          <p:nvPr/>
        </p:nvSpPr>
        <p:spPr>
          <a:xfrm>
            <a:off x="2924175" y="2238375"/>
            <a:ext cx="52387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E7654C5-DD35-4D90-9F2A-6CF6E3117FAA}"/>
              </a:ext>
            </a:extLst>
          </p:cNvPr>
          <p:cNvSpPr>
            <a:spLocks noGrp="1"/>
          </p:cNvSpPr>
          <p:nvPr/>
        </p:nvSpPr>
        <p:spPr>
          <a:xfrm>
            <a:off x="2924175" y="3048000"/>
            <a:ext cx="1524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Colección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5CF4760-1D1C-4BB5-90A6-0D80BD6C9989}"/>
              </a:ext>
            </a:extLst>
          </p:cNvPr>
          <p:cNvSpPr>
            <a:spLocks noGrp="1"/>
          </p:cNvSpPr>
          <p:nvPr/>
        </p:nvSpPr>
        <p:spPr>
          <a:xfrm>
            <a:off x="2924175" y="3714750"/>
            <a:ext cx="152400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L1A · L1B · L2A · L2B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84F0C74-8D74-4401-8688-49FEE6EBD9CA}"/>
              </a:ext>
            </a:extLst>
          </p:cNvPr>
          <p:cNvSpPr>
            <a:spLocks noGrp="1"/>
          </p:cNvSpPr>
          <p:nvPr/>
        </p:nvSpPr>
        <p:spPr>
          <a:xfrm>
            <a:off x="4972050" y="2000250"/>
            <a:ext cx="1952625" cy="3048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027C9DD-5419-4E67-A687-3D6C5DEFBACA}"/>
              </a:ext>
            </a:extLst>
          </p:cNvPr>
          <p:cNvSpPr>
            <a:spLocks noGrp="1"/>
          </p:cNvSpPr>
          <p:nvPr/>
        </p:nvSpPr>
        <p:spPr>
          <a:xfrm>
            <a:off x="5210175" y="2238375"/>
            <a:ext cx="52387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FA77770-676D-481E-8283-5458B95A5FA7}"/>
              </a:ext>
            </a:extLst>
          </p:cNvPr>
          <p:cNvSpPr>
            <a:spLocks noGrp="1"/>
          </p:cNvSpPr>
          <p:nvPr/>
        </p:nvSpPr>
        <p:spPr>
          <a:xfrm>
            <a:off x="5210175" y="3048000"/>
            <a:ext cx="1524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AOI y fecha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F27B70-84CB-44D4-94FE-B5F04196B731}"/>
              </a:ext>
            </a:extLst>
          </p:cNvPr>
          <p:cNvSpPr>
            <a:spLocks noGrp="1"/>
          </p:cNvSpPr>
          <p:nvPr/>
        </p:nvSpPr>
        <p:spPr>
          <a:xfrm>
            <a:off x="5210175" y="3714750"/>
            <a:ext cx="152400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bbox / polígono / ciclo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9F0894D-338C-4553-BC57-C60E1FDAFC38}"/>
              </a:ext>
            </a:extLst>
          </p:cNvPr>
          <p:cNvSpPr>
            <a:spLocks noGrp="1"/>
          </p:cNvSpPr>
          <p:nvPr/>
        </p:nvSpPr>
        <p:spPr>
          <a:xfrm>
            <a:off x="7258050" y="2000250"/>
            <a:ext cx="1952625" cy="3048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AFF2697-C011-4FB3-AC58-E7F65FF263C0}"/>
              </a:ext>
            </a:extLst>
          </p:cNvPr>
          <p:cNvSpPr>
            <a:spLocks noGrp="1"/>
          </p:cNvSpPr>
          <p:nvPr/>
        </p:nvSpPr>
        <p:spPr>
          <a:xfrm>
            <a:off x="7496175" y="2238375"/>
            <a:ext cx="52387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95CB5C2-B3D1-4C7E-BDB7-AE964A322984}"/>
              </a:ext>
            </a:extLst>
          </p:cNvPr>
          <p:cNvSpPr>
            <a:spLocks noGrp="1"/>
          </p:cNvSpPr>
          <p:nvPr/>
        </p:nvSpPr>
        <p:spPr>
          <a:xfrm>
            <a:off x="7496175" y="3048000"/>
            <a:ext cx="1524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Quicklook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F91E35C-1D41-4A4C-A445-F1326914B106}"/>
              </a:ext>
            </a:extLst>
          </p:cNvPr>
          <p:cNvSpPr>
            <a:spLocks noGrp="1"/>
          </p:cNvSpPr>
          <p:nvPr/>
        </p:nvSpPr>
        <p:spPr>
          <a:xfrm>
            <a:off x="7496175" y="3714750"/>
            <a:ext cx="152400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huella y metadatos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5E9F5F-1DE0-483E-970C-EA0CF867BA27}"/>
              </a:ext>
            </a:extLst>
          </p:cNvPr>
          <p:cNvSpPr>
            <a:spLocks noGrp="1"/>
          </p:cNvSpPr>
          <p:nvPr/>
        </p:nvSpPr>
        <p:spPr>
          <a:xfrm>
            <a:off x="9544050" y="2000250"/>
            <a:ext cx="1952625" cy="30480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C3C809F-733F-485B-8C60-10FDAD9C5ECB}"/>
              </a:ext>
            </a:extLst>
          </p:cNvPr>
          <p:cNvSpPr>
            <a:spLocks noGrp="1"/>
          </p:cNvSpPr>
          <p:nvPr/>
        </p:nvSpPr>
        <p:spPr>
          <a:xfrm>
            <a:off x="9782175" y="2238375"/>
            <a:ext cx="52387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D74CDE0-A382-49F7-A58F-D850E0C45238}"/>
              </a:ext>
            </a:extLst>
          </p:cNvPr>
          <p:cNvSpPr>
            <a:spLocks noGrp="1"/>
          </p:cNvSpPr>
          <p:nvPr/>
        </p:nvSpPr>
        <p:spPr>
          <a:xfrm>
            <a:off x="9782175" y="3048000"/>
            <a:ext cx="1524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Descarga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579F3C1-1571-4208-A155-6537DAA55201}"/>
              </a:ext>
            </a:extLst>
          </p:cNvPr>
          <p:cNvSpPr>
            <a:spLocks noGrp="1"/>
          </p:cNvSpPr>
          <p:nvPr/>
        </p:nvSpPr>
        <p:spPr>
          <a:xfrm>
            <a:off x="9782175" y="3714750"/>
            <a:ext cx="152400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ZIP completo para SNAP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B619D00-8D2E-45D6-8163-E2D04E5623C8}"/>
              </a:ext>
            </a:extLst>
          </p:cNvPr>
          <p:cNvSpPr>
            <a:spLocks noGrp="1"/>
          </p:cNvSpPr>
          <p:nvPr/>
        </p:nvSpPr>
        <p:spPr>
          <a:xfrm>
            <a:off x="400050" y="5572125"/>
            <a:ext cx="10953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6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Búsqueda STAC sin autenticación · descarga con token · endpoint: catalog.maap.eo.esa.int/catalogue/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99244ED-ABE4-44B1-A28A-42DF4143EEF7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164/179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9702161-199E-4057-9A92-74DDE08FA623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Fuente: ESA MAAP STAC data access example.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343150" y="3455669"/>
            <a:ext cx="495299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ight Arrow 35"/>
          <p:cNvSpPr/>
          <p:nvPr/>
        </p:nvSpPr>
        <p:spPr>
          <a:xfrm>
            <a:off x="4629150" y="3455669"/>
            <a:ext cx="495299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36"/>
          <p:cNvSpPr/>
          <p:nvPr/>
        </p:nvSpPr>
        <p:spPr>
          <a:xfrm>
            <a:off x="6915150" y="3455669"/>
            <a:ext cx="495299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/>
          <p:cNvSpPr/>
          <p:nvPr/>
        </p:nvSpPr>
        <p:spPr>
          <a:xfrm>
            <a:off x="9201150" y="3455669"/>
            <a:ext cx="495299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7159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C99E5658-9304-48CF-B8AA-6043CAE9C63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 fontScale="93919"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SNAP prepara predictores; el modelo transforma esos predictores en AGB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7C04333-0ABD-4B58-AB2A-54B4332F8327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12192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0BFAE6-E9AE-4CCB-B6AF-6C3B437988B5}"/>
              </a:ext>
            </a:extLst>
          </p:cNvPr>
          <p:cNvSpPr>
            <a:spLocks noGrp="1"/>
          </p:cNvSpPr>
          <p:nvPr/>
        </p:nvSpPr>
        <p:spPr>
          <a:xfrm>
            <a:off x="533400" y="2781300"/>
            <a:ext cx="3333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22DEE97-416C-4764-8221-2DA480692C6F}"/>
              </a:ext>
            </a:extLst>
          </p:cNvPr>
          <p:cNvSpPr>
            <a:spLocks noGrp="1"/>
          </p:cNvSpPr>
          <p:nvPr/>
        </p:nvSpPr>
        <p:spPr>
          <a:xfrm>
            <a:off x="533400" y="3238500"/>
            <a:ext cx="952500" cy="6667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XML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6A67176-6862-4F7E-8EE8-C7F9876C353C}"/>
              </a:ext>
            </a:extLst>
          </p:cNvPr>
          <p:cNvSpPr>
            <a:spLocks noGrp="1"/>
          </p:cNvSpPr>
          <p:nvPr/>
        </p:nvSpPr>
        <p:spPr>
          <a:xfrm>
            <a:off x="1781175" y="2619375"/>
            <a:ext cx="12192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6CCCBB4-F7E5-44E7-9A4C-2AE31AF49844}"/>
              </a:ext>
            </a:extLst>
          </p:cNvPr>
          <p:cNvSpPr>
            <a:spLocks noGrp="1"/>
          </p:cNvSpPr>
          <p:nvPr/>
        </p:nvSpPr>
        <p:spPr>
          <a:xfrm>
            <a:off x="1914525" y="2781300"/>
            <a:ext cx="3333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3882005-6071-4878-8922-75CCD1629A5B}"/>
              </a:ext>
            </a:extLst>
          </p:cNvPr>
          <p:cNvSpPr>
            <a:spLocks noGrp="1"/>
          </p:cNvSpPr>
          <p:nvPr/>
        </p:nvSpPr>
        <p:spPr>
          <a:xfrm>
            <a:off x="1914525" y="3238500"/>
            <a:ext cx="952500" cy="6667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Subset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4D96376-0B50-4C2D-ACEB-D20B8FBB8ACB}"/>
              </a:ext>
            </a:extLst>
          </p:cNvPr>
          <p:cNvSpPr>
            <a:spLocks noGrp="1"/>
          </p:cNvSpPr>
          <p:nvPr/>
        </p:nvSpPr>
        <p:spPr>
          <a:xfrm>
            <a:off x="3162300" y="2619375"/>
            <a:ext cx="12192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C2F0D89-1E33-4559-828A-DF7AF947A0C0}"/>
              </a:ext>
            </a:extLst>
          </p:cNvPr>
          <p:cNvSpPr>
            <a:spLocks noGrp="1"/>
          </p:cNvSpPr>
          <p:nvPr/>
        </p:nvSpPr>
        <p:spPr>
          <a:xfrm>
            <a:off x="3295650" y="2781300"/>
            <a:ext cx="3333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539D939-4D80-40F2-8368-BD9A93E0EBDD}"/>
              </a:ext>
            </a:extLst>
          </p:cNvPr>
          <p:cNvSpPr>
            <a:spLocks noGrp="1"/>
          </p:cNvSpPr>
          <p:nvPr/>
        </p:nvSpPr>
        <p:spPr>
          <a:xfrm>
            <a:off x="3295650" y="3238500"/>
            <a:ext cx="952500" cy="6667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Calibración
condicional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88321E0-08EA-4136-B9B7-C0CFC4CA3073}"/>
              </a:ext>
            </a:extLst>
          </p:cNvPr>
          <p:cNvSpPr>
            <a:spLocks noGrp="1"/>
          </p:cNvSpPr>
          <p:nvPr/>
        </p:nvSpPr>
        <p:spPr>
          <a:xfrm>
            <a:off x="4543425" y="2619375"/>
            <a:ext cx="12192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CF7F835-19B8-4A26-9C6E-24A6D7E2E471}"/>
              </a:ext>
            </a:extLst>
          </p:cNvPr>
          <p:cNvSpPr>
            <a:spLocks noGrp="1"/>
          </p:cNvSpPr>
          <p:nvPr/>
        </p:nvSpPr>
        <p:spPr>
          <a:xfrm>
            <a:off x="4676775" y="2781300"/>
            <a:ext cx="3333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444C622-01CC-4E2B-85B5-4B8066A66EFC}"/>
              </a:ext>
            </a:extLst>
          </p:cNvPr>
          <p:cNvSpPr>
            <a:spLocks noGrp="1"/>
          </p:cNvSpPr>
          <p:nvPr/>
        </p:nvSpPr>
        <p:spPr>
          <a:xfrm>
            <a:off x="4676775" y="3238500"/>
            <a:ext cx="952500" cy="6667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Speckle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4837534-1751-46EC-8AF3-9A1758CA0E79}"/>
              </a:ext>
            </a:extLst>
          </p:cNvPr>
          <p:cNvSpPr>
            <a:spLocks noGrp="1"/>
          </p:cNvSpPr>
          <p:nvPr/>
        </p:nvSpPr>
        <p:spPr>
          <a:xfrm>
            <a:off x="5924550" y="2619375"/>
            <a:ext cx="12192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3450EA0-B871-4BBF-98F1-7BD5C4E10EDC}"/>
              </a:ext>
            </a:extLst>
          </p:cNvPr>
          <p:cNvSpPr>
            <a:spLocks noGrp="1"/>
          </p:cNvSpPr>
          <p:nvPr/>
        </p:nvSpPr>
        <p:spPr>
          <a:xfrm>
            <a:off x="6057900" y="2781300"/>
            <a:ext cx="3333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8F50891-38E9-4F77-96EA-17D37CB87882}"/>
              </a:ext>
            </a:extLst>
          </p:cNvPr>
          <p:cNvSpPr>
            <a:spLocks noGrp="1"/>
          </p:cNvSpPr>
          <p:nvPr/>
        </p:nvSpPr>
        <p:spPr>
          <a:xfrm>
            <a:off x="6057900" y="3238500"/>
            <a:ext cx="952500" cy="6667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Terreno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FBEDC20-87A3-4C0F-AE23-4E28DFA0EF99}"/>
              </a:ext>
            </a:extLst>
          </p:cNvPr>
          <p:cNvSpPr>
            <a:spLocks noGrp="1"/>
          </p:cNvSpPr>
          <p:nvPr/>
        </p:nvSpPr>
        <p:spPr>
          <a:xfrm>
            <a:off x="7305675" y="2619375"/>
            <a:ext cx="12192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E87E076-2D53-472D-A5FF-10C490CCD0C3}"/>
              </a:ext>
            </a:extLst>
          </p:cNvPr>
          <p:cNvSpPr>
            <a:spLocks noGrp="1"/>
          </p:cNvSpPr>
          <p:nvPr/>
        </p:nvSpPr>
        <p:spPr>
          <a:xfrm>
            <a:off x="7439025" y="2781300"/>
            <a:ext cx="3333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6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AB2378F-7488-4A41-A8A8-11EEB79A31EF}"/>
              </a:ext>
            </a:extLst>
          </p:cNvPr>
          <p:cNvSpPr>
            <a:spLocks noGrp="1"/>
          </p:cNvSpPr>
          <p:nvPr/>
        </p:nvSpPr>
        <p:spPr>
          <a:xfrm>
            <a:off x="7439025" y="3238500"/>
            <a:ext cx="952500" cy="6667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50000"/>
              </a:lnSpc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Band Maths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A948565-CBB8-4C23-8E2B-CBB26AEDCAFC}"/>
              </a:ext>
            </a:extLst>
          </p:cNvPr>
          <p:cNvSpPr>
            <a:spLocks noGrp="1"/>
          </p:cNvSpPr>
          <p:nvPr/>
        </p:nvSpPr>
        <p:spPr>
          <a:xfrm>
            <a:off x="8686800" y="2619375"/>
            <a:ext cx="12192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F8B4F58-486C-4DBC-B93D-7B89D3A91054}"/>
              </a:ext>
            </a:extLst>
          </p:cNvPr>
          <p:cNvSpPr>
            <a:spLocks noGrp="1"/>
          </p:cNvSpPr>
          <p:nvPr/>
        </p:nvSpPr>
        <p:spPr>
          <a:xfrm>
            <a:off x="8820150" y="2781300"/>
            <a:ext cx="3333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7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95A681E-9F50-491A-A862-433E24CF068C}"/>
              </a:ext>
            </a:extLst>
          </p:cNvPr>
          <p:cNvSpPr>
            <a:spLocks noGrp="1"/>
          </p:cNvSpPr>
          <p:nvPr/>
        </p:nvSpPr>
        <p:spPr>
          <a:xfrm>
            <a:off x="8820150" y="3238500"/>
            <a:ext cx="952500" cy="6667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Modelo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11241C6-6BCA-47CC-9DF7-EC777527B0D1}"/>
              </a:ext>
            </a:extLst>
          </p:cNvPr>
          <p:cNvSpPr>
            <a:spLocks noGrp="1"/>
          </p:cNvSpPr>
          <p:nvPr/>
        </p:nvSpPr>
        <p:spPr>
          <a:xfrm>
            <a:off x="10067925" y="2619375"/>
            <a:ext cx="1219200" cy="1619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164B092-5C0F-4C6A-8FEA-17DDC627B759}"/>
              </a:ext>
            </a:extLst>
          </p:cNvPr>
          <p:cNvSpPr>
            <a:spLocks noGrp="1"/>
          </p:cNvSpPr>
          <p:nvPr/>
        </p:nvSpPr>
        <p:spPr>
          <a:xfrm>
            <a:off x="10201275" y="2781300"/>
            <a:ext cx="3333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8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313D3F7-1146-4BBF-B78F-D2B5E2D85929}"/>
              </a:ext>
            </a:extLst>
          </p:cNvPr>
          <p:cNvSpPr>
            <a:spLocks noGrp="1"/>
          </p:cNvSpPr>
          <p:nvPr/>
        </p:nvSpPr>
        <p:spPr>
          <a:xfrm>
            <a:off x="10201275" y="3238500"/>
            <a:ext cx="952500" cy="66675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AGB + QA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077DBCF-B21B-4B1D-9796-A32F8D0EBC7E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1191875" cy="1000125"/>
          </a:xfrm>
          <a:prstGeom prst="rect">
            <a:avLst/>
          </a:prstGeom>
          <a:solidFill>
            <a:srgbClr val="FFF1E8"/>
          </a:solidFill>
          <a:ln w="0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931F616-F58B-4A3F-A50F-E080811613FC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10572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No calibre dos veces. No calcule índices con dB. No abra únicamente el TIFF de medición.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3BF89D4-FD15-4061-BD9A-1F712041DB63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165/179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8F464DD-4067-48F3-83C2-045A8E20E782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Software: SNAP 13 + Microwave Toolbox; soporte Biomass descrito como beta por STEP/ESA.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619250" y="3360420"/>
            <a:ext cx="38100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ight Arrow 46"/>
          <p:cNvSpPr/>
          <p:nvPr/>
        </p:nvSpPr>
        <p:spPr>
          <a:xfrm>
            <a:off x="3000375" y="3360420"/>
            <a:ext cx="38100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ight Arrow 47"/>
          <p:cNvSpPr/>
          <p:nvPr/>
        </p:nvSpPr>
        <p:spPr>
          <a:xfrm>
            <a:off x="4381500" y="3360420"/>
            <a:ext cx="38100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ght Arrow 48"/>
          <p:cNvSpPr/>
          <p:nvPr/>
        </p:nvSpPr>
        <p:spPr>
          <a:xfrm>
            <a:off x="5762625" y="3360420"/>
            <a:ext cx="38100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ght Arrow 49"/>
          <p:cNvSpPr/>
          <p:nvPr/>
        </p:nvSpPr>
        <p:spPr>
          <a:xfrm>
            <a:off x="7143750" y="3360420"/>
            <a:ext cx="38100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ight Arrow 50"/>
          <p:cNvSpPr/>
          <p:nvPr/>
        </p:nvSpPr>
        <p:spPr>
          <a:xfrm>
            <a:off x="8524875" y="3360420"/>
            <a:ext cx="38100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ight Arrow 51"/>
          <p:cNvSpPr/>
          <p:nvPr/>
        </p:nvSpPr>
        <p:spPr>
          <a:xfrm>
            <a:off x="9906000" y="3360420"/>
            <a:ext cx="38100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9010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1D6A40E1-0119-4223-AC5E-33A21951F5A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DGM y SCS responden a preguntas diferentes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581E49F-E65A-46C3-B1B0-8E552EBA8D6D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14350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DGM · intensidad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D45B9A-8DBC-42DF-B0C6-3C00ADB4FC72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5143500" cy="3143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1061A6D-B403-4167-9EC0-1A682F9C7C10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4476750" cy="2428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228600" indent="-228600" algn="just">
              <a:lnSpc>
                <a:spcPct val="150000"/>
              </a:lnSpc>
              <a:buFont typeface="Wingdings" pitchFamily="2" charset="2"/>
              <a:buChar char="ü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comprobar Sigma0/Gamma0
• filtro Refined Lee probado
• terrain flattening en relieve
• Range–Doppler TC
• RVI y razones en lineal
• agregar a la escala del modelo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9FDAD2-3B07-48DD-BC97-23C20BA580FD}"/>
              </a:ext>
            </a:extLst>
          </p:cNvPr>
          <p:cNvSpPr>
            <a:spLocks noGrp="1"/>
          </p:cNvSpPr>
          <p:nvPr/>
        </p:nvSpPr>
        <p:spPr>
          <a:xfrm>
            <a:off x="6334125" y="1476375"/>
            <a:ext cx="514350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SCS · complejos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7A624C-C43A-4440-A5C1-BCB4C8F88584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143500" cy="3143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556FA3-B3C0-448D-8D6A-7FD4E053857C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4476750" cy="2428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228600" indent="-228600" algn="just">
              <a:lnSpc>
                <a:spcPct val="150000"/>
              </a:lnSpc>
              <a:buFont typeface="Wingdings" pitchFamily="2" charset="2"/>
              <a:buChar char="ü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preservar I/Q o módulo/fase
• multilooking coherente
• matrices C3/T3
• filtro polarimétrico
• Pauli, H/α/A, Freeman/Yamaguchi
• geocodificar al final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BAE43A-D1A0-4918-858E-3E12B2472A7E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7810500" cy="400050"/>
          </a:xfrm>
          <a:prstGeom prst="rect">
            <a:avLst/>
          </a:prstGeom>
        </p:spPr>
        <p:txBody>
          <a:bodyPr wrap="square" lIns="0" tIns="0" rIns="0" bIns="0" anchor="t">
            <a:normAutofit fontScale="91750" lnSpcReduction="10000"/>
          </a:bodyPr>
          <a:lstStyle/>
          <a:p>
            <a:pPr algn="ctr">
              <a:lnSpc>
                <a:spcPct val="100000"/>
              </a:lnSpc>
              <a:defRPr sz="1575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Nunca filtre canales complejos de forma independiente antes de construir la matriz polarimétrica.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75B1F2-8389-4F0A-A268-E24E4A7F25A6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166/179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53CD87F-7389-40B9-8B34-4864C84A497C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Flujo docente basado en capacidades SAR de SNAP y estructura de productos Biomass.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109655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78AFFF0C-0FBD-4E2E-A3EB-741DB08A096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 fontScale="98365" lnSpcReduction="10000"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Para pilas e inversión operacional, Biomass Processing Suite es la referencia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227A582-161C-4717-AA71-9DC844551D9F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3571875" cy="36195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7E4ED8-FADB-4BFB-814D-89E91E24926C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2952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46F5EA-C386-4453-AC26-80FF35CAB91A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295275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Enfoque SAR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6540666-CB08-4125-BCDD-D5E88C5A1FDA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2952750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RAW → SCS/DGM
órbita y calibración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746A3AC-7542-4430-9A11-2823A030FF10}"/>
              </a:ext>
            </a:extLst>
          </p:cNvPr>
          <p:cNvSpPr>
            <a:spLocks noGrp="1"/>
          </p:cNvSpPr>
          <p:nvPr/>
        </p:nvSpPr>
        <p:spPr>
          <a:xfrm>
            <a:off x="4305300" y="1476375"/>
            <a:ext cx="3571875" cy="36195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A019C4-CD86-44E6-B5BD-AB0C232F28A7}"/>
              </a:ext>
            </a:extLst>
          </p:cNvPr>
          <p:cNvSpPr>
            <a:spLocks noGrp="1"/>
          </p:cNvSpPr>
          <p:nvPr/>
        </p:nvSpPr>
        <p:spPr>
          <a:xfrm>
            <a:off x="4610100" y="1790700"/>
            <a:ext cx="2952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STACK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E5A5931-6F9A-4303-960F-C1767B8F1E3B}"/>
              </a:ext>
            </a:extLst>
          </p:cNvPr>
          <p:cNvSpPr>
            <a:spLocks noGrp="1"/>
          </p:cNvSpPr>
          <p:nvPr/>
        </p:nvSpPr>
        <p:spPr>
          <a:xfrm>
            <a:off x="4610100" y="2571750"/>
            <a:ext cx="295275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Coregistro y fase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98FABE-FF80-4CC2-A742-0CE0AA11ED4D}"/>
              </a:ext>
            </a:extLst>
          </p:cNvPr>
          <p:cNvSpPr>
            <a:spLocks noGrp="1"/>
          </p:cNvSpPr>
          <p:nvPr/>
        </p:nvSpPr>
        <p:spPr>
          <a:xfrm>
            <a:off x="4610100" y="3429000"/>
            <a:ext cx="2952750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7 imágenes TOM
3 imágenes INT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12E4A5E-DE90-4E11-BCAE-3ED39DD0725D}"/>
              </a:ext>
            </a:extLst>
          </p:cNvPr>
          <p:cNvSpPr>
            <a:spLocks noGrp="1"/>
          </p:cNvSpPr>
          <p:nvPr/>
        </p:nvSpPr>
        <p:spPr>
          <a:xfrm>
            <a:off x="8210550" y="1476375"/>
            <a:ext cx="3571875" cy="36195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FCF454F-125A-4C01-B31E-A18FA0AD242C}"/>
              </a:ext>
            </a:extLst>
          </p:cNvPr>
          <p:cNvSpPr>
            <a:spLocks noGrp="1"/>
          </p:cNvSpPr>
          <p:nvPr/>
        </p:nvSpPr>
        <p:spPr>
          <a:xfrm>
            <a:off x="8515350" y="1790700"/>
            <a:ext cx="2952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L2/L3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E6D6403-5E6D-4030-BA53-2A427BE7EB0B}"/>
              </a:ext>
            </a:extLst>
          </p:cNvPr>
          <p:cNvSpPr>
            <a:spLocks noGrp="1"/>
          </p:cNvSpPr>
          <p:nvPr/>
        </p:nvSpPr>
        <p:spPr>
          <a:xfrm>
            <a:off x="8515350" y="2571750"/>
            <a:ext cx="295275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Productos biofísicos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C883D10-CE33-423F-AF45-63AA70344B5F}"/>
              </a:ext>
            </a:extLst>
          </p:cNvPr>
          <p:cNvSpPr>
            <a:spLocks noGrp="1"/>
          </p:cNvSpPr>
          <p:nvPr/>
        </p:nvSpPr>
        <p:spPr>
          <a:xfrm>
            <a:off x="8515350" y="3429000"/>
            <a:ext cx="2952750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AGB · altura · disturbio
teselas y consolidación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804585F-A3BC-4218-9D06-9A6EFDBC16EF}"/>
              </a:ext>
            </a:extLst>
          </p:cNvPr>
          <p:cNvSpPr>
            <a:spLocks noGrp="1"/>
          </p:cNvSpPr>
          <p:nvPr/>
        </p:nvSpPr>
        <p:spPr>
          <a:xfrm>
            <a:off x="1619250" y="5572125"/>
            <a:ext cx="89535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SNAP es excelente para explorar y preparar; BPS implementa la cadena oficial de pila.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0C37CFC-BCAB-4E76-A39A-7A3457E7416F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167/179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51C4A30-B936-4369-987E-36E829F14567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Fuente: ESA MAAP Biomass Processing Suite.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1057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6AC1CE17-BA9A-4F63-9FAE-5F60CE2EA14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El desempeño depende tanto del inventario como del radar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E7C1A4-2E70-44A9-8DD8-3B31587BA8F8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19050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C7D587-746D-4F2B-9F4A-DED04B560208}"/>
              </a:ext>
            </a:extLst>
          </p:cNvPr>
          <p:cNvSpPr>
            <a:spLocks noGrp="1"/>
          </p:cNvSpPr>
          <p:nvPr/>
        </p:nvSpPr>
        <p:spPr>
          <a:xfrm>
            <a:off x="571500" y="2333625"/>
            <a:ext cx="15621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Inventario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A61D988-6E6E-43FC-B76B-F180FABB1565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15621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DAP · H · ρ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0C1C3FC-B26B-422B-BDC7-DF94AF984115}"/>
              </a:ext>
            </a:extLst>
          </p:cNvPr>
          <p:cNvSpPr>
            <a:spLocks noGrp="1"/>
          </p:cNvSpPr>
          <p:nvPr/>
        </p:nvSpPr>
        <p:spPr>
          <a:xfrm>
            <a:off x="2714625" y="2095500"/>
            <a:ext cx="19050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04988F-94A0-40BB-BC4C-3FA81FC086A2}"/>
              </a:ext>
            </a:extLst>
          </p:cNvPr>
          <p:cNvSpPr>
            <a:spLocks noGrp="1"/>
          </p:cNvSpPr>
          <p:nvPr/>
        </p:nvSpPr>
        <p:spPr>
          <a:xfrm>
            <a:off x="2886075" y="2333625"/>
            <a:ext cx="15621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Predictores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76A875A-77DC-4A0D-9E94-E5B1DB04B267}"/>
              </a:ext>
            </a:extLst>
          </p:cNvPr>
          <p:cNvSpPr>
            <a:spLocks noGrp="1"/>
          </p:cNvSpPr>
          <p:nvPr/>
        </p:nvSpPr>
        <p:spPr>
          <a:xfrm>
            <a:off x="2886075" y="2952750"/>
            <a:ext cx="15621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HH · HV · RVI · PolSAR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B42AD29-D172-4F9D-B6C0-385E05366A20}"/>
              </a:ext>
            </a:extLst>
          </p:cNvPr>
          <p:cNvSpPr>
            <a:spLocks noGrp="1"/>
          </p:cNvSpPr>
          <p:nvPr/>
        </p:nvSpPr>
        <p:spPr>
          <a:xfrm>
            <a:off x="5029200" y="2095500"/>
            <a:ext cx="19050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1177EAC-FA62-4716-A88E-D3767A50A962}"/>
              </a:ext>
            </a:extLst>
          </p:cNvPr>
          <p:cNvSpPr>
            <a:spLocks noGrp="1"/>
          </p:cNvSpPr>
          <p:nvPr/>
        </p:nvSpPr>
        <p:spPr>
          <a:xfrm>
            <a:off x="5200650" y="2333625"/>
            <a:ext cx="15621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Escala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6A4134B-B574-4CA4-8F00-2BAD3361CDC1}"/>
              </a:ext>
            </a:extLst>
          </p:cNvPr>
          <p:cNvSpPr>
            <a:spLocks noGrp="1"/>
          </p:cNvSpPr>
          <p:nvPr/>
        </p:nvSpPr>
        <p:spPr>
          <a:xfrm>
            <a:off x="5200650" y="2952750"/>
            <a:ext cx="15621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parcela / 200 m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88FBB1E-152E-4516-851B-BAAFC71841DA}"/>
              </a:ext>
            </a:extLst>
          </p:cNvPr>
          <p:cNvSpPr>
            <a:spLocks noGrp="1"/>
          </p:cNvSpPr>
          <p:nvPr/>
        </p:nvSpPr>
        <p:spPr>
          <a:xfrm>
            <a:off x="7343775" y="2095500"/>
            <a:ext cx="1905000" cy="1619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6607B44-9711-4C9F-87E0-3E1632535E7D}"/>
              </a:ext>
            </a:extLst>
          </p:cNvPr>
          <p:cNvSpPr>
            <a:spLocks noGrp="1"/>
          </p:cNvSpPr>
          <p:nvPr/>
        </p:nvSpPr>
        <p:spPr>
          <a:xfrm>
            <a:off x="7515225" y="2333625"/>
            <a:ext cx="15621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Modelo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BA6A504-082F-4382-A251-A9110275A166}"/>
              </a:ext>
            </a:extLst>
          </p:cNvPr>
          <p:cNvSpPr>
            <a:spLocks noGrp="1"/>
          </p:cNvSpPr>
          <p:nvPr/>
        </p:nvSpPr>
        <p:spPr>
          <a:xfrm>
            <a:off x="7515225" y="2952750"/>
            <a:ext cx="15621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regresión / ML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ABA000B-A4C4-48AE-B327-770FD7C5F5F3}"/>
              </a:ext>
            </a:extLst>
          </p:cNvPr>
          <p:cNvSpPr>
            <a:spLocks noGrp="1"/>
          </p:cNvSpPr>
          <p:nvPr/>
        </p:nvSpPr>
        <p:spPr>
          <a:xfrm>
            <a:off x="9658350" y="2095500"/>
            <a:ext cx="1905000" cy="1619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6187EFF-0393-4B83-917B-A770FB5E9B94}"/>
              </a:ext>
            </a:extLst>
          </p:cNvPr>
          <p:cNvSpPr>
            <a:spLocks noGrp="1"/>
          </p:cNvSpPr>
          <p:nvPr/>
        </p:nvSpPr>
        <p:spPr>
          <a:xfrm>
            <a:off x="9829800" y="2333625"/>
            <a:ext cx="15621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Validación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F4D19C0-1512-43AF-BDB8-B4AB4A0B3703}"/>
              </a:ext>
            </a:extLst>
          </p:cNvPr>
          <p:cNvSpPr>
            <a:spLocks noGrp="1"/>
          </p:cNvSpPr>
          <p:nvPr/>
        </p:nvSpPr>
        <p:spPr>
          <a:xfrm>
            <a:off x="9829800" y="2952750"/>
            <a:ext cx="15621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bloques espaciales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2B0BE65-F38C-4E78-8BCC-8A47AE9D8AF5}"/>
              </a:ext>
            </a:extLst>
          </p:cNvPr>
          <p:cNvSpPr>
            <a:spLocks noGrp="1"/>
          </p:cNvSpPr>
          <p:nvPr/>
        </p:nvSpPr>
        <p:spPr>
          <a:xfrm>
            <a:off x="400050" y="4238625"/>
            <a:ext cx="11163300" cy="1143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A8343A1-C364-4C35-B9C2-3C41ACE278A7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10429875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ln(AGB) = β₀ + β₁·HVdB + β₂·HHdB + β₃·VVdB + β₄·RVI + β₅·H + ε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4B4F7B5-B723-41B8-9376-70088CE31991}"/>
              </a:ext>
            </a:extLst>
          </p:cNvPr>
          <p:cNvSpPr>
            <a:spLocks noGrp="1"/>
          </p:cNvSpPr>
          <p:nvPr/>
        </p:nvSpPr>
        <p:spPr>
          <a:xfrm>
            <a:off x="2381250" y="5667375"/>
            <a:ext cx="7429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Informe RMSE, sesgo, rRMSE, MAE e incertidumbre espacial.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A58ABE7-3AC9-4660-9C00-2C8694249C25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168/179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8701ECD-D4C4-4C17-BB08-F6A8144C3B03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Modelo ilustrativo: requiere calibración local y corrección de sesgo de retransmisión.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143125" y="2788920"/>
            <a:ext cx="47625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4457700" y="2788920"/>
            <a:ext cx="47625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6772275" y="2788920"/>
            <a:ext cx="47625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34"/>
          <p:cNvSpPr/>
          <p:nvPr/>
        </p:nvSpPr>
        <p:spPr>
          <a:xfrm>
            <a:off x="9086850" y="2788920"/>
            <a:ext cx="476250" cy="137160"/>
          </a:xfrm>
          <a:prstGeom prst="rightArrow">
            <a:avLst>
              <a:gd name="adj1" fmla="val 42000"/>
              <a:gd name="adj2" fmla="val 55000"/>
            </a:avLst>
          </a:prstGeom>
          <a:solidFill>
            <a:srgbClr val="3D8D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10241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68DC0BB-50BC-4921-A371-5F2FFF90BB4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Ocho controles evitan la mayoría de los errores publicables</a:t>
            </a:r>
          </a:p>
        </p:txBody>
      </p:sp>
      <p:graphicFrame>
        <p:nvGraphicFramePr>
          <p:cNvPr id="6" name="qa-table"/>
          <p:cNvGraphicFramePr/>
          <p:nvPr/>
        </p:nvGraphicFramePr>
        <p:xfrm>
          <a:off x="400050" y="1381125"/>
          <a:ext cx="11401425" cy="45720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Acción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XML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Pérdida de LUT/metadata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Abrir producto principal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Unidades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Índices físicamente inválidos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Calcular en lineal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Calibración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Sesgo radiométrico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Evitar doble calibración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Topografía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Pendiente confundida con AGB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Flattening + 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HV–VH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Ruido / inconsistencia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Mapa de reciprocidad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Soporte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Parcela menor que píxel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Alinear escalas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Validación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Fuga espacial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Bloques independientes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Falsa precisión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AGB + incertidumbre + QA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E9FD303C-F90F-4287-A5BF-F93C86EC90E9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169/179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CBA2AD-005E-4CD5-AA98-CF9F67E2EA3A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Síntesis metodológica del tutorial.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1929239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925DFE5-8BC8-422A-AD19-3AE7964D052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El identificador permite elegir el producto antes de abrirlo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B17A65-E26C-44A0-8FE1-426A7D164DD1}"/>
              </a:ext>
            </a:extLst>
          </p:cNvPr>
          <p:cNvSpPr>
            <a:spLocks noGrp="1"/>
          </p:cNvSpPr>
          <p:nvPr/>
        </p:nvSpPr>
        <p:spPr>
          <a:xfrm>
            <a:off x="400050" y="1190625"/>
            <a:ext cx="11401425" cy="9525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73DD44-C895-4C8C-AF7B-DBC053D22363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52450"/>
          </a:xfrm>
          <a:prstGeom prst="rect">
            <a:avLst/>
          </a:prstGeom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2000" b="1" i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BIO_S1_DGM__1S_20260428T131610_20260428T131631_T_G01_M03_C02_T038_F091_02_DQLSFP</a:t>
            </a:r>
          </a:p>
        </p:txBody>
      </p:sp>
      <p:graphicFrame>
        <p:nvGraphicFramePr>
          <p:cNvPr id="11" name="filename-nomenclature"/>
          <p:cNvGraphicFramePr/>
          <p:nvPr/>
        </p:nvGraphicFramePr>
        <p:xfrm>
          <a:off x="400050" y="2524125"/>
          <a:ext cx="11401425" cy="31432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Significado práctico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Decisión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BIO · 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Misión Biomass · franja/swath 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filtrar geometría compatible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DGM__1S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familia L1B detectada y multilook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intensidad; no fase polarimétrica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2 fechas UTC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inicio y fin: AAAAMMDDThhmmss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seleccionar época y duración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T038 · F091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celda WRS: longitud 38 · latitud 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agrupar huellas y series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02 · DQLSFP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versión de producto · discriminador único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trazabilidad y reproceso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26F29206-9782-4BEC-86AB-8BD496B9AC0B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668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350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G01 · M03 · C02 y otros códigos de campaña/ciclo deben confirmarse en el XML y el catálogo; no se infieren sólo por posición.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3C7D4C-8413-49D8-894E-F42AA0A702C8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170/179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0AAF6C-5088-4D0A-961F-BDBF0AE8F4E0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Fuente: ESA MAAP, ficha oficial del producto Biomass Level 1B mostrado.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555756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81A8039B-079D-4BDE-982E-546FBA37543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Abra el XML raíz para reconstruir el producto en SNAP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C7E9BA-BEA9-4D71-AC43-60EB1436DFA3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4572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6B2F7E7-BDC6-424E-8306-FBC3BD88F7F3}"/>
              </a:ext>
            </a:extLst>
          </p:cNvPr>
          <p:cNvSpPr>
            <a:spLocks noGrp="1"/>
          </p:cNvSpPr>
          <p:nvPr/>
        </p:nvSpPr>
        <p:spPr>
          <a:xfrm>
            <a:off x="1095375" y="1466850"/>
            <a:ext cx="452437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Extraiga el ZIP sin cambiar carpetas ni nombres.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6EB2D4A-8034-4180-BBC0-55A46A35DB8D}"/>
              </a:ext>
            </a:extLst>
          </p:cNvPr>
          <p:cNvSpPr>
            <a:spLocks noGrp="1"/>
          </p:cNvSpPr>
          <p:nvPr/>
        </p:nvSpPr>
        <p:spPr>
          <a:xfrm>
            <a:off x="495300" y="2333625"/>
            <a:ext cx="4572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B36C5A-9EA2-431C-AC0C-07D5C5AC37F1}"/>
              </a:ext>
            </a:extLst>
          </p:cNvPr>
          <p:cNvSpPr>
            <a:spLocks noGrp="1"/>
          </p:cNvSpPr>
          <p:nvPr/>
        </p:nvSpPr>
        <p:spPr>
          <a:xfrm>
            <a:off x="1095375" y="2371725"/>
            <a:ext cx="4524375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File › Open Product y seleccione &lt;ID&gt;.xml en la raíz.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933A63-D1F3-4077-80FC-C6FDA6DD4A6C}"/>
              </a:ext>
            </a:extLst>
          </p:cNvPr>
          <p:cNvSpPr>
            <a:spLocks noGrp="1"/>
          </p:cNvSpPr>
          <p:nvPr/>
        </p:nvSpPr>
        <p:spPr>
          <a:xfrm>
            <a:off x="495300" y="3381375"/>
            <a:ext cx="4572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1FDF80-576D-4D2A-8AA6-A51419D769AD}"/>
              </a:ext>
            </a:extLst>
          </p:cNvPr>
          <p:cNvSpPr>
            <a:spLocks noGrp="1"/>
          </p:cNvSpPr>
          <p:nvPr/>
        </p:nvSpPr>
        <p:spPr>
          <a:xfrm>
            <a:off x="1095375" y="3419475"/>
            <a:ext cx="4524375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Espere la lectura de LUT, órbita, actitud, anotaciones y mediciones.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A5D597-7689-47F2-A249-D57449F2507E}"/>
              </a:ext>
            </a:extLst>
          </p:cNvPr>
          <p:cNvSpPr>
            <a:spLocks noGrp="1"/>
          </p:cNvSpPr>
          <p:nvPr/>
        </p:nvSpPr>
        <p:spPr>
          <a:xfrm>
            <a:off x="495300" y="4429125"/>
            <a:ext cx="4572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3242FD4-1E46-472F-9B75-88269784C6E1}"/>
              </a:ext>
            </a:extLst>
          </p:cNvPr>
          <p:cNvSpPr>
            <a:spLocks noGrp="1"/>
          </p:cNvSpPr>
          <p:nvPr/>
        </p:nvSpPr>
        <p:spPr>
          <a:xfrm>
            <a:off x="1095375" y="4467225"/>
            <a:ext cx="4524375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Revise Products › Metadata, Bands, Quicklooks y geocodificación.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8800AAA-9D18-4870-8124-57FAC15BD67B}"/>
              </a:ext>
            </a:extLst>
          </p:cNvPr>
          <p:cNvSpPr>
            <a:spLocks noGrp="1"/>
          </p:cNvSpPr>
          <p:nvPr/>
        </p:nvSpPr>
        <p:spPr>
          <a:xfrm>
            <a:off x="400050" y="5381625"/>
            <a:ext cx="5286375" cy="666750"/>
          </a:xfrm>
          <a:prstGeom prst="rect">
            <a:avLst/>
          </a:prstGeom>
          <a:solidFill>
            <a:srgbClr val="FFF1E8"/>
          </a:solidFill>
          <a:ln w="0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9C231A3-C801-41A2-BB59-695E2048A419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4762500" cy="333375"/>
          </a:xfrm>
          <a:prstGeom prst="rect">
            <a:avLst/>
          </a:prstGeom>
        </p:spPr>
        <p:txBody>
          <a:bodyPr wrap="square" lIns="0" tIns="0" rIns="0" bIns="0" anchor="t">
            <a:normAutofit fontScale="85992"/>
          </a:bodyPr>
          <a:lstStyle/>
          <a:p>
            <a:pPr algn="ctr">
              <a:lnSpc>
                <a:spcPct val="100000"/>
              </a:lnSpc>
              <a:defRPr sz="1425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No abra solamente el TIFF: perderá contexto, LUT y navegación.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32ABDC7-EEE2-4B59-98CE-8E7B75DC6BFC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171/179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AEC4525-11F1-4A8F-9E4E-6D4EB7805DFC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Captura: tutorial oficial STEP SAR Basics. En Biomass, seleccione el XML raíz del producto.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64861" y="1666875"/>
            <a:ext cx="5729654" cy="3238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1730280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3CF3BF3-116F-4028-ABCD-4CB41CCCF6C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El XML enlaza el producto; no abra TIFF independientes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85A299-542E-4FF1-91B4-5CB302E309E4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4476750" cy="44767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4EC11D-2821-4512-B869-6E0EEA5E348F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905250" cy="3905250"/>
          </a:xfrm>
          <a:prstGeom prst="rect">
            <a:avLst/>
          </a:prstGeom>
        </p:spPr>
        <p:txBody>
          <a:bodyPr wrap="square" lIns="0" tIns="0" rIns="0" bIns="0" anchor="t">
            <a:normAutofit fontScale="77500" lnSpcReduction="20000"/>
          </a:bodyPr>
          <a:lstStyle/>
          <a:p>
            <a:pPr algn="just">
              <a:lnSpc>
                <a:spcPct val="150000"/>
              </a:lnSpc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&lt;ID&gt;/
├─ &lt;ID&gt;.xml
├─ measurement/
│  ├─ *_i_abs.tiff   [DGM]
│  ├─ *_i_phase.tiff [SCS]
│  └─ *.</a:t>
            </a:r>
            <a:r>
              <a:rPr dirty="0" err="1">
                <a:latin typeface="Arial"/>
              </a:rPr>
              <a:t>vrt</a:t>
            </a:r>
            <a:r>
              <a:rPr dirty="0">
                <a:latin typeface="Arial"/>
              </a:rPr>
              <a:t>
├─ annotation/
│  ├─ *_annot.xml
│  └─ *_lut.nc
├─ annotation/navigation/
│  ├─ *_orb.xml
│  └─ *_att.xml
├─ public/ *_ql*.</a:t>
            </a:r>
            <a:r>
              <a:rPr dirty="0" err="1">
                <a:latin typeface="Arial"/>
              </a:rPr>
              <a:t>png|jpg</a:t>
            </a:r>
            <a:r>
              <a:rPr dirty="0">
                <a:latin typeface="Arial"/>
              </a:rPr>
              <a:t>
└─ schema/ *.</a:t>
            </a:r>
            <a:r>
              <a:rPr dirty="0" err="1">
                <a:latin typeface="Arial"/>
              </a:rPr>
              <a:t>xsd</a:t>
            </a:r>
            <a:endParaRPr dirty="0"/>
          </a:p>
        </p:txBody>
      </p:sp>
      <p:graphicFrame>
        <p:nvGraphicFramePr>
          <p:cNvPr id="11" name="package-roles"/>
          <p:cNvGraphicFramePr/>
          <p:nvPr/>
        </p:nvGraphicFramePr>
        <p:xfrm>
          <a:off x="5257800" y="1476375"/>
          <a:ext cx="6543675" cy="3714753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Sufijo / carpeta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Función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&lt;ID&gt;.xml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descriptor maestro: abrir éste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muestras raster o VRT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*_annot.xml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geometría y parámetros SAR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*_lut.nc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tablas de calibración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*_orb / *_att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órbita y actitud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*_ql ·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vista rápida · validación 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EEA3BBB7-013D-4758-ADBE-2D01EC8F6069}"/>
              </a:ext>
            </a:extLst>
          </p:cNvPr>
          <p:cNvSpPr>
            <a:spLocks noGrp="1"/>
          </p:cNvSpPr>
          <p:nvPr/>
        </p:nvSpPr>
        <p:spPr>
          <a:xfrm>
            <a:off x="5476875" y="5429250"/>
            <a:ext cx="604837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El contenido exacto cambia entre SCS, DGM y versiones; el XML conserva las referencias válidas.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AAB07E-521C-4785-97B6-6E79C7990A00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172/179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4FD895-4A4F-490A-819B-B665AE130D58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Fuente: ESA MAAP, activos publicados para productos Biomass SCS y DGM.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130272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A949B1CA-9AC3-4066-AFC3-9EFAB26EAEE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La primera decisión es preservar o descartar la fase</a:t>
            </a:r>
          </a:p>
        </p:txBody>
      </p:sp>
      <p:cxnSp>
        <p:nvCxnSpPr>
          <p:cNvPr id="16" name="Conector recto de flecha 15"/>
          <p:cNvCxnSpPr/>
          <p:nvPr/>
        </p:nvCxnSpPr>
        <p:spPr>
          <a:xfrm>
            <a:off x="5619750" y="2381250"/>
            <a:ext cx="9525" cy="10287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cxnSp>
        <p:nvCxnSpPr>
          <p:cNvPr id="17" name="Conector recto de flecha 16"/>
          <p:cNvCxnSpPr/>
          <p:nvPr/>
        </p:nvCxnSpPr>
        <p:spPr>
          <a:xfrm>
            <a:off x="3095625" y="3409950"/>
            <a:ext cx="5048250" cy="9525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4A9C288E-4189-431C-BE54-DF4B725061C8}"/>
              </a:ext>
            </a:extLst>
          </p:cNvPr>
          <p:cNvSpPr>
            <a:spLocks noGrp="1"/>
          </p:cNvSpPr>
          <p:nvPr/>
        </p:nvSpPr>
        <p:spPr>
          <a:xfrm>
            <a:off x="3905250" y="1381125"/>
            <a:ext cx="3476625" cy="10001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9A6F3D-0AD3-4DD4-85A6-19853E2BF7A3}"/>
              </a:ext>
            </a:extLst>
          </p:cNvPr>
          <p:cNvSpPr>
            <a:spLocks noGrp="1"/>
          </p:cNvSpPr>
          <p:nvPr/>
        </p:nvSpPr>
        <p:spPr>
          <a:xfrm>
            <a:off x="4238625" y="1666875"/>
            <a:ext cx="2809875" cy="523875"/>
          </a:xfrm>
          <a:prstGeom prst="rect">
            <a:avLst/>
          </a:prstGeom>
        </p:spPr>
        <p:txBody>
          <a:bodyPr wrap="square" lIns="0" tIns="0" rIns="0" bIns="0" anchor="t">
            <a:normAutofit fontScale="86767"/>
          </a:bodyPr>
          <a:lstStyle/>
          <a:p>
            <a:pPr algn="ctr">
              <a:lnSpc>
                <a:spcPct val="100000"/>
              </a:lnSpc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¿El producto contiene canales complejos I/Q o amplitud/fase?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4889F8-F879-4DEE-B2EA-AC5CB825CB24}"/>
              </a:ext>
            </a:extLst>
          </p:cNvPr>
          <p:cNvSpPr>
            <a:spLocks noGrp="1"/>
          </p:cNvSpPr>
          <p:nvPr/>
        </p:nvSpPr>
        <p:spPr>
          <a:xfrm>
            <a:off x="400050" y="3571875"/>
            <a:ext cx="4762500" cy="19526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4095BF9-E2A8-4DE6-B698-32AEAEB897A0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40957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NO · DGM / detectado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AE4AFC-4E89-4DC7-9623-FFCF0D12A459}"/>
              </a:ext>
            </a:extLst>
          </p:cNvPr>
          <p:cNvSpPr>
            <a:spLocks noGrp="1"/>
          </p:cNvSpPr>
          <p:nvPr/>
        </p:nvSpPr>
        <p:spPr>
          <a:xfrm>
            <a:off x="714375" y="4476750"/>
            <a:ext cx="4000500" cy="809625"/>
          </a:xfrm>
          <a:prstGeom prst="rect">
            <a:avLst/>
          </a:prstGeom>
        </p:spPr>
        <p:txBody>
          <a:bodyPr wrap="square" lIns="0" tIns="0" rIns="0" bIns="0" anchor="t">
            <a:normAutofit fontScale="96045"/>
          </a:bodyPr>
          <a:lstStyle/>
          <a:p>
            <a:pPr algn="just">
              <a:lnSpc>
                <a:spcPct val="100000"/>
              </a:lnSpc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Retrodispersión, texturas y modelos empíricos.
Speckle convencional; salida Sigma0/Gamma0.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37D204-F10B-4E43-8F00-61080A4ABE92}"/>
              </a:ext>
            </a:extLst>
          </p:cNvPr>
          <p:cNvSpPr>
            <a:spLocks noGrp="1"/>
          </p:cNvSpPr>
          <p:nvPr/>
        </p:nvSpPr>
        <p:spPr>
          <a:xfrm>
            <a:off x="6648450" y="3571875"/>
            <a:ext cx="4762500" cy="195262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1677D7A-538C-48F6-B36C-D9336C219C6E}"/>
              </a:ext>
            </a:extLst>
          </p:cNvPr>
          <p:cNvSpPr>
            <a:spLocks noGrp="1"/>
          </p:cNvSpPr>
          <p:nvPr/>
        </p:nvSpPr>
        <p:spPr>
          <a:xfrm>
            <a:off x="6953250" y="3857625"/>
            <a:ext cx="4143375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SÍ · SCS / complejo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CA3815-F334-40C1-89F0-C0AD0EE40894}"/>
              </a:ext>
            </a:extLst>
          </p:cNvPr>
          <p:cNvSpPr>
            <a:spLocks noGrp="1"/>
          </p:cNvSpPr>
          <p:nvPr/>
        </p:nvSpPr>
        <p:spPr>
          <a:xfrm>
            <a:off x="6953250" y="4476750"/>
            <a:ext cx="4000500" cy="809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Pauli, C3/T3, H/A/α y descomposiciones.
Mantener salida compleja hasta terminar PolSAR.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A27B8FC-37D6-405F-A7F8-B3A51FCF32D6}"/>
              </a:ext>
            </a:extLst>
          </p:cNvPr>
          <p:cNvSpPr>
            <a:spLocks noGrp="1"/>
          </p:cNvSpPr>
          <p:nvPr/>
        </p:nvSpPr>
        <p:spPr>
          <a:xfrm>
            <a:off x="1714500" y="5810250"/>
            <a:ext cx="8763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Compruébelo en Metadata y Bands; el nombre orienta, pero los metadatos deciden.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A552926-818E-4D5F-B0FA-94CEF46241B6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173/179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25F5C-B99F-4BD2-882B-EA2BFAE8B6FD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Criterio docente basado en la estructura L1A SCS y L1B DGM de ESA Biomass.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753562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2F50C2BD-0A50-4B58-973E-58576EA19B5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 fontScale="95960" lnSpcReduction="10000"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La cadena DGM termina en dB; los cálculos físicos permanecen en lineal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CD64BE6-359A-4A2C-B7FF-266BD8629744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47625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  Subset espacial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74757-4506-4309-9EFC-AA7D0694FF28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4476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reduzca I/O sin cortar archivos del paquete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EDCF6D-69DB-4E57-8CA2-4A352B96A590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47625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2  Calibración condicional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4837F7D-F160-4B13-9A36-E6D9405EFA3E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4476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35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Radar › Radiometric › Calibrate; revise LUT y evite repetirla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65F678-E2D1-4199-AAE1-2E254A86AE8D}"/>
              </a:ext>
            </a:extLst>
          </p:cNvPr>
          <p:cNvSpPr>
            <a:spLocks noGrp="1"/>
          </p:cNvSpPr>
          <p:nvPr/>
        </p:nvSpPr>
        <p:spPr>
          <a:xfrm>
            <a:off x="400050" y="3095625"/>
            <a:ext cx="47625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3  Speckle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7DC79F0-326B-4ABB-80D5-93BCFF293360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4476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35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Refined Lee como punto de partida; documente ventana y ENL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BC52CA-2620-4AC4-840C-CBB93EE89B4A}"/>
              </a:ext>
            </a:extLst>
          </p:cNvPr>
          <p:cNvSpPr>
            <a:spLocks noGrp="1"/>
          </p:cNvSpPr>
          <p:nvPr/>
        </p:nvSpPr>
        <p:spPr>
          <a:xfrm>
            <a:off x="400050" y="4048125"/>
            <a:ext cx="50482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4  Terrain Flattening + Range-Doppler TC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25A2F65-06C7-4647-B7B6-6692BBBACCF0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4476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35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DEM, proyección, píxel y máscaras de layover/sombra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90343F1-C32B-4F01-86BF-9AA0784362AC}"/>
              </a:ext>
            </a:extLst>
          </p:cNvPr>
          <p:cNvSpPr>
            <a:spLocks noGrp="1"/>
          </p:cNvSpPr>
          <p:nvPr/>
        </p:nvSpPr>
        <p:spPr>
          <a:xfrm>
            <a:off x="400050" y="5000625"/>
            <a:ext cx="47625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5  Linear to dB + exportación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1ED5CDB-D4C2-4B7D-B25E-8DE09A09052B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4476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00000"/>
              </a:lnSpc>
              <a:defRPr sz="135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GeoTIFF/BEAM-DIMAP; conserve también el producto lineal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2F9BE13-4090-43EC-8316-7CB034B29D94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i="1" dirty="0" err="1">
                <a:solidFill>
                  <a:srgbClr val="0070C0"/>
                </a:solidFill>
                <a:latin typeface="Arial"/>
              </a:rPr>
              <a:t>Captura</a:t>
            </a:r>
            <a:r>
              <a:rPr sz="1400" i="1" dirty="0">
                <a:solidFill>
                  <a:srgbClr val="0070C0"/>
                </a:solidFill>
                <a:latin typeface="Arial"/>
              </a:rPr>
              <a:t>: </a:t>
            </a:r>
            <a:r>
              <a:rPr sz="1400" dirty="0">
                <a:solidFill>
                  <a:srgbClr val="0070C0"/>
                </a:solidFill>
                <a:latin typeface="Arial"/>
              </a:rPr>
              <a:t>tutorial </a:t>
            </a:r>
            <a:r>
              <a:rPr sz="1400" dirty="0" err="1">
                <a:solidFill>
                  <a:srgbClr val="0070C0"/>
                </a:solidFill>
                <a:latin typeface="Arial"/>
              </a:rPr>
              <a:t>oficial</a:t>
            </a:r>
            <a:r>
              <a:rPr sz="1400" dirty="0">
                <a:solidFill>
                  <a:srgbClr val="0070C0"/>
                </a:solidFill>
                <a:latin typeface="Arial"/>
              </a:rPr>
              <a:t> STEP SAR Basics; </a:t>
            </a:r>
            <a:r>
              <a:rPr sz="1400" dirty="0" err="1">
                <a:solidFill>
                  <a:srgbClr val="0070C0"/>
                </a:solidFill>
                <a:latin typeface="Arial"/>
              </a:rPr>
              <a:t>parámetros</a:t>
            </a:r>
            <a:r>
              <a:rPr sz="1400" dirty="0">
                <a:solidFill>
                  <a:srgbClr val="0070C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70C0"/>
                </a:solidFill>
                <a:latin typeface="Arial"/>
              </a:rPr>
              <a:t>deben</a:t>
            </a:r>
            <a:r>
              <a:rPr sz="1400" dirty="0">
                <a:solidFill>
                  <a:srgbClr val="0070C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70C0"/>
                </a:solidFill>
                <a:latin typeface="Arial"/>
              </a:rPr>
              <a:t>validarse</a:t>
            </a:r>
            <a:r>
              <a:rPr sz="1400" dirty="0">
                <a:solidFill>
                  <a:srgbClr val="0070C0"/>
                </a:solidFill>
                <a:latin typeface="Arial"/>
              </a:rPr>
              <a:t> para el </a:t>
            </a:r>
            <a:r>
              <a:rPr sz="1400" dirty="0" err="1">
                <a:solidFill>
                  <a:srgbClr val="0070C0"/>
                </a:solidFill>
                <a:latin typeface="Arial"/>
              </a:rPr>
              <a:t>producto</a:t>
            </a:r>
            <a:r>
              <a:rPr sz="1400" dirty="0">
                <a:solidFill>
                  <a:srgbClr val="0070C0"/>
                </a:solidFill>
                <a:latin typeface="Arial"/>
              </a:rPr>
              <a:t> Biomass </a:t>
            </a:r>
            <a:r>
              <a:rPr sz="1400" dirty="0" err="1">
                <a:solidFill>
                  <a:srgbClr val="0070C0"/>
                </a:solidFill>
                <a:latin typeface="Arial"/>
              </a:rPr>
              <a:t>abierto</a:t>
            </a:r>
            <a:r>
              <a:rPr sz="1400" dirty="0">
                <a:solidFill>
                  <a:srgbClr val="0070C0"/>
                </a:solidFill>
                <a:latin typeface="Arial"/>
              </a:rPr>
              <a:t>.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62550" y="1511427"/>
            <a:ext cx="6799421" cy="365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97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5E3215A-ABBC-4266-A8BD-09DF14E2786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 fontScale="95632"/>
          </a:bodyPr>
          <a:lstStyle/>
          <a:p>
            <a:pPr algn="just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400" dirty="0" err="1">
                <a:latin typeface="Arial"/>
              </a:rPr>
              <a:t>Convertir</a:t>
            </a:r>
            <a:r>
              <a:rPr sz="2400" dirty="0">
                <a:latin typeface="Arial"/>
              </a:rPr>
              <a:t> a dB es </a:t>
            </a:r>
            <a:r>
              <a:rPr sz="2400" dirty="0" err="1">
                <a:latin typeface="Arial"/>
              </a:rPr>
              <a:t>una</a:t>
            </a:r>
            <a:r>
              <a:rPr sz="2400" dirty="0">
                <a:latin typeface="Arial"/>
              </a:rPr>
              <a:t> </a:t>
            </a:r>
            <a:r>
              <a:rPr sz="2400" dirty="0" err="1">
                <a:latin typeface="Arial"/>
              </a:rPr>
              <a:t>transformación</a:t>
            </a:r>
            <a:r>
              <a:rPr sz="2400" dirty="0">
                <a:latin typeface="Arial"/>
              </a:rPr>
              <a:t> de </a:t>
            </a:r>
            <a:r>
              <a:rPr sz="2400" dirty="0" err="1">
                <a:latin typeface="Arial"/>
              </a:rPr>
              <a:t>escala</a:t>
            </a:r>
            <a:r>
              <a:rPr sz="2400" dirty="0">
                <a:latin typeface="Arial"/>
              </a:rPr>
              <a:t>, no </a:t>
            </a:r>
            <a:r>
              <a:rPr sz="2400" dirty="0" err="1">
                <a:latin typeface="Arial"/>
              </a:rPr>
              <a:t>una</a:t>
            </a:r>
            <a:r>
              <a:rPr sz="2400" dirty="0">
                <a:latin typeface="Arial"/>
              </a:rPr>
              <a:t> </a:t>
            </a:r>
            <a:r>
              <a:rPr sz="2400" dirty="0" err="1">
                <a:latin typeface="Arial"/>
              </a:rPr>
              <a:t>calibración</a:t>
            </a:r>
            <a:endParaRPr sz="2400" dirty="0">
              <a:latin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6DE6BC-062C-4D89-B13D-BCC03E2D7D8E}"/>
              </a:ext>
            </a:extLst>
          </p:cNvPr>
          <p:cNvSpPr>
            <a:spLocks noGrp="1"/>
          </p:cNvSpPr>
          <p:nvPr/>
        </p:nvSpPr>
        <p:spPr>
          <a:xfrm>
            <a:off x="1428750" y="1398933"/>
            <a:ext cx="93345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000" b="1" i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Potencia:  dB = 10 log₁₀(x)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B3C01F-0754-4F43-B48C-B6C272711D39}"/>
              </a:ext>
            </a:extLst>
          </p:cNvPr>
          <p:cNvSpPr>
            <a:spLocks noGrp="1"/>
          </p:cNvSpPr>
          <p:nvPr/>
        </p:nvSpPr>
        <p:spPr>
          <a:xfrm>
            <a:off x="2278543" y="2204418"/>
            <a:ext cx="3528000" cy="2667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EED864-17FC-49FD-A599-8B993D8631FC}"/>
              </a:ext>
            </a:extLst>
          </p:cNvPr>
          <p:cNvSpPr>
            <a:spLocks noGrp="1"/>
          </p:cNvSpPr>
          <p:nvPr/>
        </p:nvSpPr>
        <p:spPr>
          <a:xfrm>
            <a:off x="2592868" y="2537793"/>
            <a:ext cx="4619625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Mantener en lineal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4376FE-5145-4140-955D-9148D5753044}"/>
              </a:ext>
            </a:extLst>
          </p:cNvPr>
          <p:cNvSpPr>
            <a:spLocks noGrp="1"/>
          </p:cNvSpPr>
          <p:nvPr/>
        </p:nvSpPr>
        <p:spPr>
          <a:xfrm>
            <a:off x="2640493" y="3156918"/>
            <a:ext cx="4476750" cy="1428750"/>
          </a:xfrm>
          <a:prstGeom prst="rect">
            <a:avLst/>
          </a:prstGeom>
        </p:spPr>
        <p:txBody>
          <a:bodyPr wrap="square" lIns="0" tIns="0" rIns="0" bIns="0" anchor="t">
            <a:normAutofit fontScale="85000" lnSpcReduction="20000"/>
          </a:bodyPr>
          <a:lstStyle/>
          <a:p>
            <a:pPr marL="228600" indent="-228600" algn="just">
              <a:lnSpc>
                <a:spcPct val="150000"/>
              </a:lnSpc>
              <a:buFont typeface="Wingdings" pitchFamily="2" charset="2"/>
              <a:buChar char="ü"/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speckle y multilook
• RVI y razones polarimétricas
• promedios de potencia
• agregación por parcela o píxel
• entradas que exigen C3/T3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49D6804-3121-4541-8E92-65201F9CC688}"/>
              </a:ext>
            </a:extLst>
          </p:cNvPr>
          <p:cNvSpPr>
            <a:spLocks noGrp="1"/>
          </p:cNvSpPr>
          <p:nvPr/>
        </p:nvSpPr>
        <p:spPr>
          <a:xfrm>
            <a:off x="6063283" y="2204418"/>
            <a:ext cx="3528000" cy="26670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7FECA1-0A16-4375-AF06-4BA0133F4E34}"/>
              </a:ext>
            </a:extLst>
          </p:cNvPr>
          <p:cNvSpPr>
            <a:spLocks noGrp="1"/>
          </p:cNvSpPr>
          <p:nvPr/>
        </p:nvSpPr>
        <p:spPr>
          <a:xfrm>
            <a:off x="6377608" y="2537793"/>
            <a:ext cx="4619625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Usar dB después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0123BB3-B109-45E4-8BCF-CD1DEF2AFD8A}"/>
              </a:ext>
            </a:extLst>
          </p:cNvPr>
          <p:cNvSpPr>
            <a:spLocks noGrp="1"/>
          </p:cNvSpPr>
          <p:nvPr/>
        </p:nvSpPr>
        <p:spPr>
          <a:xfrm>
            <a:off x="6425233" y="3156918"/>
            <a:ext cx="4476750" cy="1428750"/>
          </a:xfrm>
          <a:prstGeom prst="rect">
            <a:avLst/>
          </a:prstGeom>
        </p:spPr>
        <p:txBody>
          <a:bodyPr wrap="square" lIns="0" tIns="0" rIns="0" bIns="0" anchor="t">
            <a:normAutofit fontScale="85000" lnSpcReduction="20000"/>
          </a:bodyPr>
          <a:lstStyle/>
          <a:p>
            <a:pPr marL="228600" indent="-228600" algn="just">
              <a:lnSpc>
                <a:spcPct val="150000"/>
              </a:lnSpc>
              <a:buFont typeface="Wingdings" pitchFamily="2" charset="2"/>
              <a:buChar char="ü"/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visualización e histogramas
• umbrales expresados en dB
• modelos log-lineales declarados
• comparación de rangos dinámicos
• mapas finales de retrodispersión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41C4B92-57D5-499C-91A5-1F8CEF21F116}"/>
              </a:ext>
            </a:extLst>
          </p:cNvPr>
          <p:cNvSpPr>
            <a:spLocks noGrp="1"/>
          </p:cNvSpPr>
          <p:nvPr/>
        </p:nvSpPr>
        <p:spPr>
          <a:xfrm>
            <a:off x="1619250" y="5123210"/>
            <a:ext cx="8572500" cy="619125"/>
          </a:xfrm>
          <a:prstGeom prst="rect">
            <a:avLst/>
          </a:prstGeom>
          <a:solidFill>
            <a:srgbClr val="FFF1E8"/>
          </a:solidFill>
          <a:ln w="0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1233C9-A917-4007-882D-302F87914C87}"/>
              </a:ext>
            </a:extLst>
          </p:cNvPr>
          <p:cNvSpPr>
            <a:spLocks noGrp="1"/>
          </p:cNvSpPr>
          <p:nvPr/>
        </p:nvSpPr>
        <p:spPr>
          <a:xfrm>
            <a:off x="1952625" y="5313710"/>
            <a:ext cx="7905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defRPr sz="1575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</a:rPr>
              <a:t>No </a:t>
            </a:r>
            <a:r>
              <a:rPr dirty="0" err="1">
                <a:latin typeface="Arial"/>
              </a:rPr>
              <a:t>calcule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índices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ni</a:t>
            </a:r>
            <a:r>
              <a:rPr dirty="0">
                <a:latin typeface="Arial"/>
              </a:rPr>
              <a:t> medias </a:t>
            </a:r>
            <a:r>
              <a:rPr dirty="0" err="1">
                <a:latin typeface="Arial"/>
              </a:rPr>
              <a:t>físicas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directamente</a:t>
            </a:r>
            <a:r>
              <a:rPr dirty="0">
                <a:latin typeface="Arial"/>
              </a:rPr>
              <a:t> con </a:t>
            </a:r>
            <a:r>
              <a:rPr dirty="0" err="1">
                <a:latin typeface="Arial"/>
              </a:rPr>
              <a:t>bandas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dB.</a:t>
            </a:r>
            <a:endParaRPr dirty="0">
              <a:latin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317B210-4CD0-4461-AC2D-EA738446D4A4}"/>
              </a:ext>
            </a:extLst>
          </p:cNvPr>
          <p:cNvSpPr>
            <a:spLocks noGrp="1"/>
          </p:cNvSpPr>
          <p:nvPr/>
        </p:nvSpPr>
        <p:spPr>
          <a:xfrm>
            <a:off x="400050" y="6076538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i="1" dirty="0">
                <a:latin typeface="Arial"/>
              </a:rPr>
              <a:t>Fuente: </a:t>
            </a:r>
            <a:r>
              <a:rPr sz="1400" dirty="0">
                <a:latin typeface="Arial"/>
              </a:rPr>
              <a:t>tutorial </a:t>
            </a:r>
            <a:r>
              <a:rPr sz="1400" dirty="0" err="1">
                <a:latin typeface="Arial"/>
              </a:rPr>
              <a:t>oficial</a:t>
            </a:r>
            <a:r>
              <a:rPr sz="1400" dirty="0">
                <a:latin typeface="Arial"/>
              </a:rPr>
              <a:t> STEP SAR Basics, </a:t>
            </a:r>
            <a:r>
              <a:rPr sz="1400" dirty="0" err="1">
                <a:latin typeface="Arial"/>
              </a:rPr>
              <a:t>conversión</a:t>
            </a:r>
            <a:r>
              <a:rPr sz="1400" dirty="0">
                <a:latin typeface="Arial"/>
              </a:rPr>
              <a:t> Linear to/from </a:t>
            </a:r>
            <a:r>
              <a:rPr sz="1400" dirty="0" err="1">
                <a:latin typeface="Arial"/>
              </a:rPr>
              <a:t>dB.</a:t>
            </a:r>
            <a:endParaRPr sz="14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184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78FB43C2-1780-4244-9239-0C67761EBC4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La corrección de terreno fija la geometría del análisis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9A0303-D85F-4B69-B23A-01BB66C5C800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5334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Radar › Geometric › Range-Doppler Terrain Correction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00CC838-FF43-46CF-8EAE-FA3FF70EF363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4762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Controles mínimos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FB31D1-0609-4273-8505-2365B5D931BA}"/>
              </a:ext>
            </a:extLst>
          </p:cNvPr>
          <p:cNvSpPr>
            <a:spLocks noGrp="1"/>
          </p:cNvSpPr>
          <p:nvPr/>
        </p:nvSpPr>
        <p:spPr>
          <a:xfrm>
            <a:off x="400050" y="2524125"/>
            <a:ext cx="4953000" cy="219075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marL="228600" indent="-228600" algn="just">
              <a:lnSpc>
                <a:spcPct val="150000"/>
              </a:lnSpc>
              <a:buFont typeface="Wingdings" pitchFamily="2" charset="2"/>
              <a:buChar char="ü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DEM adecuado al relieve y cobertura
• CRS proyectado coherente con parcelas
• píxel no menor que la resolución efectiva
• método de remuestreo documentado
• ángulo local y máscaras como QA
• Align to grid para series comparables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00A7CA2-EC49-4CF3-B40A-E90036A14487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5000625" cy="809625"/>
          </a:xfrm>
          <a:prstGeom prst="rect">
            <a:avLst/>
          </a:prstGeom>
          <a:solidFill>
            <a:srgbClr val="FFF1E8"/>
          </a:solidFill>
          <a:ln w="0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D497314-71EF-4A61-8122-D7A2EC1908A5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4476750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defRPr sz="1425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Terrain Correction geocodifica; Terrain Flattening reduce el sesgo radiométrico por pendiente.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696533E-6250-44FC-BFCC-741D084EC9FA}"/>
              </a:ext>
            </a:extLst>
          </p:cNvPr>
          <p:cNvSpPr>
            <a:spLocks noGrp="1"/>
          </p:cNvSpPr>
          <p:nvPr/>
        </p:nvSpPr>
        <p:spPr>
          <a:xfrm>
            <a:off x="542925" y="599122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dirty="0" err="1">
                <a:latin typeface="Arial"/>
              </a:rPr>
              <a:t>Captura</a:t>
            </a:r>
            <a:r>
              <a:rPr sz="1400" dirty="0">
                <a:latin typeface="Arial"/>
              </a:rPr>
              <a:t> y </a:t>
            </a:r>
            <a:r>
              <a:rPr sz="1400" dirty="0" err="1">
                <a:latin typeface="Arial"/>
              </a:rPr>
              <a:t>conceptos</a:t>
            </a:r>
            <a:r>
              <a:rPr sz="1400" dirty="0">
                <a:latin typeface="Arial"/>
              </a:rPr>
              <a:t>: tutorial </a:t>
            </a:r>
            <a:r>
              <a:rPr sz="1400" dirty="0" err="1">
                <a:latin typeface="Arial"/>
              </a:rPr>
              <a:t>oficial</a:t>
            </a:r>
            <a:r>
              <a:rPr sz="1400" dirty="0">
                <a:latin typeface="Arial"/>
              </a:rPr>
              <a:t> STEP SAR Basics.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75083" y="939926"/>
            <a:ext cx="4498326" cy="562290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50272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E349CAC3-14E6-47F1-A94D-51B3A4F3715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PolSAR conserva coherencia hasta la descomposición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4EB6E7-346A-43FF-B5D2-A6D827D2E957}"/>
              </a:ext>
            </a:extLst>
          </p:cNvPr>
          <p:cNvSpPr>
            <a:spLocks noGrp="1"/>
          </p:cNvSpPr>
          <p:nvPr/>
        </p:nvSpPr>
        <p:spPr>
          <a:xfrm>
            <a:off x="400050" y="1285875"/>
            <a:ext cx="49530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Cadena SCS recomendada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948B10E-0999-400A-8234-1BEE330FB9FF}"/>
              </a:ext>
            </a:extLst>
          </p:cNvPr>
          <p:cNvSpPr>
            <a:spLocks noGrp="1"/>
          </p:cNvSpPr>
          <p:nvPr/>
        </p:nvSpPr>
        <p:spPr>
          <a:xfrm>
            <a:off x="400050" y="1905000"/>
            <a:ext cx="5000625" cy="3190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just">
              <a:lnSpc>
                <a:spcPct val="150000"/>
              </a:lnSpc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  XML raíz + control HH/HV/VH/VV
2  subset y calibración con salida compleja*
3  multilook coherente según escala objetivo
4  Polarimetric Matrix Generation: C3 o T3
5  Polarimetric Speckle Filter
6  orientación de pendiente si corresponde
7  descomposición / parámetros
8  geocodificación y exportación al final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F758D73-5DFE-4BB5-92C5-D649E1ADD898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5000625" cy="666750"/>
          </a:xfrm>
          <a:prstGeom prst="rect">
            <a:avLst/>
          </a:prstGeom>
          <a:solidFill>
            <a:srgbClr val="FFF1E8"/>
          </a:solidFill>
          <a:ln w="0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DBC75F0-8694-4AD7-A92F-1A4B6E53F48F}"/>
              </a:ext>
            </a:extLst>
          </p:cNvPr>
          <p:cNvSpPr>
            <a:spLocks noGrp="1"/>
          </p:cNvSpPr>
          <p:nvPr/>
        </p:nvSpPr>
        <p:spPr>
          <a:xfrm>
            <a:off x="666750" y="5505450"/>
            <a:ext cx="4476750" cy="381000"/>
          </a:xfrm>
          <a:prstGeom prst="rect">
            <a:avLst/>
          </a:prstGeom>
        </p:spPr>
        <p:txBody>
          <a:bodyPr wrap="square" lIns="0" tIns="0" rIns="0" bIns="0" anchor="t">
            <a:normAutofit fontScale="98039"/>
          </a:bodyPr>
          <a:lstStyle/>
          <a:p>
            <a:pPr algn="ctr">
              <a:lnSpc>
                <a:spcPct val="100000"/>
              </a:lnSpc>
              <a:defRPr sz="1275" b="1">
                <a:solidFill>
                  <a:srgbClr val="8A3B1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*Sólo si el producto requiere calibración adicional: verifique metadatos y evite doble calibración.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15CB077-4FD2-4028-AB28-1330641AE43F}"/>
              </a:ext>
            </a:extLst>
          </p:cNvPr>
          <p:cNvSpPr>
            <a:spLocks noGrp="1"/>
          </p:cNvSpPr>
          <p:nvPr/>
        </p:nvSpPr>
        <p:spPr>
          <a:xfrm>
            <a:off x="11064240" y="6305550"/>
            <a:ext cx="6858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177/179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FCCD0F-C377-4A2E-9B3B-4E312027BBD8}"/>
              </a:ext>
            </a:extLst>
          </p:cNvPr>
          <p:cNvSpPr>
            <a:spLocks noGrp="1"/>
          </p:cNvSpPr>
          <p:nvPr/>
        </p:nvSpPr>
        <p:spPr>
          <a:xfrm>
            <a:off x="400050" y="6315075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Captura y flujo base: tutorial oficial STEP Polarimetry; adaptación docente a Biomass SCS.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02331" y="1285875"/>
            <a:ext cx="3064213" cy="2000250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43517" y="3524250"/>
            <a:ext cx="4038966" cy="23336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61320" y="2743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Arial"/>
              </a:rPr>
              <a:t>Sección 4</a:t>
            </a:r>
          </a:p>
        </p:txBody>
      </p:sp>
    </p:spTree>
    <p:extLst>
      <p:ext uri="{BB962C8B-B14F-4D97-AF65-F5344CB8AC3E}">
        <p14:creationId xmlns:p14="http://schemas.microsoft.com/office/powerpoint/2010/main" val="399142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8B55AB5-22D1-4201-8971-DFC8BCC47AF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96696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Cada salida polarimétrica responde una pregunta distinta</a:t>
            </a:r>
          </a:p>
        </p:txBody>
      </p:sp>
      <p:graphicFrame>
        <p:nvGraphicFramePr>
          <p:cNvPr id="7" name="polsar-outputs"/>
          <p:cNvGraphicFramePr/>
          <p:nvPr>
            <p:extLst>
              <p:ext uri="{D42A27DB-BD31-4B8C-83A1-F6EECF244321}">
                <p14:modId xmlns:p14="http://schemas.microsoft.com/office/powerpoint/2010/main" val="1357027238"/>
              </p:ext>
            </p:extLst>
          </p:nvPr>
        </p:nvGraphicFramePr>
        <p:xfrm>
          <a:off x="400050" y="1381125"/>
          <a:ext cx="11401425" cy="4095749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pPr algn="ctr"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Qué 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latin typeface="Arial"/>
                        </a:defRPr>
                      </a:pPr>
                      <a:r>
                        <a:rPr>
                          <a:latin typeface="Arial"/>
                        </a:rPr>
                        <a:t>Lectura forestal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latin typeface="Arial"/>
                        </a:defRPr>
                      </a:pPr>
                      <a:r>
                        <a:rPr dirty="0">
                          <a:latin typeface="Arial"/>
                        </a:rPr>
                        <a:t>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>
                          <a:latin typeface="Arial"/>
                        </a:rPr>
                        <a:t>Pauli 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 err="1">
                          <a:latin typeface="Arial"/>
                        </a:rPr>
                        <a:t>mecanismos</a:t>
                      </a:r>
                      <a:r>
                        <a:rPr sz="1600" dirty="0">
                          <a:latin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</a:rPr>
                        <a:t>relativos</a:t>
                      </a:r>
                      <a:endParaRPr sz="16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suelo · doble rebote · volumen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composición, no color natural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 err="1">
                          <a:latin typeface="Arial"/>
                        </a:rPr>
                        <a:t>entropía</a:t>
                      </a:r>
                      <a:r>
                        <a:rPr sz="1600" dirty="0">
                          <a:latin typeface="Arial"/>
                        </a:rPr>
                        <a:t> 0–1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mezcla/aleatoriedad de dispersión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ventana y borde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 err="1">
                          <a:latin typeface="Arial"/>
                        </a:rPr>
                        <a:t>mecanismo</a:t>
                      </a:r>
                      <a:r>
                        <a:rPr sz="1600" dirty="0">
                          <a:latin typeface="Arial"/>
                        </a:rPr>
                        <a:t> 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superficie ↔ volumen ↔ doble rebote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interpretar junto con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 err="1">
                          <a:latin typeface="Arial"/>
                        </a:rPr>
                        <a:t>anisotropía</a:t>
                      </a:r>
                      <a:endParaRPr sz="16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separa λ₂ y λ₃ cuando H es 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inestable con bajo SNR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Ps/Pd/Pv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 err="1">
                          <a:latin typeface="Arial"/>
                        </a:rPr>
                        <a:t>potencias</a:t>
                      </a:r>
                      <a:r>
                        <a:rPr sz="1600" dirty="0">
                          <a:latin typeface="Arial"/>
                        </a:rPr>
                        <a:t> de </a:t>
                      </a:r>
                      <a:r>
                        <a:rPr sz="1600" dirty="0" err="1">
                          <a:latin typeface="Arial"/>
                        </a:rPr>
                        <a:t>modelos</a:t>
                      </a:r>
                      <a:endParaRPr sz="16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superficie · tronco/suelo · dosel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modelo no único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>
                          <a:latin typeface="Arial"/>
                        </a:rPr>
                        <a:t>Span · HV/VH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 err="1">
                          <a:latin typeface="Arial"/>
                        </a:rPr>
                        <a:t>potencia</a:t>
                      </a:r>
                      <a:r>
                        <a:rPr sz="1600" dirty="0">
                          <a:latin typeface="Arial"/>
                        </a:rPr>
                        <a:t> total · </a:t>
                      </a:r>
                      <a:r>
                        <a:rPr sz="1600" dirty="0" err="1">
                          <a:latin typeface="Arial"/>
                        </a:rPr>
                        <a:t>reciprocidad</a:t>
                      </a:r>
                      <a:endParaRPr sz="16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 err="1">
                          <a:latin typeface="Arial"/>
                        </a:rPr>
                        <a:t>energía</a:t>
                      </a:r>
                      <a:r>
                        <a:rPr sz="1600" dirty="0">
                          <a:latin typeface="Arial"/>
                        </a:rPr>
                        <a:t> · </a:t>
                      </a:r>
                      <a:r>
                        <a:rPr sz="1600" dirty="0" err="1">
                          <a:latin typeface="Arial"/>
                        </a:rPr>
                        <a:t>ruido</a:t>
                      </a:r>
                      <a:r>
                        <a:rPr sz="1600" dirty="0">
                          <a:latin typeface="Arial"/>
                        </a:rPr>
                        <a:t>/</a:t>
                      </a:r>
                      <a:r>
                        <a:rPr sz="1600" dirty="0" err="1">
                          <a:latin typeface="Arial"/>
                        </a:rPr>
                        <a:t>inconsistencia</a:t>
                      </a:r>
                      <a:endParaRPr sz="16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rPr sz="1600" dirty="0">
                          <a:latin typeface="Arial"/>
                        </a:rPr>
                        <a:t>QA antes de </a:t>
                      </a:r>
                      <a:r>
                        <a:rPr sz="1600" dirty="0" err="1">
                          <a:latin typeface="Arial"/>
                        </a:rPr>
                        <a:t>modelar</a:t>
                      </a:r>
                      <a:endParaRPr sz="16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901716B9-9FA5-429A-BBA3-3D317DABAA54}"/>
              </a:ext>
            </a:extLst>
          </p:cNvPr>
          <p:cNvSpPr>
            <a:spLocks noGrp="1"/>
          </p:cNvSpPr>
          <p:nvPr/>
        </p:nvSpPr>
        <p:spPr>
          <a:xfrm>
            <a:off x="1143000" y="5810250"/>
            <a:ext cx="9906000" cy="333375"/>
          </a:xfrm>
          <a:prstGeom prst="rect">
            <a:avLst/>
          </a:prstGeom>
        </p:spPr>
        <p:txBody>
          <a:bodyPr wrap="square" lIns="0" tIns="0" rIns="0" bIns="0" anchor="t">
            <a:normAutofit fontScale="91379"/>
          </a:bodyPr>
          <a:lstStyle/>
          <a:p>
            <a:pPr algn="ctr">
              <a:lnSpc>
                <a:spcPct val="100000"/>
              </a:lnSpc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Arial"/>
              </a:rPr>
              <a:t>Exporte valores, máscara de calidad, parámetros de ventana y geometría; no sólo una composición RGB.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7BEC25-B441-44D9-92DF-40C97BACC67B}"/>
              </a:ext>
            </a:extLst>
          </p:cNvPr>
          <p:cNvSpPr>
            <a:spLocks noGrp="1"/>
          </p:cNvSpPr>
          <p:nvPr/>
        </p:nvSpPr>
        <p:spPr>
          <a:xfrm>
            <a:off x="400050" y="6046719"/>
            <a:ext cx="10287000" cy="2095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900" b="0">
                <a:solidFill>
                  <a:srgbClr val="56616D"/>
                </a:solidFill>
                <a:latin typeface="Arial"/>
                <a:ea typeface="Arial"/>
                <a:cs typeface="Arial"/>
              </a:defRPr>
            </a:pPr>
            <a:r>
              <a:rPr sz="1400" i="1" dirty="0">
                <a:solidFill>
                  <a:srgbClr val="0070C0"/>
                </a:solidFill>
                <a:latin typeface="Arial"/>
              </a:rPr>
              <a:t>Fuente: tutorial </a:t>
            </a:r>
            <a:r>
              <a:rPr sz="1400" i="1" dirty="0" err="1">
                <a:solidFill>
                  <a:srgbClr val="0070C0"/>
                </a:solidFill>
                <a:latin typeface="Arial"/>
              </a:rPr>
              <a:t>oficial</a:t>
            </a:r>
            <a:r>
              <a:rPr sz="1400" i="1" dirty="0">
                <a:solidFill>
                  <a:srgbClr val="0070C0"/>
                </a:solidFill>
                <a:latin typeface="Arial"/>
              </a:rPr>
              <a:t> STEP Polarimetry; </a:t>
            </a:r>
            <a:r>
              <a:rPr sz="1400" i="1" dirty="0" err="1">
                <a:solidFill>
                  <a:srgbClr val="0070C0"/>
                </a:solidFill>
                <a:latin typeface="Arial"/>
              </a:rPr>
              <a:t>interpretación</a:t>
            </a:r>
            <a:r>
              <a:rPr sz="1400" i="1" dirty="0">
                <a:solidFill>
                  <a:srgbClr val="0070C0"/>
                </a:solidFill>
                <a:latin typeface="Arial"/>
              </a:rPr>
              <a:t> </a:t>
            </a:r>
            <a:r>
              <a:rPr sz="1400" i="1" dirty="0" err="1">
                <a:solidFill>
                  <a:srgbClr val="0070C0"/>
                </a:solidFill>
                <a:latin typeface="Arial"/>
              </a:rPr>
              <a:t>física</a:t>
            </a:r>
            <a:r>
              <a:rPr sz="1400" i="1" dirty="0">
                <a:solidFill>
                  <a:srgbClr val="0070C0"/>
                </a:solidFill>
                <a:latin typeface="Arial"/>
              </a:rPr>
              <a:t> general de matrices C3/T3.</a:t>
            </a:r>
          </a:p>
        </p:txBody>
      </p:sp>
    </p:spTree>
    <p:extLst>
      <p:ext uri="{BB962C8B-B14F-4D97-AF65-F5344CB8AC3E}">
        <p14:creationId xmlns:p14="http://schemas.microsoft.com/office/powerpoint/2010/main" val="1281910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2163</Words>
  <Application>Microsoft Office PowerPoint</Application>
  <DocSecurity>0</DocSecurity>
  <PresentationFormat>Panorámica</PresentationFormat>
  <Paragraphs>325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Hector Francisco del Valle</cp:lastModifiedBy>
  <cp:revision>2</cp:revision>
  <dcterms:created xsi:type="dcterms:W3CDTF">2026-07-20T20:36:34Z</dcterms:created>
  <dcterms:modified xsi:type="dcterms:W3CDTF">2026-08-16T01:53:15Z</dcterms:modified>
</cp:coreProperties>
</file>