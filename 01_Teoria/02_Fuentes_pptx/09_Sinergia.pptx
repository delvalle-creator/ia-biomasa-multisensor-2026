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76" r:id="rId2"/>
    <p:sldId id="411" r:id="rId3"/>
    <p:sldId id="357" r:id="rId4"/>
    <p:sldId id="358" r:id="rId5"/>
    <p:sldId id="406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410" r:id="rId24"/>
    <p:sldId id="409" r:id="rId25"/>
    <p:sldId id="407" r:id="rId26"/>
    <p:sldId id="408" r:id="rId27"/>
    <p:sldId id="412" r:id="rId28"/>
    <p:sldId id="414" r:id="rId29"/>
    <p:sldId id="413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386" r:id="rId41"/>
    <p:sldId id="387" r:id="rId42"/>
    <p:sldId id="388" r:id="rId43"/>
    <p:sldId id="389" r:id="rId44"/>
    <p:sldId id="390" r:id="rId45"/>
    <p:sldId id="391" r:id="rId46"/>
    <p:sldId id="392" r:id="rId47"/>
    <p:sldId id="393" r:id="rId48"/>
    <p:sldId id="394" r:id="rId49"/>
    <p:sldId id="395" r:id="rId50"/>
    <p:sldId id="396" r:id="rId51"/>
    <p:sldId id="397" r:id="rId52"/>
    <p:sldId id="398" r:id="rId53"/>
    <p:sldId id="399" r:id="rId54"/>
    <p:sldId id="400" r:id="rId55"/>
    <p:sldId id="401" r:id="rId56"/>
    <p:sldId id="402" r:id="rId57"/>
    <p:sldId id="403" r:id="rId58"/>
    <p:sldId id="404" r:id="rId59"/>
    <p:sldId id="405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9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6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3</c:v>
                </c:pt>
                <c:pt idx="5">
                  <c:v>5</c:v>
                </c:pt>
                <c:pt idx="6">
                  <c:v>10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0.62</c:v>
                </c:pt>
                <c:pt idx="1">
                  <c:v>0.6</c:v>
                </c:pt>
                <c:pt idx="2">
                  <c:v>0.12</c:v>
                </c:pt>
                <c:pt idx="3">
                  <c:v>0.22</c:v>
                </c:pt>
                <c:pt idx="4">
                  <c:v>0.35</c:v>
                </c:pt>
                <c:pt idx="5">
                  <c:v>0.45</c:v>
                </c:pt>
                <c:pt idx="6">
                  <c:v>0.56000000000000005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B4-450C-A3AD-2FAD76B6A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Años respecto del disturbio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NBR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11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NDVI mediana mensual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6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0.72</c:v>
                </c:pt>
                <c:pt idx="1">
                  <c:v>0.7</c:v>
                </c:pt>
                <c:pt idx="2">
                  <c:v>0.63</c:v>
                </c:pt>
                <c:pt idx="3">
                  <c:v>0.52</c:v>
                </c:pt>
                <c:pt idx="4">
                  <c:v>0.41</c:v>
                </c:pt>
                <c:pt idx="5">
                  <c:v>0.35</c:v>
                </c:pt>
                <c:pt idx="6">
                  <c:v>0.33</c:v>
                </c:pt>
                <c:pt idx="7">
                  <c:v>0.36</c:v>
                </c:pt>
                <c:pt idx="8">
                  <c:v>0.45</c:v>
                </c:pt>
                <c:pt idx="9">
                  <c:v>0.57999999999999996</c:v>
                </c:pt>
                <c:pt idx="10">
                  <c:v>0.68</c:v>
                </c:pt>
                <c:pt idx="11">
                  <c:v>0.72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B4-450C-A3AD-2FAD76B6A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Mes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NDVI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11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NDVI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6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0.15</c:v>
                </c:pt>
                <c:pt idx="1">
                  <c:v>0.55000000000000004</c:v>
                </c:pt>
                <c:pt idx="2">
                  <c:v>0.75</c:v>
                </c:pt>
                <c:pt idx="3">
                  <c:v>0.84</c:v>
                </c:pt>
                <c:pt idx="4">
                  <c:v>0.87</c:v>
                </c:pt>
                <c:pt idx="5">
                  <c:v>0.88</c:v>
                </c:pt>
                <c:pt idx="6">
                  <c:v>0.88500000000000001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B4-450C-A3AD-2FAD76B6A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Biomasa aérea (Mg/ha)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Índice óptico (NDVI)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11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Banda C (VH)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6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-18</c:v>
                </c:pt>
                <c:pt idx="1">
                  <c:v>-14</c:v>
                </c:pt>
                <c:pt idx="2">
                  <c:v>-11.5</c:v>
                </c:pt>
                <c:pt idx="3">
                  <c:v>-10.199999999999999</c:v>
                </c:pt>
                <c:pt idx="4">
                  <c:v>-9.8000000000000007</c:v>
                </c:pt>
                <c:pt idx="5">
                  <c:v>-9.6</c:v>
                </c:pt>
                <c:pt idx="6">
                  <c:v>-9.5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7CE-414F-97B9-08C170D962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Banda L (HV)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</c:spPr>
          <c:marker>
            <c:symbol val="circle"/>
            <c:size val="6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-20</c:v>
                </c:pt>
                <c:pt idx="1">
                  <c:v>-16</c:v>
                </c:pt>
                <c:pt idx="2">
                  <c:v>-13</c:v>
                </c:pt>
                <c:pt idx="3">
                  <c:v>-11</c:v>
                </c:pt>
                <c:pt idx="4">
                  <c:v>-9.5</c:v>
                </c:pt>
                <c:pt idx="5">
                  <c:v>-8.6</c:v>
                </c:pt>
                <c:pt idx="6">
                  <c:v>-8.1999999999999993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7CE-414F-97B9-08C170D96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Biomasa aérea (Mg/ha)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Retrodispersión σ0 (dB)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111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t"/>
      <c:overlay val="0"/>
      <c:txPr>
        <a:bodyPr/>
        <a:lstStyle/>
        <a:p>
          <a:pPr>
            <a:defRPr sz="1400">
              <a:latin typeface="Arial"/>
            </a:defRPr>
          </a:pPr>
          <a:endParaRPr lang="es-AR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σ0 VV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6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-12</c:v>
                </c:pt>
                <c:pt idx="1">
                  <c:v>-10.6</c:v>
                </c:pt>
                <c:pt idx="2">
                  <c:v>-9.4</c:v>
                </c:pt>
                <c:pt idx="3">
                  <c:v>-8.4</c:v>
                </c:pt>
                <c:pt idx="4">
                  <c:v>-7.6</c:v>
                </c:pt>
                <c:pt idx="5">
                  <c:v>-7</c:v>
                </c:pt>
                <c:pt idx="6">
                  <c:v>-6.6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7F8-49D7-86C0-BF5A114DF6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Humedad de suelo (%)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Retrodispersión σ0 (dB)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111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Contribución relativa (%)</c:v>
                </c:pt>
              </c:strCache>
            </c:strRef>
          </c:tx>
          <c:spPr>
            <a:solidFill>
              <a:srgbClr val="4472C4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Altura GEDI (RH)</c:v>
                </c:pt>
                <c:pt idx="1">
                  <c:v>NBR histórico</c:v>
                </c:pt>
                <c:pt idx="2">
                  <c:v>NDMI</c:v>
                </c:pt>
                <c:pt idx="3">
                  <c:v>VH Sentinel-1</c:v>
                </c:pt>
                <c:pt idx="4">
                  <c:v>Pendiente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42A-4F8B-94B2-611B7963D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"/>
        <c:axId val="222"/>
      </c:barChart>
      <c:catAx>
        <c:axId val="111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Variable predictora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b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Contribución relativa al modelo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11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Biomasa aérea (% del nivel prefuego)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6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10</c:v>
                </c:pt>
                <c:pt idx="5">
                  <c:v>15</c:v>
                </c:pt>
                <c:pt idx="6">
                  <c:v>20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22</c:v>
                </c:pt>
                <c:pt idx="2">
                  <c:v>35</c:v>
                </c:pt>
                <c:pt idx="3">
                  <c:v>48</c:v>
                </c:pt>
                <c:pt idx="4">
                  <c:v>66</c:v>
                </c:pt>
                <c:pt idx="5">
                  <c:v>80</c:v>
                </c:pt>
                <c:pt idx="6">
                  <c:v>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B4-450C-A3AD-2FAD76B6A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Años desde el incendio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0">
                    <a:latin typeface="Arial"/>
                  </a:defRPr>
                </a:pPr>
                <a:r>
                  <a:rPr lang="es-AR" sz="1400">
                    <a:latin typeface="Arial"/>
                  </a:rPr>
                  <a:t>Biomasa aérea (% prefuego)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s-AR"/>
          </a:p>
        </c:txPr>
        <c:crossAx val="11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9EE52-0A0E-4806-A02B-B50812F9D121}" type="datetimeFigureOut">
              <a:rPr lang="es-ES" smtClean="0"/>
              <a:t>25/08/2026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62345-F601-4E99-A737-B2FC13C22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99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6000" y="2468355"/>
            <a:ext cx="1620000" cy="612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Sinergia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0000" y="1012828"/>
            <a:ext cx="12132000" cy="16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2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Modelos de Inteligencia Artificial Multisensor </a:t>
            </a:r>
            <a:endParaRPr lang="es-ES" sz="2200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22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Estimación de Biomasa en Bosques Andinos y Pastizales </a:t>
            </a:r>
            <a:r>
              <a:rPr lang="es-ES" sz="22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del Ecotono Bosque-Estepa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Curso de posgrado · Esquel, Chubut · 14 al 19 de septiembre de 2026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4A441C-34DB-E03A-2731-24BBC16B185D}"/>
              </a:ext>
            </a:extLst>
          </p:cNvPr>
          <p:cNvSpPr txBox="1"/>
          <p:nvPr/>
        </p:nvSpPr>
        <p:spPr>
          <a:xfrm>
            <a:off x="1974000" y="2999922"/>
            <a:ext cx="8244000" cy="269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Héctor Francisco del Valle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Centro Regional de Geomática (CeReGeo), Facultad de Ciencia y Tecnología (FCyT)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Universidad Autónoma de Entre Ríos (UADER) 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Laboratorio de Ecología, Meteorología y Gestión de Fuegos (LEMIV)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Ingeniería, Universidad Nacional de la Patagonia San Juan Bosco (UNPSJB) </a:t>
            </a:r>
          </a:p>
          <a:p>
            <a:pPr algn="ctr"/>
            <a:endParaRPr lang="es-MX" sz="1600" b="0" i="0" u="none" strike="noStrike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Correo Electrónico: </a:t>
            </a:r>
            <a:r>
              <a:rPr lang="es-MX" sz="1600" b="0" i="1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hfdelvalle@gmail.com </a:t>
            </a:r>
            <a:endParaRPr lang="es-E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A69BBF9-FB56-668F-1698-3A48A0A6353E}"/>
              </a:ext>
            </a:extLst>
          </p:cNvPr>
          <p:cNvGrpSpPr/>
          <p:nvPr/>
        </p:nvGrpSpPr>
        <p:grpSpPr>
          <a:xfrm>
            <a:off x="2082921" y="147103"/>
            <a:ext cx="8026158" cy="1044000"/>
            <a:chOff x="1703744" y="147103"/>
            <a:chExt cx="8026158" cy="1044000"/>
          </a:xfrm>
        </p:grpSpPr>
        <p:pic>
          <p:nvPicPr>
            <p:cNvPr id="7" name="Gráfico 6" descr="Secretaría de Ciencia y Tecnología del Chubut">
              <a:extLst>
                <a:ext uri="{FF2B5EF4-FFF2-40B4-BE49-F238E27FC236}">
                  <a16:creationId xmlns:a16="http://schemas.microsoft.com/office/drawing/2014/main" id="{18639BCD-9388-DE43-6F3D-6A0E1FFAC6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03744" y="402478"/>
              <a:ext cx="2295000" cy="53325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02845A6-AA4E-BE46-88B4-531A79C7B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7933" y="147103"/>
              <a:ext cx="873551" cy="1044000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D4356AA-627D-0D5B-8DA4-289E704ED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88708" y="453103"/>
              <a:ext cx="1941194" cy="432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igh_detail_scientific_illustration_infogr_batch_3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4A985C0-CFE1-E2F5-B3F7-3B67A77D6E62}"/>
              </a:ext>
            </a:extLst>
          </p:cNvPr>
          <p:cNvSpPr/>
          <p:nvPr/>
        </p:nvSpPr>
        <p:spPr>
          <a:xfrm>
            <a:off x="3504000" y="5127457"/>
            <a:ext cx="5184000" cy="612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Datos </a:t>
            </a:r>
            <a:r>
              <a:rPr lang="en-US" sz="2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ópticos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, radar y LiDAR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7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fusionar sensores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da profundidad; óptico y radar dan continuidad espacial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3744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mide estructura en huellas discontinuas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ICESat-2 (ATLAS) suma trazas de altura donde GEDI no llega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y Sentinel-2 cubren el paisaje con señales espectrales y fenológicas.</a:t>
            </a:r>
            <a:endParaRPr lang="en-US" sz="18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Sentinel-1, SAOCOM y NISAR, entre </a:t>
            </a:r>
            <a:r>
              <a:rPr lang="en-US" sz="18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aportan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retrodispersión sensible a la </a:t>
            </a:r>
            <a:r>
              <a:rPr lang="en-US" sz="18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rugosidad y humedad.</a:t>
            </a:r>
            <a:endParaRPr lang="en-US" sz="18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fusión permite pasar de muestra a mapa, con validación e incertidumbre.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1202596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Estructura GEDI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19066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Fenología óptica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2610772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Rugosidad radar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3314860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Topografía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223760" y="4018948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Modelo RF/XGB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7223760" y="4723036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Mapa AGBD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GEDI/UMD; NASA GSFC SVS 13090; </a:t>
            </a:r>
            <a:r>
              <a:rPr lang="en-US" sz="14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Dubayah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al. (2020). USGS Landsat Collection 2; ESA/Copernicus Sentinel-2 MSI; NASA HLS. ESA/Copernicus Sentinel-1; CONAE SAOCOM; SAOCOM Mission Products Definition (2024). Duncanson et al. (2022); Kellner et al. (2023); Wang et al. (2024); Subedi y </a:t>
            </a:r>
            <a:r>
              <a:rPr lang="en-US" sz="14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Zurqani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(2025).</a:t>
            </a:r>
            <a:endParaRPr lang="en-US" sz="1400" dirty="0"/>
          </a:p>
        </p:txBody>
      </p:sp>
      <p:sp>
        <p:nvSpPr>
          <p:cNvPr id="901" name="Connector 901"/>
          <p:cNvSpPr/>
          <p:nvPr/>
        </p:nvSpPr>
        <p:spPr>
          <a:xfrm>
            <a:off x="8709660" y="1705516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02" name="Connector 902"/>
          <p:cNvSpPr/>
          <p:nvPr/>
        </p:nvSpPr>
        <p:spPr>
          <a:xfrm>
            <a:off x="8709660" y="2409604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03" name="Connector 903"/>
          <p:cNvSpPr/>
          <p:nvPr/>
        </p:nvSpPr>
        <p:spPr>
          <a:xfrm>
            <a:off x="8709660" y="3113692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04" name="Connector 904"/>
          <p:cNvSpPr/>
          <p:nvPr/>
        </p:nvSpPr>
        <p:spPr>
          <a:xfrm>
            <a:off x="8709660" y="3817780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05" name="Connector 905"/>
          <p:cNvSpPr/>
          <p:nvPr/>
        </p:nvSpPr>
        <p:spPr>
          <a:xfrm>
            <a:off x="8709660" y="4521868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Landsat: la serie larga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décadas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continua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paisaje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permite reconstruir disturbios, recuperación y edad aparente de rodales.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2 ofrece reflectancia de superficie y productos consistentes para series temporales.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 30 m es coherente con huellas GEDI y mapas regionales.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Combinado con Landsat 8/9, la revisitabilidad mejora para monitoreo anual.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base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larga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reflectancia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armonización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Landsat Collection 2; ESA/Copernicus Sentinel-2 MSI; NASA HLS.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9: la continuidad, y la cadencia de ocho días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OLI-2 y TIRS-2, en órbita desde septiembre de 2021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9 recorre la misma órbita que Landsat 8 con ocho días de desfase: juntos entregan una escena cada ocho días, no cada dieciséis.</a:t>
            </a:r>
            <a:endParaRPr lang="en-US" sz="1800"/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El OLI-2 cuantifica en 14 bits contra los 12 bits del OLI: menos ruido en las sombras de ladera, que en el bosque andino son muchas.</a:t>
            </a:r>
            <a:endParaRPr lang="es-ES" sz="1800">
              <a:solidFill>
                <a:srgbClr val="111827"/>
              </a:solidFill>
              <a:latin typeface="Arial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La Colección 2 Nivel 2 llega con reflectancia de superficie ya corregida y con la máscara QA_PIXEL; se baja del Planetary Computer sin credencial.</a:t>
            </a:r>
            <a:endParaRPr lang="es-ES" sz="1800">
              <a:solidFill>
                <a:srgbClr val="111827"/>
              </a:solidFill>
              <a:latin typeface="Arial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Sobre los dos recintos del curso hay tres fechas descargadas: 03/03/2024, 04/01/2026 y 21/02/2026, las tres con cero nubes dentro del AOI.</a:t>
            </a:r>
            <a:endParaRPr lang="es-ES" sz="1800">
              <a:solidFill>
                <a:srgbClr val="111827"/>
              </a:solidFill>
              <a:latin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reflectivas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días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 a Landsat 8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bits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cuantificación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fechas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curso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 Level-2 (OLI-2/TIRS-2); NASA/USGS Landsat 9, lanzamiento 27/09/2021; Microsoft Planetary Computer (STAC). Datos del proyecto: matriz de datos del TP1.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Landsat: predictores útiles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e índices que capturan vigor, humedad y disturbio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NDVI/EVI: vigor fotosintético, con saturación en doseles densos.</a:t>
            </a:r>
            <a:endParaRPr lang="en-US" sz="18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NDMI/NBR: humedad foliar/estructura y severidad de incendio.</a:t>
            </a:r>
            <a:endParaRPr lang="en-US" sz="18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SWIR: sensibilidad a agua, lignina/celulosa y material quemado.</a:t>
            </a:r>
            <a:endParaRPr lang="en-US" sz="18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Texturas y percentiles temporales ayudan a resumir heterogeneidad.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668119"/>
              </p:ext>
            </p:extLst>
          </p:nvPr>
        </p:nvGraphicFramePr>
        <p:xfrm>
          <a:off x="5897880" y="1234440"/>
          <a:ext cx="562356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Predictor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Información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Uso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NDVI/EVI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Vigor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Cobertura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NDMI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Humedad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Sitio y estrés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NBR/dNBR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Fuego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Disturbio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SWIR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Agua y material seco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Biomasa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Percentiles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Fenología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Robustez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y disturbios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estimación de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 actual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el historial de disturbios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biomasa baja puede deberse a sitio pobre o a disturbio reciente: Landsat ayuda a separar causas.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LandTrendr, CCDC o series NBR detectan año e intensidad de cambio.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como “años desde disturbio” mejoran modelos de recuperación.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Chubut, fuego y manejo selectivo justifican usar historial temporal.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CIEFAP/SNMBN Bosque Andino Patagónico; Argentina Ambiente Mapas de Bosque Nativo; Chubut OTBN.</a:t>
            </a:r>
            <a:endParaRPr lang="en-US" sz="1400"/>
          </a:p>
        </p:txBody>
      </p:sp>
      <p:graphicFrame>
        <p:nvGraphicFramePr>
          <p:cNvPr id="21" name="Grafico" descr="Chart"/>
          <p:cNvGraphicFramePr/>
          <p:nvPr>
            <p:extLst>
              <p:ext uri="{D42A27DB-BD31-4B8C-83A1-F6EECF244321}">
                <p14:modId xmlns:p14="http://schemas.microsoft.com/office/powerpoint/2010/main" val="3894813234"/>
              </p:ext>
            </p:extLst>
          </p:nvPr>
        </p:nvGraphicFramePr>
        <p:xfrm>
          <a:off x="5897880" y="1234440"/>
          <a:ext cx="5623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Sentinel-2: resolución y red-edge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detalle espacial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bordes, claros y estructura de copa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de 10 m permiten mapas más detallados en rodales pequeños.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red-edge ayudan a capturar contenido de clorofila y estructura de vegetación.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 de 20 m aporta humedad y disturbio, re-muestreable con cuidado.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frecuencia temporal facilita composiciones libres de nube en temporada de crecimiento.</a:t>
            </a:r>
            <a:endParaRPr lang="en-US" sz="1800"/>
          </a:p>
        </p:txBody>
      </p:sp>
      <p:pic>
        <p:nvPicPr>
          <p:cNvPr id="6" name="Image 0" descr="/mnt/data/gedi_assets/sentinel2.jpg"/>
          <p:cNvPicPr>
            <a:picLocks noChangeAspect="1"/>
          </p:cNvPicPr>
          <p:nvPr/>
        </p:nvPicPr>
        <p:blipFill>
          <a:blip r:embed="rId2"/>
          <a:srcRect l="5058" r="5058"/>
          <a:stretch/>
        </p:blipFill>
        <p:spPr>
          <a:xfrm>
            <a:off x="5897880" y="1234440"/>
            <a:ext cx="562356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Imagen: ESA/ATG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medialab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ESA-P. Carril. Datos: Copernicus Sentinel. USGS Landsat Collection 2; ESA/Copernicus Sentinel-2 MSI; NASA HLS.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Sentinel-2: índices recomendados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del NDVI: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de las bandas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red-edge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y EVI para vigor general.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NDRE y red-edge chlorophyll indices para estructura/copa en bosques densos.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 y MSI para humedad de vegetación.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NBR y dNBR para fuego y recuperación post-disturbio.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38681"/>
              </p:ext>
            </p:extLst>
          </p:nvPr>
        </p:nvGraphicFramePr>
        <p:xfrm>
          <a:off x="5897880" y="1234440"/>
          <a:ext cx="5623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Índice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Bandas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Interpretación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NDVI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NIR, rojo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Vigor y cobertura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NDRE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NIR, red-edge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Copa y clorofila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NDMI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NIR, SWIR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Humedad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NBR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NIR, SWIR2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Fuego y biomasa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MSI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SWIR, NIR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Estrés hídrico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Composites estacionales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adquisición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píxel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constituye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variable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adicional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mediana o percentiles de verano para reducir nubes y nieve.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primavera, verano y otoño para capturar fenología caducifolia.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métricas de variabilidad temporal, no solo una imagen.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ventana temporal con fechas GEDI y estado del bosque.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CIEFAP/SNMBN Bosque Andino Patagónico; Argentina Ambiente Mapas de Bosque Nativo; Chubut OTBN.</a:t>
            </a:r>
            <a:endParaRPr lang="en-US" sz="1400"/>
          </a:p>
        </p:txBody>
      </p:sp>
      <p:graphicFrame>
        <p:nvGraphicFramePr>
          <p:cNvPr id="21" name="Grafico"/>
          <p:cNvGraphicFramePr/>
          <p:nvPr>
            <p:extLst>
              <p:ext uri="{D42A27DB-BD31-4B8C-83A1-F6EECF244321}">
                <p14:modId xmlns:p14="http://schemas.microsoft.com/office/powerpoint/2010/main" val="1642084130"/>
              </p:ext>
            </p:extLst>
          </p:nvPr>
        </p:nvGraphicFramePr>
        <p:xfrm>
          <a:off x="5897880" y="1234440"/>
          <a:ext cx="5623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HLS: Landsat + Sentinel-2 armonizados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consistentes para series densas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 combina Landsat y Sentinel-2 en reflectancia de superficie armonizada.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útil cuando se desea 30 m, series temporales densas y compatibilidad con GEDI.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problemas de diferencias de sensor, aunque siempre requiere máscaras de nube/nieve.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Chubut, puede ser un puente entre detalle Sentinel-2 e historia Landsat.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Landsat SR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Sentinel-2 SR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Armonización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HLS 30 m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Predictores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</a:t>
            </a:r>
            <a:endParaRPr lang="en-US" sz="1400"/>
          </a:p>
        </p:txBody>
      </p:sp>
      <p:sp>
        <p:nvSpPr>
          <p:cNvPr id="906" name="Connector 906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07" name="Connector 907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08" name="Connector 908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09" name="Connector 909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ópticas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verdor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 necesariamente mayor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biomasa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ópticos se saturan en doseles cerrados y altos.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Sombras topográficas en valles y laderas generan variación no biológica.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Nubes y nieve reducen disponibilidad temporal.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y radar ayudan a recuperar información estructural donde el óptico se queda corto.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Saturación conceptual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Duncanson et al. (2022); Kellner et al. (2023); Wang et al. (2024); Subedi y Zurqani (2025).</a:t>
            </a:r>
            <a:endParaRPr lang="en-US" sz="1400"/>
          </a:p>
        </p:txBody>
      </p:sp>
      <p:graphicFrame>
        <p:nvGraphicFramePr>
          <p:cNvPr id="21" name="Grafico 1"/>
          <p:cNvGraphicFramePr/>
          <p:nvPr>
            <p:extLst>
              <p:ext uri="{D42A27DB-BD31-4B8C-83A1-F6EECF244321}">
                <p14:modId xmlns:p14="http://schemas.microsoft.com/office/powerpoint/2010/main" val="3054936719"/>
              </p:ext>
            </p:extLst>
          </p:nvPr>
        </p:nvGraphicFramePr>
        <p:xfrm>
          <a:off x="5897880" y="1234440"/>
          <a:ext cx="5623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Sentinel-1: radar C-band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en microondas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de la cobertura nubosa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es una misión SAR C-band, día/noche y casi todo tiempo.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 y VH aportan retrodispersión relacionada con rugosidad, humedad y estructura superficial.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bosques, VH suele responder a volumen y dispersión múltiple, con saturación a biomasa alta.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gratuito y global, ideal para series temporales y humedad relativa del paisaje.</a:t>
            </a:r>
            <a:endParaRPr lang="en-US" sz="1800"/>
          </a:p>
        </p:txBody>
      </p:sp>
      <p:pic>
        <p:nvPicPr>
          <p:cNvPr id="6" name="Image 0" descr="/mnt/data/gedi_assets/sentinel1.jpg"/>
          <p:cNvPicPr>
            <a:picLocks noChangeAspect="1"/>
          </p:cNvPicPr>
          <p:nvPr/>
        </p:nvPicPr>
        <p:blipFill>
          <a:blip r:embed="rId2"/>
          <a:srcRect l="5044" r="5044"/>
          <a:stretch/>
        </p:blipFill>
        <p:spPr>
          <a:xfrm>
            <a:off x="5897880" y="1234440"/>
            <a:ext cx="562356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Imagen: ESA/ATG medialab o ESA-P. Carril. Datos: Copernicus Sentinel. ESA/Copernicus Sentinel-1; CONAE SAOCOM; SAOCOM Mission Products Definition (2024).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Sentinel-1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SAR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crudo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una cadena de preprocesamiento rigurosa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órbita precisa, remoción de ruido, calibración radiométrica y corrección geométrica/terreno.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a sigma0/gamma0 en dB según flujo elegido.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speckle con cuidado: suavizar demasiado borra bordes forestales.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montaña, la corrección por terreno y máscaras de layover/shadow son esenciales.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Órbita precisa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Ruido térmico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Calibración </a:t>
            </a:r>
            <a:r>
              <a:rPr lang="el-GR" sz="1800" b="1">
                <a:solidFill>
                  <a:srgbClr val="2D6A4F"/>
                </a:solidFill>
                <a:latin typeface="Arial"/>
              </a:rPr>
              <a:t>σ0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Terreno DEM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Predictores dB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ESA Sentinel-1 Product/SAR guides.</a:t>
            </a:r>
            <a:endParaRPr lang="en-US" sz="1400"/>
          </a:p>
        </p:txBody>
      </p:sp>
      <p:sp>
        <p:nvSpPr>
          <p:cNvPr id="910" name="Connector 910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11" name="Connector 911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12" name="Connector 912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13" name="Connector 913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Sentinel-1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VV, VH, ratios y textura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 y VH medianos por temporada reducen ruido meteorológico.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VH/VV o VV−VH capturan diferencias de dispersión y humedad.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Texturas GLCM pueden agregar estructura, pero aumentan riesgo de overfit.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multi-temporales ayudan a distinguir humedad estacional de biomasa.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Duncanson et al. (2022); Kellner et al. (2023); Wang et al. (2024); Subedi y Zurqani (2025).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66525"/>
              </p:ext>
            </p:extLst>
          </p:nvPr>
        </p:nvGraphicFramePr>
        <p:xfrm>
          <a:off x="5897880" y="1234440"/>
          <a:ext cx="5623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Variable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Señal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Precaución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VV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Superficie y estructura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Humedad y suelo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VH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Volumen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Saturación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VH/VV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Relación polarimétrica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Ruido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Textura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Heterogeneidad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Ventana y parametrización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Percentiles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Temporalidad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Fechas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y saturación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banda C presenta penetración limitada en doseles densos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es sensible a copa y ramas finas, con penetración limitada en bosques densos.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biomasa alta, la respuesta puede saturarse y depender más de humedad que de stock.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mejora cuando se combina con L-band, óptico y altura GEDI.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interpretar backscatter alto como biomasa alta sin controlar humedad y geometría.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Duncanson et al. (2022); Kellner et al. (2023); Wang et al. (2024); Subedi y </a:t>
            </a:r>
            <a:r>
              <a:rPr lang="en-US" sz="14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Zurqani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(2025).</a:t>
            </a:r>
            <a:endParaRPr lang="en-US" sz="1400"/>
          </a:p>
        </p:txBody>
      </p:sp>
      <p:graphicFrame>
        <p:nvGraphicFramePr>
          <p:cNvPr id="21" name="Grafico 2" descr="Chart"/>
          <p:cNvGraphicFramePr/>
          <p:nvPr>
            <p:extLst>
              <p:ext uri="{D42A27DB-BD31-4B8C-83A1-F6EECF244321}">
                <p14:modId xmlns:p14="http://schemas.microsoft.com/office/powerpoint/2010/main" val="1220658239"/>
              </p:ext>
            </p:extLst>
          </p:nvPr>
        </p:nvGraphicFramePr>
        <p:xfrm>
          <a:off x="5897880" y="1234440"/>
          <a:ext cx="5623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SAOCOM: radar L-band argentino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activo estratégico nacional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Patagonia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1A/1B opera con SAR L-band, más penetrante que C-band en vegetación.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banda L es valiosa para estructura leñosa, humedad de suelo y aplicaciones agrohidrológicas.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productos se consultan en el Catálogo SAOCOM y requieren licencia/registro según modalidad.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bosques chubutenses, SAOCOM puede complementar GEDI y Sentinel-1 donde la estructura es clave.</a:t>
            </a:r>
            <a:endParaRPr lang="en-US" sz="1800"/>
          </a:p>
        </p:txBody>
      </p:sp>
      <p:pic>
        <p:nvPicPr>
          <p:cNvPr id="6" name="Image 0" descr="/mnt/data/gedi_assets/saocom_satellite.jpg"/>
          <p:cNvPicPr>
            <a:picLocks noChangeAspect="1"/>
          </p:cNvPicPr>
          <p:nvPr/>
        </p:nvPicPr>
        <p:blipFill>
          <a:blip r:embed="rId2"/>
          <a:srcRect l="16810" r="16810"/>
          <a:stretch/>
        </p:blipFill>
        <p:spPr>
          <a:xfrm>
            <a:off x="5897880" y="1234440"/>
            <a:ext cx="562356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Imagen: CONAE/UNLP o Agencia TSS. Datos: CONAE SAOCOM. ESA/Copernicus Sentinel-1; CONAE SAOCOM; SAOCOM Mission Products Definition (2024).</a:t>
            </a:r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SAOCOM: productos y acceso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catálogo a SNAP/QGIS/Python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Catálogo SAOCOM permite buscar productos disponibles y gestionar descargas o pedidos.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Nivel 1 incluyen SLC, detected image y geocoded/terrain corrected según definición.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lectura puede hacerse en SNAP, QGIS o librerías SAR compatibles, verificando formato.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modo, polarización, incidencia, fecha, órbita y nivel de procesamiento.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CONAE Catálogo SAOCOM.</a:t>
            </a:r>
            <a:endParaRPr lang="en-US" sz="1400"/>
          </a:p>
        </p:txBody>
      </p:sp>
      <p:graphicFrame>
        <p:nvGraphicFramePr>
          <p:cNvPr id="23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450116"/>
              </p:ext>
            </p:extLst>
          </p:nvPr>
        </p:nvGraphicFramePr>
        <p:xfrm>
          <a:off x="5897880" y="1234440"/>
          <a:ext cx="562356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Producto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Contenido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Uso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SLC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Complejo, con fase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InSAR y polarimetría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DI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Detectado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Retrodispersión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GEC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Geocodificado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Uso en SIG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GTC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Corregido por terreno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Terreno montañoso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vs L-band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radares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distinta profundidad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el dosel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C-band responde más a copa, ramas finas y humedad superficial.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L-band penetra más y se relaciona mejor con componentes leñosos intermedios.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se afectan por humedad, geometría y rugosidad del terreno.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fusión C+L reduce ambigüedad y puede mejorar biomasa en bosques densos.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NASA GEDI/UMD; NASA GSFC SVS 13090; Dubayah et al. (2020).</a:t>
            </a:r>
            <a:endParaRPr lang="en-US" sz="1400"/>
          </a:p>
        </p:txBody>
      </p:sp>
      <p:graphicFrame>
        <p:nvGraphicFramePr>
          <p:cNvPr id="18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148880"/>
              </p:ext>
            </p:extLst>
          </p:nvPr>
        </p:nvGraphicFramePr>
        <p:xfrm>
          <a:off x="5897880" y="1234440"/>
          <a:ext cx="5623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Sensor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Aporte principal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Sentinel-1 C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Alta frecuencia temporal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SAOCOM 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Penetración y estructura leñosa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GEDI lidar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Altura y perfil vertical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Óptico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Fenología y cobertura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SAOCOM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estándar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particularidades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propias del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radiométrica a backscatter comparable.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geométrica/terrain correction con DEM adecuado para Andes.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polarizaciones y ángulos de incidencia consistentes.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temporal si se combinan escenas con humedad distinta.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Catálogo L-band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Calibración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Terreno DEM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Polarizaciones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Predictores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</a:t>
            </a:r>
            <a:endParaRPr lang="en-US" sz="1400"/>
          </a:p>
        </p:txBody>
      </p:sp>
      <p:sp>
        <p:nvSpPr>
          <p:cNvPr id="914" name="Connector 914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15" name="Connector 915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16" name="Connector 916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17" name="Connector 917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Polarizaciones y biomasa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polarización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cruzada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asocia al volumen, con limitaciones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Cross-pol se asocia a dispersión volumétrica y estructura de vegetación.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Co-pol puede aportar superficie, orientación y humedad.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L-band, polarimetría completa puede mejorar separación de mecanismos de dispersión.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ángulo de incidencia debe usarse como covariable o criterio de homogenización.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Duncanson et al. (2022); Kellner et al. (2023); Wang et al. (2024); Subedi y Zurqani (2025).</a:t>
            </a:r>
            <a:endParaRPr lang="en-US" sz="1400"/>
          </a:p>
        </p:txBody>
      </p:sp>
      <p:graphicFrame>
        <p:nvGraphicFramePr>
          <p:cNvPr id="23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599133"/>
              </p:ext>
            </p:extLst>
          </p:nvPr>
        </p:nvGraphicFramePr>
        <p:xfrm>
          <a:off x="5897880" y="1234440"/>
          <a:ext cx="562356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Polarización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Posible señal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Precaución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HH/VV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Superficie y orientación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Ángulo de incidencia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HV/VH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Volumen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Ruido y saturación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Cocientes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Normalización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Sensibles al ruido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Descomposición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Mecanismos de dispersión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Mayor procesamiento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topográfica SAR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 montañoso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omitirla introduce errores sistemáticos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generan layover, foreshortening y shadow.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DEM de calidad y corrección radiométrica por terreno cuando corresponda.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Máscaras de geometría radar evitan entrenar con píxeles físicamente problemáticos.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desempeño por pendiente/exposición para detectar artefactos residuales.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92161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0917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 consistente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593147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58071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correction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7382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61390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 layover/shadow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394536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93292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 local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46177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60446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por pendiente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CIEFAP/SNMBN Bosque Andino Patagónico; Argentina Ambiente Mapas de Bosque Nativo; Chubut OTBN.</a:t>
            </a:r>
            <a:endParaRPr 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NISAR: banda L de acceso libre, y ya geocodificada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misión conjunta de la NASA y la ISRO</a:t>
            </a:r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lleva dos radares en la misma plataforma, uno de banda L, de unos 24 cm, y otro de banda S; su antena desplegable de doce metros ilumina una franja ancha sin resignar resolución.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productos son de acceso libre por Earthdata y el ASF, sin pedido previo: es la única fuente de banda L del curso que no exige solicitud ni autorización.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GCOV es un producto de nivel 2 que llega ya geocodificado y corregido por terreno, con la covarianza polarimétrica: se puede usar sin pasar por SNAP.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los dos recintos hay tres fechas útiles de nueve, el 04/12/2025, el 28/12/2025 y el 08/01/2026, de las trazas 003 y 169.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y S</a:t>
            </a:r>
          </a:p>
        </p:txBody>
      </p:sp>
      <p:sp>
        <p:nvSpPr>
          <p:cNvPr id="8" name="Text 6"/>
          <p:cNvSpPr/>
          <p:nvPr/>
        </p:nvSpPr>
        <p:spPr>
          <a:xfrm>
            <a:off x="5989320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bandas a la vez</a:t>
            </a:r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días</a:t>
            </a:r>
          </a:p>
        </p:txBody>
      </p:sp>
      <p:sp>
        <p:nvSpPr>
          <p:cNvPr id="11" name="Text 9"/>
          <p:cNvSpPr/>
          <p:nvPr/>
        </p:nvSpPr>
        <p:spPr>
          <a:xfrm>
            <a:off x="8883396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repetición</a:t>
            </a:r>
          </a:p>
        </p:txBody>
      </p:sp>
      <p:sp>
        <p:nvSpPr>
          <p:cNvPr id="12" name="Shape 10"/>
          <p:cNvSpPr/>
          <p:nvPr/>
        </p:nvSpPr>
        <p:spPr>
          <a:xfrm>
            <a:off x="5897880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GCOV</a:t>
            </a:r>
          </a:p>
        </p:txBody>
      </p:sp>
      <p:sp>
        <p:nvSpPr>
          <p:cNvPr id="14" name="Text 12"/>
          <p:cNvSpPr/>
          <p:nvPr/>
        </p:nvSpPr>
        <p:spPr>
          <a:xfrm>
            <a:off x="5989320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2, ya geocodificado</a:t>
            </a:r>
          </a:p>
        </p:txBody>
      </p:sp>
      <p:sp>
        <p:nvSpPr>
          <p:cNvPr id="15" name="Shape 13"/>
          <p:cNvSpPr/>
          <p:nvPr/>
        </p:nvSpPr>
        <p:spPr>
          <a:xfrm>
            <a:off x="8791956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fechas</a:t>
            </a:r>
          </a:p>
        </p:txBody>
      </p:sp>
      <p:sp>
        <p:nvSpPr>
          <p:cNvPr id="17" name="Text 15"/>
          <p:cNvSpPr/>
          <p:nvPr/>
        </p:nvSpPr>
        <p:spPr>
          <a:xfrm>
            <a:off x="8883396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útiles de nueve, en el curso</a:t>
            </a:r>
          </a:p>
        </p:txBody>
      </p:sp>
      <p:sp>
        <p:nvSpPr>
          <p:cNvPr id="19" name="Text 1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NASA/ISRO NISAR; NASA Earthdata / ASF DAAC, producto GCOV. Datos del proyecto: matriz de datos del TP1, trazas 003 y 169.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frente a SAOCOM y a PALSAR-2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radares de banda L que llegan al usuario en estados distintos</a:t>
            </a:r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son de banda L, pero no cuestan lo mismo: NISAR llega geocodificado, el SAOCOM llega en nivel 1A complejo y PALSAR-2 llega como mosaico de todo un año.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sobre las 690 huellas válidas del bosque, la polarización cruzada de NISAR es la que mejor sigue la altura del dosel: R² de 0,18 con ventana de 30 m y de 0,28 con ventana de 150 m.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contraste entre bosque y estepa, las tres de banda L separan entre 9,9 y 11,7 dB, contra 4,2 dB de la banda C de Sentinel-1.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dos sensores independientes coincidan sobre el mismo bosque es lo que permite creerles; por eso el TP4 los compara con dos días de diferencia.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NASA/ISRO NISAR (GCOV); CONAE SAOCOM; JAXA EORC ALOS-2/PALSAR-2; ESA/Copernicus Sentinel-1. Mediciones del TP4 sobre 690 huellas del bosque, rehechas el 6/08/2026.</a:t>
            </a:r>
          </a:p>
        </p:txBody>
      </p:sp>
      <p:graphicFrame>
        <p:nvGraphicFramePr>
          <p:cNvPr id="23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836821"/>
              </p:ext>
            </p:extLst>
          </p:nvPr>
        </p:nvGraphicFramePr>
        <p:xfrm>
          <a:off x="5897880" y="1234440"/>
          <a:ext cx="56235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Sensor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Formato de entrega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Requisito de acceso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NISAR GCOV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Geocodificado, nivel 2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Cuenta de Earthdata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SAOCOM L1A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Complejo, con fase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Cuenta CONAE y autorización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PALSAR-2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Mosaico anual de 25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Registro gratuito en JAXA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Sentinel-1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GRD y SLC, banda C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Usuario del CDSE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ALOS-1 PALSAR: la serie histórica en banda 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2006 a 2011, y el único cuadripolar completo del archivo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PALSAR de ALOS-1 fue el primer radar de banda L de acceso civil abierto con polarimetría completa: HH, HV, VH y VV en la misma pasada.</a:t>
            </a:r>
            <a:endParaRPr lang="en-US" sz="1800"/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Su archivo, de 2006 a 2011, es la única ventana de banda L anterior a los incendios y al manejo de las últimas dos décadas.</a:t>
            </a:r>
            <a:endParaRPr lang="es-ES" sz="1800">
              <a:solidFill>
                <a:srgbClr val="111827"/>
              </a:solidFill>
              <a:latin typeface="Arial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Se distribuye por el ASF con la credencial de Earthdata, en nivel 1.1 complejo, que conserva la fase y permite polarimetría.</a:t>
            </a:r>
            <a:endParaRPr lang="es-ES" sz="1800">
              <a:solidFill>
                <a:srgbClr val="111827"/>
              </a:solidFill>
              <a:latin typeface="Arial"/>
            </a:endParaRP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En el curso hay cinco fechas entre 2007 y 2009, diez frames, sobre el recinto de bosque; sobre la estepa la cobertura llega al 93 %.</a:t>
            </a:r>
            <a:endParaRPr lang="es-ES" sz="1800">
              <a:solidFill>
                <a:srgbClr val="111827"/>
              </a:solidFill>
              <a:latin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 de ALOS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2007-2009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fechas del curso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misión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23,6 cm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de onda, banda L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JAXA EORC ALOS/PALSAR; NASA Earthdata / ASF DAAC, nivel 1.1. Datos del proyecto: 00_COMUN\08_Originales_crudos\00_alos, cinco fechas de 2007-07-21 a 2009-06-06.</a:t>
            </a:r>
            <a:endParaRPr 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ALOS-2 PALSAR-2: el mosaico anual de banda 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Veinticinco metros, dos polarizaciones y un archivo por año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JAXA publica un mosaico global anual de PALSAR-2 a 25 m, ortorrectificado y normalizado por terreno.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No es una escena de una fecha: resume el año entero. Sirve de referencia externa al proyecto, no para seguir un cambio abrupto.</a:t>
            </a:r>
            <a:endParaRPr lang="es-ES" sz="1800">
              <a:solidFill>
                <a:srgbClr val="111827"/>
              </a:solidFill>
              <a:latin typeface="Arial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Se descarga del portal EORC de la JAXA con registro gratuito; el tile que cubre los dos recintos es el S42W072.</a:t>
            </a:r>
            <a:endParaRPr lang="es-ES" sz="1800">
              <a:solidFill>
                <a:srgbClr val="111827"/>
              </a:solidFill>
              <a:latin typeface="Arial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En el curso entran los años 2023, 2024 y 2025: dos de línea de base y uno anterior al incendio.</a:t>
            </a:r>
            <a:endParaRPr lang="es-ES" sz="1800">
              <a:solidFill>
                <a:srgbClr val="111827"/>
              </a:solidFill>
              <a:latin typeface="Arial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JAXA EORC ALOS-2/PALSAR-2 Global 25 m Mosaic, producto CEOS-ARD. Datos del proyecto: TP4, ALOS_PALSAR_2, tile S42W072, años 2023, 2024 y 2025.</a:t>
            </a:r>
            <a:endParaRPr lang="en-US" sz="1400"/>
          </a:p>
        </p:txBody>
      </p:sp>
      <p:graphicFrame>
        <p:nvGraphicFramePr>
          <p:cNvPr id="23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258220"/>
              </p:ext>
            </p:extLst>
          </p:nvPr>
        </p:nvGraphicFramePr>
        <p:xfrm>
          <a:off x="5897880" y="1234440"/>
          <a:ext cx="562356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Producto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Contenido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Uso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Mosaico anual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HH y HV a 25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Referencia externa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CEOS-ARD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Normalizado por terreno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Comparable entre años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Escena L1.1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Complejo, con fase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InSAR y polarimetría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Máscara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Agua y sin dato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calidad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ICESat-2 (ATLAS): lidar de fotones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de GEDI fuera de su franja de cobertura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emite pulsos verdes de 532 nm y detecta fotones individuales en seis haces, con muestreo denso a lo largo de la traza.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órbita de 92° de inclinación cubre hasta los 88° de latitud, donde GEDI (±51,6°) no llega.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ATL03 entrega fotones geolocalizados y ATL08 alturas de terreno y dosel en segmentos de 100 m, con ciclo de repetición de 91 días.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alturas complementan a GEDI para calibrar y validar los modelos de biomasa.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NSIDC/NASA, ICESat-2 ATL08 v007 (doi:10.5067/ATLAS/ATL08.007); Neuenschwander y Pitts (2019), Remote Sensing of Environment 221, 247-259.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956784"/>
              </p:ext>
            </p:extLst>
          </p:nvPr>
        </p:nvGraphicFramePr>
        <p:xfrm>
          <a:off x="5897880" y="1234440"/>
          <a:ext cx="562356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Atributo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ICESat-2 / ATLAS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GEDI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Láser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532 nm, fotones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1064 nm, onda completa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Haces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6 (3 pares)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Huella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≈ 11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≈ 25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Cobertura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Hasta 88°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Hasta 51,6°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Productos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ATL03 y ATL08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L2A y L4A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ICESat-2 en el flujo de trabajo de Chubut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integrar ATL08 junto a las huellas de GEDI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ATL08 v007 desde NSIDC o Earthdata y filtrar por calidad, pendiente y número de fotones por segmento.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Depurar en terreno quebrado: descartar segmentos con pendiente alta o con separación dudosa entre terreno y dosel.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Homogeneizar las alturas de dosel de ATL08 con las métricas de GEDI antes de usarlas como etiquetas del modelo.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parte de los segmentos como muestra independiente para validar el mapa final de biomasa.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NSIDC/NASA, ICESat-2 ATL08 v007 (doi:10.5067/ATLAS/ATL08.007); Neuenschwander y Pitts (2019), Remote Sensing of Environment 221, 247-259.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71125"/>
              </p:ext>
            </p:extLst>
          </p:nvPr>
        </p:nvGraphicFramePr>
        <p:xfrm>
          <a:off x="5897880" y="1234440"/>
          <a:ext cx="562356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Paso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Producto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Resultado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Descarga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ATL08 v007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Segmentos de 100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Filtrado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Calidad y pendiente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Segmentos confiables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Armonización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GEDI L4A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Etiquetas unificadas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Modelado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Stack de predictores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Mapa de AGB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Validación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Muestra reservada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Error independiente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CCI Biomass: producto global de AGB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anuales de biomasa aérea a 100 m como referencia previa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ESA publica mapas globales de biomasa aérea (Mg/ha) a 100 m para 2007, 2010 y 2015-2022 en la versión 6.0 de CCI Biomass.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derivan de radar de banda L (PALSAR) y banda C (Sentinel-1, ASAR), con calibración apoyada en lidar espacial.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píxel incluye su desvío estándar, con mapas de cambio anuales y decadales.</a:t>
            </a:r>
            <a:endParaRPr lang="en-US" sz="1800"/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Chubut sirve como referencia previa y control de magnitud, no como sustituto del modelo local.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Santoro, M. y Cartus, O. (2025). ESA Biomass CCI: global datasets of forest above-ground biomass, v6.0. NERC EDS CEDA. doi:10.5285/95913ffb6467447ca72c4e9d8cf30501.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956883"/>
              </p:ext>
            </p:extLst>
          </p:nvPr>
        </p:nvGraphicFramePr>
        <p:xfrm>
          <a:off x="5897880" y="1234440"/>
          <a:ext cx="562356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Aspecto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Detalle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Uso en Chubut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Resolución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100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Referencia regional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Años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2007, 2010, 2015-2022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Series de cambio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Sensores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PALSAR, Sentinel-1, ASAR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Base radar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Incertidumbre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Desvío estándar por píxel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calidad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Formatos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NetCDF y GeoTIFF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Acceso libre (CEDA)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stack de predictores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stack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predictores requiere un diseño fundamentado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Óptico: bandas, índices, percentiles y variables de disturbio.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VV/VH, polarizaciones L-band, ratios, texturas y métricas temporales.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Topografía: elevación, pendiente, exposición, curvatura y clima si disponible.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GEDI: solo como objetivo/etiqueta o como predictor cuando el mapa final lo permita.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141544"/>
              </p:ext>
            </p:extLst>
          </p:nvPr>
        </p:nvGraphicFramePr>
        <p:xfrm>
          <a:off x="5897880" y="1234440"/>
          <a:ext cx="5623560" cy="2142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Bloque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Ejemplos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Resolución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Landsat/HLS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NBR, NDMI, series temporales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30 m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Sentinel-2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Red-edge, NDVI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10–20 m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Sentinel-1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VV, VH, textura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10 m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SAOCOM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Polarimetría L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Variable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Topografía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DEM y pendiente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10–30 m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huella y píxel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soporte espacial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un método explícito de agregación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estadísticas dentro de un buffer aproximado al footprint GEDI, no solo el píxel central.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10 m, usar media/mediana de píxeles dentro de 12,5 m o 15 m.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30 m, evaluar si el píxel cubre adecuadamente la huella.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bordes, usar proporción de bosque dentro del buffer como filtro o predictor.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Footprint 25 m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Buffer 15 m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Zonal mediana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% bosque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Muestra final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GEDI/UMD; NASA GSFC SVS 13090; Dubayah et al. (2020). USGS Landsat Collection 2; ESA/Copernicus Sentinel-2 MSI; NASA HLS. ESA/Copernicus Sentinel-1; CONAE SAOCOM; SAOCOM Mission Products Definition (2024).</a:t>
            </a:r>
            <a:endParaRPr lang="en-US" sz="1400"/>
          </a:p>
        </p:txBody>
      </p:sp>
      <p:sp>
        <p:nvSpPr>
          <p:cNvPr id="918" name="Connector 918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19" name="Connector 919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0" name="Connector 920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1" name="Connector 921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temporal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desfase temporal entre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las covariables introduce sesgos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covariables de la misma temporada/año que GEDI cuando se entrena con huellas.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mapa actual, entrenar con huellas no perturbadas o corregir por cambio temporal.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Landsat para detectar cambios entre fecha GEDI y fecha del mapa final.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o etiquetar huellas con disturbio posterior a la adquisición.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GEDI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temporada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final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NASA Earthdata GEDI v3 release; ORNL DAAC GEDI L4A v3, DOI 10.3334/ORNLDAAC/2508.</a:t>
            </a:r>
            <a:endParaRPr lang="en-US"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Máscaras de nube, sombra y nieve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del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enmascarado previo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QA bands, SCL de Sentinel-2 y algoritmos de cloud/shadow masking.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Patagonia, nieve estacional debe tratarse como clase aparte o excluirse.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Composites de verano reducen nieve, pero no eliminan nubes orográficas.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ayuda a mantener observación cuando el óptico queda incompleto.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92161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0917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593147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58071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7382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61390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394536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93292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46177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60446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píxeles saturados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ESA/Copernicus Sentinel-1; CONAE SAOCOM; SAOCOM Mission Products Definition (2024).</a:t>
            </a:r>
            <a:endParaRPr lang="en-US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 y radar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 la biomasa y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contenido de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Retrodispersión SAR cambia con humedad de suelo, lluvia previa y nieve húmeda.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ventanas temporales comparables o métricas robustas como mediana/percentiles.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variables climáticas o humedad antecedente puede separar biomasa de estado hídrico.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es especialmente valioso, pero su sensibilidad a humedad debe manejarse.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ESA/Copernicus Sentinel-1; CONAE SAOCOM; SAOCOM Mission Products Definition (2024). CIEFAP/SNMBN Bosque Andino </a:t>
            </a:r>
            <a:r>
              <a:rPr lang="en-US" sz="14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Patagónico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Argentina </a:t>
            </a:r>
            <a:r>
              <a:rPr lang="en-US" sz="14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Mapas de Bosque Nativo; Chubut OTBN.</a:t>
            </a:r>
            <a:endParaRPr lang="en-US" sz="1400"/>
          </a:p>
        </p:txBody>
      </p:sp>
      <p:graphicFrame>
        <p:nvGraphicFramePr>
          <p:cNvPr id="21" name="Grafico 3"/>
          <p:cNvGraphicFramePr/>
          <p:nvPr>
            <p:extLst>
              <p:ext uri="{D42A27DB-BD31-4B8C-83A1-F6EECF244321}">
                <p14:modId xmlns:p14="http://schemas.microsoft.com/office/powerpoint/2010/main" val="3000147540"/>
              </p:ext>
            </p:extLst>
          </p:nvPr>
        </p:nvGraphicFramePr>
        <p:xfrm>
          <a:off x="5897880" y="1234440"/>
          <a:ext cx="5623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multifuente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base para mapa de 10–30 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con huellas GEDI L4A filtradas como etiquetas.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predictores ópticos, radar, topografía y disturbio temporal.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validación espacial y evaluación por estratos forestales.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biomasa y cuantiles/incertidumbre para cada píxel forestal válido.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GEDI L4A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Stack predictores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RF / XGBoost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Validación espacial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Mapa AGBD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Duncanson et al. (2022); Kellner et al. (2023); Wang et al. (2024); Subedi y Zurqani (2025). NASA Earthdata GEDI v3 release; ORNL DAAC GEDI L4A v3, DOI 10.3334/ORNLDAAC/2508. USGS Landsat Collection 2; ESA/Copernicus Sentinel-2 MSI; NASA HLS. ESA/Copernicus Sentinel-1; CONAE SAOCOM; SAOCOM Mission Products Definition (2024).</a:t>
            </a:r>
            <a:endParaRPr lang="en-US" sz="1400"/>
          </a:p>
        </p:txBody>
      </p:sp>
      <p:sp>
        <p:nvSpPr>
          <p:cNvPr id="922" name="Connector 922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3" name="Connector 923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4" name="Connector 924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5" name="Connector 925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vs XGBoost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robustos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el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experimental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siendo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determinante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es robusto, sencillo y tolerante a variables correlacionadas.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puede capturar interacciones complejas con tuning cuidadoso.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pueden fallar fuera del dominio de entrenamiento.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comparación debe hacerse con la misma validación espacial y las mismas muestras.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Duncanson et al. (2022); Kellner et al. (2023); Wang et al. (2024); Subedi y Zurqani (2025).</a:t>
            </a:r>
            <a:endParaRPr lang="en-US" sz="1400"/>
          </a:p>
        </p:txBody>
      </p:sp>
      <p:graphicFrame>
        <p:nvGraphicFramePr>
          <p:cNvPr id="23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747404"/>
              </p:ext>
            </p:extLst>
          </p:nvPr>
        </p:nvGraphicFramePr>
        <p:xfrm>
          <a:off x="5897880" y="1234440"/>
          <a:ext cx="562356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Modelo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Ventajas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Limitaciones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RF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Estable e interpretable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Menor capacidad de extrapolación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XGBoost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Precisión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Ajuste fino y sobreajuste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Lineal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Simplicidad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Sesgos ante no linealidad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Ensemble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Robustez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Complejidad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extrapolación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no debe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fuera de su dominio de entrenamiento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distribución de predictores de huellas vs paisaje completo.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distancia multivariada o mapas de área de aplicabilidad.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píxeles fuera del dominio de entrenamiento con mayor incertidumbre.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parcelas o huellas adicionales en estratos poco representados.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Muestras GEDI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Paisaje total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Distancia AOA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Máscara AOI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Incertidumbre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Duncanson et al. (2022); Kellner et al. (2023); Wang et al. (2024); Subedi y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Zurqani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(2025).</a:t>
            </a:r>
            <a:endParaRPr lang="en-US" sz="1400" dirty="0"/>
          </a:p>
        </p:txBody>
      </p:sp>
      <p:sp>
        <p:nvSpPr>
          <p:cNvPr id="926" name="Connector 926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7" name="Connector 927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8" name="Connector 928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9" name="Connector 929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variables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de la importancia de variables con cautela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 importance o SHAP ayudan a entender predictores dominantes.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alta no prueba causalidad: puede reflejar correlación espacial.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importancia por estrato forestal y estación.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radar domina, revisar si está midiendo biomasa o humedad/incidencia.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Duncanson et al. (2022); Kellner et al. (2023); Wang et al. (2024); Subedi y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Zurqani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(2025). ESA/Copernicus Sentinel-1; CONAE SAOCOM; SAOCOM Mission Products Definition (2024). USGS Landsat Collection 2; ESA/Copernicus Sentinel-2 MSI; NASA HLS. Los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ilustrativos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no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corresponden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un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real.</a:t>
            </a:r>
            <a:endParaRPr lang="en-US" sz="1400" dirty="0"/>
          </a:p>
        </p:txBody>
      </p:sp>
      <p:graphicFrame>
        <p:nvGraphicFramePr>
          <p:cNvPr id="24" name="Grafico 4" descr="Chart"/>
          <p:cNvGraphicFramePr/>
          <p:nvPr>
            <p:extLst>
              <p:ext uri="{D42A27DB-BD31-4B8C-83A1-F6EECF244321}">
                <p14:modId xmlns:p14="http://schemas.microsoft.com/office/powerpoint/2010/main" val="4147894474"/>
              </p:ext>
            </p:extLst>
          </p:nvPr>
        </p:nvGraphicFramePr>
        <p:xfrm>
          <a:off x="5897880" y="1234440"/>
          <a:ext cx="5623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del mapa final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 para detalle; 30 m para robustez temporal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 con Sentinel-2/Sentinel-1 mejora bordes y unidades pequeñas.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con Landsat/HLS mejora estabilidad histórica y reduce ruido espacial.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puede tener resoluciones variables según producto/modo.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ambos niveles puede ser útil: operativo 30 m y detalle 10 m para zonas prioritarias.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ESA/Copernicus Sentinel-1; CONAE SAOCOM; SAOCOM Mission Products Definition (2024). GEDI/UMD Products; LP DAAC GEDI02 User Guides; ORNL DAAC L4A/L4B.</a:t>
            </a:r>
            <a:endParaRPr lang="en-US" sz="1400"/>
          </a:p>
        </p:txBody>
      </p:sp>
      <p:graphicFrame>
        <p:nvGraphicFramePr>
          <p:cNvPr id="18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32756"/>
              </p:ext>
            </p:extLst>
          </p:nvPr>
        </p:nvGraphicFramePr>
        <p:xfrm>
          <a:off x="5897880" y="1234440"/>
          <a:ext cx="562356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Resolución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Uso sugerido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10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Rodales pequeños y bordes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20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Red-edge y SWIR de Sentinel-2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30 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Historia y compatibilidad GEDI/HLS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1 km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Contexto regional (L4B)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biomasa e incertidumbre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inseparables: el valor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confianza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AGBD expresa biomasa predicha por píxel o unidad.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incertidumbre puede ser SE, intervalo 90/95% o coeficiente de variación.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paletas y clases coherentes con rangos locales y evitar falsa precisión decimal.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máscara de no aplicabilidad y notas de versión.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SE/PI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aplicabilidad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válida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Duncanson et al. (2022); Kellner et al. (2023); Wang et al. (2024); Subedi y Zurqani (2025). NASA Earthdata GEDI v3 release; ORNL DAAC GEDI L4A v3, DOI 10.3334/ORNLDAAC/2508.</a:t>
            </a:r>
            <a:endParaRPr lang="en-US"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independiente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 la aptitud operativa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parcelas o zonas no usadas en entrenamiento ni tuning.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contra inventarios forestales, ALS o parcelas permanentes cuando existan.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métricas por tipo forestal, edad/disturbio y topografía.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limitaciones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 mapa con límites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declarados 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más útil que uno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como infalible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Parcelas aparte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Mapa predicho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Métricas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Errores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Revisión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Duncanson et al. (2022); Kellner et al. (2023); Wang et al. (2024); Subedi y Zurqani (2025). CIEFAP/SNMBN Bosque Andino Patagónico; Argentina Ambiente Mapas de Bosque Nativo; Chubut OTBN.</a:t>
            </a:r>
            <a:endParaRPr lang="en-US" sz="1400"/>
          </a:p>
        </p:txBody>
      </p:sp>
      <p:sp>
        <p:nvSpPr>
          <p:cNvPr id="930" name="Connector 930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31" name="Connector 931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32" name="Connector 932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33" name="Connector 933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muestreo de campo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 la priorización del muestreo en terreno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estratos con pocas huellas, alta incertidumbre o alto valor de conservación.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Balancear tipos forestales, gradientes altitudinales y disturbios.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parcelas compatibles con footprint o diseñar subparcelas agregables.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mapas preliminares para optimizar accesos y costos.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Incertidumbre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Estratos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Accesos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Parcelas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Validación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Duncanson et al. (2022); Kellner et al. (2023); Wang et al. (2024); Subedi y Zurqani (2025). CIEFAP/SNMBN Bosque Andino Patagónico; Argentina Ambiente Mapas de Bosque Nativo; Chubut OTBN.</a:t>
            </a:r>
            <a:endParaRPr lang="en-US" sz="1400"/>
          </a:p>
        </p:txBody>
      </p:sp>
      <p:sp>
        <p:nvSpPr>
          <p:cNvPr id="934" name="Connector 934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35" name="Connector 935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36" name="Connector 936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37" name="Connector 937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Ecuaciones alométricas locales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estimación de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origina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medición de campo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ecuaciones por especie o grupo funcional documentado.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Declarar si se estima biomasa aérea total, fuste o volumen comercial.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densidad de madera cuando la ecuación lo requiera.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Propagar error alométrico hacia validación y calibración.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CIEFAP/SNMBN Bosque Andino Patagónico; Argentina Ambiente Mapas de Bosque Nativo; Chubut OTBN. Duncanson et al. (2022); Kellner et al. (2023); Wang et al. (2024); Subedi y Zurqani (2025).</a:t>
            </a:r>
            <a:endParaRPr lang="en-US" sz="1400"/>
          </a:p>
        </p:txBody>
      </p:sp>
      <p:graphicFrame>
        <p:nvGraphicFramePr>
          <p:cNvPr id="23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85225"/>
              </p:ext>
            </p:extLst>
          </p:nvPr>
        </p:nvGraphicFramePr>
        <p:xfrm>
          <a:off x="5897880" y="1234440"/>
          <a:ext cx="562356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Dato de campo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Uso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Riesgo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DAP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Biomasa individual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Medición y forma del fuste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Altura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Mejor ajuste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Datos faltantes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Especie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Ecuación específica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Identificación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Densidad de madera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Conversión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Variabilidad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+ Sentinel-1 +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Combinación de sensores activos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estructura y humedad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ancla altura/AGBD; Sentinel-1 aporta frecuencia C-band; SAOCOM aporta L-band.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combinación puede mejorar bosques densos donde óptico y C-band saturan.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armonizar fechas, incidencia, polarización y correcciones topográficas.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por humedad/temporada evita confundir agua con madera.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GEDI AGBD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S1 C-band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SAOCOM L-band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Predictores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Mapa AGBD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Earthdata GEDI v3 release; ORNL DAAC GEDI L4A v3, DOI 10.3334/ORNLDAAC/2508. ESA/Copernicus Sentinel-1; CONAE SAOCOM; SAOCOM Mission Products Definition (2024). Duncanson et al. (2022); Kellner et al. (2023); Wang et al. (2024); Subedi y Zurqani (2025).</a:t>
            </a:r>
            <a:endParaRPr lang="en-US" sz="1400"/>
          </a:p>
        </p:txBody>
      </p:sp>
      <p:sp>
        <p:nvSpPr>
          <p:cNvPr id="938" name="Connector 938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39" name="Connector 939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0" name="Connector 940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1" name="Connector 941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+ Sentinel-2 +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Fenología, disturbio y estructura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integrados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esquema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aporta historia de disturbio y recuperación.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aporta detalle espacial y red-edge actual.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aporta estructura vertical y AGBD por huella.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debe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robustas,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lugar de 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acumular índices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redundantes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Historia Landsat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Detalle S2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Estructura GEDI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Modelo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Mapa AGBD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NASA Earthdata GEDI v3 release; ORNL DAAC GEDI L4A v3, DOI 10.3334/ORNLDAAC/2508. Duncanson et al. (2022); Kellner et al. (2023); Wang et al. (2024); Subedi y Zurqani (2025).</a:t>
            </a:r>
            <a:endParaRPr lang="en-US" sz="1400"/>
          </a:p>
        </p:txBody>
      </p:sp>
      <p:sp>
        <p:nvSpPr>
          <p:cNvPr id="942" name="Connector 942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3" name="Connector 943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4" name="Connector 944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5" name="Connector 945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recomendado para Chubut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configuración inicial defendible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GEDI L4A v3 AGBD filtrado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ICESat-2 ATL08 como apoyo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Óptico: HLS 30 m y Sentinel-2 red-edge/índices de verano.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Sentinel-1 VV/VH temporales y SAOCOM L-band corregido por terreno.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Contexto: DEM, pendiente, exposición, tipo forestal, años desde disturbio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 ESA CCI Biomass v6 como control de magnitud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Earthdata GEDI v3 release; ORNL DAAC GEDI L4A v3, DOI 10.3334/ORNLDAAC/2508. USGS Landsat Collection 2; ESA/Copernicus Sentinel-2 MSI; NASA HLS. ESA/Copernicus Sentinel-1; CONAE SAOCOM; SAOCOM Mission Products Definition (2024). CIEFAP/SNMBN Bosque Andino Patagónico; Argentina Ambiente Mapas de Bosque Nativo; Chubut OTBN.</a:t>
            </a:r>
            <a:endParaRPr lang="en-US" sz="1400"/>
          </a:p>
        </p:txBody>
      </p:sp>
      <p:graphicFrame>
        <p:nvGraphicFramePr>
          <p:cNvPr id="26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898790"/>
              </p:ext>
            </p:extLst>
          </p:nvPr>
        </p:nvGraphicFramePr>
        <p:xfrm>
          <a:off x="5897880" y="1234440"/>
          <a:ext cx="5623560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Bloque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Variables iniciales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Comentario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GEDI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agbd, agbd_se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Etiqueta y ponderación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Óptico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NDMI, NBR, NDRE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Fenología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Radar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VH, cocientes, banda L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Estructura y humedad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Topografía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Elevación y pendiente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Condición de sitio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Disturbio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Año e intensidad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Historia del rodal</a:t>
                      </a:r>
                    </a:p>
                  </a:txBody>
                  <a:tcPr marL="45720" marR="45720" marT="27432" marB="27432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operativo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abierto al producto de gestión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descarga/actualización de GEDI y covariables.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filtros, extracción, entrenamiento y validación con scripts versionados.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mapas COG y tablas GPKG/CSV con metadatos.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resultados con expertos forestales antes de tomar decisiones.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15179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Datos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2221992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Procesamiento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2926080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Modelo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3630168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Validación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223760" y="4334256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Publicación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7223760" y="50383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Revisión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GEDI Data Resources; LP DAAC Quick Guide; Earthdata Cloud Cookbook. Elaboración propia.</a:t>
            </a:r>
            <a:endParaRPr lang="en-US" sz="1400"/>
          </a:p>
        </p:txBody>
      </p:sp>
      <p:sp>
        <p:nvSpPr>
          <p:cNvPr id="946" name="Connector 946"/>
          <p:cNvSpPr/>
          <p:nvPr/>
        </p:nvSpPr>
        <p:spPr>
          <a:xfrm>
            <a:off x="8709660" y="2020824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7" name="Connector 947"/>
          <p:cNvSpPr/>
          <p:nvPr/>
        </p:nvSpPr>
        <p:spPr>
          <a:xfrm>
            <a:off x="8709660" y="2724912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8" name="Connector 948"/>
          <p:cNvSpPr/>
          <p:nvPr/>
        </p:nvSpPr>
        <p:spPr>
          <a:xfrm>
            <a:off x="8709660" y="3429000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49" name="Connector 949"/>
          <p:cNvSpPr/>
          <p:nvPr/>
        </p:nvSpPr>
        <p:spPr>
          <a:xfrm>
            <a:off x="8709660" y="4133088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50" name="Connector 950"/>
          <p:cNvSpPr/>
          <p:nvPr/>
        </p:nvSpPr>
        <p:spPr>
          <a:xfrm>
            <a:off x="8709660" y="4837176"/>
            <a:ext cx="0" cy="201168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sugerido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realista en fases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AOI, datos, filtros y exploración GEDI.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stack óptico/radar y modelo preliminar.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campaña de campo dirigida por incertidumbre.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4: validación final, mapa operativo y documentación.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 mes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datos/AOI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meses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preliminar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meses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7-8 meses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final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Elaboración propia.</a:t>
            </a:r>
            <a:endParaRPr lang="en-US"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carbono y reporte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mapa de AGBD al stock con trazabilidad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AGBD a biomasa total de área y luego a carbono con factor explícito.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stocks por jurisdicción, cuenca, categoría OTBN o tipo forestal.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incertidumbre del stock y área válida.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consistencia temporal para monitoreo de cambios.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783080"/>
            <a:ext cx="5623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 mapa  +  área válida  +  fracción C  +  incertidumbre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89320" y="2697480"/>
            <a:ext cx="54406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= suma de píxeles forestales válidos.</a:t>
            </a:r>
            <a:endParaRPr lang="en-US" sz="12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Mg biomasa, Mg C o Mg CO₂e sin mezclarlos.</a:t>
            </a:r>
            <a:endParaRPr lang="en-US" sz="12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categorías oficiales para agregación.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CIEFAP/SNMBN Bosque Andino Patagónico; Argentina Ambiente Mapas de Bosque Nativo; Chubut OTBN. Duncanson et al. (2022); Kellner et al. (2023); Wang et al. (2024); Subedi y Zurqani (2025).</a:t>
            </a:r>
            <a:endParaRPr lang="en-US"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recuperación post-incendio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Estructura, vigor y humedad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describen dimensiones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recuperación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Landsat/Sentinel-2 detectan severidad y trayectoria espectral.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Sentinel-1/SAOCOM aportan cambios de estructura/humedad incluso con nubes.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valida recuperación vertical cuando hay nuevas huellas o se usa como referencia histórica.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puede mapear biomasa recuperada y zonas con regeneración lenta.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USGS Landsat Collection 2; ESA/Copernicus Sentinel-2 MSI; NASA HLS. ESA/Copernicus Sentinel-1; CONAE SAOCOM; SAOCOM Mission Products Definition (2024). NASA GEDI/UMD; NASA GSFC SVS 13090; Dubayah et al. (2020). CIEFAP/SNMBN Bosque Andino Patagónico; Argentina Ambiente Mapas de Bosque Nativo; Chubut OTBN.</a:t>
            </a:r>
            <a:endParaRPr lang="en-US" sz="1400"/>
          </a:p>
        </p:txBody>
      </p:sp>
      <p:graphicFrame>
        <p:nvGraphicFramePr>
          <p:cNvPr id="21" name="Grafico"/>
          <p:cNvGraphicFramePr/>
          <p:nvPr>
            <p:extLst>
              <p:ext uri="{D42A27DB-BD31-4B8C-83A1-F6EECF244321}">
                <p14:modId xmlns:p14="http://schemas.microsoft.com/office/powerpoint/2010/main" val="2587654239"/>
              </p:ext>
            </p:extLst>
          </p:nvPr>
        </p:nvGraphicFramePr>
        <p:xfrm>
          <a:off x="5897880" y="1234440"/>
          <a:ext cx="5623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manejo forestal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biomasa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el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corta, pero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prioridades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rodales con alto stock, baja incertidumbre y accesibilidad conocida.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áreas de conservación, restauración y uso sostenible según OTBN y normativa local.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Cruzar biomasa con pendiente, cuencas, caminos y valores de biodiversidad.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campo para confirmar antes de decisiones silvícolas.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172364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Biomasa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223760" y="250088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Incertidumbre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223760" y="327812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OTBN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23760" y="405536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Accesos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23760" y="4832604"/>
            <a:ext cx="2971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91440" tIns="0" rIns="9144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D6A4F"/>
                </a:solidFill>
                <a:latin typeface="Arial"/>
              </a:rPr>
              <a:t>Decisión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CIEFAP/SNMBN Bosque Andino Patagónico; Argentina Ambiente Mapas de Bosque Nativo; Chubut OTBN. Duncanson et al. (2022); Kellner et al. (2023); Wang et al. (2024); Subedi y Zurqani (2025).</a:t>
            </a:r>
            <a:endParaRPr lang="en-US" sz="1400"/>
          </a:p>
        </p:txBody>
      </p:sp>
      <p:sp>
        <p:nvSpPr>
          <p:cNvPr id="951" name="Connector 951"/>
          <p:cNvSpPr/>
          <p:nvPr/>
        </p:nvSpPr>
        <p:spPr>
          <a:xfrm>
            <a:off x="8709660" y="222656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52" name="Connector 952"/>
          <p:cNvSpPr/>
          <p:nvPr/>
        </p:nvSpPr>
        <p:spPr>
          <a:xfrm>
            <a:off x="8709660" y="300380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53" name="Connector 953"/>
          <p:cNvSpPr/>
          <p:nvPr/>
        </p:nvSpPr>
        <p:spPr>
          <a:xfrm>
            <a:off x="8709660" y="378104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54" name="Connector 954"/>
          <p:cNvSpPr/>
          <p:nvPr/>
        </p:nvSpPr>
        <p:spPr>
          <a:xfrm>
            <a:off x="8709660" y="4558284"/>
            <a:ext cx="0" cy="274320"/>
          </a:xfrm>
          <a:prstGeom prst="line">
            <a:avLst/>
          </a:prstGeom>
          <a:noFill/>
          <a:ln w="19050" cap="flat">
            <a:solidFill>
              <a:srgbClr val="334155"/>
            </a:solidFill>
            <a:tailEnd type="triangle" w="med" len="me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biodiversidad y estructura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aporta, además del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indicadores de estructura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hábitat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FHD, PAVD y altura ayudan a caracterizar complejidad vertical.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se relaciona con hábitat, conectividad y conservación.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aporta composición/cobertura; SAR aporta estructura y humedad.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de complejidad pueden complementar biomasa en áreas protegidas.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GEDI/UMD Products; LP DAAC GEDI02 User Guides; ORNL DAAC L4A/L4B. CIEFAP/SNMBN Bosque Andino Patagónico; Argentina Ambiente Mapas de Bosque Nativo; Chubut OTBN.</a:t>
            </a:r>
            <a:endParaRPr lang="en-US" sz="14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339379"/>
              </p:ext>
            </p:extLst>
          </p:nvPr>
        </p:nvGraphicFramePr>
        <p:xfrm>
          <a:off x="5897880" y="1234440"/>
          <a:ext cx="5623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Indicador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Aplicación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RH98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Altura dominante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FHD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Diversidad vertical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PAVD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Estratos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Cover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Cierre de copa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508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AGBD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0">
                          <a:solidFill>
                            <a:srgbClr val="111827"/>
                          </a:solidFill>
                          <a:latin typeface="Arial" pitchFamily="34" charset="0"/>
                          <a:cs typeface="Arial" pitchFamily="34" charset="0"/>
                        </a:rPr>
                        <a:t>Stock de carbono</a:t>
                      </a:r>
                    </a:p>
                  </a:txBody>
                  <a:tcPr marL="45720" marR="45720" anchor="ctr">
                    <a:lnL w="5080">
                      <a:solidFill>
                        <a:srgbClr val="CBD5E1"/>
                      </a:solidFill>
                    </a:lnL>
                    <a:lnR w="5080">
                      <a:solidFill>
                        <a:srgbClr val="CBD5E1"/>
                      </a:solidFill>
                    </a:lnR>
                    <a:lnT w="5080">
                      <a:solidFill>
                        <a:srgbClr val="CBD5E1"/>
                      </a:solidFill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finales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 explícita de limitaciones forma parte del producto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es muestral y su densidad puede ser baja en áreas pequeñas.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 se satura y sufre nubes/sombras/nieve.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requiere correcciones topográficas y control de humedad.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ML predicen bien dentro del dominio; extrapolan mal donde no fueron entrenados.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92161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0917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GEDI limitada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593147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58071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saturación óptica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7382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61390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topográfico/humedad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394536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93292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local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46177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60446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GEDI/UMD; NASA GSFC SVS 13090; Dubayah et al. (2020).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1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clave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flujo robusto para el bosque andino chubutense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GEDI L4A v3 filtrado como referencia inicial y validar localmente.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dos stacks: 30 m histórico HLS/Landsat y 10 m Sentinel-2/Sentinel-1.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SAOCOM L-band donde haya disponibilidad y corrección SAR sólida.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siempre mapa de biomasa, incertidumbre, aplicabilidad y metadatos.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9961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24028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154680"/>
            <a:ext cx="27294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282696"/>
            <a:ext cx="25831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4023360"/>
            <a:ext cx="2546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Earthdata GEDI v3 release; ORNL DAAC GEDI L4A v3, DOI 10.3334/ORNLDAAC/2508.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1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mínimo viable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mínimos exigibles a una implementación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GEDI filtrados con tabla de conteos por filtro.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de covariables documentado y reproducible.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validado espacialmente con métricas por estrato.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 AGBD, raster de incertidumbre y reporte metodológico con referencias.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filtrado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171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1534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reproducible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9535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espacial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3771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7536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 raster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4572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5537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 raster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97880" y="5372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5353812"/>
            <a:ext cx="5303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Elaboración propia. NASA GEDI Data Resources; LP DAAC Quick Guide; Earthdata Cloud Cookbook. Duncanson et al. (2022); Kellner et al. (2023); Wang et al. (2024); Subedi y Zurqani (2025).</a:t>
            </a:r>
            <a:endParaRPr lang="en-US" sz="1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para Chubut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publicar o usar el mapa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capa de bosque nativo y OTBN están actualizadas y citadas?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excluyeron huellas con mala calidad, borde, nieve, agua y disturbios no representativos?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validación es espacial y por tipo forestal?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usuario final entiende límites, resolución, fecha y unidades?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92161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0917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oficiales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593147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58071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documentados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7382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61390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por estrato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394536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932926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claras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46177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604461"/>
            <a:ext cx="5303520" cy="6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visibles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CIEFAP/SNMBN Bosque Andino Patagónico; Argentina Ambiente Mapas de Bosque Nativo; Chubut OTBN. GEDI/UMD Products; LP DAAC GEDI02 User Guides; ORNL DAAC L4A/L4B. Duncanson et al. (2022); Kellner et al. (2023); Wang et al. (2024); Subedi y Zurqani (2025).</a:t>
            </a:r>
            <a:endParaRPr lang="en-US"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final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no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sustituye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</a:t>
            </a: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campo; </a:t>
            </a:r>
            <a:r>
              <a:rPr lang="en-US" sz="2000" b="1" i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escalarlo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da estructura vertical y biomasa por huella con trazabilidad internacional.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y Sentinel-2 aportan continuidad óptica, fenología e historia de disturbio.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y SAOCOM aportan observación radar bajo nubes y señales estructurales complementarias.</a:t>
            </a:r>
            <a:endParaRPr lang="en-US" sz="180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determinante 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novedad del 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sino una inferencia transparente, validada y útil para </a:t>
            </a:r>
            <a:r>
              <a:rPr lang="en-US" sz="18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897880" y="1737360"/>
            <a:ext cx="5623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mejor estimación de biomasa no es la que tiene más capas; es la que declara qué sabe, qué no sabe y cuánto se equivoca.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6000" y="5852160"/>
            <a:ext cx="115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i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4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GEDI/UMD; NASA GSFC SVS 13090; Dubayah et al. (2020).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principales 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GEDI, descarga y datos ópticos/radar</a:t>
            </a:r>
            <a:endParaRPr lang="en-US" sz="2200" dirty="0"/>
          </a:p>
        </p:txBody>
      </p:sp>
      <p:sp>
        <p:nvSpPr>
          <p:cNvPr id="4" name="Referencias"/>
          <p:cNvSpPr/>
          <p:nvPr/>
        </p:nvSpPr>
        <p:spPr>
          <a:xfrm>
            <a:off x="685800" y="1143000"/>
            <a:ext cx="10820400" cy="47548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>
            <a:lvl1pPr>
              <a:defRPr sz="1600">
                <a:latin typeface="Arial"/>
              </a:defRPr>
            </a:lvl1pPr>
          </a:lstStyle>
          <a:p>
            <a:pPr marL="342900" indent="-342900" algn="just">
              <a:spcBef>
                <a:spcPts val="9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Dubayah, R. et al. (2020). The Global Ecosystem Dynamics Investigation: High-resolution laser ranging of the Earth’s forests and topography. Science of Remote Sensing, 1, 100002. DOI: 10.1016/j.srs.2020.100002.</a:t>
            </a:r>
          </a:p>
          <a:p>
            <a:pPr marL="342900" indent="-342900" algn="just">
              <a:spcBef>
                <a:spcPts val="9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Duncanson, L. et al. (2022). Aboveground biomass density models for NASA’s GEDI lidar mission. Remote Sensing of Environment, 270, 112845. DOI: 10.1016/j.rse.2021.112845.</a:t>
            </a:r>
          </a:p>
          <a:p>
            <a:pPr marL="342900" indent="-342900" algn="just">
              <a:spcBef>
                <a:spcPts val="9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Kellner, J.R., Armston, J., &amp; Duncanson, L. (2023). Algorithm theoretical basis document for GEDI footprint aboveground biomass density. Earth and Space Science. DOI: 10.1029/2022EA002516.</a:t>
            </a:r>
          </a:p>
          <a:p>
            <a:pPr marL="342900" indent="-342900" algn="just">
              <a:spcBef>
                <a:spcPts val="9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Dubayah, R.O. et al. (2026). GEDI L4A Footprint Level Aboveground Biomass Density, Version 3. ORNL DAAC. DOI: 10.3334/ORNLDAAC/2508.</a:t>
            </a:r>
          </a:p>
          <a:p>
            <a:pPr marL="342900" indent="-342900" algn="just">
              <a:spcBef>
                <a:spcPts val="9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NASA Earthdata / LP DAAC (2026). GEDI Version 3 Data Products Released; GEDI L1B, L2A, L2B V003.</a:t>
            </a:r>
          </a:p>
          <a:p>
            <a:pPr marL="342900" indent="-342900" algn="just">
              <a:spcBef>
                <a:spcPts val="9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NASA GEDI Data Resources GitHub; LP DAAC GEDI Quick Guide V2; NASA Earthdata Cloud Cookbook GEDI L4A tutorials.</a:t>
            </a:r>
          </a:p>
          <a:p>
            <a:pPr marL="342900" indent="-342900" algn="just">
              <a:spcBef>
                <a:spcPts val="9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USGS Landsat Collection 2 Level-2 Science Products; NASA/USGS Landsat 8/9 documentation; NASA Harmonized Landsat Sentinel-2 (HLS).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principales II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SAOCOM, contexto regional y modelado multifuente</a:t>
            </a:r>
            <a:endParaRPr lang="en-US" sz="2200" dirty="0"/>
          </a:p>
        </p:txBody>
      </p:sp>
      <p:sp>
        <p:nvSpPr>
          <p:cNvPr id="13" name="Referencias"/>
          <p:cNvSpPr/>
          <p:nvPr/>
        </p:nvSpPr>
        <p:spPr>
          <a:xfrm>
            <a:off x="685800" y="1005840"/>
            <a:ext cx="10820400" cy="4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>
            <a:lvl1pPr>
              <a:defRPr sz="1600">
                <a:latin typeface="Arial"/>
              </a:defRPr>
            </a:lvl1pPr>
          </a:lstStyle>
          <a:p>
            <a:pPr marL="342900" indent="-342900" algn="just">
              <a:spcBef>
                <a:spcPts val="4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CONAE (2024–2026). SAOCOM Mission Products Definition; Manual de Usuario del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SAOCOM;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SAOCOM.</a:t>
            </a:r>
            <a:endParaRPr lang="en-US" sz="160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CIEFAP /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Desarrollo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Sustentable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(2019).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bosque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Región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forestal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Bosque Andino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Patagónico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Argentina.gob.ar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Mapas de bosques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nativos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Provincia del Chubut.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Ordenamiento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Territorial del Bosque Nativo.</a:t>
            </a:r>
            <a:endParaRPr lang="en-US" sz="160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Wang, C. et al. (2024). Estimation of aboveground biomass for different forest types using Sentinel-1, Sentinel-2, ALOS PALSAR-2, and GEDI. Forests, 15(1), 215.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DOI: 10.3390/f15010215.</a:t>
            </a: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Subedi, P.B. &amp;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Zurqani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H.A. (2025). Multi-sensor forest aboveground biomass estimation using GEDI, machine learning, and deep learning techniques. Advances in Space Research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77(3), 2784–2806. DOI: 10.1016/j.asr.2025.12.032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Moudrý, V. et al. (2024). How to find accurate terrain and canopy height GEDI 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footprints in temperate forests and grasslands? Earth 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Science, 11(10). DOI: 10.1029/2024EA003709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ESA/Copernicus Sentinel-2 MSI and Sentinel-1 mission/product documentation; Copernicus Data Space Ecosystem.</a:t>
            </a:r>
            <a:endParaRPr lang="en-US" sz="160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Neuenschwander, A. &amp; Pitts, K. (2019). The ATL08 land and vegetation product for the ICESat-2 mission. Remote Sensing of Environment, 221, 247–259. DOI: 10.1016/j.rse.2018.11.005.</a:t>
            </a:r>
          </a:p>
          <a:p>
            <a:pPr marL="342900" indent="-342900" algn="just">
              <a:spcBef>
                <a:spcPts val="400"/>
              </a:spcBef>
              <a:buNone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Santoro, M. &amp; Cartus, O. (2025). ESA Biomass Climate Change Initiative (Biomass_cci): Global datasets of forest above-ground biomass, v6.0. NERC EDS CEDA. DOI: 10.5285/95913ffb6467447ca72c4e9d8cf30501.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7857</Words>
  <Application>Microsoft Office PowerPoint</Application>
  <PresentationFormat>Panorámica</PresentationFormat>
  <Paragraphs>889</Paragraphs>
  <Slides>59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59</vt:i4>
      </vt:variant>
    </vt:vector>
  </HeadingPairs>
  <TitlesOfParts>
    <vt:vector size="64" baseType="lpstr">
      <vt:lpstr>Aptos</vt:lpstr>
      <vt:lpstr>Arial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GEDI para estimación de biomasa forestal en el bosque andino chubutense</dc:title>
  <dc:subject>GEDI, biomasa forestal, bosque andino chubutense</dc:subject>
  <dc:creator>OpenAI</dc:creator>
  <cp:lastModifiedBy>Hector Francisco del Valle</cp:lastModifiedBy>
  <cp:revision>17</cp:revision>
  <dcterms:created xsi:type="dcterms:W3CDTF">2026-07-10T19:40:20Z</dcterms:created>
  <dcterms:modified xsi:type="dcterms:W3CDTF">2026-08-26T00:23:41Z</dcterms:modified>
</cp:coreProperties>
</file>