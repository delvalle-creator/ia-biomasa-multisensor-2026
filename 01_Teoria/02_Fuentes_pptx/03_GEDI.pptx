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1"/>
  </p:notesMasterIdLst>
  <p:sldIdLst>
    <p:sldId id="353" r:id="rId2"/>
    <p:sldId id="257" r:id="rId3"/>
    <p:sldId id="258" r:id="rId4"/>
    <p:sldId id="480" r:id="rId5"/>
    <p:sldId id="477" r:id="rId6"/>
    <p:sldId id="475" r:id="rId7"/>
    <p:sldId id="382" r:id="rId8"/>
    <p:sldId id="383" r:id="rId9"/>
    <p:sldId id="384" r:id="rId10"/>
    <p:sldId id="385" r:id="rId11"/>
    <p:sldId id="377" r:id="rId12"/>
    <p:sldId id="381" r:id="rId13"/>
    <p:sldId id="386" r:id="rId14"/>
    <p:sldId id="388" r:id="rId15"/>
    <p:sldId id="389" r:id="rId16"/>
    <p:sldId id="391" r:id="rId17"/>
    <p:sldId id="392" r:id="rId18"/>
    <p:sldId id="394" r:id="rId19"/>
    <p:sldId id="395" r:id="rId20"/>
    <p:sldId id="398" r:id="rId21"/>
    <p:sldId id="399" r:id="rId22"/>
    <p:sldId id="401" r:id="rId23"/>
    <p:sldId id="402" r:id="rId24"/>
    <p:sldId id="404" r:id="rId25"/>
    <p:sldId id="405" r:id="rId26"/>
    <p:sldId id="406" r:id="rId27"/>
    <p:sldId id="407" r:id="rId28"/>
    <p:sldId id="478" r:id="rId29"/>
    <p:sldId id="408" r:id="rId30"/>
    <p:sldId id="409" r:id="rId31"/>
    <p:sldId id="411" r:id="rId32"/>
    <p:sldId id="413" r:id="rId33"/>
    <p:sldId id="473" r:id="rId34"/>
    <p:sldId id="415" r:id="rId35"/>
    <p:sldId id="417" r:id="rId36"/>
    <p:sldId id="419" r:id="rId37"/>
    <p:sldId id="421" r:id="rId38"/>
    <p:sldId id="424" r:id="rId39"/>
    <p:sldId id="425" r:id="rId40"/>
    <p:sldId id="426" r:id="rId41"/>
    <p:sldId id="427" r:id="rId42"/>
    <p:sldId id="428" r:id="rId43"/>
    <p:sldId id="429" r:id="rId44"/>
    <p:sldId id="430" r:id="rId45"/>
    <p:sldId id="431" r:id="rId46"/>
    <p:sldId id="432" r:id="rId47"/>
    <p:sldId id="433" r:id="rId48"/>
    <p:sldId id="434" r:id="rId49"/>
    <p:sldId id="435" r:id="rId50"/>
    <p:sldId id="436" r:id="rId51"/>
    <p:sldId id="437" r:id="rId52"/>
    <p:sldId id="439" r:id="rId53"/>
    <p:sldId id="440" r:id="rId54"/>
    <p:sldId id="441" r:id="rId55"/>
    <p:sldId id="442" r:id="rId56"/>
    <p:sldId id="443" r:id="rId57"/>
    <p:sldId id="444" r:id="rId58"/>
    <p:sldId id="445" r:id="rId59"/>
    <p:sldId id="446" r:id="rId60"/>
    <p:sldId id="447" r:id="rId61"/>
    <p:sldId id="448" r:id="rId62"/>
    <p:sldId id="449" r:id="rId63"/>
    <p:sldId id="450" r:id="rId64"/>
    <p:sldId id="451" r:id="rId65"/>
    <p:sldId id="452" r:id="rId66"/>
    <p:sldId id="454" r:id="rId67"/>
    <p:sldId id="455" r:id="rId68"/>
    <p:sldId id="456" r:id="rId69"/>
    <p:sldId id="457" r:id="rId70"/>
    <p:sldId id="458" r:id="rId71"/>
    <p:sldId id="460" r:id="rId72"/>
    <p:sldId id="463" r:id="rId73"/>
    <p:sldId id="465" r:id="rId74"/>
    <p:sldId id="467" r:id="rId75"/>
    <p:sldId id="468" r:id="rId76"/>
    <p:sldId id="469" r:id="rId77"/>
    <p:sldId id="470" r:id="rId78"/>
    <p:sldId id="479" r:id="rId79"/>
    <p:sldId id="472" r:id="rId8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49912E31-5878-BA62-F741-9365949F0766}"/>
              </a:ext>
            </a:extLst>
          </p:cNvPr>
          <p:cNvSpPr/>
          <p:nvPr/>
        </p:nvSpPr>
        <p:spPr>
          <a:xfrm>
            <a:off x="550164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Curso de posgrado · Esquel, Chubut · 14 al 19 de septiembre de 2026</a:t>
            </a:r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CB4903A-511B-DDDB-0531-13CB6B75561E}"/>
              </a:ext>
            </a:extLst>
          </p:cNvPr>
          <p:cNvSpPr txBox="1"/>
          <p:nvPr/>
        </p:nvSpPr>
        <p:spPr>
          <a:xfrm>
            <a:off x="1624000" y="3276600"/>
            <a:ext cx="8944000" cy="269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ES" sz="1200" b="0" i="0" u="none" strike="noStrike" baseline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Héctor Francisco del Valle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Centro Regional de Geomática (CeReGeo), Facultad de Ciencia y Tecnología (FCyT)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Universidad Autónoma de Entre Ríos (UADER) 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Laboratorio de Ecología, Meteorología y Gestión de Fuegos (LEMIV)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Facultad de Ingeniería, Universidad Nacional de la Patagonia San Juan Bosco (UNPSJB) </a:t>
            </a:r>
          </a:p>
          <a:p>
            <a:pPr algn="ctr"/>
            <a:endParaRPr lang="es-MX" sz="1600" b="0" i="0" u="none" strike="noStrike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Correo Electrónico: </a:t>
            </a:r>
            <a:r>
              <a:rPr lang="es-MX" sz="1600" b="0" i="1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hfdelvalle@gmail.com </a:t>
            </a:r>
            <a:endParaRPr lang="es-E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EEE1322-EB9C-4C8D-AAB6-A911B9E7C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110" y="147103"/>
            <a:ext cx="873551" cy="1044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FF8574B-1940-1DA0-708C-378C742A5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885" y="453103"/>
            <a:ext cx="1941194" cy="432000"/>
          </a:xfrm>
          <a:prstGeom prst="rect">
            <a:avLst/>
          </a:prstGeom>
        </p:spPr>
      </p:pic>
      <p:pic>
        <p:nvPicPr>
          <p:cNvPr id="13" name="Gráfico 12" descr="Secretaría de Ciencia y Tecnología del Chubut">
            <a:extLst>
              <a:ext uri="{FF2B5EF4-FFF2-40B4-BE49-F238E27FC236}">
                <a16:creationId xmlns:a16="http://schemas.microsoft.com/office/drawing/2014/main" id="{CE8FA0D0-9692-B904-C269-8A63CC570F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2921" y="402478"/>
            <a:ext cx="2295000" cy="53325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4EDAAA7-15D0-3C09-2AED-7D08441DC260}"/>
              </a:ext>
            </a:extLst>
          </p:cNvPr>
          <p:cNvSpPr txBox="1"/>
          <p:nvPr/>
        </p:nvSpPr>
        <p:spPr>
          <a:xfrm>
            <a:off x="1812000" y="2610967"/>
            <a:ext cx="8568000" cy="63820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s-ES" sz="2800" b="1" dirty="0">
                <a:solidFill>
                  <a:schemeClr val="bg1"/>
                </a:solidFill>
              </a:rPr>
              <a:t>Global </a:t>
            </a:r>
            <a:r>
              <a:rPr lang="es-ES" sz="2800" b="1" dirty="0" err="1">
                <a:solidFill>
                  <a:schemeClr val="bg1"/>
                </a:solidFill>
              </a:rPr>
              <a:t>Ecosystem</a:t>
            </a:r>
            <a:r>
              <a:rPr lang="es-ES" sz="2800" b="1" dirty="0">
                <a:solidFill>
                  <a:schemeClr val="bg1"/>
                </a:solidFill>
              </a:rPr>
              <a:t> Dynamics </a:t>
            </a:r>
            <a:r>
              <a:rPr lang="es-ES" sz="2800" b="1" dirty="0" err="1">
                <a:solidFill>
                  <a:schemeClr val="bg1"/>
                </a:solidFill>
              </a:rPr>
              <a:t>Investigation</a:t>
            </a:r>
            <a:r>
              <a:rPr lang="es-ES" sz="2800" b="1" dirty="0">
                <a:solidFill>
                  <a:schemeClr val="bg1"/>
                </a:solidFill>
              </a:rPr>
              <a:t> (GEDI)</a:t>
            </a:r>
            <a:endParaRPr lang="es-ES" sz="2800" dirty="0">
              <a:solidFill>
                <a:schemeClr val="bg1"/>
              </a:solidFill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BE3C57C2-B1CC-1CA0-B8C7-C8CD76C467D7}"/>
              </a:ext>
            </a:extLst>
          </p:cNvPr>
          <p:cNvSpPr/>
          <p:nvPr/>
        </p:nvSpPr>
        <p:spPr>
          <a:xfrm>
            <a:off x="30000" y="1012828"/>
            <a:ext cx="12132000" cy="165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ES" sz="22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Modelos de Inteligencia Artificial Multisensor </a:t>
            </a:r>
            <a:endParaRPr lang="es-ES" sz="2200" dirty="0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MX" sz="2200" b="1" i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Estimación de Biomasa en Bosques Andinos y Pastizales </a:t>
            </a:r>
            <a:r>
              <a:rPr lang="es-ES" sz="2200" b="1" i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del Ecotono Bosque-Estepa 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58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3D2AD1-B214-4049-BF30-ABFA024EDF27}"/>
              </a:ext>
            </a:extLst>
          </p:cNvPr>
          <p:cNvSpPr>
            <a:spLocks noGrp="1"/>
          </p:cNvSpPr>
          <p:nvPr/>
        </p:nvSpPr>
        <p:spPr>
          <a:xfrm>
            <a:off x="502920" y="392760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Índice de la presentación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2B4767-B0B2-4EDA-BB3F-6ECAC0633189}"/>
              </a:ext>
            </a:extLst>
          </p:cNvPr>
          <p:cNvSpPr>
            <a:spLocks noGrp="1"/>
          </p:cNvSpPr>
          <p:nvPr/>
        </p:nvSpPr>
        <p:spPr>
          <a:xfrm>
            <a:off x="502920" y="820786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Cinco bloques de trabajo para pasar de pulsos lidar a estimaciones de biomasa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A8D1390-D25D-47E8-B7D5-D9BFF29BFD27}"/>
              </a:ext>
            </a:extLst>
          </p:cNvPr>
          <p:cNvSpPr>
            <a:spLocks noGrp="1"/>
          </p:cNvSpPr>
          <p:nvPr/>
        </p:nvSpPr>
        <p:spPr>
          <a:xfrm>
            <a:off x="609600" y="1574800"/>
            <a:ext cx="533400" cy="533400"/>
          </a:xfrm>
          <a:prstGeom prst="ellipse">
            <a:avLst/>
          </a:prstGeom>
          <a:solidFill>
            <a:srgbClr val="2D6A4F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Autofit/>
          </a:bodyPr>
          <a:lstStyle/>
          <a:p>
            <a:pPr algn="l">
              <a:buNone/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EE2C586-390B-4F3A-803D-8D6D4C4DED5D}"/>
              </a:ext>
            </a:extLst>
          </p:cNvPr>
          <p:cNvSpPr>
            <a:spLocks noGrp="1"/>
          </p:cNvSpPr>
          <p:nvPr/>
        </p:nvSpPr>
        <p:spPr>
          <a:xfrm>
            <a:off x="1397000" y="1498600"/>
            <a:ext cx="3810000" cy="3302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9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626BD9-F49D-4A68-8B99-DEB9E048FB01}"/>
              </a:ext>
            </a:extLst>
          </p:cNvPr>
          <p:cNvSpPr>
            <a:spLocks noGrp="1"/>
          </p:cNvSpPr>
          <p:nvPr/>
        </p:nvSpPr>
        <p:spPr>
          <a:xfrm>
            <a:off x="1397000" y="1854200"/>
            <a:ext cx="10185400" cy="4572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500" dirty="0">
                <a:latin typeface="Arial"/>
                <a:ea typeface="Arial"/>
                <a:cs typeface="Arial"/>
              </a:rPr>
              <a:t>El bosque </a:t>
            </a:r>
            <a:r>
              <a:rPr sz="1500" dirty="0" err="1">
                <a:latin typeface="Arial"/>
                <a:ea typeface="Arial"/>
                <a:cs typeface="Arial"/>
              </a:rPr>
              <a:t>andino</a:t>
            </a:r>
            <a:r>
              <a:rPr sz="1500" dirty="0"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latin typeface="Arial"/>
                <a:ea typeface="Arial"/>
                <a:cs typeface="Arial"/>
              </a:rPr>
              <a:t>patagónico</a:t>
            </a:r>
            <a:r>
              <a:rPr sz="1500" dirty="0">
                <a:latin typeface="Arial"/>
                <a:ea typeface="Arial"/>
                <a:cs typeface="Arial"/>
              </a:rPr>
              <a:t> de Chubut: </a:t>
            </a:r>
            <a:r>
              <a:rPr sz="1500" dirty="0" err="1">
                <a:latin typeface="Arial"/>
                <a:ea typeface="Arial"/>
                <a:cs typeface="Arial"/>
              </a:rPr>
              <a:t>por</a:t>
            </a:r>
            <a:r>
              <a:rPr sz="1500" dirty="0"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latin typeface="Arial"/>
                <a:ea typeface="Arial"/>
                <a:cs typeface="Arial"/>
              </a:rPr>
              <a:t>qué</a:t>
            </a:r>
            <a:r>
              <a:rPr sz="1500" dirty="0"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latin typeface="Arial"/>
                <a:ea typeface="Arial"/>
                <a:cs typeface="Arial"/>
              </a:rPr>
              <a:t>medir</a:t>
            </a:r>
            <a:r>
              <a:rPr sz="1500" dirty="0"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latin typeface="Arial"/>
                <a:ea typeface="Arial"/>
                <a:cs typeface="Arial"/>
              </a:rPr>
              <a:t>biomasa</a:t>
            </a:r>
            <a:r>
              <a:rPr sz="1500" dirty="0">
                <a:latin typeface="Arial"/>
                <a:ea typeface="Arial"/>
                <a:cs typeface="Arial"/>
              </a:rPr>
              <a:t> y </a:t>
            </a:r>
            <a:r>
              <a:rPr sz="1500" dirty="0" err="1">
                <a:latin typeface="Arial"/>
                <a:ea typeface="Arial"/>
                <a:cs typeface="Arial"/>
              </a:rPr>
              <a:t>qué</a:t>
            </a:r>
            <a:r>
              <a:rPr sz="1500" dirty="0"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latin typeface="Arial"/>
                <a:ea typeface="Arial"/>
                <a:cs typeface="Arial"/>
              </a:rPr>
              <a:t>limita</a:t>
            </a:r>
            <a:r>
              <a:rPr sz="1500" dirty="0">
                <a:latin typeface="Arial"/>
                <a:ea typeface="Arial"/>
                <a:cs typeface="Arial"/>
              </a:rPr>
              <a:t> al </a:t>
            </a:r>
            <a:r>
              <a:rPr sz="1500" dirty="0" err="1">
                <a:latin typeface="Arial"/>
                <a:ea typeface="Arial"/>
                <a:cs typeface="Arial"/>
              </a:rPr>
              <a:t>inventario</a:t>
            </a:r>
            <a:r>
              <a:rPr sz="1500" dirty="0"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latin typeface="Arial"/>
                <a:ea typeface="Arial"/>
                <a:cs typeface="Arial"/>
              </a:rPr>
              <a:t>tradicional</a:t>
            </a:r>
            <a:r>
              <a:rPr sz="1500" dirty="0"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8D64F05-F47A-4A33-9C3A-8CD6259DBE8E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10972800" cy="12700"/>
          </a:xfrm>
          <a:prstGeom prst="rect">
            <a:avLst/>
          </a:prstGeom>
          <a:solidFill>
            <a:srgbClr val="DDE7E0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46F4755-B289-416A-86CF-6CEA1CCE1E73}"/>
              </a:ext>
            </a:extLst>
          </p:cNvPr>
          <p:cNvSpPr>
            <a:spLocks noGrp="1"/>
          </p:cNvSpPr>
          <p:nvPr/>
        </p:nvSpPr>
        <p:spPr>
          <a:xfrm>
            <a:off x="609600" y="2565400"/>
            <a:ext cx="533400" cy="533400"/>
          </a:xfrm>
          <a:prstGeom prst="ellipse">
            <a:avLst/>
          </a:prstGeom>
          <a:solidFill>
            <a:srgbClr val="2D6A4F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Autofit/>
          </a:bodyPr>
          <a:lstStyle/>
          <a:p>
            <a:pPr algn="l">
              <a:buNone/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F466A9B-66C6-4B40-8AEA-C4459F7C5421}"/>
              </a:ext>
            </a:extLst>
          </p:cNvPr>
          <p:cNvSpPr>
            <a:spLocks noGrp="1"/>
          </p:cNvSpPr>
          <p:nvPr/>
        </p:nvSpPr>
        <p:spPr>
          <a:xfrm>
            <a:off x="1397000" y="2489200"/>
            <a:ext cx="3810000" cy="3302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9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GEDI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1D32469-F646-4A4B-8A73-4A0E749F65BE}"/>
              </a:ext>
            </a:extLst>
          </p:cNvPr>
          <p:cNvSpPr>
            <a:spLocks noGrp="1"/>
          </p:cNvSpPr>
          <p:nvPr/>
        </p:nvSpPr>
        <p:spPr>
          <a:xfrm>
            <a:off x="1397000" y="2844800"/>
            <a:ext cx="10185400" cy="4572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500">
                <a:latin typeface="Arial"/>
                <a:ea typeface="Arial"/>
                <a:cs typeface="Arial"/>
              </a:rPr>
              <a:t>Qué mide el lidar de onda completa, cómo funciona el instrumento y qué productos entrega.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A56C242-FFFA-43E2-9777-0DDBED01A4A5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10972800" cy="12700"/>
          </a:xfrm>
          <a:prstGeom prst="rect">
            <a:avLst/>
          </a:prstGeom>
          <a:solidFill>
            <a:srgbClr val="DDE7E0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9356B18-9DCC-4917-8BC6-132D4C05DE73}"/>
              </a:ext>
            </a:extLst>
          </p:cNvPr>
          <p:cNvSpPr>
            <a:spLocks noGrp="1"/>
          </p:cNvSpPr>
          <p:nvPr/>
        </p:nvSpPr>
        <p:spPr>
          <a:xfrm>
            <a:off x="609600" y="3556000"/>
            <a:ext cx="533400" cy="533400"/>
          </a:xfrm>
          <a:prstGeom prst="ellipse">
            <a:avLst/>
          </a:prstGeom>
          <a:solidFill>
            <a:srgbClr val="2D6A4F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Autofit/>
          </a:bodyPr>
          <a:lstStyle/>
          <a:p>
            <a:pPr algn="l">
              <a:buNone/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B8F47EE-4149-4C8C-9F17-75116BA697FA}"/>
              </a:ext>
            </a:extLst>
          </p:cNvPr>
          <p:cNvSpPr>
            <a:spLocks noGrp="1"/>
          </p:cNvSpPr>
          <p:nvPr/>
        </p:nvSpPr>
        <p:spPr>
          <a:xfrm>
            <a:off x="1397000" y="3479800"/>
            <a:ext cx="3810000" cy="3302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9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Calidad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CB46697-F421-4026-91D9-0046048AD734}"/>
              </a:ext>
            </a:extLst>
          </p:cNvPr>
          <p:cNvSpPr>
            <a:spLocks noGrp="1"/>
          </p:cNvSpPr>
          <p:nvPr/>
        </p:nvSpPr>
        <p:spPr>
          <a:xfrm>
            <a:off x="1397000" y="3835400"/>
            <a:ext cx="10185400" cy="4572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500">
                <a:latin typeface="Arial"/>
                <a:ea typeface="Arial"/>
                <a:cs typeface="Arial"/>
              </a:rPr>
              <a:t>Banderas, geolocalización, fenología, nieve y topografía: cuándo la huella sirve y cuándo no.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92220E3-2F08-4C70-9EF8-75BE43520BEF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10972800" cy="12700"/>
          </a:xfrm>
          <a:prstGeom prst="rect">
            <a:avLst/>
          </a:prstGeom>
          <a:solidFill>
            <a:srgbClr val="DDE7E0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F5EE317-66E1-4EEB-BC2F-70FAEE3BA3C1}"/>
              </a:ext>
            </a:extLst>
          </p:cNvPr>
          <p:cNvSpPr>
            <a:spLocks noGrp="1"/>
          </p:cNvSpPr>
          <p:nvPr/>
        </p:nvSpPr>
        <p:spPr>
          <a:xfrm>
            <a:off x="609600" y="4546600"/>
            <a:ext cx="533400" cy="533400"/>
          </a:xfrm>
          <a:prstGeom prst="ellipse">
            <a:avLst/>
          </a:prstGeom>
          <a:solidFill>
            <a:srgbClr val="2D6A4F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Autofit/>
          </a:bodyPr>
          <a:lstStyle/>
          <a:p>
            <a:pPr algn="l">
              <a:buNone/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A19433E-44F2-413A-9EA6-E1EF736B6973}"/>
              </a:ext>
            </a:extLst>
          </p:cNvPr>
          <p:cNvSpPr>
            <a:spLocks noGrp="1"/>
          </p:cNvSpPr>
          <p:nvPr/>
        </p:nvSpPr>
        <p:spPr>
          <a:xfrm>
            <a:off x="1397000" y="4470400"/>
            <a:ext cx="3810000" cy="3302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9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Descarga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C15217E-C1E8-4896-9167-11CF804E3FF6}"/>
              </a:ext>
            </a:extLst>
          </p:cNvPr>
          <p:cNvSpPr>
            <a:spLocks noGrp="1"/>
          </p:cNvSpPr>
          <p:nvPr/>
        </p:nvSpPr>
        <p:spPr>
          <a:xfrm>
            <a:off x="1397000" y="4826000"/>
            <a:ext cx="10185400" cy="4572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500">
                <a:latin typeface="Arial"/>
                <a:ea typeface="Arial"/>
                <a:cs typeface="Arial"/>
              </a:rPr>
              <a:t>Rutas de acceso, archivos HDF5, conversión a tablas geoespaciales y filtrado auditable.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0FD67FD3-23D4-48F7-A052-8DEFD062CCF5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12700"/>
          </a:xfrm>
          <a:prstGeom prst="rect">
            <a:avLst/>
          </a:prstGeom>
          <a:solidFill>
            <a:srgbClr val="DDE7E0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11616453-9E9F-4D20-80BC-348124F12DF4}"/>
              </a:ext>
            </a:extLst>
          </p:cNvPr>
          <p:cNvSpPr>
            <a:spLocks noGrp="1"/>
          </p:cNvSpPr>
          <p:nvPr/>
        </p:nvSpPr>
        <p:spPr>
          <a:xfrm>
            <a:off x="609600" y="5537200"/>
            <a:ext cx="533400" cy="533400"/>
          </a:xfrm>
          <a:prstGeom prst="ellipse">
            <a:avLst/>
          </a:prstGeom>
          <a:solidFill>
            <a:srgbClr val="2D6A4F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Autofit/>
          </a:bodyPr>
          <a:lstStyle/>
          <a:p>
            <a:pPr algn="l">
              <a:buNone/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56FFDEF-276F-40E7-B8A9-5C7115C2D185}"/>
              </a:ext>
            </a:extLst>
          </p:cNvPr>
          <p:cNvSpPr>
            <a:spLocks noGrp="1"/>
          </p:cNvSpPr>
          <p:nvPr/>
        </p:nvSpPr>
        <p:spPr>
          <a:xfrm>
            <a:off x="1397000" y="5461000"/>
            <a:ext cx="3810000" cy="3302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9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Análisis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022CAC1E-5C77-4E91-98AC-1BB26E79A09D}"/>
              </a:ext>
            </a:extLst>
          </p:cNvPr>
          <p:cNvSpPr>
            <a:spLocks noGrp="1"/>
          </p:cNvSpPr>
          <p:nvPr/>
        </p:nvSpPr>
        <p:spPr>
          <a:xfrm>
            <a:off x="1397000" y="5816600"/>
            <a:ext cx="10185400" cy="4572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500">
                <a:latin typeface="Arial"/>
                <a:ea typeface="Arial"/>
                <a:cs typeface="Arial"/>
              </a:rPr>
              <a:t>Modelado, validación con parcelas de campo, métricas de error e incertidumbre de la estimación.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20F57C4-C217-453F-8B6B-D65671D997C9}"/>
              </a:ext>
            </a:extLst>
          </p:cNvPr>
          <p:cNvSpPr>
            <a:spLocks noGrp="1"/>
          </p:cNvSpPr>
          <p:nvPr/>
        </p:nvSpPr>
        <p:spPr>
          <a:xfrm>
            <a:off x="11061476" y="6379289"/>
            <a:ext cx="482824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r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2/79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77AC391-87DB-4F35-980D-C0CF632E5183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0F9110C-AF5A-40DC-9D16-D17044F04260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0ECB3DC-5DE1-406B-9953-54D04830550C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8531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A5B961-50D2-4D03-86AC-6D2AA213ED0A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Objetivos técnicos</a:t>
            </a:r>
            <a:endParaRPr sz="240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30359FC-E324-4A50-9F38-4EB666BC04EB}"/>
              </a:ext>
            </a:extLst>
          </p:cNvPr>
          <p:cNvSpPr>
            <a:spLocks noGrp="1"/>
          </p:cNvSpPr>
          <p:nvPr/>
        </p:nvSpPr>
        <p:spPr>
          <a:xfrm>
            <a:off x="609600" y="1574800"/>
            <a:ext cx="584200" cy="584200"/>
          </a:xfrm>
          <a:prstGeom prst="ellipse">
            <a:avLst/>
          </a:prstGeom>
          <a:solidFill>
            <a:srgbClr val="2D6A4F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Autofit/>
          </a:bodyPr>
          <a:lstStyle/>
          <a:p>
            <a:pPr algn="l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2E417EC-6756-4392-B56E-D01CA2A798BF}"/>
              </a:ext>
            </a:extLst>
          </p:cNvPr>
          <p:cNvSpPr>
            <a:spLocks noGrp="1"/>
          </p:cNvSpPr>
          <p:nvPr/>
        </p:nvSpPr>
        <p:spPr>
          <a:xfrm>
            <a:off x="1473200" y="1473200"/>
            <a:ext cx="3810000" cy="3810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20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Seleccionar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1A3ECE1-C69C-4317-9E1C-8758DECD8458}"/>
              </a:ext>
            </a:extLst>
          </p:cNvPr>
          <p:cNvSpPr>
            <a:spLocks noGrp="1"/>
          </p:cNvSpPr>
          <p:nvPr/>
        </p:nvSpPr>
        <p:spPr>
          <a:xfrm>
            <a:off x="1473200" y="1879600"/>
            <a:ext cx="10109200" cy="5588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600">
                <a:latin typeface="Arial"/>
                <a:ea typeface="Arial"/>
                <a:cs typeface="Arial"/>
              </a:rPr>
              <a:t>Seleccionar el producto GEDI adecuado y justificarlo según objetivo, soporte y escala.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ADF7F3C-657E-4D05-A213-2DEDF0AA073D}"/>
              </a:ext>
            </a:extLst>
          </p:cNvPr>
          <p:cNvSpPr>
            <a:spLocks noGrp="1"/>
          </p:cNvSpPr>
          <p:nvPr/>
        </p:nvSpPr>
        <p:spPr>
          <a:xfrm>
            <a:off x="609600" y="2540000"/>
            <a:ext cx="10972800" cy="12700"/>
          </a:xfrm>
          <a:prstGeom prst="rect">
            <a:avLst/>
          </a:prstGeom>
          <a:solidFill>
            <a:srgbClr val="DDE7E0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B4DF28E-FF00-494A-BC4A-F9E71684B13C}"/>
              </a:ext>
            </a:extLst>
          </p:cNvPr>
          <p:cNvSpPr>
            <a:spLocks noGrp="1"/>
          </p:cNvSpPr>
          <p:nvPr/>
        </p:nvSpPr>
        <p:spPr>
          <a:xfrm>
            <a:off x="609600" y="2844800"/>
            <a:ext cx="584200" cy="584200"/>
          </a:xfrm>
          <a:prstGeom prst="ellipse">
            <a:avLst/>
          </a:prstGeom>
          <a:solidFill>
            <a:srgbClr val="2D6A4F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Autofit/>
          </a:bodyPr>
          <a:lstStyle/>
          <a:p>
            <a:pPr algn="l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E6F1FE5-46EF-468A-9258-A468C4504516}"/>
              </a:ext>
            </a:extLst>
          </p:cNvPr>
          <p:cNvSpPr>
            <a:spLocks noGrp="1"/>
          </p:cNvSpPr>
          <p:nvPr/>
        </p:nvSpPr>
        <p:spPr>
          <a:xfrm>
            <a:off x="1473200" y="2743200"/>
            <a:ext cx="3810000" cy="3810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20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Filtrar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E406ED7-88FE-4C70-83CF-4C705038F3E8}"/>
              </a:ext>
            </a:extLst>
          </p:cNvPr>
          <p:cNvSpPr>
            <a:spLocks noGrp="1"/>
          </p:cNvSpPr>
          <p:nvPr/>
        </p:nvSpPr>
        <p:spPr>
          <a:xfrm>
            <a:off x="1473200" y="3149600"/>
            <a:ext cx="10109200" cy="5588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600">
                <a:latin typeface="Arial"/>
                <a:ea typeface="Arial"/>
                <a:cs typeface="Arial"/>
              </a:rPr>
              <a:t>Aplicar banderas y filtros V3; documentar cuántas huellas elimina cada criterio.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6258315-651C-42DB-8298-2478A5CEEB8C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972800" cy="12700"/>
          </a:xfrm>
          <a:prstGeom prst="rect">
            <a:avLst/>
          </a:prstGeom>
          <a:solidFill>
            <a:srgbClr val="DDE7E0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DC1BBD6-8370-4391-80DE-0EFE8929238E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584200" cy="584200"/>
          </a:xfrm>
          <a:prstGeom prst="ellipse">
            <a:avLst/>
          </a:prstGeom>
          <a:solidFill>
            <a:srgbClr val="2D6A4F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Autofit/>
          </a:bodyPr>
          <a:lstStyle/>
          <a:p>
            <a:pPr algn="l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F9069D3-A9C3-4390-9CB1-3FDD6ADAB5B7}"/>
              </a:ext>
            </a:extLst>
          </p:cNvPr>
          <p:cNvSpPr>
            <a:spLocks noGrp="1"/>
          </p:cNvSpPr>
          <p:nvPr/>
        </p:nvSpPr>
        <p:spPr>
          <a:xfrm>
            <a:off x="1473200" y="4013200"/>
            <a:ext cx="3810000" cy="3810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20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Interpretar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95125DD-44F8-4527-9A12-D61450EB902F}"/>
              </a:ext>
            </a:extLst>
          </p:cNvPr>
          <p:cNvSpPr>
            <a:spLocks noGrp="1"/>
          </p:cNvSpPr>
          <p:nvPr/>
        </p:nvSpPr>
        <p:spPr>
          <a:xfrm>
            <a:off x="1473200" y="4419600"/>
            <a:ext cx="10109200" cy="5588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600">
                <a:latin typeface="Arial"/>
                <a:ea typeface="Arial"/>
                <a:cs typeface="Arial"/>
              </a:rPr>
              <a:t>Interpretar RH, sensibilidad, cobertura y AGBD sin confundir medición, métrica y estimación.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CE6D888-BAC0-41F6-8016-85C3A283D6F6}"/>
              </a:ext>
            </a:extLst>
          </p:cNvPr>
          <p:cNvSpPr>
            <a:spLocks noGrp="1"/>
          </p:cNvSpPr>
          <p:nvPr/>
        </p:nvSpPr>
        <p:spPr>
          <a:xfrm>
            <a:off x="609600" y="5080000"/>
            <a:ext cx="10972800" cy="12700"/>
          </a:xfrm>
          <a:prstGeom prst="rect">
            <a:avLst/>
          </a:prstGeom>
          <a:solidFill>
            <a:srgbClr val="DDE7E0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l">
              <a:buNone/>
            </a:pPr>
            <a:endParaRPr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40CC077A-E6F6-471F-865D-BA0A3C9C333E}"/>
              </a:ext>
            </a:extLst>
          </p:cNvPr>
          <p:cNvSpPr>
            <a:spLocks noGrp="1"/>
          </p:cNvSpPr>
          <p:nvPr/>
        </p:nvSpPr>
        <p:spPr>
          <a:xfrm>
            <a:off x="609600" y="5384800"/>
            <a:ext cx="584200" cy="584200"/>
          </a:xfrm>
          <a:prstGeom prst="ellipse">
            <a:avLst/>
          </a:prstGeom>
          <a:solidFill>
            <a:srgbClr val="2D6A4F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Autofit/>
          </a:bodyPr>
          <a:lstStyle/>
          <a:p>
            <a:pPr algn="l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783967F-AD83-4C65-81B3-A15123C7D205}"/>
              </a:ext>
            </a:extLst>
          </p:cNvPr>
          <p:cNvSpPr>
            <a:spLocks noGrp="1"/>
          </p:cNvSpPr>
          <p:nvPr/>
        </p:nvSpPr>
        <p:spPr>
          <a:xfrm>
            <a:off x="1473200" y="5283200"/>
            <a:ext cx="3810000" cy="3810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20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Decidir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4D4449C-04CA-4063-AFC1-FFC869041B1C}"/>
              </a:ext>
            </a:extLst>
          </p:cNvPr>
          <p:cNvSpPr>
            <a:spLocks noGrp="1"/>
          </p:cNvSpPr>
          <p:nvPr/>
        </p:nvSpPr>
        <p:spPr>
          <a:xfrm>
            <a:off x="1473200" y="5689600"/>
            <a:ext cx="10109200" cy="5588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 sz="1600">
                <a:latin typeface="Arial"/>
                <a:ea typeface="Arial"/>
                <a:cs typeface="Arial"/>
              </a:rPr>
              <a:t>Construir y validar una muestra reproducible; comunicar incertidumbre, límites y fuentes.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CB837F9-FEAE-4615-AA4C-A8DA9AA3DB49}"/>
              </a:ext>
            </a:extLst>
          </p:cNvPr>
          <p:cNvSpPr>
            <a:spLocks noGrp="1"/>
          </p:cNvSpPr>
          <p:nvPr/>
        </p:nvSpPr>
        <p:spPr>
          <a:xfrm>
            <a:off x="11061476" y="6379289"/>
            <a:ext cx="482824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r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3/79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A9CC47B-6863-4AD5-96D1-D33003C5AB9B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27581531-C279-40E6-AAC2-2EF6B28ECE15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BA8DBE15-C522-45E3-A493-3CE8AE9FF0CA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6488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0345D38-1927-C9A1-C440-1FB9B1D13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00" y="113316"/>
            <a:ext cx="11880000" cy="6194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89AE134-F1E9-6108-6B84-FF42D2846CD0}"/>
              </a:ext>
            </a:extLst>
          </p:cNvPr>
          <p:cNvSpPr/>
          <p:nvPr/>
        </p:nvSpPr>
        <p:spPr>
          <a:xfrm>
            <a:off x="310896" y="5148072"/>
            <a:ext cx="11567160" cy="468000"/>
          </a:xfrm>
          <a:prstGeom prst="rect">
            <a:avLst/>
          </a:prstGeom>
          <a:noFill/>
          <a:ln w="1905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/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MX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</a:p>
        </p:txBody>
      </p:sp>
      <p:sp>
        <p:nvSpPr>
          <p:cNvPr id="21" name="CuadroTexto 20"/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MX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2" name="CuadroTexto 21"/>
          <p:cNvSpPr>
            <a:spLocks noGrp="1"/>
          </p:cNvSpPr>
          <p:nvPr/>
        </p:nvSpPr>
        <p:spPr>
          <a:xfrm>
            <a:off x="10553700" y="6379289"/>
            <a:ext cx="990600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r">
              <a:buNone/>
            </a:pPr>
            <a:r>
              <a:rPr lang="es-MX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4/79</a:t>
            </a:r>
          </a:p>
        </p:txBody>
      </p:sp>
    </p:spTree>
    <p:extLst>
      <p:ext uri="{BB962C8B-B14F-4D97-AF65-F5344CB8AC3E}">
        <p14:creationId xmlns:p14="http://schemas.microsoft.com/office/powerpoint/2010/main" val="421996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0394AB-9B01-44F4-842E-39B3397E7985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Bosque andino chubutense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1C57B3-6A10-41DF-9CDE-7014DDCCB10B}"/>
              </a:ext>
            </a:extLst>
          </p:cNvPr>
          <p:cNvSpPr>
            <a:spLocks noGrp="1"/>
          </p:cNvSpPr>
          <p:nvPr/>
        </p:nvSpPr>
        <p:spPr>
          <a:xfrm>
            <a:off x="457200" y="658368"/>
            <a:ext cx="103680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Estructura, gradientes ambientales y regímenes de disturbio en el bosque andino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11DA47-BFE2-4D66-BD02-0567036DF91E}"/>
              </a:ext>
            </a:extLst>
          </p:cNvPr>
          <p:cNvSpPr>
            <a:spLocks noGrp="1"/>
          </p:cNvSpPr>
          <p:nvPr/>
        </p:nvSpPr>
        <p:spPr>
          <a:xfrm>
            <a:off x="594360" y="1234440"/>
            <a:ext cx="4838440" cy="442976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Ubicación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Franja cordillerana de Chubut, con fuerte gradiente oeste–este de precipitación.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Composición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Lenga, ñire, coihue, ciprés de la cordillera y alerce aportan estructuras muy distintas.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Factores de control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Topografía, exposición, nieve, incendios y manejo modifican la relación altura–biomasa.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Consecuencia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estimación debe separar bosque alto, matorral, mallines, áreas quemadas y plantaciones.</a:t>
            </a:r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3">
            <a:lum bright="-2000" contrast="12000"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aturation sat="118000"/>
                    </a14:imgEffect>
                  </a14:imgLayer>
                </a14:imgProps>
              </a:ext>
            </a:extLst>
          </a:blip>
          <a:srcRect l="5044" r="5044"/>
          <a:stretch/>
        </p:blipFill>
        <p:spPr>
          <a:xfrm>
            <a:off x="6045200" y="1234440"/>
            <a:ext cx="4749800" cy="3962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1865B119-16FF-4905-A026-2CE6031E60E2}"/>
              </a:ext>
            </a:extLst>
          </p:cNvPr>
          <p:cNvSpPr>
            <a:spLocks noGrp="1"/>
          </p:cNvSpPr>
          <p:nvPr/>
        </p:nvSpPr>
        <p:spPr>
          <a:xfrm>
            <a:off x="5892800" y="5308600"/>
            <a:ext cx="50546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sz="1400">
                <a:solidFill>
                  <a:srgbClr val="4B5563"/>
                </a:solidFill>
                <a:latin typeface="Arial"/>
                <a:ea typeface="Arial"/>
                <a:cs typeface="Arial"/>
              </a:rPr>
              <a:t>Bosque andino patagónico en el área Los Alerces; usar como referencia visual, no como dato de campo.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07DC111-B348-4A0F-9C17-BAD7817B8190}"/>
              </a:ext>
            </a:extLst>
          </p:cNvPr>
          <p:cNvSpPr>
            <a:spLocks noGrp="1"/>
          </p:cNvSpPr>
          <p:nvPr/>
        </p:nvSpPr>
        <p:spPr>
          <a:xfrm>
            <a:off x="596900" y="5915000"/>
            <a:ext cx="109220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MX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MX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imagen LAC Geo / PN Los Alerces. Contexto: CIEFAP–SNMBN; Chubut OTBN.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CC3D77F-84B4-42A8-A238-79EA2B5D44B0}"/>
              </a:ext>
            </a:extLst>
          </p:cNvPr>
          <p:cNvSpPr>
            <a:spLocks noGrp="1"/>
          </p:cNvSpPr>
          <p:nvPr/>
        </p:nvSpPr>
        <p:spPr>
          <a:xfrm>
            <a:off x="11061476" y="6379289"/>
            <a:ext cx="482824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r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5/79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B9EE01D-5B73-4564-A42E-BF8ACAB22EB6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E1E7EA7-0BD4-44CC-AB4A-183529C99467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1E5ED1E-7F27-42BC-A20F-43BE4FA0CD81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2477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F29157-8193-4C0E-ADC6-4A8044555BEA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ES" sz="26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 biomasa aérea a stock de carbono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D44DDC-6BEF-4678-ACCE-C9E5301C8ED5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7179"/>
          </a:bodyPr>
          <a:lstStyle/>
          <a:p>
            <a:pPr marL="0" indent="0" algn="l">
              <a:buNone/>
            </a:pPr>
            <a:r>
              <a:rPr lang="es-ES" b="1" i="1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Definiciones, unidades y condiciones de validez de la conversión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9D7B23-57E7-4435-A831-0C7F611E5CB7}"/>
              </a:ext>
            </a:extLst>
          </p:cNvPr>
          <p:cNvSpPr>
            <a:spLocks noGrp="1"/>
          </p:cNvSpPr>
          <p:nvPr/>
        </p:nvSpPr>
        <p:spPr>
          <a:xfrm>
            <a:off x="594360" y="1234440"/>
            <a:ext cx="4889240" cy="3683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>
            <a:normAutofit fontScale="91924" lnSpcReduction="10000"/>
          </a:bodyPr>
          <a:lstStyle/>
          <a:p>
            <a:pPr marL="257175" indent="-257175" algn="just">
              <a:lnSpc>
                <a:spcPct val="150000"/>
              </a:lnSpc>
              <a:buFont typeface="Wingdings"/>
              <a:buChar char="ü"/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Definición. </a:t>
            </a: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biomasa aérea reúne fuste, ramas, corteza y follaje; por unidad de superficie es la densidad AGBD (Mg ha⁻¹).</a:t>
            </a:r>
          </a:p>
          <a:p>
            <a:pPr marL="257175" indent="-257175" algn="just">
              <a:lnSpc>
                <a:spcPct val="150000"/>
              </a:lnSpc>
              <a:buFont typeface="Wingdings"/>
              <a:buChar char="ü"/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Conversión. </a:t>
            </a: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carbono resulta de aplicar una fracción documentada (≈ 0,47); el CO₂e, del factor 44/12.</a:t>
            </a:r>
          </a:p>
          <a:p>
            <a:pPr marL="257175" indent="-257175" algn="just">
              <a:lnSpc>
                <a:spcPct val="150000"/>
              </a:lnSpc>
              <a:buFont typeface="Wingdings"/>
              <a:buChar char="ü"/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Validez. </a:t>
            </a: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Solo es interpretable sobre superficie forestal válida, definida por máscaras y clases de cobertura.</a:t>
            </a:r>
          </a:p>
          <a:p>
            <a:pPr marL="257175" indent="-257175" algn="just">
              <a:lnSpc>
                <a:spcPct val="150000"/>
              </a:lnSpc>
              <a:buFont typeface="Wingdings"/>
              <a:buChar char="ü"/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Patagonia. </a:t>
            </a: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Fuego y aprovechamiento alteran la estructura antes que la superficie.</a:t>
            </a:r>
          </a:p>
        </p:txBody>
      </p:sp>
      <p:sp>
        <p:nvSpPr>
          <p:cNvPr id="601" name="CH0"/>
          <p:cNvSpPr>
            <a:spLocks noGrp="1"/>
          </p:cNvSpPr>
          <p:nvPr/>
        </p:nvSpPr>
        <p:spPr>
          <a:xfrm>
            <a:off x="6248400" y="1295400"/>
            <a:ext cx="5295900" cy="635000"/>
          </a:xfrm>
          <a:prstGeom prst="roundRect">
            <a:avLst/>
          </a:prstGeom>
          <a:solidFill>
            <a:srgbClr val="F2F7F4"/>
          </a:solidFill>
          <a:ln w="12700">
            <a:solidFill>
              <a:srgbClr val="C8D2CC"/>
            </a:solidFill>
          </a:ln>
        </p:spPr>
        <p:txBody>
          <a:bodyPr wrap="square" lIns="160000" tIns="60000" rIns="160000" bIns="60000" anchor="ctr"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6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AGBD   </a:t>
            </a:r>
            <a:r>
              <a:rPr lang="es-ES" sz="14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Mg ha⁻¹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densidad de biomasa aérea seca</a:t>
            </a:r>
          </a:p>
        </p:txBody>
      </p:sp>
      <p:sp>
        <p:nvSpPr>
          <p:cNvPr id="602" name="OPX0"/>
          <p:cNvSpPr>
            <a:spLocks noGrp="1"/>
          </p:cNvSpPr>
          <p:nvPr/>
        </p:nvSpPr>
        <p:spPr>
          <a:xfrm>
            <a:off x="6248400" y="1930400"/>
            <a:ext cx="52959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20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603" name="CH1"/>
          <p:cNvSpPr>
            <a:spLocks noGrp="1"/>
          </p:cNvSpPr>
          <p:nvPr/>
        </p:nvSpPr>
        <p:spPr>
          <a:xfrm>
            <a:off x="6248400" y="2235200"/>
            <a:ext cx="5295900" cy="635000"/>
          </a:xfrm>
          <a:prstGeom prst="roundRect">
            <a:avLst/>
          </a:prstGeom>
          <a:solidFill>
            <a:srgbClr val="F2F7F4"/>
          </a:solidFill>
          <a:ln w="12700">
            <a:solidFill>
              <a:srgbClr val="C8D2CC"/>
            </a:solidFill>
          </a:ln>
        </p:spPr>
        <p:txBody>
          <a:bodyPr wrap="square" lIns="160000" tIns="60000" rIns="160000" bIns="60000" anchor="ctr"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6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área válida   </a:t>
            </a:r>
            <a:r>
              <a:rPr lang="es-ES" sz="14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ha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superficie forestal tras máscaras y clases</a:t>
            </a:r>
          </a:p>
        </p:txBody>
      </p:sp>
      <p:sp>
        <p:nvSpPr>
          <p:cNvPr id="604" name="OPX1"/>
          <p:cNvSpPr>
            <a:spLocks noGrp="1"/>
          </p:cNvSpPr>
          <p:nvPr/>
        </p:nvSpPr>
        <p:spPr>
          <a:xfrm>
            <a:off x="6248400" y="2870200"/>
            <a:ext cx="52959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20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605" name="CH2"/>
          <p:cNvSpPr>
            <a:spLocks noGrp="1"/>
          </p:cNvSpPr>
          <p:nvPr/>
        </p:nvSpPr>
        <p:spPr>
          <a:xfrm>
            <a:off x="6248400" y="3175000"/>
            <a:ext cx="5295900" cy="635000"/>
          </a:xfrm>
          <a:prstGeom prst="roundRect">
            <a:avLst/>
          </a:prstGeom>
          <a:solidFill>
            <a:srgbClr val="F2F7F4"/>
          </a:solidFill>
          <a:ln w="12700">
            <a:solidFill>
              <a:srgbClr val="C8D2CC"/>
            </a:solidFill>
          </a:ln>
        </p:spPr>
        <p:txBody>
          <a:bodyPr wrap="square" lIns="160000" tIns="60000" rIns="160000" bIns="60000" anchor="ctr"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6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fracción de carbono   </a:t>
            </a:r>
            <a:r>
              <a:rPr lang="es-ES" sz="14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adimensional (≈ 0,47)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local o documentada, nunca supuesta</a:t>
            </a:r>
          </a:p>
        </p:txBody>
      </p:sp>
      <p:sp>
        <p:nvSpPr>
          <p:cNvPr id="606" name="OPX2"/>
          <p:cNvSpPr>
            <a:spLocks noGrp="1"/>
          </p:cNvSpPr>
          <p:nvPr/>
        </p:nvSpPr>
        <p:spPr>
          <a:xfrm>
            <a:off x="6248400" y="3810000"/>
            <a:ext cx="52959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20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607" name="CHR"/>
          <p:cNvSpPr>
            <a:spLocks noGrp="1"/>
          </p:cNvSpPr>
          <p:nvPr/>
        </p:nvSpPr>
        <p:spPr>
          <a:xfrm>
            <a:off x="6248400" y="4114800"/>
            <a:ext cx="5295900" cy="73660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</a:ln>
        </p:spPr>
        <p:txBody>
          <a:bodyPr wrap="square" lIns="160000" tIns="60000" rIns="160000" bIns="6000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carbono en biomasa aérea   </a:t>
            </a:r>
            <a:r>
              <a:rPr lang="es-ES" sz="1400" b="1" dirty="0">
                <a:solidFill>
                  <a:srgbClr val="D8F3DC"/>
                </a:solidFill>
                <a:latin typeface="Arial"/>
                <a:ea typeface="Arial"/>
                <a:cs typeface="Arial"/>
              </a:rPr>
              <a:t>Mg C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s-ES" sz="1400" dirty="0">
                <a:solidFill>
                  <a:srgbClr val="E8F5EC"/>
                </a:solidFill>
                <a:latin typeface="Arial"/>
                <a:ea typeface="Arial"/>
                <a:cs typeface="Arial"/>
              </a:rPr>
              <a:t>× 44/12 → megagramos de CO₂e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B0B17CE-4C8B-42FC-881F-6834168BA346}"/>
              </a:ext>
            </a:extLst>
          </p:cNvPr>
          <p:cNvSpPr>
            <a:spLocks noGrp="1"/>
          </p:cNvSpPr>
          <p:nvPr/>
        </p:nvSpPr>
        <p:spPr>
          <a:xfrm>
            <a:off x="600075" y="59404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Duncanson et al. (2022); Kellner et al. (2023); Duncanson et al. (2019); Subedi y Zurqani (2026); CIEFAP–SNMBN; Chubut OTBN.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2310500-6BC2-4C0E-90E7-23C2DB25F4AF}"/>
              </a:ext>
            </a:extLst>
          </p:cNvPr>
          <p:cNvSpPr>
            <a:spLocks noGrp="1"/>
          </p:cNvSpPr>
          <p:nvPr/>
        </p:nvSpPr>
        <p:spPr>
          <a:xfrm>
            <a:off x="11246141" y="6428373"/>
            <a:ext cx="29815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6/79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D633D58-571F-4781-8F6D-C7A58B561542}"/>
              </a:ext>
            </a:extLst>
          </p:cNvPr>
          <p:cNvSpPr>
            <a:spLocks noGrp="1"/>
          </p:cNvSpPr>
          <p:nvPr/>
        </p:nvSpPr>
        <p:spPr>
          <a:xfrm>
            <a:off x="596900" y="5029200"/>
            <a:ext cx="10922000" cy="71120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1500" b="1" i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La AGBD solo constituye un stock de carbono defendible cuando se documentan la fracción de carbono y la superficie válida.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EC1A81-C377-41CA-AC71-662D7123029B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386AE25-A08E-49F3-B1F4-CA748F4FB46A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7727AA2-4B38-4362-A9EB-992A7DEBBE00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4312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4DCABC-6534-41A0-9F20-A585CE9646FA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De inventario a teledetección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4F8BB4-AA96-4EFD-9689-2BDBC6F98729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De la estructura del dosel a la estimación de biomasa: alcances e incertidumbre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25A0924-0A86-4AED-BCB4-C7766ECADD8D}"/>
              </a:ext>
            </a:extLst>
          </p:cNvPr>
          <p:cNvSpPr>
            <a:spLocks noGrp="1"/>
          </p:cNvSpPr>
          <p:nvPr/>
        </p:nvSpPr>
        <p:spPr>
          <a:xfrm>
            <a:off x="600075" y="5562600"/>
            <a:ext cx="10915650" cy="7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GEDI/UMD; NASA GSFC SVS 13090; Dubayah et al. (2020). Duncanson et al. (2022); Kellner et al. (2023); Duncanson et al. (2019); Subedi y Zurqani (2026).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27DEFE8-8E0A-4FB2-B248-5C292B41EAFB}"/>
              </a:ext>
            </a:extLst>
          </p:cNvPr>
          <p:cNvSpPr>
            <a:spLocks noGrp="1"/>
          </p:cNvSpPr>
          <p:nvPr/>
        </p:nvSpPr>
        <p:spPr>
          <a:xfrm>
            <a:off x="11246141" y="6428373"/>
            <a:ext cx="29815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7/79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FF0813-A256-4F12-BF5B-AB82FFFAC6F4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724400" cy="4064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Inventario de campo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Las parcelas son precisas, pero costosas y espacialmente limitadas.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Estimación indirecta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teledetección cubre grandes superficies con esfuerzo acotado.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mide GEDI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Registra energía de retorno frente a distancia; la estructura se deriva del dosel.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Aporte al modelo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Huellas directas de altura y perfil vertical que anclan los modelos espaciales.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57153D4-AC6F-454B-A281-9EF28019F59E}"/>
              </a:ext>
            </a:extLst>
          </p:cNvPr>
          <p:cNvSpPr>
            <a:spLocks noGrp="1"/>
          </p:cNvSpPr>
          <p:nvPr/>
        </p:nvSpPr>
        <p:spPr>
          <a:xfrm>
            <a:off x="5969000" y="1854200"/>
            <a:ext cx="5562600" cy="635000"/>
          </a:xfrm>
          <a:prstGeom prst="rect">
            <a:avLst/>
          </a:prstGeom>
          <a:solidFill>
            <a:srgbClr val="F3F4F6"/>
          </a:solidFill>
          <a:ln w="127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0" rIns="128016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1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Parcela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Medición directa de árboles en campo.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578FC6-6E6E-472B-A2BA-E5A0C8BF7D2B}"/>
              </a:ext>
            </a:extLst>
          </p:cNvPr>
          <p:cNvSpPr>
            <a:spLocks noGrp="1"/>
          </p:cNvSpPr>
          <p:nvPr/>
        </p:nvSpPr>
        <p:spPr>
          <a:xfrm>
            <a:off x="5969000" y="2540000"/>
            <a:ext cx="5562600" cy="635000"/>
          </a:xfrm>
          <a:prstGeom prst="rect">
            <a:avLst/>
          </a:prstGeom>
          <a:solidFill>
            <a:srgbClr val="F3F4F6"/>
          </a:solidFill>
          <a:ln w="127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0" rIns="128016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2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Alometría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Ecuaciones que convierten medidas en biomasa.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4153BA7-776C-40AE-8513-DADCF7E58C5C}"/>
              </a:ext>
            </a:extLst>
          </p:cNvPr>
          <p:cNvSpPr>
            <a:spLocks noGrp="1"/>
          </p:cNvSpPr>
          <p:nvPr/>
        </p:nvSpPr>
        <p:spPr>
          <a:xfrm>
            <a:off x="5969000" y="3225800"/>
            <a:ext cx="5562600" cy="635000"/>
          </a:xfrm>
          <a:prstGeom prst="rect">
            <a:avLst/>
          </a:prstGeom>
          <a:solidFill>
            <a:srgbClr val="F3F4F6"/>
          </a:solidFill>
          <a:ln w="127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0" rIns="128016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3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GEDI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Huellas lidar de altura y perfil vertical.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1C6E609-9DA3-45CD-A4A0-790714162A3A}"/>
              </a:ext>
            </a:extLst>
          </p:cNvPr>
          <p:cNvSpPr>
            <a:spLocks noGrp="1"/>
          </p:cNvSpPr>
          <p:nvPr/>
        </p:nvSpPr>
        <p:spPr>
          <a:xfrm>
            <a:off x="5969000" y="3911600"/>
            <a:ext cx="5562600" cy="635000"/>
          </a:xfrm>
          <a:prstGeom prst="rect">
            <a:avLst/>
          </a:prstGeom>
          <a:solidFill>
            <a:srgbClr val="F3F4F6"/>
          </a:solidFill>
          <a:ln w="127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0" rIns="128016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4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Predictores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Covariables ópticas, radar y topográficas.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FEE4FAD-9CEB-4AB1-8156-6AF26DA49A20}"/>
              </a:ext>
            </a:extLst>
          </p:cNvPr>
          <p:cNvSpPr>
            <a:spLocks noGrp="1"/>
          </p:cNvSpPr>
          <p:nvPr/>
        </p:nvSpPr>
        <p:spPr>
          <a:xfrm>
            <a:off x="5969000" y="4597400"/>
            <a:ext cx="5562600" cy="635000"/>
          </a:xfrm>
          <a:prstGeom prst="rect">
            <a:avLst/>
          </a:prstGeom>
          <a:solidFill>
            <a:srgbClr val="F3F4F6"/>
          </a:solidFill>
          <a:ln w="127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0" rIns="128016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5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Mapa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Predicción continua con incertidumbre asociada.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78B2EF-0B67-4F78-A4BE-1A83760922B1}"/>
              </a:ext>
            </a:extLst>
          </p:cNvPr>
          <p:cNvSpPr>
            <a:spLocks noGrp="1"/>
          </p:cNvSpPr>
          <p:nvPr/>
        </p:nvSpPr>
        <p:spPr>
          <a:xfrm>
            <a:off x="5969000" y="2489200"/>
            <a:ext cx="3048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200" dirty="0">
                <a:solidFill>
                  <a:srgbClr val="95D5B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2F31B3-1317-4ED8-B7E0-415D73FC5461}"/>
              </a:ext>
            </a:extLst>
          </p:cNvPr>
          <p:cNvSpPr>
            <a:spLocks noGrp="1"/>
          </p:cNvSpPr>
          <p:nvPr/>
        </p:nvSpPr>
        <p:spPr>
          <a:xfrm>
            <a:off x="5969000" y="3175000"/>
            <a:ext cx="3048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200" dirty="0">
                <a:solidFill>
                  <a:srgbClr val="95D5B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09B4D8-0E20-4810-A0E6-B86FC5DA635B}"/>
              </a:ext>
            </a:extLst>
          </p:cNvPr>
          <p:cNvSpPr>
            <a:spLocks noGrp="1"/>
          </p:cNvSpPr>
          <p:nvPr/>
        </p:nvSpPr>
        <p:spPr>
          <a:xfrm>
            <a:off x="5969000" y="3860800"/>
            <a:ext cx="3048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200" dirty="0">
                <a:solidFill>
                  <a:srgbClr val="95D5B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4219A4-8C8C-431F-B826-ADDC94901454}"/>
              </a:ext>
            </a:extLst>
          </p:cNvPr>
          <p:cNvSpPr>
            <a:spLocks noGrp="1"/>
          </p:cNvSpPr>
          <p:nvPr/>
        </p:nvSpPr>
        <p:spPr>
          <a:xfrm>
            <a:off x="5969000" y="4546600"/>
            <a:ext cx="3048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200" dirty="0">
                <a:solidFill>
                  <a:srgbClr val="95D5B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86D0CE-D781-4F56-8871-98A74654ECF4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F904C23-55CF-4CF7-A3CC-F065DAB3FEFD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5196F88-3CF3-4C7B-AB53-BB93CC625226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0" name="CadenaHead"/>
          <p:cNvSpPr txBox="1"/>
          <p:nvPr/>
        </p:nvSpPr>
        <p:spPr>
          <a:xfrm>
            <a:off x="5867400" y="1231900"/>
            <a:ext cx="567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Cadena metodológica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Del árbol medido al mapa continuo de biomasa</a:t>
            </a:r>
          </a:p>
        </p:txBody>
      </p:sp>
    </p:spTree>
    <p:extLst>
      <p:ext uri="{BB962C8B-B14F-4D97-AF65-F5344CB8AC3E}">
        <p14:creationId xmlns:p14="http://schemas.microsoft.com/office/powerpoint/2010/main" val="4269177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F4D823-A50C-4387-B577-18073B3C4EEE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es GEDI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FD3ED1-9EC4-4976-AFBA-DE38688D7B23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Un lidar de onda completa montado en la Estación Espacial Internacional</a:t>
            </a:r>
            <a:endParaRPr b="1" i="1">
              <a:solidFill>
                <a:srgbClr val="374151"/>
              </a:solidFill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18A92F-6FBF-4D57-ACEA-48CD5A414B55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724400" cy="4428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Principio de medición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Emite pulsos láser y registra la energía devuelta por copa, sotobosque y terreno.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Unidad de observación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Cada huella resume una columna vertical de vegetación y suelo, no un píxel de imagen.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Variables derivadas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Altura de dosel, estructura vertical, elevación y biomasa aérea.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Cobertura del área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Chubut está dentro de la banda latitudinal observada desde la ISS.</a:t>
            </a:r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3"/>
          <a:srcRect l="16265" r="16265"/>
          <a:stretch/>
        </p:blipFill>
        <p:spPr>
          <a:xfrm>
            <a:off x="6376530" y="1234440"/>
            <a:ext cx="4838700" cy="4038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7B51864F-E5FB-4472-B774-8EBD573ECC96}"/>
              </a:ext>
            </a:extLst>
          </p:cNvPr>
          <p:cNvSpPr>
            <a:spLocks noGrp="1"/>
          </p:cNvSpPr>
          <p:nvPr/>
        </p:nvSpPr>
        <p:spPr>
          <a:xfrm>
            <a:off x="5897880" y="5346526"/>
            <a:ext cx="5796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400">
                <a:latin typeface="Arial"/>
                <a:ea typeface="Arial"/>
                <a:cs typeface="Arial"/>
              </a:rPr>
              <a:t>Ilustración conceptual de GEDI midiendo estructura forestal desde la ISS.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ABAB32D-AF58-47DC-AFAD-AE32E095880F}"/>
              </a:ext>
            </a:extLst>
          </p:cNvPr>
          <p:cNvSpPr>
            <a:spLocks noGrp="1"/>
          </p:cNvSpPr>
          <p:nvPr/>
        </p:nvSpPr>
        <p:spPr>
          <a:xfrm>
            <a:off x="600075" y="57404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NASA GEDI/UMD; NASA GSFC SVS 13090; Dubayah et al. (2020). NASA Earthdata GEDI v3 release; ORNL DAAC GEDI L4A v3, DOI 10.3334/ORNLDAAC/2508.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ECBCFF0-4E3E-4872-90DC-1B672883D670}"/>
              </a:ext>
            </a:extLst>
          </p:cNvPr>
          <p:cNvSpPr>
            <a:spLocks noGrp="1"/>
          </p:cNvSpPr>
          <p:nvPr/>
        </p:nvSpPr>
        <p:spPr>
          <a:xfrm>
            <a:off x="11246141" y="6428373"/>
            <a:ext cx="29815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8/79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6F23467-7675-4DB2-925C-4BEF8526AAFA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2BF0E62-B82D-4DC4-951C-B3A724B745CF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624C97A-8B93-4076-AE21-E3802F9A43F0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9786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97954C-96F2-41D8-8B68-1F00587A4F23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Principio físico del lidar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ADFF99-4A4C-4313-99BA-E12B5D0195D8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Tiempo de vuelo: determinación de la distancia a partir del retorno de fotones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84D150-153F-498B-BACC-4A789D4393D6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724400" cy="4419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Tiempo de vuelo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sensor mide el intervalo entre la emisión del pulso y el retorno de los fotones.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Forma de onda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energía devuelta describe cómo se distribuye la vegetación en la vertical.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Lectura de la señal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primer retorno se asocia a la copa; el último, al terreno bajo el dosel.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Procesamiento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Separa señal y ruido, y deriva las métricas de altura relativa.</a:t>
            </a:r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3"/>
          <a:srcRect l="16283" r="16283"/>
          <a:stretch/>
        </p:blipFill>
        <p:spPr>
          <a:xfrm>
            <a:off x="6318536" y="1234440"/>
            <a:ext cx="4838700" cy="4038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1FCDE15-BE1A-451F-9B9D-B5C38B729BC5}"/>
              </a:ext>
            </a:extLst>
          </p:cNvPr>
          <p:cNvSpPr>
            <a:spLocks noGrp="1"/>
          </p:cNvSpPr>
          <p:nvPr/>
        </p:nvSpPr>
        <p:spPr>
          <a:xfrm>
            <a:off x="5659886" y="5334000"/>
            <a:ext cx="6156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400">
                <a:solidFill>
                  <a:srgbClr val="6B7280"/>
                </a:solidFill>
                <a:latin typeface="Arial"/>
                <a:ea typeface="Arial"/>
                <a:cs typeface="Arial"/>
              </a:rPr>
              <a:t>NASA GSFC/SVS: interacción conceptual del pulso con un dosel forestal.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0CA4AD6-CCA5-497D-B2F7-480A7E0CEAEF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Imagen: NASA GSFC/SVS. Datos y conceptos: GEDI/UMD; ORNL DAAC; Hancock et al. (2019).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93756DB-DF8B-46B7-BB7E-299CE47FBBA2}"/>
              </a:ext>
            </a:extLst>
          </p:cNvPr>
          <p:cNvSpPr>
            <a:spLocks noGrp="1"/>
          </p:cNvSpPr>
          <p:nvPr/>
        </p:nvSpPr>
        <p:spPr>
          <a:xfrm>
            <a:off x="11246141" y="6428373"/>
            <a:ext cx="29815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9/79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81D2B86-B0CE-4BA1-A57D-0EB4A649CB65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9A6A1C-2A17-48DC-AC2D-2D0FCC31A72B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CBC9AA0-DCE8-4245-B48E-3FCBE3E66D04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9013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2944D9-FA49-4576-8990-98350B6ECD4F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Instrumento y patrón de muestreo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D0EE93-67E8-41D6-A366-78C94CBE5C5E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Tres láseres, ocho transectas y huellas de escala de rodal</a:t>
            </a:r>
            <a:endParaRPr sz="2000" b="1" i="1">
              <a:solidFill>
                <a:srgbClr val="374151"/>
              </a:solidFill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EAD67CD-795A-467E-B4D6-0EFBF1EB87B5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978400" cy="4419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Fuente láser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Tres láseres Nd:YAG de 1064 nm a 242 Hz generan cuatro haces.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Tipos de haz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Dos haces de potencia plena y dos de cobertura penetran el dosel de forma distinta.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Patrón de muestreo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 espejo de dithering (±1,5 mrad) desdobla los haces en ocho transectas, con huellas de 25 m cada 60 m.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Escala de observación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Transectas cada 600 m y franja de 4,2 km: escala de rodal (~0,05 ha), útil para calibrar, no para mapear.</a:t>
            </a:r>
          </a:p>
        </p:txBody>
      </p:sp>
      <p:sp>
        <p:nvSpPr>
          <p:cNvPr id="901" name="panel">
            <a:extLst>
              <a:ext uri="{FF2B5EF4-FFF2-40B4-BE49-F238E27FC236}">
                <a16:creationId xmlns:a16="http://schemas.microsoft.com/office/drawing/2014/main" id="{E17457CC-BB40-40CB-91F5-8E83D81E6433}"/>
              </a:ext>
            </a:extLst>
          </p:cNvPr>
          <p:cNvSpPr>
            <a:spLocks noGrp="1"/>
          </p:cNvSpPr>
          <p:nvPr/>
        </p:nvSpPr>
        <p:spPr>
          <a:xfrm>
            <a:off x="6286500" y="1234440"/>
            <a:ext cx="4838700" cy="4038600"/>
          </a:xfrm>
          <a:prstGeom prst="roundRect">
            <a:avLst>
              <a:gd name="adj" fmla="val 3000"/>
            </a:avLst>
          </a:prstGeom>
          <a:solidFill>
            <a:srgbClr val="F4F7F5"/>
          </a:solidFill>
          <a:ln w="12700">
            <a:solidFill>
              <a:srgbClr val="DDE5E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endParaRPr sz="1500"/>
          </a:p>
        </p:txBody>
      </p:sp>
      <p:sp>
        <p:nvSpPr>
          <p:cNvPr id="902" name="fp">
            <a:extLst>
              <a:ext uri="{FF2B5EF4-FFF2-40B4-BE49-F238E27FC236}">
                <a16:creationId xmlns:a16="http://schemas.microsoft.com/office/drawing/2014/main" id="{60EC9A09-5B34-4CEA-BEDF-DBE0009DF03D}"/>
              </a:ext>
            </a:extLst>
          </p:cNvPr>
          <p:cNvSpPr>
            <a:spLocks noGrp="1"/>
          </p:cNvSpPr>
          <p:nvPr/>
        </p:nvSpPr>
        <p:spPr>
          <a:xfrm>
            <a:off x="6736500" y="21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03" name="fp">
            <a:extLst>
              <a:ext uri="{FF2B5EF4-FFF2-40B4-BE49-F238E27FC236}">
                <a16:creationId xmlns:a16="http://schemas.microsoft.com/office/drawing/2014/main" id="{9F6C21F5-C591-47FB-80C5-94F6393E6DA9}"/>
              </a:ext>
            </a:extLst>
          </p:cNvPr>
          <p:cNvSpPr>
            <a:spLocks noGrp="1"/>
          </p:cNvSpPr>
          <p:nvPr/>
        </p:nvSpPr>
        <p:spPr>
          <a:xfrm>
            <a:off x="6736500" y="24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04" name="fp">
            <a:extLst>
              <a:ext uri="{FF2B5EF4-FFF2-40B4-BE49-F238E27FC236}">
                <a16:creationId xmlns:a16="http://schemas.microsoft.com/office/drawing/2014/main" id="{2B74D614-69A7-4281-8A1B-78FAA88793DC}"/>
              </a:ext>
            </a:extLst>
          </p:cNvPr>
          <p:cNvSpPr>
            <a:spLocks noGrp="1"/>
          </p:cNvSpPr>
          <p:nvPr/>
        </p:nvSpPr>
        <p:spPr>
          <a:xfrm>
            <a:off x="6736500" y="27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05" name="fp">
            <a:extLst>
              <a:ext uri="{FF2B5EF4-FFF2-40B4-BE49-F238E27FC236}">
                <a16:creationId xmlns:a16="http://schemas.microsoft.com/office/drawing/2014/main" id="{9FE60B98-5647-4542-836C-03377F4A16ED}"/>
              </a:ext>
            </a:extLst>
          </p:cNvPr>
          <p:cNvSpPr>
            <a:spLocks noGrp="1"/>
          </p:cNvSpPr>
          <p:nvPr/>
        </p:nvSpPr>
        <p:spPr>
          <a:xfrm>
            <a:off x="6736500" y="30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06" name="fp">
            <a:extLst>
              <a:ext uri="{FF2B5EF4-FFF2-40B4-BE49-F238E27FC236}">
                <a16:creationId xmlns:a16="http://schemas.microsoft.com/office/drawing/2014/main" id="{9EFDF11F-C264-401C-8423-A714CC3AD435}"/>
              </a:ext>
            </a:extLst>
          </p:cNvPr>
          <p:cNvSpPr>
            <a:spLocks noGrp="1"/>
          </p:cNvSpPr>
          <p:nvPr/>
        </p:nvSpPr>
        <p:spPr>
          <a:xfrm>
            <a:off x="6736500" y="33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07" name="fp">
            <a:extLst>
              <a:ext uri="{FF2B5EF4-FFF2-40B4-BE49-F238E27FC236}">
                <a16:creationId xmlns:a16="http://schemas.microsoft.com/office/drawing/2014/main" id="{A95D174C-11F4-4245-82A3-1AE38B1C951A}"/>
              </a:ext>
            </a:extLst>
          </p:cNvPr>
          <p:cNvSpPr>
            <a:spLocks noGrp="1"/>
          </p:cNvSpPr>
          <p:nvPr/>
        </p:nvSpPr>
        <p:spPr>
          <a:xfrm>
            <a:off x="6736500" y="36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08" name="fp">
            <a:extLst>
              <a:ext uri="{FF2B5EF4-FFF2-40B4-BE49-F238E27FC236}">
                <a16:creationId xmlns:a16="http://schemas.microsoft.com/office/drawing/2014/main" id="{587EF948-F54E-475A-AEDE-D7A150B0524A}"/>
              </a:ext>
            </a:extLst>
          </p:cNvPr>
          <p:cNvSpPr>
            <a:spLocks noGrp="1"/>
          </p:cNvSpPr>
          <p:nvPr/>
        </p:nvSpPr>
        <p:spPr>
          <a:xfrm>
            <a:off x="6736500" y="39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09" name="fp">
            <a:extLst>
              <a:ext uri="{FF2B5EF4-FFF2-40B4-BE49-F238E27FC236}">
                <a16:creationId xmlns:a16="http://schemas.microsoft.com/office/drawing/2014/main" id="{A577A3F5-7972-4CC9-820A-71115FA27D76}"/>
              </a:ext>
            </a:extLst>
          </p:cNvPr>
          <p:cNvSpPr>
            <a:spLocks noGrp="1"/>
          </p:cNvSpPr>
          <p:nvPr/>
        </p:nvSpPr>
        <p:spPr>
          <a:xfrm>
            <a:off x="7264886" y="21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10" name="fp">
            <a:extLst>
              <a:ext uri="{FF2B5EF4-FFF2-40B4-BE49-F238E27FC236}">
                <a16:creationId xmlns:a16="http://schemas.microsoft.com/office/drawing/2014/main" id="{D116CDB6-B1AF-48AB-B76F-E58D0F6C4FD9}"/>
              </a:ext>
            </a:extLst>
          </p:cNvPr>
          <p:cNvSpPr>
            <a:spLocks noGrp="1"/>
          </p:cNvSpPr>
          <p:nvPr/>
        </p:nvSpPr>
        <p:spPr>
          <a:xfrm>
            <a:off x="7264886" y="24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11" name="fp">
            <a:extLst>
              <a:ext uri="{FF2B5EF4-FFF2-40B4-BE49-F238E27FC236}">
                <a16:creationId xmlns:a16="http://schemas.microsoft.com/office/drawing/2014/main" id="{A607ACAB-C998-4277-ACFF-292B2E8BB4B8}"/>
              </a:ext>
            </a:extLst>
          </p:cNvPr>
          <p:cNvSpPr>
            <a:spLocks noGrp="1"/>
          </p:cNvSpPr>
          <p:nvPr/>
        </p:nvSpPr>
        <p:spPr>
          <a:xfrm>
            <a:off x="7264886" y="27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12" name="fp">
            <a:extLst>
              <a:ext uri="{FF2B5EF4-FFF2-40B4-BE49-F238E27FC236}">
                <a16:creationId xmlns:a16="http://schemas.microsoft.com/office/drawing/2014/main" id="{C339BC8E-BB75-462C-A90F-859104020B9B}"/>
              </a:ext>
            </a:extLst>
          </p:cNvPr>
          <p:cNvSpPr>
            <a:spLocks noGrp="1"/>
          </p:cNvSpPr>
          <p:nvPr/>
        </p:nvSpPr>
        <p:spPr>
          <a:xfrm>
            <a:off x="7264886" y="30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13" name="fp">
            <a:extLst>
              <a:ext uri="{FF2B5EF4-FFF2-40B4-BE49-F238E27FC236}">
                <a16:creationId xmlns:a16="http://schemas.microsoft.com/office/drawing/2014/main" id="{3F4C3B45-1A1A-4C5A-B5A7-72F5D69184DE}"/>
              </a:ext>
            </a:extLst>
          </p:cNvPr>
          <p:cNvSpPr>
            <a:spLocks noGrp="1"/>
          </p:cNvSpPr>
          <p:nvPr/>
        </p:nvSpPr>
        <p:spPr>
          <a:xfrm>
            <a:off x="7264886" y="33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14" name="fp">
            <a:extLst>
              <a:ext uri="{FF2B5EF4-FFF2-40B4-BE49-F238E27FC236}">
                <a16:creationId xmlns:a16="http://schemas.microsoft.com/office/drawing/2014/main" id="{87F040C2-A28C-4540-A8D1-80052CD5C522}"/>
              </a:ext>
            </a:extLst>
          </p:cNvPr>
          <p:cNvSpPr>
            <a:spLocks noGrp="1"/>
          </p:cNvSpPr>
          <p:nvPr/>
        </p:nvSpPr>
        <p:spPr>
          <a:xfrm>
            <a:off x="7264886" y="36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15" name="fp">
            <a:extLst>
              <a:ext uri="{FF2B5EF4-FFF2-40B4-BE49-F238E27FC236}">
                <a16:creationId xmlns:a16="http://schemas.microsoft.com/office/drawing/2014/main" id="{0F05A0A4-2AE7-4DB2-8429-E2F01DB168DD}"/>
              </a:ext>
            </a:extLst>
          </p:cNvPr>
          <p:cNvSpPr>
            <a:spLocks noGrp="1"/>
          </p:cNvSpPr>
          <p:nvPr/>
        </p:nvSpPr>
        <p:spPr>
          <a:xfrm>
            <a:off x="7264886" y="39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16" name="fp">
            <a:extLst>
              <a:ext uri="{FF2B5EF4-FFF2-40B4-BE49-F238E27FC236}">
                <a16:creationId xmlns:a16="http://schemas.microsoft.com/office/drawing/2014/main" id="{89BD8C6E-9269-4949-BD75-5E84284C2AEA}"/>
              </a:ext>
            </a:extLst>
          </p:cNvPr>
          <p:cNvSpPr>
            <a:spLocks noGrp="1"/>
          </p:cNvSpPr>
          <p:nvPr/>
        </p:nvSpPr>
        <p:spPr>
          <a:xfrm>
            <a:off x="7793271" y="21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17" name="fp">
            <a:extLst>
              <a:ext uri="{FF2B5EF4-FFF2-40B4-BE49-F238E27FC236}">
                <a16:creationId xmlns:a16="http://schemas.microsoft.com/office/drawing/2014/main" id="{9F2E4D42-2477-4264-92BD-2BCFBD632D2C}"/>
              </a:ext>
            </a:extLst>
          </p:cNvPr>
          <p:cNvSpPr>
            <a:spLocks noGrp="1"/>
          </p:cNvSpPr>
          <p:nvPr/>
        </p:nvSpPr>
        <p:spPr>
          <a:xfrm>
            <a:off x="7793271" y="24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18" name="fp">
            <a:extLst>
              <a:ext uri="{FF2B5EF4-FFF2-40B4-BE49-F238E27FC236}">
                <a16:creationId xmlns:a16="http://schemas.microsoft.com/office/drawing/2014/main" id="{B63F85C0-14E6-40A0-A435-79CE6F024DBF}"/>
              </a:ext>
            </a:extLst>
          </p:cNvPr>
          <p:cNvSpPr>
            <a:spLocks noGrp="1"/>
          </p:cNvSpPr>
          <p:nvPr/>
        </p:nvSpPr>
        <p:spPr>
          <a:xfrm>
            <a:off x="7793271" y="27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19" name="fp">
            <a:extLst>
              <a:ext uri="{FF2B5EF4-FFF2-40B4-BE49-F238E27FC236}">
                <a16:creationId xmlns:a16="http://schemas.microsoft.com/office/drawing/2014/main" id="{619F60D2-34D7-483D-91BF-E01147D8815F}"/>
              </a:ext>
            </a:extLst>
          </p:cNvPr>
          <p:cNvSpPr>
            <a:spLocks noGrp="1"/>
          </p:cNvSpPr>
          <p:nvPr/>
        </p:nvSpPr>
        <p:spPr>
          <a:xfrm>
            <a:off x="7793271" y="30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20" name="fp">
            <a:extLst>
              <a:ext uri="{FF2B5EF4-FFF2-40B4-BE49-F238E27FC236}">
                <a16:creationId xmlns:a16="http://schemas.microsoft.com/office/drawing/2014/main" id="{14FE6DA3-5665-49AF-989E-BF6FCE1B26B7}"/>
              </a:ext>
            </a:extLst>
          </p:cNvPr>
          <p:cNvSpPr>
            <a:spLocks noGrp="1"/>
          </p:cNvSpPr>
          <p:nvPr/>
        </p:nvSpPr>
        <p:spPr>
          <a:xfrm>
            <a:off x="7793271" y="33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21" name="fp">
            <a:extLst>
              <a:ext uri="{FF2B5EF4-FFF2-40B4-BE49-F238E27FC236}">
                <a16:creationId xmlns:a16="http://schemas.microsoft.com/office/drawing/2014/main" id="{13746172-C59B-4142-A867-3A533A45E4D7}"/>
              </a:ext>
            </a:extLst>
          </p:cNvPr>
          <p:cNvSpPr>
            <a:spLocks noGrp="1"/>
          </p:cNvSpPr>
          <p:nvPr/>
        </p:nvSpPr>
        <p:spPr>
          <a:xfrm>
            <a:off x="7793271" y="36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22" name="fp">
            <a:extLst>
              <a:ext uri="{FF2B5EF4-FFF2-40B4-BE49-F238E27FC236}">
                <a16:creationId xmlns:a16="http://schemas.microsoft.com/office/drawing/2014/main" id="{43BFA447-030A-4E87-A8E0-5419128F495D}"/>
              </a:ext>
            </a:extLst>
          </p:cNvPr>
          <p:cNvSpPr>
            <a:spLocks noGrp="1"/>
          </p:cNvSpPr>
          <p:nvPr/>
        </p:nvSpPr>
        <p:spPr>
          <a:xfrm>
            <a:off x="7793271" y="39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23" name="fp">
            <a:extLst>
              <a:ext uri="{FF2B5EF4-FFF2-40B4-BE49-F238E27FC236}">
                <a16:creationId xmlns:a16="http://schemas.microsoft.com/office/drawing/2014/main" id="{9DC1D61C-BCFF-4879-A2BA-FBE8891563AB}"/>
              </a:ext>
            </a:extLst>
          </p:cNvPr>
          <p:cNvSpPr>
            <a:spLocks noGrp="1"/>
          </p:cNvSpPr>
          <p:nvPr/>
        </p:nvSpPr>
        <p:spPr>
          <a:xfrm>
            <a:off x="8321657" y="21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24" name="fp">
            <a:extLst>
              <a:ext uri="{FF2B5EF4-FFF2-40B4-BE49-F238E27FC236}">
                <a16:creationId xmlns:a16="http://schemas.microsoft.com/office/drawing/2014/main" id="{ECEA81E6-CB0D-4E4E-BCD8-42A5881EC6E4}"/>
              </a:ext>
            </a:extLst>
          </p:cNvPr>
          <p:cNvSpPr>
            <a:spLocks noGrp="1"/>
          </p:cNvSpPr>
          <p:nvPr/>
        </p:nvSpPr>
        <p:spPr>
          <a:xfrm>
            <a:off x="8321657" y="24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25" name="fp">
            <a:extLst>
              <a:ext uri="{FF2B5EF4-FFF2-40B4-BE49-F238E27FC236}">
                <a16:creationId xmlns:a16="http://schemas.microsoft.com/office/drawing/2014/main" id="{168A6BB0-6FBA-43C9-8310-574C3088EA4F}"/>
              </a:ext>
            </a:extLst>
          </p:cNvPr>
          <p:cNvSpPr>
            <a:spLocks noGrp="1"/>
          </p:cNvSpPr>
          <p:nvPr/>
        </p:nvSpPr>
        <p:spPr>
          <a:xfrm>
            <a:off x="8321657" y="27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26" name="fp">
            <a:extLst>
              <a:ext uri="{FF2B5EF4-FFF2-40B4-BE49-F238E27FC236}">
                <a16:creationId xmlns:a16="http://schemas.microsoft.com/office/drawing/2014/main" id="{06E13CFF-7E61-475E-9E89-31D854FFD7EC}"/>
              </a:ext>
            </a:extLst>
          </p:cNvPr>
          <p:cNvSpPr>
            <a:spLocks noGrp="1"/>
          </p:cNvSpPr>
          <p:nvPr/>
        </p:nvSpPr>
        <p:spPr>
          <a:xfrm>
            <a:off x="8321657" y="30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27" name="fp">
            <a:extLst>
              <a:ext uri="{FF2B5EF4-FFF2-40B4-BE49-F238E27FC236}">
                <a16:creationId xmlns:a16="http://schemas.microsoft.com/office/drawing/2014/main" id="{57698F9C-2910-43FD-8B72-DD9A68E2D393}"/>
              </a:ext>
            </a:extLst>
          </p:cNvPr>
          <p:cNvSpPr>
            <a:spLocks noGrp="1"/>
          </p:cNvSpPr>
          <p:nvPr/>
        </p:nvSpPr>
        <p:spPr>
          <a:xfrm>
            <a:off x="8321657" y="33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28" name="fp">
            <a:extLst>
              <a:ext uri="{FF2B5EF4-FFF2-40B4-BE49-F238E27FC236}">
                <a16:creationId xmlns:a16="http://schemas.microsoft.com/office/drawing/2014/main" id="{C10C1429-3FE7-4AAB-903D-39DAA6686BDF}"/>
              </a:ext>
            </a:extLst>
          </p:cNvPr>
          <p:cNvSpPr>
            <a:spLocks noGrp="1"/>
          </p:cNvSpPr>
          <p:nvPr/>
        </p:nvSpPr>
        <p:spPr>
          <a:xfrm>
            <a:off x="8321657" y="36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29" name="fp">
            <a:extLst>
              <a:ext uri="{FF2B5EF4-FFF2-40B4-BE49-F238E27FC236}">
                <a16:creationId xmlns:a16="http://schemas.microsoft.com/office/drawing/2014/main" id="{648221F9-E92D-4D66-A423-D77B56AB65F9}"/>
              </a:ext>
            </a:extLst>
          </p:cNvPr>
          <p:cNvSpPr>
            <a:spLocks noGrp="1"/>
          </p:cNvSpPr>
          <p:nvPr/>
        </p:nvSpPr>
        <p:spPr>
          <a:xfrm>
            <a:off x="8321657" y="39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30" name="fp">
            <a:extLst>
              <a:ext uri="{FF2B5EF4-FFF2-40B4-BE49-F238E27FC236}">
                <a16:creationId xmlns:a16="http://schemas.microsoft.com/office/drawing/2014/main" id="{334FD9B1-6BC9-4D06-87E6-3BBEBA4930DA}"/>
              </a:ext>
            </a:extLst>
          </p:cNvPr>
          <p:cNvSpPr>
            <a:spLocks noGrp="1"/>
          </p:cNvSpPr>
          <p:nvPr/>
        </p:nvSpPr>
        <p:spPr>
          <a:xfrm>
            <a:off x="8850043" y="21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31" name="fp">
            <a:extLst>
              <a:ext uri="{FF2B5EF4-FFF2-40B4-BE49-F238E27FC236}">
                <a16:creationId xmlns:a16="http://schemas.microsoft.com/office/drawing/2014/main" id="{8B6521E8-E737-4944-85F2-EA3480639D7D}"/>
              </a:ext>
            </a:extLst>
          </p:cNvPr>
          <p:cNvSpPr>
            <a:spLocks noGrp="1"/>
          </p:cNvSpPr>
          <p:nvPr/>
        </p:nvSpPr>
        <p:spPr>
          <a:xfrm>
            <a:off x="8850043" y="24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32" name="fp">
            <a:extLst>
              <a:ext uri="{FF2B5EF4-FFF2-40B4-BE49-F238E27FC236}">
                <a16:creationId xmlns:a16="http://schemas.microsoft.com/office/drawing/2014/main" id="{92AF058B-7CC6-4597-9E30-88F6CB94CED5}"/>
              </a:ext>
            </a:extLst>
          </p:cNvPr>
          <p:cNvSpPr>
            <a:spLocks noGrp="1"/>
          </p:cNvSpPr>
          <p:nvPr/>
        </p:nvSpPr>
        <p:spPr>
          <a:xfrm>
            <a:off x="8850043" y="27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33" name="fp">
            <a:extLst>
              <a:ext uri="{FF2B5EF4-FFF2-40B4-BE49-F238E27FC236}">
                <a16:creationId xmlns:a16="http://schemas.microsoft.com/office/drawing/2014/main" id="{26A2325B-B9AA-485A-B8BE-06485A9ABD92}"/>
              </a:ext>
            </a:extLst>
          </p:cNvPr>
          <p:cNvSpPr>
            <a:spLocks noGrp="1"/>
          </p:cNvSpPr>
          <p:nvPr/>
        </p:nvSpPr>
        <p:spPr>
          <a:xfrm>
            <a:off x="8850043" y="30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34" name="fp">
            <a:extLst>
              <a:ext uri="{FF2B5EF4-FFF2-40B4-BE49-F238E27FC236}">
                <a16:creationId xmlns:a16="http://schemas.microsoft.com/office/drawing/2014/main" id="{58488A39-DCF6-406A-8CAA-E07461D5E150}"/>
              </a:ext>
            </a:extLst>
          </p:cNvPr>
          <p:cNvSpPr>
            <a:spLocks noGrp="1"/>
          </p:cNvSpPr>
          <p:nvPr/>
        </p:nvSpPr>
        <p:spPr>
          <a:xfrm>
            <a:off x="8850043" y="33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35" name="fp">
            <a:extLst>
              <a:ext uri="{FF2B5EF4-FFF2-40B4-BE49-F238E27FC236}">
                <a16:creationId xmlns:a16="http://schemas.microsoft.com/office/drawing/2014/main" id="{0F5D6D57-D21D-45C3-BD52-ED3B81086553}"/>
              </a:ext>
            </a:extLst>
          </p:cNvPr>
          <p:cNvSpPr>
            <a:spLocks noGrp="1"/>
          </p:cNvSpPr>
          <p:nvPr/>
        </p:nvSpPr>
        <p:spPr>
          <a:xfrm>
            <a:off x="8850043" y="36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36" name="fp">
            <a:extLst>
              <a:ext uri="{FF2B5EF4-FFF2-40B4-BE49-F238E27FC236}">
                <a16:creationId xmlns:a16="http://schemas.microsoft.com/office/drawing/2014/main" id="{F2B4A20C-69BB-4ED3-A0B0-467FD33B31F6}"/>
              </a:ext>
            </a:extLst>
          </p:cNvPr>
          <p:cNvSpPr>
            <a:spLocks noGrp="1"/>
          </p:cNvSpPr>
          <p:nvPr/>
        </p:nvSpPr>
        <p:spPr>
          <a:xfrm>
            <a:off x="8850043" y="39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37" name="fp">
            <a:extLst>
              <a:ext uri="{FF2B5EF4-FFF2-40B4-BE49-F238E27FC236}">
                <a16:creationId xmlns:a16="http://schemas.microsoft.com/office/drawing/2014/main" id="{DE9B4444-95DF-4D4E-921E-A3CE6F8331E8}"/>
              </a:ext>
            </a:extLst>
          </p:cNvPr>
          <p:cNvSpPr>
            <a:spLocks noGrp="1"/>
          </p:cNvSpPr>
          <p:nvPr/>
        </p:nvSpPr>
        <p:spPr>
          <a:xfrm>
            <a:off x="9378429" y="21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38" name="fp">
            <a:extLst>
              <a:ext uri="{FF2B5EF4-FFF2-40B4-BE49-F238E27FC236}">
                <a16:creationId xmlns:a16="http://schemas.microsoft.com/office/drawing/2014/main" id="{136FE1DA-308F-43DC-AA89-C55E83D89EA8}"/>
              </a:ext>
            </a:extLst>
          </p:cNvPr>
          <p:cNvSpPr>
            <a:spLocks noGrp="1"/>
          </p:cNvSpPr>
          <p:nvPr/>
        </p:nvSpPr>
        <p:spPr>
          <a:xfrm>
            <a:off x="9378429" y="24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39" name="fp">
            <a:extLst>
              <a:ext uri="{FF2B5EF4-FFF2-40B4-BE49-F238E27FC236}">
                <a16:creationId xmlns:a16="http://schemas.microsoft.com/office/drawing/2014/main" id="{7473BDA9-FFFE-437B-AB45-0408C282E533}"/>
              </a:ext>
            </a:extLst>
          </p:cNvPr>
          <p:cNvSpPr>
            <a:spLocks noGrp="1"/>
          </p:cNvSpPr>
          <p:nvPr/>
        </p:nvSpPr>
        <p:spPr>
          <a:xfrm>
            <a:off x="9378429" y="27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40" name="fp">
            <a:extLst>
              <a:ext uri="{FF2B5EF4-FFF2-40B4-BE49-F238E27FC236}">
                <a16:creationId xmlns:a16="http://schemas.microsoft.com/office/drawing/2014/main" id="{00105699-115F-4BBC-AC98-34A92FBACC52}"/>
              </a:ext>
            </a:extLst>
          </p:cNvPr>
          <p:cNvSpPr>
            <a:spLocks noGrp="1"/>
          </p:cNvSpPr>
          <p:nvPr/>
        </p:nvSpPr>
        <p:spPr>
          <a:xfrm>
            <a:off x="9378429" y="30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41" name="fp">
            <a:extLst>
              <a:ext uri="{FF2B5EF4-FFF2-40B4-BE49-F238E27FC236}">
                <a16:creationId xmlns:a16="http://schemas.microsoft.com/office/drawing/2014/main" id="{22F6C813-285D-42A8-AE80-4D3444C86939}"/>
              </a:ext>
            </a:extLst>
          </p:cNvPr>
          <p:cNvSpPr>
            <a:spLocks noGrp="1"/>
          </p:cNvSpPr>
          <p:nvPr/>
        </p:nvSpPr>
        <p:spPr>
          <a:xfrm>
            <a:off x="9378429" y="33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42" name="fp">
            <a:extLst>
              <a:ext uri="{FF2B5EF4-FFF2-40B4-BE49-F238E27FC236}">
                <a16:creationId xmlns:a16="http://schemas.microsoft.com/office/drawing/2014/main" id="{0998DD49-A198-4F80-9383-29868ABDE7F7}"/>
              </a:ext>
            </a:extLst>
          </p:cNvPr>
          <p:cNvSpPr>
            <a:spLocks noGrp="1"/>
          </p:cNvSpPr>
          <p:nvPr/>
        </p:nvSpPr>
        <p:spPr>
          <a:xfrm>
            <a:off x="9378429" y="36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43" name="fp">
            <a:extLst>
              <a:ext uri="{FF2B5EF4-FFF2-40B4-BE49-F238E27FC236}">
                <a16:creationId xmlns:a16="http://schemas.microsoft.com/office/drawing/2014/main" id="{425712CF-6FB9-4154-A559-D94318ED1788}"/>
              </a:ext>
            </a:extLst>
          </p:cNvPr>
          <p:cNvSpPr>
            <a:spLocks noGrp="1"/>
          </p:cNvSpPr>
          <p:nvPr/>
        </p:nvSpPr>
        <p:spPr>
          <a:xfrm>
            <a:off x="9378429" y="39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44" name="fp">
            <a:extLst>
              <a:ext uri="{FF2B5EF4-FFF2-40B4-BE49-F238E27FC236}">
                <a16:creationId xmlns:a16="http://schemas.microsoft.com/office/drawing/2014/main" id="{72901F47-9A76-4B86-8C47-494C9DD3FCEF}"/>
              </a:ext>
            </a:extLst>
          </p:cNvPr>
          <p:cNvSpPr>
            <a:spLocks noGrp="1"/>
          </p:cNvSpPr>
          <p:nvPr/>
        </p:nvSpPr>
        <p:spPr>
          <a:xfrm>
            <a:off x="9906814" y="21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45" name="fp">
            <a:extLst>
              <a:ext uri="{FF2B5EF4-FFF2-40B4-BE49-F238E27FC236}">
                <a16:creationId xmlns:a16="http://schemas.microsoft.com/office/drawing/2014/main" id="{1ECBA1DB-9461-405E-ACBD-590A3EB68B03}"/>
              </a:ext>
            </a:extLst>
          </p:cNvPr>
          <p:cNvSpPr>
            <a:spLocks noGrp="1"/>
          </p:cNvSpPr>
          <p:nvPr/>
        </p:nvSpPr>
        <p:spPr>
          <a:xfrm>
            <a:off x="9906814" y="24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46" name="fp">
            <a:extLst>
              <a:ext uri="{FF2B5EF4-FFF2-40B4-BE49-F238E27FC236}">
                <a16:creationId xmlns:a16="http://schemas.microsoft.com/office/drawing/2014/main" id="{AB01AD9F-E7C8-40F1-B62A-1B042E8A34ED}"/>
              </a:ext>
            </a:extLst>
          </p:cNvPr>
          <p:cNvSpPr>
            <a:spLocks noGrp="1"/>
          </p:cNvSpPr>
          <p:nvPr/>
        </p:nvSpPr>
        <p:spPr>
          <a:xfrm>
            <a:off x="9906814" y="27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47" name="fp">
            <a:extLst>
              <a:ext uri="{FF2B5EF4-FFF2-40B4-BE49-F238E27FC236}">
                <a16:creationId xmlns:a16="http://schemas.microsoft.com/office/drawing/2014/main" id="{AF10CA48-B358-4BC4-B9B5-83CA437F4F38}"/>
              </a:ext>
            </a:extLst>
          </p:cNvPr>
          <p:cNvSpPr>
            <a:spLocks noGrp="1"/>
          </p:cNvSpPr>
          <p:nvPr/>
        </p:nvSpPr>
        <p:spPr>
          <a:xfrm>
            <a:off x="9906814" y="30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48" name="fp">
            <a:extLst>
              <a:ext uri="{FF2B5EF4-FFF2-40B4-BE49-F238E27FC236}">
                <a16:creationId xmlns:a16="http://schemas.microsoft.com/office/drawing/2014/main" id="{0105D415-6AA2-48F8-892D-E136D3B37F81}"/>
              </a:ext>
            </a:extLst>
          </p:cNvPr>
          <p:cNvSpPr>
            <a:spLocks noGrp="1"/>
          </p:cNvSpPr>
          <p:nvPr/>
        </p:nvSpPr>
        <p:spPr>
          <a:xfrm>
            <a:off x="9906814" y="33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49" name="fp">
            <a:extLst>
              <a:ext uri="{FF2B5EF4-FFF2-40B4-BE49-F238E27FC236}">
                <a16:creationId xmlns:a16="http://schemas.microsoft.com/office/drawing/2014/main" id="{7100CA4C-0780-4B82-8D1D-5CA1ABC3497B}"/>
              </a:ext>
            </a:extLst>
          </p:cNvPr>
          <p:cNvSpPr>
            <a:spLocks noGrp="1"/>
          </p:cNvSpPr>
          <p:nvPr/>
        </p:nvSpPr>
        <p:spPr>
          <a:xfrm>
            <a:off x="9906814" y="36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50" name="fp">
            <a:extLst>
              <a:ext uri="{FF2B5EF4-FFF2-40B4-BE49-F238E27FC236}">
                <a16:creationId xmlns:a16="http://schemas.microsoft.com/office/drawing/2014/main" id="{1518160B-8A7F-4F45-91EE-4A794876A9C5}"/>
              </a:ext>
            </a:extLst>
          </p:cNvPr>
          <p:cNvSpPr>
            <a:spLocks noGrp="1"/>
          </p:cNvSpPr>
          <p:nvPr/>
        </p:nvSpPr>
        <p:spPr>
          <a:xfrm>
            <a:off x="9906814" y="3914440"/>
            <a:ext cx="140000" cy="14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51" name="fp">
            <a:extLst>
              <a:ext uri="{FF2B5EF4-FFF2-40B4-BE49-F238E27FC236}">
                <a16:creationId xmlns:a16="http://schemas.microsoft.com/office/drawing/2014/main" id="{F9C03962-EB7B-454F-B4D2-EA80F4765839}"/>
              </a:ext>
            </a:extLst>
          </p:cNvPr>
          <p:cNvSpPr>
            <a:spLocks noGrp="1"/>
          </p:cNvSpPr>
          <p:nvPr/>
        </p:nvSpPr>
        <p:spPr>
          <a:xfrm>
            <a:off x="10435200" y="21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52" name="fp">
            <a:extLst>
              <a:ext uri="{FF2B5EF4-FFF2-40B4-BE49-F238E27FC236}">
                <a16:creationId xmlns:a16="http://schemas.microsoft.com/office/drawing/2014/main" id="{E59DA3DA-E798-43A4-A216-20EE7D954712}"/>
              </a:ext>
            </a:extLst>
          </p:cNvPr>
          <p:cNvSpPr>
            <a:spLocks noGrp="1"/>
          </p:cNvSpPr>
          <p:nvPr/>
        </p:nvSpPr>
        <p:spPr>
          <a:xfrm>
            <a:off x="10435200" y="24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53" name="fp">
            <a:extLst>
              <a:ext uri="{FF2B5EF4-FFF2-40B4-BE49-F238E27FC236}">
                <a16:creationId xmlns:a16="http://schemas.microsoft.com/office/drawing/2014/main" id="{C5806AF7-C09B-4E56-AD69-CEBFC62627CE}"/>
              </a:ext>
            </a:extLst>
          </p:cNvPr>
          <p:cNvSpPr>
            <a:spLocks noGrp="1"/>
          </p:cNvSpPr>
          <p:nvPr/>
        </p:nvSpPr>
        <p:spPr>
          <a:xfrm>
            <a:off x="10435200" y="27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54" name="fp">
            <a:extLst>
              <a:ext uri="{FF2B5EF4-FFF2-40B4-BE49-F238E27FC236}">
                <a16:creationId xmlns:a16="http://schemas.microsoft.com/office/drawing/2014/main" id="{5DB9AE5D-3B82-49C2-A666-C42848851024}"/>
              </a:ext>
            </a:extLst>
          </p:cNvPr>
          <p:cNvSpPr>
            <a:spLocks noGrp="1"/>
          </p:cNvSpPr>
          <p:nvPr/>
        </p:nvSpPr>
        <p:spPr>
          <a:xfrm>
            <a:off x="10435200" y="30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55" name="fp">
            <a:extLst>
              <a:ext uri="{FF2B5EF4-FFF2-40B4-BE49-F238E27FC236}">
                <a16:creationId xmlns:a16="http://schemas.microsoft.com/office/drawing/2014/main" id="{0F5085B8-864B-4810-A3D6-1528F750F24A}"/>
              </a:ext>
            </a:extLst>
          </p:cNvPr>
          <p:cNvSpPr>
            <a:spLocks noGrp="1"/>
          </p:cNvSpPr>
          <p:nvPr/>
        </p:nvSpPr>
        <p:spPr>
          <a:xfrm>
            <a:off x="10435200" y="33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56" name="fp">
            <a:extLst>
              <a:ext uri="{FF2B5EF4-FFF2-40B4-BE49-F238E27FC236}">
                <a16:creationId xmlns:a16="http://schemas.microsoft.com/office/drawing/2014/main" id="{3C73054F-28B4-4B45-9F3F-68455851DBDE}"/>
              </a:ext>
            </a:extLst>
          </p:cNvPr>
          <p:cNvSpPr>
            <a:spLocks noGrp="1"/>
          </p:cNvSpPr>
          <p:nvPr/>
        </p:nvSpPr>
        <p:spPr>
          <a:xfrm>
            <a:off x="10435200" y="36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57" name="fp">
            <a:extLst>
              <a:ext uri="{FF2B5EF4-FFF2-40B4-BE49-F238E27FC236}">
                <a16:creationId xmlns:a16="http://schemas.microsoft.com/office/drawing/2014/main" id="{22AD0839-BF1B-42E6-935B-C9507172414B}"/>
              </a:ext>
            </a:extLst>
          </p:cNvPr>
          <p:cNvSpPr>
            <a:spLocks noGrp="1"/>
          </p:cNvSpPr>
          <p:nvPr/>
        </p:nvSpPr>
        <p:spPr>
          <a:xfrm>
            <a:off x="10435200" y="3914440"/>
            <a:ext cx="140000" cy="14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58" name="ln">
            <a:extLst>
              <a:ext uri="{FF2B5EF4-FFF2-40B4-BE49-F238E27FC236}">
                <a16:creationId xmlns:a16="http://schemas.microsoft.com/office/drawing/2014/main" id="{D6EDC3F9-B216-4407-A862-45BCB3536E06}"/>
              </a:ext>
            </a:extLst>
          </p:cNvPr>
          <p:cNvSpPr>
            <a:spLocks noGrp="1"/>
          </p:cNvSpPr>
          <p:nvPr/>
        </p:nvSpPr>
        <p:spPr>
          <a:xfrm>
            <a:off x="6806500" y="1794440"/>
            <a:ext cx="3698700" cy="0"/>
          </a:xfrm>
          <a:prstGeom prst="line">
            <a:avLst/>
          </a:prstGeom>
          <a:ln w="19050">
            <a:solidFill>
              <a:srgbClr val="1B4332"/>
            </a:solidFill>
            <a:headEnd type="triangle" w="med" len="med"/>
            <a:tailEnd type="triangle" w="med" len="med"/>
          </a:ln>
        </p:spPr>
        <p:txBody>
          <a:bodyPr/>
          <a:lstStyle/>
          <a:p>
            <a:endParaRPr lang="es-ES" sz="1500"/>
          </a:p>
        </p:txBody>
      </p:sp>
      <p:sp>
        <p:nvSpPr>
          <p:cNvPr id="959" name="lbl">
            <a:extLst>
              <a:ext uri="{FF2B5EF4-FFF2-40B4-BE49-F238E27FC236}">
                <a16:creationId xmlns:a16="http://schemas.microsoft.com/office/drawing/2014/main" id="{C774E959-DACD-41C5-ABB8-6AE97A31A1F6}"/>
              </a:ext>
            </a:extLst>
          </p:cNvPr>
          <p:cNvSpPr>
            <a:spLocks noGrp="1"/>
          </p:cNvSpPr>
          <p:nvPr/>
        </p:nvSpPr>
        <p:spPr>
          <a:xfrm>
            <a:off x="6686500" y="1464440"/>
            <a:ext cx="40387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Franja de barrido ≈ 4,2 km</a:t>
            </a:r>
          </a:p>
        </p:txBody>
      </p:sp>
      <p:sp>
        <p:nvSpPr>
          <p:cNvPr id="960" name="ln">
            <a:extLst>
              <a:ext uri="{FF2B5EF4-FFF2-40B4-BE49-F238E27FC236}">
                <a16:creationId xmlns:a16="http://schemas.microsoft.com/office/drawing/2014/main" id="{BEB297B6-AD34-4A55-97B5-45706AFCC81C}"/>
              </a:ext>
            </a:extLst>
          </p:cNvPr>
          <p:cNvSpPr>
            <a:spLocks noGrp="1"/>
          </p:cNvSpPr>
          <p:nvPr/>
        </p:nvSpPr>
        <p:spPr>
          <a:xfrm>
            <a:off x="6806500" y="1794440"/>
            <a:ext cx="0" cy="120000"/>
          </a:xfrm>
          <a:prstGeom prst="line">
            <a:avLst/>
          </a:prstGeom>
          <a:ln w="12700">
            <a:solidFill>
              <a:srgbClr val="1B4332"/>
            </a:solidFill>
          </a:ln>
        </p:spPr>
        <p:txBody>
          <a:bodyPr/>
          <a:lstStyle/>
          <a:p>
            <a:endParaRPr lang="es-ES" sz="1500"/>
          </a:p>
        </p:txBody>
      </p:sp>
      <p:sp>
        <p:nvSpPr>
          <p:cNvPr id="961" name="ln">
            <a:extLst>
              <a:ext uri="{FF2B5EF4-FFF2-40B4-BE49-F238E27FC236}">
                <a16:creationId xmlns:a16="http://schemas.microsoft.com/office/drawing/2014/main" id="{8747A258-A648-4D25-A57C-B91E720BEDB1}"/>
              </a:ext>
            </a:extLst>
          </p:cNvPr>
          <p:cNvSpPr>
            <a:spLocks noGrp="1"/>
          </p:cNvSpPr>
          <p:nvPr/>
        </p:nvSpPr>
        <p:spPr>
          <a:xfrm>
            <a:off x="10505200" y="1794440"/>
            <a:ext cx="0" cy="120000"/>
          </a:xfrm>
          <a:prstGeom prst="line">
            <a:avLst/>
          </a:prstGeom>
          <a:ln w="12700">
            <a:solidFill>
              <a:srgbClr val="1B4332"/>
            </a:solidFill>
          </a:ln>
        </p:spPr>
        <p:txBody>
          <a:bodyPr/>
          <a:lstStyle/>
          <a:p>
            <a:endParaRPr lang="es-ES" sz="1500"/>
          </a:p>
        </p:txBody>
      </p:sp>
      <p:sp>
        <p:nvSpPr>
          <p:cNvPr id="962" name="ln">
            <a:extLst>
              <a:ext uri="{FF2B5EF4-FFF2-40B4-BE49-F238E27FC236}">
                <a16:creationId xmlns:a16="http://schemas.microsoft.com/office/drawing/2014/main" id="{5986E75B-DB4A-4C24-9AD6-21016EAAA5E2}"/>
              </a:ext>
            </a:extLst>
          </p:cNvPr>
          <p:cNvSpPr>
            <a:spLocks noGrp="1"/>
          </p:cNvSpPr>
          <p:nvPr/>
        </p:nvSpPr>
        <p:spPr>
          <a:xfrm>
            <a:off x="8391657" y="4204440"/>
            <a:ext cx="528386" cy="0"/>
          </a:xfrm>
          <a:prstGeom prst="line">
            <a:avLst/>
          </a:prstGeom>
          <a:ln w="12700">
            <a:solidFill>
              <a:srgbClr val="6B7280"/>
            </a:solidFill>
            <a:headEnd type="triangle" w="med" len="med"/>
            <a:tailEnd type="triangle" w="med" len="med"/>
          </a:ln>
        </p:spPr>
        <p:txBody>
          <a:bodyPr/>
          <a:lstStyle/>
          <a:p>
            <a:endParaRPr lang="es-ES" sz="1500"/>
          </a:p>
        </p:txBody>
      </p:sp>
      <p:sp>
        <p:nvSpPr>
          <p:cNvPr id="963" name="lbl">
            <a:extLst>
              <a:ext uri="{FF2B5EF4-FFF2-40B4-BE49-F238E27FC236}">
                <a16:creationId xmlns:a16="http://schemas.microsoft.com/office/drawing/2014/main" id="{4897602B-97EA-4EF4-8502-E6F850B94F4E}"/>
              </a:ext>
            </a:extLst>
          </p:cNvPr>
          <p:cNvSpPr>
            <a:spLocks noGrp="1"/>
          </p:cNvSpPr>
          <p:nvPr/>
        </p:nvSpPr>
        <p:spPr>
          <a:xfrm>
            <a:off x="8102048" y="4306004"/>
            <a:ext cx="1128386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200" b="0" i="0">
                <a:latin typeface="Arial"/>
                <a:ea typeface="Arial"/>
                <a:cs typeface="Arial"/>
              </a:rPr>
              <a:t>600 m entre transectas</a:t>
            </a:r>
          </a:p>
        </p:txBody>
      </p:sp>
      <p:sp>
        <p:nvSpPr>
          <p:cNvPr id="964" name="ln">
            <a:extLst>
              <a:ext uri="{FF2B5EF4-FFF2-40B4-BE49-F238E27FC236}">
                <a16:creationId xmlns:a16="http://schemas.microsoft.com/office/drawing/2014/main" id="{DDBBB6D7-D7D5-47DB-BFED-87EE83D86D95}"/>
              </a:ext>
            </a:extLst>
          </p:cNvPr>
          <p:cNvSpPr>
            <a:spLocks noGrp="1"/>
          </p:cNvSpPr>
          <p:nvPr/>
        </p:nvSpPr>
        <p:spPr>
          <a:xfrm>
            <a:off x="10735200" y="2184440"/>
            <a:ext cx="0" cy="300000"/>
          </a:xfrm>
          <a:prstGeom prst="line">
            <a:avLst/>
          </a:prstGeom>
          <a:ln w="12700">
            <a:solidFill>
              <a:srgbClr val="6B7280"/>
            </a:solidFill>
            <a:headEnd type="triangle" w="med" len="med"/>
            <a:tailEnd type="triangle" w="med" len="med"/>
          </a:ln>
        </p:spPr>
        <p:txBody>
          <a:bodyPr/>
          <a:lstStyle/>
          <a:p>
            <a:endParaRPr lang="es-ES" sz="1500"/>
          </a:p>
        </p:txBody>
      </p:sp>
      <p:sp>
        <p:nvSpPr>
          <p:cNvPr id="965" name="lbl">
            <a:extLst>
              <a:ext uri="{FF2B5EF4-FFF2-40B4-BE49-F238E27FC236}">
                <a16:creationId xmlns:a16="http://schemas.microsoft.com/office/drawing/2014/main" id="{464F4E74-47F3-4180-983F-E933FF525D6B}"/>
              </a:ext>
            </a:extLst>
          </p:cNvPr>
          <p:cNvSpPr>
            <a:spLocks noGrp="1"/>
          </p:cNvSpPr>
          <p:nvPr/>
        </p:nvSpPr>
        <p:spPr>
          <a:xfrm>
            <a:off x="10825200" y="2184440"/>
            <a:ext cx="52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200" b="0" i="0">
                <a:latin typeface="Arial"/>
                <a:ea typeface="Arial"/>
                <a:cs typeface="Arial"/>
              </a:rPr>
              <a:t>60 m</a:t>
            </a:r>
          </a:p>
        </p:txBody>
      </p:sp>
      <p:sp>
        <p:nvSpPr>
          <p:cNvPr id="966" name="fp">
            <a:extLst>
              <a:ext uri="{FF2B5EF4-FFF2-40B4-BE49-F238E27FC236}">
                <a16:creationId xmlns:a16="http://schemas.microsoft.com/office/drawing/2014/main" id="{E682EA3A-45CB-4B83-ABA1-6FA56F932B06}"/>
              </a:ext>
            </a:extLst>
          </p:cNvPr>
          <p:cNvSpPr>
            <a:spLocks noGrp="1"/>
          </p:cNvSpPr>
          <p:nvPr/>
        </p:nvSpPr>
        <p:spPr>
          <a:xfrm>
            <a:off x="6586500" y="4484440"/>
            <a:ext cx="260000" cy="26000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67" name="lbl">
            <a:extLst>
              <a:ext uri="{FF2B5EF4-FFF2-40B4-BE49-F238E27FC236}">
                <a16:creationId xmlns:a16="http://schemas.microsoft.com/office/drawing/2014/main" id="{4AB5C243-8600-4735-8322-DCDD21541321}"/>
              </a:ext>
            </a:extLst>
          </p:cNvPr>
          <p:cNvSpPr>
            <a:spLocks noGrp="1"/>
          </p:cNvSpPr>
          <p:nvPr/>
        </p:nvSpPr>
        <p:spPr>
          <a:xfrm>
            <a:off x="6916500" y="4494440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Huella ≈ 25 m</a:t>
            </a:r>
          </a:p>
        </p:txBody>
      </p:sp>
      <p:sp>
        <p:nvSpPr>
          <p:cNvPr id="968" name="ln">
            <a:extLst>
              <a:ext uri="{FF2B5EF4-FFF2-40B4-BE49-F238E27FC236}">
                <a16:creationId xmlns:a16="http://schemas.microsoft.com/office/drawing/2014/main" id="{00E514AF-2855-48D0-A0C6-CD0D8262DD6A}"/>
              </a:ext>
            </a:extLst>
          </p:cNvPr>
          <p:cNvSpPr>
            <a:spLocks noGrp="1"/>
          </p:cNvSpPr>
          <p:nvPr/>
        </p:nvSpPr>
        <p:spPr>
          <a:xfrm>
            <a:off x="6806500" y="3914440"/>
            <a:ext cx="90000" cy="57000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s-ES" sz="1500"/>
          </a:p>
        </p:txBody>
      </p:sp>
      <p:sp>
        <p:nvSpPr>
          <p:cNvPr id="969" name="fp">
            <a:extLst>
              <a:ext uri="{FF2B5EF4-FFF2-40B4-BE49-F238E27FC236}">
                <a16:creationId xmlns:a16="http://schemas.microsoft.com/office/drawing/2014/main" id="{372964DB-F2A1-4DD7-9D62-3460D08A7FB1}"/>
              </a:ext>
            </a:extLst>
          </p:cNvPr>
          <p:cNvSpPr>
            <a:spLocks noGrp="1"/>
          </p:cNvSpPr>
          <p:nvPr/>
        </p:nvSpPr>
        <p:spPr>
          <a:xfrm>
            <a:off x="6586500" y="4963040"/>
            <a:ext cx="150000" cy="150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70" name="lbl">
            <a:extLst>
              <a:ext uri="{FF2B5EF4-FFF2-40B4-BE49-F238E27FC236}">
                <a16:creationId xmlns:a16="http://schemas.microsoft.com/office/drawing/2014/main" id="{D10EB6BE-FBBD-4488-9424-E0E8616077EB}"/>
              </a:ext>
            </a:extLst>
          </p:cNvPr>
          <p:cNvSpPr>
            <a:spLocks noGrp="1"/>
          </p:cNvSpPr>
          <p:nvPr/>
        </p:nvSpPr>
        <p:spPr>
          <a:xfrm>
            <a:off x="6786500" y="4943040"/>
            <a:ext cx="21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200" b="0" i="0">
                <a:latin typeface="Arial"/>
                <a:ea typeface="Arial"/>
                <a:cs typeface="Arial"/>
              </a:rPr>
              <a:t>4 transectas potencia plena</a:t>
            </a:r>
          </a:p>
        </p:txBody>
      </p:sp>
      <p:sp>
        <p:nvSpPr>
          <p:cNvPr id="971" name="fp">
            <a:extLst>
              <a:ext uri="{FF2B5EF4-FFF2-40B4-BE49-F238E27FC236}">
                <a16:creationId xmlns:a16="http://schemas.microsoft.com/office/drawing/2014/main" id="{CB3BAFB9-70F9-4C17-B228-C32AA8E16250}"/>
              </a:ext>
            </a:extLst>
          </p:cNvPr>
          <p:cNvSpPr>
            <a:spLocks noGrp="1"/>
          </p:cNvSpPr>
          <p:nvPr/>
        </p:nvSpPr>
        <p:spPr>
          <a:xfrm>
            <a:off x="8936500" y="4963040"/>
            <a:ext cx="150000" cy="150000"/>
          </a:xfrm>
          <a:prstGeom prst="ellipse">
            <a:avLst/>
          </a:prstGeom>
          <a:solidFill>
            <a:srgbClr val="95C9AE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972" name="lbl">
            <a:extLst>
              <a:ext uri="{FF2B5EF4-FFF2-40B4-BE49-F238E27FC236}">
                <a16:creationId xmlns:a16="http://schemas.microsoft.com/office/drawing/2014/main" id="{F560D7AC-62AC-40E3-A80A-476F15F2904F}"/>
              </a:ext>
            </a:extLst>
          </p:cNvPr>
          <p:cNvSpPr>
            <a:spLocks noGrp="1"/>
          </p:cNvSpPr>
          <p:nvPr/>
        </p:nvSpPr>
        <p:spPr>
          <a:xfrm>
            <a:off x="9136500" y="4943040"/>
            <a:ext cx="19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200" b="0" i="0">
                <a:latin typeface="Arial"/>
                <a:ea typeface="Arial"/>
                <a:cs typeface="Arial"/>
              </a:rPr>
              <a:t>4 transectas de cobertura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80379F3-9A43-41C3-B17E-03049D37995B}"/>
              </a:ext>
            </a:extLst>
          </p:cNvPr>
          <p:cNvSpPr>
            <a:spLocks noGrp="1"/>
          </p:cNvSpPr>
          <p:nvPr/>
        </p:nvSpPr>
        <p:spPr>
          <a:xfrm>
            <a:off x="6037796" y="5417128"/>
            <a:ext cx="562356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1400" dirty="0" err="1">
                <a:latin typeface="Arial"/>
                <a:ea typeface="Arial"/>
                <a:cs typeface="Arial"/>
              </a:rPr>
              <a:t>Esquema</a:t>
            </a:r>
            <a:r>
              <a:rPr sz="1400" dirty="0">
                <a:latin typeface="Arial"/>
                <a:ea typeface="Arial"/>
                <a:cs typeface="Arial"/>
              </a:rPr>
              <a:t> del </a:t>
            </a:r>
            <a:r>
              <a:rPr sz="1400" dirty="0" err="1">
                <a:latin typeface="Arial"/>
                <a:ea typeface="Arial"/>
                <a:cs typeface="Arial"/>
              </a:rPr>
              <a:t>patrón</a:t>
            </a:r>
            <a:r>
              <a:rPr sz="1400" dirty="0">
                <a:latin typeface="Arial"/>
                <a:ea typeface="Arial"/>
                <a:cs typeface="Arial"/>
              </a:rPr>
              <a:t> de </a:t>
            </a:r>
            <a:r>
              <a:rPr sz="1400" dirty="0" err="1">
                <a:latin typeface="Arial"/>
                <a:ea typeface="Arial"/>
                <a:cs typeface="Arial"/>
              </a:rPr>
              <a:t>muestreo</a:t>
            </a:r>
            <a:r>
              <a:rPr sz="1400" dirty="0">
                <a:latin typeface="Arial"/>
                <a:ea typeface="Arial"/>
                <a:cs typeface="Arial"/>
              </a:rPr>
              <a:t>: </a:t>
            </a:r>
            <a:r>
              <a:rPr sz="1400" dirty="0" err="1">
                <a:latin typeface="Arial"/>
                <a:ea typeface="Arial"/>
                <a:cs typeface="Arial"/>
              </a:rPr>
              <a:t>ocho</a:t>
            </a:r>
            <a:r>
              <a:rPr sz="1400" dirty="0">
                <a:latin typeface="Arial"/>
                <a:ea typeface="Arial"/>
                <a:cs typeface="Arial"/>
              </a:rPr>
              <a:t> transectas, </a:t>
            </a:r>
            <a:r>
              <a:rPr sz="1400" dirty="0" err="1">
                <a:latin typeface="Arial"/>
                <a:ea typeface="Arial"/>
                <a:cs typeface="Arial"/>
              </a:rPr>
              <a:t>huellas</a:t>
            </a:r>
            <a:r>
              <a:rPr sz="1400" dirty="0">
                <a:latin typeface="Arial"/>
                <a:ea typeface="Arial"/>
                <a:cs typeface="Arial"/>
              </a:rPr>
              <a:t> de 25 m </a:t>
            </a:r>
            <a:r>
              <a:rPr sz="1400" dirty="0" err="1">
                <a:latin typeface="Arial"/>
                <a:ea typeface="Arial"/>
                <a:cs typeface="Arial"/>
              </a:rPr>
              <a:t>cada</a:t>
            </a:r>
            <a:r>
              <a:rPr sz="1400" dirty="0">
                <a:latin typeface="Arial"/>
                <a:ea typeface="Arial"/>
                <a:cs typeface="Arial"/>
              </a:rPr>
              <a:t> 60 m y </a:t>
            </a:r>
            <a:r>
              <a:rPr sz="1400" dirty="0" err="1">
                <a:latin typeface="Arial"/>
                <a:ea typeface="Arial"/>
                <a:cs typeface="Arial"/>
              </a:rPr>
              <a:t>franja</a:t>
            </a:r>
            <a:r>
              <a:rPr sz="1400" dirty="0">
                <a:latin typeface="Arial"/>
                <a:ea typeface="Arial"/>
                <a:cs typeface="Arial"/>
              </a:rPr>
              <a:t> de 4,2 km.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7CA5E6E-0BB9-4AEF-9A26-C44433F5E4FD}"/>
              </a:ext>
            </a:extLst>
          </p:cNvPr>
          <p:cNvSpPr>
            <a:spLocks noGrp="1"/>
          </p:cNvSpPr>
          <p:nvPr/>
        </p:nvSpPr>
        <p:spPr>
          <a:xfrm>
            <a:off x="596900" y="5871128"/>
            <a:ext cx="109220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MX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MX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elaboración propia sobre especificaciones GEDI/UMD; NASA GSFC/SVS; ORNL DAAC.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47A3C44-35EB-4C60-A43C-15FDC4315FFE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10/79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9098E0-81C0-4881-B66E-18179F04D4AE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19E96C3-25D5-4DA9-9A84-54451B7C36EE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973" name="Rectángulo 972">
            <a:extLst>
              <a:ext uri="{FF2B5EF4-FFF2-40B4-BE49-F238E27FC236}">
                <a16:creationId xmlns:a16="http://schemas.microsoft.com/office/drawing/2014/main" id="{6F954132-3691-4581-95B8-DD13F662B768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9079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AB58F3-B202-41AB-84DA-8FD4FD5E0DCF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Cobertura en Chubut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55908E-243B-46E6-A010-D9BAC6C330E6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Cobertura orbital y distribución latitudinal de las observaciones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D054BB-D57B-4908-A88A-62FFC21E93D7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724400" cy="44323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508" tIns="508" rIns="508" bIns="508" anchor="t"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1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Geometría orbital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ISS orbita a ~420 km con inclinación de 51,6°: Chubut es observable.</a:t>
            </a:r>
          </a:p>
          <a:p>
            <a:pPr marL="0" indent="0" algn="just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2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Densidad latitudinal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En latitudes medias las trazas se densifican; los valles conservan pocas huellas.</a:t>
            </a:r>
          </a:p>
          <a:p>
            <a:pPr marL="0" indent="0" algn="just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3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Condiciones de adquisición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disponibilidad depende de nubosidad, nieve y calidad del retorno.</a:t>
            </a:r>
          </a:p>
          <a:p>
            <a:pPr marL="0" indent="0" algn="just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4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Criterio metodológico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 acumulan ventanas multianuales y se declara el rango de fechas.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9CDCE27-1EFE-45C5-BB9F-C82C89B17263}"/>
              </a:ext>
            </a:extLst>
          </p:cNvPr>
          <p:cNvSpPr>
            <a:spLocks noGrp="1"/>
          </p:cNvSpPr>
          <p:nvPr/>
        </p:nvSpPr>
        <p:spPr>
          <a:xfrm>
            <a:off x="6324600" y="2067560"/>
            <a:ext cx="0" cy="252000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0C001E0-ADD5-45A0-A04C-ED43FB590307}"/>
              </a:ext>
            </a:extLst>
          </p:cNvPr>
          <p:cNvSpPr>
            <a:spLocks noGrp="1"/>
          </p:cNvSpPr>
          <p:nvPr/>
        </p:nvSpPr>
        <p:spPr>
          <a:xfrm>
            <a:off x="6248400" y="2118360"/>
            <a:ext cx="165100" cy="1651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071461B-21DF-419D-B3BF-4B1D82BE4A82}"/>
              </a:ext>
            </a:extLst>
          </p:cNvPr>
          <p:cNvSpPr>
            <a:spLocks noGrp="1"/>
          </p:cNvSpPr>
          <p:nvPr/>
        </p:nvSpPr>
        <p:spPr>
          <a:xfrm>
            <a:off x="6629400" y="201676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2019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D83EEE6-F894-48BF-80E1-BCC48CDAA1AE}"/>
              </a:ext>
            </a:extLst>
          </p:cNvPr>
          <p:cNvSpPr>
            <a:spLocks noGrp="1"/>
          </p:cNvSpPr>
          <p:nvPr/>
        </p:nvSpPr>
        <p:spPr>
          <a:xfrm>
            <a:off x="7543800" y="1965960"/>
            <a:ext cx="3962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Inicio de adquisiciones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Primeras huellas sobre Patagonia.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DED7556-7A59-4F59-A810-669B2667A2CF}"/>
              </a:ext>
            </a:extLst>
          </p:cNvPr>
          <p:cNvSpPr>
            <a:spLocks noGrp="1"/>
          </p:cNvSpPr>
          <p:nvPr/>
        </p:nvSpPr>
        <p:spPr>
          <a:xfrm>
            <a:off x="6248400" y="2804160"/>
            <a:ext cx="165100" cy="1651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C4E4CFD-2621-41CB-B07F-9306853B21B6}"/>
              </a:ext>
            </a:extLst>
          </p:cNvPr>
          <p:cNvSpPr>
            <a:spLocks noGrp="1"/>
          </p:cNvSpPr>
          <p:nvPr/>
        </p:nvSpPr>
        <p:spPr>
          <a:xfrm>
            <a:off x="6629400" y="270256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A095E98-E62E-4A0B-99F0-BDAC5C9382C9}"/>
              </a:ext>
            </a:extLst>
          </p:cNvPr>
          <p:cNvSpPr>
            <a:spLocks noGrp="1"/>
          </p:cNvSpPr>
          <p:nvPr/>
        </p:nvSpPr>
        <p:spPr>
          <a:xfrm>
            <a:off x="7543800" y="2651760"/>
            <a:ext cx="3962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Pausa y almacenamiento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Interrupción de la serie temporal.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54E7B44-8CD5-43F4-B6C4-70FA80352F17}"/>
              </a:ext>
            </a:extLst>
          </p:cNvPr>
          <p:cNvSpPr>
            <a:spLocks noGrp="1"/>
          </p:cNvSpPr>
          <p:nvPr/>
        </p:nvSpPr>
        <p:spPr>
          <a:xfrm>
            <a:off x="6248400" y="3489960"/>
            <a:ext cx="165100" cy="1651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sz="15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3DB4B39-FD3A-449B-949D-2C886DD98668}"/>
              </a:ext>
            </a:extLst>
          </p:cNvPr>
          <p:cNvSpPr>
            <a:spLocks noGrp="1"/>
          </p:cNvSpPr>
          <p:nvPr/>
        </p:nvSpPr>
        <p:spPr>
          <a:xfrm>
            <a:off x="6629400" y="338836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105232C-F98B-4409-A800-7F4244A952DE}"/>
              </a:ext>
            </a:extLst>
          </p:cNvPr>
          <p:cNvSpPr>
            <a:spLocks noGrp="1"/>
          </p:cNvSpPr>
          <p:nvPr/>
        </p:nvSpPr>
        <p:spPr>
          <a:xfrm>
            <a:off x="7543800" y="3337560"/>
            <a:ext cx="3962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Reanudación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Continuidad de la cobertura.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4F72E2C-5DF3-4405-8B1D-A211B8A2F78E}"/>
              </a:ext>
            </a:extLst>
          </p:cNvPr>
          <p:cNvSpPr>
            <a:spLocks noGrp="1"/>
          </p:cNvSpPr>
          <p:nvPr/>
        </p:nvSpPr>
        <p:spPr>
          <a:xfrm>
            <a:off x="6248400" y="4175760"/>
            <a:ext cx="165100" cy="1651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sz="15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6051BCC-249D-40B7-A5AB-7F1D1B909035}"/>
              </a:ext>
            </a:extLst>
          </p:cNvPr>
          <p:cNvSpPr>
            <a:spLocks noGrp="1"/>
          </p:cNvSpPr>
          <p:nvPr/>
        </p:nvSpPr>
        <p:spPr>
          <a:xfrm>
            <a:off x="6629400" y="407416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0C78A90-7EF1-4344-AD90-B34A8655E84C}"/>
              </a:ext>
            </a:extLst>
          </p:cNvPr>
          <p:cNvSpPr>
            <a:spLocks noGrp="1"/>
          </p:cNvSpPr>
          <p:nvPr/>
        </p:nvSpPr>
        <p:spPr>
          <a:xfrm>
            <a:off x="7543800" y="4023360"/>
            <a:ext cx="39624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Productos consolidados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Versiones vigentes de L2A y L4A.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860B5E3-E58E-4938-98B2-44631BF5B51D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NASA Earthdata GEDI v3 release; ORNL DAAC GEDI L4A v3, DOI 10.3334/ORNLDAAC/2508. NASA GEDI/UMD; NASA GSFC SVS 13090; Dubayah et al. (2020).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25616EF-7E2F-4325-982E-5BD852400216}"/>
              </a:ext>
            </a:extLst>
          </p:cNvPr>
          <p:cNvSpPr>
            <a:spLocks noGrp="1"/>
          </p:cNvSpPr>
          <p:nvPr/>
        </p:nvSpPr>
        <p:spPr>
          <a:xfrm>
            <a:off x="11172596" y="6428373"/>
            <a:ext cx="37170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11/79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80A6EC7-5B28-4991-A06A-2C4E7A070AAB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17DD0CD-2CB3-4E5B-85F7-D8CD238E3A84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6CF4551-A8F3-466B-A567-F2612A708584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0" name="TLHead"/>
          <p:cNvSpPr txBox="1"/>
          <p:nvPr/>
        </p:nvSpPr>
        <p:spPr>
          <a:xfrm>
            <a:off x="5867400" y="1305560"/>
            <a:ext cx="5676900" cy="635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0" tIns="91440" rIns="0" bIns="9144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Cronología de la misión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Hitos que condicionan la ventana temporal de análisis</a:t>
            </a:r>
          </a:p>
        </p:txBody>
      </p:sp>
      <p:sp>
        <p:nvSpPr>
          <p:cNvPr id="971" name="TLNota"/>
          <p:cNvSpPr txBox="1"/>
          <p:nvPr/>
        </p:nvSpPr>
        <p:spPr>
          <a:xfrm>
            <a:off x="5867400" y="4759960"/>
            <a:ext cx="5676900" cy="889000"/>
          </a:xfrm>
          <a:prstGeom prst="roundRect">
            <a:avLst>
              <a:gd name="adj" fmla="val 8000"/>
            </a:avLst>
          </a:prstGeom>
          <a:solidFill>
            <a:srgbClr val="F3F8F4"/>
          </a:solidFill>
          <a:ln>
            <a:noFill/>
          </a:ln>
        </p:spPr>
        <p:txBody>
          <a:bodyPr wrap="square" lIns="152400" tIns="91440" rIns="152400" bIns="9144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Implicación para el diseño temporal</a:t>
            </a:r>
          </a:p>
          <a:p>
            <a:pPr marL="0" indent="0" algn="just">
              <a:lnSpc>
                <a:spcPct val="15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Las adquisiciones no son continuas: la pausa debe excluirse y el rango de fechas empleado se declara de forma explícita.</a:t>
            </a:r>
          </a:p>
        </p:txBody>
      </p:sp>
    </p:spTree>
    <p:extLst>
      <p:ext uri="{BB962C8B-B14F-4D97-AF65-F5344CB8AC3E}">
        <p14:creationId xmlns:p14="http://schemas.microsoft.com/office/powerpoint/2010/main" val="2474618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295915-C16D-4275-9C4C-C1D1E1B70AED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Productos GEDI: mapa mental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784891-2702-49CD-ADAA-E609A634078A}"/>
              </a:ext>
            </a:extLst>
          </p:cNvPr>
          <p:cNvSpPr>
            <a:spLocks noGrp="1"/>
          </p:cNvSpPr>
          <p:nvPr/>
        </p:nvSpPr>
        <p:spPr>
          <a:xfrm>
            <a:off x="636270" y="594360"/>
            <a:ext cx="960501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Correspondencia entre niveles de producto y objetivos de análisis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5701E7-00AC-4B44-AD45-1DCEFEA6F065}"/>
              </a:ext>
            </a:extLst>
          </p:cNvPr>
          <p:cNvSpPr>
            <a:spLocks noGrp="1"/>
          </p:cNvSpPr>
          <p:nvPr/>
        </p:nvSpPr>
        <p:spPr>
          <a:xfrm>
            <a:off x="596900" y="1270000"/>
            <a:ext cx="4838700" cy="4191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Criterio de elección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nivel de producto se elige según la pregunta de investigación, no por disponibilidad.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Estructura del dosel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L2A aporta alturas relativas (RH98) y L2B, cobertura, PAI y perfil vertical.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Biomasa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L4A entrega AGBD por huella con su error; L4B la agrega en grilla de 1 km.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Uso en este trabajo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L2A y L4A como insumo de calibración; L4B como referencia de contraste regional.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6BFD288-42C9-43F1-A398-DCC5788F1F55}"/>
              </a:ext>
            </a:extLst>
          </p:cNvPr>
          <p:cNvSpPr>
            <a:spLocks noGrp="1"/>
          </p:cNvSpPr>
          <p:nvPr/>
        </p:nvSpPr>
        <p:spPr>
          <a:xfrm>
            <a:off x="596900" y="5864200"/>
            <a:ext cx="109220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n-U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GEDI/UMD Products; LP DAAC GEDI02 User Guides; ORNL DAAC L4A/L4B.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7FFC741-756F-400C-B7DD-BF202E3DFD5E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12/79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B3FF224-B3DC-4495-BD38-EEDA50F9A27A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E485091-2E46-4ED6-92F5-A70238397ACB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graphicFrame>
        <p:nvGraphicFramePr>
          <p:cNvPr id="37" name="Tabla 28"/>
          <p:cNvGraphicFramePr/>
          <p:nvPr>
            <p:extLst>
              <p:ext uri="{D42A27DB-BD31-4B8C-83A1-F6EECF244321}">
                <p14:modId xmlns:p14="http://schemas.microsoft.com/office/powerpoint/2010/main" val="1735210423"/>
              </p:ext>
            </p:extLst>
          </p:nvPr>
        </p:nvGraphicFramePr>
        <p:xfrm>
          <a:off x="5892800" y="1270000"/>
          <a:ext cx="5626101" cy="4191000"/>
        </p:xfrm>
        <a:graphic>
          <a:graphicData uri="http://schemas.openxmlformats.org/drawingml/2006/table">
            <a:tbl>
              <a:tblPr/>
              <a:tblGrid>
                <a:gridCol w="152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Nivel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Contenido principal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Uso típico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L1B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Waveforms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investigación avanzada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L2A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altura/elevación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estructura y control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L2B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cobertura/PAI/PAVD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perfil vertical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L4A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AGBD por huella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calibración de mapas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L4B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AGBD gridded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síntesis regional</a:t>
                      </a:r>
                    </a:p>
                  </a:txBody>
                  <a:tcPr marT="25400" marB="25400" anchor="ctr">
                    <a:lnL w="0"/>
                    <a:lnR w="0"/>
                    <a:lnT w="0"/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Rectángulo 28">
            <a:extLst>
              <a:ext uri="{FF2B5EF4-FFF2-40B4-BE49-F238E27FC236}">
                <a16:creationId xmlns:a16="http://schemas.microsoft.com/office/drawing/2014/main" id="{467A7407-A867-4CD2-A42D-C5F1464741F1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9856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3E76C8F-BC6A-493A-8ACC-8A053C6A44EF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GEDI L1B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EE045B-CC38-4228-A912-F538C84CDB6C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La forma de onda como insumo primario para el procesamiento avanzado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242654B-3B87-452C-B4D7-737C62689D31}"/>
              </a:ext>
            </a:extLst>
          </p:cNvPr>
          <p:cNvSpPr>
            <a:spLocks noGrp="1"/>
          </p:cNvSpPr>
          <p:nvPr/>
        </p:nvSpPr>
        <p:spPr>
          <a:xfrm>
            <a:off x="600075" y="5562600"/>
            <a:ext cx="10915650" cy="7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GEDI/UMD Products; LP DAAC GEDI02 User Guides; ORNL DAAC L4A/L4B. NASA GEDI/UMD; NASA GSFC SVS 13090; Dubayah et al. (2020).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E36754B-1D38-4F97-8B01-68FD457A78A1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13/79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84FB37-9D6E-4D6A-87A5-85AA491BAD68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724400" cy="4292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Contenido del producto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Incluye la onda transmitida y la recibida, geolocalizadas y con sus parámetros.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Resolución vertical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 muestrea cada ~1 ns, equivalente a unos 15 cm en la vertical.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Diagnóstico de la señal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Permite examinar modos, ruido de fondo, degradación y respuestas complejas.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Reprocesamiento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Útil en pendientes fuertes, bordes y doseles heterogéneos.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08213AF-44DC-4F59-9044-8F1849335A7D}"/>
              </a:ext>
            </a:extLst>
          </p:cNvPr>
          <p:cNvSpPr>
            <a:spLocks noGrp="1"/>
          </p:cNvSpPr>
          <p:nvPr/>
        </p:nvSpPr>
        <p:spPr>
          <a:xfrm>
            <a:off x="5969000" y="1854200"/>
            <a:ext cx="5562600" cy="63500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0" rIns="128016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1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Pulso emitido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Energía láser transmitida hacia la superficie.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CB0B19A-FF2C-48B9-AB37-6E5C76BF1F87}"/>
              </a:ext>
            </a:extLst>
          </p:cNvPr>
          <p:cNvSpPr>
            <a:spLocks noGrp="1"/>
          </p:cNvSpPr>
          <p:nvPr/>
        </p:nvSpPr>
        <p:spPr>
          <a:xfrm>
            <a:off x="5969000" y="2540000"/>
            <a:ext cx="5562600" cy="63500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0" rIns="128016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2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Retorno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Fotones devueltos por dosel, sotobosque y suelo.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A37DF5A-DFA9-42FA-9C0D-C8AE71662685}"/>
              </a:ext>
            </a:extLst>
          </p:cNvPr>
          <p:cNvSpPr>
            <a:spLocks noGrp="1"/>
          </p:cNvSpPr>
          <p:nvPr/>
        </p:nvSpPr>
        <p:spPr>
          <a:xfrm>
            <a:off x="5969000" y="3225800"/>
            <a:ext cx="5562600" cy="63500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0" rIns="128016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3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Correcciones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Geolocalización, ruido de fondo y calibración.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A97871B-D62F-468B-AA75-B6395FBCDC5B}"/>
              </a:ext>
            </a:extLst>
          </p:cNvPr>
          <p:cNvSpPr>
            <a:spLocks noGrp="1"/>
          </p:cNvSpPr>
          <p:nvPr/>
        </p:nvSpPr>
        <p:spPr>
          <a:xfrm>
            <a:off x="5969000" y="3911600"/>
            <a:ext cx="5562600" cy="63500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0" rIns="128016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4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Waveform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Onda completa lista para su interpretación.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329BB72-3D24-4F22-ABE5-CD0C4AD5B976}"/>
              </a:ext>
            </a:extLst>
          </p:cNvPr>
          <p:cNvSpPr>
            <a:spLocks noGrp="1"/>
          </p:cNvSpPr>
          <p:nvPr/>
        </p:nvSpPr>
        <p:spPr>
          <a:xfrm>
            <a:off x="5969000" y="4597400"/>
            <a:ext cx="5562600" cy="63500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0" rIns="128016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5 · </a:t>
            </a: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Métricas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Altura relativa y descriptores de estructura.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36AB73-24FD-436C-80F6-CE23C1A5CB2F}"/>
              </a:ext>
            </a:extLst>
          </p:cNvPr>
          <p:cNvSpPr>
            <a:spLocks noGrp="1"/>
          </p:cNvSpPr>
          <p:nvPr/>
        </p:nvSpPr>
        <p:spPr>
          <a:xfrm>
            <a:off x="5969000" y="2489200"/>
            <a:ext cx="3048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200" dirty="0">
                <a:solidFill>
                  <a:srgbClr val="95D5B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AD8C62-E1B1-4CB0-AF71-A863FF766E40}"/>
              </a:ext>
            </a:extLst>
          </p:cNvPr>
          <p:cNvSpPr>
            <a:spLocks noGrp="1"/>
          </p:cNvSpPr>
          <p:nvPr/>
        </p:nvSpPr>
        <p:spPr>
          <a:xfrm>
            <a:off x="5969000" y="3175000"/>
            <a:ext cx="3048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200" dirty="0">
                <a:solidFill>
                  <a:srgbClr val="95D5B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6BDE1B-6559-4425-A8F7-E682DF21C3BC}"/>
              </a:ext>
            </a:extLst>
          </p:cNvPr>
          <p:cNvSpPr>
            <a:spLocks noGrp="1"/>
          </p:cNvSpPr>
          <p:nvPr/>
        </p:nvSpPr>
        <p:spPr>
          <a:xfrm>
            <a:off x="5969000" y="3860800"/>
            <a:ext cx="3048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200" dirty="0">
                <a:solidFill>
                  <a:srgbClr val="95D5B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2AEF61-9DD5-48CD-A827-D65BA20C8731}"/>
              </a:ext>
            </a:extLst>
          </p:cNvPr>
          <p:cNvSpPr>
            <a:spLocks noGrp="1"/>
          </p:cNvSpPr>
          <p:nvPr/>
        </p:nvSpPr>
        <p:spPr>
          <a:xfrm>
            <a:off x="5969000" y="4546600"/>
            <a:ext cx="3048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200" dirty="0">
                <a:solidFill>
                  <a:srgbClr val="95D5B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ACA608F-3EF6-4090-8255-1C5B9B7E44FB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7AA21BC-18BF-4376-8147-B163EB0842D7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E8A14C0-1A80-48B4-BC86-D3954912FF83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3" name="CadenaHead"/>
          <p:cNvSpPr txBox="1"/>
          <p:nvPr/>
        </p:nvSpPr>
        <p:spPr>
          <a:xfrm>
            <a:off x="5969000" y="1231900"/>
            <a:ext cx="5562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Del pulso a la métrica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Encadenamiento del procesamiento de la forma de onda</a:t>
            </a:r>
          </a:p>
        </p:txBody>
      </p:sp>
    </p:spTree>
    <p:extLst>
      <p:ext uri="{BB962C8B-B14F-4D97-AF65-F5344CB8AC3E}">
        <p14:creationId xmlns:p14="http://schemas.microsoft.com/office/powerpoint/2010/main" val="1919933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0FBCF4-CEA5-4A6C-A6FC-8B5914CF172D}"/>
              </a:ext>
            </a:extLst>
          </p:cNvPr>
          <p:cNvSpPr>
            <a:spLocks noGrp="1"/>
          </p:cNvSpPr>
          <p:nvPr/>
        </p:nvSpPr>
        <p:spPr>
          <a:xfrm>
            <a:off x="489204" y="201168"/>
            <a:ext cx="91668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GEDI L2A</a:t>
            </a:r>
            <a:endParaRPr sz="2600" b="1" dirty="0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7A00EA-7120-48AA-920C-B65824DA2FEB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Elevación y métricas de altura relativa</a:t>
            </a:r>
            <a:endParaRPr sz="2000" b="1" i="1">
              <a:solidFill>
                <a:srgbClr val="374151"/>
              </a:solidFill>
              <a:latin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706C6FD-3AF1-40B1-96BD-60A846DA1D57}"/>
              </a:ext>
            </a:extLst>
          </p:cNvPr>
          <p:cNvSpPr>
            <a:spLocks noGrp="1"/>
          </p:cNvSpPr>
          <p:nvPr/>
        </p:nvSpPr>
        <p:spPr>
          <a:xfrm>
            <a:off x="600075" y="5904346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MX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MX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Ilustración generada con IA (esquema conceptual, no derivada de datos). Datos y conceptos: Dubayah et al. (2021a); LP DAAC (2020); GEDI/UMD.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D75FC68-BCB5-416A-B212-5A06F8CBEF1A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14/79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1CBFBDD-9966-41C8-AD7D-8F83E28F6BCB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2622DA8-4DF1-4FC7-8CA2-5B3B9D90EC88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64D116-E6F9-4E16-8CF1-C593A4AB54C4}"/>
              </a:ext>
            </a:extLst>
          </p:cNvPr>
          <p:cNvSpPr>
            <a:spLocks noGrp="1"/>
          </p:cNvSpPr>
          <p:nvPr/>
        </p:nvSpPr>
        <p:spPr>
          <a:xfrm>
            <a:off x="596900" y="1270000"/>
            <a:ext cx="4737100" cy="43434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Familia RH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Percentiles de energía acumulada desde el terreno hacia la copa.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Proxies de altura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RH95, RH98 y RH100 se emplean como estimadores de altura del dosel.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Configuración v3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Los grupos 1, 2, 5 y 10 tratan condiciones distintas; conviene comparar cuál rinde mejor.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Pendiente y encadenamiento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En laderas la onda se ensancha y puede sobreestimar la altura; L2A condiciona a L4A.</a:t>
            </a:r>
          </a:p>
        </p:txBody>
      </p:sp>
      <p:pic>
        <p:nvPicPr>
          <p:cNvPr id="32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840" y="1733810"/>
            <a:ext cx="6398980" cy="3511313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041D77DC-1EF2-4F02-A664-DB536D57FF60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638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67F515-6771-4D76-B861-529B0E793D36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GEDI L2B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FA5757-DCD2-408D-9E1D-B88D8A9914B7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Cobertura, PAI, PAVD y diversidad vertical</a:t>
            </a:r>
            <a:endParaRPr sz="2000" b="1" i="1">
              <a:solidFill>
                <a:srgbClr val="374151"/>
              </a:solidFill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FBCEDAC-EE83-4154-9E79-51D1A4BDAD8D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838700" cy="4318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Cobertura de dosel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Fracción de suelo cubierta por vegetación dentro de la huella.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PAI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Área vegetal por área de terreno, sensible a la densidad de copa y ramas finas.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PAVD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Vegetación distribuida en estratos verticales de 5 m.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FHD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Diversidad vertical: complementa a la altura máxima como descriptor de estructura.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E4A3B35-EECD-4B68-B824-9CFA931B26AA}"/>
              </a:ext>
            </a:extLst>
          </p:cNvPr>
          <p:cNvSpPr>
            <a:spLocks noGrp="1"/>
          </p:cNvSpPr>
          <p:nvPr/>
        </p:nvSpPr>
        <p:spPr>
          <a:xfrm>
            <a:off x="596900" y="5990000"/>
            <a:ext cx="109220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: Imagen generada por IA. Dubayah et al. (2021b); LP DAAC (2020); GEDI/UMD Products.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5060CF5-B7D5-4732-87B2-8B1F8DF5D8B5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15/79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1748E16-753E-467F-BCC4-D617A6A9F059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466E2EC-0FA1-489C-A76A-370EFD75EAB1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pic>
        <p:nvPicPr>
          <p:cNvPr id="29" name="Imagen estructura vertical del dosel" descr="Bosque tropical mostrando estratos verticales: arboles emergentes, dosel superior, sotobosque y suelo"/>
          <p:cNvPicPr>
            <a:picLocks noChangeAspect="1"/>
          </p:cNvPicPr>
          <p:nvPr/>
        </p:nvPicPr>
        <p:blipFill>
          <a:blip r:embed="rId3"/>
          <a:srcRect l="1700" r="976"/>
          <a:stretch>
            <a:fillRect/>
          </a:stretch>
        </p:blipFill>
        <p:spPr>
          <a:xfrm>
            <a:off x="5892800" y="1270000"/>
            <a:ext cx="5436000" cy="37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1" name="Epigrafe imagen"/>
          <p:cNvSpPr txBox="1"/>
          <p:nvPr/>
        </p:nvSpPr>
        <p:spPr>
          <a:xfrm>
            <a:off x="5892800" y="5090000"/>
            <a:ext cx="5436000" cy="700000"/>
          </a:xfrm>
          <a:prstGeom prst="rect">
            <a:avLst/>
          </a:prstGeom>
          <a:noFill/>
        </p:spPr>
        <p:txBody>
          <a:bodyPr wrap="square" lIns="0" tIns="36000" rIns="0" bIns="0" anchor="t">
            <a:normAutofit/>
          </a:bodyPr>
          <a:lstStyle/>
          <a:p>
            <a:pPr algn="just"/>
            <a:r>
              <a:rPr lang="es-AR" sz="1400" dirty="0"/>
              <a:t>La huella de GEDI (~25 m) atraviesa todos los estratos: la forma de onda devuelve energía del dosel emergente al sotobosque, y de ese perfil se derivan PAI, PAVD y FHD.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01DAB75-A862-42D3-A638-B10ED24A0A20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15/79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9013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8DAD86-D93F-463A-BFED-927EDFA2A392}"/>
              </a:ext>
            </a:extLst>
          </p:cNvPr>
          <p:cNvSpPr>
            <a:spLocks noGrp="1"/>
          </p:cNvSpPr>
          <p:nvPr/>
        </p:nvSpPr>
        <p:spPr>
          <a:xfrm>
            <a:off x="496351" y="201168"/>
            <a:ext cx="91668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GEDI L4A</a:t>
            </a:r>
            <a:endParaRPr sz="2600" b="1" dirty="0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A4D0D3-9F75-47F8-B4CD-F5D5EC09458C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Biomasa aérea por huella y error de predicción</a:t>
            </a:r>
            <a:endParaRPr sz="2000" b="1" i="1">
              <a:solidFill>
                <a:srgbClr val="374151"/>
              </a:solidFill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74E7DC-FD61-49AC-8EC1-BBC695E0CE41}"/>
              </a:ext>
            </a:extLst>
          </p:cNvPr>
          <p:cNvSpPr>
            <a:spLocks noGrp="1"/>
          </p:cNvSpPr>
          <p:nvPr/>
        </p:nvSpPr>
        <p:spPr>
          <a:xfrm>
            <a:off x="596900" y="1193800"/>
            <a:ext cx="4889500" cy="45212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Contenido del producto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AGBD por huella geolocalizada, con error estándar y banderas de calidad.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Modelo de estimación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Paramétrico por grupo de estratificación, calibrado con parcelas.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Versión 3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Actualiza los modelos y mantiene la entrega en HDF5 por subórbitas.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Alcance y límites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huella (~25 m) no es una parcela de borde rígido: referencia fuerte, no sustituto de la validación local.</a:t>
            </a:r>
          </a:p>
        </p:txBody>
      </p:sp>
      <p:sp>
        <p:nvSpPr>
          <p:cNvPr id="701" name="t">
            <a:extLst>
              <a:ext uri="{FF2B5EF4-FFF2-40B4-BE49-F238E27FC236}">
                <a16:creationId xmlns:a16="http://schemas.microsoft.com/office/drawing/2014/main" id="{CF7102D8-CC5C-4E3E-9F92-99DDB13A2454}"/>
              </a:ext>
            </a:extLst>
          </p:cNvPr>
          <p:cNvSpPr>
            <a:spLocks noGrp="1"/>
          </p:cNvSpPr>
          <p:nvPr/>
        </p:nvSpPr>
        <p:spPr>
          <a:xfrm>
            <a:off x="5940000" y="1371600"/>
            <a:ext cx="55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sz="1500" b="1" dirty="0" err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Anatomía</a:t>
            </a:r>
            <a:r>
              <a:rPr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 de un </a:t>
            </a:r>
            <a:r>
              <a:rPr sz="1500" b="1" dirty="0" err="1">
                <a:solidFill>
                  <a:srgbClr val="1B4332"/>
                </a:solidFill>
                <a:latin typeface="Arial"/>
                <a:ea typeface="Arial"/>
                <a:cs typeface="Arial"/>
              </a:rPr>
              <a:t>registro</a:t>
            </a:r>
            <a:r>
              <a:rPr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 L4A</a:t>
            </a:r>
          </a:p>
        </p:txBody>
      </p:sp>
      <p:sp>
        <p:nvSpPr>
          <p:cNvPr id="702" name="r">
            <a:extLst>
              <a:ext uri="{FF2B5EF4-FFF2-40B4-BE49-F238E27FC236}">
                <a16:creationId xmlns:a16="http://schemas.microsoft.com/office/drawing/2014/main" id="{3573A8A8-AA64-4DC4-8A05-6BE085FCF756}"/>
              </a:ext>
            </a:extLst>
          </p:cNvPr>
          <p:cNvSpPr>
            <a:spLocks noGrp="1"/>
          </p:cNvSpPr>
          <p:nvPr/>
        </p:nvSpPr>
        <p:spPr>
          <a:xfrm>
            <a:off x="5940000" y="1851600"/>
            <a:ext cx="45720" cy="78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703" name="t">
            <a:extLst>
              <a:ext uri="{FF2B5EF4-FFF2-40B4-BE49-F238E27FC236}">
                <a16:creationId xmlns:a16="http://schemas.microsoft.com/office/drawing/2014/main" id="{9180A712-0D40-4400-B0B5-2CA6F5196EBD}"/>
              </a:ext>
            </a:extLst>
          </p:cNvPr>
          <p:cNvSpPr>
            <a:spLocks noGrp="1"/>
          </p:cNvSpPr>
          <p:nvPr/>
        </p:nvSpPr>
        <p:spPr>
          <a:xfrm>
            <a:off x="6160000" y="1911600"/>
            <a:ext cx="220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buNone/>
            </a:pPr>
            <a:r>
              <a:rPr sz="24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AGBD</a:t>
            </a:r>
          </a:p>
        </p:txBody>
      </p:sp>
      <p:sp>
        <p:nvSpPr>
          <p:cNvPr id="704" name="t">
            <a:extLst>
              <a:ext uri="{FF2B5EF4-FFF2-40B4-BE49-F238E27FC236}">
                <a16:creationId xmlns:a16="http://schemas.microsoft.com/office/drawing/2014/main" id="{4CB29E75-8158-4CE4-B310-B0E67B5EDAD8}"/>
              </a:ext>
            </a:extLst>
          </p:cNvPr>
          <p:cNvSpPr>
            <a:spLocks noGrp="1"/>
          </p:cNvSpPr>
          <p:nvPr/>
        </p:nvSpPr>
        <p:spPr>
          <a:xfrm>
            <a:off x="6160000" y="2271600"/>
            <a:ext cx="33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sz="1500" b="0" dirty="0" err="1">
                <a:latin typeface="Arial"/>
                <a:ea typeface="Arial"/>
                <a:cs typeface="Arial"/>
              </a:rPr>
              <a:t>Biomasa</a:t>
            </a:r>
            <a:r>
              <a:rPr sz="1500" b="0" dirty="0"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latin typeface="Arial"/>
                <a:ea typeface="Arial"/>
                <a:cs typeface="Arial"/>
              </a:rPr>
              <a:t>aérea</a:t>
            </a:r>
            <a:r>
              <a:rPr sz="1500" b="0" dirty="0"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latin typeface="Arial"/>
                <a:ea typeface="Arial"/>
                <a:cs typeface="Arial"/>
              </a:rPr>
              <a:t>por</a:t>
            </a:r>
            <a:r>
              <a:rPr sz="1500" b="0" dirty="0"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latin typeface="Arial"/>
                <a:ea typeface="Arial"/>
                <a:cs typeface="Arial"/>
              </a:rPr>
              <a:t>huella</a:t>
            </a:r>
            <a:endParaRPr sz="1500" b="0" dirty="0">
              <a:latin typeface="Arial"/>
              <a:ea typeface="Arial"/>
              <a:cs typeface="Arial"/>
            </a:endParaRPr>
          </a:p>
        </p:txBody>
      </p:sp>
      <p:sp>
        <p:nvSpPr>
          <p:cNvPr id="705" name="t">
            <a:extLst>
              <a:ext uri="{FF2B5EF4-FFF2-40B4-BE49-F238E27FC236}">
                <a16:creationId xmlns:a16="http://schemas.microsoft.com/office/drawing/2014/main" id="{02A3623C-571E-40D8-AA7A-963974B0EF2B}"/>
              </a:ext>
            </a:extLst>
          </p:cNvPr>
          <p:cNvSpPr>
            <a:spLocks noGrp="1"/>
          </p:cNvSpPr>
          <p:nvPr/>
        </p:nvSpPr>
        <p:spPr>
          <a:xfrm>
            <a:off x="9500000" y="1931600"/>
            <a:ext cx="1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sz="1200" b="1" dirty="0">
                <a:solidFill>
                  <a:srgbClr val="2D6A4F"/>
                </a:solidFill>
                <a:latin typeface="Arial"/>
                <a:ea typeface="Arial"/>
                <a:cs typeface="Arial"/>
              </a:rPr>
              <a:t>Mg ha⁻¹</a:t>
            </a:r>
          </a:p>
        </p:txBody>
      </p:sp>
      <p:sp>
        <p:nvSpPr>
          <p:cNvPr id="706" name="r">
            <a:extLst>
              <a:ext uri="{FF2B5EF4-FFF2-40B4-BE49-F238E27FC236}">
                <a16:creationId xmlns:a16="http://schemas.microsoft.com/office/drawing/2014/main" id="{63FED407-9077-4824-8B2A-0DDC3CDCA7D2}"/>
              </a:ext>
            </a:extLst>
          </p:cNvPr>
          <p:cNvSpPr>
            <a:spLocks noGrp="1"/>
          </p:cNvSpPr>
          <p:nvPr/>
        </p:nvSpPr>
        <p:spPr>
          <a:xfrm>
            <a:off x="6160000" y="2686600"/>
            <a:ext cx="5340000" cy="9525"/>
          </a:xfrm>
          <a:prstGeom prst="rect">
            <a:avLst/>
          </a:prstGeom>
          <a:solidFill>
            <a:srgbClr val="E3E8E5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707" name="r">
            <a:extLst>
              <a:ext uri="{FF2B5EF4-FFF2-40B4-BE49-F238E27FC236}">
                <a16:creationId xmlns:a16="http://schemas.microsoft.com/office/drawing/2014/main" id="{902F8AC7-7B57-46B3-A539-B197B40FB298}"/>
              </a:ext>
            </a:extLst>
          </p:cNvPr>
          <p:cNvSpPr>
            <a:spLocks noGrp="1"/>
          </p:cNvSpPr>
          <p:nvPr/>
        </p:nvSpPr>
        <p:spPr>
          <a:xfrm>
            <a:off x="5940000" y="2741600"/>
            <a:ext cx="45720" cy="780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708" name="t">
            <a:extLst>
              <a:ext uri="{FF2B5EF4-FFF2-40B4-BE49-F238E27FC236}">
                <a16:creationId xmlns:a16="http://schemas.microsoft.com/office/drawing/2014/main" id="{6271D550-95DA-47D1-B493-04C7E091537E}"/>
              </a:ext>
            </a:extLst>
          </p:cNvPr>
          <p:cNvSpPr>
            <a:spLocks noGrp="1"/>
          </p:cNvSpPr>
          <p:nvPr/>
        </p:nvSpPr>
        <p:spPr>
          <a:xfrm>
            <a:off x="6160000" y="2801600"/>
            <a:ext cx="220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buNone/>
            </a:pPr>
            <a:r>
              <a:rPr sz="24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SE</a:t>
            </a:r>
          </a:p>
        </p:txBody>
      </p:sp>
      <p:sp>
        <p:nvSpPr>
          <p:cNvPr id="709" name="t">
            <a:extLst>
              <a:ext uri="{FF2B5EF4-FFF2-40B4-BE49-F238E27FC236}">
                <a16:creationId xmlns:a16="http://schemas.microsoft.com/office/drawing/2014/main" id="{0450B703-9681-445E-A5AC-10D2FFE365F2}"/>
              </a:ext>
            </a:extLst>
          </p:cNvPr>
          <p:cNvSpPr>
            <a:spLocks noGrp="1"/>
          </p:cNvSpPr>
          <p:nvPr/>
        </p:nvSpPr>
        <p:spPr>
          <a:xfrm>
            <a:off x="6160000" y="3161600"/>
            <a:ext cx="33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sz="1500" b="0">
                <a:latin typeface="Arial"/>
                <a:ea typeface="Arial"/>
                <a:cs typeface="Arial"/>
              </a:rPr>
              <a:t>Error estándar de predicción</a:t>
            </a:r>
          </a:p>
        </p:txBody>
      </p:sp>
      <p:sp>
        <p:nvSpPr>
          <p:cNvPr id="710" name="t">
            <a:extLst>
              <a:ext uri="{FF2B5EF4-FFF2-40B4-BE49-F238E27FC236}">
                <a16:creationId xmlns:a16="http://schemas.microsoft.com/office/drawing/2014/main" id="{8852C1CE-A423-44C4-B2D8-46D113F89C4A}"/>
              </a:ext>
            </a:extLst>
          </p:cNvPr>
          <p:cNvSpPr>
            <a:spLocks noGrp="1"/>
          </p:cNvSpPr>
          <p:nvPr/>
        </p:nvSpPr>
        <p:spPr>
          <a:xfrm>
            <a:off x="9500000" y="2821600"/>
            <a:ext cx="1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sz="12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por huella</a:t>
            </a:r>
          </a:p>
        </p:txBody>
      </p:sp>
      <p:sp>
        <p:nvSpPr>
          <p:cNvPr id="711" name="r">
            <a:extLst>
              <a:ext uri="{FF2B5EF4-FFF2-40B4-BE49-F238E27FC236}">
                <a16:creationId xmlns:a16="http://schemas.microsoft.com/office/drawing/2014/main" id="{0C03BEE4-C65B-4578-9485-ED2C410B151F}"/>
              </a:ext>
            </a:extLst>
          </p:cNvPr>
          <p:cNvSpPr>
            <a:spLocks noGrp="1"/>
          </p:cNvSpPr>
          <p:nvPr/>
        </p:nvSpPr>
        <p:spPr>
          <a:xfrm>
            <a:off x="6160000" y="3576600"/>
            <a:ext cx="5340000" cy="9525"/>
          </a:xfrm>
          <a:prstGeom prst="rect">
            <a:avLst/>
          </a:prstGeom>
          <a:solidFill>
            <a:srgbClr val="E3E8E5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712" name="r">
            <a:extLst>
              <a:ext uri="{FF2B5EF4-FFF2-40B4-BE49-F238E27FC236}">
                <a16:creationId xmlns:a16="http://schemas.microsoft.com/office/drawing/2014/main" id="{E00F8156-5368-43FC-9E79-0AFE30D294EC}"/>
              </a:ext>
            </a:extLst>
          </p:cNvPr>
          <p:cNvSpPr>
            <a:spLocks noGrp="1"/>
          </p:cNvSpPr>
          <p:nvPr/>
        </p:nvSpPr>
        <p:spPr>
          <a:xfrm>
            <a:off x="5940000" y="3631600"/>
            <a:ext cx="45720" cy="78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713" name="t">
            <a:extLst>
              <a:ext uri="{FF2B5EF4-FFF2-40B4-BE49-F238E27FC236}">
                <a16:creationId xmlns:a16="http://schemas.microsoft.com/office/drawing/2014/main" id="{87C5143F-C19F-44C9-A88D-632FE113E356}"/>
              </a:ext>
            </a:extLst>
          </p:cNvPr>
          <p:cNvSpPr>
            <a:spLocks noGrp="1"/>
          </p:cNvSpPr>
          <p:nvPr/>
        </p:nvSpPr>
        <p:spPr>
          <a:xfrm>
            <a:off x="6160000" y="3691600"/>
            <a:ext cx="220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buNone/>
            </a:pPr>
            <a:r>
              <a:rPr sz="24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flags</a:t>
            </a:r>
          </a:p>
        </p:txBody>
      </p:sp>
      <p:sp>
        <p:nvSpPr>
          <p:cNvPr id="714" name="t">
            <a:extLst>
              <a:ext uri="{FF2B5EF4-FFF2-40B4-BE49-F238E27FC236}">
                <a16:creationId xmlns:a16="http://schemas.microsoft.com/office/drawing/2014/main" id="{CF961DFF-4A87-403D-8A7F-16EB9928657B}"/>
              </a:ext>
            </a:extLst>
          </p:cNvPr>
          <p:cNvSpPr>
            <a:spLocks noGrp="1"/>
          </p:cNvSpPr>
          <p:nvPr/>
        </p:nvSpPr>
        <p:spPr>
          <a:xfrm>
            <a:off x="6160000" y="4051600"/>
            <a:ext cx="33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sz="1500" b="0">
                <a:latin typeface="Arial"/>
                <a:ea typeface="Arial"/>
                <a:cs typeface="Arial"/>
              </a:rPr>
              <a:t>Banderas de calidad y sensibilidad</a:t>
            </a:r>
          </a:p>
        </p:txBody>
      </p:sp>
      <p:sp>
        <p:nvSpPr>
          <p:cNvPr id="715" name="t">
            <a:extLst>
              <a:ext uri="{FF2B5EF4-FFF2-40B4-BE49-F238E27FC236}">
                <a16:creationId xmlns:a16="http://schemas.microsoft.com/office/drawing/2014/main" id="{1E1B7369-E7A8-4541-ADF5-F510D6328A38}"/>
              </a:ext>
            </a:extLst>
          </p:cNvPr>
          <p:cNvSpPr>
            <a:spLocks noGrp="1"/>
          </p:cNvSpPr>
          <p:nvPr/>
        </p:nvSpPr>
        <p:spPr>
          <a:xfrm>
            <a:off x="9500000" y="3711600"/>
            <a:ext cx="1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sz="12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l4a_quality_flag_rel3</a:t>
            </a:r>
          </a:p>
        </p:txBody>
      </p:sp>
      <p:sp>
        <p:nvSpPr>
          <p:cNvPr id="716" name="r">
            <a:extLst>
              <a:ext uri="{FF2B5EF4-FFF2-40B4-BE49-F238E27FC236}">
                <a16:creationId xmlns:a16="http://schemas.microsoft.com/office/drawing/2014/main" id="{462D3E3E-CBA7-4D8F-B9DA-BDC8F760BE7B}"/>
              </a:ext>
            </a:extLst>
          </p:cNvPr>
          <p:cNvSpPr>
            <a:spLocks noGrp="1"/>
          </p:cNvSpPr>
          <p:nvPr/>
        </p:nvSpPr>
        <p:spPr>
          <a:xfrm>
            <a:off x="6160000" y="4466600"/>
            <a:ext cx="5340000" cy="9525"/>
          </a:xfrm>
          <a:prstGeom prst="rect">
            <a:avLst/>
          </a:prstGeom>
          <a:solidFill>
            <a:srgbClr val="E3E8E5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717" name="r">
            <a:extLst>
              <a:ext uri="{FF2B5EF4-FFF2-40B4-BE49-F238E27FC236}">
                <a16:creationId xmlns:a16="http://schemas.microsoft.com/office/drawing/2014/main" id="{6DADB84E-62C0-4319-B502-8269F47427B2}"/>
              </a:ext>
            </a:extLst>
          </p:cNvPr>
          <p:cNvSpPr>
            <a:spLocks noGrp="1"/>
          </p:cNvSpPr>
          <p:nvPr/>
        </p:nvSpPr>
        <p:spPr>
          <a:xfrm>
            <a:off x="5940000" y="4521600"/>
            <a:ext cx="45720" cy="780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718" name="t">
            <a:extLst>
              <a:ext uri="{FF2B5EF4-FFF2-40B4-BE49-F238E27FC236}">
                <a16:creationId xmlns:a16="http://schemas.microsoft.com/office/drawing/2014/main" id="{93B7F018-80DB-4676-9CBC-DA2FA0E1E006}"/>
              </a:ext>
            </a:extLst>
          </p:cNvPr>
          <p:cNvSpPr>
            <a:spLocks noGrp="1"/>
          </p:cNvSpPr>
          <p:nvPr/>
        </p:nvSpPr>
        <p:spPr>
          <a:xfrm>
            <a:off x="6160000" y="4581600"/>
            <a:ext cx="220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buNone/>
            </a:pPr>
            <a:r>
              <a:rPr sz="24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HDF5</a:t>
            </a:r>
          </a:p>
        </p:txBody>
      </p:sp>
      <p:sp>
        <p:nvSpPr>
          <p:cNvPr id="719" name="t">
            <a:extLst>
              <a:ext uri="{FF2B5EF4-FFF2-40B4-BE49-F238E27FC236}">
                <a16:creationId xmlns:a16="http://schemas.microsoft.com/office/drawing/2014/main" id="{EFFA2274-824E-42BC-AE02-E823C295F4D6}"/>
              </a:ext>
            </a:extLst>
          </p:cNvPr>
          <p:cNvSpPr>
            <a:spLocks noGrp="1"/>
          </p:cNvSpPr>
          <p:nvPr/>
        </p:nvSpPr>
        <p:spPr>
          <a:xfrm>
            <a:off x="6160000" y="4941600"/>
            <a:ext cx="33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sz="1500" b="0" dirty="0" err="1">
                <a:latin typeface="Arial"/>
                <a:ea typeface="Arial"/>
                <a:cs typeface="Arial"/>
              </a:rPr>
              <a:t>Granul</a:t>
            </a:r>
            <a:r>
              <a:rPr lang="es-ES" sz="1500" b="0" dirty="0">
                <a:latin typeface="Arial"/>
                <a:ea typeface="Arial"/>
                <a:cs typeface="Arial"/>
              </a:rPr>
              <a:t>o</a:t>
            </a:r>
            <a:r>
              <a:rPr sz="1500" b="0" dirty="0">
                <a:latin typeface="Arial"/>
                <a:ea typeface="Arial"/>
                <a:cs typeface="Arial"/>
              </a:rPr>
              <a:t>s </a:t>
            </a:r>
            <a:r>
              <a:rPr sz="1500" b="0" dirty="0" err="1">
                <a:latin typeface="Arial"/>
                <a:ea typeface="Arial"/>
                <a:cs typeface="Arial"/>
              </a:rPr>
              <a:t>por</a:t>
            </a:r>
            <a:r>
              <a:rPr sz="1500" b="0" dirty="0"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latin typeface="Arial"/>
                <a:ea typeface="Arial"/>
                <a:cs typeface="Arial"/>
              </a:rPr>
              <a:t>subórbita</a:t>
            </a:r>
            <a:endParaRPr sz="1500" b="0" dirty="0">
              <a:latin typeface="Arial"/>
              <a:ea typeface="Arial"/>
              <a:cs typeface="Arial"/>
            </a:endParaRPr>
          </a:p>
        </p:txBody>
      </p:sp>
      <p:sp>
        <p:nvSpPr>
          <p:cNvPr id="720" name="t">
            <a:extLst>
              <a:ext uri="{FF2B5EF4-FFF2-40B4-BE49-F238E27FC236}">
                <a16:creationId xmlns:a16="http://schemas.microsoft.com/office/drawing/2014/main" id="{7F594202-140F-45D5-938D-50B7994B3807}"/>
              </a:ext>
            </a:extLst>
          </p:cNvPr>
          <p:cNvSpPr>
            <a:spLocks noGrp="1"/>
          </p:cNvSpPr>
          <p:nvPr/>
        </p:nvSpPr>
        <p:spPr>
          <a:xfrm>
            <a:off x="9500000" y="4601600"/>
            <a:ext cx="1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sz="12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8 haces (BEAM)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23FDA2D-815B-4B4A-8C8E-5C987566A285}"/>
              </a:ext>
            </a:extLst>
          </p:cNvPr>
          <p:cNvSpPr>
            <a:spLocks noGrp="1"/>
          </p:cNvSpPr>
          <p:nvPr/>
        </p:nvSpPr>
        <p:spPr>
          <a:xfrm>
            <a:off x="600075" y="59436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NASA Earthdata GEDI v3 release; ORNL DAAC GEDI L4A v3, DOI 10.3334/ORNLDAAC/2508. Duncanson et al. (2022); Kellner et al. (2023); Duncanson et al. (2019); Subedi y Zurqani (2026).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CCB6B39-BF5D-49EA-BBEF-E8FE3E7F1E8B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16/79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951A580-8FAA-49CC-A3BD-00E54592EB23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4F427CB-9E2A-4CF3-86DE-AD1BAF004A56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721" name="Rectángulo 720">
            <a:extLst>
              <a:ext uri="{FF2B5EF4-FFF2-40B4-BE49-F238E27FC236}">
                <a16:creationId xmlns:a16="http://schemas.microsoft.com/office/drawing/2014/main" id="{1BD8D928-333D-4026-95A1-7A9963A195D1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35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9BDCA3-90A8-4065-A943-4A5706429552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GEDI L4B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D17919-DC26-4D9F-A3D1-F433C5DD89BD}"/>
              </a:ext>
            </a:extLst>
          </p:cNvPr>
          <p:cNvSpPr>
            <a:spLocks noGrp="1"/>
          </p:cNvSpPr>
          <p:nvPr/>
        </p:nvSpPr>
        <p:spPr>
          <a:xfrm>
            <a:off x="498000" y="682042"/>
            <a:ext cx="1119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6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Biomasa en malla regular: adecuada para el contexto regional, no para rodales individuales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5DA95FF-2046-47D5-84AD-9BFAE17902D6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813300" cy="4445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entrega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AGBD media en celdas de 1 km a partir del muestreo GEDI disponible.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Cómo lo estima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Emplea un estimador de muestreo, no una interpolación espacial.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informa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Error estándar por celda y número de huellas que la sostienen.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no resuelve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Rodales, cortas, bordes de incendio ni valles estrechos.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DCBE021-2297-493A-A5F8-7458E6FF01C3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n-U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GEDI/UMD Products; LP DAAC GEDI02 User Guides; ORNL DAAC L4A/L4B. ORNL DAAC GEDI L4B.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ACACD55-61A4-4041-AFF7-7B0E1F4786E3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17/79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65EB1BE-4AE4-494D-A838-FFE41170566C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C270378-0A11-4B08-950F-43D542BED4CC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701" name="TB701">
            <a:extLst>
              <a:ext uri="{FF2B5EF4-FFF2-40B4-BE49-F238E27FC236}">
                <a16:creationId xmlns:a16="http://schemas.microsoft.com/office/drawing/2014/main" id="{5DEED917-0154-4B98-BA02-34338B0BC334}"/>
              </a:ext>
            </a:extLst>
          </p:cNvPr>
          <p:cNvSpPr>
            <a:spLocks noGrp="1"/>
          </p:cNvSpPr>
          <p:nvPr/>
        </p:nvSpPr>
        <p:spPr>
          <a:xfrm>
            <a:off x="6159632" y="1242206"/>
            <a:ext cx="21960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just">
              <a:buNone/>
            </a:pPr>
            <a:r>
              <a:rPr sz="15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Escalas </a:t>
            </a:r>
            <a:r>
              <a:rPr sz="1500" b="1" i="0" dirty="0" err="1">
                <a:solidFill>
                  <a:srgbClr val="1B4332"/>
                </a:solidFill>
                <a:latin typeface="Arial"/>
                <a:ea typeface="Arial"/>
                <a:cs typeface="Arial"/>
              </a:rPr>
              <a:t>nominales</a:t>
            </a:r>
            <a:endParaRPr sz="1500" b="1" i="0" dirty="0">
              <a:solidFill>
                <a:srgbClr val="1B43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2" name="SH702">
            <a:extLst>
              <a:ext uri="{FF2B5EF4-FFF2-40B4-BE49-F238E27FC236}">
                <a16:creationId xmlns:a16="http://schemas.microsoft.com/office/drawing/2014/main" id="{807B2A78-B213-4847-9DAC-94ABEB21024C}"/>
              </a:ext>
            </a:extLst>
          </p:cNvPr>
          <p:cNvSpPr>
            <a:spLocks noGrp="1"/>
          </p:cNvSpPr>
          <p:nvPr/>
        </p:nvSpPr>
        <p:spPr>
          <a:xfrm>
            <a:off x="7309379" y="1780000"/>
            <a:ext cx="2750000" cy="5600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C8D2CC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45720" tIns="18288" rIns="45720" bIns="18288" anchor="ctr">
            <a:normAutofit/>
          </a:bodyPr>
          <a:lstStyle/>
          <a:p>
            <a:pPr algn="just"/>
            <a:endParaRPr sz="1500"/>
          </a:p>
        </p:txBody>
      </p:sp>
      <p:sp>
        <p:nvSpPr>
          <p:cNvPr id="703" name="SH703">
            <a:extLst>
              <a:ext uri="{FF2B5EF4-FFF2-40B4-BE49-F238E27FC236}">
                <a16:creationId xmlns:a16="http://schemas.microsoft.com/office/drawing/2014/main" id="{3DC8AD5E-A59D-4DAA-8EEC-A7F5C1484522}"/>
              </a:ext>
            </a:extLst>
          </p:cNvPr>
          <p:cNvSpPr>
            <a:spLocks noGrp="1"/>
          </p:cNvSpPr>
          <p:nvPr/>
        </p:nvSpPr>
        <p:spPr>
          <a:xfrm>
            <a:off x="7309379" y="1780000"/>
            <a:ext cx="52000" cy="560000"/>
          </a:xfrm>
          <a:prstGeom prst="rect">
            <a:avLst/>
          </a:prstGeom>
          <a:solidFill>
            <a:srgbClr val="4F9A74"/>
          </a:solidFill>
        </p:spPr>
        <p:txBody>
          <a:bodyPr lIns="45720" tIns="18288" rIns="45720" bIns="18288" anchor="ctr">
            <a:normAutofit/>
          </a:bodyPr>
          <a:lstStyle/>
          <a:p>
            <a:endParaRPr sz="1500"/>
          </a:p>
        </p:txBody>
      </p:sp>
      <p:sp>
        <p:nvSpPr>
          <p:cNvPr id="704" name="TB704">
            <a:extLst>
              <a:ext uri="{FF2B5EF4-FFF2-40B4-BE49-F238E27FC236}">
                <a16:creationId xmlns:a16="http://schemas.microsoft.com/office/drawing/2014/main" id="{6522515D-64F4-45A4-B711-613D1016B630}"/>
              </a:ext>
            </a:extLst>
          </p:cNvPr>
          <p:cNvSpPr>
            <a:spLocks noGrp="1"/>
          </p:cNvSpPr>
          <p:nvPr/>
        </p:nvSpPr>
        <p:spPr>
          <a:xfrm>
            <a:off x="7489379" y="1840000"/>
            <a:ext cx="249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≈</a:t>
            </a:r>
            <a:r>
              <a:rPr lang="es-ES" sz="15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25 m</a:t>
            </a:r>
          </a:p>
        </p:txBody>
      </p:sp>
      <p:sp>
        <p:nvSpPr>
          <p:cNvPr id="705" name="TB705">
            <a:extLst>
              <a:ext uri="{FF2B5EF4-FFF2-40B4-BE49-F238E27FC236}">
                <a16:creationId xmlns:a16="http://schemas.microsoft.com/office/drawing/2014/main" id="{F37898D6-E505-4861-9947-C4B7CFDBB11C}"/>
              </a:ext>
            </a:extLst>
          </p:cNvPr>
          <p:cNvSpPr>
            <a:spLocks noGrp="1"/>
          </p:cNvSpPr>
          <p:nvPr/>
        </p:nvSpPr>
        <p:spPr>
          <a:xfrm>
            <a:off x="7489379" y="2070000"/>
            <a:ext cx="249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huella L4A</a:t>
            </a:r>
          </a:p>
        </p:txBody>
      </p:sp>
      <p:sp>
        <p:nvSpPr>
          <p:cNvPr id="706" name="SH706">
            <a:extLst>
              <a:ext uri="{FF2B5EF4-FFF2-40B4-BE49-F238E27FC236}">
                <a16:creationId xmlns:a16="http://schemas.microsoft.com/office/drawing/2014/main" id="{54E2E6C3-F705-4464-AB9E-FB3134D6AA56}"/>
              </a:ext>
            </a:extLst>
          </p:cNvPr>
          <p:cNvSpPr>
            <a:spLocks noGrp="1"/>
          </p:cNvSpPr>
          <p:nvPr/>
        </p:nvSpPr>
        <p:spPr>
          <a:xfrm>
            <a:off x="7309379" y="2340000"/>
            <a:ext cx="0" cy="2380000"/>
          </a:xfrm>
          <a:prstGeom prst="line">
            <a:avLst/>
          </a:prstGeom>
          <a:noFill/>
          <a:ln w="19050">
            <a:solidFill>
              <a:srgbClr val="4F9A74"/>
            </a:solidFill>
          </a:ln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707" name="SH707">
            <a:extLst>
              <a:ext uri="{FF2B5EF4-FFF2-40B4-BE49-F238E27FC236}">
                <a16:creationId xmlns:a16="http://schemas.microsoft.com/office/drawing/2014/main" id="{678A637B-40A2-43D6-AD86-EA02E911171B}"/>
              </a:ext>
            </a:extLst>
          </p:cNvPr>
          <p:cNvSpPr>
            <a:spLocks noGrp="1"/>
          </p:cNvSpPr>
          <p:nvPr/>
        </p:nvSpPr>
        <p:spPr>
          <a:xfrm>
            <a:off x="7241379" y="4652000"/>
            <a:ext cx="136000" cy="136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708" name="SH708">
            <a:extLst>
              <a:ext uri="{FF2B5EF4-FFF2-40B4-BE49-F238E27FC236}">
                <a16:creationId xmlns:a16="http://schemas.microsoft.com/office/drawing/2014/main" id="{760B38FA-7166-4310-96C3-A1D3BDEC31E8}"/>
              </a:ext>
            </a:extLst>
          </p:cNvPr>
          <p:cNvSpPr>
            <a:spLocks noGrp="1"/>
          </p:cNvSpPr>
          <p:nvPr/>
        </p:nvSpPr>
        <p:spPr>
          <a:xfrm>
            <a:off x="8259907" y="2430000"/>
            <a:ext cx="2750000" cy="5600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C8D2CC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45720" tIns="18288" rIns="45720" bIns="18288" anchor="ctr">
            <a:normAutofit/>
          </a:bodyPr>
          <a:lstStyle/>
          <a:p>
            <a:pPr algn="just"/>
            <a:endParaRPr sz="1500"/>
          </a:p>
        </p:txBody>
      </p:sp>
      <p:sp>
        <p:nvSpPr>
          <p:cNvPr id="709" name="SH709">
            <a:extLst>
              <a:ext uri="{FF2B5EF4-FFF2-40B4-BE49-F238E27FC236}">
                <a16:creationId xmlns:a16="http://schemas.microsoft.com/office/drawing/2014/main" id="{A7327AF8-F603-42A8-9EFD-775B7D968129}"/>
              </a:ext>
            </a:extLst>
          </p:cNvPr>
          <p:cNvSpPr>
            <a:spLocks noGrp="1"/>
          </p:cNvSpPr>
          <p:nvPr/>
        </p:nvSpPr>
        <p:spPr>
          <a:xfrm>
            <a:off x="8259907" y="2430000"/>
            <a:ext cx="52000" cy="560000"/>
          </a:xfrm>
          <a:prstGeom prst="rect">
            <a:avLst/>
          </a:prstGeom>
          <a:solidFill>
            <a:srgbClr val="4F9A74"/>
          </a:solidFill>
        </p:spPr>
        <p:txBody>
          <a:bodyPr lIns="45720" tIns="18288" rIns="45720" bIns="18288" anchor="ctr">
            <a:normAutofit/>
          </a:bodyPr>
          <a:lstStyle/>
          <a:p>
            <a:endParaRPr sz="1500"/>
          </a:p>
        </p:txBody>
      </p:sp>
      <p:sp>
        <p:nvSpPr>
          <p:cNvPr id="710" name="TB710">
            <a:extLst>
              <a:ext uri="{FF2B5EF4-FFF2-40B4-BE49-F238E27FC236}">
                <a16:creationId xmlns:a16="http://schemas.microsoft.com/office/drawing/2014/main" id="{4C1ED033-CBF0-4913-949B-AEE59446FACB}"/>
              </a:ext>
            </a:extLst>
          </p:cNvPr>
          <p:cNvSpPr>
            <a:spLocks noGrp="1"/>
          </p:cNvSpPr>
          <p:nvPr/>
        </p:nvSpPr>
        <p:spPr>
          <a:xfrm>
            <a:off x="8439907" y="2490000"/>
            <a:ext cx="249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≈</a:t>
            </a:r>
            <a:r>
              <a:rPr lang="es-ES" sz="15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60 m</a:t>
            </a:r>
          </a:p>
        </p:txBody>
      </p:sp>
      <p:sp>
        <p:nvSpPr>
          <p:cNvPr id="711" name="TB711">
            <a:extLst>
              <a:ext uri="{FF2B5EF4-FFF2-40B4-BE49-F238E27FC236}">
                <a16:creationId xmlns:a16="http://schemas.microsoft.com/office/drawing/2014/main" id="{2127264A-3B67-4913-8062-11ED070833AF}"/>
              </a:ext>
            </a:extLst>
          </p:cNvPr>
          <p:cNvSpPr>
            <a:spLocks noGrp="1"/>
          </p:cNvSpPr>
          <p:nvPr/>
        </p:nvSpPr>
        <p:spPr>
          <a:xfrm>
            <a:off x="8439907" y="2720000"/>
            <a:ext cx="249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espaciado en traza</a:t>
            </a:r>
          </a:p>
        </p:txBody>
      </p:sp>
      <p:sp>
        <p:nvSpPr>
          <p:cNvPr id="712" name="SH712">
            <a:extLst>
              <a:ext uri="{FF2B5EF4-FFF2-40B4-BE49-F238E27FC236}">
                <a16:creationId xmlns:a16="http://schemas.microsoft.com/office/drawing/2014/main" id="{520A84E5-B312-42D0-B228-B43918D0265A}"/>
              </a:ext>
            </a:extLst>
          </p:cNvPr>
          <p:cNvSpPr>
            <a:spLocks noGrp="1"/>
          </p:cNvSpPr>
          <p:nvPr/>
        </p:nvSpPr>
        <p:spPr>
          <a:xfrm>
            <a:off x="8259907" y="2990000"/>
            <a:ext cx="0" cy="1730000"/>
          </a:xfrm>
          <a:prstGeom prst="line">
            <a:avLst/>
          </a:prstGeom>
          <a:noFill/>
          <a:ln w="19050">
            <a:solidFill>
              <a:srgbClr val="4F9A74"/>
            </a:solidFill>
          </a:ln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713" name="SH713">
            <a:extLst>
              <a:ext uri="{FF2B5EF4-FFF2-40B4-BE49-F238E27FC236}">
                <a16:creationId xmlns:a16="http://schemas.microsoft.com/office/drawing/2014/main" id="{C0275488-57CF-4A09-AFB3-91220EC1969C}"/>
              </a:ext>
            </a:extLst>
          </p:cNvPr>
          <p:cNvSpPr>
            <a:spLocks noGrp="1"/>
          </p:cNvSpPr>
          <p:nvPr/>
        </p:nvSpPr>
        <p:spPr>
          <a:xfrm>
            <a:off x="8191907" y="4652000"/>
            <a:ext cx="136000" cy="136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714" name="SH714">
            <a:extLst>
              <a:ext uri="{FF2B5EF4-FFF2-40B4-BE49-F238E27FC236}">
                <a16:creationId xmlns:a16="http://schemas.microsoft.com/office/drawing/2014/main" id="{635051AA-F23B-4B92-995B-C15B8581F5EF}"/>
              </a:ext>
            </a:extLst>
          </p:cNvPr>
          <p:cNvSpPr>
            <a:spLocks noGrp="1"/>
          </p:cNvSpPr>
          <p:nvPr/>
        </p:nvSpPr>
        <p:spPr>
          <a:xfrm>
            <a:off x="8928089" y="3080000"/>
            <a:ext cx="2750000" cy="5600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C8D2CC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45720" tIns="18288" rIns="45720" bIns="18288" anchor="ctr">
            <a:normAutofit/>
          </a:bodyPr>
          <a:lstStyle/>
          <a:p>
            <a:pPr algn="just"/>
            <a:endParaRPr sz="1500"/>
          </a:p>
        </p:txBody>
      </p:sp>
      <p:sp>
        <p:nvSpPr>
          <p:cNvPr id="715" name="SH715">
            <a:extLst>
              <a:ext uri="{FF2B5EF4-FFF2-40B4-BE49-F238E27FC236}">
                <a16:creationId xmlns:a16="http://schemas.microsoft.com/office/drawing/2014/main" id="{7FCF5352-29FA-4BAC-A902-765142AAAB3D}"/>
              </a:ext>
            </a:extLst>
          </p:cNvPr>
          <p:cNvSpPr>
            <a:spLocks noGrp="1"/>
          </p:cNvSpPr>
          <p:nvPr/>
        </p:nvSpPr>
        <p:spPr>
          <a:xfrm>
            <a:off x="8928089" y="3080000"/>
            <a:ext cx="52000" cy="560000"/>
          </a:xfrm>
          <a:prstGeom prst="rect">
            <a:avLst/>
          </a:prstGeom>
          <a:solidFill>
            <a:srgbClr val="2D6A4F"/>
          </a:solidFill>
        </p:spPr>
        <p:txBody>
          <a:bodyPr lIns="45720" tIns="18288" rIns="45720" bIns="18288" anchor="ctr">
            <a:normAutofit/>
          </a:bodyPr>
          <a:lstStyle/>
          <a:p>
            <a:endParaRPr sz="1500"/>
          </a:p>
        </p:txBody>
      </p:sp>
      <p:sp>
        <p:nvSpPr>
          <p:cNvPr id="716" name="TB716">
            <a:extLst>
              <a:ext uri="{FF2B5EF4-FFF2-40B4-BE49-F238E27FC236}">
                <a16:creationId xmlns:a16="http://schemas.microsoft.com/office/drawing/2014/main" id="{3E026D0B-28CC-4A85-BA27-F65A272626C2}"/>
              </a:ext>
            </a:extLst>
          </p:cNvPr>
          <p:cNvSpPr>
            <a:spLocks noGrp="1"/>
          </p:cNvSpPr>
          <p:nvPr/>
        </p:nvSpPr>
        <p:spPr>
          <a:xfrm>
            <a:off x="9108089" y="3140000"/>
            <a:ext cx="249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≈</a:t>
            </a:r>
            <a:r>
              <a:rPr lang="es-ES" sz="15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600 m</a:t>
            </a:r>
          </a:p>
        </p:txBody>
      </p:sp>
      <p:sp>
        <p:nvSpPr>
          <p:cNvPr id="717" name="TB717">
            <a:extLst>
              <a:ext uri="{FF2B5EF4-FFF2-40B4-BE49-F238E27FC236}">
                <a16:creationId xmlns:a16="http://schemas.microsoft.com/office/drawing/2014/main" id="{174AD2D9-F026-4CF3-AAE9-7E3649275DD6}"/>
              </a:ext>
            </a:extLst>
          </p:cNvPr>
          <p:cNvSpPr>
            <a:spLocks noGrp="1"/>
          </p:cNvSpPr>
          <p:nvPr/>
        </p:nvSpPr>
        <p:spPr>
          <a:xfrm>
            <a:off x="9108089" y="3370000"/>
            <a:ext cx="249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separación de haces</a:t>
            </a:r>
          </a:p>
        </p:txBody>
      </p:sp>
      <p:sp>
        <p:nvSpPr>
          <p:cNvPr id="718" name="SH718">
            <a:extLst>
              <a:ext uri="{FF2B5EF4-FFF2-40B4-BE49-F238E27FC236}">
                <a16:creationId xmlns:a16="http://schemas.microsoft.com/office/drawing/2014/main" id="{F1A0D535-8701-4FE8-9984-A5DFE4DE34C3}"/>
              </a:ext>
            </a:extLst>
          </p:cNvPr>
          <p:cNvSpPr>
            <a:spLocks noGrp="1"/>
          </p:cNvSpPr>
          <p:nvPr/>
        </p:nvSpPr>
        <p:spPr>
          <a:xfrm>
            <a:off x="10759907" y="3640000"/>
            <a:ext cx="0" cy="1080000"/>
          </a:xfrm>
          <a:prstGeom prst="line">
            <a:avLst/>
          </a:prstGeom>
          <a:noFill/>
          <a:ln w="19050">
            <a:solidFill>
              <a:srgbClr val="2D6A4F"/>
            </a:solidFill>
          </a:ln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719" name="SH719">
            <a:extLst>
              <a:ext uri="{FF2B5EF4-FFF2-40B4-BE49-F238E27FC236}">
                <a16:creationId xmlns:a16="http://schemas.microsoft.com/office/drawing/2014/main" id="{CCBBD2D1-E1D7-4BE8-801B-6D66B1829BC7}"/>
              </a:ext>
            </a:extLst>
          </p:cNvPr>
          <p:cNvSpPr>
            <a:spLocks noGrp="1"/>
          </p:cNvSpPr>
          <p:nvPr/>
        </p:nvSpPr>
        <p:spPr>
          <a:xfrm>
            <a:off x="10691907" y="4652000"/>
            <a:ext cx="136000" cy="136000"/>
          </a:xfrm>
          <a:prstGeom prst="ellipse">
            <a:avLst/>
          </a:prstGeom>
          <a:solidFill>
            <a:srgbClr val="2D6A4F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720" name="SH720">
            <a:extLst>
              <a:ext uri="{FF2B5EF4-FFF2-40B4-BE49-F238E27FC236}">
                <a16:creationId xmlns:a16="http://schemas.microsoft.com/office/drawing/2014/main" id="{C14F9E5D-12F8-4B9B-8AED-6C685EB309E1}"/>
              </a:ext>
            </a:extLst>
          </p:cNvPr>
          <p:cNvSpPr>
            <a:spLocks noGrp="1"/>
          </p:cNvSpPr>
          <p:nvPr/>
        </p:nvSpPr>
        <p:spPr>
          <a:xfrm>
            <a:off x="8928089" y="3730000"/>
            <a:ext cx="2750000" cy="5600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C8D2CC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45720" tIns="18288" rIns="45720" bIns="18288" anchor="ctr">
            <a:normAutofit/>
          </a:bodyPr>
          <a:lstStyle/>
          <a:p>
            <a:pPr algn="just"/>
            <a:endParaRPr sz="1500"/>
          </a:p>
        </p:txBody>
      </p:sp>
      <p:sp>
        <p:nvSpPr>
          <p:cNvPr id="721" name="SH721">
            <a:extLst>
              <a:ext uri="{FF2B5EF4-FFF2-40B4-BE49-F238E27FC236}">
                <a16:creationId xmlns:a16="http://schemas.microsoft.com/office/drawing/2014/main" id="{10CD2106-7D58-4CCC-B25A-FAC1FE91F2D5}"/>
              </a:ext>
            </a:extLst>
          </p:cNvPr>
          <p:cNvSpPr>
            <a:spLocks noGrp="1"/>
          </p:cNvSpPr>
          <p:nvPr/>
        </p:nvSpPr>
        <p:spPr>
          <a:xfrm>
            <a:off x="8928089" y="3730000"/>
            <a:ext cx="52000" cy="560000"/>
          </a:xfrm>
          <a:prstGeom prst="rect">
            <a:avLst/>
          </a:prstGeom>
          <a:solidFill>
            <a:srgbClr val="1B4332"/>
          </a:solidFill>
        </p:spPr>
        <p:txBody>
          <a:bodyPr lIns="45720" tIns="18288" rIns="45720" bIns="18288" anchor="ctr">
            <a:normAutofit/>
          </a:bodyPr>
          <a:lstStyle/>
          <a:p>
            <a:endParaRPr sz="1500"/>
          </a:p>
        </p:txBody>
      </p:sp>
      <p:sp>
        <p:nvSpPr>
          <p:cNvPr id="722" name="TB722">
            <a:extLst>
              <a:ext uri="{FF2B5EF4-FFF2-40B4-BE49-F238E27FC236}">
                <a16:creationId xmlns:a16="http://schemas.microsoft.com/office/drawing/2014/main" id="{AB529AB7-E64C-46DD-8E66-736B68CA9433}"/>
              </a:ext>
            </a:extLst>
          </p:cNvPr>
          <p:cNvSpPr>
            <a:spLocks noGrp="1"/>
          </p:cNvSpPr>
          <p:nvPr/>
        </p:nvSpPr>
        <p:spPr>
          <a:xfrm>
            <a:off x="9108089" y="3790000"/>
            <a:ext cx="249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1 km</a:t>
            </a:r>
          </a:p>
        </p:txBody>
      </p:sp>
      <p:sp>
        <p:nvSpPr>
          <p:cNvPr id="723" name="TB723">
            <a:extLst>
              <a:ext uri="{FF2B5EF4-FFF2-40B4-BE49-F238E27FC236}">
                <a16:creationId xmlns:a16="http://schemas.microsoft.com/office/drawing/2014/main" id="{045E72BB-A69C-483C-B392-0B75F7D2D211}"/>
              </a:ext>
            </a:extLst>
          </p:cNvPr>
          <p:cNvSpPr>
            <a:spLocks noGrp="1"/>
          </p:cNvSpPr>
          <p:nvPr/>
        </p:nvSpPr>
        <p:spPr>
          <a:xfrm>
            <a:off x="9108089" y="4020000"/>
            <a:ext cx="2490000" cy="21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200" b="0" i="0" dirty="0" err="1">
                <a:solidFill>
                  <a:srgbClr val="44544C"/>
                </a:solidFill>
                <a:latin typeface="Arial"/>
                <a:ea typeface="Arial"/>
                <a:cs typeface="Arial"/>
              </a:rPr>
              <a:t>celda</a:t>
            </a:r>
            <a:r>
              <a:rPr sz="1200" b="0" i="0" dirty="0">
                <a:solidFill>
                  <a:srgbClr val="4454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 dirty="0">
                <a:solidFill>
                  <a:srgbClr val="44544C"/>
                </a:solidFill>
                <a:latin typeface="Arial"/>
                <a:ea typeface="Arial"/>
                <a:cs typeface="Arial"/>
              </a:rPr>
              <a:t>L4B</a:t>
            </a:r>
          </a:p>
        </p:txBody>
      </p:sp>
      <p:sp>
        <p:nvSpPr>
          <p:cNvPr id="724" name="SH724">
            <a:extLst>
              <a:ext uri="{FF2B5EF4-FFF2-40B4-BE49-F238E27FC236}">
                <a16:creationId xmlns:a16="http://schemas.microsoft.com/office/drawing/2014/main" id="{2C98EA39-1CC6-40C0-B645-A8993CBC8ABF}"/>
              </a:ext>
            </a:extLst>
          </p:cNvPr>
          <p:cNvSpPr>
            <a:spLocks noGrp="1"/>
          </p:cNvSpPr>
          <p:nvPr/>
        </p:nvSpPr>
        <p:spPr>
          <a:xfrm>
            <a:off x="11314529" y="4290000"/>
            <a:ext cx="0" cy="430000"/>
          </a:xfrm>
          <a:prstGeom prst="line">
            <a:avLst/>
          </a:prstGeom>
          <a:noFill/>
          <a:ln w="19050">
            <a:solidFill>
              <a:srgbClr val="1B4332"/>
            </a:solidFill>
          </a:ln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725" name="SH725">
            <a:extLst>
              <a:ext uri="{FF2B5EF4-FFF2-40B4-BE49-F238E27FC236}">
                <a16:creationId xmlns:a16="http://schemas.microsoft.com/office/drawing/2014/main" id="{3949AEC3-D004-43A6-871B-D6B86BCE403B}"/>
              </a:ext>
            </a:extLst>
          </p:cNvPr>
          <p:cNvSpPr>
            <a:spLocks noGrp="1"/>
          </p:cNvSpPr>
          <p:nvPr/>
        </p:nvSpPr>
        <p:spPr>
          <a:xfrm>
            <a:off x="11246529" y="4652000"/>
            <a:ext cx="136000" cy="136000"/>
          </a:xfrm>
          <a:prstGeom prst="ellipse">
            <a:avLst/>
          </a:prstGeom>
          <a:solidFill>
            <a:srgbClr val="1B4332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726" name="SH726">
            <a:extLst>
              <a:ext uri="{FF2B5EF4-FFF2-40B4-BE49-F238E27FC236}">
                <a16:creationId xmlns:a16="http://schemas.microsoft.com/office/drawing/2014/main" id="{9D6ADFA4-232F-4297-94B3-24276D38B5B4}"/>
              </a:ext>
            </a:extLst>
          </p:cNvPr>
          <p:cNvSpPr>
            <a:spLocks noGrp="1"/>
          </p:cNvSpPr>
          <p:nvPr/>
        </p:nvSpPr>
        <p:spPr>
          <a:xfrm>
            <a:off x="6194529" y="4702000"/>
            <a:ext cx="5320000" cy="36000"/>
          </a:xfrm>
          <a:prstGeom prst="rect">
            <a:avLst/>
          </a:prstGeom>
          <a:solidFill>
            <a:srgbClr val="44544C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727" name="SH727">
            <a:extLst>
              <a:ext uri="{FF2B5EF4-FFF2-40B4-BE49-F238E27FC236}">
                <a16:creationId xmlns:a16="http://schemas.microsoft.com/office/drawing/2014/main" id="{5CBBC8DF-1B69-4E81-8461-70CB4CFE482E}"/>
              </a:ext>
            </a:extLst>
          </p:cNvPr>
          <p:cNvSpPr>
            <a:spLocks noGrp="1"/>
          </p:cNvSpPr>
          <p:nvPr/>
        </p:nvSpPr>
        <p:spPr>
          <a:xfrm>
            <a:off x="6314529" y="4720000"/>
            <a:ext cx="0" cy="90000"/>
          </a:xfrm>
          <a:prstGeom prst="line">
            <a:avLst/>
          </a:prstGeom>
          <a:noFill/>
          <a:ln w="19050">
            <a:solidFill>
              <a:srgbClr val="44544C"/>
            </a:solidFill>
          </a:ln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728" name="TB728">
            <a:extLst>
              <a:ext uri="{FF2B5EF4-FFF2-40B4-BE49-F238E27FC236}">
                <a16:creationId xmlns:a16="http://schemas.microsoft.com/office/drawing/2014/main" id="{147940A3-BF97-4469-BB0F-DEADDE80D34F}"/>
              </a:ext>
            </a:extLst>
          </p:cNvPr>
          <p:cNvSpPr>
            <a:spLocks noGrp="1"/>
          </p:cNvSpPr>
          <p:nvPr/>
        </p:nvSpPr>
        <p:spPr>
          <a:xfrm>
            <a:off x="5864529" y="4840000"/>
            <a:ext cx="9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10 m</a:t>
            </a:r>
          </a:p>
        </p:txBody>
      </p:sp>
      <p:sp>
        <p:nvSpPr>
          <p:cNvPr id="729" name="SH729">
            <a:extLst>
              <a:ext uri="{FF2B5EF4-FFF2-40B4-BE49-F238E27FC236}">
                <a16:creationId xmlns:a16="http://schemas.microsoft.com/office/drawing/2014/main" id="{30EDD2CB-72C5-433E-93C1-A4316211286C}"/>
              </a:ext>
            </a:extLst>
          </p:cNvPr>
          <p:cNvSpPr>
            <a:spLocks noGrp="1"/>
          </p:cNvSpPr>
          <p:nvPr/>
        </p:nvSpPr>
        <p:spPr>
          <a:xfrm>
            <a:off x="8814529" y="4720000"/>
            <a:ext cx="0" cy="90000"/>
          </a:xfrm>
          <a:prstGeom prst="line">
            <a:avLst/>
          </a:prstGeom>
          <a:noFill/>
          <a:ln w="19050">
            <a:solidFill>
              <a:srgbClr val="44544C"/>
            </a:solidFill>
          </a:ln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730" name="TB730">
            <a:extLst>
              <a:ext uri="{FF2B5EF4-FFF2-40B4-BE49-F238E27FC236}">
                <a16:creationId xmlns:a16="http://schemas.microsoft.com/office/drawing/2014/main" id="{5D7D54C5-5BBC-459A-B729-D1B53C8AA9B9}"/>
              </a:ext>
            </a:extLst>
          </p:cNvPr>
          <p:cNvSpPr>
            <a:spLocks noGrp="1"/>
          </p:cNvSpPr>
          <p:nvPr/>
        </p:nvSpPr>
        <p:spPr>
          <a:xfrm>
            <a:off x="8364529" y="4840000"/>
            <a:ext cx="9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100 m</a:t>
            </a:r>
          </a:p>
        </p:txBody>
      </p:sp>
      <p:sp>
        <p:nvSpPr>
          <p:cNvPr id="731" name="SH731">
            <a:extLst>
              <a:ext uri="{FF2B5EF4-FFF2-40B4-BE49-F238E27FC236}">
                <a16:creationId xmlns:a16="http://schemas.microsoft.com/office/drawing/2014/main" id="{BA45FC0A-0C73-4FDC-ACDA-38B7E119BD79}"/>
              </a:ext>
            </a:extLst>
          </p:cNvPr>
          <p:cNvSpPr>
            <a:spLocks noGrp="1"/>
          </p:cNvSpPr>
          <p:nvPr/>
        </p:nvSpPr>
        <p:spPr>
          <a:xfrm>
            <a:off x="11314529" y="4720000"/>
            <a:ext cx="0" cy="90000"/>
          </a:xfrm>
          <a:prstGeom prst="line">
            <a:avLst/>
          </a:prstGeom>
          <a:noFill/>
          <a:ln w="19050">
            <a:solidFill>
              <a:srgbClr val="44544C"/>
            </a:solidFill>
          </a:ln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732" name="TB732">
            <a:extLst>
              <a:ext uri="{FF2B5EF4-FFF2-40B4-BE49-F238E27FC236}">
                <a16:creationId xmlns:a16="http://schemas.microsoft.com/office/drawing/2014/main" id="{07747E85-0BCF-4421-89CA-4EFC6F9737A0}"/>
              </a:ext>
            </a:extLst>
          </p:cNvPr>
          <p:cNvSpPr>
            <a:spLocks noGrp="1"/>
          </p:cNvSpPr>
          <p:nvPr/>
        </p:nvSpPr>
        <p:spPr>
          <a:xfrm>
            <a:off x="10864529" y="4840000"/>
            <a:ext cx="9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1 km</a:t>
            </a:r>
          </a:p>
        </p:txBody>
      </p:sp>
      <p:sp>
        <p:nvSpPr>
          <p:cNvPr id="733" name="TB733">
            <a:extLst>
              <a:ext uri="{FF2B5EF4-FFF2-40B4-BE49-F238E27FC236}">
                <a16:creationId xmlns:a16="http://schemas.microsoft.com/office/drawing/2014/main" id="{F3221782-DE86-47C6-BF5A-67A3D4877177}"/>
              </a:ext>
            </a:extLst>
          </p:cNvPr>
          <p:cNvSpPr>
            <a:spLocks noGrp="1"/>
          </p:cNvSpPr>
          <p:nvPr/>
        </p:nvSpPr>
        <p:spPr>
          <a:xfrm>
            <a:off x="6054529" y="5120000"/>
            <a:ext cx="5623560" cy="3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500" b="0" i="1" dirty="0">
                <a:latin typeface="Arial"/>
                <a:ea typeface="Arial"/>
                <a:cs typeface="Arial"/>
              </a:rPr>
              <a:t>Eje </a:t>
            </a:r>
            <a:r>
              <a:rPr sz="1500" b="0" i="1" dirty="0" err="1">
                <a:latin typeface="Arial"/>
                <a:ea typeface="Arial"/>
                <a:cs typeface="Arial"/>
              </a:rPr>
              <a:t>logarítmico</a:t>
            </a:r>
            <a:r>
              <a:rPr sz="1500" b="0" i="1" dirty="0">
                <a:latin typeface="Arial"/>
                <a:ea typeface="Arial"/>
                <a:cs typeface="Arial"/>
              </a:rPr>
              <a:t>: </a:t>
            </a:r>
            <a:r>
              <a:rPr sz="1500" b="0" i="1" dirty="0" err="1">
                <a:latin typeface="Arial"/>
                <a:ea typeface="Arial"/>
                <a:cs typeface="Arial"/>
              </a:rPr>
              <a:t>cada</a:t>
            </a:r>
            <a:r>
              <a:rPr sz="1500" b="0" i="1" dirty="0">
                <a:latin typeface="Arial"/>
                <a:ea typeface="Arial"/>
                <a:cs typeface="Arial"/>
              </a:rPr>
              <a:t> </a:t>
            </a:r>
            <a:r>
              <a:rPr sz="1500" b="0" i="1" dirty="0" err="1">
                <a:latin typeface="Arial"/>
                <a:ea typeface="Arial"/>
                <a:cs typeface="Arial"/>
              </a:rPr>
              <a:t>tramo</a:t>
            </a:r>
            <a:r>
              <a:rPr sz="1500" b="0" i="1" dirty="0">
                <a:latin typeface="Arial"/>
                <a:ea typeface="Arial"/>
                <a:cs typeface="Arial"/>
              </a:rPr>
              <a:t> </a:t>
            </a:r>
            <a:r>
              <a:rPr sz="1500" b="0" i="1" dirty="0" err="1">
                <a:latin typeface="Arial"/>
                <a:ea typeface="Arial"/>
                <a:cs typeface="Arial"/>
              </a:rPr>
              <a:t>multiplica</a:t>
            </a:r>
            <a:r>
              <a:rPr sz="1500" b="0" i="1" dirty="0">
                <a:latin typeface="Arial"/>
                <a:ea typeface="Arial"/>
                <a:cs typeface="Arial"/>
              </a:rPr>
              <a:t> la </a:t>
            </a:r>
            <a:r>
              <a:rPr sz="1500" b="0" i="1" dirty="0" err="1">
                <a:latin typeface="Arial"/>
                <a:ea typeface="Arial"/>
                <a:cs typeface="Arial"/>
              </a:rPr>
              <a:t>distancia</a:t>
            </a:r>
            <a:r>
              <a:rPr sz="1500" b="0" i="1" dirty="0">
                <a:latin typeface="Arial"/>
                <a:ea typeface="Arial"/>
                <a:cs typeface="Arial"/>
              </a:rPr>
              <a:t> </a:t>
            </a:r>
            <a:r>
              <a:rPr sz="1500" b="0" i="1" dirty="0" err="1">
                <a:latin typeface="Arial"/>
                <a:ea typeface="Arial"/>
                <a:cs typeface="Arial"/>
              </a:rPr>
              <a:t>por</a:t>
            </a:r>
            <a:r>
              <a:rPr sz="1500" b="0" i="1" dirty="0">
                <a:latin typeface="Arial"/>
                <a:ea typeface="Arial"/>
                <a:cs typeface="Arial"/>
              </a:rPr>
              <a:t> </a:t>
            </a:r>
            <a:r>
              <a:rPr sz="1500" b="0" i="1" dirty="0" err="1">
                <a:latin typeface="Arial"/>
                <a:ea typeface="Arial"/>
                <a:cs typeface="Arial"/>
              </a:rPr>
              <a:t>diez</a:t>
            </a:r>
            <a:endParaRPr sz="1500" b="0" i="1" dirty="0">
              <a:latin typeface="Arial"/>
              <a:ea typeface="Arial"/>
              <a:cs typeface="Arial"/>
            </a:endParaRPr>
          </a:p>
        </p:txBody>
      </p:sp>
      <p:sp>
        <p:nvSpPr>
          <p:cNvPr id="734" name="Rectángulo 733">
            <a:extLst>
              <a:ext uri="{FF2B5EF4-FFF2-40B4-BE49-F238E27FC236}">
                <a16:creationId xmlns:a16="http://schemas.microsoft.com/office/drawing/2014/main" id="{3323DB9E-54EA-41C5-BE9B-0A20E3B97269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17/79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8942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718F09-870D-4CD5-8ED0-3F188134D32F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Selección rápida de producto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5AE06B-DA0F-45F6-A3A7-32AD1A8CAFDF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Criterios de selección de producto según la pregunta de investigación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7BCF156-90AA-48EC-B09C-6800CFF84DB7}"/>
              </a:ext>
            </a:extLst>
          </p:cNvPr>
          <p:cNvSpPr>
            <a:spLocks noGrp="1"/>
          </p:cNvSpPr>
          <p:nvPr/>
        </p:nvSpPr>
        <p:spPr>
          <a:xfrm>
            <a:off x="596900" y="1270000"/>
            <a:ext cx="5638800" cy="4165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Altura de dosel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L2A con métricas RH y filtros estrictos de calidad.</a:t>
            </a:r>
          </a:p>
          <a:p>
            <a:pPr marL="0" indent="0" algn="l">
              <a:lnSpc>
                <a:spcPct val="100000"/>
              </a:lnSpc>
              <a:spcBef>
                <a:spcPts val="17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Estructura vertical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L2B con cobertura, PAI, PAVD y FHD.</a:t>
            </a:r>
          </a:p>
          <a:p>
            <a:pPr marL="0" indent="0" algn="l">
              <a:lnSpc>
                <a:spcPct val="100000"/>
              </a:lnSpc>
              <a:spcBef>
                <a:spcPts val="17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Biomasa por huella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L4A v3 con agbd y agbd_se, para propagar el error.</a:t>
            </a:r>
          </a:p>
          <a:p>
            <a:pPr marL="0" indent="0" algn="l">
              <a:lnSpc>
                <a:spcPct val="100000"/>
              </a:lnSpc>
              <a:spcBef>
                <a:spcPts val="17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Resumen regional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L4B, declarando siempre la escala de 1 km.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6249B36-AFB9-4F2D-86DD-A40DC1F34B6B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GEDI/UMD Products; LP DAAC GEDI02 User Guides; ORNL DAAC L4A/L4B. NASA Earthdata GEDI v3 release; ORNL DAAC GEDI L4A v3, DOI 10.3334/ORNLDAAC/2508.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F4DD89F-3B31-461B-BD61-FCF59E556FCA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18/79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DC472CA-1623-4233-86FF-1C4EE642A8F3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7B8B9C4-C941-4483-87B0-A837A5C6174D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graphicFrame>
        <p:nvGraphicFramePr>
          <p:cNvPr id="34" name="Tabla 25"/>
          <p:cNvGraphicFramePr/>
          <p:nvPr/>
        </p:nvGraphicFramePr>
        <p:xfrm>
          <a:off x="6688899" y="1270000"/>
          <a:ext cx="4826000" cy="41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Pregunta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Producto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Advertencia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Altura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GEDI02_A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revisar terreno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Cobertura y perfil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GEDI02_B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interpretar PAI/PAVD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Biomasa huella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GEDI04_A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filtrar flags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Mapa regional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GEDI04_B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escala 1 km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ángulo 25">
            <a:extLst>
              <a:ext uri="{FF2B5EF4-FFF2-40B4-BE49-F238E27FC236}">
                <a16:creationId xmlns:a16="http://schemas.microsoft.com/office/drawing/2014/main" id="{B163BD1A-A135-4275-B968-5E30D9E20A39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18/79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6047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63A925-0B8B-4E3F-ACE7-60357E65BB00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Versión 3 y pausas de adquisición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DF6EDF-35DF-4E80-BBA3-7C9BBF53E4A8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Vigencia de la versión: control de actualización del conjunto de datos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F0A4DA-C2F4-43D1-89E9-A5E02459113D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5003800" cy="4419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Cobertura temporal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versión 3 incorpora datos de 2019 a 2023 y las adquisiciones posteriores a 2024.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Pausa operativa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Entre el 17 de marzo de 2023 y el 25 de abril de 2024 el instrumento estuvo almacenado en la ISS.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Cambio de versión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V3 mejora la geolocalización y los modelos: no es intercambiable con v2.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Criterio de reproducibilidad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Todo análisis debe fijar versión, DOI, fecha de descarga y filtros aplicados.</a:t>
            </a:r>
          </a:p>
        </p:txBody>
      </p:sp>
      <p:sp>
        <p:nvSpPr>
          <p:cNvPr id="60" name="Tramo 60"/>
          <p:cNvSpPr/>
          <p:nvPr/>
        </p:nvSpPr>
        <p:spPr>
          <a:xfrm>
            <a:off x="6200000" y="3312160"/>
            <a:ext cx="2771379" cy="0"/>
          </a:xfrm>
          <a:prstGeom prst="line">
            <a:avLst/>
          </a:prstGeom>
          <a:noFill/>
          <a:ln w="38100" cap="rnd">
            <a:solidFill>
              <a:srgbClr val="2D6A4F"/>
            </a:solidFill>
            <a:prstDash val="solid"/>
          </a:ln>
        </p:spPr>
        <p:txBody>
          <a:bodyPr/>
          <a:lstStyle/>
          <a:p>
            <a:endParaRPr sz="1500"/>
          </a:p>
        </p:txBody>
      </p:sp>
      <p:sp>
        <p:nvSpPr>
          <p:cNvPr id="61" name="Tramo 61"/>
          <p:cNvSpPr/>
          <p:nvPr/>
        </p:nvSpPr>
        <p:spPr>
          <a:xfrm>
            <a:off x="8971379" y="3312160"/>
            <a:ext cx="766552" cy="0"/>
          </a:xfrm>
          <a:prstGeom prst="line">
            <a:avLst/>
          </a:prstGeom>
          <a:noFill/>
          <a:ln w="38100" cap="rnd">
            <a:solidFill>
              <a:srgbClr val="B45309"/>
            </a:solidFill>
            <a:prstDash val="dash"/>
          </a:ln>
        </p:spPr>
        <p:txBody>
          <a:bodyPr/>
          <a:lstStyle/>
          <a:p>
            <a:endParaRPr sz="1500"/>
          </a:p>
        </p:txBody>
      </p:sp>
      <p:sp>
        <p:nvSpPr>
          <p:cNvPr id="62" name="Tramo 62"/>
          <p:cNvSpPr/>
          <p:nvPr/>
        </p:nvSpPr>
        <p:spPr>
          <a:xfrm>
            <a:off x="9737931" y="3312160"/>
            <a:ext cx="1592069" cy="0"/>
          </a:xfrm>
          <a:prstGeom prst="line">
            <a:avLst/>
          </a:prstGeom>
          <a:noFill/>
          <a:ln w="38100" cap="rnd">
            <a:solidFill>
              <a:srgbClr val="2D6A4F"/>
            </a:solidFill>
            <a:prstDash val="solid"/>
          </a:ln>
        </p:spPr>
        <p:txBody>
          <a:bodyPr/>
          <a:lstStyle/>
          <a:p>
            <a:endParaRPr sz="1500"/>
          </a:p>
        </p:txBody>
      </p:sp>
      <p:sp>
        <p:nvSpPr>
          <p:cNvPr id="70" name="Hito 70"/>
          <p:cNvSpPr/>
          <p:nvPr/>
        </p:nvSpPr>
        <p:spPr>
          <a:xfrm>
            <a:off x="6130000" y="3242160"/>
            <a:ext cx="140000" cy="14000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71" name="Hito 71"/>
          <p:cNvSpPr/>
          <p:nvPr/>
        </p:nvSpPr>
        <p:spPr>
          <a:xfrm>
            <a:off x="8901379" y="3242160"/>
            <a:ext cx="140000" cy="14000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72" name="Hito 72"/>
          <p:cNvSpPr/>
          <p:nvPr/>
        </p:nvSpPr>
        <p:spPr>
          <a:xfrm>
            <a:off x="9667931" y="3242160"/>
            <a:ext cx="140000" cy="14000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73" name="Hito 73"/>
          <p:cNvSpPr/>
          <p:nvPr/>
        </p:nvSpPr>
        <p:spPr>
          <a:xfrm>
            <a:off x="11260000" y="3242160"/>
            <a:ext cx="140000" cy="14000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80" name="Pausa dur"/>
          <p:cNvSpPr txBox="1"/>
          <p:nvPr/>
        </p:nvSpPr>
        <p:spPr>
          <a:xfrm>
            <a:off x="8354655" y="1860000"/>
            <a:ext cx="2000000" cy="28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200" b="1" dirty="0">
                <a:solidFill>
                  <a:srgbClr val="B45309"/>
                </a:solidFill>
                <a:latin typeface="Arial"/>
                <a:cs typeface="Arial"/>
              </a:rPr>
              <a:t>13,3 meses sin adquisición</a:t>
            </a:r>
          </a:p>
        </p:txBody>
      </p:sp>
      <p:sp>
        <p:nvSpPr>
          <p:cNvPr id="81" name="F1"/>
          <p:cNvSpPr txBox="1"/>
          <p:nvPr/>
        </p:nvSpPr>
        <p:spPr>
          <a:xfrm>
            <a:off x="6050000" y="3480000"/>
            <a:ext cx="17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1200" b="1">
                <a:solidFill>
                  <a:srgbClr val="1B4332"/>
                </a:solidFill>
                <a:latin typeface="Arial"/>
                <a:cs typeface="Arial"/>
              </a:rPr>
              <a:t>4 abr 2019</a:t>
            </a:r>
          </a:p>
        </p:txBody>
      </p:sp>
      <p:sp>
        <p:nvSpPr>
          <p:cNvPr id="82" name="E1"/>
          <p:cNvSpPr txBox="1"/>
          <p:nvPr/>
        </p:nvSpPr>
        <p:spPr>
          <a:xfrm>
            <a:off x="6050000" y="3800000"/>
            <a:ext cx="1700000" cy="6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1400" b="0">
                <a:solidFill>
                  <a:srgbClr val="374151"/>
                </a:solidFill>
                <a:latin typeface="Arial"/>
                <a:cs typeface="Arial"/>
              </a:rPr>
              <a:t>Inicio de adquisición científica</a:t>
            </a:r>
          </a:p>
        </p:txBody>
      </p:sp>
      <p:sp>
        <p:nvSpPr>
          <p:cNvPr id="83" name="F2"/>
          <p:cNvSpPr txBox="1"/>
          <p:nvPr/>
        </p:nvSpPr>
        <p:spPr>
          <a:xfrm>
            <a:off x="8121379" y="2180000"/>
            <a:ext cx="17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200" b="1">
                <a:solidFill>
                  <a:srgbClr val="B45309"/>
                </a:solidFill>
                <a:latin typeface="Arial"/>
                <a:cs typeface="Arial"/>
              </a:rPr>
              <a:t>17 mar 2023</a:t>
            </a:r>
          </a:p>
        </p:txBody>
      </p:sp>
      <p:sp>
        <p:nvSpPr>
          <p:cNvPr id="84" name="E2"/>
          <p:cNvSpPr txBox="1"/>
          <p:nvPr/>
        </p:nvSpPr>
        <p:spPr>
          <a:xfrm>
            <a:off x="8121379" y="2340000"/>
            <a:ext cx="1700000" cy="7800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400" b="0">
                <a:solidFill>
                  <a:srgbClr val="374151"/>
                </a:solidFill>
                <a:latin typeface="Arial"/>
                <a:cs typeface="Arial"/>
              </a:rPr>
              <a:t>Pausa: instrumento almacenado en la ISS</a:t>
            </a:r>
          </a:p>
        </p:txBody>
      </p:sp>
      <p:sp>
        <p:nvSpPr>
          <p:cNvPr id="85" name="F3"/>
          <p:cNvSpPr txBox="1"/>
          <p:nvPr/>
        </p:nvSpPr>
        <p:spPr>
          <a:xfrm>
            <a:off x="8887931" y="3480000"/>
            <a:ext cx="17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200" b="1">
                <a:solidFill>
                  <a:srgbClr val="1B4332"/>
                </a:solidFill>
                <a:latin typeface="Arial"/>
                <a:cs typeface="Arial"/>
              </a:rPr>
              <a:t>26 abr 2024</a:t>
            </a:r>
          </a:p>
        </p:txBody>
      </p:sp>
      <p:sp>
        <p:nvSpPr>
          <p:cNvPr id="86" name="E3"/>
          <p:cNvSpPr txBox="1"/>
          <p:nvPr/>
        </p:nvSpPr>
        <p:spPr>
          <a:xfrm>
            <a:off x="8887931" y="3800000"/>
            <a:ext cx="17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400" b="0">
                <a:solidFill>
                  <a:srgbClr val="374151"/>
                </a:solidFill>
                <a:latin typeface="Arial"/>
                <a:cs typeface="Arial"/>
              </a:rPr>
              <a:t>Reanudación de adquisiciones</a:t>
            </a:r>
          </a:p>
        </p:txBody>
      </p:sp>
      <p:sp>
        <p:nvSpPr>
          <p:cNvPr id="87" name="F4"/>
          <p:cNvSpPr txBox="1"/>
          <p:nvPr/>
        </p:nvSpPr>
        <p:spPr>
          <a:xfrm>
            <a:off x="9780000" y="2180000"/>
            <a:ext cx="17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AR" sz="1200" b="1">
                <a:solidFill>
                  <a:srgbClr val="1B4332"/>
                </a:solidFill>
                <a:latin typeface="Arial"/>
                <a:cs typeface="Arial"/>
              </a:rPr>
              <a:t>jul 2026</a:t>
            </a:r>
          </a:p>
        </p:txBody>
      </p:sp>
      <p:sp>
        <p:nvSpPr>
          <p:cNvPr id="88" name="E4"/>
          <p:cNvSpPr txBox="1"/>
          <p:nvPr/>
        </p:nvSpPr>
        <p:spPr>
          <a:xfrm>
            <a:off x="9780000" y="2620000"/>
            <a:ext cx="1700000" cy="5000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AR" sz="1200" b="0">
                <a:solidFill>
                  <a:srgbClr val="374151"/>
                </a:solidFill>
                <a:latin typeface="Arial"/>
                <a:cs typeface="Arial"/>
              </a:rPr>
              <a:t>Publicación de GEDI v3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3983EA3-EAAB-4B61-8162-ED26E25B6A61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: NASA Earthdata GEDI v3 release; ORNL DAAC GEDI L4A v3, DOI 10.3334/ORNLDAAC/2508.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EEBA0E7-1F15-4C00-8F06-31C0DE611182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19/79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ECCBBFF-3374-4C57-802D-D1AB06B0A062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8100A88-714A-47D6-8514-680911B194C7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F2E0FE7-357F-4742-AF3A-055015A2EBEF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19/79</a:t>
            </a:r>
          </a:p>
        </p:txBody>
      </p:sp>
    </p:spTree>
    <p:extLst>
      <p:ext uri="{BB962C8B-B14F-4D97-AF65-F5344CB8AC3E}">
        <p14:creationId xmlns:p14="http://schemas.microsoft.com/office/powerpoint/2010/main" val="485132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4F03C4-3076-4F14-88FF-B8C6833CC44C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Banderas de calidad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1F489B-B185-4A59-AEBC-23E633639B76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Banderas de calidad como primer filtro de las observaciones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E495F0-D2E2-494F-BA9F-4F41C8FC1B36}"/>
              </a:ext>
            </a:extLst>
          </p:cNvPr>
          <p:cNvSpPr>
            <a:spLocks noGrp="1"/>
          </p:cNvSpPr>
          <p:nvPr/>
        </p:nvSpPr>
        <p:spPr>
          <a:xfrm>
            <a:off x="596900" y="1168400"/>
            <a:ext cx="5003800" cy="4318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Filtros obligatorios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Aplicar l4a_quality_flag_rel3 y l2a_quality_flag antes de modelar AGBD.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Geolocalización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degrade_include_flag identifica los períodos con degradación.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Coherencia con la superficie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surface_flag descarta retornos alejados del terreno esperado.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Criterio de revisión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Sensibilidad y modo según producto; los atípicos se contrastan con DEM y ortoimagen.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F6FE73F-AF17-4E6E-8892-92B7337216ED}"/>
              </a:ext>
            </a:extLst>
          </p:cNvPr>
          <p:cNvSpPr>
            <a:spLocks noGrp="1"/>
          </p:cNvSpPr>
          <p:nvPr/>
        </p:nvSpPr>
        <p:spPr>
          <a:xfrm>
            <a:off x="6350000" y="16256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sz="18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✓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93348B-6A69-42BD-ACDD-E58D9936DFAC}"/>
              </a:ext>
            </a:extLst>
          </p:cNvPr>
          <p:cNvSpPr>
            <a:spLocks noGrp="1"/>
          </p:cNvSpPr>
          <p:nvPr/>
        </p:nvSpPr>
        <p:spPr>
          <a:xfrm>
            <a:off x="6654800" y="1600200"/>
            <a:ext cx="4826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l4a_quality_flag_rel3 = 1</a:t>
            </a: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cuando corresponda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F187A6E-FD8B-47E9-96F6-11D772CA0F25}"/>
              </a:ext>
            </a:extLst>
          </p:cNvPr>
          <p:cNvSpPr>
            <a:spLocks noGrp="1"/>
          </p:cNvSpPr>
          <p:nvPr/>
        </p:nvSpPr>
        <p:spPr>
          <a:xfrm>
            <a:off x="6350000" y="23876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sz="18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✓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5AE9CB2-725F-4F82-8266-322B988CACF6}"/>
              </a:ext>
            </a:extLst>
          </p:cNvPr>
          <p:cNvSpPr>
            <a:spLocks noGrp="1"/>
          </p:cNvSpPr>
          <p:nvPr/>
        </p:nvSpPr>
        <p:spPr>
          <a:xfrm>
            <a:off x="6654800" y="2362200"/>
            <a:ext cx="4826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degrade_include_flag</a:t>
            </a: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sin degradación crítica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A235EC0-B7C9-4399-938B-002A2D1443D9}"/>
              </a:ext>
            </a:extLst>
          </p:cNvPr>
          <p:cNvSpPr>
            <a:spLocks noGrp="1"/>
          </p:cNvSpPr>
          <p:nvPr/>
        </p:nvSpPr>
        <p:spPr>
          <a:xfrm>
            <a:off x="6350000" y="31496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sz="18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✓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002719-4062-4420-8348-0ACB25883431}"/>
              </a:ext>
            </a:extLst>
          </p:cNvPr>
          <p:cNvSpPr>
            <a:spLocks noGrp="1"/>
          </p:cNvSpPr>
          <p:nvPr/>
        </p:nvSpPr>
        <p:spPr>
          <a:xfrm>
            <a:off x="6654800" y="3124200"/>
            <a:ext cx="4826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sensitivity</a:t>
            </a: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suficiente para el dosel esperado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4F8A6B1-0B8A-440D-B135-71E2C23C136E}"/>
              </a:ext>
            </a:extLst>
          </p:cNvPr>
          <p:cNvSpPr>
            <a:spLocks noGrp="1"/>
          </p:cNvSpPr>
          <p:nvPr/>
        </p:nvSpPr>
        <p:spPr>
          <a:xfrm>
            <a:off x="6350000" y="39116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sz="18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✓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43F461C-F822-4061-BEAC-2DF41355C833}"/>
              </a:ext>
            </a:extLst>
          </p:cNvPr>
          <p:cNvSpPr>
            <a:spLocks noGrp="1"/>
          </p:cNvSpPr>
          <p:nvPr/>
        </p:nvSpPr>
        <p:spPr>
          <a:xfrm>
            <a:off x="6654800" y="3886200"/>
            <a:ext cx="4826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AGBD y SE</a:t>
            </a: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dentro de rangos plausibles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004150B-863F-4A61-A1BD-D86EEE9F6061}"/>
              </a:ext>
            </a:extLst>
          </p:cNvPr>
          <p:cNvSpPr>
            <a:spLocks noGrp="1"/>
          </p:cNvSpPr>
          <p:nvPr/>
        </p:nvSpPr>
        <p:spPr>
          <a:xfrm>
            <a:off x="6350000" y="46736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sz="18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✓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ADA4A6C-EF0C-4BBD-BF39-D4D7113B48E5}"/>
              </a:ext>
            </a:extLst>
          </p:cNvPr>
          <p:cNvSpPr>
            <a:spLocks noGrp="1"/>
          </p:cNvSpPr>
          <p:nvPr/>
        </p:nvSpPr>
        <p:spPr>
          <a:xfrm>
            <a:off x="6654800" y="4648200"/>
            <a:ext cx="4826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huella</a:t>
            </a: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dentro de bosque nativo válido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4B5E06C-D015-4441-8961-E23485CB1B6E}"/>
              </a:ext>
            </a:extLst>
          </p:cNvPr>
          <p:cNvSpPr>
            <a:spLocks noGrp="1"/>
          </p:cNvSpPr>
          <p:nvPr/>
        </p:nvSpPr>
        <p:spPr>
          <a:xfrm>
            <a:off x="600075" y="5646665"/>
            <a:ext cx="10915650" cy="4874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GEDI/UMD Products; LP DAAC GEDI02 User Guides; ORNL DAAC L4A/L4B. NASA EarthRISE GEDI training.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746086A-FE61-4B6C-A54C-BFDEAA51BBB8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20/79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222A780-54A1-45B8-8DF5-798431083CA2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D78BAA6-F073-4FD3-87D3-6B03B129EA3D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6BCBE69-212F-479B-B4BB-590A54B2DC11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20/79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4" name="ChkHead"/>
          <p:cNvSpPr txBox="1"/>
          <p:nvPr/>
        </p:nvSpPr>
        <p:spPr>
          <a:xfrm>
            <a:off x="6350000" y="1219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 algn="l"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Criterios de aceptación</a:t>
            </a:r>
          </a:p>
        </p:txBody>
      </p:sp>
    </p:spTree>
    <p:extLst>
      <p:ext uri="{BB962C8B-B14F-4D97-AF65-F5344CB8AC3E}">
        <p14:creationId xmlns:p14="http://schemas.microsoft.com/office/powerpoint/2010/main" val="822313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682BD48-FC64-4B93-B154-73D86A4DDB7F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Sensibilidad y dosel cerrado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E863B0-9D93-4E11-B2F1-33CDC96E9B39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Sensibilidad del instrumento en condiciones de dosel cerrado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248F4A-AA74-469F-8797-0A1662FFBBFD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838700" cy="43434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expresa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máxima cobertura de copa que puede penetrarse detectando aún el terreno, según la relación señal/ruido.</a:t>
            </a:r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Elección del umbral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0,95 y 0,98 son decisiones analíticas: se justifican por tipo de bosque, producto y objetivo.</a:t>
            </a:r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Condición necesaria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Sin una estimación fiable del terreno no hay altura fiable; no basta superar un umbral aislado.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4ABC00D-CEAF-470C-8715-B5BCFFEE0655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GEDI/UMD Products; LP DAAC GEDI02 User Guides; ORNL DAAC L4A/L4B. Elaboración propia.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D9E2465-A5C3-428E-A9A8-1FE4AFFD13C1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21/79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D6C0167-E613-437E-AEE5-7F4F0C6AF882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CD98726-BCB8-4AD3-BC7C-823BF112F357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601" name="TB601">
            <a:extLst>
              <a:ext uri="{FF2B5EF4-FFF2-40B4-BE49-F238E27FC236}">
                <a16:creationId xmlns:a16="http://schemas.microsoft.com/office/drawing/2014/main" id="{70D7EDCC-B3E3-42D4-8969-47601D47A2CF}"/>
              </a:ext>
            </a:extLst>
          </p:cNvPr>
          <p:cNvSpPr>
            <a:spLocks noGrp="1"/>
          </p:cNvSpPr>
          <p:nvPr/>
        </p:nvSpPr>
        <p:spPr>
          <a:xfrm>
            <a:off x="5897880" y="1204076"/>
            <a:ext cx="5623560" cy="3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Cómo se lee la sensibilidad</a:t>
            </a:r>
          </a:p>
        </p:txBody>
      </p:sp>
      <p:sp>
        <p:nvSpPr>
          <p:cNvPr id="602" name="SH602">
            <a:extLst>
              <a:ext uri="{FF2B5EF4-FFF2-40B4-BE49-F238E27FC236}">
                <a16:creationId xmlns:a16="http://schemas.microsoft.com/office/drawing/2014/main" id="{922F3C76-0A48-4840-AB5B-0F28E50FB0E9}"/>
              </a:ext>
            </a:extLst>
          </p:cNvPr>
          <p:cNvSpPr>
            <a:spLocks noGrp="1"/>
          </p:cNvSpPr>
          <p:nvPr/>
        </p:nvSpPr>
        <p:spPr>
          <a:xfrm>
            <a:off x="5897880" y="2074076"/>
            <a:ext cx="1687853" cy="232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lIns="45720" tIns="18288" rIns="45720" bIns="18288" anchor="ctr">
            <a:normAutofit/>
          </a:bodyPr>
          <a:lstStyle/>
          <a:p>
            <a:endParaRPr sz="1500"/>
          </a:p>
        </p:txBody>
      </p:sp>
      <p:sp>
        <p:nvSpPr>
          <p:cNvPr id="603" name="SH603">
            <a:extLst>
              <a:ext uri="{FF2B5EF4-FFF2-40B4-BE49-F238E27FC236}">
                <a16:creationId xmlns:a16="http://schemas.microsoft.com/office/drawing/2014/main" id="{A4B47940-4814-454B-8692-20F22FA555A1}"/>
              </a:ext>
            </a:extLst>
          </p:cNvPr>
          <p:cNvSpPr>
            <a:spLocks noGrp="1"/>
          </p:cNvSpPr>
          <p:nvPr/>
        </p:nvSpPr>
        <p:spPr>
          <a:xfrm>
            <a:off x="7391172" y="2288076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04" name="SH604">
            <a:extLst>
              <a:ext uri="{FF2B5EF4-FFF2-40B4-BE49-F238E27FC236}">
                <a16:creationId xmlns:a16="http://schemas.microsoft.com/office/drawing/2014/main" id="{9B112AA6-C6A2-4843-8177-1A17B3565C13}"/>
              </a:ext>
            </a:extLst>
          </p:cNvPr>
          <p:cNvSpPr>
            <a:spLocks noGrp="1"/>
          </p:cNvSpPr>
          <p:nvPr/>
        </p:nvSpPr>
        <p:spPr>
          <a:xfrm>
            <a:off x="6667806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05" name="SH605">
            <a:extLst>
              <a:ext uri="{FF2B5EF4-FFF2-40B4-BE49-F238E27FC236}">
                <a16:creationId xmlns:a16="http://schemas.microsoft.com/office/drawing/2014/main" id="{7CBB9A57-5128-4AE7-853A-739DC84BD2E2}"/>
              </a:ext>
            </a:extLst>
          </p:cNvPr>
          <p:cNvSpPr>
            <a:spLocks noGrp="1"/>
          </p:cNvSpPr>
          <p:nvPr/>
        </p:nvSpPr>
        <p:spPr>
          <a:xfrm>
            <a:off x="6908928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06" name="SH606">
            <a:extLst>
              <a:ext uri="{FF2B5EF4-FFF2-40B4-BE49-F238E27FC236}">
                <a16:creationId xmlns:a16="http://schemas.microsoft.com/office/drawing/2014/main" id="{58429155-208C-474F-AB7D-D8F9A0BDEA38}"/>
              </a:ext>
            </a:extLst>
          </p:cNvPr>
          <p:cNvSpPr>
            <a:spLocks noGrp="1"/>
          </p:cNvSpPr>
          <p:nvPr/>
        </p:nvSpPr>
        <p:spPr>
          <a:xfrm>
            <a:off x="7150050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07" name="SH607">
            <a:extLst>
              <a:ext uri="{FF2B5EF4-FFF2-40B4-BE49-F238E27FC236}">
                <a16:creationId xmlns:a16="http://schemas.microsoft.com/office/drawing/2014/main" id="{3CC744E0-D0E0-4C9A-88F7-A9B5622C434A}"/>
              </a:ext>
            </a:extLst>
          </p:cNvPr>
          <p:cNvSpPr>
            <a:spLocks noGrp="1"/>
          </p:cNvSpPr>
          <p:nvPr/>
        </p:nvSpPr>
        <p:spPr>
          <a:xfrm>
            <a:off x="6185562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08" name="SH608">
            <a:extLst>
              <a:ext uri="{FF2B5EF4-FFF2-40B4-BE49-F238E27FC236}">
                <a16:creationId xmlns:a16="http://schemas.microsoft.com/office/drawing/2014/main" id="{67752AA1-4B9F-4172-9D56-90439ADEB022}"/>
              </a:ext>
            </a:extLst>
          </p:cNvPr>
          <p:cNvSpPr>
            <a:spLocks noGrp="1"/>
          </p:cNvSpPr>
          <p:nvPr/>
        </p:nvSpPr>
        <p:spPr>
          <a:xfrm>
            <a:off x="7391172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09" name="SH609">
            <a:extLst>
              <a:ext uri="{FF2B5EF4-FFF2-40B4-BE49-F238E27FC236}">
                <a16:creationId xmlns:a16="http://schemas.microsoft.com/office/drawing/2014/main" id="{72CEE3C3-7283-4C66-8569-0D4AB914594F}"/>
              </a:ext>
            </a:extLst>
          </p:cNvPr>
          <p:cNvSpPr>
            <a:spLocks noGrp="1"/>
          </p:cNvSpPr>
          <p:nvPr/>
        </p:nvSpPr>
        <p:spPr>
          <a:xfrm>
            <a:off x="5944440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10" name="SH610">
            <a:extLst>
              <a:ext uri="{FF2B5EF4-FFF2-40B4-BE49-F238E27FC236}">
                <a16:creationId xmlns:a16="http://schemas.microsoft.com/office/drawing/2014/main" id="{7684AB80-7374-48A3-B9F7-B2BC3A64E25F}"/>
              </a:ext>
            </a:extLst>
          </p:cNvPr>
          <p:cNvSpPr>
            <a:spLocks noGrp="1"/>
          </p:cNvSpPr>
          <p:nvPr/>
        </p:nvSpPr>
        <p:spPr>
          <a:xfrm>
            <a:off x="6426684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11" name="SH611">
            <a:extLst>
              <a:ext uri="{FF2B5EF4-FFF2-40B4-BE49-F238E27FC236}">
                <a16:creationId xmlns:a16="http://schemas.microsoft.com/office/drawing/2014/main" id="{A85E3D12-46F2-4FEA-9515-2E0216E6218D}"/>
              </a:ext>
            </a:extLst>
          </p:cNvPr>
          <p:cNvSpPr>
            <a:spLocks noGrp="1"/>
          </p:cNvSpPr>
          <p:nvPr/>
        </p:nvSpPr>
        <p:spPr>
          <a:xfrm>
            <a:off x="6667806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12" name="SH612">
            <a:extLst>
              <a:ext uri="{FF2B5EF4-FFF2-40B4-BE49-F238E27FC236}">
                <a16:creationId xmlns:a16="http://schemas.microsoft.com/office/drawing/2014/main" id="{4767195C-B80F-46A9-9549-41C7888DCAD3}"/>
              </a:ext>
            </a:extLst>
          </p:cNvPr>
          <p:cNvSpPr>
            <a:spLocks noGrp="1"/>
          </p:cNvSpPr>
          <p:nvPr/>
        </p:nvSpPr>
        <p:spPr>
          <a:xfrm>
            <a:off x="6908928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13" name="SH613">
            <a:extLst>
              <a:ext uri="{FF2B5EF4-FFF2-40B4-BE49-F238E27FC236}">
                <a16:creationId xmlns:a16="http://schemas.microsoft.com/office/drawing/2014/main" id="{2106D21A-8236-4A86-BB79-AC3186B8C941}"/>
              </a:ext>
            </a:extLst>
          </p:cNvPr>
          <p:cNvSpPr>
            <a:spLocks noGrp="1"/>
          </p:cNvSpPr>
          <p:nvPr/>
        </p:nvSpPr>
        <p:spPr>
          <a:xfrm>
            <a:off x="7150050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14" name="SH614">
            <a:extLst>
              <a:ext uri="{FF2B5EF4-FFF2-40B4-BE49-F238E27FC236}">
                <a16:creationId xmlns:a16="http://schemas.microsoft.com/office/drawing/2014/main" id="{A5D26A76-53F4-4053-8C3F-5A59C19C1DDB}"/>
              </a:ext>
            </a:extLst>
          </p:cNvPr>
          <p:cNvSpPr>
            <a:spLocks noGrp="1"/>
          </p:cNvSpPr>
          <p:nvPr/>
        </p:nvSpPr>
        <p:spPr>
          <a:xfrm>
            <a:off x="5944440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15" name="SH615">
            <a:extLst>
              <a:ext uri="{FF2B5EF4-FFF2-40B4-BE49-F238E27FC236}">
                <a16:creationId xmlns:a16="http://schemas.microsoft.com/office/drawing/2014/main" id="{CBC60EEF-9EFA-4DC4-BE2C-503ABD8AFB33}"/>
              </a:ext>
            </a:extLst>
          </p:cNvPr>
          <p:cNvSpPr>
            <a:spLocks noGrp="1"/>
          </p:cNvSpPr>
          <p:nvPr/>
        </p:nvSpPr>
        <p:spPr>
          <a:xfrm>
            <a:off x="7150050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16" name="SH616">
            <a:extLst>
              <a:ext uri="{FF2B5EF4-FFF2-40B4-BE49-F238E27FC236}">
                <a16:creationId xmlns:a16="http://schemas.microsoft.com/office/drawing/2014/main" id="{98042977-FE40-4F00-BFD3-E4DA46B19F4D}"/>
              </a:ext>
            </a:extLst>
          </p:cNvPr>
          <p:cNvSpPr>
            <a:spLocks noGrp="1"/>
          </p:cNvSpPr>
          <p:nvPr/>
        </p:nvSpPr>
        <p:spPr>
          <a:xfrm>
            <a:off x="7391172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17" name="SH617">
            <a:extLst>
              <a:ext uri="{FF2B5EF4-FFF2-40B4-BE49-F238E27FC236}">
                <a16:creationId xmlns:a16="http://schemas.microsoft.com/office/drawing/2014/main" id="{6A15D308-4FD1-4C28-A9D4-320EBFB93168}"/>
              </a:ext>
            </a:extLst>
          </p:cNvPr>
          <p:cNvSpPr>
            <a:spLocks noGrp="1"/>
          </p:cNvSpPr>
          <p:nvPr/>
        </p:nvSpPr>
        <p:spPr>
          <a:xfrm>
            <a:off x="6651806" y="2014076"/>
            <a:ext cx="180000" cy="2380000"/>
          </a:xfrm>
          <a:prstGeom prst="downArrow">
            <a:avLst>
              <a:gd name="adj1" fmla="val 50000"/>
              <a:gd name="adj2" fmla="val 5000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lIns="45720" tIns="18288" rIns="45720" bIns="18288" anchor="ctr">
            <a:normAutofit/>
          </a:bodyPr>
          <a:lstStyle/>
          <a:p>
            <a:endParaRPr sz="1500"/>
          </a:p>
        </p:txBody>
      </p:sp>
      <p:sp>
        <p:nvSpPr>
          <p:cNvPr id="618" name="SH618">
            <a:extLst>
              <a:ext uri="{FF2B5EF4-FFF2-40B4-BE49-F238E27FC236}">
                <a16:creationId xmlns:a16="http://schemas.microsoft.com/office/drawing/2014/main" id="{09CDD0DE-4DA2-41F8-B06D-B60FF13F8757}"/>
              </a:ext>
            </a:extLst>
          </p:cNvPr>
          <p:cNvSpPr>
            <a:spLocks noGrp="1"/>
          </p:cNvSpPr>
          <p:nvPr/>
        </p:nvSpPr>
        <p:spPr>
          <a:xfrm>
            <a:off x="5897880" y="4394076"/>
            <a:ext cx="1687853" cy="36000"/>
          </a:xfrm>
          <a:prstGeom prst="rect">
            <a:avLst/>
          </a:prstGeom>
          <a:solidFill>
            <a:srgbClr val="44544C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19" name="TB619">
            <a:extLst>
              <a:ext uri="{FF2B5EF4-FFF2-40B4-BE49-F238E27FC236}">
                <a16:creationId xmlns:a16="http://schemas.microsoft.com/office/drawing/2014/main" id="{52FE7134-34F4-4102-87A6-D1AFE9B46A07}"/>
              </a:ext>
            </a:extLst>
          </p:cNvPr>
          <p:cNvSpPr>
            <a:spLocks noGrp="1"/>
          </p:cNvSpPr>
          <p:nvPr/>
        </p:nvSpPr>
        <p:spPr>
          <a:xfrm>
            <a:off x="5897880" y="1664076"/>
            <a:ext cx="1687853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6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0,90</a:t>
            </a:r>
          </a:p>
        </p:txBody>
      </p:sp>
      <p:sp>
        <p:nvSpPr>
          <p:cNvPr id="620" name="TB620">
            <a:extLst>
              <a:ext uri="{FF2B5EF4-FFF2-40B4-BE49-F238E27FC236}">
                <a16:creationId xmlns:a16="http://schemas.microsoft.com/office/drawing/2014/main" id="{8DBC9DF6-5F53-4FDE-BAAD-48EB268EED3E}"/>
              </a:ext>
            </a:extLst>
          </p:cNvPr>
          <p:cNvSpPr>
            <a:spLocks noGrp="1"/>
          </p:cNvSpPr>
          <p:nvPr/>
        </p:nvSpPr>
        <p:spPr>
          <a:xfrm>
            <a:off x="5897880" y="4514076"/>
            <a:ext cx="1687853" cy="3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usable</a:t>
            </a:r>
          </a:p>
        </p:txBody>
      </p:sp>
      <p:sp>
        <p:nvSpPr>
          <p:cNvPr id="621" name="TB621">
            <a:extLst>
              <a:ext uri="{FF2B5EF4-FFF2-40B4-BE49-F238E27FC236}">
                <a16:creationId xmlns:a16="http://schemas.microsoft.com/office/drawing/2014/main" id="{3BA57734-2172-46F7-A240-7305F3ECDFD3}"/>
              </a:ext>
            </a:extLst>
          </p:cNvPr>
          <p:cNvSpPr>
            <a:spLocks noGrp="1"/>
          </p:cNvSpPr>
          <p:nvPr/>
        </p:nvSpPr>
        <p:spPr>
          <a:xfrm>
            <a:off x="5897880" y="4779996"/>
            <a:ext cx="1687853" cy="3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400" b="0" i="0" dirty="0" err="1">
                <a:latin typeface="Arial"/>
                <a:ea typeface="Arial"/>
                <a:cs typeface="Arial"/>
              </a:rPr>
              <a:t>dosel</a:t>
            </a:r>
            <a:r>
              <a:rPr sz="1400" b="0" i="0" dirty="0">
                <a:latin typeface="Arial"/>
                <a:ea typeface="Arial"/>
                <a:cs typeface="Arial"/>
              </a:rPr>
              <a:t> </a:t>
            </a:r>
            <a:r>
              <a:rPr sz="1400" b="0" i="0" dirty="0" err="1">
                <a:latin typeface="Arial"/>
                <a:ea typeface="Arial"/>
                <a:cs typeface="Arial"/>
              </a:rPr>
              <a:t>abierto</a:t>
            </a:r>
            <a:endParaRPr sz="1400" b="0" i="0" dirty="0">
              <a:latin typeface="Arial"/>
              <a:ea typeface="Arial"/>
              <a:cs typeface="Arial"/>
            </a:endParaRPr>
          </a:p>
        </p:txBody>
      </p:sp>
      <p:sp>
        <p:nvSpPr>
          <p:cNvPr id="622" name="SH622">
            <a:extLst>
              <a:ext uri="{FF2B5EF4-FFF2-40B4-BE49-F238E27FC236}">
                <a16:creationId xmlns:a16="http://schemas.microsoft.com/office/drawing/2014/main" id="{6A070095-ED52-4A8D-BEAB-0260BC989418}"/>
              </a:ext>
            </a:extLst>
          </p:cNvPr>
          <p:cNvSpPr>
            <a:spLocks noGrp="1"/>
          </p:cNvSpPr>
          <p:nvPr/>
        </p:nvSpPr>
        <p:spPr>
          <a:xfrm>
            <a:off x="7865733" y="2074076"/>
            <a:ext cx="1687853" cy="232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lIns="45720" tIns="18288" rIns="45720" bIns="18288" anchor="ctr">
            <a:normAutofit/>
          </a:bodyPr>
          <a:lstStyle/>
          <a:p>
            <a:endParaRPr sz="1500"/>
          </a:p>
        </p:txBody>
      </p:sp>
      <p:sp>
        <p:nvSpPr>
          <p:cNvPr id="623" name="SH623">
            <a:extLst>
              <a:ext uri="{FF2B5EF4-FFF2-40B4-BE49-F238E27FC236}">
                <a16:creationId xmlns:a16="http://schemas.microsoft.com/office/drawing/2014/main" id="{20EF4E04-A96E-4BDA-9831-5B0B0C3DB029}"/>
              </a:ext>
            </a:extLst>
          </p:cNvPr>
          <p:cNvSpPr>
            <a:spLocks noGrp="1"/>
          </p:cNvSpPr>
          <p:nvPr/>
        </p:nvSpPr>
        <p:spPr>
          <a:xfrm>
            <a:off x="7912293" y="2288076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24" name="SH624">
            <a:extLst>
              <a:ext uri="{FF2B5EF4-FFF2-40B4-BE49-F238E27FC236}">
                <a16:creationId xmlns:a16="http://schemas.microsoft.com/office/drawing/2014/main" id="{8EC6D463-61D8-4923-99EE-7E02A1E04966}"/>
              </a:ext>
            </a:extLst>
          </p:cNvPr>
          <p:cNvSpPr>
            <a:spLocks noGrp="1"/>
          </p:cNvSpPr>
          <p:nvPr/>
        </p:nvSpPr>
        <p:spPr>
          <a:xfrm>
            <a:off x="8153415" y="2288076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25" name="SH625">
            <a:extLst>
              <a:ext uri="{FF2B5EF4-FFF2-40B4-BE49-F238E27FC236}">
                <a16:creationId xmlns:a16="http://schemas.microsoft.com/office/drawing/2014/main" id="{6CA496CC-C463-4372-B9ED-A6F3832A67E7}"/>
              </a:ext>
            </a:extLst>
          </p:cNvPr>
          <p:cNvSpPr>
            <a:spLocks noGrp="1"/>
          </p:cNvSpPr>
          <p:nvPr/>
        </p:nvSpPr>
        <p:spPr>
          <a:xfrm>
            <a:off x="8635659" y="2288076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26" name="SH626">
            <a:extLst>
              <a:ext uri="{FF2B5EF4-FFF2-40B4-BE49-F238E27FC236}">
                <a16:creationId xmlns:a16="http://schemas.microsoft.com/office/drawing/2014/main" id="{1E292112-9F4B-4DB4-BC5D-9E1901C4BD39}"/>
              </a:ext>
            </a:extLst>
          </p:cNvPr>
          <p:cNvSpPr>
            <a:spLocks noGrp="1"/>
          </p:cNvSpPr>
          <p:nvPr/>
        </p:nvSpPr>
        <p:spPr>
          <a:xfrm>
            <a:off x="9117903" y="2288076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27" name="SH627">
            <a:extLst>
              <a:ext uri="{FF2B5EF4-FFF2-40B4-BE49-F238E27FC236}">
                <a16:creationId xmlns:a16="http://schemas.microsoft.com/office/drawing/2014/main" id="{7C13D49E-9D13-457D-99E7-13A2A490B014}"/>
              </a:ext>
            </a:extLst>
          </p:cNvPr>
          <p:cNvSpPr>
            <a:spLocks noGrp="1"/>
          </p:cNvSpPr>
          <p:nvPr/>
        </p:nvSpPr>
        <p:spPr>
          <a:xfrm>
            <a:off x="8153415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28" name="SH628">
            <a:extLst>
              <a:ext uri="{FF2B5EF4-FFF2-40B4-BE49-F238E27FC236}">
                <a16:creationId xmlns:a16="http://schemas.microsoft.com/office/drawing/2014/main" id="{06DEED22-A9E4-40D4-97C9-156A266DBA30}"/>
              </a:ext>
            </a:extLst>
          </p:cNvPr>
          <p:cNvSpPr>
            <a:spLocks noGrp="1"/>
          </p:cNvSpPr>
          <p:nvPr/>
        </p:nvSpPr>
        <p:spPr>
          <a:xfrm>
            <a:off x="8394537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29" name="SH629">
            <a:extLst>
              <a:ext uri="{FF2B5EF4-FFF2-40B4-BE49-F238E27FC236}">
                <a16:creationId xmlns:a16="http://schemas.microsoft.com/office/drawing/2014/main" id="{8293884C-BE10-4518-A5FA-E9A8EE9D30C8}"/>
              </a:ext>
            </a:extLst>
          </p:cNvPr>
          <p:cNvSpPr>
            <a:spLocks noGrp="1"/>
          </p:cNvSpPr>
          <p:nvPr/>
        </p:nvSpPr>
        <p:spPr>
          <a:xfrm>
            <a:off x="8876781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30" name="SH630">
            <a:extLst>
              <a:ext uri="{FF2B5EF4-FFF2-40B4-BE49-F238E27FC236}">
                <a16:creationId xmlns:a16="http://schemas.microsoft.com/office/drawing/2014/main" id="{D4A6A977-262E-4175-A593-939F4D4667D4}"/>
              </a:ext>
            </a:extLst>
          </p:cNvPr>
          <p:cNvSpPr>
            <a:spLocks noGrp="1"/>
          </p:cNvSpPr>
          <p:nvPr/>
        </p:nvSpPr>
        <p:spPr>
          <a:xfrm>
            <a:off x="9359025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31" name="SH631">
            <a:extLst>
              <a:ext uri="{FF2B5EF4-FFF2-40B4-BE49-F238E27FC236}">
                <a16:creationId xmlns:a16="http://schemas.microsoft.com/office/drawing/2014/main" id="{0A94E8C1-FFAD-4208-B00B-BB3D9967C456}"/>
              </a:ext>
            </a:extLst>
          </p:cNvPr>
          <p:cNvSpPr>
            <a:spLocks noGrp="1"/>
          </p:cNvSpPr>
          <p:nvPr/>
        </p:nvSpPr>
        <p:spPr>
          <a:xfrm>
            <a:off x="7912293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32" name="SH632">
            <a:extLst>
              <a:ext uri="{FF2B5EF4-FFF2-40B4-BE49-F238E27FC236}">
                <a16:creationId xmlns:a16="http://schemas.microsoft.com/office/drawing/2014/main" id="{BC46D350-AA16-42E3-AF46-B10F844088E3}"/>
              </a:ext>
            </a:extLst>
          </p:cNvPr>
          <p:cNvSpPr>
            <a:spLocks noGrp="1"/>
          </p:cNvSpPr>
          <p:nvPr/>
        </p:nvSpPr>
        <p:spPr>
          <a:xfrm>
            <a:off x="8153415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33" name="SH633">
            <a:extLst>
              <a:ext uri="{FF2B5EF4-FFF2-40B4-BE49-F238E27FC236}">
                <a16:creationId xmlns:a16="http://schemas.microsoft.com/office/drawing/2014/main" id="{A7E94BF6-E27C-4B5F-B8D8-41DB11E2A319}"/>
              </a:ext>
            </a:extLst>
          </p:cNvPr>
          <p:cNvSpPr>
            <a:spLocks noGrp="1"/>
          </p:cNvSpPr>
          <p:nvPr/>
        </p:nvSpPr>
        <p:spPr>
          <a:xfrm>
            <a:off x="8635659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34" name="SH634">
            <a:extLst>
              <a:ext uri="{FF2B5EF4-FFF2-40B4-BE49-F238E27FC236}">
                <a16:creationId xmlns:a16="http://schemas.microsoft.com/office/drawing/2014/main" id="{A464C5BB-AE0E-4339-B4E2-39FDF9B51814}"/>
              </a:ext>
            </a:extLst>
          </p:cNvPr>
          <p:cNvSpPr>
            <a:spLocks noGrp="1"/>
          </p:cNvSpPr>
          <p:nvPr/>
        </p:nvSpPr>
        <p:spPr>
          <a:xfrm>
            <a:off x="8876781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35" name="SH635">
            <a:extLst>
              <a:ext uri="{FF2B5EF4-FFF2-40B4-BE49-F238E27FC236}">
                <a16:creationId xmlns:a16="http://schemas.microsoft.com/office/drawing/2014/main" id="{20CF0116-7EF7-44CC-8CD5-72CE5EB9F3CA}"/>
              </a:ext>
            </a:extLst>
          </p:cNvPr>
          <p:cNvSpPr>
            <a:spLocks noGrp="1"/>
          </p:cNvSpPr>
          <p:nvPr/>
        </p:nvSpPr>
        <p:spPr>
          <a:xfrm>
            <a:off x="9117903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36" name="SH636">
            <a:extLst>
              <a:ext uri="{FF2B5EF4-FFF2-40B4-BE49-F238E27FC236}">
                <a16:creationId xmlns:a16="http://schemas.microsoft.com/office/drawing/2014/main" id="{1906DF00-DC29-4FE5-8054-B555DE7974CF}"/>
              </a:ext>
            </a:extLst>
          </p:cNvPr>
          <p:cNvSpPr>
            <a:spLocks noGrp="1"/>
          </p:cNvSpPr>
          <p:nvPr/>
        </p:nvSpPr>
        <p:spPr>
          <a:xfrm>
            <a:off x="8153415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37" name="SH637">
            <a:extLst>
              <a:ext uri="{FF2B5EF4-FFF2-40B4-BE49-F238E27FC236}">
                <a16:creationId xmlns:a16="http://schemas.microsoft.com/office/drawing/2014/main" id="{EFDD183F-085E-4300-AD91-B8895E74E0DD}"/>
              </a:ext>
            </a:extLst>
          </p:cNvPr>
          <p:cNvSpPr>
            <a:spLocks noGrp="1"/>
          </p:cNvSpPr>
          <p:nvPr/>
        </p:nvSpPr>
        <p:spPr>
          <a:xfrm>
            <a:off x="8394537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38" name="SH638">
            <a:extLst>
              <a:ext uri="{FF2B5EF4-FFF2-40B4-BE49-F238E27FC236}">
                <a16:creationId xmlns:a16="http://schemas.microsoft.com/office/drawing/2014/main" id="{37CD51FB-1645-42C9-B3B1-4901D9FCB5D0}"/>
              </a:ext>
            </a:extLst>
          </p:cNvPr>
          <p:cNvSpPr>
            <a:spLocks noGrp="1"/>
          </p:cNvSpPr>
          <p:nvPr/>
        </p:nvSpPr>
        <p:spPr>
          <a:xfrm>
            <a:off x="8635659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39" name="SH639">
            <a:extLst>
              <a:ext uri="{FF2B5EF4-FFF2-40B4-BE49-F238E27FC236}">
                <a16:creationId xmlns:a16="http://schemas.microsoft.com/office/drawing/2014/main" id="{F51C6877-2FD5-4297-AC72-31A16ABCF50B}"/>
              </a:ext>
            </a:extLst>
          </p:cNvPr>
          <p:cNvSpPr>
            <a:spLocks noGrp="1"/>
          </p:cNvSpPr>
          <p:nvPr/>
        </p:nvSpPr>
        <p:spPr>
          <a:xfrm>
            <a:off x="8876781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40" name="SH640">
            <a:extLst>
              <a:ext uri="{FF2B5EF4-FFF2-40B4-BE49-F238E27FC236}">
                <a16:creationId xmlns:a16="http://schemas.microsoft.com/office/drawing/2014/main" id="{54F8C69B-6051-4103-B23C-154A4E48A06D}"/>
              </a:ext>
            </a:extLst>
          </p:cNvPr>
          <p:cNvSpPr>
            <a:spLocks noGrp="1"/>
          </p:cNvSpPr>
          <p:nvPr/>
        </p:nvSpPr>
        <p:spPr>
          <a:xfrm>
            <a:off x="9359025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41" name="SH641">
            <a:extLst>
              <a:ext uri="{FF2B5EF4-FFF2-40B4-BE49-F238E27FC236}">
                <a16:creationId xmlns:a16="http://schemas.microsoft.com/office/drawing/2014/main" id="{59828F9C-5723-4E9D-B34A-00F809D00EF2}"/>
              </a:ext>
            </a:extLst>
          </p:cNvPr>
          <p:cNvSpPr>
            <a:spLocks noGrp="1"/>
          </p:cNvSpPr>
          <p:nvPr/>
        </p:nvSpPr>
        <p:spPr>
          <a:xfrm>
            <a:off x="7912293" y="3461409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42" name="SH642">
            <a:extLst>
              <a:ext uri="{FF2B5EF4-FFF2-40B4-BE49-F238E27FC236}">
                <a16:creationId xmlns:a16="http://schemas.microsoft.com/office/drawing/2014/main" id="{92A7ACFD-BAAC-4C56-9F00-432708AB574E}"/>
              </a:ext>
            </a:extLst>
          </p:cNvPr>
          <p:cNvSpPr>
            <a:spLocks noGrp="1"/>
          </p:cNvSpPr>
          <p:nvPr/>
        </p:nvSpPr>
        <p:spPr>
          <a:xfrm>
            <a:off x="8153415" y="3461409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43" name="SH643">
            <a:extLst>
              <a:ext uri="{FF2B5EF4-FFF2-40B4-BE49-F238E27FC236}">
                <a16:creationId xmlns:a16="http://schemas.microsoft.com/office/drawing/2014/main" id="{2B7CCF83-C467-410C-A774-2169841FF073}"/>
              </a:ext>
            </a:extLst>
          </p:cNvPr>
          <p:cNvSpPr>
            <a:spLocks noGrp="1"/>
          </p:cNvSpPr>
          <p:nvPr/>
        </p:nvSpPr>
        <p:spPr>
          <a:xfrm>
            <a:off x="8394537" y="3461409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44" name="SH644">
            <a:extLst>
              <a:ext uri="{FF2B5EF4-FFF2-40B4-BE49-F238E27FC236}">
                <a16:creationId xmlns:a16="http://schemas.microsoft.com/office/drawing/2014/main" id="{C4DC4FAF-1D0B-4032-9127-871575479AE5}"/>
              </a:ext>
            </a:extLst>
          </p:cNvPr>
          <p:cNvSpPr>
            <a:spLocks noGrp="1"/>
          </p:cNvSpPr>
          <p:nvPr/>
        </p:nvSpPr>
        <p:spPr>
          <a:xfrm>
            <a:off x="8876781" y="3461409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45" name="SH645">
            <a:extLst>
              <a:ext uri="{FF2B5EF4-FFF2-40B4-BE49-F238E27FC236}">
                <a16:creationId xmlns:a16="http://schemas.microsoft.com/office/drawing/2014/main" id="{E85DE216-3EEC-4619-A401-B51B1406D865}"/>
              </a:ext>
            </a:extLst>
          </p:cNvPr>
          <p:cNvSpPr>
            <a:spLocks noGrp="1"/>
          </p:cNvSpPr>
          <p:nvPr/>
        </p:nvSpPr>
        <p:spPr>
          <a:xfrm>
            <a:off x="9117903" y="3461409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46" name="SH646">
            <a:extLst>
              <a:ext uri="{FF2B5EF4-FFF2-40B4-BE49-F238E27FC236}">
                <a16:creationId xmlns:a16="http://schemas.microsoft.com/office/drawing/2014/main" id="{CB73FF46-5364-4E27-B9CD-317BE57AFFDB}"/>
              </a:ext>
            </a:extLst>
          </p:cNvPr>
          <p:cNvSpPr>
            <a:spLocks noGrp="1"/>
          </p:cNvSpPr>
          <p:nvPr/>
        </p:nvSpPr>
        <p:spPr>
          <a:xfrm>
            <a:off x="9359025" y="3461409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47" name="SH647">
            <a:extLst>
              <a:ext uri="{FF2B5EF4-FFF2-40B4-BE49-F238E27FC236}">
                <a16:creationId xmlns:a16="http://schemas.microsoft.com/office/drawing/2014/main" id="{121DCF94-ED30-454F-AF6A-65A452FA9670}"/>
              </a:ext>
            </a:extLst>
          </p:cNvPr>
          <p:cNvSpPr>
            <a:spLocks noGrp="1"/>
          </p:cNvSpPr>
          <p:nvPr/>
        </p:nvSpPr>
        <p:spPr>
          <a:xfrm>
            <a:off x="7912293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48" name="SH648">
            <a:extLst>
              <a:ext uri="{FF2B5EF4-FFF2-40B4-BE49-F238E27FC236}">
                <a16:creationId xmlns:a16="http://schemas.microsoft.com/office/drawing/2014/main" id="{8F573412-B962-42EF-B60B-8C909D8FAA36}"/>
              </a:ext>
            </a:extLst>
          </p:cNvPr>
          <p:cNvSpPr>
            <a:spLocks noGrp="1"/>
          </p:cNvSpPr>
          <p:nvPr/>
        </p:nvSpPr>
        <p:spPr>
          <a:xfrm>
            <a:off x="8153415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49" name="SH649">
            <a:extLst>
              <a:ext uri="{FF2B5EF4-FFF2-40B4-BE49-F238E27FC236}">
                <a16:creationId xmlns:a16="http://schemas.microsoft.com/office/drawing/2014/main" id="{F96282EA-43A6-41AA-9FD6-BC4BD9859B0F}"/>
              </a:ext>
            </a:extLst>
          </p:cNvPr>
          <p:cNvSpPr>
            <a:spLocks noGrp="1"/>
          </p:cNvSpPr>
          <p:nvPr/>
        </p:nvSpPr>
        <p:spPr>
          <a:xfrm>
            <a:off x="8394537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50" name="SH650">
            <a:extLst>
              <a:ext uri="{FF2B5EF4-FFF2-40B4-BE49-F238E27FC236}">
                <a16:creationId xmlns:a16="http://schemas.microsoft.com/office/drawing/2014/main" id="{6A311718-0DA1-4872-8B57-C0D52DF1F55B}"/>
              </a:ext>
            </a:extLst>
          </p:cNvPr>
          <p:cNvSpPr>
            <a:spLocks noGrp="1"/>
          </p:cNvSpPr>
          <p:nvPr/>
        </p:nvSpPr>
        <p:spPr>
          <a:xfrm>
            <a:off x="9117903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51" name="SH651">
            <a:extLst>
              <a:ext uri="{FF2B5EF4-FFF2-40B4-BE49-F238E27FC236}">
                <a16:creationId xmlns:a16="http://schemas.microsoft.com/office/drawing/2014/main" id="{267EA3CB-6506-441C-8927-553FDE2B8D91}"/>
              </a:ext>
            </a:extLst>
          </p:cNvPr>
          <p:cNvSpPr>
            <a:spLocks noGrp="1"/>
          </p:cNvSpPr>
          <p:nvPr/>
        </p:nvSpPr>
        <p:spPr>
          <a:xfrm>
            <a:off x="8619659" y="2014076"/>
            <a:ext cx="180000" cy="2380000"/>
          </a:xfrm>
          <a:prstGeom prst="downArrow">
            <a:avLst>
              <a:gd name="adj1" fmla="val 50000"/>
              <a:gd name="adj2" fmla="val 5000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lIns="45720" tIns="18288" rIns="45720" bIns="18288" anchor="ctr">
            <a:normAutofit/>
          </a:bodyPr>
          <a:lstStyle/>
          <a:p>
            <a:endParaRPr sz="1500"/>
          </a:p>
        </p:txBody>
      </p:sp>
      <p:sp>
        <p:nvSpPr>
          <p:cNvPr id="652" name="SH652">
            <a:extLst>
              <a:ext uri="{FF2B5EF4-FFF2-40B4-BE49-F238E27FC236}">
                <a16:creationId xmlns:a16="http://schemas.microsoft.com/office/drawing/2014/main" id="{78BE37E0-0D75-4D79-863C-EC5004A7B7F8}"/>
              </a:ext>
            </a:extLst>
          </p:cNvPr>
          <p:cNvSpPr>
            <a:spLocks noGrp="1"/>
          </p:cNvSpPr>
          <p:nvPr/>
        </p:nvSpPr>
        <p:spPr>
          <a:xfrm>
            <a:off x="7865733" y="4394076"/>
            <a:ext cx="1687853" cy="36000"/>
          </a:xfrm>
          <a:prstGeom prst="rect">
            <a:avLst/>
          </a:prstGeom>
          <a:solidFill>
            <a:srgbClr val="44544C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53" name="TB653">
            <a:extLst>
              <a:ext uri="{FF2B5EF4-FFF2-40B4-BE49-F238E27FC236}">
                <a16:creationId xmlns:a16="http://schemas.microsoft.com/office/drawing/2014/main" id="{6CBEC5BC-7ACD-4C5E-AF9A-18EE1DF3C3CD}"/>
              </a:ext>
            </a:extLst>
          </p:cNvPr>
          <p:cNvSpPr>
            <a:spLocks noGrp="1"/>
          </p:cNvSpPr>
          <p:nvPr/>
        </p:nvSpPr>
        <p:spPr>
          <a:xfrm>
            <a:off x="7865733" y="1664076"/>
            <a:ext cx="1687853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6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0,95</a:t>
            </a:r>
          </a:p>
        </p:txBody>
      </p:sp>
      <p:sp>
        <p:nvSpPr>
          <p:cNvPr id="654" name="TB654">
            <a:extLst>
              <a:ext uri="{FF2B5EF4-FFF2-40B4-BE49-F238E27FC236}">
                <a16:creationId xmlns:a16="http://schemas.microsoft.com/office/drawing/2014/main" id="{AFE691E2-2E46-4AAC-8631-6EFFB56BA13C}"/>
              </a:ext>
            </a:extLst>
          </p:cNvPr>
          <p:cNvSpPr>
            <a:spLocks noGrp="1"/>
          </p:cNvSpPr>
          <p:nvPr/>
        </p:nvSpPr>
        <p:spPr>
          <a:xfrm>
            <a:off x="7865733" y="4514076"/>
            <a:ext cx="1687853" cy="3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mejor</a:t>
            </a:r>
          </a:p>
        </p:txBody>
      </p:sp>
      <p:sp>
        <p:nvSpPr>
          <p:cNvPr id="655" name="TB655">
            <a:extLst>
              <a:ext uri="{FF2B5EF4-FFF2-40B4-BE49-F238E27FC236}">
                <a16:creationId xmlns:a16="http://schemas.microsoft.com/office/drawing/2014/main" id="{C07E742D-B3F8-40F1-8DF3-644627FAB2F4}"/>
              </a:ext>
            </a:extLst>
          </p:cNvPr>
          <p:cNvSpPr>
            <a:spLocks noGrp="1"/>
          </p:cNvSpPr>
          <p:nvPr/>
        </p:nvSpPr>
        <p:spPr>
          <a:xfrm>
            <a:off x="7865733" y="4779996"/>
            <a:ext cx="1687853" cy="3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400" b="0" i="0">
                <a:latin typeface="Arial"/>
                <a:ea typeface="Arial"/>
                <a:cs typeface="Arial"/>
              </a:rPr>
              <a:t>umbral habitual</a:t>
            </a:r>
          </a:p>
        </p:txBody>
      </p:sp>
      <p:sp>
        <p:nvSpPr>
          <p:cNvPr id="656" name="SH656">
            <a:extLst>
              <a:ext uri="{FF2B5EF4-FFF2-40B4-BE49-F238E27FC236}">
                <a16:creationId xmlns:a16="http://schemas.microsoft.com/office/drawing/2014/main" id="{C50A6C3F-C446-4CFA-949E-E0CAA822DCC1}"/>
              </a:ext>
            </a:extLst>
          </p:cNvPr>
          <p:cNvSpPr>
            <a:spLocks noGrp="1"/>
          </p:cNvSpPr>
          <p:nvPr/>
        </p:nvSpPr>
        <p:spPr>
          <a:xfrm>
            <a:off x="9833586" y="2074076"/>
            <a:ext cx="1687853" cy="232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lIns="45720" tIns="18288" rIns="45720" bIns="18288" anchor="ctr">
            <a:normAutofit/>
          </a:bodyPr>
          <a:lstStyle/>
          <a:p>
            <a:endParaRPr sz="1500"/>
          </a:p>
        </p:txBody>
      </p:sp>
      <p:sp>
        <p:nvSpPr>
          <p:cNvPr id="657" name="SH657">
            <a:extLst>
              <a:ext uri="{FF2B5EF4-FFF2-40B4-BE49-F238E27FC236}">
                <a16:creationId xmlns:a16="http://schemas.microsoft.com/office/drawing/2014/main" id="{1A8570DC-D289-4D92-8584-9ABC7C7F6918}"/>
              </a:ext>
            </a:extLst>
          </p:cNvPr>
          <p:cNvSpPr>
            <a:spLocks noGrp="1"/>
          </p:cNvSpPr>
          <p:nvPr/>
        </p:nvSpPr>
        <p:spPr>
          <a:xfrm>
            <a:off x="9880146" y="2288076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58" name="SH658">
            <a:extLst>
              <a:ext uri="{FF2B5EF4-FFF2-40B4-BE49-F238E27FC236}">
                <a16:creationId xmlns:a16="http://schemas.microsoft.com/office/drawing/2014/main" id="{50A4BE3D-8698-4C9C-A0FA-337DD2DB40E7}"/>
              </a:ext>
            </a:extLst>
          </p:cNvPr>
          <p:cNvSpPr>
            <a:spLocks noGrp="1"/>
          </p:cNvSpPr>
          <p:nvPr/>
        </p:nvSpPr>
        <p:spPr>
          <a:xfrm>
            <a:off x="10121268" y="2288076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59" name="SH659">
            <a:extLst>
              <a:ext uri="{FF2B5EF4-FFF2-40B4-BE49-F238E27FC236}">
                <a16:creationId xmlns:a16="http://schemas.microsoft.com/office/drawing/2014/main" id="{E1641800-DA9D-40FD-890E-3DFC4B1717AE}"/>
              </a:ext>
            </a:extLst>
          </p:cNvPr>
          <p:cNvSpPr>
            <a:spLocks noGrp="1"/>
          </p:cNvSpPr>
          <p:nvPr/>
        </p:nvSpPr>
        <p:spPr>
          <a:xfrm>
            <a:off x="10362390" y="2288076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60" name="SH660">
            <a:extLst>
              <a:ext uri="{FF2B5EF4-FFF2-40B4-BE49-F238E27FC236}">
                <a16:creationId xmlns:a16="http://schemas.microsoft.com/office/drawing/2014/main" id="{A2972D99-D87C-4355-B72A-F85B15C10E3C}"/>
              </a:ext>
            </a:extLst>
          </p:cNvPr>
          <p:cNvSpPr>
            <a:spLocks noGrp="1"/>
          </p:cNvSpPr>
          <p:nvPr/>
        </p:nvSpPr>
        <p:spPr>
          <a:xfrm>
            <a:off x="10603512" y="2288076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61" name="SH661">
            <a:extLst>
              <a:ext uri="{FF2B5EF4-FFF2-40B4-BE49-F238E27FC236}">
                <a16:creationId xmlns:a16="http://schemas.microsoft.com/office/drawing/2014/main" id="{D39C4F4A-362B-404F-A7C5-BA95A70A3FB7}"/>
              </a:ext>
            </a:extLst>
          </p:cNvPr>
          <p:cNvSpPr>
            <a:spLocks noGrp="1"/>
          </p:cNvSpPr>
          <p:nvPr/>
        </p:nvSpPr>
        <p:spPr>
          <a:xfrm>
            <a:off x="10844634" y="2288076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62" name="SH662">
            <a:extLst>
              <a:ext uri="{FF2B5EF4-FFF2-40B4-BE49-F238E27FC236}">
                <a16:creationId xmlns:a16="http://schemas.microsoft.com/office/drawing/2014/main" id="{B8B5EA89-A688-48AB-A406-55A5DEE9DDF9}"/>
              </a:ext>
            </a:extLst>
          </p:cNvPr>
          <p:cNvSpPr>
            <a:spLocks noGrp="1"/>
          </p:cNvSpPr>
          <p:nvPr/>
        </p:nvSpPr>
        <p:spPr>
          <a:xfrm>
            <a:off x="11085756" y="2288076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63" name="SH663">
            <a:extLst>
              <a:ext uri="{FF2B5EF4-FFF2-40B4-BE49-F238E27FC236}">
                <a16:creationId xmlns:a16="http://schemas.microsoft.com/office/drawing/2014/main" id="{D2D50A01-BD61-4559-996E-D7A7CC68036E}"/>
              </a:ext>
            </a:extLst>
          </p:cNvPr>
          <p:cNvSpPr>
            <a:spLocks noGrp="1"/>
          </p:cNvSpPr>
          <p:nvPr/>
        </p:nvSpPr>
        <p:spPr>
          <a:xfrm>
            <a:off x="11326878" y="2288076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64" name="SH664">
            <a:extLst>
              <a:ext uri="{FF2B5EF4-FFF2-40B4-BE49-F238E27FC236}">
                <a16:creationId xmlns:a16="http://schemas.microsoft.com/office/drawing/2014/main" id="{DD9678C5-DE0A-4132-AEB1-4FB44309EED4}"/>
              </a:ext>
            </a:extLst>
          </p:cNvPr>
          <p:cNvSpPr>
            <a:spLocks noGrp="1"/>
          </p:cNvSpPr>
          <p:nvPr/>
        </p:nvSpPr>
        <p:spPr>
          <a:xfrm>
            <a:off x="9880146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65" name="SH665">
            <a:extLst>
              <a:ext uri="{FF2B5EF4-FFF2-40B4-BE49-F238E27FC236}">
                <a16:creationId xmlns:a16="http://schemas.microsoft.com/office/drawing/2014/main" id="{8B7DC43E-4547-4980-AAB8-32F1A3D80A4F}"/>
              </a:ext>
            </a:extLst>
          </p:cNvPr>
          <p:cNvSpPr>
            <a:spLocks noGrp="1"/>
          </p:cNvSpPr>
          <p:nvPr/>
        </p:nvSpPr>
        <p:spPr>
          <a:xfrm>
            <a:off x="10121268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66" name="SH666">
            <a:extLst>
              <a:ext uri="{FF2B5EF4-FFF2-40B4-BE49-F238E27FC236}">
                <a16:creationId xmlns:a16="http://schemas.microsoft.com/office/drawing/2014/main" id="{89AB5331-44A7-41D7-B005-A6FC8214E1C4}"/>
              </a:ext>
            </a:extLst>
          </p:cNvPr>
          <p:cNvSpPr>
            <a:spLocks noGrp="1"/>
          </p:cNvSpPr>
          <p:nvPr/>
        </p:nvSpPr>
        <p:spPr>
          <a:xfrm>
            <a:off x="10362390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67" name="SH667">
            <a:extLst>
              <a:ext uri="{FF2B5EF4-FFF2-40B4-BE49-F238E27FC236}">
                <a16:creationId xmlns:a16="http://schemas.microsoft.com/office/drawing/2014/main" id="{E862E8F5-25A3-4284-B6D9-9B88A6ED0DFA}"/>
              </a:ext>
            </a:extLst>
          </p:cNvPr>
          <p:cNvSpPr>
            <a:spLocks noGrp="1"/>
          </p:cNvSpPr>
          <p:nvPr/>
        </p:nvSpPr>
        <p:spPr>
          <a:xfrm>
            <a:off x="10603512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68" name="SH668">
            <a:extLst>
              <a:ext uri="{FF2B5EF4-FFF2-40B4-BE49-F238E27FC236}">
                <a16:creationId xmlns:a16="http://schemas.microsoft.com/office/drawing/2014/main" id="{86AA1326-5FE5-4D77-A005-216CA158E285}"/>
              </a:ext>
            </a:extLst>
          </p:cNvPr>
          <p:cNvSpPr>
            <a:spLocks noGrp="1"/>
          </p:cNvSpPr>
          <p:nvPr/>
        </p:nvSpPr>
        <p:spPr>
          <a:xfrm>
            <a:off x="10844634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69" name="SH669">
            <a:extLst>
              <a:ext uri="{FF2B5EF4-FFF2-40B4-BE49-F238E27FC236}">
                <a16:creationId xmlns:a16="http://schemas.microsoft.com/office/drawing/2014/main" id="{7339D598-8048-4D46-A74A-E583B9787B0D}"/>
              </a:ext>
            </a:extLst>
          </p:cNvPr>
          <p:cNvSpPr>
            <a:spLocks noGrp="1"/>
          </p:cNvSpPr>
          <p:nvPr/>
        </p:nvSpPr>
        <p:spPr>
          <a:xfrm>
            <a:off x="11085756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70" name="SH670">
            <a:extLst>
              <a:ext uri="{FF2B5EF4-FFF2-40B4-BE49-F238E27FC236}">
                <a16:creationId xmlns:a16="http://schemas.microsoft.com/office/drawing/2014/main" id="{C03D5209-467E-46B1-86B7-F4025725F536}"/>
              </a:ext>
            </a:extLst>
          </p:cNvPr>
          <p:cNvSpPr>
            <a:spLocks noGrp="1"/>
          </p:cNvSpPr>
          <p:nvPr/>
        </p:nvSpPr>
        <p:spPr>
          <a:xfrm>
            <a:off x="11326878" y="2581409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71" name="SH671">
            <a:extLst>
              <a:ext uri="{FF2B5EF4-FFF2-40B4-BE49-F238E27FC236}">
                <a16:creationId xmlns:a16="http://schemas.microsoft.com/office/drawing/2014/main" id="{51492099-1637-4F39-9CD2-E506E56C0E09}"/>
              </a:ext>
            </a:extLst>
          </p:cNvPr>
          <p:cNvSpPr>
            <a:spLocks noGrp="1"/>
          </p:cNvSpPr>
          <p:nvPr/>
        </p:nvSpPr>
        <p:spPr>
          <a:xfrm>
            <a:off x="9880146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72" name="SH672">
            <a:extLst>
              <a:ext uri="{FF2B5EF4-FFF2-40B4-BE49-F238E27FC236}">
                <a16:creationId xmlns:a16="http://schemas.microsoft.com/office/drawing/2014/main" id="{4DD792FB-0A67-40D1-95DE-3779A98DD3D5}"/>
              </a:ext>
            </a:extLst>
          </p:cNvPr>
          <p:cNvSpPr>
            <a:spLocks noGrp="1"/>
          </p:cNvSpPr>
          <p:nvPr/>
        </p:nvSpPr>
        <p:spPr>
          <a:xfrm>
            <a:off x="10121268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73" name="SH673">
            <a:extLst>
              <a:ext uri="{FF2B5EF4-FFF2-40B4-BE49-F238E27FC236}">
                <a16:creationId xmlns:a16="http://schemas.microsoft.com/office/drawing/2014/main" id="{6E2FC7C8-D0EB-42EF-8D9F-00D742B4B1EA}"/>
              </a:ext>
            </a:extLst>
          </p:cNvPr>
          <p:cNvSpPr>
            <a:spLocks noGrp="1"/>
          </p:cNvSpPr>
          <p:nvPr/>
        </p:nvSpPr>
        <p:spPr>
          <a:xfrm>
            <a:off x="10362390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74" name="SH674">
            <a:extLst>
              <a:ext uri="{FF2B5EF4-FFF2-40B4-BE49-F238E27FC236}">
                <a16:creationId xmlns:a16="http://schemas.microsoft.com/office/drawing/2014/main" id="{CB531A25-42B0-452D-A779-FF2478830555}"/>
              </a:ext>
            </a:extLst>
          </p:cNvPr>
          <p:cNvSpPr>
            <a:spLocks noGrp="1"/>
          </p:cNvSpPr>
          <p:nvPr/>
        </p:nvSpPr>
        <p:spPr>
          <a:xfrm>
            <a:off x="10603512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75" name="SH675">
            <a:extLst>
              <a:ext uri="{FF2B5EF4-FFF2-40B4-BE49-F238E27FC236}">
                <a16:creationId xmlns:a16="http://schemas.microsoft.com/office/drawing/2014/main" id="{80DD4565-EF0D-4E2C-B9DE-82F021861466}"/>
              </a:ext>
            </a:extLst>
          </p:cNvPr>
          <p:cNvSpPr>
            <a:spLocks noGrp="1"/>
          </p:cNvSpPr>
          <p:nvPr/>
        </p:nvSpPr>
        <p:spPr>
          <a:xfrm>
            <a:off x="10844634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76" name="SH676">
            <a:extLst>
              <a:ext uri="{FF2B5EF4-FFF2-40B4-BE49-F238E27FC236}">
                <a16:creationId xmlns:a16="http://schemas.microsoft.com/office/drawing/2014/main" id="{D565BBF7-EF2A-41BF-BEFD-285A91A2900A}"/>
              </a:ext>
            </a:extLst>
          </p:cNvPr>
          <p:cNvSpPr>
            <a:spLocks noGrp="1"/>
          </p:cNvSpPr>
          <p:nvPr/>
        </p:nvSpPr>
        <p:spPr>
          <a:xfrm>
            <a:off x="11085756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77" name="SH677">
            <a:extLst>
              <a:ext uri="{FF2B5EF4-FFF2-40B4-BE49-F238E27FC236}">
                <a16:creationId xmlns:a16="http://schemas.microsoft.com/office/drawing/2014/main" id="{3AE57C09-55FF-457F-B5A5-2F7DF3675B40}"/>
              </a:ext>
            </a:extLst>
          </p:cNvPr>
          <p:cNvSpPr>
            <a:spLocks noGrp="1"/>
          </p:cNvSpPr>
          <p:nvPr/>
        </p:nvSpPr>
        <p:spPr>
          <a:xfrm>
            <a:off x="11326878" y="2874742"/>
            <a:ext cx="148000" cy="148000"/>
          </a:xfrm>
          <a:prstGeom prst="ellipse">
            <a:avLst/>
          </a:prstGeom>
          <a:solidFill>
            <a:srgbClr val="4F9A74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78" name="SH678">
            <a:extLst>
              <a:ext uri="{FF2B5EF4-FFF2-40B4-BE49-F238E27FC236}">
                <a16:creationId xmlns:a16="http://schemas.microsoft.com/office/drawing/2014/main" id="{A9112B95-B559-40BC-9BBA-338359BBB0AB}"/>
              </a:ext>
            </a:extLst>
          </p:cNvPr>
          <p:cNvSpPr>
            <a:spLocks noGrp="1"/>
          </p:cNvSpPr>
          <p:nvPr/>
        </p:nvSpPr>
        <p:spPr>
          <a:xfrm>
            <a:off x="9880146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79" name="SH679">
            <a:extLst>
              <a:ext uri="{FF2B5EF4-FFF2-40B4-BE49-F238E27FC236}">
                <a16:creationId xmlns:a16="http://schemas.microsoft.com/office/drawing/2014/main" id="{78AA3D81-9349-42F9-AAE5-E0998C2D0C85}"/>
              </a:ext>
            </a:extLst>
          </p:cNvPr>
          <p:cNvSpPr>
            <a:spLocks noGrp="1"/>
          </p:cNvSpPr>
          <p:nvPr/>
        </p:nvSpPr>
        <p:spPr>
          <a:xfrm>
            <a:off x="10121268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80" name="SH680">
            <a:extLst>
              <a:ext uri="{FF2B5EF4-FFF2-40B4-BE49-F238E27FC236}">
                <a16:creationId xmlns:a16="http://schemas.microsoft.com/office/drawing/2014/main" id="{A1ACFC8A-3297-478E-B868-336D72629FBF}"/>
              </a:ext>
            </a:extLst>
          </p:cNvPr>
          <p:cNvSpPr>
            <a:spLocks noGrp="1"/>
          </p:cNvSpPr>
          <p:nvPr/>
        </p:nvSpPr>
        <p:spPr>
          <a:xfrm>
            <a:off x="10362390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81" name="SH681">
            <a:extLst>
              <a:ext uri="{FF2B5EF4-FFF2-40B4-BE49-F238E27FC236}">
                <a16:creationId xmlns:a16="http://schemas.microsoft.com/office/drawing/2014/main" id="{160A7E62-513E-4FF7-BF3A-8B16F33D27E5}"/>
              </a:ext>
            </a:extLst>
          </p:cNvPr>
          <p:cNvSpPr>
            <a:spLocks noGrp="1"/>
          </p:cNvSpPr>
          <p:nvPr/>
        </p:nvSpPr>
        <p:spPr>
          <a:xfrm>
            <a:off x="10603512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82" name="SH682">
            <a:extLst>
              <a:ext uri="{FF2B5EF4-FFF2-40B4-BE49-F238E27FC236}">
                <a16:creationId xmlns:a16="http://schemas.microsoft.com/office/drawing/2014/main" id="{A579E38B-A79D-45B3-AE34-55300E22EAA9}"/>
              </a:ext>
            </a:extLst>
          </p:cNvPr>
          <p:cNvSpPr>
            <a:spLocks noGrp="1"/>
          </p:cNvSpPr>
          <p:nvPr/>
        </p:nvSpPr>
        <p:spPr>
          <a:xfrm>
            <a:off x="10844634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83" name="SH683">
            <a:extLst>
              <a:ext uri="{FF2B5EF4-FFF2-40B4-BE49-F238E27FC236}">
                <a16:creationId xmlns:a16="http://schemas.microsoft.com/office/drawing/2014/main" id="{9B17BD9D-B23C-450F-BBDE-968BF756154E}"/>
              </a:ext>
            </a:extLst>
          </p:cNvPr>
          <p:cNvSpPr>
            <a:spLocks noGrp="1"/>
          </p:cNvSpPr>
          <p:nvPr/>
        </p:nvSpPr>
        <p:spPr>
          <a:xfrm>
            <a:off x="11085756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84" name="SH684">
            <a:extLst>
              <a:ext uri="{FF2B5EF4-FFF2-40B4-BE49-F238E27FC236}">
                <a16:creationId xmlns:a16="http://schemas.microsoft.com/office/drawing/2014/main" id="{DB42557F-4C2F-4211-8926-C4739FB257D2}"/>
              </a:ext>
            </a:extLst>
          </p:cNvPr>
          <p:cNvSpPr>
            <a:spLocks noGrp="1"/>
          </p:cNvSpPr>
          <p:nvPr/>
        </p:nvSpPr>
        <p:spPr>
          <a:xfrm>
            <a:off x="11326878" y="3168076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85" name="SH685">
            <a:extLst>
              <a:ext uri="{FF2B5EF4-FFF2-40B4-BE49-F238E27FC236}">
                <a16:creationId xmlns:a16="http://schemas.microsoft.com/office/drawing/2014/main" id="{C526F176-53DD-4CB3-AA2E-DE07E3D629E0}"/>
              </a:ext>
            </a:extLst>
          </p:cNvPr>
          <p:cNvSpPr>
            <a:spLocks noGrp="1"/>
          </p:cNvSpPr>
          <p:nvPr/>
        </p:nvSpPr>
        <p:spPr>
          <a:xfrm>
            <a:off x="9880146" y="3461409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86" name="SH686">
            <a:extLst>
              <a:ext uri="{FF2B5EF4-FFF2-40B4-BE49-F238E27FC236}">
                <a16:creationId xmlns:a16="http://schemas.microsoft.com/office/drawing/2014/main" id="{526B907D-2BD7-43D7-9EAA-E9E156DC5C50}"/>
              </a:ext>
            </a:extLst>
          </p:cNvPr>
          <p:cNvSpPr>
            <a:spLocks noGrp="1"/>
          </p:cNvSpPr>
          <p:nvPr/>
        </p:nvSpPr>
        <p:spPr>
          <a:xfrm>
            <a:off x="10121268" y="3461409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87" name="SH687">
            <a:extLst>
              <a:ext uri="{FF2B5EF4-FFF2-40B4-BE49-F238E27FC236}">
                <a16:creationId xmlns:a16="http://schemas.microsoft.com/office/drawing/2014/main" id="{B62F644A-4580-4FA1-80E3-7BE66DB238D5}"/>
              </a:ext>
            </a:extLst>
          </p:cNvPr>
          <p:cNvSpPr>
            <a:spLocks noGrp="1"/>
          </p:cNvSpPr>
          <p:nvPr/>
        </p:nvSpPr>
        <p:spPr>
          <a:xfrm>
            <a:off x="10362390" y="3461409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88" name="SH688">
            <a:extLst>
              <a:ext uri="{FF2B5EF4-FFF2-40B4-BE49-F238E27FC236}">
                <a16:creationId xmlns:a16="http://schemas.microsoft.com/office/drawing/2014/main" id="{6C9B8C61-815F-4781-9559-838438E4541A}"/>
              </a:ext>
            </a:extLst>
          </p:cNvPr>
          <p:cNvSpPr>
            <a:spLocks noGrp="1"/>
          </p:cNvSpPr>
          <p:nvPr/>
        </p:nvSpPr>
        <p:spPr>
          <a:xfrm>
            <a:off x="10603512" y="3461409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89" name="SH689">
            <a:extLst>
              <a:ext uri="{FF2B5EF4-FFF2-40B4-BE49-F238E27FC236}">
                <a16:creationId xmlns:a16="http://schemas.microsoft.com/office/drawing/2014/main" id="{BB348DAF-94A8-450C-84B5-4405DFE226BA}"/>
              </a:ext>
            </a:extLst>
          </p:cNvPr>
          <p:cNvSpPr>
            <a:spLocks noGrp="1"/>
          </p:cNvSpPr>
          <p:nvPr/>
        </p:nvSpPr>
        <p:spPr>
          <a:xfrm>
            <a:off x="10844634" y="3461409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90" name="SH690">
            <a:extLst>
              <a:ext uri="{FF2B5EF4-FFF2-40B4-BE49-F238E27FC236}">
                <a16:creationId xmlns:a16="http://schemas.microsoft.com/office/drawing/2014/main" id="{34F4B7DB-8478-463D-994B-5780AE5EC6C1}"/>
              </a:ext>
            </a:extLst>
          </p:cNvPr>
          <p:cNvSpPr>
            <a:spLocks noGrp="1"/>
          </p:cNvSpPr>
          <p:nvPr/>
        </p:nvSpPr>
        <p:spPr>
          <a:xfrm>
            <a:off x="11085756" y="3461409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91" name="SH691">
            <a:extLst>
              <a:ext uri="{FF2B5EF4-FFF2-40B4-BE49-F238E27FC236}">
                <a16:creationId xmlns:a16="http://schemas.microsoft.com/office/drawing/2014/main" id="{55BA4BA3-CDC1-41EB-9BDF-692B637E3E33}"/>
              </a:ext>
            </a:extLst>
          </p:cNvPr>
          <p:cNvSpPr>
            <a:spLocks noGrp="1"/>
          </p:cNvSpPr>
          <p:nvPr/>
        </p:nvSpPr>
        <p:spPr>
          <a:xfrm>
            <a:off x="11326878" y="3461409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92" name="SH692">
            <a:extLst>
              <a:ext uri="{FF2B5EF4-FFF2-40B4-BE49-F238E27FC236}">
                <a16:creationId xmlns:a16="http://schemas.microsoft.com/office/drawing/2014/main" id="{F0FE6638-47AF-4545-9855-CF5B83C0B9CA}"/>
              </a:ext>
            </a:extLst>
          </p:cNvPr>
          <p:cNvSpPr>
            <a:spLocks noGrp="1"/>
          </p:cNvSpPr>
          <p:nvPr/>
        </p:nvSpPr>
        <p:spPr>
          <a:xfrm>
            <a:off x="9880146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93" name="SH693">
            <a:extLst>
              <a:ext uri="{FF2B5EF4-FFF2-40B4-BE49-F238E27FC236}">
                <a16:creationId xmlns:a16="http://schemas.microsoft.com/office/drawing/2014/main" id="{05640C33-F61D-4A5C-B2FB-198763650EBC}"/>
              </a:ext>
            </a:extLst>
          </p:cNvPr>
          <p:cNvSpPr>
            <a:spLocks noGrp="1"/>
          </p:cNvSpPr>
          <p:nvPr/>
        </p:nvSpPr>
        <p:spPr>
          <a:xfrm>
            <a:off x="10121268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94" name="SH694">
            <a:extLst>
              <a:ext uri="{FF2B5EF4-FFF2-40B4-BE49-F238E27FC236}">
                <a16:creationId xmlns:a16="http://schemas.microsoft.com/office/drawing/2014/main" id="{17298A37-B992-4110-A012-8F7F55883943}"/>
              </a:ext>
            </a:extLst>
          </p:cNvPr>
          <p:cNvSpPr>
            <a:spLocks noGrp="1"/>
          </p:cNvSpPr>
          <p:nvPr/>
        </p:nvSpPr>
        <p:spPr>
          <a:xfrm>
            <a:off x="10362390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95" name="SH695">
            <a:extLst>
              <a:ext uri="{FF2B5EF4-FFF2-40B4-BE49-F238E27FC236}">
                <a16:creationId xmlns:a16="http://schemas.microsoft.com/office/drawing/2014/main" id="{201D88A4-1783-4611-AFAB-91AFEC148DF8}"/>
              </a:ext>
            </a:extLst>
          </p:cNvPr>
          <p:cNvSpPr>
            <a:spLocks noGrp="1"/>
          </p:cNvSpPr>
          <p:nvPr/>
        </p:nvSpPr>
        <p:spPr>
          <a:xfrm>
            <a:off x="10603512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96" name="SH696">
            <a:extLst>
              <a:ext uri="{FF2B5EF4-FFF2-40B4-BE49-F238E27FC236}">
                <a16:creationId xmlns:a16="http://schemas.microsoft.com/office/drawing/2014/main" id="{DC663288-49EA-412D-9B0B-81F24998E997}"/>
              </a:ext>
            </a:extLst>
          </p:cNvPr>
          <p:cNvSpPr>
            <a:spLocks noGrp="1"/>
          </p:cNvSpPr>
          <p:nvPr/>
        </p:nvSpPr>
        <p:spPr>
          <a:xfrm>
            <a:off x="10844634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97" name="SH697">
            <a:extLst>
              <a:ext uri="{FF2B5EF4-FFF2-40B4-BE49-F238E27FC236}">
                <a16:creationId xmlns:a16="http://schemas.microsoft.com/office/drawing/2014/main" id="{3207AE20-E95A-449E-A2A0-EDCA181DB280}"/>
              </a:ext>
            </a:extLst>
          </p:cNvPr>
          <p:cNvSpPr>
            <a:spLocks noGrp="1"/>
          </p:cNvSpPr>
          <p:nvPr/>
        </p:nvSpPr>
        <p:spPr>
          <a:xfrm>
            <a:off x="11085756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98" name="SH698">
            <a:extLst>
              <a:ext uri="{FF2B5EF4-FFF2-40B4-BE49-F238E27FC236}">
                <a16:creationId xmlns:a16="http://schemas.microsoft.com/office/drawing/2014/main" id="{BC061937-F02D-48F6-AC73-59E4C960E9F6}"/>
              </a:ext>
            </a:extLst>
          </p:cNvPr>
          <p:cNvSpPr>
            <a:spLocks noGrp="1"/>
          </p:cNvSpPr>
          <p:nvPr/>
        </p:nvSpPr>
        <p:spPr>
          <a:xfrm>
            <a:off x="11326878" y="3754742"/>
            <a:ext cx="148000" cy="148000"/>
          </a:xfrm>
          <a:prstGeom prst="ellipse">
            <a:avLst/>
          </a:prstGeom>
          <a:solidFill>
            <a:srgbClr val="95C9AE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699" name="SH699">
            <a:extLst>
              <a:ext uri="{FF2B5EF4-FFF2-40B4-BE49-F238E27FC236}">
                <a16:creationId xmlns:a16="http://schemas.microsoft.com/office/drawing/2014/main" id="{A0139A9B-33B6-40C3-B7BE-CEE1394A35C3}"/>
              </a:ext>
            </a:extLst>
          </p:cNvPr>
          <p:cNvSpPr>
            <a:spLocks noGrp="1"/>
          </p:cNvSpPr>
          <p:nvPr/>
        </p:nvSpPr>
        <p:spPr>
          <a:xfrm>
            <a:off x="10587512" y="2014076"/>
            <a:ext cx="180000" cy="2380000"/>
          </a:xfrm>
          <a:prstGeom prst="downArrow">
            <a:avLst>
              <a:gd name="adj1" fmla="val 50000"/>
              <a:gd name="adj2" fmla="val 5000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lIns="45720" tIns="18288" rIns="45720" bIns="18288" anchor="ctr">
            <a:normAutofit/>
          </a:bodyPr>
          <a:lstStyle/>
          <a:p>
            <a:endParaRPr sz="1500"/>
          </a:p>
        </p:txBody>
      </p:sp>
      <p:sp>
        <p:nvSpPr>
          <p:cNvPr id="700" name="SH700">
            <a:extLst>
              <a:ext uri="{FF2B5EF4-FFF2-40B4-BE49-F238E27FC236}">
                <a16:creationId xmlns:a16="http://schemas.microsoft.com/office/drawing/2014/main" id="{235A4BE5-0432-4956-ADAF-0522525EF699}"/>
              </a:ext>
            </a:extLst>
          </p:cNvPr>
          <p:cNvSpPr>
            <a:spLocks noGrp="1"/>
          </p:cNvSpPr>
          <p:nvPr/>
        </p:nvSpPr>
        <p:spPr>
          <a:xfrm>
            <a:off x="9833586" y="4394076"/>
            <a:ext cx="1687853" cy="36000"/>
          </a:xfrm>
          <a:prstGeom prst="rect">
            <a:avLst/>
          </a:prstGeom>
          <a:solidFill>
            <a:srgbClr val="44544C"/>
          </a:solidFill>
        </p:spPr>
        <p:txBody>
          <a:bodyPr lIns="45720" tIns="18288" rIns="45720" bIns="18288" anchor="ctr">
            <a:noAutofit/>
          </a:bodyPr>
          <a:lstStyle/>
          <a:p>
            <a:endParaRPr sz="1500"/>
          </a:p>
        </p:txBody>
      </p:sp>
      <p:sp>
        <p:nvSpPr>
          <p:cNvPr id="701" name="TB701">
            <a:extLst>
              <a:ext uri="{FF2B5EF4-FFF2-40B4-BE49-F238E27FC236}">
                <a16:creationId xmlns:a16="http://schemas.microsoft.com/office/drawing/2014/main" id="{9999933D-06A1-4938-BEB2-50638A099D9B}"/>
              </a:ext>
            </a:extLst>
          </p:cNvPr>
          <p:cNvSpPr>
            <a:spLocks noGrp="1"/>
          </p:cNvSpPr>
          <p:nvPr/>
        </p:nvSpPr>
        <p:spPr>
          <a:xfrm>
            <a:off x="9833586" y="1664076"/>
            <a:ext cx="1687853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6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0,98</a:t>
            </a:r>
          </a:p>
        </p:txBody>
      </p:sp>
      <p:sp>
        <p:nvSpPr>
          <p:cNvPr id="702" name="TB702">
            <a:extLst>
              <a:ext uri="{FF2B5EF4-FFF2-40B4-BE49-F238E27FC236}">
                <a16:creationId xmlns:a16="http://schemas.microsoft.com/office/drawing/2014/main" id="{2426171E-D7A3-4E61-8EF1-4319665F7AE9}"/>
              </a:ext>
            </a:extLst>
          </p:cNvPr>
          <p:cNvSpPr>
            <a:spLocks noGrp="1"/>
          </p:cNvSpPr>
          <p:nvPr/>
        </p:nvSpPr>
        <p:spPr>
          <a:xfrm>
            <a:off x="9833586" y="4514076"/>
            <a:ext cx="1687853" cy="3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estricto</a:t>
            </a:r>
          </a:p>
        </p:txBody>
      </p:sp>
      <p:sp>
        <p:nvSpPr>
          <p:cNvPr id="703" name="TB703">
            <a:extLst>
              <a:ext uri="{FF2B5EF4-FFF2-40B4-BE49-F238E27FC236}">
                <a16:creationId xmlns:a16="http://schemas.microsoft.com/office/drawing/2014/main" id="{920190D9-6F80-494D-B1D1-2ED5ADE41088}"/>
              </a:ext>
            </a:extLst>
          </p:cNvPr>
          <p:cNvSpPr>
            <a:spLocks noGrp="1"/>
          </p:cNvSpPr>
          <p:nvPr/>
        </p:nvSpPr>
        <p:spPr>
          <a:xfrm>
            <a:off x="9833586" y="4779996"/>
            <a:ext cx="1687853" cy="3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400" b="0" i="0">
                <a:latin typeface="Arial"/>
                <a:ea typeface="Arial"/>
                <a:cs typeface="Arial"/>
              </a:rPr>
              <a:t>dosel cerrado</a:t>
            </a:r>
          </a:p>
        </p:txBody>
      </p:sp>
      <p:sp>
        <p:nvSpPr>
          <p:cNvPr id="704" name="TB704">
            <a:extLst>
              <a:ext uri="{FF2B5EF4-FFF2-40B4-BE49-F238E27FC236}">
                <a16:creationId xmlns:a16="http://schemas.microsoft.com/office/drawing/2014/main" id="{5F572E84-98A5-4F9C-AAFA-723A81E96877}"/>
              </a:ext>
            </a:extLst>
          </p:cNvPr>
          <p:cNvSpPr>
            <a:spLocks noGrp="1"/>
          </p:cNvSpPr>
          <p:nvPr/>
        </p:nvSpPr>
        <p:spPr>
          <a:xfrm>
            <a:off x="5897880" y="5228973"/>
            <a:ext cx="5623560" cy="3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400" b="0" dirty="0">
                <a:latin typeface="Arial"/>
                <a:ea typeface="Arial"/>
                <a:cs typeface="Arial"/>
              </a:rPr>
              <a:t>La </a:t>
            </a:r>
            <a:r>
              <a:rPr sz="1400" b="0" dirty="0" err="1">
                <a:latin typeface="Arial"/>
                <a:ea typeface="Arial"/>
                <a:cs typeface="Arial"/>
              </a:rPr>
              <a:t>detección</a:t>
            </a:r>
            <a:r>
              <a:rPr sz="1400" b="0" dirty="0"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latin typeface="Arial"/>
                <a:ea typeface="Arial"/>
                <a:cs typeface="Arial"/>
              </a:rPr>
              <a:t>fiable</a:t>
            </a:r>
            <a:r>
              <a:rPr sz="1400" b="0" dirty="0">
                <a:latin typeface="Arial"/>
                <a:ea typeface="Arial"/>
                <a:cs typeface="Arial"/>
              </a:rPr>
              <a:t> del </a:t>
            </a:r>
            <a:r>
              <a:rPr sz="1400" b="0" dirty="0" err="1">
                <a:latin typeface="Arial"/>
                <a:ea typeface="Arial"/>
                <a:cs typeface="Arial"/>
              </a:rPr>
              <a:t>terreno</a:t>
            </a:r>
            <a:r>
              <a:rPr sz="1400" b="0" dirty="0">
                <a:latin typeface="Arial"/>
                <a:ea typeface="Arial"/>
                <a:cs typeface="Arial"/>
              </a:rPr>
              <a:t> es </a:t>
            </a:r>
            <a:r>
              <a:rPr sz="1400" b="0" dirty="0" err="1">
                <a:latin typeface="Arial"/>
                <a:ea typeface="Arial"/>
                <a:cs typeface="Arial"/>
              </a:rPr>
              <a:t>condición</a:t>
            </a:r>
            <a:r>
              <a:rPr sz="1400" b="0" dirty="0"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latin typeface="Arial"/>
                <a:ea typeface="Arial"/>
                <a:cs typeface="Arial"/>
              </a:rPr>
              <a:t>necesaria</a:t>
            </a:r>
            <a:r>
              <a:rPr sz="1400" b="0" dirty="0">
                <a:latin typeface="Arial"/>
                <a:ea typeface="Arial"/>
                <a:cs typeface="Arial"/>
              </a:rPr>
              <a:t> para </a:t>
            </a:r>
            <a:r>
              <a:rPr sz="1400" b="0" dirty="0" err="1">
                <a:latin typeface="Arial"/>
                <a:ea typeface="Arial"/>
                <a:cs typeface="Arial"/>
              </a:rPr>
              <a:t>interpretar</a:t>
            </a:r>
            <a:r>
              <a:rPr sz="1400" b="0" dirty="0">
                <a:latin typeface="Arial"/>
                <a:ea typeface="Arial"/>
                <a:cs typeface="Arial"/>
              </a:rPr>
              <a:t> la </a:t>
            </a:r>
            <a:r>
              <a:rPr sz="1400" b="0" dirty="0" err="1">
                <a:latin typeface="Arial"/>
                <a:ea typeface="Arial"/>
                <a:cs typeface="Arial"/>
              </a:rPr>
              <a:t>altura</a:t>
            </a:r>
            <a:endParaRPr sz="1400" b="0" dirty="0">
              <a:latin typeface="Arial"/>
              <a:ea typeface="Arial"/>
              <a:cs typeface="Arial"/>
            </a:endParaRPr>
          </a:p>
        </p:txBody>
      </p:sp>
      <p:sp>
        <p:nvSpPr>
          <p:cNvPr id="705" name="Rectángulo 704">
            <a:extLst>
              <a:ext uri="{FF2B5EF4-FFF2-40B4-BE49-F238E27FC236}">
                <a16:creationId xmlns:a16="http://schemas.microsoft.com/office/drawing/2014/main" id="{46768F3C-8D1A-47B1-9278-6A743664828A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21/79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4816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5142F5-01B6-4A06-B9C6-C38906969436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Geolocalización en laderas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54794E-CDB5-4A08-B894-C7A48AE5D1E8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Incertidumbre de geolocalización y su efecto en la asignación a rodales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167F57-D51F-401E-8249-A257CC0E45C2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7112000" cy="43434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Magnitud del error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En la versión 3 la geolocalización horizontal es de 9,5 m de media (1σ), con mejora sobre todo en la cola de errores.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Consecuencia espacial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Una huella de 25 m puede cruzar bordes, arroyos, claros o pendientes abruptas.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Dónde pesa más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error es más crítico cerca de ecotonos y de límites de incendio.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Control recomendado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Comparar la elevación GEDI con un DEM independiente y validar por bloques espaciales.</a:t>
            </a:r>
          </a:p>
        </p:txBody>
      </p:sp>
      <p:pic>
        <p:nvPicPr>
          <p:cNvPr id="808" name="Ladera"/>
          <p:cNvPicPr>
            <a:picLocks noChangeAspect="1"/>
          </p:cNvPicPr>
          <p:nvPr/>
        </p:nvPicPr>
        <p:blipFill>
          <a:blip r:embed="rId3"/>
          <a:srcRect t="4985" b="4985"/>
          <a:stretch>
            <a:fillRect/>
          </a:stretch>
        </p:blipFill>
        <p:spPr>
          <a:xfrm>
            <a:off x="8154670" y="1292860"/>
            <a:ext cx="2667000" cy="3620000"/>
          </a:xfrm>
          <a:prstGeom prst="rect">
            <a:avLst/>
          </a:prstGeom>
          <a:ln>
            <a:noFill/>
          </a:ln>
          <a:effectLst>
            <a:outerShdw blurRad="203200" dist="88900" dir="2700000" algn="tl" rotWithShape="0">
              <a:srgbClr val="333333">
                <a:alpha val="45000"/>
              </a:srgbClr>
            </a:outerShdw>
          </a:effectLst>
        </p:spPr>
      </p:pic>
      <p:sp>
        <p:nvSpPr>
          <p:cNvPr id="802" name="Epigrafe">
            <a:extLst>
              <a:ext uri="{FF2B5EF4-FFF2-40B4-BE49-F238E27FC236}">
                <a16:creationId xmlns:a16="http://schemas.microsoft.com/office/drawing/2014/main" id="{9E276CCF-25F7-4327-A0B8-76E6BA411CAA}"/>
              </a:ext>
            </a:extLst>
          </p:cNvPr>
          <p:cNvSpPr>
            <a:spLocks noGrp="1"/>
          </p:cNvSpPr>
          <p:nvPr/>
        </p:nvSpPr>
        <p:spPr>
          <a:xfrm>
            <a:off x="8154670" y="5052860"/>
            <a:ext cx="2667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buNone/>
            </a:pPr>
            <a:r>
              <a:rPr sz="1400">
                <a:solidFill>
                  <a:srgbClr val="6B7280"/>
                </a:solidFill>
                <a:latin typeface="Arial"/>
                <a:ea typeface="Arial"/>
                <a:cs typeface="Arial"/>
              </a:rPr>
              <a:t>Relieve abrupto: una huella de 25 m puede abarcar ladera, borde y fondo de valle a la vez.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FF4DBA4-2AAA-4CDE-844D-2E8C10B81CDD}"/>
              </a:ext>
            </a:extLst>
          </p:cNvPr>
          <p:cNvSpPr>
            <a:spLocks noGrp="1"/>
          </p:cNvSpPr>
          <p:nvPr/>
        </p:nvSpPr>
        <p:spPr>
          <a:xfrm>
            <a:off x="600075" y="5765800"/>
            <a:ext cx="10915650" cy="4953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i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sz="1400" i="1" dirty="0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ilustración</a:t>
            </a:r>
            <a:r>
              <a:rPr sz="1400" i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dirty="0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generada</a:t>
            </a:r>
            <a:r>
              <a:rPr sz="1400" i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con IA (</a:t>
            </a:r>
            <a:r>
              <a:rPr sz="1400" i="1" dirty="0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referencia</a:t>
            </a:r>
            <a:r>
              <a:rPr sz="1400" i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visual). Datos: GEDI/UMD; ORNL DAAC; Moudrý et al. (2024).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FA56EBF-4D47-4BA4-871C-DF547F227405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22/79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CDAD4BA-4857-4FDA-A3FD-CB1CC0A0875C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629E1A1-5AFB-4276-A9B5-EDFD37F6F151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804" name="Rectángulo 803">
            <a:extLst>
              <a:ext uri="{FF2B5EF4-FFF2-40B4-BE49-F238E27FC236}">
                <a16:creationId xmlns:a16="http://schemas.microsoft.com/office/drawing/2014/main" id="{D04A93E1-F83C-4430-A161-7338689EFD82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22/79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085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9C47CB-EB4E-4D26-840C-DD676A238E12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Fenología patagónica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9FC6F6-3BEB-467C-BCBC-7073AAEB63DA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Efecto de la fenología caducifolia sobre las métricas estructurales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7CAEF9-BF2E-4693-A2B9-DDD43DE27C81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851400" cy="43434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Especies caducifolias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Lenga y ñire pierden la hoja: la fecha de adquisición altera la energía de copa y el perfil.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Independencia del sol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GEDI usa 1064 nm y no depende de la iluminación solar, pero sí de la estructura foliar presente.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Efecto sobre RH98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 dosel desnudo crece el retorno del terreno y RH98 puede disminuir, según estructura y señal.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Criterio de comparación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Separar adquisiciones de dosel foliado y desnudo, y usar ventanas temporales coherentes.</a:t>
            </a:r>
          </a:p>
        </p:txBody>
      </p:sp>
      <p:sp>
        <p:nvSpPr>
          <p:cNvPr id="201" name="T201"/>
          <p:cNvSpPr txBox="1"/>
          <p:nvPr/>
        </p:nvSpPr>
        <p:spPr>
          <a:xfrm>
            <a:off x="5900000" y="2061128"/>
            <a:ext cx="5480000" cy="240000"/>
          </a:xfrm>
          <a:prstGeom prst="rect">
            <a:avLst/>
          </a:prstGeom>
          <a:noFill/>
        </p:spPr>
        <p:txBody>
          <a:bodyPr wrap="square" lIns="36000" tIns="0" rIns="3600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1500" b="0" i="1" dirty="0">
                <a:latin typeface="Arial"/>
                <a:cs typeface="Arial"/>
              </a:rPr>
              <a:t>Ciclo anual del dosel caducifolio (hemisferio sur)</a:t>
            </a:r>
          </a:p>
        </p:txBody>
      </p:sp>
      <p:sp>
        <p:nvSpPr>
          <p:cNvPr id="210" name="B210"/>
          <p:cNvSpPr/>
          <p:nvPr/>
        </p:nvSpPr>
        <p:spPr>
          <a:xfrm>
            <a:off x="5920000" y="2500000"/>
            <a:ext cx="1330000" cy="520000"/>
          </a:xfrm>
          <a:prstGeom prst="roundRect">
            <a:avLst>
              <a:gd name="adj" fmla="val 16000"/>
            </a:avLst>
          </a:prstGeom>
          <a:solidFill>
            <a:srgbClr val="52796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220" name="T220"/>
          <p:cNvSpPr txBox="1"/>
          <p:nvPr/>
        </p:nvSpPr>
        <p:spPr>
          <a:xfrm>
            <a:off x="5920000" y="2500000"/>
            <a:ext cx="1330000" cy="520000"/>
          </a:xfrm>
          <a:prstGeom prst="rect">
            <a:avLst/>
          </a:prstGeom>
          <a:noFill/>
        </p:spPr>
        <p:txBody>
          <a:bodyPr wrap="square" lIns="36000" tIns="0" rIns="3600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400" b="1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primavera</a:t>
            </a:r>
          </a:p>
        </p:txBody>
      </p:sp>
      <p:sp>
        <p:nvSpPr>
          <p:cNvPr id="230" name="T230"/>
          <p:cNvSpPr txBox="1"/>
          <p:nvPr/>
        </p:nvSpPr>
        <p:spPr>
          <a:xfrm>
            <a:off x="5920000" y="3080000"/>
            <a:ext cx="1330000" cy="240000"/>
          </a:xfrm>
          <a:prstGeom prst="rect">
            <a:avLst/>
          </a:prstGeom>
          <a:noFill/>
        </p:spPr>
        <p:txBody>
          <a:bodyPr wrap="square" lIns="36000" tIns="0" rIns="3600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200" b="1" i="0" dirty="0">
                <a:solidFill>
                  <a:srgbClr val="374151"/>
                </a:solidFill>
                <a:latin typeface="Arial"/>
                <a:cs typeface="Arial"/>
              </a:rPr>
              <a:t>sep–nov</a:t>
            </a:r>
          </a:p>
        </p:txBody>
      </p:sp>
      <p:sp>
        <p:nvSpPr>
          <p:cNvPr id="240" name="T240"/>
          <p:cNvSpPr txBox="1"/>
          <p:nvPr/>
        </p:nvSpPr>
        <p:spPr>
          <a:xfrm>
            <a:off x="5920000" y="3340000"/>
            <a:ext cx="1330000" cy="52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400" b="0" i="0" dirty="0">
                <a:solidFill>
                  <a:srgbClr val="6B7280"/>
                </a:solidFill>
                <a:latin typeface="Arial"/>
                <a:cs typeface="Arial"/>
              </a:rPr>
              <a:t>rebrote foliar</a:t>
            </a:r>
          </a:p>
        </p:txBody>
      </p:sp>
      <p:sp>
        <p:nvSpPr>
          <p:cNvPr id="211" name="B211"/>
          <p:cNvSpPr/>
          <p:nvPr/>
        </p:nvSpPr>
        <p:spPr>
          <a:xfrm>
            <a:off x="7290000" y="2500000"/>
            <a:ext cx="1330000" cy="520000"/>
          </a:xfrm>
          <a:prstGeom prst="roundRect">
            <a:avLst>
              <a:gd name="adj" fmla="val 16000"/>
            </a:avLst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221" name="T221"/>
          <p:cNvSpPr txBox="1"/>
          <p:nvPr/>
        </p:nvSpPr>
        <p:spPr>
          <a:xfrm>
            <a:off x="7290000" y="2500000"/>
            <a:ext cx="1330000" cy="520000"/>
          </a:xfrm>
          <a:prstGeom prst="rect">
            <a:avLst/>
          </a:prstGeom>
          <a:noFill/>
        </p:spPr>
        <p:txBody>
          <a:bodyPr wrap="square" lIns="36000" tIns="0" rIns="3600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400" b="1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verano</a:t>
            </a:r>
          </a:p>
        </p:txBody>
      </p:sp>
      <p:sp>
        <p:nvSpPr>
          <p:cNvPr id="231" name="T231"/>
          <p:cNvSpPr txBox="1"/>
          <p:nvPr/>
        </p:nvSpPr>
        <p:spPr>
          <a:xfrm>
            <a:off x="7290000" y="3080000"/>
            <a:ext cx="1330000" cy="240000"/>
          </a:xfrm>
          <a:prstGeom prst="rect">
            <a:avLst/>
          </a:prstGeom>
          <a:noFill/>
        </p:spPr>
        <p:txBody>
          <a:bodyPr wrap="square" lIns="36000" tIns="0" rIns="3600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200" b="1" i="0" dirty="0">
                <a:solidFill>
                  <a:srgbClr val="374151"/>
                </a:solidFill>
                <a:latin typeface="Arial"/>
                <a:cs typeface="Arial"/>
              </a:rPr>
              <a:t>dic–feb</a:t>
            </a:r>
          </a:p>
        </p:txBody>
      </p:sp>
      <p:sp>
        <p:nvSpPr>
          <p:cNvPr id="241" name="T241"/>
          <p:cNvSpPr txBox="1"/>
          <p:nvPr/>
        </p:nvSpPr>
        <p:spPr>
          <a:xfrm>
            <a:off x="7290000" y="3340000"/>
            <a:ext cx="1330000" cy="52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400" b="0" i="0" dirty="0">
                <a:solidFill>
                  <a:srgbClr val="6B7280"/>
                </a:solidFill>
                <a:latin typeface="Arial"/>
                <a:cs typeface="Arial"/>
              </a:rPr>
              <a:t>máxima copa</a:t>
            </a:r>
          </a:p>
        </p:txBody>
      </p:sp>
      <p:sp>
        <p:nvSpPr>
          <p:cNvPr id="212" name="B212"/>
          <p:cNvSpPr/>
          <p:nvPr/>
        </p:nvSpPr>
        <p:spPr>
          <a:xfrm>
            <a:off x="8660000" y="2500000"/>
            <a:ext cx="1330000" cy="5200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222" name="T222"/>
          <p:cNvSpPr txBox="1"/>
          <p:nvPr/>
        </p:nvSpPr>
        <p:spPr>
          <a:xfrm>
            <a:off x="8660000" y="2500000"/>
            <a:ext cx="1330000" cy="520000"/>
          </a:xfrm>
          <a:prstGeom prst="rect">
            <a:avLst/>
          </a:prstGeom>
          <a:noFill/>
        </p:spPr>
        <p:txBody>
          <a:bodyPr wrap="square" lIns="36000" tIns="0" rIns="3600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400" b="1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otoño</a:t>
            </a:r>
          </a:p>
        </p:txBody>
      </p:sp>
      <p:sp>
        <p:nvSpPr>
          <p:cNvPr id="232" name="T232"/>
          <p:cNvSpPr txBox="1"/>
          <p:nvPr/>
        </p:nvSpPr>
        <p:spPr>
          <a:xfrm>
            <a:off x="8660000" y="3080000"/>
            <a:ext cx="1330000" cy="240000"/>
          </a:xfrm>
          <a:prstGeom prst="rect">
            <a:avLst/>
          </a:prstGeom>
          <a:noFill/>
        </p:spPr>
        <p:txBody>
          <a:bodyPr wrap="square" lIns="36000" tIns="0" rIns="3600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200" b="1" i="0" dirty="0">
                <a:solidFill>
                  <a:srgbClr val="374151"/>
                </a:solidFill>
                <a:latin typeface="Arial"/>
                <a:cs typeface="Arial"/>
              </a:rPr>
              <a:t>mar–may</a:t>
            </a:r>
          </a:p>
        </p:txBody>
      </p:sp>
      <p:sp>
        <p:nvSpPr>
          <p:cNvPr id="242" name="T242"/>
          <p:cNvSpPr txBox="1"/>
          <p:nvPr/>
        </p:nvSpPr>
        <p:spPr>
          <a:xfrm>
            <a:off x="8660000" y="3340000"/>
            <a:ext cx="1330000" cy="52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400" b="0" i="0" dirty="0">
                <a:solidFill>
                  <a:srgbClr val="6B7280"/>
                </a:solidFill>
                <a:latin typeface="Arial"/>
                <a:cs typeface="Arial"/>
              </a:rPr>
              <a:t>senescencia</a:t>
            </a:r>
          </a:p>
        </p:txBody>
      </p:sp>
      <p:sp>
        <p:nvSpPr>
          <p:cNvPr id="213" name="B213"/>
          <p:cNvSpPr/>
          <p:nvPr/>
        </p:nvSpPr>
        <p:spPr>
          <a:xfrm>
            <a:off x="10030000" y="2500000"/>
            <a:ext cx="1330000" cy="520000"/>
          </a:xfrm>
          <a:prstGeom prst="roundRect">
            <a:avLst>
              <a:gd name="adj" fmla="val 16000"/>
            </a:avLst>
          </a:prstGeom>
          <a:solidFill>
            <a:srgbClr val="5B6B7A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223" name="T223"/>
          <p:cNvSpPr txBox="1"/>
          <p:nvPr/>
        </p:nvSpPr>
        <p:spPr>
          <a:xfrm>
            <a:off x="10030000" y="2500000"/>
            <a:ext cx="1330000" cy="520000"/>
          </a:xfrm>
          <a:prstGeom prst="rect">
            <a:avLst/>
          </a:prstGeom>
          <a:noFill/>
        </p:spPr>
        <p:txBody>
          <a:bodyPr wrap="square" lIns="36000" tIns="0" rIns="3600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400" b="1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invierno</a:t>
            </a:r>
          </a:p>
        </p:txBody>
      </p:sp>
      <p:sp>
        <p:nvSpPr>
          <p:cNvPr id="233" name="T233"/>
          <p:cNvSpPr txBox="1"/>
          <p:nvPr/>
        </p:nvSpPr>
        <p:spPr>
          <a:xfrm>
            <a:off x="10030000" y="3080000"/>
            <a:ext cx="1330000" cy="240000"/>
          </a:xfrm>
          <a:prstGeom prst="rect">
            <a:avLst/>
          </a:prstGeom>
          <a:noFill/>
        </p:spPr>
        <p:txBody>
          <a:bodyPr wrap="square" lIns="36000" tIns="0" rIns="3600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200" b="1" i="0" dirty="0">
                <a:solidFill>
                  <a:srgbClr val="374151"/>
                </a:solidFill>
                <a:latin typeface="Arial"/>
                <a:cs typeface="Arial"/>
              </a:rPr>
              <a:t>jun–ago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10030000" y="3340000"/>
            <a:ext cx="1330000" cy="52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400" b="0" i="0" dirty="0">
                <a:solidFill>
                  <a:srgbClr val="6B7280"/>
                </a:solidFill>
                <a:latin typeface="Arial"/>
                <a:cs typeface="Arial"/>
              </a:rPr>
              <a:t>sin hojas / nieve</a:t>
            </a:r>
          </a:p>
        </p:txBody>
      </p:sp>
      <p:sp>
        <p:nvSpPr>
          <p:cNvPr id="250" name="B250"/>
          <p:cNvSpPr/>
          <p:nvPr/>
        </p:nvSpPr>
        <p:spPr>
          <a:xfrm>
            <a:off x="6653500" y="3900000"/>
            <a:ext cx="2671500" cy="12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251" name="B251"/>
          <p:cNvSpPr/>
          <p:nvPr/>
        </p:nvSpPr>
        <p:spPr>
          <a:xfrm>
            <a:off x="9804500" y="3900000"/>
            <a:ext cx="1575500" cy="1200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/>
          <a:lstStyle/>
          <a:p>
            <a:endParaRPr sz="1500"/>
          </a:p>
        </p:txBody>
      </p:sp>
      <p:sp>
        <p:nvSpPr>
          <p:cNvPr id="252" name="T252"/>
          <p:cNvSpPr txBox="1"/>
          <p:nvPr/>
        </p:nvSpPr>
        <p:spPr>
          <a:xfrm>
            <a:off x="6653500" y="4080000"/>
            <a:ext cx="2671500" cy="52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400" b="1" i="0" dirty="0">
                <a:solidFill>
                  <a:srgbClr val="2D6A4F"/>
                </a:solidFill>
                <a:latin typeface="Arial"/>
                <a:cs typeface="Arial"/>
              </a:rPr>
              <a:t>Dosel foliado: ventana comparable para RH98 y PAI</a:t>
            </a:r>
          </a:p>
        </p:txBody>
      </p:sp>
      <p:sp>
        <p:nvSpPr>
          <p:cNvPr id="253" name="T253"/>
          <p:cNvSpPr txBox="1"/>
          <p:nvPr/>
        </p:nvSpPr>
        <p:spPr>
          <a:xfrm>
            <a:off x="9804500" y="4080000"/>
            <a:ext cx="1575500" cy="520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AR" sz="1400" b="1" i="0" dirty="0">
                <a:solidFill>
                  <a:srgbClr val="4B5563"/>
                </a:solidFill>
                <a:latin typeface="Arial"/>
                <a:cs typeface="Arial"/>
              </a:rPr>
              <a:t>Dosel desnudo: más retorno de terreno</a:t>
            </a:r>
          </a:p>
        </p:txBody>
      </p:sp>
      <p:sp>
        <p:nvSpPr>
          <p:cNvPr id="254" name="T254"/>
          <p:cNvSpPr txBox="1"/>
          <p:nvPr/>
        </p:nvSpPr>
        <p:spPr>
          <a:xfrm>
            <a:off x="5900000" y="4700000"/>
            <a:ext cx="5480000" cy="480000"/>
          </a:xfrm>
          <a:prstGeom prst="rect">
            <a:avLst/>
          </a:prstGeom>
          <a:noFill/>
        </p:spPr>
        <p:txBody>
          <a:bodyPr wrap="square" lIns="36000" tIns="0" rIns="36000" bIns="0"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AR" sz="1400" b="0" i="1" dirty="0">
                <a:solidFill>
                  <a:srgbClr val="374151"/>
                </a:solidFill>
                <a:latin typeface="Arial"/>
                <a:cs typeface="Arial"/>
              </a:rPr>
              <a:t>Comparar siempre adquisiciones del mismo estado fenológico.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CAAF2F2-D194-4655-9837-62367374AA3D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CIEFAP/SNMBN Bosque Andino Patagónico; Argentina Ambiente Mapas de Bosque Nativo; Chubut OTBN. NASA GEDI/UMD; NASA GSFC SVS 13090; Dubayah et al. (2020).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A331C4A-D3F7-4FC1-A6EB-7CF891AF8972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23/79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EEE9B5-BCDD-4A4E-827B-19D06E18B12D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56A7D84-2005-40A5-BEF6-D7B727CD7868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B700D2B-EDCA-4AEF-AE06-EB6A842DD9A8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23/79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2211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2B34D8-1F73-49FC-9773-AE08EBD5F6BE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Efecto de nieve y nubes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BAF8C3-318A-4D15-A3D0-2226F9A97DA0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La atmósfera y la nieve degradan la señal lidar</a:t>
            </a:r>
            <a:endParaRPr sz="2000" b="1" i="1">
              <a:solidFill>
                <a:srgbClr val="374151"/>
              </a:solidFill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8DF498-5023-4DDD-B5B4-3029204D7D68}"/>
              </a:ext>
            </a:extLst>
          </p:cNvPr>
          <p:cNvSpPr>
            <a:spLocks noGrp="1"/>
          </p:cNvSpPr>
          <p:nvPr/>
        </p:nvSpPr>
        <p:spPr>
          <a:xfrm>
            <a:off x="596900" y="1270000"/>
            <a:ext cx="5499100" cy="4241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Nubes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GEDI no atraviesa nubes densas: la atmósfera condiciona la adquisición útil.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Nieve en el suelo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Eleva el terreno aparente y sesga la elevación y la altura de dosel.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Nieve interceptada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nieve retenida en las copas altera además el perfil vertical.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Criterio de filtrado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Restringir el análisis a fechas sin nieve ni nubosidad persistente, con apoyo de series meteorológicas.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DA61BFD-3731-4D2C-AF0A-50973FD90905}"/>
              </a:ext>
            </a:extLst>
          </p:cNvPr>
          <p:cNvSpPr>
            <a:spLocks noGrp="1"/>
          </p:cNvSpPr>
          <p:nvPr/>
        </p:nvSpPr>
        <p:spPr>
          <a:xfrm>
            <a:off x="596900" y="5841340"/>
            <a:ext cx="109220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n-U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GEDI/UMD Products; LP DAAC GEDI02 User Guides; ORNL DAAC L4A/L4B.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809B640-1A1B-4026-8677-A5FA4C1CA5B6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24/79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6AE7A20-6CF3-4334-B787-370FF61147DB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C530CA0-2422-4379-8B21-D5364F175913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graphicFrame>
        <p:nvGraphicFramePr>
          <p:cNvPr id="30" name="Tabla 20"/>
          <p:cNvGraphicFramePr/>
          <p:nvPr/>
        </p:nvGraphicFramePr>
        <p:xfrm>
          <a:off x="6554522" y="1343660"/>
          <a:ext cx="4716000" cy="41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6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 dirty="0" err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Condición</a:t>
                      </a:r>
                      <a:endParaRPr sz="1500" b="1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Riesgo para GEDI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500" b="1" dirty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1500" b="1" dirty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b="0" dirty="0">
                          <a:solidFill>
                            <a:srgbClr val="EE0000"/>
                          </a:solidFill>
                          <a:latin typeface="Arial"/>
                          <a:ea typeface="Arial"/>
                          <a:cs typeface="Arial"/>
                        </a:rPr>
                        <a:t>señal atenuada o inválida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500" b="1" dirty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1500" b="1" dirty="0" err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ieve</a:t>
                      </a:r>
                      <a:endParaRPr sz="1500" b="1" dirty="0">
                        <a:solidFill>
                          <a:srgbClr val="111827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b="0" dirty="0">
                          <a:solidFill>
                            <a:srgbClr val="EE0000"/>
                          </a:solidFill>
                          <a:latin typeface="Arial"/>
                          <a:ea typeface="Arial"/>
                          <a:cs typeface="Arial"/>
                        </a:rPr>
                        <a:t>terreno aparente alterado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sombra topográfica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b="0" dirty="0">
                          <a:solidFill>
                            <a:srgbClr val="EE0000"/>
                          </a:solidFill>
                          <a:latin typeface="Arial"/>
                          <a:ea typeface="Arial"/>
                          <a:cs typeface="Arial"/>
                        </a:rPr>
                        <a:t>geometría desfavorable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500" b="1" dirty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Ll</a:t>
                      </a:r>
                      <a:r>
                        <a:rPr sz="1500" b="1" dirty="0" err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uvia</a:t>
                      </a:r>
                      <a:r>
                        <a:rPr sz="1500" b="1" dirty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500" b="1" dirty="0" err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humedad</a:t>
                      </a:r>
                      <a:endParaRPr sz="1500" b="1" dirty="0">
                        <a:solidFill>
                          <a:srgbClr val="111827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b="0" dirty="0">
                          <a:solidFill>
                            <a:srgbClr val="EE0000"/>
                          </a:solidFill>
                          <a:latin typeface="Arial"/>
                          <a:ea typeface="Arial"/>
                          <a:cs typeface="Arial"/>
                        </a:rPr>
                        <a:t>retorno alterado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Rectángulo 20">
            <a:extLst>
              <a:ext uri="{FF2B5EF4-FFF2-40B4-BE49-F238E27FC236}">
                <a16:creationId xmlns:a16="http://schemas.microsoft.com/office/drawing/2014/main" id="{648CBEEC-0194-4BB3-A37F-5419C0CBA468}"/>
              </a:ext>
            </a:extLst>
          </p:cNvPr>
          <p:cNvSpPr>
            <a:spLocks noGrp="1"/>
          </p:cNvSpPr>
          <p:nvPr/>
        </p:nvSpPr>
        <p:spPr>
          <a:xfrm>
            <a:off x="6572250" y="3667125"/>
            <a:ext cx="17145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47625" bIns="47625" anchor="ctr"/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s-E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</a:t>
            </a: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omplejidad</a:t>
            </a:r>
            <a:endParaRPr sz="15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topográfica</a:t>
            </a:r>
            <a:endParaRPr sz="15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D0C961F-2611-4E7D-BF34-18608FDE9EA9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24/79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969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DE7DB39-D163-438F-9A24-D1437E0C72C2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Heterogeneidad de rodales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390B92-5E25-4AF4-897F-466BBAC61CA3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Relación entre la escala de la huella y la heterogeneidad del rodal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218D8D-25E2-47B6-A684-2661DFDDE472}"/>
              </a:ext>
            </a:extLst>
          </p:cNvPr>
          <p:cNvSpPr>
            <a:spLocks noGrp="1"/>
          </p:cNvSpPr>
          <p:nvPr/>
        </p:nvSpPr>
        <p:spPr>
          <a:xfrm>
            <a:off x="596900" y="1270000"/>
            <a:ext cx="4838700" cy="4292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Relaciones no equivalentes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Lengales altos, ñirantales y cipresales no comparten la misma relación altura–biomasa.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Mezcla dentro de la huella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coexistencia de especies y edades en 25 m rompe los modelos simples.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Estratificación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Modelar por tipo forestal mejora la interpretación y la validación.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Propagación del error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error del mapa de clases se traslada al modelo de biomasa.</a:t>
            </a:r>
          </a:p>
        </p:txBody>
      </p:sp>
      <p:pic>
        <p:nvPicPr>
          <p:cNvPr id="818" name="Rodales"/>
          <p:cNvPicPr>
            <a:picLocks noChangeAspect="1"/>
          </p:cNvPicPr>
          <p:nvPr/>
        </p:nvPicPr>
        <p:blipFill>
          <a:blip r:embed="rId3"/>
          <a:srcRect t="3990" b="3990"/>
          <a:stretch>
            <a:fillRect/>
          </a:stretch>
        </p:blipFill>
        <p:spPr>
          <a:xfrm>
            <a:off x="5897880" y="1371600"/>
            <a:ext cx="5623560" cy="3450000"/>
          </a:xfrm>
          <a:prstGeom prst="rect">
            <a:avLst/>
          </a:prstGeom>
          <a:ln>
            <a:noFill/>
          </a:ln>
          <a:effectLst>
            <a:outerShdw blurRad="203200" dist="88900" dir="2700000" algn="tl" rotWithShape="0">
              <a:srgbClr val="333333">
                <a:alpha val="45000"/>
              </a:srgbClr>
            </a:outerShdw>
          </a:effectLst>
        </p:spPr>
      </p:pic>
      <p:sp>
        <p:nvSpPr>
          <p:cNvPr id="812" name="Epigrafe">
            <a:extLst>
              <a:ext uri="{FF2B5EF4-FFF2-40B4-BE49-F238E27FC236}">
                <a16:creationId xmlns:a16="http://schemas.microsoft.com/office/drawing/2014/main" id="{E953E798-372B-43DF-93B6-683BFCC0E182}"/>
              </a:ext>
            </a:extLst>
          </p:cNvPr>
          <p:cNvSpPr>
            <a:spLocks noGrp="1"/>
          </p:cNvSpPr>
          <p:nvPr/>
        </p:nvSpPr>
        <p:spPr>
          <a:xfrm>
            <a:off x="5897880" y="4971600"/>
            <a:ext cx="562356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buNone/>
            </a:pPr>
            <a:r>
              <a:rPr lang="es-MX" sz="1400" dirty="0" err="1">
                <a:latin typeface="Arial"/>
                <a:ea typeface="Arial"/>
                <a:cs typeface="Arial"/>
              </a:rPr>
              <a:t>Lengal</a:t>
            </a:r>
            <a:r>
              <a:rPr lang="es-MX" sz="1400" dirty="0">
                <a:latin typeface="Arial"/>
                <a:ea typeface="Arial"/>
                <a:cs typeface="Arial"/>
              </a:rPr>
              <a:t> alto, </a:t>
            </a:r>
            <a:r>
              <a:rPr lang="es-MX" sz="1400" dirty="0" err="1">
                <a:latin typeface="Arial"/>
                <a:ea typeface="Arial"/>
                <a:cs typeface="Arial"/>
              </a:rPr>
              <a:t>ñirantal</a:t>
            </a:r>
            <a:r>
              <a:rPr lang="es-MX" sz="1400" dirty="0">
                <a:latin typeface="Arial"/>
                <a:ea typeface="Arial"/>
                <a:cs typeface="Arial"/>
              </a:rPr>
              <a:t> bajo y cipresal abierto conviven a pocos metros: una misma huella puede mezclarlos.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5E25F61-5939-4849-94E2-6F68819E4998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MX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MX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ilustración generada con IA (referencia visual). Datos: CIEFAP/SNMBN; Chubut OTBN; Duncanson et al. (2022).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5D5F0D3-B77C-4CEF-AE6F-5FC0B11F3877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25/79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05D1ACD-FF03-4C32-B0F7-F2445836D392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30C43DE-7160-4E44-9F15-EF0D0BF2793A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814" name="Rectángulo 813">
            <a:extLst>
              <a:ext uri="{FF2B5EF4-FFF2-40B4-BE49-F238E27FC236}">
                <a16:creationId xmlns:a16="http://schemas.microsoft.com/office/drawing/2014/main" id="{AE19922C-D953-4FBC-B54A-A445B8EDD630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25/79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0061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933CEE-453C-4B21-AD3D-E12C1A9AE043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AGBD no es volumen maderable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00369F-AF83-4AC0-86DD-F4432E3A8A07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De biomasa aérea a volumen comercial y a carbono: alcances y limitaciones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51AE92-F8E2-4FF4-94C9-F750C058F12B}"/>
              </a:ext>
            </a:extLst>
          </p:cNvPr>
          <p:cNvSpPr>
            <a:spLocks noGrp="1"/>
          </p:cNvSpPr>
          <p:nvPr/>
        </p:nvSpPr>
        <p:spPr>
          <a:xfrm>
            <a:off x="596900" y="1193800"/>
            <a:ext cx="4838700" cy="45212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incluye la AGBD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Componentes leñosos y no leñosos por hectárea, no solo el fuste aprovechable.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Volumen comercial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Depende de la especie, la forma del fuste y las reglas de trozado.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Relación entre ambos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Exige factores de expansión y densidad de la madera documentados.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Uso en gestión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modelo de biomasa apoya el manejo, pero no sustituye la cubicación local.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4F9A4E9-17FE-4E01-B88B-64447D9D6C99}"/>
              </a:ext>
            </a:extLst>
          </p:cNvPr>
          <p:cNvSpPr>
            <a:spLocks noGrp="1"/>
          </p:cNvSpPr>
          <p:nvPr/>
        </p:nvSpPr>
        <p:spPr>
          <a:xfrm>
            <a:off x="5892800" y="1651000"/>
            <a:ext cx="5626100" cy="736600"/>
          </a:xfrm>
          <a:prstGeom prst="rect">
            <a:avLst/>
          </a:prstGeom>
          <a:solidFill>
            <a:srgbClr val="F0FDF4"/>
          </a:solidFill>
          <a:ln w="12700">
            <a:solidFill>
              <a:srgbClr val="B7E4C7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228600" tIns="152400" rIns="228600" bIns="15240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6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biomasa seca  ×  fracción de carbono  ×  44/12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223185B-8A6A-4F3F-9B04-C156D22ABDE6}"/>
              </a:ext>
            </a:extLst>
          </p:cNvPr>
          <p:cNvSpPr>
            <a:spLocks noGrp="1"/>
          </p:cNvSpPr>
          <p:nvPr/>
        </p:nvSpPr>
        <p:spPr>
          <a:xfrm>
            <a:off x="5892800" y="3175000"/>
            <a:ext cx="5626100" cy="1333500"/>
          </a:xfrm>
          <a:prstGeom prst="rect">
            <a:avLst/>
          </a:prstGeom>
          <a:noFill/>
        </p:spPr>
        <p:txBody>
          <a:bodyPr wrap="square" lIns="508" tIns="508" rIns="508" bIns="508" anchor="t"/>
          <a:lstStyle/>
          <a:p>
            <a:pPr marL="285750" indent="-285750" algn="l">
              <a:lnSpc>
                <a:spcPct val="120000"/>
              </a:lnSpc>
              <a:spcBef>
                <a:spcPts val="600"/>
              </a:spcBef>
              <a:buFont typeface="Arial"/>
              <a:buChar char="✓"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Usar factores explícitos y trazables.</a:t>
            </a:r>
          </a:p>
          <a:p>
            <a:pPr marL="285750" indent="-285750" algn="l">
              <a:lnSpc>
                <a:spcPct val="120000"/>
              </a:lnSpc>
              <a:spcBef>
                <a:spcPts val="600"/>
              </a:spcBef>
              <a:buFont typeface="Arial"/>
              <a:buChar char="✓"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 mezclar Mg de biomasa, Mg C y Mg CO₂e.</a:t>
            </a:r>
          </a:p>
          <a:p>
            <a:pPr marL="285750" indent="-285750" algn="l">
              <a:lnSpc>
                <a:spcPct val="120000"/>
              </a:lnSpc>
              <a:spcBef>
                <a:spcPts val="600"/>
              </a:spcBef>
              <a:buFont typeface="Arial"/>
              <a:buChar char="✓"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Declarar la incertidumbre y el área efectiva.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0115234-0F10-4731-B511-FC25E9B3A140}"/>
              </a:ext>
            </a:extLst>
          </p:cNvPr>
          <p:cNvSpPr>
            <a:spLocks noGrp="1"/>
          </p:cNvSpPr>
          <p:nvPr/>
        </p:nvSpPr>
        <p:spPr>
          <a:xfrm>
            <a:off x="600075" y="5918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Duncanson et al. (2022); Kellner et al. (2023); Duncanson et al. (2019); Subedi y Zurqani (2026). CIEFAP/SNMBN Bosque Andino Patagónico; Argentina Ambiente Mapas de Bosque Nativo; Chubut OTBN.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0EDFE84-F6C8-4EC5-9133-170FA16165C8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26/79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7CFC94D-6FC4-4DA4-915D-B371BD91EB78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F21FF40-767D-40E4-A500-0BA6538BAC8A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E2CC3B9-4A8D-43DE-9FBF-C06D661293D5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26/79</a:t>
            </a:r>
          </a:p>
        </p:txBody>
      </p:sp>
      <p:sp>
        <p:nvSpPr>
          <p:cNvPr id="985" name="ConvHead"/>
          <p:cNvSpPr txBox="1"/>
          <p:nvPr/>
        </p:nvSpPr>
        <p:spPr>
          <a:xfrm>
            <a:off x="5892800" y="1270000"/>
            <a:ext cx="56261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Cadena de conversión</a:t>
            </a:r>
          </a:p>
        </p:txBody>
      </p:sp>
      <p:sp>
        <p:nvSpPr>
          <p:cNvPr id="986" name="CritHead"/>
          <p:cNvSpPr txBox="1"/>
          <p:nvPr/>
        </p:nvSpPr>
        <p:spPr>
          <a:xfrm>
            <a:off x="5892800" y="2794000"/>
            <a:ext cx="56261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Criterios de reporte</a:t>
            </a:r>
          </a:p>
        </p:txBody>
      </p:sp>
      <p:sp>
        <p:nvSpPr>
          <p:cNvPr id="987" name="NotaCierre"/>
          <p:cNvSpPr txBox="1"/>
          <p:nvPr/>
        </p:nvSpPr>
        <p:spPr>
          <a:xfrm>
            <a:off x="5892800" y="4699000"/>
            <a:ext cx="5626100" cy="863600"/>
          </a:xfrm>
          <a:prstGeom prst="roundRect">
            <a:avLst>
              <a:gd name="adj" fmla="val 8000"/>
            </a:avLst>
          </a:prstGeom>
          <a:solidFill>
            <a:srgbClr val="F4F9F5"/>
          </a:solidFill>
          <a:ln>
            <a:noFill/>
          </a:ln>
        </p:spPr>
        <p:txBody>
          <a:bodyPr wrap="square" lIns="152400" tIns="91440" rIns="152400" bIns="91440" anchor="ctr">
            <a:no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En carbono, declarar siempre si se informa biomasa seca, carbono o CO₂ equivalente.</a:t>
            </a:r>
          </a:p>
        </p:txBody>
      </p:sp>
    </p:spTree>
    <p:extLst>
      <p:ext uri="{BB962C8B-B14F-4D97-AF65-F5344CB8AC3E}">
        <p14:creationId xmlns:p14="http://schemas.microsoft.com/office/powerpoint/2010/main" val="2072841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E780B3-B76E-4F9D-B390-E8DD637DCBFD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Parcelas de campo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F6E872-76AB-4F0D-A7F1-15BF2345D70A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Las parcelas de campo como referencia de calibración y validación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85E1DAE-25CF-41CA-A381-F4FAB559359E}"/>
              </a:ext>
            </a:extLst>
          </p:cNvPr>
          <p:cNvSpPr>
            <a:spLocks noGrp="1"/>
          </p:cNvSpPr>
          <p:nvPr/>
        </p:nvSpPr>
        <p:spPr>
          <a:xfrm>
            <a:off x="600075" y="5791200"/>
            <a:ext cx="10915650" cy="4953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MX" sz="1400" i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MX" sz="14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ilustración generada con IA (referencia visual). Datos: Duncanson et al. (2022); CIEFAP/SNMBN; Chubut OTBN.</a:t>
            </a:r>
            <a:endParaRPr sz="1400" dirty="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BCC62D5-6886-4E79-89DE-B47D97C80578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27/79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E58F6E-81B6-4455-8C0B-47529E219BEA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5588000" cy="4419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se mide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DAP, altura, especie, estado sanitario y límites exactos de la parcela.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Cómo se convierte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Ecuaciones alométricas locales o regionales bien documentadas.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Correspondencia espacial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Alinear parcela y huella con GPS diferencial y registrar el desfase de fechas.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Diseño del muestreo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Separar parcelas de calibración, de validación y de evaluación independiente.</a:t>
            </a:r>
          </a:p>
        </p:txBody>
      </p:sp>
      <p:pic>
        <p:nvPicPr>
          <p:cNvPr id="830" name="Campo"/>
          <p:cNvPicPr>
            <a:picLocks noChangeAspect="1"/>
          </p:cNvPicPr>
          <p:nvPr/>
        </p:nvPicPr>
        <p:blipFill>
          <a:blip r:embed="rId3"/>
          <a:srcRect t="4286" b="4286"/>
          <a:stretch>
            <a:fillRect/>
          </a:stretch>
        </p:blipFill>
        <p:spPr>
          <a:xfrm>
            <a:off x="6717220" y="1278636"/>
            <a:ext cx="5250000" cy="3200000"/>
          </a:xfrm>
          <a:prstGeom prst="rect">
            <a:avLst/>
          </a:prstGeom>
          <a:ln>
            <a:noFill/>
          </a:ln>
          <a:effectLst>
            <a:outerShdw blurRad="203200" dist="88900" dir="2700000" algn="tl" rotWithShape="0">
              <a:srgbClr val="333333">
                <a:alpha val="45000"/>
              </a:srgbClr>
            </a:outerShdw>
          </a:effectLst>
        </p:spPr>
      </p:pic>
      <p:sp>
        <p:nvSpPr>
          <p:cNvPr id="822" name="Epigrafe">
            <a:extLst>
              <a:ext uri="{FF2B5EF4-FFF2-40B4-BE49-F238E27FC236}">
                <a16:creationId xmlns:a16="http://schemas.microsoft.com/office/drawing/2014/main" id="{4073EF36-A64E-4727-A344-F0CECDE4B41B}"/>
              </a:ext>
            </a:extLst>
          </p:cNvPr>
          <p:cNvSpPr>
            <a:spLocks noGrp="1"/>
          </p:cNvSpPr>
          <p:nvPr/>
        </p:nvSpPr>
        <p:spPr>
          <a:xfrm>
            <a:off x="6717220" y="4628636"/>
            <a:ext cx="52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buNone/>
            </a:pPr>
            <a:r>
              <a:rPr lang="es-ES" sz="1400">
                <a:latin typeface="Arial"/>
                <a:ea typeface="Arial"/>
                <a:cs typeface="Arial"/>
              </a:rPr>
              <a:t>Medición</a:t>
            </a:r>
            <a:r>
              <a:rPr sz="1400" dirty="0">
                <a:latin typeface="Arial"/>
                <a:ea typeface="Arial"/>
                <a:cs typeface="Arial"/>
              </a:rPr>
              <a:t> de DAP</a:t>
            </a:r>
            <a:r>
              <a:rPr lang="es-ES" sz="1400">
                <a:latin typeface="Arial"/>
                <a:ea typeface="Arial"/>
                <a:cs typeface="Arial"/>
              </a:rPr>
              <a:t> </a:t>
            </a:r>
            <a:r>
              <a:rPr sz="1400" dirty="0">
                <a:latin typeface="Arial"/>
                <a:ea typeface="Arial"/>
                <a:cs typeface="Arial"/>
              </a:rPr>
              <a:t>y </a:t>
            </a:r>
            <a:r>
              <a:rPr lang="es-ES" sz="1400">
                <a:latin typeface="Arial"/>
                <a:ea typeface="Arial"/>
                <a:cs typeface="Arial"/>
              </a:rPr>
              <a:t>altura</a:t>
            </a:r>
            <a:r>
              <a:rPr sz="1400" dirty="0">
                <a:latin typeface="Arial"/>
                <a:ea typeface="Arial"/>
                <a:cs typeface="Arial"/>
              </a:rPr>
              <a:t> </a:t>
            </a:r>
            <a:r>
              <a:rPr lang="es-ES" sz="1400">
                <a:latin typeface="Arial"/>
                <a:ea typeface="Arial"/>
                <a:cs typeface="Arial"/>
              </a:rPr>
              <a:t>en</a:t>
            </a:r>
            <a:r>
              <a:rPr sz="1400" dirty="0">
                <a:latin typeface="Arial"/>
                <a:ea typeface="Arial"/>
                <a:cs typeface="Arial"/>
              </a:rPr>
              <a:t> el </a:t>
            </a:r>
            <a:r>
              <a:rPr lang="es-ES" sz="1400">
                <a:latin typeface="Arial"/>
                <a:ea typeface="Arial"/>
                <a:cs typeface="Arial"/>
              </a:rPr>
              <a:t>rodal</a:t>
            </a:r>
            <a:r>
              <a:rPr sz="1400" dirty="0">
                <a:latin typeface="Arial"/>
                <a:ea typeface="Arial"/>
                <a:cs typeface="Arial"/>
              </a:rPr>
              <a:t>: la base </a:t>
            </a:r>
            <a:r>
              <a:rPr lang="es-ES" sz="1400">
                <a:latin typeface="Arial"/>
                <a:ea typeface="Arial"/>
                <a:cs typeface="Arial"/>
              </a:rPr>
              <a:t>alométrica</a:t>
            </a:r>
            <a:r>
              <a:rPr sz="1400" dirty="0">
                <a:latin typeface="Arial"/>
                <a:ea typeface="Arial"/>
                <a:cs typeface="Arial"/>
              </a:rPr>
              <a:t> de </a:t>
            </a:r>
            <a:r>
              <a:rPr lang="es-ES" sz="1400">
                <a:latin typeface="Arial"/>
                <a:ea typeface="Arial"/>
                <a:cs typeface="Arial"/>
              </a:rPr>
              <a:t>toda</a:t>
            </a:r>
            <a:r>
              <a:rPr sz="1400" dirty="0">
                <a:latin typeface="Arial"/>
                <a:ea typeface="Arial"/>
                <a:cs typeface="Arial"/>
              </a:rPr>
              <a:t> </a:t>
            </a:r>
            <a:r>
              <a:rPr lang="es-ES" sz="1400">
                <a:latin typeface="Arial"/>
                <a:ea typeface="Arial"/>
                <a:cs typeface="Arial"/>
              </a:rPr>
              <a:t>estimación</a:t>
            </a:r>
            <a:r>
              <a:rPr sz="1400" dirty="0">
                <a:latin typeface="Arial"/>
                <a:ea typeface="Arial"/>
                <a:cs typeface="Arial"/>
              </a:rPr>
              <a:t>.</a:t>
            </a:r>
            <a:endParaRPr lang="es-ES" sz="1400">
              <a:latin typeface="Arial"/>
              <a:ea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883CD46-99B8-4832-BA01-1C916F035DF0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3E722DC-B04E-4BFD-A49C-745D7862172F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824" name="Rectángulo 823">
            <a:extLst>
              <a:ext uri="{FF2B5EF4-FFF2-40B4-BE49-F238E27FC236}">
                <a16:creationId xmlns:a16="http://schemas.microsoft.com/office/drawing/2014/main" id="{736B3C51-F523-460E-BC92-0BF6F44C4420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27/79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7640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7E601B-5DBA-4F4E-BE7C-60E37E9DF8CA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Alineación parcela–huella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782E94-6D6B-4DBF-9810-11C3F39EF618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Errores frecuentes en el diseño de la validación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3D60EB-A200-4ED6-8914-71D0DAB16615}"/>
              </a:ext>
            </a:extLst>
          </p:cNvPr>
          <p:cNvSpPr>
            <a:spLocks noGrp="1"/>
          </p:cNvSpPr>
          <p:nvPr/>
        </p:nvSpPr>
        <p:spPr>
          <a:xfrm>
            <a:off x="594360" y="1234440"/>
            <a:ext cx="4843520" cy="442976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Problema de soporte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Una parcela pequeña dentro de una huella grande mide otra población.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Geometría recomendada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Parcelas circulares de ~0,05 ha reducen la discrepancia de soporte.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Corrección en pendiente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Convertir a área horizontal y verificar la precisión del GPS.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Sensibilidad al desfase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 desplazamiento de 10 m ya cambia buena parte de la superficie comparada.</a:t>
            </a:r>
          </a:p>
        </p:txBody>
      </p:sp>
      <p:pic>
        <p:nvPicPr>
          <p:cNvPr id="838" name="Parcela"/>
          <p:cNvPicPr>
            <a:picLocks noChangeAspect="1"/>
          </p:cNvPicPr>
          <p:nvPr/>
        </p:nvPicPr>
        <p:blipFill>
          <a:blip r:embed="rId3">
            <a:lum bright="12000" contrast="40000"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aturation sat="145000"/>
                    </a14:imgEffect>
                    <a14:imgEffect>
                      <a14:sharpenSoften amount="45000"/>
                    </a14:imgEffect>
                  </a14:imgLayer>
                </a14:imgProps>
              </a:ext>
            </a:extLst>
          </a:blip>
          <a:srcRect t="3988" b="3988"/>
          <a:stretch>
            <a:fillRect/>
          </a:stretch>
        </p:blipFill>
        <p:spPr>
          <a:xfrm>
            <a:off x="5897880" y="1271016"/>
            <a:ext cx="5623560" cy="3450000"/>
          </a:xfrm>
          <a:prstGeom prst="rect">
            <a:avLst/>
          </a:prstGeom>
          <a:ln>
            <a:noFill/>
          </a:ln>
          <a:effectLst>
            <a:outerShdw blurRad="203200" dist="88900" dir="2700000" algn="tl" rotWithShape="0">
              <a:srgbClr val="333333">
                <a:alpha val="45000"/>
              </a:srgbClr>
            </a:outerShdw>
          </a:effectLst>
        </p:spPr>
      </p:pic>
      <p:sp>
        <p:nvSpPr>
          <p:cNvPr id="832" name="Epigrafe">
            <a:extLst>
              <a:ext uri="{FF2B5EF4-FFF2-40B4-BE49-F238E27FC236}">
                <a16:creationId xmlns:a16="http://schemas.microsoft.com/office/drawing/2014/main" id="{F9BE3759-AF62-40A2-B0B7-E610E10A7B92}"/>
              </a:ext>
            </a:extLst>
          </p:cNvPr>
          <p:cNvSpPr>
            <a:spLocks noGrp="1"/>
          </p:cNvSpPr>
          <p:nvPr/>
        </p:nvSpPr>
        <p:spPr>
          <a:xfrm>
            <a:off x="5897880" y="4871016"/>
            <a:ext cx="562356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buNone/>
            </a:pPr>
            <a:r>
              <a:rPr lang="es-MX" sz="1400">
                <a:latin typeface="Arial"/>
                <a:ea typeface="Arial"/>
                <a:cs typeface="Arial"/>
              </a:rPr>
              <a:t>La parcela y la huella rara vez coinciden: el desajuste de soporte se ve en el terreno.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0C59EF6-AAEF-4846-8922-37195E9CC4AF}"/>
              </a:ext>
            </a:extLst>
          </p:cNvPr>
          <p:cNvSpPr>
            <a:spLocks noGrp="1"/>
          </p:cNvSpPr>
          <p:nvPr/>
        </p:nvSpPr>
        <p:spPr>
          <a:xfrm>
            <a:off x="600075" y="5765800"/>
            <a:ext cx="10915650" cy="4953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MX" sz="1400" i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</a:t>
            </a:r>
            <a:r>
              <a:rPr lang="es-MX" sz="14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: ilustración generada con IA (referencia visual). Datos: GEDI/UMD; ORNL DAAC; Kellner et al. (2023).</a:t>
            </a:r>
            <a:endParaRPr sz="1400" dirty="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D09FB3A-E668-459E-A557-3CE5ECBB265D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28/79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F5E06-DF18-4315-81A9-F62CA3F4377D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18558E4-6E19-4F16-B34A-0375C338E930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834" name="Rectángulo 833">
            <a:extLst>
              <a:ext uri="{FF2B5EF4-FFF2-40B4-BE49-F238E27FC236}">
                <a16:creationId xmlns:a16="http://schemas.microsoft.com/office/drawing/2014/main" id="{FC48DA81-5C9A-4859-90BF-A777086CBE2C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28/79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61719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37A1A4-FB7E-438F-B5F9-9148B20FBB23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Altura, cobertura y biomasa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E639CD-65F9-4CF6-80B6-0FAD99166314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Altura, cobertura y biomasa: tres variables con comportamientos distintos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83EA5DC-2958-4416-8F8E-AD664646B0BA}"/>
              </a:ext>
            </a:extLst>
          </p:cNvPr>
          <p:cNvSpPr>
            <a:spLocks noGrp="1"/>
          </p:cNvSpPr>
          <p:nvPr/>
        </p:nvSpPr>
        <p:spPr>
          <a:xfrm>
            <a:off x="596900" y="1168400"/>
            <a:ext cx="5080000" cy="43942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Altura máxima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 relaciona con la dominancia, el sitio y la edad del rodal.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Cobertura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Refleja el cierre de copa, pero satura en bosques densos.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Biomasa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Depende de la densidad de la madera, el diámetro y la arquitectura.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Implicación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Dos rodales con igual RH98 pueden diferir mucho en biomasa.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F484039C-97B4-4EF3-86B6-38A2C18C4DDC}"/>
              </a:ext>
            </a:extLst>
          </p:cNvPr>
          <p:cNvSpPr>
            <a:spLocks noGrp="1"/>
          </p:cNvSpPr>
          <p:nvPr/>
        </p:nvSpPr>
        <p:spPr>
          <a:xfrm>
            <a:off x="6216674" y="1203200"/>
            <a:ext cx="556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Aporte relativo a la predicción de AGBD</a:t>
            </a:r>
            <a:endParaRPr sz="1500">
              <a:latin typeface="Arial"/>
              <a:cs typeface="Arial"/>
            </a:endParaRPr>
          </a:p>
        </p:txBody>
      </p:sp>
      <p:sp>
        <p:nvSpPr>
          <p:cNvPr id="402" name="TB402">
            <a:extLst>
              <a:ext uri="{FF2B5EF4-FFF2-40B4-BE49-F238E27FC236}">
                <a16:creationId xmlns:a16="http://schemas.microsoft.com/office/drawing/2014/main" id="{AA68EFA7-7321-4558-8DF1-688D43A15632}"/>
              </a:ext>
            </a:extLst>
          </p:cNvPr>
          <p:cNvSpPr>
            <a:spLocks noGrp="1"/>
          </p:cNvSpPr>
          <p:nvPr/>
        </p:nvSpPr>
        <p:spPr>
          <a:xfrm>
            <a:off x="6216674" y="1573200"/>
            <a:ext cx="556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Peso conceptual, no medido</a:t>
            </a:r>
            <a:endParaRPr sz="1400">
              <a:solidFill>
                <a:srgbClr val="4B5563"/>
              </a:solidFill>
              <a:latin typeface="Arial"/>
              <a:cs typeface="Arial"/>
            </a:endParaRPr>
          </a:p>
        </p:txBody>
      </p:sp>
      <p:sp>
        <p:nvSpPr>
          <p:cNvPr id="403" name="TB403">
            <a:extLst>
              <a:ext uri="{FF2B5EF4-FFF2-40B4-BE49-F238E27FC236}">
                <a16:creationId xmlns:a16="http://schemas.microsoft.com/office/drawing/2014/main" id="{368212E1-A3BC-4714-ADB2-5D185864E626}"/>
              </a:ext>
            </a:extLst>
          </p:cNvPr>
          <p:cNvSpPr>
            <a:spLocks noGrp="1"/>
          </p:cNvSpPr>
          <p:nvPr/>
        </p:nvSpPr>
        <p:spPr>
          <a:xfrm>
            <a:off x="6216674" y="2103200"/>
            <a:ext cx="30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altura (RH98)</a:t>
            </a:r>
            <a:endParaRPr sz="1500" b="1">
              <a:solidFill>
                <a:srgbClr val="111827"/>
              </a:solidFill>
              <a:latin typeface="Arial"/>
              <a:cs typeface="Arial"/>
            </a:endParaRPr>
          </a:p>
        </p:txBody>
      </p:sp>
      <p:sp>
        <p:nvSpPr>
          <p:cNvPr id="404" name="TB404">
            <a:extLst>
              <a:ext uri="{FF2B5EF4-FFF2-40B4-BE49-F238E27FC236}">
                <a16:creationId xmlns:a16="http://schemas.microsoft.com/office/drawing/2014/main" id="{C6F2EC79-5820-4751-91CF-11E5D58101E6}"/>
              </a:ext>
            </a:extLst>
          </p:cNvPr>
          <p:cNvSpPr>
            <a:spLocks noGrp="1"/>
          </p:cNvSpPr>
          <p:nvPr/>
        </p:nvSpPr>
        <p:spPr>
          <a:xfrm>
            <a:off x="6216674" y="2553200"/>
            <a:ext cx="31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dominancia y edad</a:t>
            </a:r>
            <a:endParaRPr sz="1200">
              <a:solidFill>
                <a:srgbClr val="4B5563"/>
              </a:solidFill>
              <a:latin typeface="Arial"/>
              <a:cs typeface="Arial"/>
            </a:endParaRPr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BA6B4915-7EE3-4987-A03E-90FCD59CB421}"/>
              </a:ext>
            </a:extLst>
          </p:cNvPr>
          <p:cNvSpPr>
            <a:spLocks noGrp="1"/>
          </p:cNvSpPr>
          <p:nvPr/>
        </p:nvSpPr>
        <p:spPr>
          <a:xfrm>
            <a:off x="9261674" y="2218200"/>
            <a:ext cx="210000" cy="210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6D3AABA9-880B-4CC7-AD02-04BD02A84DE5}"/>
              </a:ext>
            </a:extLst>
          </p:cNvPr>
          <p:cNvSpPr>
            <a:spLocks noGrp="1"/>
          </p:cNvSpPr>
          <p:nvPr/>
        </p:nvSpPr>
        <p:spPr>
          <a:xfrm>
            <a:off x="9681674" y="2218200"/>
            <a:ext cx="210000" cy="210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CE113E36-131E-421C-8940-E4F9E01B5F75}"/>
              </a:ext>
            </a:extLst>
          </p:cNvPr>
          <p:cNvSpPr>
            <a:spLocks noGrp="1"/>
          </p:cNvSpPr>
          <p:nvPr/>
        </p:nvSpPr>
        <p:spPr>
          <a:xfrm>
            <a:off x="10101674" y="2218200"/>
            <a:ext cx="210000" cy="210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A2F57C2B-D4ED-4E5B-AEB5-7D6908E5C11F}"/>
              </a:ext>
            </a:extLst>
          </p:cNvPr>
          <p:cNvSpPr>
            <a:spLocks noGrp="1"/>
          </p:cNvSpPr>
          <p:nvPr/>
        </p:nvSpPr>
        <p:spPr>
          <a:xfrm>
            <a:off x="10521674" y="2218200"/>
            <a:ext cx="210000" cy="210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6A94508D-42B2-4B03-9733-9BB2074E6011}"/>
              </a:ext>
            </a:extLst>
          </p:cNvPr>
          <p:cNvSpPr>
            <a:spLocks noGrp="1"/>
          </p:cNvSpPr>
          <p:nvPr/>
        </p:nvSpPr>
        <p:spPr>
          <a:xfrm>
            <a:off x="10941674" y="2218200"/>
            <a:ext cx="210000" cy="210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0" name="TB410">
            <a:extLst>
              <a:ext uri="{FF2B5EF4-FFF2-40B4-BE49-F238E27FC236}">
                <a16:creationId xmlns:a16="http://schemas.microsoft.com/office/drawing/2014/main" id="{2048A9B4-F9F4-46C5-BC4C-61842DC21051}"/>
              </a:ext>
            </a:extLst>
          </p:cNvPr>
          <p:cNvSpPr>
            <a:spLocks noGrp="1"/>
          </p:cNvSpPr>
          <p:nvPr/>
        </p:nvSpPr>
        <p:spPr>
          <a:xfrm>
            <a:off x="6216674" y="2933200"/>
            <a:ext cx="30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estructura vertical</a:t>
            </a:r>
            <a:endParaRPr sz="1500" b="1">
              <a:solidFill>
                <a:srgbClr val="111827"/>
              </a:solidFill>
              <a:latin typeface="Arial"/>
              <a:cs typeface="Arial"/>
            </a:endParaRPr>
          </a:p>
        </p:txBody>
      </p:sp>
      <p:sp>
        <p:nvSpPr>
          <p:cNvPr id="411" name="TB411">
            <a:extLst>
              <a:ext uri="{FF2B5EF4-FFF2-40B4-BE49-F238E27FC236}">
                <a16:creationId xmlns:a16="http://schemas.microsoft.com/office/drawing/2014/main" id="{0D1826A5-CE75-4177-B8F8-39100B2AEC77}"/>
              </a:ext>
            </a:extLst>
          </p:cNvPr>
          <p:cNvSpPr>
            <a:spLocks noGrp="1"/>
          </p:cNvSpPr>
          <p:nvPr/>
        </p:nvSpPr>
        <p:spPr>
          <a:xfrm>
            <a:off x="6216674" y="3383200"/>
            <a:ext cx="31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PAVD y FHD</a:t>
            </a:r>
            <a:endParaRPr sz="1200">
              <a:solidFill>
                <a:srgbClr val="4B5563"/>
              </a:solidFill>
              <a:latin typeface="Arial"/>
              <a:cs typeface="Arial"/>
            </a:endParaRPr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6447C6BA-847B-4F98-99FA-701921745D7A}"/>
              </a:ext>
            </a:extLst>
          </p:cNvPr>
          <p:cNvSpPr>
            <a:spLocks noGrp="1"/>
          </p:cNvSpPr>
          <p:nvPr/>
        </p:nvSpPr>
        <p:spPr>
          <a:xfrm>
            <a:off x="9261674" y="3048200"/>
            <a:ext cx="210000" cy="21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A60171D7-E48E-41B8-8358-61AF8823A750}"/>
              </a:ext>
            </a:extLst>
          </p:cNvPr>
          <p:cNvSpPr>
            <a:spLocks noGrp="1"/>
          </p:cNvSpPr>
          <p:nvPr/>
        </p:nvSpPr>
        <p:spPr>
          <a:xfrm>
            <a:off x="9681674" y="3048200"/>
            <a:ext cx="210000" cy="21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87FE260C-D8FE-498A-AC0D-E6EC55E5FBA4}"/>
              </a:ext>
            </a:extLst>
          </p:cNvPr>
          <p:cNvSpPr>
            <a:spLocks noGrp="1"/>
          </p:cNvSpPr>
          <p:nvPr/>
        </p:nvSpPr>
        <p:spPr>
          <a:xfrm>
            <a:off x="10101674" y="3048200"/>
            <a:ext cx="210000" cy="21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3B3B451C-42CF-43F1-A329-4D5E833953BE}"/>
              </a:ext>
            </a:extLst>
          </p:cNvPr>
          <p:cNvSpPr>
            <a:spLocks noGrp="1"/>
          </p:cNvSpPr>
          <p:nvPr/>
        </p:nvSpPr>
        <p:spPr>
          <a:xfrm>
            <a:off x="10521674" y="3048200"/>
            <a:ext cx="210000" cy="21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5C1791F5-0382-49A3-88A4-CFFFAFF2DE78}"/>
              </a:ext>
            </a:extLst>
          </p:cNvPr>
          <p:cNvSpPr>
            <a:spLocks noGrp="1"/>
          </p:cNvSpPr>
          <p:nvPr/>
        </p:nvSpPr>
        <p:spPr>
          <a:xfrm>
            <a:off x="10941674" y="3048200"/>
            <a:ext cx="210000" cy="21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3722722A-6ACF-4BA9-A7F6-EF1BFA76BDBC}"/>
              </a:ext>
            </a:extLst>
          </p:cNvPr>
          <p:cNvSpPr>
            <a:spLocks noGrp="1"/>
          </p:cNvSpPr>
          <p:nvPr/>
        </p:nvSpPr>
        <p:spPr>
          <a:xfrm>
            <a:off x="6216674" y="3763200"/>
            <a:ext cx="30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cobertura</a:t>
            </a:r>
            <a:endParaRPr sz="1500" b="1">
              <a:solidFill>
                <a:srgbClr val="111827"/>
              </a:solidFill>
              <a:latin typeface="Arial"/>
              <a:cs typeface="Arial"/>
            </a:endParaRPr>
          </a:p>
        </p:txBody>
      </p:sp>
      <p:sp>
        <p:nvSpPr>
          <p:cNvPr id="418" name="TB418">
            <a:extLst>
              <a:ext uri="{FF2B5EF4-FFF2-40B4-BE49-F238E27FC236}">
                <a16:creationId xmlns:a16="http://schemas.microsoft.com/office/drawing/2014/main" id="{76DB48C3-7FED-454A-A079-5B314F6D4B37}"/>
              </a:ext>
            </a:extLst>
          </p:cNvPr>
          <p:cNvSpPr>
            <a:spLocks noGrp="1"/>
          </p:cNvSpPr>
          <p:nvPr/>
        </p:nvSpPr>
        <p:spPr>
          <a:xfrm>
            <a:off x="6216674" y="4213200"/>
            <a:ext cx="31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cierre de copa, satura</a:t>
            </a:r>
            <a:endParaRPr sz="1200">
              <a:solidFill>
                <a:srgbClr val="4B5563"/>
              </a:solidFill>
              <a:latin typeface="Arial"/>
              <a:cs typeface="Arial"/>
            </a:endParaRPr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8EA6A801-7E2A-4083-A275-6F4800DCFDEE}"/>
              </a:ext>
            </a:extLst>
          </p:cNvPr>
          <p:cNvSpPr>
            <a:spLocks noGrp="1"/>
          </p:cNvSpPr>
          <p:nvPr/>
        </p:nvSpPr>
        <p:spPr>
          <a:xfrm>
            <a:off x="9261674" y="3878200"/>
            <a:ext cx="210000" cy="21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0" name="SH420">
            <a:extLst>
              <a:ext uri="{FF2B5EF4-FFF2-40B4-BE49-F238E27FC236}">
                <a16:creationId xmlns:a16="http://schemas.microsoft.com/office/drawing/2014/main" id="{D404AA10-2145-4871-84A6-8B6CEDA66344}"/>
              </a:ext>
            </a:extLst>
          </p:cNvPr>
          <p:cNvSpPr>
            <a:spLocks noGrp="1"/>
          </p:cNvSpPr>
          <p:nvPr/>
        </p:nvSpPr>
        <p:spPr>
          <a:xfrm>
            <a:off x="9681674" y="3878200"/>
            <a:ext cx="210000" cy="21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1" name="SH421">
            <a:extLst>
              <a:ext uri="{FF2B5EF4-FFF2-40B4-BE49-F238E27FC236}">
                <a16:creationId xmlns:a16="http://schemas.microsoft.com/office/drawing/2014/main" id="{D92A23F9-C8B7-4218-98F0-FD5982A0C679}"/>
              </a:ext>
            </a:extLst>
          </p:cNvPr>
          <p:cNvSpPr>
            <a:spLocks noGrp="1"/>
          </p:cNvSpPr>
          <p:nvPr/>
        </p:nvSpPr>
        <p:spPr>
          <a:xfrm>
            <a:off x="10101674" y="3878200"/>
            <a:ext cx="210000" cy="21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2" name="SH422">
            <a:extLst>
              <a:ext uri="{FF2B5EF4-FFF2-40B4-BE49-F238E27FC236}">
                <a16:creationId xmlns:a16="http://schemas.microsoft.com/office/drawing/2014/main" id="{23BEFF9C-409E-458E-B3EA-4D1357E8E633}"/>
              </a:ext>
            </a:extLst>
          </p:cNvPr>
          <p:cNvSpPr>
            <a:spLocks noGrp="1"/>
          </p:cNvSpPr>
          <p:nvPr/>
        </p:nvSpPr>
        <p:spPr>
          <a:xfrm>
            <a:off x="10521674" y="3878200"/>
            <a:ext cx="210000" cy="21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3" name="SH423">
            <a:extLst>
              <a:ext uri="{FF2B5EF4-FFF2-40B4-BE49-F238E27FC236}">
                <a16:creationId xmlns:a16="http://schemas.microsoft.com/office/drawing/2014/main" id="{B1C13E81-B7AC-4A9B-89D6-FC05C467F26E}"/>
              </a:ext>
            </a:extLst>
          </p:cNvPr>
          <p:cNvSpPr>
            <a:spLocks noGrp="1"/>
          </p:cNvSpPr>
          <p:nvPr/>
        </p:nvSpPr>
        <p:spPr>
          <a:xfrm>
            <a:off x="10941674" y="3878200"/>
            <a:ext cx="210000" cy="21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4" name="TB424">
            <a:extLst>
              <a:ext uri="{FF2B5EF4-FFF2-40B4-BE49-F238E27FC236}">
                <a16:creationId xmlns:a16="http://schemas.microsoft.com/office/drawing/2014/main" id="{7C2118CA-26D5-4202-87CF-389B44567778}"/>
              </a:ext>
            </a:extLst>
          </p:cNvPr>
          <p:cNvSpPr>
            <a:spLocks noGrp="1"/>
          </p:cNvSpPr>
          <p:nvPr/>
        </p:nvSpPr>
        <p:spPr>
          <a:xfrm>
            <a:off x="6216674" y="4593200"/>
            <a:ext cx="30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topografía</a:t>
            </a:r>
            <a:endParaRPr sz="1500" b="1">
              <a:solidFill>
                <a:srgbClr val="111827"/>
              </a:solidFill>
              <a:latin typeface="Arial"/>
              <a:cs typeface="Arial"/>
            </a:endParaRPr>
          </a:p>
        </p:txBody>
      </p:sp>
      <p:sp>
        <p:nvSpPr>
          <p:cNvPr id="425" name="TB425">
            <a:extLst>
              <a:ext uri="{FF2B5EF4-FFF2-40B4-BE49-F238E27FC236}">
                <a16:creationId xmlns:a16="http://schemas.microsoft.com/office/drawing/2014/main" id="{95772A8E-65C7-4616-ACF6-473A1B0EB386}"/>
              </a:ext>
            </a:extLst>
          </p:cNvPr>
          <p:cNvSpPr>
            <a:spLocks noGrp="1"/>
          </p:cNvSpPr>
          <p:nvPr/>
        </p:nvSpPr>
        <p:spPr>
          <a:xfrm>
            <a:off x="6216674" y="5043200"/>
            <a:ext cx="31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sitio y clima</a:t>
            </a:r>
            <a:endParaRPr sz="1200">
              <a:solidFill>
                <a:srgbClr val="4B5563"/>
              </a:solidFill>
              <a:latin typeface="Arial"/>
              <a:cs typeface="Arial"/>
            </a:endParaRPr>
          </a:p>
        </p:txBody>
      </p:sp>
      <p:sp>
        <p:nvSpPr>
          <p:cNvPr id="426" name="SH426">
            <a:extLst>
              <a:ext uri="{FF2B5EF4-FFF2-40B4-BE49-F238E27FC236}">
                <a16:creationId xmlns:a16="http://schemas.microsoft.com/office/drawing/2014/main" id="{019B8D8F-E4FF-4F4A-B76A-977A7FA4BA31}"/>
              </a:ext>
            </a:extLst>
          </p:cNvPr>
          <p:cNvSpPr>
            <a:spLocks noGrp="1"/>
          </p:cNvSpPr>
          <p:nvPr/>
        </p:nvSpPr>
        <p:spPr>
          <a:xfrm>
            <a:off x="9261674" y="4708200"/>
            <a:ext cx="210000" cy="21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7" name="SH427">
            <a:extLst>
              <a:ext uri="{FF2B5EF4-FFF2-40B4-BE49-F238E27FC236}">
                <a16:creationId xmlns:a16="http://schemas.microsoft.com/office/drawing/2014/main" id="{330C2064-4349-4D49-9F94-1C5341B0BBB6}"/>
              </a:ext>
            </a:extLst>
          </p:cNvPr>
          <p:cNvSpPr>
            <a:spLocks noGrp="1"/>
          </p:cNvSpPr>
          <p:nvPr/>
        </p:nvSpPr>
        <p:spPr>
          <a:xfrm>
            <a:off x="9681674" y="4708200"/>
            <a:ext cx="210000" cy="21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8" name="SH428">
            <a:extLst>
              <a:ext uri="{FF2B5EF4-FFF2-40B4-BE49-F238E27FC236}">
                <a16:creationId xmlns:a16="http://schemas.microsoft.com/office/drawing/2014/main" id="{D62C47EF-F949-4CD9-B9BE-C5BE2DBE4B79}"/>
              </a:ext>
            </a:extLst>
          </p:cNvPr>
          <p:cNvSpPr>
            <a:spLocks noGrp="1"/>
          </p:cNvSpPr>
          <p:nvPr/>
        </p:nvSpPr>
        <p:spPr>
          <a:xfrm>
            <a:off x="10101674" y="4708200"/>
            <a:ext cx="210000" cy="21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9" name="SH429">
            <a:extLst>
              <a:ext uri="{FF2B5EF4-FFF2-40B4-BE49-F238E27FC236}">
                <a16:creationId xmlns:a16="http://schemas.microsoft.com/office/drawing/2014/main" id="{CD340ABD-E4EF-440B-870C-082F8EAB7C06}"/>
              </a:ext>
            </a:extLst>
          </p:cNvPr>
          <p:cNvSpPr>
            <a:spLocks noGrp="1"/>
          </p:cNvSpPr>
          <p:nvPr/>
        </p:nvSpPr>
        <p:spPr>
          <a:xfrm>
            <a:off x="10521674" y="4708200"/>
            <a:ext cx="210000" cy="21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30" name="SH430">
            <a:extLst>
              <a:ext uri="{FF2B5EF4-FFF2-40B4-BE49-F238E27FC236}">
                <a16:creationId xmlns:a16="http://schemas.microsoft.com/office/drawing/2014/main" id="{E066F75D-5B9F-4064-B14D-A5B0BCB39C11}"/>
              </a:ext>
            </a:extLst>
          </p:cNvPr>
          <p:cNvSpPr>
            <a:spLocks noGrp="1"/>
          </p:cNvSpPr>
          <p:nvPr/>
        </p:nvSpPr>
        <p:spPr>
          <a:xfrm>
            <a:off x="10941674" y="4708200"/>
            <a:ext cx="210000" cy="21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1D15FD6-C9FC-4449-AA3B-446C6AA71D71}"/>
              </a:ext>
            </a:extLst>
          </p:cNvPr>
          <p:cNvSpPr>
            <a:spLocks noGrp="1"/>
          </p:cNvSpPr>
          <p:nvPr/>
        </p:nvSpPr>
        <p:spPr>
          <a:xfrm>
            <a:off x="600075" y="5735829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: Duncanson et al. (2022); Kellner et al. (2023); Duncanson et al. (2019); Subedi y Zurqani (2026). GEDI/UMD Products; LP DAAC GEDI02 User Guides; ORNL DAAC L4A/L4B.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E01A39D-055C-4DEE-A43C-FB7701A1A785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4B5563"/>
                </a:solidFill>
                <a:latin typeface="Arial"/>
                <a:ea typeface="Arial"/>
                <a:cs typeface="Arial"/>
              </a:rPr>
              <a:t>29/79</a:t>
            </a:r>
            <a:endParaRPr sz="120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3B81879-3D42-4EF7-BC7C-DC8BB2212B5E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41A783A-A9CB-4E59-816E-E1D741ED1376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31" name="Rectángulo 430">
            <a:extLst>
              <a:ext uri="{FF2B5EF4-FFF2-40B4-BE49-F238E27FC236}">
                <a16:creationId xmlns:a16="http://schemas.microsoft.com/office/drawing/2014/main" id="{1C58F7C0-8E95-4195-909E-80562C752AC3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>
                <a:solidFill>
                  <a:srgbClr val="4B5563"/>
                </a:solidFill>
                <a:latin typeface="Arial"/>
                <a:ea typeface="Arial"/>
                <a:cs typeface="Arial"/>
              </a:rPr>
              <a:t>29/79</a:t>
            </a:r>
            <a:endParaRPr sz="120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9174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9A1F08-5406-43D0-BAE0-1D9D54BA012C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Topografía como predictor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DFBB70-62AD-401C-A110-1F11EA8EDF8E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Efecto de la pendiente y la topografía compleja sobre la señal lidar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E96825-F2A1-4CCD-AA05-6D058B4F6706}"/>
              </a:ext>
            </a:extLst>
          </p:cNvPr>
          <p:cNvSpPr>
            <a:spLocks noGrp="1"/>
          </p:cNvSpPr>
          <p:nvPr/>
        </p:nvSpPr>
        <p:spPr>
          <a:xfrm>
            <a:off x="596900" y="1270000"/>
            <a:ext cx="5689600" cy="42672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Control ambiental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Altitud, pendiente y exposición condicionan clima, suelo y productividad.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Gradiente regional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gradiente oeste–este de humedad se expresa en estructura y biomasa.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Valor como predictor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Son variables continuas y baratas: permiten extrapolar GEDI fuera de las transectas.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Precaución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También inducen artefactos si no se corrige la geometría del terreno.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45970BD-B9D3-49C0-8BE9-BD16AD8BF8EB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CIEFAP/SNMBN Bosque Andino Patagónico; Argentina Ambiente Mapas de Bosque Nativo; Chubut OTBN.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098A4AD-56D8-494D-B22B-5DAFDDA864FD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30/79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D3EEB01-4E7F-4E24-AC37-32BFF0A7A2B2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C943225-05DB-4416-BA59-3FEA074FC55F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graphicFrame>
        <p:nvGraphicFramePr>
          <p:cNvPr id="29" name="Tabla 20"/>
          <p:cNvGraphicFramePr/>
          <p:nvPr/>
        </p:nvGraphicFramePr>
        <p:xfrm>
          <a:off x="6770624" y="1366520"/>
          <a:ext cx="4572000" cy="41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1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Uso en biomasa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elevación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clima y pisos de vegetación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productividad y error GEDI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orientación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radiación y humedad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curvatura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suelo, acumulación y drenaje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Rectángulo 20">
            <a:extLst>
              <a:ext uri="{FF2B5EF4-FFF2-40B4-BE49-F238E27FC236}">
                <a16:creationId xmlns:a16="http://schemas.microsoft.com/office/drawing/2014/main" id="{1A43D0B5-DD1E-4DAA-AD1A-62E124947B4C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30/79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42003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E8DA78-1541-41A1-8443-2EB43CD2BD85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Disturbios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75F415-DCFA-47E9-A18F-EC8ABAD42637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Fuego, tala, viento y pastoreo cambian la señal estructural que mide GEDI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F8E3EF-7533-4391-8786-4B538734A8D1}"/>
              </a:ext>
            </a:extLst>
          </p:cNvPr>
          <p:cNvSpPr>
            <a:spLocks noGrp="1"/>
          </p:cNvSpPr>
          <p:nvPr/>
        </p:nvSpPr>
        <p:spPr>
          <a:xfrm>
            <a:off x="596900" y="1257300"/>
            <a:ext cx="4470400" cy="4368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Incendios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Reducen la biomasa y cambian de forma abrupta el dosel.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Aprovechamiento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Genera claros pequeños que GEDI detecta solo si los muestrea.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Viento y nieve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Alteran la estructura sin cambiar la clase de cobertura.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Recuperación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Décadas o siglos: sin fecha ni severidad, la huella ya no representa al bosque actual.</a:t>
            </a:r>
          </a:p>
        </p:txBody>
      </p:sp>
      <p:sp>
        <p:nvSpPr>
          <p:cNvPr id="301" name="TB301">
            <a:extLst>
              <a:ext uri="{FF2B5EF4-FFF2-40B4-BE49-F238E27FC236}">
                <a16:creationId xmlns:a16="http://schemas.microsoft.com/office/drawing/2014/main" id="{ED73F607-EE0F-4C32-A3F8-734FD5A39717}"/>
              </a:ext>
            </a:extLst>
          </p:cNvPr>
          <p:cNvSpPr>
            <a:spLocks noGrp="1"/>
          </p:cNvSpPr>
          <p:nvPr/>
        </p:nvSpPr>
        <p:spPr>
          <a:xfrm>
            <a:off x="5955326" y="1259442"/>
            <a:ext cx="575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Trayectorias conceptuales después del fuego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2" name="TB302">
            <a:extLst>
              <a:ext uri="{FF2B5EF4-FFF2-40B4-BE49-F238E27FC236}">
                <a16:creationId xmlns:a16="http://schemas.microsoft.com/office/drawing/2014/main" id="{875AEB31-4E24-437F-93CF-BD09C48A217A}"/>
              </a:ext>
            </a:extLst>
          </p:cNvPr>
          <p:cNvSpPr>
            <a:spLocks noGrp="1"/>
          </p:cNvSpPr>
          <p:nvPr/>
        </p:nvSpPr>
        <p:spPr>
          <a:xfrm>
            <a:off x="5955326" y="1629442"/>
            <a:ext cx="575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Bosque andino-patagónico: la escala depende de la severidad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3" name="SH303">
            <a:extLst>
              <a:ext uri="{FF2B5EF4-FFF2-40B4-BE49-F238E27FC236}">
                <a16:creationId xmlns:a16="http://schemas.microsoft.com/office/drawing/2014/main" id="{4B3A0C89-2C6B-410B-9F1A-0C6FDD795DF1}"/>
              </a:ext>
            </a:extLst>
          </p:cNvPr>
          <p:cNvSpPr>
            <a:spLocks noGrp="1"/>
          </p:cNvSpPr>
          <p:nvPr/>
        </p:nvSpPr>
        <p:spPr>
          <a:xfrm>
            <a:off x="6305326" y="3579442"/>
            <a:ext cx="4800000" cy="14000"/>
          </a:xfrm>
          <a:prstGeom prst="rect">
            <a:avLst/>
          </a:prstGeom>
          <a:solidFill>
            <a:srgbClr val="C8D2CC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304" name="SH304">
            <a:extLst>
              <a:ext uri="{FF2B5EF4-FFF2-40B4-BE49-F238E27FC236}">
                <a16:creationId xmlns:a16="http://schemas.microsoft.com/office/drawing/2014/main" id="{C67C2F7A-55FA-4F78-8201-3DAA89796778}"/>
              </a:ext>
            </a:extLst>
          </p:cNvPr>
          <p:cNvSpPr>
            <a:spLocks noGrp="1"/>
          </p:cNvSpPr>
          <p:nvPr/>
        </p:nvSpPr>
        <p:spPr>
          <a:xfrm>
            <a:off x="6537326" y="2819442"/>
            <a:ext cx="16000" cy="760000"/>
          </a:xfrm>
          <a:prstGeom prst="rect">
            <a:avLst/>
          </a:prstGeom>
          <a:solidFill>
            <a:srgbClr val="C8D2CC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305" name="SH305">
            <a:extLst>
              <a:ext uri="{FF2B5EF4-FFF2-40B4-BE49-F238E27FC236}">
                <a16:creationId xmlns:a16="http://schemas.microsoft.com/office/drawing/2014/main" id="{EF5C4557-B9D7-4D54-AE0C-34BD3366FFBC}"/>
              </a:ext>
            </a:extLst>
          </p:cNvPr>
          <p:cNvSpPr>
            <a:spLocks noGrp="1"/>
          </p:cNvSpPr>
          <p:nvPr/>
        </p:nvSpPr>
        <p:spPr>
          <a:xfrm>
            <a:off x="6430326" y="3464442"/>
            <a:ext cx="230000" cy="230000"/>
          </a:xfrm>
          <a:prstGeom prst="ellipse">
            <a:avLst/>
          </a:prstGeom>
          <a:solidFill>
            <a:srgbClr val="95C9AE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306" name="TB306">
            <a:extLst>
              <a:ext uri="{FF2B5EF4-FFF2-40B4-BE49-F238E27FC236}">
                <a16:creationId xmlns:a16="http://schemas.microsoft.com/office/drawing/2014/main" id="{951C689D-740D-4034-87A1-57802D571546}"/>
              </a:ext>
            </a:extLst>
          </p:cNvPr>
          <p:cNvSpPr>
            <a:spLocks noGrp="1"/>
          </p:cNvSpPr>
          <p:nvPr/>
        </p:nvSpPr>
        <p:spPr>
          <a:xfrm>
            <a:off x="5395326" y="2019442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Severidad baja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7" name="TB307">
            <a:extLst>
              <a:ext uri="{FF2B5EF4-FFF2-40B4-BE49-F238E27FC236}">
                <a16:creationId xmlns:a16="http://schemas.microsoft.com/office/drawing/2014/main" id="{FD0C3DAB-7C06-414B-8DEA-D97D04BDEE52}"/>
              </a:ext>
            </a:extLst>
          </p:cNvPr>
          <p:cNvSpPr>
            <a:spLocks noGrp="1"/>
          </p:cNvSpPr>
          <p:nvPr/>
        </p:nvSpPr>
        <p:spPr>
          <a:xfrm>
            <a:off x="5395326" y="2309442"/>
            <a:ext cx="2300000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2D6A4F"/>
                </a:solidFill>
                <a:latin typeface="Arial"/>
                <a:ea typeface="Arial"/>
                <a:cs typeface="Arial"/>
              </a:rPr>
              <a:t>décadas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8" name="TB308">
            <a:extLst>
              <a:ext uri="{FF2B5EF4-FFF2-40B4-BE49-F238E27FC236}">
                <a16:creationId xmlns:a16="http://schemas.microsoft.com/office/drawing/2014/main" id="{B9991960-DD2B-4413-9979-EEC5855D462A}"/>
              </a:ext>
            </a:extLst>
          </p:cNvPr>
          <p:cNvSpPr>
            <a:spLocks noGrp="1"/>
          </p:cNvSpPr>
          <p:nvPr/>
        </p:nvSpPr>
        <p:spPr>
          <a:xfrm>
            <a:off x="5295326" y="2579442"/>
            <a:ext cx="25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dosel vivo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9" name="SH309">
            <a:extLst>
              <a:ext uri="{FF2B5EF4-FFF2-40B4-BE49-F238E27FC236}">
                <a16:creationId xmlns:a16="http://schemas.microsoft.com/office/drawing/2014/main" id="{878903EE-C673-4C72-A646-CF1C6CE7CAB7}"/>
              </a:ext>
            </a:extLst>
          </p:cNvPr>
          <p:cNvSpPr>
            <a:spLocks noGrp="1"/>
          </p:cNvSpPr>
          <p:nvPr/>
        </p:nvSpPr>
        <p:spPr>
          <a:xfrm>
            <a:off x="7977326" y="3579442"/>
            <a:ext cx="16000" cy="760000"/>
          </a:xfrm>
          <a:prstGeom prst="rect">
            <a:avLst/>
          </a:prstGeom>
          <a:solidFill>
            <a:srgbClr val="C8D2CC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310" name="SH310">
            <a:extLst>
              <a:ext uri="{FF2B5EF4-FFF2-40B4-BE49-F238E27FC236}">
                <a16:creationId xmlns:a16="http://schemas.microsoft.com/office/drawing/2014/main" id="{68BDBF98-55C9-4792-965B-88BDF2872158}"/>
              </a:ext>
            </a:extLst>
          </p:cNvPr>
          <p:cNvSpPr>
            <a:spLocks noGrp="1"/>
          </p:cNvSpPr>
          <p:nvPr/>
        </p:nvSpPr>
        <p:spPr>
          <a:xfrm>
            <a:off x="7870326" y="3464442"/>
            <a:ext cx="230000" cy="230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311" name="TB311">
            <a:extLst>
              <a:ext uri="{FF2B5EF4-FFF2-40B4-BE49-F238E27FC236}">
                <a16:creationId xmlns:a16="http://schemas.microsoft.com/office/drawing/2014/main" id="{8E06A49B-2279-45CE-8DEB-7FDDFDA76E15}"/>
              </a:ext>
            </a:extLst>
          </p:cNvPr>
          <p:cNvSpPr>
            <a:spLocks noGrp="1"/>
          </p:cNvSpPr>
          <p:nvPr/>
        </p:nvSpPr>
        <p:spPr>
          <a:xfrm>
            <a:off x="6835326" y="3809442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Severidad media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2" name="TB312">
            <a:extLst>
              <a:ext uri="{FF2B5EF4-FFF2-40B4-BE49-F238E27FC236}">
                <a16:creationId xmlns:a16="http://schemas.microsoft.com/office/drawing/2014/main" id="{8546DD71-8338-46BB-A375-678458921DAE}"/>
              </a:ext>
            </a:extLst>
          </p:cNvPr>
          <p:cNvSpPr>
            <a:spLocks noGrp="1"/>
          </p:cNvSpPr>
          <p:nvPr/>
        </p:nvSpPr>
        <p:spPr>
          <a:xfrm>
            <a:off x="6835326" y="4099442"/>
            <a:ext cx="2300000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4F9A74"/>
                </a:solidFill>
                <a:latin typeface="Arial"/>
                <a:ea typeface="Arial"/>
                <a:cs typeface="Arial"/>
              </a:rPr>
              <a:t>escala secular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3" name="TB313">
            <a:extLst>
              <a:ext uri="{FF2B5EF4-FFF2-40B4-BE49-F238E27FC236}">
                <a16:creationId xmlns:a16="http://schemas.microsoft.com/office/drawing/2014/main" id="{B1365BD6-1B89-4C03-B431-912BA4E953E1}"/>
              </a:ext>
            </a:extLst>
          </p:cNvPr>
          <p:cNvSpPr>
            <a:spLocks noGrp="1"/>
          </p:cNvSpPr>
          <p:nvPr/>
        </p:nvSpPr>
        <p:spPr>
          <a:xfrm>
            <a:off x="6735326" y="4369442"/>
            <a:ext cx="25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mortalidad parcial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4" name="SH314">
            <a:extLst>
              <a:ext uri="{FF2B5EF4-FFF2-40B4-BE49-F238E27FC236}">
                <a16:creationId xmlns:a16="http://schemas.microsoft.com/office/drawing/2014/main" id="{2A9FAA01-6B22-4BFD-AD81-11BB52B3770B}"/>
              </a:ext>
            </a:extLst>
          </p:cNvPr>
          <p:cNvSpPr>
            <a:spLocks noGrp="1"/>
          </p:cNvSpPr>
          <p:nvPr/>
        </p:nvSpPr>
        <p:spPr>
          <a:xfrm>
            <a:off x="9465326" y="2819442"/>
            <a:ext cx="16000" cy="760000"/>
          </a:xfrm>
          <a:prstGeom prst="rect">
            <a:avLst/>
          </a:prstGeom>
          <a:solidFill>
            <a:srgbClr val="C8D2CC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315" name="SH315">
            <a:extLst>
              <a:ext uri="{FF2B5EF4-FFF2-40B4-BE49-F238E27FC236}">
                <a16:creationId xmlns:a16="http://schemas.microsoft.com/office/drawing/2014/main" id="{53F23B3C-99A2-4107-B974-E24FA7485553}"/>
              </a:ext>
            </a:extLst>
          </p:cNvPr>
          <p:cNvSpPr>
            <a:spLocks noGrp="1"/>
          </p:cNvSpPr>
          <p:nvPr/>
        </p:nvSpPr>
        <p:spPr>
          <a:xfrm>
            <a:off x="9358326" y="3464442"/>
            <a:ext cx="230000" cy="23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316" name="TB316">
            <a:extLst>
              <a:ext uri="{FF2B5EF4-FFF2-40B4-BE49-F238E27FC236}">
                <a16:creationId xmlns:a16="http://schemas.microsoft.com/office/drawing/2014/main" id="{2AB6F206-9D6B-4F3C-B320-2E5BD5FE093B}"/>
              </a:ext>
            </a:extLst>
          </p:cNvPr>
          <p:cNvSpPr>
            <a:spLocks noGrp="1"/>
          </p:cNvSpPr>
          <p:nvPr/>
        </p:nvSpPr>
        <p:spPr>
          <a:xfrm>
            <a:off x="8323326" y="2019442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Severidad alta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7" name="TB317">
            <a:extLst>
              <a:ext uri="{FF2B5EF4-FFF2-40B4-BE49-F238E27FC236}">
                <a16:creationId xmlns:a16="http://schemas.microsoft.com/office/drawing/2014/main" id="{6E11EEE9-94C9-4817-BB57-7AF54B06FBAA}"/>
              </a:ext>
            </a:extLst>
          </p:cNvPr>
          <p:cNvSpPr>
            <a:spLocks noGrp="1"/>
          </p:cNvSpPr>
          <p:nvPr/>
        </p:nvSpPr>
        <p:spPr>
          <a:xfrm>
            <a:off x="8323326" y="2309442"/>
            <a:ext cx="2300000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2D6A4F"/>
                </a:solidFill>
                <a:latin typeface="Arial"/>
                <a:ea typeface="Arial"/>
                <a:cs typeface="Arial"/>
              </a:rPr>
              <a:t>siglos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8" name="TB318">
            <a:extLst>
              <a:ext uri="{FF2B5EF4-FFF2-40B4-BE49-F238E27FC236}">
                <a16:creationId xmlns:a16="http://schemas.microsoft.com/office/drawing/2014/main" id="{F1BB129E-32F7-46D6-96EF-A4828233F1E2}"/>
              </a:ext>
            </a:extLst>
          </p:cNvPr>
          <p:cNvSpPr>
            <a:spLocks noGrp="1"/>
          </p:cNvSpPr>
          <p:nvPr/>
        </p:nvSpPr>
        <p:spPr>
          <a:xfrm>
            <a:off x="8223326" y="2579442"/>
            <a:ext cx="25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semilleros lejanos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9" name="SH319">
            <a:extLst>
              <a:ext uri="{FF2B5EF4-FFF2-40B4-BE49-F238E27FC236}">
                <a16:creationId xmlns:a16="http://schemas.microsoft.com/office/drawing/2014/main" id="{A778DD26-05FB-48DA-AF97-005EDF999AA6}"/>
              </a:ext>
            </a:extLst>
          </p:cNvPr>
          <p:cNvSpPr>
            <a:spLocks noGrp="1"/>
          </p:cNvSpPr>
          <p:nvPr/>
        </p:nvSpPr>
        <p:spPr>
          <a:xfrm>
            <a:off x="10857326" y="3579442"/>
            <a:ext cx="16000" cy="760000"/>
          </a:xfrm>
          <a:prstGeom prst="rect">
            <a:avLst/>
          </a:prstGeom>
          <a:solidFill>
            <a:srgbClr val="C8D2CC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320" name="SH320">
            <a:extLst>
              <a:ext uri="{FF2B5EF4-FFF2-40B4-BE49-F238E27FC236}">
                <a16:creationId xmlns:a16="http://schemas.microsoft.com/office/drawing/2014/main" id="{80B60EBF-C15E-4BD0-B25E-104CD3A8FF5F}"/>
              </a:ext>
            </a:extLst>
          </p:cNvPr>
          <p:cNvSpPr>
            <a:spLocks noGrp="1"/>
          </p:cNvSpPr>
          <p:nvPr/>
        </p:nvSpPr>
        <p:spPr>
          <a:xfrm>
            <a:off x="10750326" y="3464442"/>
            <a:ext cx="230000" cy="230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321" name="TB321">
            <a:extLst>
              <a:ext uri="{FF2B5EF4-FFF2-40B4-BE49-F238E27FC236}">
                <a16:creationId xmlns:a16="http://schemas.microsoft.com/office/drawing/2014/main" id="{CE7E8871-A1D3-4C97-AC83-A82288AAAFDE}"/>
              </a:ext>
            </a:extLst>
          </p:cNvPr>
          <p:cNvSpPr>
            <a:spLocks noGrp="1"/>
          </p:cNvSpPr>
          <p:nvPr/>
        </p:nvSpPr>
        <p:spPr>
          <a:xfrm>
            <a:off x="9715326" y="3809442"/>
            <a:ext cx="2300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Severidad extrema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2" name="TB322">
            <a:extLst>
              <a:ext uri="{FF2B5EF4-FFF2-40B4-BE49-F238E27FC236}">
                <a16:creationId xmlns:a16="http://schemas.microsoft.com/office/drawing/2014/main" id="{0EB88223-248D-4239-B12E-DC4129A607E6}"/>
              </a:ext>
            </a:extLst>
          </p:cNvPr>
          <p:cNvSpPr>
            <a:spLocks noGrp="1"/>
          </p:cNvSpPr>
          <p:nvPr/>
        </p:nvSpPr>
        <p:spPr>
          <a:xfrm>
            <a:off x="9715326" y="4099442"/>
            <a:ext cx="2300000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estado alternativo posible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3" name="TB323">
            <a:extLst>
              <a:ext uri="{FF2B5EF4-FFF2-40B4-BE49-F238E27FC236}">
                <a16:creationId xmlns:a16="http://schemas.microsoft.com/office/drawing/2014/main" id="{5BA53EA0-305F-4ABA-A81A-406F34B331A9}"/>
              </a:ext>
            </a:extLst>
          </p:cNvPr>
          <p:cNvSpPr>
            <a:spLocks noGrp="1"/>
          </p:cNvSpPr>
          <p:nvPr/>
        </p:nvSpPr>
        <p:spPr>
          <a:xfrm>
            <a:off x="9615326" y="4369442"/>
            <a:ext cx="25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depende de retroalimentaciones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4" name="TB324">
            <a:extLst>
              <a:ext uri="{FF2B5EF4-FFF2-40B4-BE49-F238E27FC236}">
                <a16:creationId xmlns:a16="http://schemas.microsoft.com/office/drawing/2014/main" id="{C008B751-1510-4068-A17E-266385D6FA7B}"/>
              </a:ext>
            </a:extLst>
          </p:cNvPr>
          <p:cNvSpPr>
            <a:spLocks noGrp="1"/>
          </p:cNvSpPr>
          <p:nvPr/>
        </p:nvSpPr>
        <p:spPr>
          <a:xfrm>
            <a:off x="5955326" y="4709674"/>
            <a:ext cx="575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Lenga y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ciprés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dependen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principalmente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 de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regeneración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por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semilla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; la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respuesta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varía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 con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especie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 y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contexto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: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dependen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 de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semilla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 de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bordes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 o </a:t>
            </a:r>
            <a:r>
              <a:rPr sz="1400" b="0" i="1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refugios</a:t>
            </a:r>
            <a:r>
              <a:rPr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9CAE67E-8306-4C56-B740-CB4DC49AF7E9}"/>
              </a:ext>
            </a:extLst>
          </p:cNvPr>
          <p:cNvSpPr>
            <a:spLocks noGrp="1"/>
          </p:cNvSpPr>
          <p:nvPr/>
        </p:nvSpPr>
        <p:spPr>
          <a:xfrm>
            <a:off x="600075" y="5884322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Paritsis et al. (2015); Kitzberger y Veblen (1999); Kitzberger et al. (2016); Landesmann et al. (2016); Urretavizcaya y Defossé (2019). Cartografía: CIEFAP/SNMBN; Chubut OTBN.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6EE9B2B-836C-4785-9AD9-FCEE0356C472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31/79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C9F88BD-92DA-4A51-A4F9-AD41FA1850F2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C21171F-2155-43EF-A1B7-EB226D0D30E6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325" name="Rectángulo 324">
            <a:extLst>
              <a:ext uri="{FF2B5EF4-FFF2-40B4-BE49-F238E27FC236}">
                <a16:creationId xmlns:a16="http://schemas.microsoft.com/office/drawing/2014/main" id="{9DEA038C-302E-47B7-BF5D-F3573E235F51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31/79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9306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FC4FD4-3843-4FC9-BBD1-CA5EBA026683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Muestreo GEDI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A3880C-D414-4EE1-B97C-2492453F048E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Densidad y discontinuidad espacial del muestreo de huellas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36102D6-0FBF-4009-A426-7DBD909C4513}"/>
              </a:ext>
            </a:extLst>
          </p:cNvPr>
          <p:cNvSpPr>
            <a:spLocks noGrp="1"/>
          </p:cNvSpPr>
          <p:nvPr/>
        </p:nvSpPr>
        <p:spPr>
          <a:xfrm>
            <a:off x="600075" y="5918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: NASA GEDI/UMD; NASA GSFC SVS 13090; Dubayah et al. (2020). NASA Earthdata GEDI v3 release; ORNL DAAC GEDI L4A v3, DOI 10.3334/ORNLDAAC/2508.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D1E065F-67A8-408D-835F-1A24D2735569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32/79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3B155C-D2C5-4B54-AF77-AD9B24879BBF}"/>
              </a:ext>
            </a:extLst>
          </p:cNvPr>
          <p:cNvSpPr>
            <a:spLocks noGrp="1"/>
          </p:cNvSpPr>
          <p:nvPr/>
        </p:nvSpPr>
        <p:spPr>
          <a:xfrm>
            <a:off x="596900" y="1193800"/>
            <a:ext cx="6096000" cy="45212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Cobertura discontinua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GEDI no observa de forma continua: mide transectas separadas por órbitas.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Densidad variable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número de huellas cambia con la fecha, la latitud, las nubes y la calidad.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Requisito para extrapolar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Predictores continuos y validación independiente del conjunto de ajuste.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Verificación previa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Contar huellas válidas por estrato antes de comprometer un mapa.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E0CD8879-F45A-41D1-A106-EF37C2FBEE41}"/>
              </a:ext>
            </a:extLst>
          </p:cNvPr>
          <p:cNvSpPr>
            <a:spLocks noGrp="1"/>
          </p:cNvSpPr>
          <p:nvPr/>
        </p:nvSpPr>
        <p:spPr>
          <a:xfrm>
            <a:off x="7391400" y="1143000"/>
            <a:ext cx="431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Del </a:t>
            </a:r>
            <a:r>
              <a:rPr sz="1600" b="1" i="0" dirty="0" err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dato</a:t>
            </a:r>
            <a:r>
              <a:rPr sz="16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 crudo al </a:t>
            </a:r>
            <a:r>
              <a:rPr sz="1600" b="1" i="0" dirty="0" err="1">
                <a:solidFill>
                  <a:srgbClr val="1B4332"/>
                </a:solidFill>
                <a:latin typeface="Arial"/>
                <a:ea typeface="Arial"/>
                <a:cs typeface="Arial"/>
              </a:rPr>
              <a:t>mapa</a:t>
            </a:r>
            <a:r>
              <a:rPr sz="16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 con </a:t>
            </a:r>
            <a:r>
              <a:rPr sz="1600" b="1" i="0" dirty="0" err="1">
                <a:solidFill>
                  <a:srgbClr val="1B4332"/>
                </a:solidFill>
                <a:latin typeface="Arial"/>
                <a:ea typeface="Arial"/>
                <a:cs typeface="Arial"/>
              </a:rPr>
              <a:t>incertidumbre</a:t>
            </a:r>
            <a:endParaRPr sz="1600" b="1" dirty="0">
              <a:latin typeface="Arial"/>
              <a:cs typeface="Arial"/>
            </a:endParaRPr>
          </a:p>
        </p:txBody>
      </p:sp>
      <p:sp>
        <p:nvSpPr>
          <p:cNvPr id="402" name="TB402">
            <a:extLst>
              <a:ext uri="{FF2B5EF4-FFF2-40B4-BE49-F238E27FC236}">
                <a16:creationId xmlns:a16="http://schemas.microsoft.com/office/drawing/2014/main" id="{99F03C42-8792-4EAC-9FE2-0162A5D16BBD}"/>
              </a:ext>
            </a:extLst>
          </p:cNvPr>
          <p:cNvSpPr>
            <a:spLocks noGrp="1"/>
          </p:cNvSpPr>
          <p:nvPr/>
        </p:nvSpPr>
        <p:spPr>
          <a:xfrm>
            <a:off x="7391400" y="1473200"/>
            <a:ext cx="4318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MX" sz="1500" b="0" i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Cada paso condiciona al siguiente.</a:t>
            </a:r>
            <a:endParaRPr lang="es-MX" sz="1500" dirty="0">
              <a:latin typeface="Arial"/>
              <a:cs typeface="Arial"/>
            </a:endParaRPr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BC22AB5F-C7AE-47A4-BCB5-29F1BF1CE0ED}"/>
              </a:ext>
            </a:extLst>
          </p:cNvPr>
          <p:cNvSpPr>
            <a:spLocks noGrp="1"/>
          </p:cNvSpPr>
          <p:nvPr/>
        </p:nvSpPr>
        <p:spPr>
          <a:xfrm>
            <a:off x="7391400" y="1981200"/>
            <a:ext cx="2997200" cy="660400"/>
          </a:xfrm>
          <a:prstGeom prst="homePlate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C05F9166-BC96-4093-9914-814F0C70D5DA}"/>
              </a:ext>
            </a:extLst>
          </p:cNvPr>
          <p:cNvSpPr>
            <a:spLocks noGrp="1"/>
          </p:cNvSpPr>
          <p:nvPr/>
        </p:nvSpPr>
        <p:spPr>
          <a:xfrm>
            <a:off x="7556790" y="2164440"/>
            <a:ext cx="360000" cy="360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5" name="TB405">
            <a:extLst>
              <a:ext uri="{FF2B5EF4-FFF2-40B4-BE49-F238E27FC236}">
                <a16:creationId xmlns:a16="http://schemas.microsoft.com/office/drawing/2014/main" id="{07FA2825-2464-4DCF-8DFC-40B0052BC5DE}"/>
              </a:ext>
            </a:extLst>
          </p:cNvPr>
          <p:cNvSpPr>
            <a:spLocks noGrp="1"/>
          </p:cNvSpPr>
          <p:nvPr/>
        </p:nvSpPr>
        <p:spPr>
          <a:xfrm>
            <a:off x="7556790" y="2184400"/>
            <a:ext cx="36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500" b="1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</a:rPr>
              <a:t>1</a:t>
            </a:r>
            <a:endParaRPr lang="es-ES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406" name="TB406">
            <a:extLst>
              <a:ext uri="{FF2B5EF4-FFF2-40B4-BE49-F238E27FC236}">
                <a16:creationId xmlns:a16="http://schemas.microsoft.com/office/drawing/2014/main" id="{76C3BDCA-AEE3-4D66-BB9E-B48C9B16F23E}"/>
              </a:ext>
            </a:extLst>
          </p:cNvPr>
          <p:cNvSpPr>
            <a:spLocks noGrp="1"/>
          </p:cNvSpPr>
          <p:nvPr/>
        </p:nvSpPr>
        <p:spPr>
          <a:xfrm>
            <a:off x="8051800" y="20447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huellas válidas</a:t>
            </a:r>
            <a:endParaRPr sz="1500" b="1">
              <a:latin typeface="Arial"/>
              <a:cs typeface="Arial"/>
            </a:endParaRPr>
          </a:p>
        </p:txBody>
      </p:sp>
      <p:sp>
        <p:nvSpPr>
          <p:cNvPr id="407" name="TB407">
            <a:extLst>
              <a:ext uri="{FF2B5EF4-FFF2-40B4-BE49-F238E27FC236}">
                <a16:creationId xmlns:a16="http://schemas.microsoft.com/office/drawing/2014/main" id="{4CC27FCA-1932-47D6-BCD7-716E507E92F5}"/>
              </a:ext>
            </a:extLst>
          </p:cNvPr>
          <p:cNvSpPr>
            <a:spLocks noGrp="1"/>
          </p:cNvSpPr>
          <p:nvPr/>
        </p:nvSpPr>
        <p:spPr>
          <a:xfrm>
            <a:off x="8051800" y="23114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filtros</a:t>
            </a:r>
            <a:r>
              <a:rPr sz="1400" b="0" i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de </a:t>
            </a:r>
            <a:r>
              <a:rPr sz="14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calidad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4104D98B-5BFD-4A5F-9738-69A3D46F95FE}"/>
              </a:ext>
            </a:extLst>
          </p:cNvPr>
          <p:cNvSpPr>
            <a:spLocks noGrp="1"/>
          </p:cNvSpPr>
          <p:nvPr/>
        </p:nvSpPr>
        <p:spPr>
          <a:xfrm>
            <a:off x="7391400" y="2717800"/>
            <a:ext cx="2997200" cy="660400"/>
          </a:xfrm>
          <a:prstGeom prst="homePlate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209CF96F-EC0D-4878-991F-1C7D7D6723F6}"/>
              </a:ext>
            </a:extLst>
          </p:cNvPr>
          <p:cNvSpPr>
            <a:spLocks noGrp="1"/>
          </p:cNvSpPr>
          <p:nvPr/>
        </p:nvSpPr>
        <p:spPr>
          <a:xfrm>
            <a:off x="7556790" y="2904440"/>
            <a:ext cx="360000" cy="36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0" name="TB410">
            <a:extLst>
              <a:ext uri="{FF2B5EF4-FFF2-40B4-BE49-F238E27FC236}">
                <a16:creationId xmlns:a16="http://schemas.microsoft.com/office/drawing/2014/main" id="{34B9A5F5-A4BC-4828-B806-53A074F2ECA6}"/>
              </a:ext>
            </a:extLst>
          </p:cNvPr>
          <p:cNvSpPr>
            <a:spLocks noGrp="1"/>
          </p:cNvSpPr>
          <p:nvPr/>
        </p:nvSpPr>
        <p:spPr>
          <a:xfrm>
            <a:off x="7556790" y="2921000"/>
            <a:ext cx="36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500" b="1" i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</a:rPr>
              <a:t>2</a:t>
            </a:r>
            <a:endParaRPr lang="es-ES" sz="1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411" name="TB411">
            <a:extLst>
              <a:ext uri="{FF2B5EF4-FFF2-40B4-BE49-F238E27FC236}">
                <a16:creationId xmlns:a16="http://schemas.microsoft.com/office/drawing/2014/main" id="{E822DED5-29CD-47F7-9720-AA0DE0DD0690}"/>
              </a:ext>
            </a:extLst>
          </p:cNvPr>
          <p:cNvSpPr>
            <a:spLocks noGrp="1"/>
          </p:cNvSpPr>
          <p:nvPr/>
        </p:nvSpPr>
        <p:spPr>
          <a:xfrm>
            <a:off x="8051800" y="27813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predictores</a:t>
            </a:r>
            <a:endParaRPr sz="1500" b="1">
              <a:latin typeface="Arial"/>
              <a:cs typeface="Arial"/>
            </a:endParaRPr>
          </a:p>
        </p:txBody>
      </p:sp>
      <p:sp>
        <p:nvSpPr>
          <p:cNvPr id="412" name="TB412">
            <a:extLst>
              <a:ext uri="{FF2B5EF4-FFF2-40B4-BE49-F238E27FC236}">
                <a16:creationId xmlns:a16="http://schemas.microsoft.com/office/drawing/2014/main" id="{26D2903A-4F28-4D62-B1E4-D481F9B991E0}"/>
              </a:ext>
            </a:extLst>
          </p:cNvPr>
          <p:cNvSpPr>
            <a:spLocks noGrp="1"/>
          </p:cNvSpPr>
          <p:nvPr/>
        </p:nvSpPr>
        <p:spPr>
          <a:xfrm>
            <a:off x="8051800" y="30480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ópticos, radar, terreno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700067DA-E237-4193-8145-F65B19854E97}"/>
              </a:ext>
            </a:extLst>
          </p:cNvPr>
          <p:cNvSpPr>
            <a:spLocks noGrp="1"/>
          </p:cNvSpPr>
          <p:nvPr/>
        </p:nvSpPr>
        <p:spPr>
          <a:xfrm>
            <a:off x="7391400" y="3454400"/>
            <a:ext cx="2997200" cy="660400"/>
          </a:xfrm>
          <a:prstGeom prst="homePlate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AFABF4A2-F4F9-49A6-A921-136F6AA62ED8}"/>
              </a:ext>
            </a:extLst>
          </p:cNvPr>
          <p:cNvSpPr>
            <a:spLocks noGrp="1"/>
          </p:cNvSpPr>
          <p:nvPr/>
        </p:nvSpPr>
        <p:spPr>
          <a:xfrm>
            <a:off x="7556790" y="3644440"/>
            <a:ext cx="360000" cy="36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5" name="TB415">
            <a:extLst>
              <a:ext uri="{FF2B5EF4-FFF2-40B4-BE49-F238E27FC236}">
                <a16:creationId xmlns:a16="http://schemas.microsoft.com/office/drawing/2014/main" id="{85654063-CEC7-408D-858E-7900AB9925D4}"/>
              </a:ext>
            </a:extLst>
          </p:cNvPr>
          <p:cNvSpPr>
            <a:spLocks noGrp="1"/>
          </p:cNvSpPr>
          <p:nvPr/>
        </p:nvSpPr>
        <p:spPr>
          <a:xfrm>
            <a:off x="7556790" y="3657600"/>
            <a:ext cx="36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lang="es-ES" sz="1500" b="1">
              <a:latin typeface="Arial"/>
              <a:cs typeface="Arial"/>
            </a:endParaRPr>
          </a:p>
        </p:txBody>
      </p:sp>
      <p:sp>
        <p:nvSpPr>
          <p:cNvPr id="416" name="TB416">
            <a:extLst>
              <a:ext uri="{FF2B5EF4-FFF2-40B4-BE49-F238E27FC236}">
                <a16:creationId xmlns:a16="http://schemas.microsoft.com/office/drawing/2014/main" id="{A102DD32-0135-4631-A290-78EE74B8D341}"/>
              </a:ext>
            </a:extLst>
          </p:cNvPr>
          <p:cNvSpPr>
            <a:spLocks noGrp="1"/>
          </p:cNvSpPr>
          <p:nvPr/>
        </p:nvSpPr>
        <p:spPr>
          <a:xfrm>
            <a:off x="8051800" y="35179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modelo</a:t>
            </a:r>
            <a:endParaRPr sz="1500" b="1">
              <a:latin typeface="Arial"/>
              <a:cs typeface="Arial"/>
            </a:endParaRPr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5FAB3409-9C8B-4606-AD48-AD4A57C3888B}"/>
              </a:ext>
            </a:extLst>
          </p:cNvPr>
          <p:cNvSpPr>
            <a:spLocks noGrp="1"/>
          </p:cNvSpPr>
          <p:nvPr/>
        </p:nvSpPr>
        <p:spPr>
          <a:xfrm>
            <a:off x="8051800" y="37846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ajuste y validación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1FE61DC3-F31C-4D27-9181-85A3419C75B9}"/>
              </a:ext>
            </a:extLst>
          </p:cNvPr>
          <p:cNvSpPr>
            <a:spLocks noGrp="1"/>
          </p:cNvSpPr>
          <p:nvPr/>
        </p:nvSpPr>
        <p:spPr>
          <a:xfrm>
            <a:off x="7391400" y="4191000"/>
            <a:ext cx="2997200" cy="660400"/>
          </a:xfrm>
          <a:prstGeom prst="homePlate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3DF0237C-E101-4A1D-B96C-E4A593B600CB}"/>
              </a:ext>
            </a:extLst>
          </p:cNvPr>
          <p:cNvSpPr>
            <a:spLocks noGrp="1"/>
          </p:cNvSpPr>
          <p:nvPr/>
        </p:nvSpPr>
        <p:spPr>
          <a:xfrm>
            <a:off x="7556790" y="4384440"/>
            <a:ext cx="360000" cy="36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0" name="TB420">
            <a:extLst>
              <a:ext uri="{FF2B5EF4-FFF2-40B4-BE49-F238E27FC236}">
                <a16:creationId xmlns:a16="http://schemas.microsoft.com/office/drawing/2014/main" id="{19C62BA0-8BC4-4500-926E-F3866430FF93}"/>
              </a:ext>
            </a:extLst>
          </p:cNvPr>
          <p:cNvSpPr>
            <a:spLocks noGrp="1"/>
          </p:cNvSpPr>
          <p:nvPr/>
        </p:nvSpPr>
        <p:spPr>
          <a:xfrm>
            <a:off x="7556790" y="4394200"/>
            <a:ext cx="36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500" b="1" i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</a:rPr>
              <a:t>4</a:t>
            </a:r>
            <a:endParaRPr lang="es-ES" sz="1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421" name="TB421">
            <a:extLst>
              <a:ext uri="{FF2B5EF4-FFF2-40B4-BE49-F238E27FC236}">
                <a16:creationId xmlns:a16="http://schemas.microsoft.com/office/drawing/2014/main" id="{5E66C143-B486-4E2D-A4EB-B7A1A0E15C85}"/>
              </a:ext>
            </a:extLst>
          </p:cNvPr>
          <p:cNvSpPr>
            <a:spLocks noGrp="1"/>
          </p:cNvSpPr>
          <p:nvPr/>
        </p:nvSpPr>
        <p:spPr>
          <a:xfrm>
            <a:off x="8051800" y="42545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mapa</a:t>
            </a:r>
            <a:endParaRPr sz="1500" b="1">
              <a:latin typeface="Arial"/>
              <a:cs typeface="Arial"/>
            </a:endParaRPr>
          </a:p>
        </p:txBody>
      </p:sp>
      <p:sp>
        <p:nvSpPr>
          <p:cNvPr id="422" name="TB422">
            <a:extLst>
              <a:ext uri="{FF2B5EF4-FFF2-40B4-BE49-F238E27FC236}">
                <a16:creationId xmlns:a16="http://schemas.microsoft.com/office/drawing/2014/main" id="{27541518-BDA5-4862-87A6-B54602347B22}"/>
              </a:ext>
            </a:extLst>
          </p:cNvPr>
          <p:cNvSpPr>
            <a:spLocks noGrp="1"/>
          </p:cNvSpPr>
          <p:nvPr/>
        </p:nvSpPr>
        <p:spPr>
          <a:xfrm>
            <a:off x="8051800" y="45212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predicción continua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3" name="SH423">
            <a:extLst>
              <a:ext uri="{FF2B5EF4-FFF2-40B4-BE49-F238E27FC236}">
                <a16:creationId xmlns:a16="http://schemas.microsoft.com/office/drawing/2014/main" id="{7912574B-F917-434D-9BA9-24E1223CACA2}"/>
              </a:ext>
            </a:extLst>
          </p:cNvPr>
          <p:cNvSpPr>
            <a:spLocks noGrp="1"/>
          </p:cNvSpPr>
          <p:nvPr/>
        </p:nvSpPr>
        <p:spPr>
          <a:xfrm>
            <a:off x="7391400" y="4927600"/>
            <a:ext cx="2997200" cy="660400"/>
          </a:xfrm>
          <a:prstGeom prst="homePlate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424" name="SH424">
            <a:extLst>
              <a:ext uri="{FF2B5EF4-FFF2-40B4-BE49-F238E27FC236}">
                <a16:creationId xmlns:a16="http://schemas.microsoft.com/office/drawing/2014/main" id="{935ED3E7-19DB-4599-AE92-7F25371AAE97}"/>
              </a:ext>
            </a:extLst>
          </p:cNvPr>
          <p:cNvSpPr>
            <a:spLocks noGrp="1"/>
          </p:cNvSpPr>
          <p:nvPr/>
        </p:nvSpPr>
        <p:spPr>
          <a:xfrm>
            <a:off x="7556790" y="5124440"/>
            <a:ext cx="360000" cy="360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5" name="TB425">
            <a:extLst>
              <a:ext uri="{FF2B5EF4-FFF2-40B4-BE49-F238E27FC236}">
                <a16:creationId xmlns:a16="http://schemas.microsoft.com/office/drawing/2014/main" id="{39185798-48F5-4A65-B35E-00D314DBB5E3}"/>
              </a:ext>
            </a:extLst>
          </p:cNvPr>
          <p:cNvSpPr>
            <a:spLocks noGrp="1"/>
          </p:cNvSpPr>
          <p:nvPr/>
        </p:nvSpPr>
        <p:spPr>
          <a:xfrm>
            <a:off x="7556790" y="5130800"/>
            <a:ext cx="36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lang="es-ES" sz="1500" b="1">
              <a:latin typeface="Arial"/>
              <a:cs typeface="Arial"/>
            </a:endParaRPr>
          </a:p>
        </p:txBody>
      </p:sp>
      <p:sp>
        <p:nvSpPr>
          <p:cNvPr id="426" name="TB426">
            <a:extLst>
              <a:ext uri="{FF2B5EF4-FFF2-40B4-BE49-F238E27FC236}">
                <a16:creationId xmlns:a16="http://schemas.microsoft.com/office/drawing/2014/main" id="{B65878E5-8870-4AC6-B9CD-31EFEF240354}"/>
              </a:ext>
            </a:extLst>
          </p:cNvPr>
          <p:cNvSpPr>
            <a:spLocks noGrp="1"/>
          </p:cNvSpPr>
          <p:nvPr/>
        </p:nvSpPr>
        <p:spPr>
          <a:xfrm>
            <a:off x="8051800" y="49911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incertidumbre</a:t>
            </a:r>
            <a:endParaRPr sz="1500" b="1">
              <a:latin typeface="Arial"/>
              <a:cs typeface="Arial"/>
            </a:endParaRPr>
          </a:p>
        </p:txBody>
      </p:sp>
      <p:sp>
        <p:nvSpPr>
          <p:cNvPr id="427" name="TB427">
            <a:extLst>
              <a:ext uri="{FF2B5EF4-FFF2-40B4-BE49-F238E27FC236}">
                <a16:creationId xmlns:a16="http://schemas.microsoft.com/office/drawing/2014/main" id="{8465F463-7910-4128-9A49-5FEE0EE1772A}"/>
              </a:ext>
            </a:extLst>
          </p:cNvPr>
          <p:cNvSpPr>
            <a:spLocks noGrp="1"/>
          </p:cNvSpPr>
          <p:nvPr/>
        </p:nvSpPr>
        <p:spPr>
          <a:xfrm>
            <a:off x="8051800" y="52578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error por unidad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0AE923-0AB4-4106-8D21-0D44B17EF822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95D0EE-CA67-4229-A2CB-B59DD0B80DB0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28" name="Rectángulo 427">
            <a:extLst>
              <a:ext uri="{FF2B5EF4-FFF2-40B4-BE49-F238E27FC236}">
                <a16:creationId xmlns:a16="http://schemas.microsoft.com/office/drawing/2014/main" id="{5ED4E6CE-5435-4FCE-8C5C-15B45B4E1FA5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32/79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0" name="FlechaAcumulacion"/>
          <p:cNvSpPr/>
          <p:nvPr/>
        </p:nvSpPr>
        <p:spPr>
          <a:xfrm>
            <a:off x="10769600" y="2159000"/>
            <a:ext cx="508000" cy="3454400"/>
          </a:xfrm>
          <a:prstGeom prst="downArrow">
            <a:avLst>
              <a:gd name="adj1" fmla="val 45000"/>
              <a:gd name="adj2" fmla="val 88000"/>
            </a:avLst>
          </a:prstGeom>
          <a:gradFill>
            <a:gsLst>
              <a:gs pos="0">
                <a:srgbClr val="F2A08C">
                  <a:alpha val="35000"/>
                </a:srgbClr>
              </a:gs>
              <a:gs pos="100000">
                <a:srgbClr val="B22A16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771" name="RotuloAcumulacion"/>
          <p:cNvSpPr txBox="1"/>
          <p:nvPr/>
        </p:nvSpPr>
        <p:spPr>
          <a:xfrm>
            <a:off x="10490200" y="1651000"/>
            <a:ext cx="1473200" cy="4318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s-AR" sz="1400" b="1" i="1" dirty="0">
                <a:solidFill>
                  <a:srgbClr val="B22A16"/>
                </a:solidFill>
                <a:latin typeface="Arial"/>
              </a:rPr>
              <a:t>el error se acumula</a:t>
            </a:r>
          </a:p>
        </p:txBody>
      </p:sp>
    </p:spTree>
    <p:extLst>
      <p:ext uri="{BB962C8B-B14F-4D97-AF65-F5344CB8AC3E}">
        <p14:creationId xmlns:p14="http://schemas.microsoft.com/office/powerpoint/2010/main" val="2755022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D2E62C-5109-4B32-8A05-C77A35F3B96E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Escala de análisis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A68154-2867-4C61-8053-576A9E51686D}"/>
              </a:ext>
            </a:extLst>
          </p:cNvPr>
          <p:cNvSpPr>
            <a:spLocks noGrp="1"/>
          </p:cNvSpPr>
          <p:nvPr/>
        </p:nvSpPr>
        <p:spPr>
          <a:xfrm>
            <a:off x="502920" y="499446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De la huella al paisaje: escalamiento y agregación de estimaciones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D471A5-28C6-4F51-AD4E-C5FA1B580DF9}"/>
              </a:ext>
            </a:extLst>
          </p:cNvPr>
          <p:cNvSpPr>
            <a:spLocks noGrp="1"/>
          </p:cNvSpPr>
          <p:nvPr/>
        </p:nvSpPr>
        <p:spPr>
          <a:xfrm>
            <a:off x="596900" y="1041400"/>
            <a:ext cx="5257800" cy="4419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Huella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Unidad mínima de observación: calidad, variables y covariables locales.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Rodal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Escala de agregación y de comparación con el inventario o la unidad de manejo.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Cuenca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Biomasa total y distribución espacial del stock.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Región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Coherencia con mapas nacionales y reportes de carbono; al agregar baja el error relativo, no el sesgo.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AE7709C-6692-4976-B734-542C3F05E18A}"/>
              </a:ext>
            </a:extLst>
          </p:cNvPr>
          <p:cNvSpPr>
            <a:spLocks noGrp="1"/>
          </p:cNvSpPr>
          <p:nvPr/>
        </p:nvSpPr>
        <p:spPr>
          <a:xfrm>
            <a:off x="600075" y="5602860"/>
            <a:ext cx="10915650" cy="53126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GEDI/UMD Products; LP DAAC GEDI02 User Guides; ORNL DAAC L4A/L4B. CIEFAP/SNMBN Bosque Andino Patagónico; Argentina Ambiente Mapas de Bosque Nativo; Chubut OTBN.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AD950BE-C9E4-4944-913E-C16E7DDD345C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33/79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DE398B8-77D9-4A0A-9A25-8DB39E333F7F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323FBA1-12A5-41D1-AA95-52E9A290A276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8B47E71B-B60D-41EE-A05E-DB6BB704B9D6}"/>
              </a:ext>
            </a:extLst>
          </p:cNvPr>
          <p:cNvSpPr>
            <a:spLocks noGrp="1"/>
          </p:cNvSpPr>
          <p:nvPr/>
        </p:nvSpPr>
        <p:spPr>
          <a:xfrm>
            <a:off x="6313424" y="1037244"/>
            <a:ext cx="510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La pregunta cambia con la escala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2" name="TB402">
            <a:extLst>
              <a:ext uri="{FF2B5EF4-FFF2-40B4-BE49-F238E27FC236}">
                <a16:creationId xmlns:a16="http://schemas.microsoft.com/office/drawing/2014/main" id="{D1377007-F220-4F6A-8607-FE6237D0AD1B}"/>
              </a:ext>
            </a:extLst>
          </p:cNvPr>
          <p:cNvSpPr>
            <a:spLocks noGrp="1"/>
          </p:cNvSpPr>
          <p:nvPr/>
        </p:nvSpPr>
        <p:spPr>
          <a:xfrm>
            <a:off x="6313424" y="1377244"/>
            <a:ext cx="510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0" i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Cada </a:t>
            </a:r>
            <a:r>
              <a:rPr sz="15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escala</a:t>
            </a:r>
            <a:r>
              <a:rPr sz="1500" b="0" i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</a:rPr>
              <a:t>contiene</a:t>
            </a:r>
            <a:r>
              <a:rPr sz="1500" b="0" i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a la anterior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423" name="Rectángulo 422">
            <a:extLst>
              <a:ext uri="{FF2B5EF4-FFF2-40B4-BE49-F238E27FC236}">
                <a16:creationId xmlns:a16="http://schemas.microsoft.com/office/drawing/2014/main" id="{38585F70-4B38-473A-B33E-6B48C42340FE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33/79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0" name="Anillo0"/>
          <p:cNvSpPr/>
          <p:nvPr/>
        </p:nvSpPr>
        <p:spPr>
          <a:xfrm>
            <a:off x="6313424" y="1857244"/>
            <a:ext cx="3050000" cy="2950000"/>
          </a:xfrm>
          <a:prstGeom prst="rect">
            <a:avLst/>
          </a:prstGeom>
          <a:solidFill>
            <a:srgbClr val="F3F8F5"/>
          </a:solidFill>
          <a:ln w="22225">
            <a:solidFill>
              <a:srgbClr val="1F6B45"/>
            </a:solidFill>
          </a:ln>
        </p:spPr>
        <p:txBody>
          <a:bodyPr/>
          <a:lstStyle/>
          <a:p>
            <a:pPr algn="just"/>
            <a:endParaRPr lang="es-AR" sz="1500"/>
          </a:p>
        </p:txBody>
      </p:sp>
      <p:sp>
        <p:nvSpPr>
          <p:cNvPr id="801" name="AnilloLbl0"/>
          <p:cNvSpPr txBox="1"/>
          <p:nvPr/>
        </p:nvSpPr>
        <p:spPr>
          <a:xfrm>
            <a:off x="6403424" y="1937244"/>
            <a:ext cx="120000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AR" sz="1200" b="1" i="0">
                <a:solidFill>
                  <a:srgbClr val="1F6B45"/>
                </a:solidFill>
                <a:latin typeface="Arial"/>
              </a:rPr>
              <a:t>Región</a:t>
            </a:r>
          </a:p>
        </p:txBody>
      </p:sp>
      <p:sp>
        <p:nvSpPr>
          <p:cNvPr id="802" name="Anillo1"/>
          <p:cNvSpPr/>
          <p:nvPr/>
        </p:nvSpPr>
        <p:spPr>
          <a:xfrm>
            <a:off x="6523424" y="2127244"/>
            <a:ext cx="2630000" cy="2410000"/>
          </a:xfrm>
          <a:prstGeom prst="rect">
            <a:avLst/>
          </a:prstGeom>
          <a:solidFill>
            <a:srgbClr val="E8F1EB"/>
          </a:solidFill>
          <a:ln w="22225">
            <a:solidFill>
              <a:srgbClr val="2E8B57"/>
            </a:solidFill>
          </a:ln>
        </p:spPr>
        <p:txBody>
          <a:bodyPr/>
          <a:lstStyle/>
          <a:p>
            <a:pPr algn="just"/>
            <a:endParaRPr lang="es-AR" sz="1500"/>
          </a:p>
        </p:txBody>
      </p:sp>
      <p:sp>
        <p:nvSpPr>
          <p:cNvPr id="803" name="AnilloLbl1"/>
          <p:cNvSpPr txBox="1"/>
          <p:nvPr/>
        </p:nvSpPr>
        <p:spPr>
          <a:xfrm>
            <a:off x="6613424" y="2207244"/>
            <a:ext cx="120000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AR" sz="1200" b="1" i="0">
                <a:solidFill>
                  <a:srgbClr val="2E8B57"/>
                </a:solidFill>
                <a:latin typeface="Arial"/>
              </a:rPr>
              <a:t>Cuenca</a:t>
            </a:r>
          </a:p>
        </p:txBody>
      </p:sp>
      <p:sp>
        <p:nvSpPr>
          <p:cNvPr id="804" name="Anillo2"/>
          <p:cNvSpPr/>
          <p:nvPr/>
        </p:nvSpPr>
        <p:spPr>
          <a:xfrm>
            <a:off x="6733424" y="2397244"/>
            <a:ext cx="2210000" cy="1870000"/>
          </a:xfrm>
          <a:prstGeom prst="rect">
            <a:avLst/>
          </a:prstGeom>
          <a:solidFill>
            <a:srgbClr val="DCEAE1"/>
          </a:solidFill>
          <a:ln w="22225">
            <a:solidFill>
              <a:srgbClr val="5FA777"/>
            </a:solidFill>
          </a:ln>
        </p:spPr>
        <p:txBody>
          <a:bodyPr/>
          <a:lstStyle/>
          <a:p>
            <a:pPr algn="just"/>
            <a:endParaRPr lang="es-AR" sz="1500"/>
          </a:p>
        </p:txBody>
      </p:sp>
      <p:sp>
        <p:nvSpPr>
          <p:cNvPr id="805" name="AnilloLbl2"/>
          <p:cNvSpPr txBox="1"/>
          <p:nvPr/>
        </p:nvSpPr>
        <p:spPr>
          <a:xfrm>
            <a:off x="6823424" y="2477244"/>
            <a:ext cx="120000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AR" sz="1200" b="1" i="0">
                <a:solidFill>
                  <a:srgbClr val="5FA777"/>
                </a:solidFill>
                <a:latin typeface="Arial"/>
              </a:rPr>
              <a:t>Rodal</a:t>
            </a:r>
          </a:p>
        </p:txBody>
      </p:sp>
      <p:sp>
        <p:nvSpPr>
          <p:cNvPr id="806" name="Anillo3"/>
          <p:cNvSpPr/>
          <p:nvPr/>
        </p:nvSpPr>
        <p:spPr>
          <a:xfrm>
            <a:off x="6943424" y="2667244"/>
            <a:ext cx="1790000" cy="1330000"/>
          </a:xfrm>
          <a:prstGeom prst="rect">
            <a:avLst/>
          </a:prstGeom>
          <a:solidFill>
            <a:srgbClr val="CFE3D6"/>
          </a:solidFill>
          <a:ln w="22225">
            <a:solidFill>
              <a:srgbClr val="9CC6A6"/>
            </a:solidFill>
          </a:ln>
        </p:spPr>
        <p:txBody>
          <a:bodyPr/>
          <a:lstStyle/>
          <a:p>
            <a:endParaRPr lang="es-AR" sz="1500"/>
          </a:p>
        </p:txBody>
      </p:sp>
      <p:sp>
        <p:nvSpPr>
          <p:cNvPr id="807" name="AnilloLbl3"/>
          <p:cNvSpPr txBox="1"/>
          <p:nvPr/>
        </p:nvSpPr>
        <p:spPr>
          <a:xfrm>
            <a:off x="7033424" y="2747244"/>
            <a:ext cx="120000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AR" sz="1200" b="1" i="0" dirty="0">
                <a:solidFill>
                  <a:schemeClr val="accent6">
                    <a:lumMod val="50000"/>
                  </a:schemeClr>
                </a:solidFill>
                <a:latin typeface="Arial"/>
              </a:rPr>
              <a:t>Huella</a:t>
            </a:r>
          </a:p>
        </p:txBody>
      </p:sp>
      <p:sp>
        <p:nvSpPr>
          <p:cNvPr id="808" name="AnilloExt0"/>
          <p:cNvSpPr txBox="1"/>
          <p:nvPr/>
        </p:nvSpPr>
        <p:spPr>
          <a:xfrm>
            <a:off x="8113424" y="1937244"/>
            <a:ext cx="116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s-AR" sz="1200" b="0" i="1" dirty="0">
                <a:latin typeface="Arial"/>
              </a:rPr>
              <a:t>&gt; 10 000 km²</a:t>
            </a:r>
          </a:p>
        </p:txBody>
      </p:sp>
      <p:sp>
        <p:nvSpPr>
          <p:cNvPr id="809" name="AnilloExt1"/>
          <p:cNvSpPr txBox="1"/>
          <p:nvPr/>
        </p:nvSpPr>
        <p:spPr>
          <a:xfrm>
            <a:off x="7903424" y="2207244"/>
            <a:ext cx="116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s-AR" sz="1200" b="0" i="1">
                <a:latin typeface="Arial"/>
              </a:rPr>
              <a:t>10² – 10³ km²</a:t>
            </a:r>
          </a:p>
        </p:txBody>
      </p:sp>
      <p:sp>
        <p:nvSpPr>
          <p:cNvPr id="810" name="AnilloExt2"/>
          <p:cNvSpPr txBox="1"/>
          <p:nvPr/>
        </p:nvSpPr>
        <p:spPr>
          <a:xfrm>
            <a:off x="7693424" y="2477244"/>
            <a:ext cx="116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s-AR" sz="1200" b="0" i="1">
                <a:latin typeface="Arial"/>
              </a:rPr>
              <a:t>1 – 50 ha</a:t>
            </a:r>
          </a:p>
        </p:txBody>
      </p:sp>
      <p:sp>
        <p:nvSpPr>
          <p:cNvPr id="811" name="AnilloExt3"/>
          <p:cNvSpPr txBox="1"/>
          <p:nvPr/>
        </p:nvSpPr>
        <p:spPr>
          <a:xfrm>
            <a:off x="7483424" y="2747244"/>
            <a:ext cx="116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s-AR" sz="1200" b="0" i="1">
                <a:latin typeface="Arial"/>
              </a:rPr>
              <a:t>~ 25 m</a:t>
            </a:r>
          </a:p>
        </p:txBody>
      </p:sp>
      <p:sp>
        <p:nvSpPr>
          <p:cNvPr id="812" name="Chip0"/>
          <p:cNvSpPr/>
          <p:nvPr/>
        </p:nvSpPr>
        <p:spPr>
          <a:xfrm>
            <a:off x="9700000" y="1967244"/>
            <a:ext cx="150000" cy="150000"/>
          </a:xfrm>
          <a:prstGeom prst="ellipse">
            <a:avLst/>
          </a:prstGeom>
          <a:solidFill>
            <a:srgbClr val="1F6B45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813" name="QN0"/>
          <p:cNvSpPr txBox="1"/>
          <p:nvPr/>
        </p:nvSpPr>
        <p:spPr>
          <a:xfrm>
            <a:off x="9950000" y="1937244"/>
            <a:ext cx="185000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AR" sz="1200" b="1" i="0">
                <a:solidFill>
                  <a:srgbClr val="1F6B45"/>
                </a:solidFill>
                <a:latin typeface="Arial"/>
              </a:rPr>
              <a:t>Región</a:t>
            </a:r>
          </a:p>
        </p:txBody>
      </p:sp>
      <p:sp>
        <p:nvSpPr>
          <p:cNvPr id="814" name="QT0"/>
          <p:cNvSpPr txBox="1"/>
          <p:nvPr/>
        </p:nvSpPr>
        <p:spPr>
          <a:xfrm>
            <a:off x="9950000" y="2187244"/>
            <a:ext cx="185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AR" sz="1200" b="0" i="0" dirty="0">
                <a:solidFill>
                  <a:srgbClr val="404040"/>
                </a:solidFill>
                <a:latin typeface="Arial"/>
              </a:rPr>
              <a:t>¿es coherente con los mapas nacionales?</a:t>
            </a:r>
          </a:p>
        </p:txBody>
      </p:sp>
      <p:sp>
        <p:nvSpPr>
          <p:cNvPr id="815" name="Chip1"/>
          <p:cNvSpPr/>
          <p:nvPr/>
        </p:nvSpPr>
        <p:spPr>
          <a:xfrm>
            <a:off x="9700000" y="2727244"/>
            <a:ext cx="150000" cy="1500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816" name="QN1"/>
          <p:cNvSpPr txBox="1"/>
          <p:nvPr/>
        </p:nvSpPr>
        <p:spPr>
          <a:xfrm>
            <a:off x="9950000" y="2697244"/>
            <a:ext cx="185000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AR" sz="1200" b="1" i="0">
                <a:solidFill>
                  <a:srgbClr val="2E8B57"/>
                </a:solidFill>
                <a:latin typeface="Arial"/>
              </a:rPr>
              <a:t>Cuenca</a:t>
            </a:r>
          </a:p>
        </p:txBody>
      </p:sp>
      <p:sp>
        <p:nvSpPr>
          <p:cNvPr id="817" name="QT1"/>
          <p:cNvSpPr txBox="1"/>
          <p:nvPr/>
        </p:nvSpPr>
        <p:spPr>
          <a:xfrm>
            <a:off x="9950000" y="2947244"/>
            <a:ext cx="185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AR" sz="1200" b="0" i="0">
                <a:solidFill>
                  <a:srgbClr val="404040"/>
                </a:solidFill>
                <a:latin typeface="Arial"/>
              </a:rPr>
              <a:t>¿dónde se concentra el carbono?</a:t>
            </a:r>
          </a:p>
        </p:txBody>
      </p:sp>
      <p:sp>
        <p:nvSpPr>
          <p:cNvPr id="818" name="Chip2"/>
          <p:cNvSpPr/>
          <p:nvPr/>
        </p:nvSpPr>
        <p:spPr>
          <a:xfrm>
            <a:off x="9700000" y="3487244"/>
            <a:ext cx="150000" cy="150000"/>
          </a:xfrm>
          <a:prstGeom prst="ellipse">
            <a:avLst/>
          </a:prstGeom>
          <a:solidFill>
            <a:srgbClr val="5FA777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819" name="QN2"/>
          <p:cNvSpPr txBox="1"/>
          <p:nvPr/>
        </p:nvSpPr>
        <p:spPr>
          <a:xfrm>
            <a:off x="9950000" y="3457244"/>
            <a:ext cx="185000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AR" sz="1200" b="1" i="0">
                <a:solidFill>
                  <a:srgbClr val="5FA777"/>
                </a:solidFill>
                <a:latin typeface="Arial"/>
              </a:rPr>
              <a:t>Rodal</a:t>
            </a:r>
          </a:p>
        </p:txBody>
      </p:sp>
      <p:sp>
        <p:nvSpPr>
          <p:cNvPr id="820" name="QT2"/>
          <p:cNvSpPr txBox="1"/>
          <p:nvPr/>
        </p:nvSpPr>
        <p:spPr>
          <a:xfrm>
            <a:off x="9950000" y="3686224"/>
            <a:ext cx="185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AR" sz="1200" b="0" i="0" dirty="0">
                <a:solidFill>
                  <a:srgbClr val="404040"/>
                </a:solidFill>
                <a:latin typeface="Arial"/>
              </a:rPr>
              <a:t>¿cuánta biomasa hay en la unidad de manejo?</a:t>
            </a:r>
          </a:p>
        </p:txBody>
      </p:sp>
      <p:sp>
        <p:nvSpPr>
          <p:cNvPr id="821" name="Chip3"/>
          <p:cNvSpPr/>
          <p:nvPr/>
        </p:nvSpPr>
        <p:spPr>
          <a:xfrm>
            <a:off x="9700000" y="4425917"/>
            <a:ext cx="150000" cy="150000"/>
          </a:xfrm>
          <a:prstGeom prst="ellipse">
            <a:avLst/>
          </a:prstGeom>
          <a:solidFill>
            <a:srgbClr val="9CC6A6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822" name="QN3"/>
          <p:cNvSpPr txBox="1"/>
          <p:nvPr/>
        </p:nvSpPr>
        <p:spPr>
          <a:xfrm>
            <a:off x="9950000" y="4395917"/>
            <a:ext cx="185000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AR" sz="1200" b="1" i="0">
                <a:solidFill>
                  <a:srgbClr val="9CC6A6"/>
                </a:solidFill>
                <a:latin typeface="Arial"/>
              </a:rPr>
              <a:t>Huella</a:t>
            </a:r>
          </a:p>
        </p:txBody>
      </p:sp>
      <p:sp>
        <p:nvSpPr>
          <p:cNvPr id="823" name="QT3"/>
          <p:cNvSpPr txBox="1"/>
          <p:nvPr/>
        </p:nvSpPr>
        <p:spPr>
          <a:xfrm>
            <a:off x="9950000" y="4635407"/>
            <a:ext cx="185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AR" sz="1200" b="0" i="0" dirty="0">
                <a:solidFill>
                  <a:srgbClr val="404040"/>
                </a:solidFill>
                <a:latin typeface="Arial"/>
              </a:rPr>
              <a:t>¿es confiable este punto?</a:t>
            </a:r>
          </a:p>
        </p:txBody>
      </p:sp>
      <p:sp>
        <p:nvSpPr>
          <p:cNvPr id="824" name="NotaEscala"/>
          <p:cNvSpPr txBox="1"/>
          <p:nvPr/>
        </p:nvSpPr>
        <p:spPr>
          <a:xfrm>
            <a:off x="6313424" y="5102860"/>
            <a:ext cx="52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just"/>
            <a:r>
              <a:rPr lang="es-AR" sz="1500" b="0" i="1" dirty="0">
                <a:solidFill>
                  <a:srgbClr val="8A6D3B"/>
                </a:solidFill>
                <a:latin typeface="Arial"/>
              </a:rPr>
              <a:t>Misma métrica, distinta unidad de reporte: al agregar baja el error relativo, no el sesgo.</a:t>
            </a:r>
          </a:p>
        </p:txBody>
      </p:sp>
    </p:spTree>
    <p:extLst>
      <p:ext uri="{BB962C8B-B14F-4D97-AF65-F5344CB8AC3E}">
        <p14:creationId xmlns:p14="http://schemas.microsoft.com/office/powerpoint/2010/main" val="782874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C02EDE-7E7D-48C3-BDD2-8AE4F1F91E3E}"/>
              </a:ext>
            </a:extLst>
          </p:cNvPr>
          <p:cNvSpPr>
            <a:spLocks noGrp="1"/>
          </p:cNvSpPr>
          <p:nvPr/>
        </p:nvSpPr>
        <p:spPr>
          <a:xfrm>
            <a:off x="502920" y="232490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Tipos forestales y máscaras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C14F28-1491-4603-8461-87093FA5DEC7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Efecto de la máscara forestal sobre la estimación de biomasa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DFE87C-96F3-4419-B56A-CF9446A19D6E}"/>
              </a:ext>
            </a:extLst>
          </p:cNvPr>
          <p:cNvSpPr>
            <a:spLocks noGrp="1"/>
          </p:cNvSpPr>
          <p:nvPr/>
        </p:nvSpPr>
        <p:spPr>
          <a:xfrm>
            <a:off x="596900" y="1219200"/>
            <a:ext cx="5257800" cy="44704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Definición de clases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Distinguir bosque nativo, matorral, mallín, agua, urbano y nieve.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Fuentes y vigencia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Usar cartografía oficial y actualizarla ante disturbios recientes.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Plantaciones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Excluirlas o modelarlas como un estrato separado.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Efecto sobre el resultado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máscara define el área efectiva: cambia la media y el total de biomasa, por lo que debe documentarse con su fecha.</a:t>
            </a:r>
          </a:p>
        </p:txBody>
      </p:sp>
      <p:sp>
        <p:nvSpPr>
          <p:cNvPr id="601" name="TB601">
            <a:extLst>
              <a:ext uri="{FF2B5EF4-FFF2-40B4-BE49-F238E27FC236}">
                <a16:creationId xmlns:a16="http://schemas.microsoft.com/office/drawing/2014/main" id="{FB775220-8DEA-4064-A227-A0C25B475D6D}"/>
              </a:ext>
            </a:extLst>
          </p:cNvPr>
          <p:cNvSpPr>
            <a:spLocks noGrp="1"/>
          </p:cNvSpPr>
          <p:nvPr/>
        </p:nvSpPr>
        <p:spPr>
          <a:xfrm>
            <a:off x="6339859" y="1373120"/>
            <a:ext cx="510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entra y qué sale de la máscara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2" name="TB602">
            <a:extLst>
              <a:ext uri="{FF2B5EF4-FFF2-40B4-BE49-F238E27FC236}">
                <a16:creationId xmlns:a16="http://schemas.microsoft.com/office/drawing/2014/main" id="{247AECA4-174B-4B44-8A34-C8D9A4F7D885}"/>
              </a:ext>
            </a:extLst>
          </p:cNvPr>
          <p:cNvSpPr>
            <a:spLocks noGrp="1"/>
          </p:cNvSpPr>
          <p:nvPr/>
        </p:nvSpPr>
        <p:spPr>
          <a:xfrm>
            <a:off x="6339859" y="1713120"/>
            <a:ext cx="510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latin typeface="Arial"/>
                <a:ea typeface="Arial"/>
                <a:cs typeface="Arial"/>
              </a:rPr>
              <a:t>La máscara define el área efectiva y el valor medio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3" name="SH603">
            <a:extLst>
              <a:ext uri="{FF2B5EF4-FFF2-40B4-BE49-F238E27FC236}">
                <a16:creationId xmlns:a16="http://schemas.microsoft.com/office/drawing/2014/main" id="{A4396878-0FB1-4184-B97E-AAE0BC750B0E}"/>
              </a:ext>
            </a:extLst>
          </p:cNvPr>
          <p:cNvSpPr>
            <a:spLocks noGrp="1"/>
          </p:cNvSpPr>
          <p:nvPr/>
        </p:nvSpPr>
        <p:spPr>
          <a:xfrm>
            <a:off x="6339859" y="2053120"/>
            <a:ext cx="5100000" cy="5600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604" name="SH604">
            <a:extLst>
              <a:ext uri="{FF2B5EF4-FFF2-40B4-BE49-F238E27FC236}">
                <a16:creationId xmlns:a16="http://schemas.microsoft.com/office/drawing/2014/main" id="{C128B589-7EFE-4220-9AAB-C011A652ABC0}"/>
              </a:ext>
            </a:extLst>
          </p:cNvPr>
          <p:cNvSpPr>
            <a:spLocks noGrp="1"/>
          </p:cNvSpPr>
          <p:nvPr/>
        </p:nvSpPr>
        <p:spPr>
          <a:xfrm>
            <a:off x="6339859" y="2053120"/>
            <a:ext cx="80000" cy="560000"/>
          </a:xfrm>
          <a:prstGeom prst="rect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605" name="TB605">
            <a:extLst>
              <a:ext uri="{FF2B5EF4-FFF2-40B4-BE49-F238E27FC236}">
                <a16:creationId xmlns:a16="http://schemas.microsoft.com/office/drawing/2014/main" id="{5F0BA5AE-EA38-4C4B-99AC-08B6ECA07662}"/>
              </a:ext>
            </a:extLst>
          </p:cNvPr>
          <p:cNvSpPr>
            <a:spLocks noGrp="1"/>
          </p:cNvSpPr>
          <p:nvPr/>
        </p:nvSpPr>
        <p:spPr>
          <a:xfrm>
            <a:off x="6559859" y="2053120"/>
            <a:ext cx="30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Bosque nativo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6" name="SH606">
            <a:extLst>
              <a:ext uri="{FF2B5EF4-FFF2-40B4-BE49-F238E27FC236}">
                <a16:creationId xmlns:a16="http://schemas.microsoft.com/office/drawing/2014/main" id="{29505B74-A51F-43AE-A515-CF4F4142553D}"/>
              </a:ext>
            </a:extLst>
          </p:cNvPr>
          <p:cNvSpPr>
            <a:spLocks noGrp="1"/>
          </p:cNvSpPr>
          <p:nvPr/>
        </p:nvSpPr>
        <p:spPr>
          <a:xfrm>
            <a:off x="9599859" y="2183120"/>
            <a:ext cx="1700000" cy="300000"/>
          </a:xfrm>
          <a:prstGeom prst="roundRect">
            <a:avLst>
              <a:gd name="adj" fmla="val 30000"/>
            </a:avLst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</a:rPr>
              <a:t>INCLUYE</a:t>
            </a:r>
          </a:p>
        </p:txBody>
      </p:sp>
      <p:sp>
        <p:nvSpPr>
          <p:cNvPr id="607" name="SH607">
            <a:extLst>
              <a:ext uri="{FF2B5EF4-FFF2-40B4-BE49-F238E27FC236}">
                <a16:creationId xmlns:a16="http://schemas.microsoft.com/office/drawing/2014/main" id="{93B1938D-D906-42E0-9364-F029890D2973}"/>
              </a:ext>
            </a:extLst>
          </p:cNvPr>
          <p:cNvSpPr>
            <a:spLocks noGrp="1"/>
          </p:cNvSpPr>
          <p:nvPr/>
        </p:nvSpPr>
        <p:spPr>
          <a:xfrm>
            <a:off x="6339859" y="2743120"/>
            <a:ext cx="5100000" cy="5600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608" name="SH608">
            <a:extLst>
              <a:ext uri="{FF2B5EF4-FFF2-40B4-BE49-F238E27FC236}">
                <a16:creationId xmlns:a16="http://schemas.microsoft.com/office/drawing/2014/main" id="{58EF7361-5CC6-44DF-A728-F6647428E853}"/>
              </a:ext>
            </a:extLst>
          </p:cNvPr>
          <p:cNvSpPr>
            <a:spLocks noGrp="1"/>
          </p:cNvSpPr>
          <p:nvPr/>
        </p:nvSpPr>
        <p:spPr>
          <a:xfrm>
            <a:off x="6339859" y="2743120"/>
            <a:ext cx="80000" cy="560000"/>
          </a:xfrm>
          <a:prstGeom prst="rect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609" name="TB609">
            <a:extLst>
              <a:ext uri="{FF2B5EF4-FFF2-40B4-BE49-F238E27FC236}">
                <a16:creationId xmlns:a16="http://schemas.microsoft.com/office/drawing/2014/main" id="{3513AC7C-13D0-46F0-883C-7D59B940064E}"/>
              </a:ext>
            </a:extLst>
          </p:cNvPr>
          <p:cNvSpPr>
            <a:spLocks noGrp="1"/>
          </p:cNvSpPr>
          <p:nvPr/>
        </p:nvSpPr>
        <p:spPr>
          <a:xfrm>
            <a:off x="6559859" y="2743120"/>
            <a:ext cx="30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Plantaciones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0" name="SH610">
            <a:extLst>
              <a:ext uri="{FF2B5EF4-FFF2-40B4-BE49-F238E27FC236}">
                <a16:creationId xmlns:a16="http://schemas.microsoft.com/office/drawing/2014/main" id="{B73C9B06-E5C8-473B-A5A3-E81CD4541752}"/>
              </a:ext>
            </a:extLst>
          </p:cNvPr>
          <p:cNvSpPr>
            <a:spLocks noGrp="1"/>
          </p:cNvSpPr>
          <p:nvPr/>
        </p:nvSpPr>
        <p:spPr>
          <a:xfrm>
            <a:off x="9599859" y="2873120"/>
            <a:ext cx="1700000" cy="300000"/>
          </a:xfrm>
          <a:prstGeom prst="roundRect">
            <a:avLst>
              <a:gd name="adj" fmla="val 30000"/>
            </a:avLst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</a:rPr>
              <a:t>APARTE</a:t>
            </a:r>
          </a:p>
        </p:txBody>
      </p:sp>
      <p:sp>
        <p:nvSpPr>
          <p:cNvPr id="611" name="SH611">
            <a:extLst>
              <a:ext uri="{FF2B5EF4-FFF2-40B4-BE49-F238E27FC236}">
                <a16:creationId xmlns:a16="http://schemas.microsoft.com/office/drawing/2014/main" id="{D03FF5EC-F4F6-45A8-8236-E46951120C47}"/>
              </a:ext>
            </a:extLst>
          </p:cNvPr>
          <p:cNvSpPr>
            <a:spLocks noGrp="1"/>
          </p:cNvSpPr>
          <p:nvPr/>
        </p:nvSpPr>
        <p:spPr>
          <a:xfrm>
            <a:off x="6339859" y="3433120"/>
            <a:ext cx="5100000" cy="5600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612" name="SH612">
            <a:extLst>
              <a:ext uri="{FF2B5EF4-FFF2-40B4-BE49-F238E27FC236}">
                <a16:creationId xmlns:a16="http://schemas.microsoft.com/office/drawing/2014/main" id="{2BF55A6D-E9BA-4128-8773-6BE1C8B273DB}"/>
              </a:ext>
            </a:extLst>
          </p:cNvPr>
          <p:cNvSpPr>
            <a:spLocks noGrp="1"/>
          </p:cNvSpPr>
          <p:nvPr/>
        </p:nvSpPr>
        <p:spPr>
          <a:xfrm>
            <a:off x="6339859" y="3433120"/>
            <a:ext cx="80000" cy="560000"/>
          </a:xfrm>
          <a:prstGeom prst="rect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613" name="TB613">
            <a:extLst>
              <a:ext uri="{FF2B5EF4-FFF2-40B4-BE49-F238E27FC236}">
                <a16:creationId xmlns:a16="http://schemas.microsoft.com/office/drawing/2014/main" id="{FB0388E6-4311-43BB-B14E-989B52E40662}"/>
              </a:ext>
            </a:extLst>
          </p:cNvPr>
          <p:cNvSpPr>
            <a:spLocks noGrp="1"/>
          </p:cNvSpPr>
          <p:nvPr/>
        </p:nvSpPr>
        <p:spPr>
          <a:xfrm>
            <a:off x="6559859" y="3433120"/>
            <a:ext cx="30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Matorral y mallín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4" name="SH614">
            <a:extLst>
              <a:ext uri="{FF2B5EF4-FFF2-40B4-BE49-F238E27FC236}">
                <a16:creationId xmlns:a16="http://schemas.microsoft.com/office/drawing/2014/main" id="{BC6B71E6-EA12-4055-9541-1717217E98DD}"/>
              </a:ext>
            </a:extLst>
          </p:cNvPr>
          <p:cNvSpPr>
            <a:spLocks noGrp="1"/>
          </p:cNvSpPr>
          <p:nvPr/>
        </p:nvSpPr>
        <p:spPr>
          <a:xfrm>
            <a:off x="9599859" y="3563120"/>
            <a:ext cx="1700000" cy="300000"/>
          </a:xfrm>
          <a:prstGeom prst="roundRect">
            <a:avLst>
              <a:gd name="adj" fmla="val 30000"/>
            </a:avLst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</a:rPr>
              <a:t>CLASE PROPIA</a:t>
            </a:r>
          </a:p>
        </p:txBody>
      </p:sp>
      <p:sp>
        <p:nvSpPr>
          <p:cNvPr id="615" name="SH615">
            <a:extLst>
              <a:ext uri="{FF2B5EF4-FFF2-40B4-BE49-F238E27FC236}">
                <a16:creationId xmlns:a16="http://schemas.microsoft.com/office/drawing/2014/main" id="{A6C10AFD-7573-46AE-8AB6-7517DF449580}"/>
              </a:ext>
            </a:extLst>
          </p:cNvPr>
          <p:cNvSpPr>
            <a:spLocks noGrp="1"/>
          </p:cNvSpPr>
          <p:nvPr/>
        </p:nvSpPr>
        <p:spPr>
          <a:xfrm>
            <a:off x="6339859" y="4123120"/>
            <a:ext cx="5100000" cy="5600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616" name="SH616">
            <a:extLst>
              <a:ext uri="{FF2B5EF4-FFF2-40B4-BE49-F238E27FC236}">
                <a16:creationId xmlns:a16="http://schemas.microsoft.com/office/drawing/2014/main" id="{0AD8CAE5-4ABF-40CE-99C1-5F839C4FCC6F}"/>
              </a:ext>
            </a:extLst>
          </p:cNvPr>
          <p:cNvSpPr>
            <a:spLocks noGrp="1"/>
          </p:cNvSpPr>
          <p:nvPr/>
        </p:nvSpPr>
        <p:spPr>
          <a:xfrm>
            <a:off x="6339859" y="4123120"/>
            <a:ext cx="80000" cy="560000"/>
          </a:xfrm>
          <a:prstGeom prst="rect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617" name="TB617">
            <a:extLst>
              <a:ext uri="{FF2B5EF4-FFF2-40B4-BE49-F238E27FC236}">
                <a16:creationId xmlns:a16="http://schemas.microsoft.com/office/drawing/2014/main" id="{D65E1BE9-0DEF-4BBF-98A2-1047D8EF358B}"/>
              </a:ext>
            </a:extLst>
          </p:cNvPr>
          <p:cNvSpPr>
            <a:spLocks noGrp="1"/>
          </p:cNvSpPr>
          <p:nvPr/>
        </p:nvSpPr>
        <p:spPr>
          <a:xfrm>
            <a:off x="6559859" y="4123120"/>
            <a:ext cx="30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Incendios recientes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8" name="SH618">
            <a:extLst>
              <a:ext uri="{FF2B5EF4-FFF2-40B4-BE49-F238E27FC236}">
                <a16:creationId xmlns:a16="http://schemas.microsoft.com/office/drawing/2014/main" id="{A3B33D03-FD50-4F71-8704-564D7BD504A5}"/>
              </a:ext>
            </a:extLst>
          </p:cNvPr>
          <p:cNvSpPr>
            <a:spLocks noGrp="1"/>
          </p:cNvSpPr>
          <p:nvPr/>
        </p:nvSpPr>
        <p:spPr>
          <a:xfrm>
            <a:off x="9599859" y="4253120"/>
            <a:ext cx="1700000" cy="300000"/>
          </a:xfrm>
          <a:prstGeom prst="roundRect">
            <a:avLst>
              <a:gd name="adj" fmla="val 30000"/>
            </a:avLst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</a:rPr>
              <a:t>CON FECHA</a:t>
            </a:r>
          </a:p>
        </p:txBody>
      </p:sp>
      <p:sp>
        <p:nvSpPr>
          <p:cNvPr id="619" name="SH619">
            <a:extLst>
              <a:ext uri="{FF2B5EF4-FFF2-40B4-BE49-F238E27FC236}">
                <a16:creationId xmlns:a16="http://schemas.microsoft.com/office/drawing/2014/main" id="{544A8867-1C2F-426C-AD7B-E4F1824D8060}"/>
              </a:ext>
            </a:extLst>
          </p:cNvPr>
          <p:cNvSpPr>
            <a:spLocks noGrp="1"/>
          </p:cNvSpPr>
          <p:nvPr/>
        </p:nvSpPr>
        <p:spPr>
          <a:xfrm>
            <a:off x="6339859" y="4813120"/>
            <a:ext cx="5100000" cy="5600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620" name="SH620">
            <a:extLst>
              <a:ext uri="{FF2B5EF4-FFF2-40B4-BE49-F238E27FC236}">
                <a16:creationId xmlns:a16="http://schemas.microsoft.com/office/drawing/2014/main" id="{40C05670-A477-401B-857D-2AAFA054E901}"/>
              </a:ext>
            </a:extLst>
          </p:cNvPr>
          <p:cNvSpPr>
            <a:spLocks noGrp="1"/>
          </p:cNvSpPr>
          <p:nvPr/>
        </p:nvSpPr>
        <p:spPr>
          <a:xfrm>
            <a:off x="6339859" y="4813120"/>
            <a:ext cx="80000" cy="560000"/>
          </a:xfrm>
          <a:prstGeom prst="rect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621" name="TB621">
            <a:extLst>
              <a:ext uri="{FF2B5EF4-FFF2-40B4-BE49-F238E27FC236}">
                <a16:creationId xmlns:a16="http://schemas.microsoft.com/office/drawing/2014/main" id="{5B038D62-B01E-4C6B-9202-67E49ABC814B}"/>
              </a:ext>
            </a:extLst>
          </p:cNvPr>
          <p:cNvSpPr>
            <a:spLocks noGrp="1"/>
          </p:cNvSpPr>
          <p:nvPr/>
        </p:nvSpPr>
        <p:spPr>
          <a:xfrm>
            <a:off x="6559859" y="4813120"/>
            <a:ext cx="30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Agua, nieve y urbano</a:t>
            </a:r>
            <a:endParaRPr sz="1400">
              <a:latin typeface="Arial"/>
              <a:cs typeface="Arial"/>
            </a:endParaRPr>
          </a:p>
        </p:txBody>
      </p:sp>
      <p:sp>
        <p:nvSpPr>
          <p:cNvPr id="622" name="SH622">
            <a:extLst>
              <a:ext uri="{FF2B5EF4-FFF2-40B4-BE49-F238E27FC236}">
                <a16:creationId xmlns:a16="http://schemas.microsoft.com/office/drawing/2014/main" id="{2319B5AD-2B12-4D45-98B1-DA7D10D6B657}"/>
              </a:ext>
            </a:extLst>
          </p:cNvPr>
          <p:cNvSpPr>
            <a:spLocks noGrp="1"/>
          </p:cNvSpPr>
          <p:nvPr/>
        </p:nvSpPr>
        <p:spPr>
          <a:xfrm>
            <a:off x="9599859" y="4943120"/>
            <a:ext cx="1700000" cy="300000"/>
          </a:xfrm>
          <a:prstGeom prst="roundRect">
            <a:avLst>
              <a:gd name="adj" fmla="val 30000"/>
            </a:avLst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</a:rPr>
              <a:t>EXCLUYE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355ADEF-0706-4C2F-A6AA-2D5C74CFB8A9}"/>
              </a:ext>
            </a:extLst>
          </p:cNvPr>
          <p:cNvSpPr>
            <a:spLocks noGrp="1"/>
          </p:cNvSpPr>
          <p:nvPr/>
        </p:nvSpPr>
        <p:spPr>
          <a:xfrm>
            <a:off x="600075" y="5791200"/>
            <a:ext cx="10915650" cy="42232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: CIEFAP/SNMBN Bosque Andino Patagónico; Argentina Ambiente Mapas de Bosque Nativo; Chubut OTBN.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5F7F587-4D2B-4786-A2ED-BA1EF4CE2254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34/79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BFFC5F3-6AAE-4CB3-82F1-E62B1034E4AD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5ACCB9D-B0E4-423F-B6F3-09E08733A1BC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623" name="Rectángulo 622">
            <a:extLst>
              <a:ext uri="{FF2B5EF4-FFF2-40B4-BE49-F238E27FC236}">
                <a16:creationId xmlns:a16="http://schemas.microsoft.com/office/drawing/2014/main" id="{8E70C162-9C15-4EC9-AB6B-F75E2A348EE4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34/79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82428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2B2F82-0294-4531-A0BE-C6CA7984BFB5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ES" sz="26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La incertidumbre como componente del resultado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C1BC04-8FEA-46E6-AAF4-47B58E8EFE37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s-ES" b="1" i="1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Estimar, propagar, interpretar y reportar el intervalo de predicción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9D1FEA5-282D-491B-9821-4B0B2E68DEC3}"/>
              </a:ext>
            </a:extLst>
          </p:cNvPr>
          <p:cNvSpPr>
            <a:spLocks noGrp="1"/>
          </p:cNvSpPr>
          <p:nvPr/>
        </p:nvSpPr>
        <p:spPr>
          <a:xfrm>
            <a:off x="596900" y="1219200"/>
            <a:ext cx="5080000" cy="45212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se estima</a:t>
            </a:r>
          </a:p>
          <a:p>
            <a:pPr marL="0" indent="0" algn="just">
              <a:lnSpc>
                <a:spcPct val="150000"/>
              </a:lnSpc>
              <a:spcBef>
                <a:spcPts val="3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Toda estimación es una variable aleatoria: L4A da el valor esperado, su error estándar y un intervalo del 90 %.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Cómo se propaga</a:t>
            </a:r>
          </a:p>
          <a:p>
            <a:pPr marL="0" indent="0" algn="just">
              <a:lnSpc>
                <a:spcPct val="150000"/>
              </a:lnSpc>
              <a:spcBef>
                <a:spcPts val="3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Al agregar huellas concurren el error del modelo, el muestreo y la extrapolación.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Para qué sirve</a:t>
            </a:r>
          </a:p>
          <a:p>
            <a:pPr marL="0" indent="0" algn="just">
              <a:lnSpc>
                <a:spcPct val="150000"/>
              </a:lnSpc>
              <a:spcBef>
                <a:spcPts val="3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Cartografiar la incertidumbre distingue zonas con evidencia suficiente de las que exigen más parcelas.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s-ES" sz="1500" b="1" dirty="0">
                <a:solidFill>
                  <a:srgbClr val="EE0000"/>
                </a:solidFill>
                <a:latin typeface="Arial"/>
                <a:ea typeface="Arial"/>
                <a:cs typeface="Arial"/>
              </a:rPr>
              <a:t>Criterio de reporte</a:t>
            </a:r>
          </a:p>
          <a:p>
            <a:pPr marL="0" indent="0" algn="just">
              <a:lnSpc>
                <a:spcPct val="150000"/>
              </a:lnSpc>
              <a:spcBef>
                <a:spcPts val="300"/>
              </a:spcBef>
              <a:buNone/>
            </a:pPr>
            <a:r>
              <a:rPr lang="es-ES" sz="1500" dirty="0">
                <a:solidFill>
                  <a:srgbClr val="EE0000"/>
                </a:solidFill>
                <a:latin typeface="Arial"/>
                <a:ea typeface="Arial"/>
                <a:cs typeface="Arial"/>
              </a:rPr>
              <a:t>Media, sesgo, RMSE, MAE, R² y cobertura empírica del intervalo.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DFDC1030-816C-464F-9B83-2316CAC2ADA0}"/>
              </a:ext>
            </a:extLst>
          </p:cNvPr>
          <p:cNvSpPr>
            <a:spLocks noGrp="1"/>
          </p:cNvSpPr>
          <p:nvPr/>
        </p:nvSpPr>
        <p:spPr>
          <a:xfrm>
            <a:off x="6071616" y="1303020"/>
            <a:ext cx="550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Propagación de la incertidumbre según la escala</a:t>
            </a:r>
          </a:p>
        </p:txBody>
      </p:sp>
      <p:sp>
        <p:nvSpPr>
          <p:cNvPr id="402" name="TB402">
            <a:extLst>
              <a:ext uri="{FF2B5EF4-FFF2-40B4-BE49-F238E27FC236}">
                <a16:creationId xmlns:a16="http://schemas.microsoft.com/office/drawing/2014/main" id="{28556A3B-944A-4941-B0A6-A5C9288BA1ED}"/>
              </a:ext>
            </a:extLst>
          </p:cNvPr>
          <p:cNvSpPr>
            <a:spLocks noGrp="1"/>
          </p:cNvSpPr>
          <p:nvPr/>
        </p:nvSpPr>
        <p:spPr>
          <a:xfrm>
            <a:off x="6071616" y="1673020"/>
            <a:ext cx="5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400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Misma estimación central; distinto ancho del intervalo relativo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5B56D9D-2F0A-4C8C-B244-DDE0CAA3FC27}"/>
              </a:ext>
            </a:extLst>
          </p:cNvPr>
          <p:cNvSpPr>
            <a:spLocks noGrp="1"/>
          </p:cNvSpPr>
          <p:nvPr/>
        </p:nvSpPr>
        <p:spPr>
          <a:xfrm>
            <a:off x="600075" y="5918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 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NASA Earthdata GEDI v3 release; ORNL DAAC GEDI L4A v3, DOI 10.3334/ORNLDAAC/2508. Duncanson et al. (2022); Kellner et al. (2023); Duncanson et al. (2019); Subedi y Zurqani (2026).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AE55A17-897B-45AE-8141-2D327DA42BB7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35/79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BE104FC-6C56-41C5-8A9C-15FD526DDC97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9467D22-BCC5-4A14-B7F9-877766A9B0A7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23" name="Rectángulo 422">
            <a:extLst>
              <a:ext uri="{FF2B5EF4-FFF2-40B4-BE49-F238E27FC236}">
                <a16:creationId xmlns:a16="http://schemas.microsoft.com/office/drawing/2014/main" id="{2E1A344B-1FCD-4200-A8BD-693467D0BDFC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35/79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0" name="EjeEstim"/>
          <p:cNvSpPr/>
          <p:nvPr/>
        </p:nvSpPr>
        <p:spPr>
          <a:xfrm>
            <a:off x="9250000" y="2280000"/>
            <a:ext cx="0" cy="2540000"/>
          </a:xfrm>
          <a:prstGeom prst="line">
            <a:avLst/>
          </a:prstGeom>
          <a:noFill/>
          <a:ln w="12700">
            <a:solidFill>
              <a:srgbClr val="9AA5A0"/>
            </a:solidFill>
            <a:prstDash val="dash"/>
          </a:ln>
        </p:spPr>
        <p:txBody>
          <a:bodyPr/>
          <a:lstStyle/>
          <a:p>
            <a:endParaRPr lang="es-AR" sz="1500"/>
          </a:p>
        </p:txBody>
      </p:sp>
      <p:sp>
        <p:nvSpPr>
          <p:cNvPr id="901" name="EjeLbl"/>
          <p:cNvSpPr txBox="1"/>
          <p:nvPr/>
        </p:nvSpPr>
        <p:spPr>
          <a:xfrm>
            <a:off x="8550000" y="20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s-AR" sz="1200" b="0" i="1">
                <a:latin typeface="Arial"/>
              </a:rPr>
              <a:t>estimación central</a:t>
            </a:r>
          </a:p>
        </p:txBody>
      </p:sp>
      <p:sp>
        <p:nvSpPr>
          <p:cNvPr id="902" name="RLbl0"/>
          <p:cNvSpPr txBox="1"/>
          <p:nvPr/>
        </p:nvSpPr>
        <p:spPr>
          <a:xfrm>
            <a:off x="6071616" y="2490000"/>
            <a:ext cx="19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s-AR" sz="1200" b="1" i="0">
                <a:solidFill>
                  <a:srgbClr val="1F6B45"/>
                </a:solidFill>
                <a:latin typeface="Arial"/>
              </a:rPr>
              <a:t>Huella</a:t>
            </a:r>
          </a:p>
        </p:txBody>
      </p:sp>
      <p:sp>
        <p:nvSpPr>
          <p:cNvPr id="903" name="RSrc0"/>
          <p:cNvSpPr txBox="1"/>
          <p:nvPr/>
        </p:nvSpPr>
        <p:spPr>
          <a:xfrm>
            <a:off x="6071616" y="2750000"/>
            <a:ext cx="2000000" cy="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s-AR" sz="1200" b="0" i="0" dirty="0">
                <a:latin typeface="Arial"/>
              </a:rPr>
              <a:t>error de predicción L4A</a:t>
            </a:r>
          </a:p>
        </p:txBody>
      </p:sp>
      <p:sp>
        <p:nvSpPr>
          <p:cNvPr id="904" name="Bar0"/>
          <p:cNvSpPr/>
          <p:nvPr/>
        </p:nvSpPr>
        <p:spPr>
          <a:xfrm>
            <a:off x="7800000" y="2605000"/>
            <a:ext cx="2900000" cy="2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905" name="Cap0_0"/>
          <p:cNvSpPr/>
          <p:nvPr/>
        </p:nvSpPr>
        <p:spPr>
          <a:xfrm>
            <a:off x="7786000" y="2510000"/>
            <a:ext cx="28000" cy="23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906" name="Cap0_1"/>
          <p:cNvSpPr/>
          <p:nvPr/>
        </p:nvSpPr>
        <p:spPr>
          <a:xfrm>
            <a:off x="10686000" y="2510000"/>
            <a:ext cx="28000" cy="23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907" name="Dot0"/>
          <p:cNvSpPr/>
          <p:nvPr/>
        </p:nvSpPr>
        <p:spPr>
          <a:xfrm>
            <a:off x="9160000" y="2530000"/>
            <a:ext cx="180000" cy="1800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6B45"/>
            </a:solidFill>
          </a:ln>
        </p:spPr>
        <p:txBody>
          <a:bodyPr/>
          <a:lstStyle/>
          <a:p>
            <a:endParaRPr lang="es-AR" sz="1500"/>
          </a:p>
        </p:txBody>
      </p:sp>
      <p:sp>
        <p:nvSpPr>
          <p:cNvPr id="908" name="Mag0"/>
          <p:cNvSpPr txBox="1"/>
          <p:nvPr/>
        </p:nvSpPr>
        <p:spPr>
          <a:xfrm>
            <a:off x="10820000" y="2560000"/>
            <a:ext cx="1100000" cy="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s-AR" sz="1200" b="1" i="0">
                <a:solidFill>
                  <a:srgbClr val="404040"/>
                </a:solidFill>
                <a:latin typeface="Arial"/>
              </a:rPr>
              <a:t>~ ±50 %</a:t>
            </a:r>
          </a:p>
        </p:txBody>
      </p:sp>
      <p:sp>
        <p:nvSpPr>
          <p:cNvPr id="909" name="RLbl1"/>
          <p:cNvSpPr txBox="1"/>
          <p:nvPr/>
        </p:nvSpPr>
        <p:spPr>
          <a:xfrm>
            <a:off x="6071616" y="3290000"/>
            <a:ext cx="19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s-AR" sz="1200" b="1" i="0">
                <a:solidFill>
                  <a:srgbClr val="1F6B45"/>
                </a:solidFill>
                <a:latin typeface="Arial"/>
              </a:rPr>
              <a:t>Celda del mapa</a:t>
            </a:r>
          </a:p>
        </p:txBody>
      </p:sp>
      <p:sp>
        <p:nvSpPr>
          <p:cNvPr id="910" name="RSrc1"/>
          <p:cNvSpPr txBox="1"/>
          <p:nvPr/>
        </p:nvSpPr>
        <p:spPr>
          <a:xfrm>
            <a:off x="6071616" y="3550000"/>
            <a:ext cx="2000000" cy="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s-AR" sz="1200" b="0" i="0">
                <a:latin typeface="Arial"/>
              </a:rPr>
              <a:t>+ muestreo y modelo</a:t>
            </a:r>
          </a:p>
        </p:txBody>
      </p:sp>
      <p:sp>
        <p:nvSpPr>
          <p:cNvPr id="911" name="Bar1"/>
          <p:cNvSpPr/>
          <p:nvPr/>
        </p:nvSpPr>
        <p:spPr>
          <a:xfrm>
            <a:off x="8380000" y="3405000"/>
            <a:ext cx="1740000" cy="2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912" name="Cap1_0"/>
          <p:cNvSpPr/>
          <p:nvPr/>
        </p:nvSpPr>
        <p:spPr>
          <a:xfrm>
            <a:off x="8366000" y="3310000"/>
            <a:ext cx="28000" cy="23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913" name="Cap1_1"/>
          <p:cNvSpPr/>
          <p:nvPr/>
        </p:nvSpPr>
        <p:spPr>
          <a:xfrm>
            <a:off x="10106000" y="3310000"/>
            <a:ext cx="28000" cy="23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914" name="Dot1"/>
          <p:cNvSpPr/>
          <p:nvPr/>
        </p:nvSpPr>
        <p:spPr>
          <a:xfrm>
            <a:off x="9160000" y="3330000"/>
            <a:ext cx="180000" cy="1800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6B45"/>
            </a:solidFill>
          </a:ln>
        </p:spPr>
        <p:txBody>
          <a:bodyPr/>
          <a:lstStyle/>
          <a:p>
            <a:endParaRPr lang="es-AR" sz="1500"/>
          </a:p>
        </p:txBody>
      </p:sp>
      <p:sp>
        <p:nvSpPr>
          <p:cNvPr id="915" name="Mag1"/>
          <p:cNvSpPr txBox="1"/>
          <p:nvPr/>
        </p:nvSpPr>
        <p:spPr>
          <a:xfrm>
            <a:off x="10240000" y="3360000"/>
            <a:ext cx="1100000" cy="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s-AR" sz="1200" b="1" i="0">
                <a:solidFill>
                  <a:srgbClr val="404040"/>
                </a:solidFill>
                <a:latin typeface="Arial"/>
              </a:rPr>
              <a:t>~ ±25 %</a:t>
            </a:r>
          </a:p>
        </p:txBody>
      </p:sp>
      <p:sp>
        <p:nvSpPr>
          <p:cNvPr id="916" name="RLbl2"/>
          <p:cNvSpPr txBox="1"/>
          <p:nvPr/>
        </p:nvSpPr>
        <p:spPr>
          <a:xfrm>
            <a:off x="6071616" y="4090000"/>
            <a:ext cx="19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s-AR" sz="1200" b="1" i="0">
                <a:solidFill>
                  <a:srgbClr val="1F6B45"/>
                </a:solidFill>
                <a:latin typeface="Arial"/>
              </a:rPr>
              <a:t>Región</a:t>
            </a:r>
          </a:p>
        </p:txBody>
      </p:sp>
      <p:sp>
        <p:nvSpPr>
          <p:cNvPr id="917" name="RSrc2"/>
          <p:cNvSpPr txBox="1"/>
          <p:nvPr/>
        </p:nvSpPr>
        <p:spPr>
          <a:xfrm>
            <a:off x="6071616" y="4350000"/>
            <a:ext cx="2000000" cy="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s-AR" sz="1200" b="0" i="0">
                <a:latin typeface="Arial"/>
              </a:rPr>
              <a:t>+ extrapolación y máscara</a:t>
            </a:r>
          </a:p>
        </p:txBody>
      </p:sp>
      <p:sp>
        <p:nvSpPr>
          <p:cNvPr id="918" name="Bar2"/>
          <p:cNvSpPr/>
          <p:nvPr/>
        </p:nvSpPr>
        <p:spPr>
          <a:xfrm>
            <a:off x="8820000" y="4205000"/>
            <a:ext cx="860000" cy="2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919" name="Cap2_0"/>
          <p:cNvSpPr/>
          <p:nvPr/>
        </p:nvSpPr>
        <p:spPr>
          <a:xfrm>
            <a:off x="8806000" y="4110000"/>
            <a:ext cx="28000" cy="23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920" name="Cap2_1"/>
          <p:cNvSpPr/>
          <p:nvPr/>
        </p:nvSpPr>
        <p:spPr>
          <a:xfrm>
            <a:off x="9666000" y="4110000"/>
            <a:ext cx="28000" cy="23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921" name="Dot2"/>
          <p:cNvSpPr/>
          <p:nvPr/>
        </p:nvSpPr>
        <p:spPr>
          <a:xfrm>
            <a:off x="9160000" y="4130000"/>
            <a:ext cx="180000" cy="1800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6B45"/>
            </a:solidFill>
          </a:ln>
        </p:spPr>
        <p:txBody>
          <a:bodyPr/>
          <a:lstStyle/>
          <a:p>
            <a:endParaRPr lang="es-AR" sz="1500"/>
          </a:p>
        </p:txBody>
      </p:sp>
      <p:sp>
        <p:nvSpPr>
          <p:cNvPr id="922" name="Mag2"/>
          <p:cNvSpPr txBox="1"/>
          <p:nvPr/>
        </p:nvSpPr>
        <p:spPr>
          <a:xfrm>
            <a:off x="9800000" y="4160000"/>
            <a:ext cx="1100000" cy="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s-AR" sz="1200" b="1" i="0">
                <a:solidFill>
                  <a:srgbClr val="404040"/>
                </a:solidFill>
                <a:latin typeface="Arial"/>
              </a:rPr>
              <a:t>~ ±12 %</a:t>
            </a:r>
          </a:p>
        </p:txBody>
      </p:sp>
      <p:sp>
        <p:nvSpPr>
          <p:cNvPr id="923" name="SepUnc"/>
          <p:cNvSpPr/>
          <p:nvPr/>
        </p:nvSpPr>
        <p:spPr>
          <a:xfrm>
            <a:off x="6071616" y="4848248"/>
            <a:ext cx="5500000" cy="1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es-AR" sz="1500"/>
          </a:p>
        </p:txBody>
      </p:sp>
      <p:sp>
        <p:nvSpPr>
          <p:cNvPr id="924" name="NotaUnc1"/>
          <p:cNvSpPr txBox="1"/>
          <p:nvPr/>
        </p:nvSpPr>
        <p:spPr>
          <a:xfrm>
            <a:off x="6071616" y="4948248"/>
            <a:ext cx="55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 algn="just">
              <a:lnSpc>
                <a:spcPct val="105000"/>
              </a:lnSpc>
              <a:buNone/>
            </a:pPr>
            <a:r>
              <a:rPr lang="es-ES" sz="14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Las fuentes de error se acumulan al agregar, pero el promediado reduce la incertidumbre relativa del estimador.</a:t>
            </a:r>
          </a:p>
        </p:txBody>
      </p:sp>
      <p:sp>
        <p:nvSpPr>
          <p:cNvPr id="925" name="NotaUnc2"/>
          <p:cNvSpPr txBox="1"/>
          <p:nvPr/>
        </p:nvSpPr>
        <p:spPr>
          <a:xfrm>
            <a:off x="6071616" y="5401128"/>
            <a:ext cx="5500000" cy="2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s-AR" sz="1400" b="0" i="1" dirty="0">
                <a:solidFill>
                  <a:srgbClr val="8A6D3B"/>
                </a:solidFill>
                <a:latin typeface="Arial"/>
              </a:rPr>
              <a:t>Magnitudes ilustrativas del orden reportado en la literatura GEDI.</a:t>
            </a:r>
          </a:p>
        </p:txBody>
      </p:sp>
    </p:spTree>
    <p:extLst>
      <p:ext uri="{BB962C8B-B14F-4D97-AF65-F5344CB8AC3E}">
        <p14:creationId xmlns:p14="http://schemas.microsoft.com/office/powerpoint/2010/main" val="3994668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521CA5-1514-41AC-B91E-58ABE9E0877C}"/>
              </a:ext>
            </a:extLst>
          </p:cNvPr>
          <p:cNvSpPr>
            <a:spLocks noGrp="1"/>
          </p:cNvSpPr>
          <p:nvPr/>
        </p:nvSpPr>
        <p:spPr>
          <a:xfrm>
            <a:off x="553682" y="261112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Sesgo local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F95EDA-6DCD-462B-8446-CCC78715FB43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Transferibilidad de modelos globales a condiciones locales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410505-CA98-4449-8753-273004B9E4F9}"/>
              </a:ext>
            </a:extLst>
          </p:cNvPr>
          <p:cNvSpPr>
            <a:spLocks noGrp="1"/>
          </p:cNvSpPr>
          <p:nvPr/>
        </p:nvSpPr>
        <p:spPr>
          <a:xfrm>
            <a:off x="596900" y="1168400"/>
            <a:ext cx="5257800" cy="4419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Origen de los modelos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GEDI se calibra con bases globales y estratos de PFT o región.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Representatividad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En bosques templados australes debe comprobarse por estrato y por los límites de los predictores.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Función de las parcelas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Validar localmente permite detectar sesgo por especie, estructura o manejo.</a:t>
            </a:r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Respuesta ante sesgo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Recalibrar o ajustar un modelo local, documentando el procedimiento.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21554DAE-F244-43D3-B46B-9A62BD2D1548}"/>
              </a:ext>
            </a:extLst>
          </p:cNvPr>
          <p:cNvSpPr>
            <a:spLocks noGrp="1"/>
          </p:cNvSpPr>
          <p:nvPr/>
        </p:nvSpPr>
        <p:spPr>
          <a:xfrm>
            <a:off x="6203500" y="1233424"/>
            <a:ext cx="550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Sesgo no es lo mismo que ruido</a:t>
            </a:r>
            <a:endParaRPr sz="1500">
              <a:latin typeface="Arial"/>
              <a:cs typeface="Arial"/>
            </a:endParaRPr>
          </a:p>
        </p:txBody>
      </p:sp>
      <p:sp>
        <p:nvSpPr>
          <p:cNvPr id="402" name="TB402">
            <a:extLst>
              <a:ext uri="{FF2B5EF4-FFF2-40B4-BE49-F238E27FC236}">
                <a16:creationId xmlns:a16="http://schemas.microsoft.com/office/drawing/2014/main" id="{0D1F9087-B253-46B6-B4DC-04CC5935F70D}"/>
              </a:ext>
            </a:extLst>
          </p:cNvPr>
          <p:cNvSpPr>
            <a:spLocks noGrp="1"/>
          </p:cNvSpPr>
          <p:nvPr/>
        </p:nvSpPr>
        <p:spPr>
          <a:xfrm>
            <a:off x="6203500" y="1593424"/>
            <a:ext cx="5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El centro de la diana es la biomasa observada en parcela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7AC301F7-9784-4857-B63D-1DF22F7D511D}"/>
              </a:ext>
            </a:extLst>
          </p:cNvPr>
          <p:cNvSpPr>
            <a:spLocks noGrp="1"/>
          </p:cNvSpPr>
          <p:nvPr/>
        </p:nvSpPr>
        <p:spPr>
          <a:xfrm>
            <a:off x="6353500" y="2244038"/>
            <a:ext cx="2300000" cy="2300000"/>
          </a:xfrm>
          <a:prstGeom prst="ellipse">
            <a:avLst/>
          </a:prstGeom>
          <a:noFill/>
          <a:ln w="19050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DE75C374-34B1-4DCA-940C-43765169B2DD}"/>
              </a:ext>
            </a:extLst>
          </p:cNvPr>
          <p:cNvSpPr>
            <a:spLocks noGrp="1"/>
          </p:cNvSpPr>
          <p:nvPr/>
        </p:nvSpPr>
        <p:spPr>
          <a:xfrm>
            <a:off x="6744500" y="2635038"/>
            <a:ext cx="1518000" cy="1518000"/>
          </a:xfrm>
          <a:prstGeom prst="ellipse">
            <a:avLst/>
          </a:prstGeom>
          <a:noFill/>
          <a:ln w="19050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5A16D2B9-493F-4DC1-A44C-71D97C35D205}"/>
              </a:ext>
            </a:extLst>
          </p:cNvPr>
          <p:cNvSpPr>
            <a:spLocks noGrp="1"/>
          </p:cNvSpPr>
          <p:nvPr/>
        </p:nvSpPr>
        <p:spPr>
          <a:xfrm>
            <a:off x="7124000" y="3014538"/>
            <a:ext cx="759000" cy="759000"/>
          </a:xfrm>
          <a:prstGeom prst="ellipse">
            <a:avLst/>
          </a:prstGeom>
          <a:solidFill>
            <a:srgbClr val="F4F7F5"/>
          </a:solidFill>
          <a:ln w="19050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83EF1394-3A09-4333-B097-75744FCA65A0}"/>
              </a:ext>
            </a:extLst>
          </p:cNvPr>
          <p:cNvSpPr>
            <a:spLocks noGrp="1"/>
          </p:cNvSpPr>
          <p:nvPr/>
        </p:nvSpPr>
        <p:spPr>
          <a:xfrm>
            <a:off x="7458500" y="3349038"/>
            <a:ext cx="90000" cy="90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3C764E74-5311-4DB7-8F09-93C50069B94B}"/>
              </a:ext>
            </a:extLst>
          </p:cNvPr>
          <p:cNvSpPr>
            <a:spLocks noGrp="1"/>
          </p:cNvSpPr>
          <p:nvPr/>
        </p:nvSpPr>
        <p:spPr>
          <a:xfrm>
            <a:off x="6808500" y="2919038"/>
            <a:ext cx="190000" cy="190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CAEB25DD-3B36-41B0-BD46-0F4D80B750B8}"/>
              </a:ext>
            </a:extLst>
          </p:cNvPr>
          <p:cNvSpPr>
            <a:spLocks noGrp="1"/>
          </p:cNvSpPr>
          <p:nvPr/>
        </p:nvSpPr>
        <p:spPr>
          <a:xfrm>
            <a:off x="6968500" y="2659038"/>
            <a:ext cx="190000" cy="190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B418DEE2-3571-4F2F-98FF-7293F2B6638E}"/>
              </a:ext>
            </a:extLst>
          </p:cNvPr>
          <p:cNvSpPr>
            <a:spLocks noGrp="1"/>
          </p:cNvSpPr>
          <p:nvPr/>
        </p:nvSpPr>
        <p:spPr>
          <a:xfrm>
            <a:off x="6698500" y="3159038"/>
            <a:ext cx="190000" cy="190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0042E361-575D-4646-BA09-1E93AE855F49}"/>
              </a:ext>
            </a:extLst>
          </p:cNvPr>
          <p:cNvSpPr>
            <a:spLocks noGrp="1"/>
          </p:cNvSpPr>
          <p:nvPr/>
        </p:nvSpPr>
        <p:spPr>
          <a:xfrm>
            <a:off x="7058500" y="3089038"/>
            <a:ext cx="190000" cy="190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88548BFF-E29D-4948-B337-8FF6B1031FB1}"/>
              </a:ext>
            </a:extLst>
          </p:cNvPr>
          <p:cNvSpPr>
            <a:spLocks noGrp="1"/>
          </p:cNvSpPr>
          <p:nvPr/>
        </p:nvSpPr>
        <p:spPr>
          <a:xfrm>
            <a:off x="6858500" y="2589038"/>
            <a:ext cx="190000" cy="190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2" name="TB412">
            <a:extLst>
              <a:ext uri="{FF2B5EF4-FFF2-40B4-BE49-F238E27FC236}">
                <a16:creationId xmlns:a16="http://schemas.microsoft.com/office/drawing/2014/main" id="{198F3925-3CA6-4868-8630-AAB043A5669F}"/>
              </a:ext>
            </a:extLst>
          </p:cNvPr>
          <p:cNvSpPr>
            <a:spLocks noGrp="1"/>
          </p:cNvSpPr>
          <p:nvPr/>
        </p:nvSpPr>
        <p:spPr>
          <a:xfrm>
            <a:off x="6303500" y="1877950"/>
            <a:ext cx="24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Modelo global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3" name="TB413">
            <a:extLst>
              <a:ext uri="{FF2B5EF4-FFF2-40B4-BE49-F238E27FC236}">
                <a16:creationId xmlns:a16="http://schemas.microsoft.com/office/drawing/2014/main" id="{BBA693FF-3C57-4B05-9102-CDD61489F333}"/>
              </a:ext>
            </a:extLst>
          </p:cNvPr>
          <p:cNvSpPr>
            <a:spLocks noGrp="1"/>
          </p:cNvSpPr>
          <p:nvPr/>
        </p:nvSpPr>
        <p:spPr>
          <a:xfrm>
            <a:off x="6203500" y="4654038"/>
            <a:ext cx="26000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estimaciones corridas: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sesgo sistemático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DDE70844-DB86-4B28-A3EE-BCE284A9D552}"/>
              </a:ext>
            </a:extLst>
          </p:cNvPr>
          <p:cNvSpPr>
            <a:spLocks noGrp="1"/>
          </p:cNvSpPr>
          <p:nvPr/>
        </p:nvSpPr>
        <p:spPr>
          <a:xfrm>
            <a:off x="9203500" y="2244038"/>
            <a:ext cx="2300000" cy="2300000"/>
          </a:xfrm>
          <a:prstGeom prst="ellipse">
            <a:avLst/>
          </a:prstGeom>
          <a:noFill/>
          <a:ln w="19050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E326F2B2-1F46-4AB7-8AD5-BE8601ED2066}"/>
              </a:ext>
            </a:extLst>
          </p:cNvPr>
          <p:cNvSpPr>
            <a:spLocks noGrp="1"/>
          </p:cNvSpPr>
          <p:nvPr/>
        </p:nvSpPr>
        <p:spPr>
          <a:xfrm>
            <a:off x="9594500" y="2635038"/>
            <a:ext cx="1518000" cy="1518000"/>
          </a:xfrm>
          <a:prstGeom prst="ellipse">
            <a:avLst/>
          </a:prstGeom>
          <a:noFill/>
          <a:ln w="19050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5E9FC642-3BD4-4E85-B6FC-4B72CF1F6AD4}"/>
              </a:ext>
            </a:extLst>
          </p:cNvPr>
          <p:cNvSpPr>
            <a:spLocks noGrp="1"/>
          </p:cNvSpPr>
          <p:nvPr/>
        </p:nvSpPr>
        <p:spPr>
          <a:xfrm>
            <a:off x="9974000" y="3014538"/>
            <a:ext cx="759000" cy="759000"/>
          </a:xfrm>
          <a:prstGeom prst="ellipse">
            <a:avLst/>
          </a:prstGeom>
          <a:solidFill>
            <a:srgbClr val="F4F7F5"/>
          </a:solidFill>
          <a:ln w="19050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7" name="SH417">
            <a:extLst>
              <a:ext uri="{FF2B5EF4-FFF2-40B4-BE49-F238E27FC236}">
                <a16:creationId xmlns:a16="http://schemas.microsoft.com/office/drawing/2014/main" id="{BA0B8897-24C8-42B7-9A11-B1C825F58C2B}"/>
              </a:ext>
            </a:extLst>
          </p:cNvPr>
          <p:cNvSpPr>
            <a:spLocks noGrp="1"/>
          </p:cNvSpPr>
          <p:nvPr/>
        </p:nvSpPr>
        <p:spPr>
          <a:xfrm>
            <a:off x="10308500" y="3349038"/>
            <a:ext cx="90000" cy="90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F9AE2910-B32D-4E38-9364-700793F988C6}"/>
              </a:ext>
            </a:extLst>
          </p:cNvPr>
          <p:cNvSpPr>
            <a:spLocks noGrp="1"/>
          </p:cNvSpPr>
          <p:nvPr/>
        </p:nvSpPr>
        <p:spPr>
          <a:xfrm>
            <a:off x="10048500" y="3439038"/>
            <a:ext cx="190000" cy="19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7B76758C-9BAB-4B24-A387-7676CD4472B1}"/>
              </a:ext>
            </a:extLst>
          </p:cNvPr>
          <p:cNvSpPr>
            <a:spLocks noGrp="1"/>
          </p:cNvSpPr>
          <p:nvPr/>
        </p:nvSpPr>
        <p:spPr>
          <a:xfrm>
            <a:off x="10428500" y="3114038"/>
            <a:ext cx="190000" cy="19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0" name="SH420">
            <a:extLst>
              <a:ext uri="{FF2B5EF4-FFF2-40B4-BE49-F238E27FC236}">
                <a16:creationId xmlns:a16="http://schemas.microsoft.com/office/drawing/2014/main" id="{6D47CC10-3D69-4471-895D-75267A2414C7}"/>
              </a:ext>
            </a:extLst>
          </p:cNvPr>
          <p:cNvSpPr>
            <a:spLocks noGrp="1"/>
          </p:cNvSpPr>
          <p:nvPr/>
        </p:nvSpPr>
        <p:spPr>
          <a:xfrm>
            <a:off x="10328500" y="3574038"/>
            <a:ext cx="190000" cy="19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1" name="SH421">
            <a:extLst>
              <a:ext uri="{FF2B5EF4-FFF2-40B4-BE49-F238E27FC236}">
                <a16:creationId xmlns:a16="http://schemas.microsoft.com/office/drawing/2014/main" id="{CD917D4E-0257-41A2-8F7B-DC23003F73DD}"/>
              </a:ext>
            </a:extLst>
          </p:cNvPr>
          <p:cNvSpPr>
            <a:spLocks noGrp="1"/>
          </p:cNvSpPr>
          <p:nvPr/>
        </p:nvSpPr>
        <p:spPr>
          <a:xfrm>
            <a:off x="9983500" y="3069038"/>
            <a:ext cx="190000" cy="19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2" name="SH422">
            <a:extLst>
              <a:ext uri="{FF2B5EF4-FFF2-40B4-BE49-F238E27FC236}">
                <a16:creationId xmlns:a16="http://schemas.microsoft.com/office/drawing/2014/main" id="{F1ADE962-0F2E-414A-9B69-37EC35C9BD24}"/>
              </a:ext>
            </a:extLst>
          </p:cNvPr>
          <p:cNvSpPr>
            <a:spLocks noGrp="1"/>
          </p:cNvSpPr>
          <p:nvPr/>
        </p:nvSpPr>
        <p:spPr>
          <a:xfrm>
            <a:off x="10513500" y="3404038"/>
            <a:ext cx="190000" cy="190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3" name="TB423">
            <a:extLst>
              <a:ext uri="{FF2B5EF4-FFF2-40B4-BE49-F238E27FC236}">
                <a16:creationId xmlns:a16="http://schemas.microsoft.com/office/drawing/2014/main" id="{6564F409-8C2C-4024-8F95-81D07E0F53BA}"/>
              </a:ext>
            </a:extLst>
          </p:cNvPr>
          <p:cNvSpPr>
            <a:spLocks noGrp="1"/>
          </p:cNvSpPr>
          <p:nvPr/>
        </p:nvSpPr>
        <p:spPr>
          <a:xfrm>
            <a:off x="9153500" y="1877950"/>
            <a:ext cx="24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Recalibrado local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4" name="TB424">
            <a:extLst>
              <a:ext uri="{FF2B5EF4-FFF2-40B4-BE49-F238E27FC236}">
                <a16:creationId xmlns:a16="http://schemas.microsoft.com/office/drawing/2014/main" id="{2AD8EF1A-9A4A-4357-BD3D-0A1C74573DE2}"/>
              </a:ext>
            </a:extLst>
          </p:cNvPr>
          <p:cNvSpPr>
            <a:spLocks noGrp="1"/>
          </p:cNvSpPr>
          <p:nvPr/>
        </p:nvSpPr>
        <p:spPr>
          <a:xfrm>
            <a:off x="9053500" y="4654038"/>
            <a:ext cx="26000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centradas en el valor de campo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5" name="SH425">
            <a:extLst>
              <a:ext uri="{FF2B5EF4-FFF2-40B4-BE49-F238E27FC236}">
                <a16:creationId xmlns:a16="http://schemas.microsoft.com/office/drawing/2014/main" id="{03BC1EE6-92C4-4F44-8EA8-6E1E840A2FC4}"/>
              </a:ext>
            </a:extLst>
          </p:cNvPr>
          <p:cNvSpPr>
            <a:spLocks noGrp="1"/>
          </p:cNvSpPr>
          <p:nvPr/>
        </p:nvSpPr>
        <p:spPr>
          <a:xfrm>
            <a:off x="6203500" y="5224038"/>
            <a:ext cx="5500000" cy="10000"/>
          </a:xfrm>
          <a:prstGeom prst="rect">
            <a:avLst/>
          </a:prstGeom>
          <a:solidFill>
            <a:srgbClr val="E3E8E5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6" name="TB426">
            <a:extLst>
              <a:ext uri="{FF2B5EF4-FFF2-40B4-BE49-F238E27FC236}">
                <a16:creationId xmlns:a16="http://schemas.microsoft.com/office/drawing/2014/main" id="{E1705915-9246-44AC-9EE3-68BD410E2601}"/>
              </a:ext>
            </a:extLst>
          </p:cNvPr>
          <p:cNvSpPr>
            <a:spLocks noGrp="1"/>
          </p:cNvSpPr>
          <p:nvPr/>
        </p:nvSpPr>
        <p:spPr>
          <a:xfrm>
            <a:off x="6203500" y="5314038"/>
            <a:ext cx="5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EE0000"/>
                </a:solidFill>
                <a:latin typeface="Arial"/>
                <a:ea typeface="Arial"/>
                <a:cs typeface="Arial"/>
              </a:rPr>
              <a:t>Sin parcelas locales el sesgo es invisible: se traslada al mapa.</a:t>
            </a:r>
            <a:endParaRPr sz="1400">
              <a:solidFill>
                <a:srgbClr val="EE0000"/>
              </a:solidFill>
              <a:latin typeface="Arial"/>
              <a:cs typeface="Arial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029BDC6-8085-4165-A887-0B0AC0C1AAEC}"/>
              </a:ext>
            </a:extLst>
          </p:cNvPr>
          <p:cNvSpPr>
            <a:spLocks noGrp="1"/>
          </p:cNvSpPr>
          <p:nvPr/>
        </p:nvSpPr>
        <p:spPr>
          <a:xfrm>
            <a:off x="600075" y="5814038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Duncanson et al. (2022); Kellner et al. (2023); Duncanson et al. (2019); Subedi y Zurqani (2026). NASA Earthdata GEDI v3 release; ORNL DAAC GEDI L4A v3, DOI 10.3334/ORNLDAAC/2508.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2913DE1-4DCB-468A-8617-AEA909950775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36/79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354108B-482E-49D6-9EA8-243796E06B0E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2FB6CB2-1306-4F57-8BA6-D71E766CFC9D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27" name="Rectángulo 426">
            <a:extLst>
              <a:ext uri="{FF2B5EF4-FFF2-40B4-BE49-F238E27FC236}">
                <a16:creationId xmlns:a16="http://schemas.microsoft.com/office/drawing/2014/main" id="{C34F1C58-9AD9-4669-8921-880B78AF7BCB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36/79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9257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054DB4-9162-40A8-B9B6-F9EA9D4A2C11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Dónde GEDI aporta más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CC28A3-79F2-4F70-9381-1C4F80262E26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Aporte diferencial de la estructura vertical frente a los índices de verdor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D001E1-ACC1-4246-9E03-28ED3DA4859E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851400" cy="4419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Dosel alto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Donde hay fuertes gradientes verticales, los índices ópticos saturan y GEDI discrimina.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Acceso difícil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Aporta información donde las parcelas de campo son escasas o costosas.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Validación independiente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Permite contrastar estimaciones de altura y biomasa de otras fuentes.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Diseño de muestreo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Orienta el trabajo de campo hacia zonas de alta incertidumbre o baja cobertura.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04295D42-311B-4B55-A4B6-59ADDCE4BA85}"/>
              </a:ext>
            </a:extLst>
          </p:cNvPr>
          <p:cNvSpPr>
            <a:spLocks noGrp="1"/>
          </p:cNvSpPr>
          <p:nvPr/>
        </p:nvSpPr>
        <p:spPr>
          <a:xfrm>
            <a:off x="5900000" y="1234440"/>
            <a:ext cx="550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Dónde el 3D agrega más que el verdor</a:t>
            </a:r>
          </a:p>
        </p:txBody>
      </p:sp>
      <p:sp>
        <p:nvSpPr>
          <p:cNvPr id="402" name="TB402">
            <a:extLst>
              <a:ext uri="{FF2B5EF4-FFF2-40B4-BE49-F238E27FC236}">
                <a16:creationId xmlns:a16="http://schemas.microsoft.com/office/drawing/2014/main" id="{46BF73F9-FD80-4664-8410-B9B114A2EC18}"/>
              </a:ext>
            </a:extLst>
          </p:cNvPr>
          <p:cNvSpPr>
            <a:spLocks noGrp="1"/>
          </p:cNvSpPr>
          <p:nvPr/>
        </p:nvSpPr>
        <p:spPr>
          <a:xfrm>
            <a:off x="5900000" y="1614440"/>
            <a:ext cx="5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Tipos de cobertura del ecotono bosque–estepa</a:t>
            </a:r>
          </a:p>
        </p:txBody>
      </p:sp>
      <p:pic>
        <p:nvPicPr>
          <p:cNvPr id="421" name="PIC403"/>
          <p:cNvPicPr>
            <a:picLocks noChangeAspect="1"/>
          </p:cNvPicPr>
          <p:nvPr/>
        </p:nvPicPr>
        <p:blipFill>
          <a:blip r:embed="rId3">
            <a:lum bright="6000" contrast="18000"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aturation sat="130000"/>
                    </a14:imgEffect>
                  </a14:imgLayer>
                </a14:imgProps>
              </a:ext>
            </a:extLst>
          </a:blip>
          <a:srcRect t="14622" b="14622"/>
          <a:stretch>
            <a:fillRect/>
          </a:stretch>
        </p:blipFill>
        <p:spPr>
          <a:xfrm>
            <a:off x="5900000" y="1974440"/>
            <a:ext cx="2630000" cy="115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4" name="TB404">
            <a:extLst>
              <a:ext uri="{FF2B5EF4-FFF2-40B4-BE49-F238E27FC236}">
                <a16:creationId xmlns:a16="http://schemas.microsoft.com/office/drawing/2014/main" id="{2D8B8E7D-E792-4538-AFD5-632ED26A14C0}"/>
              </a:ext>
            </a:extLst>
          </p:cNvPr>
          <p:cNvSpPr>
            <a:spLocks noGrp="1"/>
          </p:cNvSpPr>
          <p:nvPr/>
        </p:nvSpPr>
        <p:spPr>
          <a:xfrm>
            <a:off x="5900000" y="3194440"/>
            <a:ext cx="2630000" cy="4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3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Bosque denso</a:t>
            </a:r>
            <a:endParaRPr sz="1300" i="0">
              <a:solidFill>
                <a:srgbClr val="4B5563"/>
              </a:solidFill>
              <a:latin typeface="Arial"/>
              <a:ea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05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El dosel cerrado satura los índices ópticos</a:t>
            </a:r>
          </a:p>
        </p:txBody>
      </p:sp>
      <p:pic>
        <p:nvPicPr>
          <p:cNvPr id="423" name="PIC405"/>
          <p:cNvPicPr>
            <a:picLocks noChangeAspect="1"/>
          </p:cNvPicPr>
          <p:nvPr/>
        </p:nvPicPr>
        <p:blipFill>
          <a:blip r:embed="rId4">
            <a:lum bright="6000" contrast="18000"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aturation sat="130000"/>
                    </a14:imgEffect>
                  </a14:imgLayer>
                </a14:imgProps>
              </a:ext>
            </a:extLst>
          </a:blip>
          <a:srcRect t="14622" b="14622"/>
          <a:stretch>
            <a:fillRect/>
          </a:stretch>
        </p:blipFill>
        <p:spPr>
          <a:xfrm>
            <a:off x="8770000" y="1974440"/>
            <a:ext cx="2630000" cy="115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6" name="TB406">
            <a:extLst>
              <a:ext uri="{FF2B5EF4-FFF2-40B4-BE49-F238E27FC236}">
                <a16:creationId xmlns:a16="http://schemas.microsoft.com/office/drawing/2014/main" id="{8BE34445-3750-4B99-B068-9C03EC7A8D93}"/>
              </a:ext>
            </a:extLst>
          </p:cNvPr>
          <p:cNvSpPr>
            <a:spLocks noGrp="1"/>
          </p:cNvSpPr>
          <p:nvPr/>
        </p:nvSpPr>
        <p:spPr>
          <a:xfrm>
            <a:off x="8770000" y="3194440"/>
            <a:ext cx="2630000" cy="4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3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Bosque maduro</a:t>
            </a:r>
            <a:endParaRPr sz="1300" i="0">
              <a:solidFill>
                <a:srgbClr val="4B5563"/>
              </a:solidFill>
              <a:latin typeface="Arial"/>
              <a:ea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05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Altura y estructura vertical: GEDI decisivo</a:t>
            </a:r>
          </a:p>
        </p:txBody>
      </p:sp>
      <p:pic>
        <p:nvPicPr>
          <p:cNvPr id="425" name="PIC407"/>
          <p:cNvPicPr>
            <a:picLocks noChangeAspect="1"/>
          </p:cNvPicPr>
          <p:nvPr/>
        </p:nvPicPr>
        <p:blipFill>
          <a:blip r:embed="rId5">
            <a:lum bright="6000" contrast="18000"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aturation sat="130000"/>
                    </a14:imgEffect>
                  </a14:imgLayer>
                </a14:imgProps>
              </a:ext>
            </a:extLst>
          </a:blip>
          <a:srcRect t="14622" b="14622"/>
          <a:stretch>
            <a:fillRect/>
          </a:stretch>
        </p:blipFill>
        <p:spPr>
          <a:xfrm>
            <a:off x="5900000" y="3694440"/>
            <a:ext cx="2630000" cy="115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8" name="TB408">
            <a:extLst>
              <a:ext uri="{FF2B5EF4-FFF2-40B4-BE49-F238E27FC236}">
                <a16:creationId xmlns:a16="http://schemas.microsoft.com/office/drawing/2014/main" id="{021A32A9-3176-4E9D-A304-786D5B4F460C}"/>
              </a:ext>
            </a:extLst>
          </p:cNvPr>
          <p:cNvSpPr>
            <a:spLocks noGrp="1"/>
          </p:cNvSpPr>
          <p:nvPr/>
        </p:nvSpPr>
        <p:spPr>
          <a:xfrm>
            <a:off x="5900000" y="4914440"/>
            <a:ext cx="2630000" cy="4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3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Matorral y renoval</a:t>
            </a:r>
            <a:endParaRPr sz="1300" i="0">
              <a:solidFill>
                <a:srgbClr val="4B5563"/>
              </a:solidFill>
              <a:latin typeface="Arial"/>
              <a:ea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05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Biomasa intermedia: GEDI aporta</a:t>
            </a:r>
          </a:p>
        </p:txBody>
      </p:sp>
      <p:pic>
        <p:nvPicPr>
          <p:cNvPr id="427" name="PIC409"/>
          <p:cNvPicPr>
            <a:picLocks noChangeAspect="1"/>
          </p:cNvPicPr>
          <p:nvPr/>
        </p:nvPicPr>
        <p:blipFill>
          <a:blip r:embed="rId6">
            <a:lum bright="6000" contrast="18000"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aturation sat="130000"/>
                    </a14:imgEffect>
                  </a14:imgLayer>
                </a14:imgProps>
              </a:ext>
            </a:extLst>
          </a:blip>
          <a:srcRect t="14622" b="14622"/>
          <a:stretch>
            <a:fillRect/>
          </a:stretch>
        </p:blipFill>
        <p:spPr>
          <a:xfrm>
            <a:off x="8770000" y="3694440"/>
            <a:ext cx="2630000" cy="115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10" name="TB410">
            <a:extLst>
              <a:ext uri="{FF2B5EF4-FFF2-40B4-BE49-F238E27FC236}">
                <a16:creationId xmlns:a16="http://schemas.microsoft.com/office/drawing/2014/main" id="{669575B1-BEB0-4016-9DC0-56B2FF41A208}"/>
              </a:ext>
            </a:extLst>
          </p:cNvPr>
          <p:cNvSpPr>
            <a:spLocks noGrp="1"/>
          </p:cNvSpPr>
          <p:nvPr/>
        </p:nvSpPr>
        <p:spPr>
          <a:xfrm>
            <a:off x="8770000" y="4914440"/>
            <a:ext cx="2630000" cy="4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3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Pastizal y estepa</a:t>
            </a:r>
            <a:endParaRPr sz="1300" i="0">
              <a:solidFill>
                <a:srgbClr val="4B5563"/>
              </a:solidFill>
              <a:latin typeface="Arial"/>
              <a:ea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05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Cobertura baja: los sensores ópticos pueden ser más informativos o costo-efectivos, según el objetivo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CD82137-41A8-48DC-94B8-BE8B10386E67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MX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MX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GEDI/UMD; Dubayah et al. (2020); Duncanson et al. (2022). Imágenes ilustrativas generadas con IA.</a:t>
            </a:r>
            <a:endParaRPr lang="es-MX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2744377-2564-4C50-9E12-9A2E2B9B6E4B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37/79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D4DC9E-5365-439E-B8CF-FDF013423984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E0CBE8D-8B58-40FA-BC49-A6F639B5C54B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15" name="Rectángulo 414">
            <a:extLst>
              <a:ext uri="{FF2B5EF4-FFF2-40B4-BE49-F238E27FC236}">
                <a16:creationId xmlns:a16="http://schemas.microsoft.com/office/drawing/2014/main" id="{54545D88-E1E2-4B36-ABDB-E1F608CF9C6C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37/79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4903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7BB5C5-AF27-4140-9EA7-0D234B339A48}"/>
              </a:ext>
            </a:extLst>
          </p:cNvPr>
          <p:cNvSpPr>
            <a:spLocks noGrp="1"/>
          </p:cNvSpPr>
          <p:nvPr/>
        </p:nvSpPr>
        <p:spPr>
          <a:xfrm>
            <a:off x="1074420" y="201168"/>
            <a:ext cx="91668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Dónde GEDI puede fallar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6D6C86-69A2-4D26-B49C-136F7BF1AEBD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Criterios para descartar observaciones de baja calidad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2C9A035-8C08-4C85-8C6D-03117EA7F82A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5689600" cy="4318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Terreno y nieve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Pendientes fuertes, nieve y cobertura mixta degradan la elevación y la altura.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Bordes y claros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Los límites de bosque y los claros pequeños mezclan señales dentro de la huella.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Estratos poco muestreados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baja densidad de huellas limita el entrenamiento en clases raras.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Uso de L4A sin filtrar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Introduce valores atípicos que dominan los modelos flexibles.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4CD7E102-C3C6-4E23-B79B-D397595B00DF}"/>
              </a:ext>
            </a:extLst>
          </p:cNvPr>
          <p:cNvSpPr>
            <a:spLocks noGrp="1"/>
          </p:cNvSpPr>
          <p:nvPr/>
        </p:nvSpPr>
        <p:spPr>
          <a:xfrm>
            <a:off x="6731000" y="1180000"/>
            <a:ext cx="47879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6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Cadena de filtros de calidad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6DEAD83C-91AE-4455-BBF2-A2918B8B4DE0}"/>
              </a:ext>
            </a:extLst>
          </p:cNvPr>
          <p:cNvSpPr>
            <a:spLocks noGrp="1"/>
          </p:cNvSpPr>
          <p:nvPr/>
        </p:nvSpPr>
        <p:spPr>
          <a:xfrm>
            <a:off x="6731000" y="1520000"/>
            <a:ext cx="47879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Ejemplo hipotético: de cada 10 huellas, cuántas siguen siendo utilizables</a:t>
            </a:r>
          </a:p>
        </p:txBody>
      </p:sp>
      <p:sp>
        <p:nvSpPr>
          <p:cNvPr id="402" name="TB402">
            <a:extLst>
              <a:ext uri="{FF2B5EF4-FFF2-40B4-BE49-F238E27FC236}">
                <a16:creationId xmlns:a16="http://schemas.microsoft.com/office/drawing/2014/main" id="{056154EA-0158-4CBC-A53E-11546EAF4023}"/>
              </a:ext>
            </a:extLst>
          </p:cNvPr>
          <p:cNvSpPr>
            <a:spLocks noGrp="1"/>
          </p:cNvSpPr>
          <p:nvPr/>
        </p:nvSpPr>
        <p:spPr>
          <a:xfrm>
            <a:off x="6731000" y="1980000"/>
            <a:ext cx="24384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pendiente alta revisada</a:t>
            </a:r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F08C2EBF-BFEB-4496-AF3A-6AA27D9BCA1E}"/>
              </a:ext>
            </a:extLst>
          </p:cNvPr>
          <p:cNvSpPr>
            <a:spLocks noGrp="1"/>
          </p:cNvSpPr>
          <p:nvPr/>
        </p:nvSpPr>
        <p:spPr>
          <a:xfrm>
            <a:off x="9169400" y="210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F46040F5-64E2-47B2-903A-2EA588628E8F}"/>
              </a:ext>
            </a:extLst>
          </p:cNvPr>
          <p:cNvSpPr>
            <a:spLocks noGrp="1"/>
          </p:cNvSpPr>
          <p:nvPr/>
        </p:nvSpPr>
        <p:spPr>
          <a:xfrm>
            <a:off x="9347200" y="210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9F96E304-7E35-442A-B982-9F7AA7E43130}"/>
              </a:ext>
            </a:extLst>
          </p:cNvPr>
          <p:cNvSpPr>
            <a:spLocks noGrp="1"/>
          </p:cNvSpPr>
          <p:nvPr/>
        </p:nvSpPr>
        <p:spPr>
          <a:xfrm>
            <a:off x="9525000" y="210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97F45095-C3A9-4618-B1EB-3D9CEC71F9A1}"/>
              </a:ext>
            </a:extLst>
          </p:cNvPr>
          <p:cNvSpPr>
            <a:spLocks noGrp="1"/>
          </p:cNvSpPr>
          <p:nvPr/>
        </p:nvSpPr>
        <p:spPr>
          <a:xfrm>
            <a:off x="9702800" y="210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12AB33FC-54EB-407C-B07B-BE182684E561}"/>
              </a:ext>
            </a:extLst>
          </p:cNvPr>
          <p:cNvSpPr>
            <a:spLocks noGrp="1"/>
          </p:cNvSpPr>
          <p:nvPr/>
        </p:nvSpPr>
        <p:spPr>
          <a:xfrm>
            <a:off x="9880600" y="210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88B70E20-A3C7-47B8-9C92-A2C680FB2BD5}"/>
              </a:ext>
            </a:extLst>
          </p:cNvPr>
          <p:cNvSpPr>
            <a:spLocks noGrp="1"/>
          </p:cNvSpPr>
          <p:nvPr/>
        </p:nvSpPr>
        <p:spPr>
          <a:xfrm>
            <a:off x="10058400" y="210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4DE1262C-FE17-4817-9ACF-F3D15AADD43B}"/>
              </a:ext>
            </a:extLst>
          </p:cNvPr>
          <p:cNvSpPr>
            <a:spLocks noGrp="1"/>
          </p:cNvSpPr>
          <p:nvPr/>
        </p:nvSpPr>
        <p:spPr>
          <a:xfrm>
            <a:off x="10236200" y="210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95762487-0944-4A58-A848-F40005268003}"/>
              </a:ext>
            </a:extLst>
          </p:cNvPr>
          <p:cNvSpPr>
            <a:spLocks noGrp="1"/>
          </p:cNvSpPr>
          <p:nvPr/>
        </p:nvSpPr>
        <p:spPr>
          <a:xfrm>
            <a:off x="10414000" y="210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5916E630-1C10-480B-A0BC-DF7D7E3BFFDF}"/>
              </a:ext>
            </a:extLst>
          </p:cNvPr>
          <p:cNvSpPr>
            <a:spLocks noGrp="1"/>
          </p:cNvSpPr>
          <p:nvPr/>
        </p:nvSpPr>
        <p:spPr>
          <a:xfrm>
            <a:off x="10591800" y="210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19924EF3-ADE4-4E77-927E-18D50CE791BA}"/>
              </a:ext>
            </a:extLst>
          </p:cNvPr>
          <p:cNvSpPr>
            <a:spLocks noGrp="1"/>
          </p:cNvSpPr>
          <p:nvPr/>
        </p:nvSpPr>
        <p:spPr>
          <a:xfrm>
            <a:off x="10769600" y="210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3" name="TB413">
            <a:extLst>
              <a:ext uri="{FF2B5EF4-FFF2-40B4-BE49-F238E27FC236}">
                <a16:creationId xmlns:a16="http://schemas.microsoft.com/office/drawing/2014/main" id="{65B17A91-BA25-440C-A0D6-D587B2E15FD8}"/>
              </a:ext>
            </a:extLst>
          </p:cNvPr>
          <p:cNvSpPr>
            <a:spLocks noGrp="1"/>
          </p:cNvSpPr>
          <p:nvPr/>
        </p:nvSpPr>
        <p:spPr>
          <a:xfrm>
            <a:off x="11125200" y="1980000"/>
            <a:ext cx="3937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2D6A4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14" name="TB414">
            <a:extLst>
              <a:ext uri="{FF2B5EF4-FFF2-40B4-BE49-F238E27FC236}">
                <a16:creationId xmlns:a16="http://schemas.microsoft.com/office/drawing/2014/main" id="{EEBBC028-E4FE-43E7-94EF-354759684C77}"/>
              </a:ext>
            </a:extLst>
          </p:cNvPr>
          <p:cNvSpPr>
            <a:spLocks noGrp="1"/>
          </p:cNvSpPr>
          <p:nvPr/>
        </p:nvSpPr>
        <p:spPr>
          <a:xfrm>
            <a:off x="6731000" y="2620000"/>
            <a:ext cx="24384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bordes etiquetados</a:t>
            </a:r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E674B118-D5FF-4D32-B784-FA3BB08AAD77}"/>
              </a:ext>
            </a:extLst>
          </p:cNvPr>
          <p:cNvSpPr>
            <a:spLocks noGrp="1"/>
          </p:cNvSpPr>
          <p:nvPr/>
        </p:nvSpPr>
        <p:spPr>
          <a:xfrm>
            <a:off x="9169400" y="274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80BD8C74-736E-4337-8B6A-74AD14FC3F58}"/>
              </a:ext>
            </a:extLst>
          </p:cNvPr>
          <p:cNvSpPr>
            <a:spLocks noGrp="1"/>
          </p:cNvSpPr>
          <p:nvPr/>
        </p:nvSpPr>
        <p:spPr>
          <a:xfrm>
            <a:off x="9347200" y="274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17" name="SH417">
            <a:extLst>
              <a:ext uri="{FF2B5EF4-FFF2-40B4-BE49-F238E27FC236}">
                <a16:creationId xmlns:a16="http://schemas.microsoft.com/office/drawing/2014/main" id="{8FC3854C-D89B-4804-9599-EB0E96FCB7FC}"/>
              </a:ext>
            </a:extLst>
          </p:cNvPr>
          <p:cNvSpPr>
            <a:spLocks noGrp="1"/>
          </p:cNvSpPr>
          <p:nvPr/>
        </p:nvSpPr>
        <p:spPr>
          <a:xfrm>
            <a:off x="9525000" y="274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6476C469-EE89-4D25-8A0A-C16DE29828CD}"/>
              </a:ext>
            </a:extLst>
          </p:cNvPr>
          <p:cNvSpPr>
            <a:spLocks noGrp="1"/>
          </p:cNvSpPr>
          <p:nvPr/>
        </p:nvSpPr>
        <p:spPr>
          <a:xfrm>
            <a:off x="9702800" y="274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411FEFEA-C7BB-4C9A-B238-5D3E65D43129}"/>
              </a:ext>
            </a:extLst>
          </p:cNvPr>
          <p:cNvSpPr>
            <a:spLocks noGrp="1"/>
          </p:cNvSpPr>
          <p:nvPr/>
        </p:nvSpPr>
        <p:spPr>
          <a:xfrm>
            <a:off x="9880600" y="274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20" name="SH420">
            <a:extLst>
              <a:ext uri="{FF2B5EF4-FFF2-40B4-BE49-F238E27FC236}">
                <a16:creationId xmlns:a16="http://schemas.microsoft.com/office/drawing/2014/main" id="{BBE7E895-BF4C-4E76-ADD7-40D56B6AF709}"/>
              </a:ext>
            </a:extLst>
          </p:cNvPr>
          <p:cNvSpPr>
            <a:spLocks noGrp="1"/>
          </p:cNvSpPr>
          <p:nvPr/>
        </p:nvSpPr>
        <p:spPr>
          <a:xfrm>
            <a:off x="10058400" y="274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21" name="SH421">
            <a:extLst>
              <a:ext uri="{FF2B5EF4-FFF2-40B4-BE49-F238E27FC236}">
                <a16:creationId xmlns:a16="http://schemas.microsoft.com/office/drawing/2014/main" id="{584D569D-3AA1-45C5-964F-842BB5AEAA41}"/>
              </a:ext>
            </a:extLst>
          </p:cNvPr>
          <p:cNvSpPr>
            <a:spLocks noGrp="1"/>
          </p:cNvSpPr>
          <p:nvPr/>
        </p:nvSpPr>
        <p:spPr>
          <a:xfrm>
            <a:off x="10236200" y="274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22" name="SH422">
            <a:extLst>
              <a:ext uri="{FF2B5EF4-FFF2-40B4-BE49-F238E27FC236}">
                <a16:creationId xmlns:a16="http://schemas.microsoft.com/office/drawing/2014/main" id="{EC5ACCE0-DC9A-4852-8484-C20DE75B94B4}"/>
              </a:ext>
            </a:extLst>
          </p:cNvPr>
          <p:cNvSpPr>
            <a:spLocks noGrp="1"/>
          </p:cNvSpPr>
          <p:nvPr/>
        </p:nvSpPr>
        <p:spPr>
          <a:xfrm>
            <a:off x="10414000" y="274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23" name="SH423">
            <a:extLst>
              <a:ext uri="{FF2B5EF4-FFF2-40B4-BE49-F238E27FC236}">
                <a16:creationId xmlns:a16="http://schemas.microsoft.com/office/drawing/2014/main" id="{7D1438E1-1C04-47EA-A6A0-92FAAD705F2F}"/>
              </a:ext>
            </a:extLst>
          </p:cNvPr>
          <p:cNvSpPr>
            <a:spLocks noGrp="1"/>
          </p:cNvSpPr>
          <p:nvPr/>
        </p:nvSpPr>
        <p:spPr>
          <a:xfrm>
            <a:off x="10591800" y="274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24" name="SH424">
            <a:extLst>
              <a:ext uri="{FF2B5EF4-FFF2-40B4-BE49-F238E27FC236}">
                <a16:creationId xmlns:a16="http://schemas.microsoft.com/office/drawing/2014/main" id="{28036A36-597D-4328-9D70-8D6F7043D811}"/>
              </a:ext>
            </a:extLst>
          </p:cNvPr>
          <p:cNvSpPr>
            <a:spLocks noGrp="1"/>
          </p:cNvSpPr>
          <p:nvPr/>
        </p:nvSpPr>
        <p:spPr>
          <a:xfrm>
            <a:off x="10769600" y="274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25" name="TB425">
            <a:extLst>
              <a:ext uri="{FF2B5EF4-FFF2-40B4-BE49-F238E27FC236}">
                <a16:creationId xmlns:a16="http://schemas.microsoft.com/office/drawing/2014/main" id="{06EBF322-F4A1-4D71-B19F-40A1F3E8ABED}"/>
              </a:ext>
            </a:extLst>
          </p:cNvPr>
          <p:cNvSpPr>
            <a:spLocks noGrp="1"/>
          </p:cNvSpPr>
          <p:nvPr/>
        </p:nvSpPr>
        <p:spPr>
          <a:xfrm>
            <a:off x="11125200" y="2620000"/>
            <a:ext cx="3937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2D6A4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26" name="TB426">
            <a:extLst>
              <a:ext uri="{FF2B5EF4-FFF2-40B4-BE49-F238E27FC236}">
                <a16:creationId xmlns:a16="http://schemas.microsoft.com/office/drawing/2014/main" id="{87DDC383-45CE-49C7-91FE-FAB87CBDDC87}"/>
              </a:ext>
            </a:extLst>
          </p:cNvPr>
          <p:cNvSpPr>
            <a:spLocks noGrp="1"/>
          </p:cNvSpPr>
          <p:nvPr/>
        </p:nvSpPr>
        <p:spPr>
          <a:xfrm>
            <a:off x="6731000" y="3260000"/>
            <a:ext cx="24384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nieve excluida</a:t>
            </a:r>
          </a:p>
        </p:txBody>
      </p:sp>
      <p:sp>
        <p:nvSpPr>
          <p:cNvPr id="427" name="SH427">
            <a:extLst>
              <a:ext uri="{FF2B5EF4-FFF2-40B4-BE49-F238E27FC236}">
                <a16:creationId xmlns:a16="http://schemas.microsoft.com/office/drawing/2014/main" id="{C04BE6B4-207C-465F-9CBB-F9ABBD7F0497}"/>
              </a:ext>
            </a:extLst>
          </p:cNvPr>
          <p:cNvSpPr>
            <a:spLocks noGrp="1"/>
          </p:cNvSpPr>
          <p:nvPr/>
        </p:nvSpPr>
        <p:spPr>
          <a:xfrm>
            <a:off x="9169400" y="338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28" name="SH428">
            <a:extLst>
              <a:ext uri="{FF2B5EF4-FFF2-40B4-BE49-F238E27FC236}">
                <a16:creationId xmlns:a16="http://schemas.microsoft.com/office/drawing/2014/main" id="{BBC5A031-D7D0-4673-A990-12B001A3AC91}"/>
              </a:ext>
            </a:extLst>
          </p:cNvPr>
          <p:cNvSpPr>
            <a:spLocks noGrp="1"/>
          </p:cNvSpPr>
          <p:nvPr/>
        </p:nvSpPr>
        <p:spPr>
          <a:xfrm>
            <a:off x="9347200" y="338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29" name="SH429">
            <a:extLst>
              <a:ext uri="{FF2B5EF4-FFF2-40B4-BE49-F238E27FC236}">
                <a16:creationId xmlns:a16="http://schemas.microsoft.com/office/drawing/2014/main" id="{E4142BDC-E3CB-4507-A130-B67DE07BBA6F}"/>
              </a:ext>
            </a:extLst>
          </p:cNvPr>
          <p:cNvSpPr>
            <a:spLocks noGrp="1"/>
          </p:cNvSpPr>
          <p:nvPr/>
        </p:nvSpPr>
        <p:spPr>
          <a:xfrm>
            <a:off x="9525000" y="338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30" name="SH430">
            <a:extLst>
              <a:ext uri="{FF2B5EF4-FFF2-40B4-BE49-F238E27FC236}">
                <a16:creationId xmlns:a16="http://schemas.microsoft.com/office/drawing/2014/main" id="{830E1697-F0EE-42CC-8836-055521EC926B}"/>
              </a:ext>
            </a:extLst>
          </p:cNvPr>
          <p:cNvSpPr>
            <a:spLocks noGrp="1"/>
          </p:cNvSpPr>
          <p:nvPr/>
        </p:nvSpPr>
        <p:spPr>
          <a:xfrm>
            <a:off x="9702800" y="338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31" name="SH431">
            <a:extLst>
              <a:ext uri="{FF2B5EF4-FFF2-40B4-BE49-F238E27FC236}">
                <a16:creationId xmlns:a16="http://schemas.microsoft.com/office/drawing/2014/main" id="{61029105-D229-4CF7-9030-CB3E4C251ABC}"/>
              </a:ext>
            </a:extLst>
          </p:cNvPr>
          <p:cNvSpPr>
            <a:spLocks noGrp="1"/>
          </p:cNvSpPr>
          <p:nvPr/>
        </p:nvSpPr>
        <p:spPr>
          <a:xfrm>
            <a:off x="9880600" y="338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32" name="SH432">
            <a:extLst>
              <a:ext uri="{FF2B5EF4-FFF2-40B4-BE49-F238E27FC236}">
                <a16:creationId xmlns:a16="http://schemas.microsoft.com/office/drawing/2014/main" id="{AB22B226-464B-4C3E-8742-5A77B7805D8F}"/>
              </a:ext>
            </a:extLst>
          </p:cNvPr>
          <p:cNvSpPr>
            <a:spLocks noGrp="1"/>
          </p:cNvSpPr>
          <p:nvPr/>
        </p:nvSpPr>
        <p:spPr>
          <a:xfrm>
            <a:off x="10058400" y="338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33" name="SH433">
            <a:extLst>
              <a:ext uri="{FF2B5EF4-FFF2-40B4-BE49-F238E27FC236}">
                <a16:creationId xmlns:a16="http://schemas.microsoft.com/office/drawing/2014/main" id="{CAE57E63-9484-4671-966B-3C0FCC2DCBF4}"/>
              </a:ext>
            </a:extLst>
          </p:cNvPr>
          <p:cNvSpPr>
            <a:spLocks noGrp="1"/>
          </p:cNvSpPr>
          <p:nvPr/>
        </p:nvSpPr>
        <p:spPr>
          <a:xfrm>
            <a:off x="10236200" y="338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34" name="SH434">
            <a:extLst>
              <a:ext uri="{FF2B5EF4-FFF2-40B4-BE49-F238E27FC236}">
                <a16:creationId xmlns:a16="http://schemas.microsoft.com/office/drawing/2014/main" id="{F01B33BB-95C8-4F88-BE88-AD2539A7DDBB}"/>
              </a:ext>
            </a:extLst>
          </p:cNvPr>
          <p:cNvSpPr>
            <a:spLocks noGrp="1"/>
          </p:cNvSpPr>
          <p:nvPr/>
        </p:nvSpPr>
        <p:spPr>
          <a:xfrm>
            <a:off x="10414000" y="338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35" name="SH435">
            <a:extLst>
              <a:ext uri="{FF2B5EF4-FFF2-40B4-BE49-F238E27FC236}">
                <a16:creationId xmlns:a16="http://schemas.microsoft.com/office/drawing/2014/main" id="{7F241EFC-8A5F-404F-BC0B-60871BFFB2CE}"/>
              </a:ext>
            </a:extLst>
          </p:cNvPr>
          <p:cNvSpPr>
            <a:spLocks noGrp="1"/>
          </p:cNvSpPr>
          <p:nvPr/>
        </p:nvSpPr>
        <p:spPr>
          <a:xfrm>
            <a:off x="10591800" y="338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36" name="SH436">
            <a:extLst>
              <a:ext uri="{FF2B5EF4-FFF2-40B4-BE49-F238E27FC236}">
                <a16:creationId xmlns:a16="http://schemas.microsoft.com/office/drawing/2014/main" id="{04E30FEB-8472-4740-A75E-5E244DEB63C0}"/>
              </a:ext>
            </a:extLst>
          </p:cNvPr>
          <p:cNvSpPr>
            <a:spLocks noGrp="1"/>
          </p:cNvSpPr>
          <p:nvPr/>
        </p:nvSpPr>
        <p:spPr>
          <a:xfrm>
            <a:off x="10769600" y="338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37" name="TB437">
            <a:extLst>
              <a:ext uri="{FF2B5EF4-FFF2-40B4-BE49-F238E27FC236}">
                <a16:creationId xmlns:a16="http://schemas.microsoft.com/office/drawing/2014/main" id="{202FA7CF-1525-4138-906E-D38A3FB18679}"/>
              </a:ext>
            </a:extLst>
          </p:cNvPr>
          <p:cNvSpPr>
            <a:spLocks noGrp="1"/>
          </p:cNvSpPr>
          <p:nvPr/>
        </p:nvSpPr>
        <p:spPr>
          <a:xfrm>
            <a:off x="11125200" y="3260000"/>
            <a:ext cx="3937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2D6A4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8" name="TB438">
            <a:extLst>
              <a:ext uri="{FF2B5EF4-FFF2-40B4-BE49-F238E27FC236}">
                <a16:creationId xmlns:a16="http://schemas.microsoft.com/office/drawing/2014/main" id="{F9EB95F6-9E2D-4796-B2D9-D19D9A40F7B8}"/>
              </a:ext>
            </a:extLst>
          </p:cNvPr>
          <p:cNvSpPr>
            <a:spLocks noGrp="1"/>
          </p:cNvSpPr>
          <p:nvPr/>
        </p:nvSpPr>
        <p:spPr>
          <a:xfrm>
            <a:off x="6731000" y="3900000"/>
            <a:ext cx="24384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500" b="1" i="0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flag de </a:t>
            </a:r>
            <a:r>
              <a:rPr sz="1500" b="1" i="0" dirty="0" err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degradación</a:t>
            </a:r>
            <a:endParaRPr sz="1500" b="1" i="0" dirty="0">
              <a:solidFill>
                <a:srgbClr val="1B43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SH439">
            <a:extLst>
              <a:ext uri="{FF2B5EF4-FFF2-40B4-BE49-F238E27FC236}">
                <a16:creationId xmlns:a16="http://schemas.microsoft.com/office/drawing/2014/main" id="{70537D32-7527-42D2-8805-E3A5455B5566}"/>
              </a:ext>
            </a:extLst>
          </p:cNvPr>
          <p:cNvSpPr>
            <a:spLocks noGrp="1"/>
          </p:cNvSpPr>
          <p:nvPr/>
        </p:nvSpPr>
        <p:spPr>
          <a:xfrm>
            <a:off x="9169400" y="402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40" name="SH440">
            <a:extLst>
              <a:ext uri="{FF2B5EF4-FFF2-40B4-BE49-F238E27FC236}">
                <a16:creationId xmlns:a16="http://schemas.microsoft.com/office/drawing/2014/main" id="{B97F9C00-7B61-4958-B5CD-4EAE0B3B74F5}"/>
              </a:ext>
            </a:extLst>
          </p:cNvPr>
          <p:cNvSpPr>
            <a:spLocks noGrp="1"/>
          </p:cNvSpPr>
          <p:nvPr/>
        </p:nvSpPr>
        <p:spPr>
          <a:xfrm>
            <a:off x="9347200" y="402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41" name="SH441">
            <a:extLst>
              <a:ext uri="{FF2B5EF4-FFF2-40B4-BE49-F238E27FC236}">
                <a16:creationId xmlns:a16="http://schemas.microsoft.com/office/drawing/2014/main" id="{1E9BECF8-5351-4DE0-A6A4-A3809CBFAE62}"/>
              </a:ext>
            </a:extLst>
          </p:cNvPr>
          <p:cNvSpPr>
            <a:spLocks noGrp="1"/>
          </p:cNvSpPr>
          <p:nvPr/>
        </p:nvSpPr>
        <p:spPr>
          <a:xfrm>
            <a:off x="9525000" y="402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42" name="SH442">
            <a:extLst>
              <a:ext uri="{FF2B5EF4-FFF2-40B4-BE49-F238E27FC236}">
                <a16:creationId xmlns:a16="http://schemas.microsoft.com/office/drawing/2014/main" id="{287AC237-F718-46B0-9C99-24C78D091018}"/>
              </a:ext>
            </a:extLst>
          </p:cNvPr>
          <p:cNvSpPr>
            <a:spLocks noGrp="1"/>
          </p:cNvSpPr>
          <p:nvPr/>
        </p:nvSpPr>
        <p:spPr>
          <a:xfrm>
            <a:off x="9702800" y="402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43" name="SH443">
            <a:extLst>
              <a:ext uri="{FF2B5EF4-FFF2-40B4-BE49-F238E27FC236}">
                <a16:creationId xmlns:a16="http://schemas.microsoft.com/office/drawing/2014/main" id="{D42F573F-66DD-47D0-8144-9B224023B29B}"/>
              </a:ext>
            </a:extLst>
          </p:cNvPr>
          <p:cNvSpPr>
            <a:spLocks noGrp="1"/>
          </p:cNvSpPr>
          <p:nvPr/>
        </p:nvSpPr>
        <p:spPr>
          <a:xfrm>
            <a:off x="9880600" y="402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44" name="SH444">
            <a:extLst>
              <a:ext uri="{FF2B5EF4-FFF2-40B4-BE49-F238E27FC236}">
                <a16:creationId xmlns:a16="http://schemas.microsoft.com/office/drawing/2014/main" id="{078D9747-80AE-4BC0-B09A-8574C98B9676}"/>
              </a:ext>
            </a:extLst>
          </p:cNvPr>
          <p:cNvSpPr>
            <a:spLocks noGrp="1"/>
          </p:cNvSpPr>
          <p:nvPr/>
        </p:nvSpPr>
        <p:spPr>
          <a:xfrm>
            <a:off x="10058400" y="402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45" name="SH445">
            <a:extLst>
              <a:ext uri="{FF2B5EF4-FFF2-40B4-BE49-F238E27FC236}">
                <a16:creationId xmlns:a16="http://schemas.microsoft.com/office/drawing/2014/main" id="{A054FD64-CE02-4396-A6F1-BED01EBC313A}"/>
              </a:ext>
            </a:extLst>
          </p:cNvPr>
          <p:cNvSpPr>
            <a:spLocks noGrp="1"/>
          </p:cNvSpPr>
          <p:nvPr/>
        </p:nvSpPr>
        <p:spPr>
          <a:xfrm>
            <a:off x="10236200" y="402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46" name="SH446">
            <a:extLst>
              <a:ext uri="{FF2B5EF4-FFF2-40B4-BE49-F238E27FC236}">
                <a16:creationId xmlns:a16="http://schemas.microsoft.com/office/drawing/2014/main" id="{26B4F510-56F0-4353-A3B3-EEE1B6BAC224}"/>
              </a:ext>
            </a:extLst>
          </p:cNvPr>
          <p:cNvSpPr>
            <a:spLocks noGrp="1"/>
          </p:cNvSpPr>
          <p:nvPr/>
        </p:nvSpPr>
        <p:spPr>
          <a:xfrm>
            <a:off x="10414000" y="402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47" name="SH447">
            <a:extLst>
              <a:ext uri="{FF2B5EF4-FFF2-40B4-BE49-F238E27FC236}">
                <a16:creationId xmlns:a16="http://schemas.microsoft.com/office/drawing/2014/main" id="{D1C5A134-CD77-4F80-B84D-B0504C1A5142}"/>
              </a:ext>
            </a:extLst>
          </p:cNvPr>
          <p:cNvSpPr>
            <a:spLocks noGrp="1"/>
          </p:cNvSpPr>
          <p:nvPr/>
        </p:nvSpPr>
        <p:spPr>
          <a:xfrm>
            <a:off x="10591800" y="402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48" name="SH448">
            <a:extLst>
              <a:ext uri="{FF2B5EF4-FFF2-40B4-BE49-F238E27FC236}">
                <a16:creationId xmlns:a16="http://schemas.microsoft.com/office/drawing/2014/main" id="{8F184808-A389-4EAF-8695-45B68C81005F}"/>
              </a:ext>
            </a:extLst>
          </p:cNvPr>
          <p:cNvSpPr>
            <a:spLocks noGrp="1"/>
          </p:cNvSpPr>
          <p:nvPr/>
        </p:nvSpPr>
        <p:spPr>
          <a:xfrm>
            <a:off x="10769600" y="402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49" name="TB449">
            <a:extLst>
              <a:ext uri="{FF2B5EF4-FFF2-40B4-BE49-F238E27FC236}">
                <a16:creationId xmlns:a16="http://schemas.microsoft.com/office/drawing/2014/main" id="{10699BD0-44E5-4719-AA15-3C4105FF49BA}"/>
              </a:ext>
            </a:extLst>
          </p:cNvPr>
          <p:cNvSpPr>
            <a:spLocks noGrp="1"/>
          </p:cNvSpPr>
          <p:nvPr/>
        </p:nvSpPr>
        <p:spPr>
          <a:xfrm>
            <a:off x="11125200" y="3900000"/>
            <a:ext cx="3937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2D6A4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50" name="TB450">
            <a:extLst>
              <a:ext uri="{FF2B5EF4-FFF2-40B4-BE49-F238E27FC236}">
                <a16:creationId xmlns:a16="http://schemas.microsoft.com/office/drawing/2014/main" id="{6726C4A6-B717-487B-B8D2-328D6B93255A}"/>
              </a:ext>
            </a:extLst>
          </p:cNvPr>
          <p:cNvSpPr>
            <a:spLocks noGrp="1"/>
          </p:cNvSpPr>
          <p:nvPr/>
        </p:nvSpPr>
        <p:spPr>
          <a:xfrm>
            <a:off x="6731000" y="4540000"/>
            <a:ext cx="24384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outliers auditados</a:t>
            </a:r>
          </a:p>
        </p:txBody>
      </p:sp>
      <p:sp>
        <p:nvSpPr>
          <p:cNvPr id="451" name="SH451">
            <a:extLst>
              <a:ext uri="{FF2B5EF4-FFF2-40B4-BE49-F238E27FC236}">
                <a16:creationId xmlns:a16="http://schemas.microsoft.com/office/drawing/2014/main" id="{28E820D7-6A20-41EF-B181-47A204044FCC}"/>
              </a:ext>
            </a:extLst>
          </p:cNvPr>
          <p:cNvSpPr>
            <a:spLocks noGrp="1"/>
          </p:cNvSpPr>
          <p:nvPr/>
        </p:nvSpPr>
        <p:spPr>
          <a:xfrm>
            <a:off x="9169400" y="466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52" name="SH452">
            <a:extLst>
              <a:ext uri="{FF2B5EF4-FFF2-40B4-BE49-F238E27FC236}">
                <a16:creationId xmlns:a16="http://schemas.microsoft.com/office/drawing/2014/main" id="{F0B7A0D6-458C-4BDA-8986-A27D0F3E15B5}"/>
              </a:ext>
            </a:extLst>
          </p:cNvPr>
          <p:cNvSpPr>
            <a:spLocks noGrp="1"/>
          </p:cNvSpPr>
          <p:nvPr/>
        </p:nvSpPr>
        <p:spPr>
          <a:xfrm>
            <a:off x="9347200" y="466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53" name="SH453">
            <a:extLst>
              <a:ext uri="{FF2B5EF4-FFF2-40B4-BE49-F238E27FC236}">
                <a16:creationId xmlns:a16="http://schemas.microsoft.com/office/drawing/2014/main" id="{EE165A2C-D9EF-4801-A87A-935CB0179232}"/>
              </a:ext>
            </a:extLst>
          </p:cNvPr>
          <p:cNvSpPr>
            <a:spLocks noGrp="1"/>
          </p:cNvSpPr>
          <p:nvPr/>
        </p:nvSpPr>
        <p:spPr>
          <a:xfrm>
            <a:off x="9525000" y="466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54" name="SH454">
            <a:extLst>
              <a:ext uri="{FF2B5EF4-FFF2-40B4-BE49-F238E27FC236}">
                <a16:creationId xmlns:a16="http://schemas.microsoft.com/office/drawing/2014/main" id="{2591A996-3F92-4BA0-A41D-536D70371F32}"/>
              </a:ext>
            </a:extLst>
          </p:cNvPr>
          <p:cNvSpPr>
            <a:spLocks noGrp="1"/>
          </p:cNvSpPr>
          <p:nvPr/>
        </p:nvSpPr>
        <p:spPr>
          <a:xfrm>
            <a:off x="9702800" y="466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55" name="SH455">
            <a:extLst>
              <a:ext uri="{FF2B5EF4-FFF2-40B4-BE49-F238E27FC236}">
                <a16:creationId xmlns:a16="http://schemas.microsoft.com/office/drawing/2014/main" id="{E223ACA0-8E32-4421-A753-3193E4A21B9E}"/>
              </a:ext>
            </a:extLst>
          </p:cNvPr>
          <p:cNvSpPr>
            <a:spLocks noGrp="1"/>
          </p:cNvSpPr>
          <p:nvPr/>
        </p:nvSpPr>
        <p:spPr>
          <a:xfrm>
            <a:off x="9880600" y="4662000"/>
            <a:ext cx="165100" cy="176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56" name="SH456">
            <a:extLst>
              <a:ext uri="{FF2B5EF4-FFF2-40B4-BE49-F238E27FC236}">
                <a16:creationId xmlns:a16="http://schemas.microsoft.com/office/drawing/2014/main" id="{010CB321-B3A9-4E38-83D1-30B1DDB73DBA}"/>
              </a:ext>
            </a:extLst>
          </p:cNvPr>
          <p:cNvSpPr>
            <a:spLocks noGrp="1"/>
          </p:cNvSpPr>
          <p:nvPr/>
        </p:nvSpPr>
        <p:spPr>
          <a:xfrm>
            <a:off x="10058400" y="466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57" name="SH457">
            <a:extLst>
              <a:ext uri="{FF2B5EF4-FFF2-40B4-BE49-F238E27FC236}">
                <a16:creationId xmlns:a16="http://schemas.microsoft.com/office/drawing/2014/main" id="{1C00B1CA-F55E-4A9D-A069-1A4E096EAB5E}"/>
              </a:ext>
            </a:extLst>
          </p:cNvPr>
          <p:cNvSpPr>
            <a:spLocks noGrp="1"/>
          </p:cNvSpPr>
          <p:nvPr/>
        </p:nvSpPr>
        <p:spPr>
          <a:xfrm>
            <a:off x="10236200" y="466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58" name="SH458">
            <a:extLst>
              <a:ext uri="{FF2B5EF4-FFF2-40B4-BE49-F238E27FC236}">
                <a16:creationId xmlns:a16="http://schemas.microsoft.com/office/drawing/2014/main" id="{0954639B-DBBC-4060-B6E4-EE0D9A301CE7}"/>
              </a:ext>
            </a:extLst>
          </p:cNvPr>
          <p:cNvSpPr>
            <a:spLocks noGrp="1"/>
          </p:cNvSpPr>
          <p:nvPr/>
        </p:nvSpPr>
        <p:spPr>
          <a:xfrm>
            <a:off x="10414000" y="466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59" name="SH459">
            <a:extLst>
              <a:ext uri="{FF2B5EF4-FFF2-40B4-BE49-F238E27FC236}">
                <a16:creationId xmlns:a16="http://schemas.microsoft.com/office/drawing/2014/main" id="{121E6903-F2BD-49E2-90BE-511A18192518}"/>
              </a:ext>
            </a:extLst>
          </p:cNvPr>
          <p:cNvSpPr>
            <a:spLocks noGrp="1"/>
          </p:cNvSpPr>
          <p:nvPr/>
        </p:nvSpPr>
        <p:spPr>
          <a:xfrm>
            <a:off x="10591800" y="466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60" name="SH460">
            <a:extLst>
              <a:ext uri="{FF2B5EF4-FFF2-40B4-BE49-F238E27FC236}">
                <a16:creationId xmlns:a16="http://schemas.microsoft.com/office/drawing/2014/main" id="{CF94AA35-7681-45AD-9231-B0707B2EB8B8}"/>
              </a:ext>
            </a:extLst>
          </p:cNvPr>
          <p:cNvSpPr>
            <a:spLocks noGrp="1"/>
          </p:cNvSpPr>
          <p:nvPr/>
        </p:nvSpPr>
        <p:spPr>
          <a:xfrm>
            <a:off x="10769600" y="4662000"/>
            <a:ext cx="165100" cy="17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61" name="TB461">
            <a:extLst>
              <a:ext uri="{FF2B5EF4-FFF2-40B4-BE49-F238E27FC236}">
                <a16:creationId xmlns:a16="http://schemas.microsoft.com/office/drawing/2014/main" id="{8824922D-521B-478E-AFD1-5CB71D0BF0A7}"/>
              </a:ext>
            </a:extLst>
          </p:cNvPr>
          <p:cNvSpPr>
            <a:spLocks noGrp="1"/>
          </p:cNvSpPr>
          <p:nvPr/>
        </p:nvSpPr>
        <p:spPr>
          <a:xfrm>
            <a:off x="11125200" y="4540000"/>
            <a:ext cx="3937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2D6A4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62" name="TB462">
            <a:extLst>
              <a:ext uri="{FF2B5EF4-FFF2-40B4-BE49-F238E27FC236}">
                <a16:creationId xmlns:a16="http://schemas.microsoft.com/office/drawing/2014/main" id="{36D89C2F-66C3-47CE-9676-F276AB722E0F}"/>
              </a:ext>
            </a:extLst>
          </p:cNvPr>
          <p:cNvSpPr>
            <a:spLocks noGrp="1"/>
          </p:cNvSpPr>
          <p:nvPr/>
        </p:nvSpPr>
        <p:spPr>
          <a:xfrm>
            <a:off x="6731000" y="5210000"/>
            <a:ext cx="47879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El filtrado define el universo real de entrenamiento.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2D8F53E-491F-412E-A36F-096D10302A3F}"/>
              </a:ext>
            </a:extLst>
          </p:cNvPr>
          <p:cNvSpPr>
            <a:spLocks noGrp="1"/>
          </p:cNvSpPr>
          <p:nvPr/>
        </p:nvSpPr>
        <p:spPr>
          <a:xfrm>
            <a:off x="600075" y="5711800"/>
            <a:ext cx="10915650" cy="42232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GEDI/UMD Products; LP DAAC GEDI02 User Guides; ORNL DAAC L4A/L4B. Moudrý et al. (2024).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7676A1D-56A4-4420-B435-32DDF2F69CF7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38/79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7804BEA-FD4F-4B15-99DF-0B59B5F53A88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96DDCCD-99FB-43B9-9908-BC2440656D1B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63" name="Rectángulo 462">
            <a:extLst>
              <a:ext uri="{FF2B5EF4-FFF2-40B4-BE49-F238E27FC236}">
                <a16:creationId xmlns:a16="http://schemas.microsoft.com/office/drawing/2014/main" id="{5B0DB715-59BD-4C4D-B2A1-03E3F43A36B2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38/79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5188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FBEB5A-56F7-41FE-8BFD-53F9A322DFF6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Variables clave para biomasa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D6136E-1DEE-4532-AC09-A301B92A26A3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De la forma de onda a la variable forestal de interés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587FA8-704F-4F07-8355-B59467EC9DED}"/>
              </a:ext>
            </a:extLst>
          </p:cNvPr>
          <p:cNvSpPr>
            <a:spLocks noGrp="1"/>
          </p:cNvSpPr>
          <p:nvPr/>
        </p:nvSpPr>
        <p:spPr>
          <a:xfrm>
            <a:off x="596900" y="1308100"/>
            <a:ext cx="4838700" cy="4419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Altura de copa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RH98 y RH95 funcionan como proxy estructural del dosel.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Densidad y cierre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cover y PAI describen cuánta vegetación intercepta el pulso.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Variable objetivo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AGBD y su error estándar constituyen el resultado y su incertidumbre.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Trazabilidad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shot_number, haz, fecha y banderas permiten auditar cada estimación.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A19D0FA-81F2-475B-9BA2-888C23E99E6F}"/>
              </a:ext>
            </a:extLst>
          </p:cNvPr>
          <p:cNvSpPr>
            <a:spLocks noGrp="1"/>
          </p:cNvSpPr>
          <p:nvPr/>
        </p:nvSpPr>
        <p:spPr>
          <a:xfrm>
            <a:off x="600075" y="5918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GEDI/UMD Products; LP DAAC GEDI02 User Guides; ORNL DAAC L4A/L4B. NASA Earthdata GEDI v3 release; ORNL DAAC GEDI L4A v3, DOI 10.3334/ORNLDAAC/2508.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0ED8697-D740-4D3D-BAC2-C3111A0BB610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39/79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F6F0EB7-8799-42C6-9228-5065F9E71CA2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04D4FB4-DFF5-427A-BA99-A49B4C7C0774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graphicFrame>
        <p:nvGraphicFramePr>
          <p:cNvPr id="37" name="Tabla 28"/>
          <p:cNvGraphicFramePr/>
          <p:nvPr/>
        </p:nvGraphicFramePr>
        <p:xfrm>
          <a:off x="5892800" y="1353820"/>
          <a:ext cx="5626101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rh98/rh95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L2A/L4A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altura estructural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cover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L2B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cierre de dosel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pai/fhd/pavd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estructura vertical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agbd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L4A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biomasa objetivo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agbd_se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L4A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incertidumbre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Rectángulo 28">
            <a:extLst>
              <a:ext uri="{FF2B5EF4-FFF2-40B4-BE49-F238E27FC236}">
                <a16:creationId xmlns:a16="http://schemas.microsoft.com/office/drawing/2014/main" id="{7A2AE9DC-4B0B-4DB2-AEF6-1A3901174CDF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39/79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77185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B886BD-D070-409B-9823-9FB1EFA54525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El lenguaje estadístico mínimo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20DBB6-DFB1-47AA-BFD1-FFF6BE028EFB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Lenguaje estadístico mínimo para la interpretación de resultados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DC4D0B0-E587-48F2-9A57-13434D9094C7}"/>
              </a:ext>
            </a:extLst>
          </p:cNvPr>
          <p:cNvSpPr>
            <a:spLocks noGrp="1"/>
          </p:cNvSpPr>
          <p:nvPr/>
        </p:nvSpPr>
        <p:spPr>
          <a:xfrm>
            <a:off x="600075" y="575498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MX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MX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Duncanson et al. (2022); Kellner et al. (2023); Duncanson et al. (2019); Subedi y Zurqani (2026). Elaboración propia.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D55ABA4-AC7D-4581-B8DE-75636C755EFE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40/79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67B1BA-AB5F-4474-B607-4D814D44FD7A}"/>
              </a:ext>
            </a:extLst>
          </p:cNvPr>
          <p:cNvSpPr>
            <a:spLocks noGrp="1"/>
          </p:cNvSpPr>
          <p:nvPr/>
        </p:nvSpPr>
        <p:spPr>
          <a:xfrm>
            <a:off x="596900" y="1270000"/>
            <a:ext cx="5334000" cy="4191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Muestra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Huellas GEDI filtradas dentro del bosque objetivo.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Población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Todos los píxeles o unidades forestales que se pretende estimar.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Modelo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Relación entre AGBD y los predictores continuos.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Estimador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Regla para calcular media, total e incertidumbre en el área.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BBA7BEB1-C99E-44EC-A26B-CFA68E9DA4D0}"/>
              </a:ext>
            </a:extLst>
          </p:cNvPr>
          <p:cNvSpPr>
            <a:spLocks noGrp="1"/>
          </p:cNvSpPr>
          <p:nvPr/>
        </p:nvSpPr>
        <p:spPr>
          <a:xfrm>
            <a:off x="6667220" y="118762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 la muestra a la decisión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0B9095C5-22D9-4D43-A971-6BC461CA61AC}"/>
              </a:ext>
            </a:extLst>
          </p:cNvPr>
          <p:cNvSpPr>
            <a:spLocks noGrp="1"/>
          </p:cNvSpPr>
          <p:nvPr/>
        </p:nvSpPr>
        <p:spPr>
          <a:xfrm>
            <a:off x="6667220" y="1527620"/>
            <a:ext cx="54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Cada peldaño responde una pregunta distinta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73B304BB-06DF-472B-A92F-A88A4574E47E}"/>
              </a:ext>
            </a:extLst>
          </p:cNvPr>
          <p:cNvSpPr>
            <a:spLocks noGrp="1"/>
          </p:cNvSpPr>
          <p:nvPr/>
        </p:nvSpPr>
        <p:spPr>
          <a:xfrm>
            <a:off x="6667220" y="4707620"/>
            <a:ext cx="2400000" cy="540000"/>
          </a:xfrm>
          <a:prstGeom prst="rect">
            <a:avLst/>
          </a:prstGeom>
          <a:solidFill>
            <a:srgbClr val="95C9AE"/>
          </a:solidFill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3" name="TB403">
            <a:extLst>
              <a:ext uri="{FF2B5EF4-FFF2-40B4-BE49-F238E27FC236}">
                <a16:creationId xmlns:a16="http://schemas.microsoft.com/office/drawing/2014/main" id="{8F37A2A6-7C8B-45B3-8DC0-7C72E095F99F}"/>
              </a:ext>
            </a:extLst>
          </p:cNvPr>
          <p:cNvSpPr>
            <a:spLocks noGrp="1"/>
          </p:cNvSpPr>
          <p:nvPr/>
        </p:nvSpPr>
        <p:spPr>
          <a:xfrm>
            <a:off x="6797220" y="4707620"/>
            <a:ext cx="214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1  muestra</a:t>
            </a:r>
          </a:p>
        </p:txBody>
      </p:sp>
      <p:sp>
        <p:nvSpPr>
          <p:cNvPr id="404" name="TB404">
            <a:extLst>
              <a:ext uri="{FF2B5EF4-FFF2-40B4-BE49-F238E27FC236}">
                <a16:creationId xmlns:a16="http://schemas.microsoft.com/office/drawing/2014/main" id="{22FA4394-E67E-4322-BEFA-9FB1968F5FD3}"/>
              </a:ext>
            </a:extLst>
          </p:cNvPr>
          <p:cNvSpPr>
            <a:spLocks noGrp="1"/>
          </p:cNvSpPr>
          <p:nvPr/>
        </p:nvSpPr>
        <p:spPr>
          <a:xfrm>
            <a:off x="9167220" y="4707620"/>
            <a:ext cx="160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huellas filtradas</a:t>
            </a:r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ED7E8577-AA2F-410D-86FD-051900B63B03}"/>
              </a:ext>
            </a:extLst>
          </p:cNvPr>
          <p:cNvSpPr>
            <a:spLocks noGrp="1"/>
          </p:cNvSpPr>
          <p:nvPr/>
        </p:nvSpPr>
        <p:spPr>
          <a:xfrm>
            <a:off x="6967220" y="4067620"/>
            <a:ext cx="2400000" cy="54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6" name="TB406">
            <a:extLst>
              <a:ext uri="{FF2B5EF4-FFF2-40B4-BE49-F238E27FC236}">
                <a16:creationId xmlns:a16="http://schemas.microsoft.com/office/drawing/2014/main" id="{5CCF5727-704C-4E56-A1C8-F58586ACD2B0}"/>
              </a:ext>
            </a:extLst>
          </p:cNvPr>
          <p:cNvSpPr>
            <a:spLocks noGrp="1"/>
          </p:cNvSpPr>
          <p:nvPr/>
        </p:nvSpPr>
        <p:spPr>
          <a:xfrm>
            <a:off x="7097220" y="4067620"/>
            <a:ext cx="214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2  población</a:t>
            </a:r>
          </a:p>
        </p:txBody>
      </p:sp>
      <p:sp>
        <p:nvSpPr>
          <p:cNvPr id="407" name="TB407">
            <a:extLst>
              <a:ext uri="{FF2B5EF4-FFF2-40B4-BE49-F238E27FC236}">
                <a16:creationId xmlns:a16="http://schemas.microsoft.com/office/drawing/2014/main" id="{16DB923F-54F6-4BF3-80FB-303BE757D352}"/>
              </a:ext>
            </a:extLst>
          </p:cNvPr>
          <p:cNvSpPr>
            <a:spLocks noGrp="1"/>
          </p:cNvSpPr>
          <p:nvPr/>
        </p:nvSpPr>
        <p:spPr>
          <a:xfrm>
            <a:off x="9467220" y="4067620"/>
            <a:ext cx="160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todo el bosque</a:t>
            </a:r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BE1B970B-D704-4D5F-9B0A-092AFF405F99}"/>
              </a:ext>
            </a:extLst>
          </p:cNvPr>
          <p:cNvSpPr>
            <a:spLocks noGrp="1"/>
          </p:cNvSpPr>
          <p:nvPr/>
        </p:nvSpPr>
        <p:spPr>
          <a:xfrm>
            <a:off x="7267220" y="3427620"/>
            <a:ext cx="2400000" cy="54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9" name="TB409">
            <a:extLst>
              <a:ext uri="{FF2B5EF4-FFF2-40B4-BE49-F238E27FC236}">
                <a16:creationId xmlns:a16="http://schemas.microsoft.com/office/drawing/2014/main" id="{3B10C64A-385C-42B6-948C-F9F4C04E8602}"/>
              </a:ext>
            </a:extLst>
          </p:cNvPr>
          <p:cNvSpPr>
            <a:spLocks noGrp="1"/>
          </p:cNvSpPr>
          <p:nvPr/>
        </p:nvSpPr>
        <p:spPr>
          <a:xfrm>
            <a:off x="7397220" y="3427620"/>
            <a:ext cx="214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modelo</a:t>
            </a:r>
          </a:p>
        </p:txBody>
      </p:sp>
      <p:sp>
        <p:nvSpPr>
          <p:cNvPr id="410" name="TB410">
            <a:extLst>
              <a:ext uri="{FF2B5EF4-FFF2-40B4-BE49-F238E27FC236}">
                <a16:creationId xmlns:a16="http://schemas.microsoft.com/office/drawing/2014/main" id="{0E5AAC56-2334-49DC-9506-09B5EE73A745}"/>
              </a:ext>
            </a:extLst>
          </p:cNvPr>
          <p:cNvSpPr>
            <a:spLocks noGrp="1"/>
          </p:cNvSpPr>
          <p:nvPr/>
        </p:nvSpPr>
        <p:spPr>
          <a:xfrm>
            <a:off x="9767220" y="3427620"/>
            <a:ext cx="160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AGBD ~ predictores</a:t>
            </a:r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813FC183-4892-4790-8B96-31EFB64D4E34}"/>
              </a:ext>
            </a:extLst>
          </p:cNvPr>
          <p:cNvSpPr>
            <a:spLocks noGrp="1"/>
          </p:cNvSpPr>
          <p:nvPr/>
        </p:nvSpPr>
        <p:spPr>
          <a:xfrm>
            <a:off x="7567220" y="2787620"/>
            <a:ext cx="2400000" cy="54000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pPr algn="just"/>
            <a:endParaRPr sz="1500"/>
          </a:p>
        </p:txBody>
      </p:sp>
      <p:sp>
        <p:nvSpPr>
          <p:cNvPr id="412" name="TB412">
            <a:extLst>
              <a:ext uri="{FF2B5EF4-FFF2-40B4-BE49-F238E27FC236}">
                <a16:creationId xmlns:a16="http://schemas.microsoft.com/office/drawing/2014/main" id="{AB890DE2-9E5B-442A-8331-5A3A7431E089}"/>
              </a:ext>
            </a:extLst>
          </p:cNvPr>
          <p:cNvSpPr>
            <a:spLocks noGrp="1"/>
          </p:cNvSpPr>
          <p:nvPr/>
        </p:nvSpPr>
        <p:spPr>
          <a:xfrm>
            <a:off x="7697220" y="2787620"/>
            <a:ext cx="214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  estimador</a:t>
            </a:r>
          </a:p>
        </p:txBody>
      </p:sp>
      <p:sp>
        <p:nvSpPr>
          <p:cNvPr id="413" name="TB413">
            <a:extLst>
              <a:ext uri="{FF2B5EF4-FFF2-40B4-BE49-F238E27FC236}">
                <a16:creationId xmlns:a16="http://schemas.microsoft.com/office/drawing/2014/main" id="{03DDFDD8-E1E4-40BA-AD45-4757ADDD2286}"/>
              </a:ext>
            </a:extLst>
          </p:cNvPr>
          <p:cNvSpPr>
            <a:spLocks noGrp="1"/>
          </p:cNvSpPr>
          <p:nvPr/>
        </p:nvSpPr>
        <p:spPr>
          <a:xfrm>
            <a:off x="10067220" y="2787620"/>
            <a:ext cx="160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media, total, SE</a:t>
            </a:r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E71014CF-3FBB-4C64-AB93-089BD9D0B3DD}"/>
              </a:ext>
            </a:extLst>
          </p:cNvPr>
          <p:cNvSpPr>
            <a:spLocks noGrp="1"/>
          </p:cNvSpPr>
          <p:nvPr/>
        </p:nvSpPr>
        <p:spPr>
          <a:xfrm>
            <a:off x="7867220" y="2147620"/>
            <a:ext cx="2400000" cy="540000"/>
          </a:xfrm>
          <a:prstGeom prst="rect">
            <a:avLst/>
          </a:prstGeom>
          <a:solidFill>
            <a:srgbClr val="1B4332"/>
          </a:solidFill>
        </p:spPr>
        <p:txBody>
          <a:bodyPr/>
          <a:lstStyle/>
          <a:p>
            <a:pPr algn="just"/>
            <a:endParaRPr sz="1500"/>
          </a:p>
        </p:txBody>
      </p:sp>
      <p:sp>
        <p:nvSpPr>
          <p:cNvPr id="415" name="TB415">
            <a:extLst>
              <a:ext uri="{FF2B5EF4-FFF2-40B4-BE49-F238E27FC236}">
                <a16:creationId xmlns:a16="http://schemas.microsoft.com/office/drawing/2014/main" id="{875C1D1A-7C28-416B-93C0-7C9328C99C8A}"/>
              </a:ext>
            </a:extLst>
          </p:cNvPr>
          <p:cNvSpPr>
            <a:spLocks noGrp="1"/>
          </p:cNvSpPr>
          <p:nvPr/>
        </p:nvSpPr>
        <p:spPr>
          <a:xfrm>
            <a:off x="7997220" y="2147620"/>
            <a:ext cx="214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 reporte</a:t>
            </a:r>
          </a:p>
        </p:txBody>
      </p:sp>
      <p:sp>
        <p:nvSpPr>
          <p:cNvPr id="416" name="TB416">
            <a:extLst>
              <a:ext uri="{FF2B5EF4-FFF2-40B4-BE49-F238E27FC236}">
                <a16:creationId xmlns:a16="http://schemas.microsoft.com/office/drawing/2014/main" id="{C96D33DC-1268-4EB5-9726-BD1A2FF8FD1A}"/>
              </a:ext>
            </a:extLst>
          </p:cNvPr>
          <p:cNvSpPr>
            <a:spLocks noGrp="1"/>
          </p:cNvSpPr>
          <p:nvPr/>
        </p:nvSpPr>
        <p:spPr>
          <a:xfrm>
            <a:off x="10367220" y="2147620"/>
            <a:ext cx="160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valor + incertidumbre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2AA2980-EF7C-489B-86D0-57FC50608601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D9B93CD-8DCE-4E8B-858B-1EE10D487A9F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17" name="Rectángulo 416">
            <a:extLst>
              <a:ext uri="{FF2B5EF4-FFF2-40B4-BE49-F238E27FC236}">
                <a16:creationId xmlns:a16="http://schemas.microsoft.com/office/drawing/2014/main" id="{5407F4CE-3EA4-499A-8DD7-A04FC925A6B3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40/79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31619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7C04E5-241F-489A-A88A-FA23C59B87D9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Modelo asistido, modelo basado e híbrido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74FABE-15FD-4ACE-B52E-359039A31872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Tres enfoques de modelado y sus supuestos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57EF80-3C5D-480E-B3A9-4AC042BD36CB}"/>
              </a:ext>
            </a:extLst>
          </p:cNvPr>
          <p:cNvSpPr>
            <a:spLocks noGrp="1"/>
          </p:cNvSpPr>
          <p:nvPr/>
        </p:nvSpPr>
        <p:spPr>
          <a:xfrm>
            <a:off x="596900" y="1270000"/>
            <a:ext cx="4838700" cy="44704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Modelo asistido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Parte de una muestra probabilística y usa covariables para ganar precisión.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Modelo basado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inferencia depende del modelo: exige validar supuestos y extrapolación.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Enfoque híbrido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Combina la muestra GEDI, covariables continuas y un estimador explícito.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Por qué importa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Elegir el marco antes de entrenar evita mapas vistosos pero frágiles.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967AAA8-423A-4CAC-8115-7A9F7BF193ED}"/>
              </a:ext>
            </a:extLst>
          </p:cNvPr>
          <p:cNvSpPr>
            <a:spLocks noGrp="1"/>
          </p:cNvSpPr>
          <p:nvPr/>
        </p:nvSpPr>
        <p:spPr>
          <a:xfrm>
            <a:off x="600075" y="5918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Duncanson et al. (2022); Kellner et al. (2023); Duncanson et al. (2019); Subedi y Zurqani (2026). Dubayah et al. (2022b); Patterson et al. (2019).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F4721DE-1A35-4C39-B0C3-BC5B5B1CF869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41/79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9260538-1E56-4600-9115-FE75F6DA2EDD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1617B01-8775-4208-8290-8CCBCC0CE1BE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graphicFrame>
        <p:nvGraphicFramePr>
          <p:cNvPr id="29" name="Tabla 20"/>
          <p:cNvGraphicFramePr/>
          <p:nvPr/>
        </p:nvGraphicFramePr>
        <p:xfrm>
          <a:off x="5892800" y="1366520"/>
          <a:ext cx="5626100" cy="41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5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Enfoque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¿Cuándo conviene?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Asistido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inventario con parcelas probabilísticas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Basado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mapeo detallado con validación fuerte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Híbrido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GEDI + covariables continuas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Operativo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mapa + intervalos + auditoría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Rectángulo 20">
            <a:extLst>
              <a:ext uri="{FF2B5EF4-FFF2-40B4-BE49-F238E27FC236}">
                <a16:creationId xmlns:a16="http://schemas.microsoft.com/office/drawing/2014/main" id="{D6C4FB2C-4D9A-4CA8-BEA8-B874825C268E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41/79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27407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70D5EA1-49CE-4D1A-BFFF-1D9F986840A8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Resolución objetivo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1C23F9-F2E3-4593-A127-74CC7A6EEE0F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Huella, celda o rodal: elegir la escala antes del algoritmo</a:t>
            </a:r>
            <a:endParaRPr sz="2000" b="1" i="1">
              <a:solidFill>
                <a:srgbClr val="374151"/>
              </a:solidFill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939F00-F533-44D3-8315-8157CC4804A5}"/>
              </a:ext>
            </a:extLst>
          </p:cNvPr>
          <p:cNvSpPr>
            <a:spLocks noGrp="1"/>
          </p:cNvSpPr>
          <p:nvPr/>
        </p:nvSpPr>
        <p:spPr>
          <a:xfrm>
            <a:off x="596900" y="1270000"/>
            <a:ext cx="5080000" cy="4445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Soporte mínimo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huella de ~25 m es el soporte real: por debajo no hay información GEDI.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Efecto de agregar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Pasar a celdas mayores reduce ruido, pero pierde detalle de borde.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Escala de los productos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L4A trabaja a escala de huella; L4B resume a 1 km.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Criterio de elección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resolución final debe ser coherente con la validación, el objetivo de manejo y el soporte de los datos.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4C595221-96EF-4E96-8580-9B03B733785E}"/>
              </a:ext>
            </a:extLst>
          </p:cNvPr>
          <p:cNvSpPr>
            <a:spLocks noGrp="1"/>
          </p:cNvSpPr>
          <p:nvPr/>
        </p:nvSpPr>
        <p:spPr>
          <a:xfrm>
            <a:off x="7440339" y="1441616"/>
            <a:ext cx="291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Soporte espacial comparado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1A8AEDEB-2F80-4352-BB67-76C34C8B681A}"/>
              </a:ext>
            </a:extLst>
          </p:cNvPr>
          <p:cNvSpPr>
            <a:spLocks noGrp="1"/>
          </p:cNvSpPr>
          <p:nvPr/>
        </p:nvSpPr>
        <p:spPr>
          <a:xfrm>
            <a:off x="6203820" y="1781616"/>
            <a:ext cx="3528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La escala se elige antes del algoritmo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93E2EF00-DE14-40A9-AF64-CEBB95E95C24}"/>
              </a:ext>
            </a:extLst>
          </p:cNvPr>
          <p:cNvSpPr>
            <a:spLocks noGrp="1"/>
          </p:cNvSpPr>
          <p:nvPr/>
        </p:nvSpPr>
        <p:spPr>
          <a:xfrm>
            <a:off x="6353820" y="2601616"/>
            <a:ext cx="2400000" cy="2400000"/>
          </a:xfrm>
          <a:prstGeom prst="rect">
            <a:avLst/>
          </a:prstGeom>
          <a:noFill/>
          <a:ln w="25400">
            <a:solidFill>
              <a:srgbClr val="95C9AE"/>
            </a:solidFill>
          </a:ln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1864745C-D2E5-477F-A98A-DEF016D8DCC1}"/>
              </a:ext>
            </a:extLst>
          </p:cNvPr>
          <p:cNvSpPr>
            <a:spLocks noGrp="1"/>
          </p:cNvSpPr>
          <p:nvPr/>
        </p:nvSpPr>
        <p:spPr>
          <a:xfrm>
            <a:off x="6353820" y="3501616"/>
            <a:ext cx="1500000" cy="1500000"/>
          </a:xfrm>
          <a:prstGeom prst="rect">
            <a:avLst/>
          </a:prstGeom>
          <a:noFill/>
          <a:ln w="25400">
            <a:solidFill>
              <a:srgbClr val="4F9A74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7EE6BB03-96D4-4D30-8BEF-C7983DB1376F}"/>
              </a:ext>
            </a:extLst>
          </p:cNvPr>
          <p:cNvSpPr>
            <a:spLocks noGrp="1"/>
          </p:cNvSpPr>
          <p:nvPr/>
        </p:nvSpPr>
        <p:spPr>
          <a:xfrm>
            <a:off x="6353820" y="4241616"/>
            <a:ext cx="760000" cy="760000"/>
          </a:xfrm>
          <a:prstGeom prst="rect">
            <a:avLst/>
          </a:prstGeom>
          <a:noFill/>
          <a:ln w="25400">
            <a:solidFill>
              <a:srgbClr val="2D6A4F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2ADC54B5-F045-47B3-B792-318344744B94}"/>
              </a:ext>
            </a:extLst>
          </p:cNvPr>
          <p:cNvSpPr>
            <a:spLocks noGrp="1"/>
          </p:cNvSpPr>
          <p:nvPr/>
        </p:nvSpPr>
        <p:spPr>
          <a:xfrm>
            <a:off x="6353820" y="4681616"/>
            <a:ext cx="320000" cy="320000"/>
          </a:xfrm>
          <a:prstGeom prst="rect">
            <a:avLst/>
          </a:prstGeom>
          <a:noFill/>
          <a:ln w="25400">
            <a:solidFill>
              <a:srgbClr val="1B4332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541D9103-324A-41C8-969F-1FCCB7AD5A36}"/>
              </a:ext>
            </a:extLst>
          </p:cNvPr>
          <p:cNvSpPr>
            <a:spLocks noGrp="1"/>
          </p:cNvSpPr>
          <p:nvPr/>
        </p:nvSpPr>
        <p:spPr>
          <a:xfrm>
            <a:off x="6673820" y="4675266"/>
            <a:ext cx="2400000" cy="127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07" name="TB407">
            <a:extLst>
              <a:ext uri="{FF2B5EF4-FFF2-40B4-BE49-F238E27FC236}">
                <a16:creationId xmlns:a16="http://schemas.microsoft.com/office/drawing/2014/main" id="{C6823C3B-18BB-40D9-ACC4-6B343FD81230}"/>
              </a:ext>
            </a:extLst>
          </p:cNvPr>
          <p:cNvSpPr>
            <a:spLocks noGrp="1"/>
          </p:cNvSpPr>
          <p:nvPr/>
        </p:nvSpPr>
        <p:spPr>
          <a:xfrm>
            <a:off x="9163820" y="4625526"/>
            <a:ext cx="22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Huella · 25 m · soporte mínimo</a:t>
            </a:r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53278AEA-32E2-4D57-9BE6-FA2753A5F281}"/>
              </a:ext>
            </a:extLst>
          </p:cNvPr>
          <p:cNvSpPr>
            <a:spLocks noGrp="1"/>
          </p:cNvSpPr>
          <p:nvPr/>
        </p:nvSpPr>
        <p:spPr>
          <a:xfrm>
            <a:off x="7113820" y="4235266"/>
            <a:ext cx="1960000" cy="127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09" name="TB409">
            <a:extLst>
              <a:ext uri="{FF2B5EF4-FFF2-40B4-BE49-F238E27FC236}">
                <a16:creationId xmlns:a16="http://schemas.microsoft.com/office/drawing/2014/main" id="{19DB3674-B954-45DE-98A9-D93957A39F14}"/>
              </a:ext>
            </a:extLst>
          </p:cNvPr>
          <p:cNvSpPr>
            <a:spLocks noGrp="1"/>
          </p:cNvSpPr>
          <p:nvPr/>
        </p:nvSpPr>
        <p:spPr>
          <a:xfrm>
            <a:off x="9163820" y="4081616"/>
            <a:ext cx="22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Celda · 100 m · agrega y suaviza</a:t>
            </a:r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C6E6DF41-8C09-4C2A-A660-04A498CC609C}"/>
              </a:ext>
            </a:extLst>
          </p:cNvPr>
          <p:cNvSpPr>
            <a:spLocks noGrp="1"/>
          </p:cNvSpPr>
          <p:nvPr/>
        </p:nvSpPr>
        <p:spPr>
          <a:xfrm>
            <a:off x="7853820" y="3495266"/>
            <a:ext cx="1220000" cy="127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11" name="TB411">
            <a:extLst>
              <a:ext uri="{FF2B5EF4-FFF2-40B4-BE49-F238E27FC236}">
                <a16:creationId xmlns:a16="http://schemas.microsoft.com/office/drawing/2014/main" id="{13232220-B7A6-4F8E-AE6A-1C5FFB344377}"/>
              </a:ext>
            </a:extLst>
          </p:cNvPr>
          <p:cNvSpPr>
            <a:spLocks noGrp="1"/>
          </p:cNvSpPr>
          <p:nvPr/>
        </p:nvSpPr>
        <p:spPr>
          <a:xfrm>
            <a:off x="9163820" y="3341616"/>
            <a:ext cx="22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Rodal · 1–10 ha · unidad de manejo</a:t>
            </a:r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D2AE7A6A-76E9-453E-8D16-794D6547FC8F}"/>
              </a:ext>
            </a:extLst>
          </p:cNvPr>
          <p:cNvSpPr>
            <a:spLocks noGrp="1"/>
          </p:cNvSpPr>
          <p:nvPr/>
        </p:nvSpPr>
        <p:spPr>
          <a:xfrm>
            <a:off x="8753820" y="2595266"/>
            <a:ext cx="320000" cy="127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13" name="TB413">
            <a:extLst>
              <a:ext uri="{FF2B5EF4-FFF2-40B4-BE49-F238E27FC236}">
                <a16:creationId xmlns:a16="http://schemas.microsoft.com/office/drawing/2014/main" id="{88F0DC01-67CA-4779-8E65-40B5248FA515}"/>
              </a:ext>
            </a:extLst>
          </p:cNvPr>
          <p:cNvSpPr>
            <a:spLocks noGrp="1"/>
          </p:cNvSpPr>
          <p:nvPr/>
        </p:nvSpPr>
        <p:spPr>
          <a:xfrm>
            <a:off x="9163820" y="2441616"/>
            <a:ext cx="228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L4B · 1 km · resumen regional</a:t>
            </a:r>
          </a:p>
        </p:txBody>
      </p:sp>
      <p:sp>
        <p:nvSpPr>
          <p:cNvPr id="414" name="TB414">
            <a:extLst>
              <a:ext uri="{FF2B5EF4-FFF2-40B4-BE49-F238E27FC236}">
                <a16:creationId xmlns:a16="http://schemas.microsoft.com/office/drawing/2014/main" id="{01613DE5-CF4C-4C2B-8B18-33AC98EBAE1C}"/>
              </a:ext>
            </a:extLst>
          </p:cNvPr>
          <p:cNvSpPr>
            <a:spLocks noGrp="1"/>
          </p:cNvSpPr>
          <p:nvPr/>
        </p:nvSpPr>
        <p:spPr>
          <a:xfrm>
            <a:off x="6203820" y="5321616"/>
            <a:ext cx="428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El soporte define validación y detalle de borde.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01347AD-625E-46C5-A8FE-9A7C5B28357E}"/>
              </a:ext>
            </a:extLst>
          </p:cNvPr>
          <p:cNvSpPr>
            <a:spLocks noGrp="1"/>
          </p:cNvSpPr>
          <p:nvPr/>
        </p:nvSpPr>
        <p:spPr>
          <a:xfrm>
            <a:off x="596900" y="5946496"/>
            <a:ext cx="109220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n-U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GEDI/UMD Products; LP DAAC GEDI02 User Guides; ORNL DAAC L4A/L4B.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BF87817-8502-429E-8A7C-DA85CF0DA8B9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42/79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D853419-EA02-42F8-8192-1CF6B93C336E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EA29803-E979-40A4-85AE-1D52675ECE2E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15" name="Rectángulo 414">
            <a:extLst>
              <a:ext uri="{FF2B5EF4-FFF2-40B4-BE49-F238E27FC236}">
                <a16:creationId xmlns:a16="http://schemas.microsoft.com/office/drawing/2014/main" id="{D4BE5974-9FB2-4FFB-A6A0-FE5A986E3D51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42/79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42124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4A2385-5D6E-4FCC-B261-4A4AEFD2A7F3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Ecotonos y límites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FF4960-3E5A-4D8C-89D9-EBAED3A6768B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Efecto de borde: baja superficie relativa y alta contribución al error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95D03CA-8DB5-441A-9F62-63CB5E0BBCF7}"/>
              </a:ext>
            </a:extLst>
          </p:cNvPr>
          <p:cNvSpPr>
            <a:spLocks noGrp="1"/>
          </p:cNvSpPr>
          <p:nvPr/>
        </p:nvSpPr>
        <p:spPr>
          <a:xfrm>
            <a:off x="596900" y="5842000"/>
            <a:ext cx="10922000" cy="47494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CIEFAP/SNMBN Bosque Andino Patagónico; Chubut OTBN; GEDI/UMD Products.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125DC5E-F2B8-4E6E-A2F6-0C1F04B73B7D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43/79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C8F39F-CD79-45FD-899E-238593B04A6E}"/>
              </a:ext>
            </a:extLst>
          </p:cNvPr>
          <p:cNvSpPr>
            <a:spLocks noGrp="1"/>
          </p:cNvSpPr>
          <p:nvPr/>
        </p:nvSpPr>
        <p:spPr>
          <a:xfrm>
            <a:off x="596900" y="1168400"/>
            <a:ext cx="5080000" cy="45212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Huellas mixtas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Las que cruzan bosque, matorral y mallín deben identificarse.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Bordes contaminados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Lagos, caminos y áreas quemadas producen covariables mezcladas.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Buffer interno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Una máscara retraída genera un conjunto de entrenamiento más limpio.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Predicción y evaluación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 predice sobre todo el paisaje, pero la incertidumbre se informa en el borde.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4865B2BE-AB30-45A0-92AB-8283F505DD24}"/>
              </a:ext>
            </a:extLst>
          </p:cNvPr>
          <p:cNvSpPr>
            <a:spLocks noGrp="1"/>
          </p:cNvSpPr>
          <p:nvPr/>
        </p:nvSpPr>
        <p:spPr>
          <a:xfrm>
            <a:off x="6123820" y="14932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Máscara con buffer interno</a:t>
            </a:r>
          </a:p>
        </p:txBody>
      </p:sp>
      <p:sp>
        <p:nvSpPr>
          <p:cNvPr id="401" name="SH401">
            <a:extLst>
              <a:ext uri="{FF2B5EF4-FFF2-40B4-BE49-F238E27FC236}">
                <a16:creationId xmlns:a16="http://schemas.microsoft.com/office/drawing/2014/main" id="{A2178197-7587-4F5B-BBD6-D51DA7A81308}"/>
              </a:ext>
            </a:extLst>
          </p:cNvPr>
          <p:cNvSpPr>
            <a:spLocks noGrp="1"/>
          </p:cNvSpPr>
          <p:nvPr/>
        </p:nvSpPr>
        <p:spPr>
          <a:xfrm>
            <a:off x="6183820" y="1933200"/>
            <a:ext cx="3350000" cy="27000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25400">
            <a:solidFill>
              <a:srgbClr val="4F9A74"/>
            </a:solidFill>
          </a:ln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F3F50AD1-94D7-4F8F-B89D-9408F2D909DA}"/>
              </a:ext>
            </a:extLst>
          </p:cNvPr>
          <p:cNvSpPr>
            <a:spLocks noGrp="1"/>
          </p:cNvSpPr>
          <p:nvPr/>
        </p:nvSpPr>
        <p:spPr>
          <a:xfrm>
            <a:off x="6603820" y="2353200"/>
            <a:ext cx="2510000" cy="18600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2D6A4F"/>
            </a:solidFill>
            <a:prstDash val="dash"/>
          </a:ln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CBE8292D-6C74-4D9B-A0AB-83F51276BC8C}"/>
              </a:ext>
            </a:extLst>
          </p:cNvPr>
          <p:cNvSpPr>
            <a:spLocks noGrp="1"/>
          </p:cNvSpPr>
          <p:nvPr/>
        </p:nvSpPr>
        <p:spPr>
          <a:xfrm>
            <a:off x="6438820" y="2177200"/>
            <a:ext cx="160000" cy="16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374F7B22-FE2B-49AB-9CFD-8B16E8E26EF9}"/>
              </a:ext>
            </a:extLst>
          </p:cNvPr>
          <p:cNvSpPr>
            <a:spLocks noGrp="1"/>
          </p:cNvSpPr>
          <p:nvPr/>
        </p:nvSpPr>
        <p:spPr>
          <a:xfrm>
            <a:off x="7510820" y="2015200"/>
            <a:ext cx="160000" cy="16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C3D0F813-C45B-4449-B820-B8FDFB72E830}"/>
              </a:ext>
            </a:extLst>
          </p:cNvPr>
          <p:cNvSpPr>
            <a:spLocks noGrp="1"/>
          </p:cNvSpPr>
          <p:nvPr/>
        </p:nvSpPr>
        <p:spPr>
          <a:xfrm>
            <a:off x="8716820" y="2123200"/>
            <a:ext cx="160000" cy="16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54DBB652-F10F-4B76-99AB-5BE61A2BB40E}"/>
              </a:ext>
            </a:extLst>
          </p:cNvPr>
          <p:cNvSpPr>
            <a:spLocks noGrp="1"/>
          </p:cNvSpPr>
          <p:nvPr/>
        </p:nvSpPr>
        <p:spPr>
          <a:xfrm>
            <a:off x="9219320" y="2987200"/>
            <a:ext cx="160000" cy="16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F534F785-14C6-4A26-B6E4-9E5188C2DF53}"/>
              </a:ext>
            </a:extLst>
          </p:cNvPr>
          <p:cNvSpPr>
            <a:spLocks noGrp="1"/>
          </p:cNvSpPr>
          <p:nvPr/>
        </p:nvSpPr>
        <p:spPr>
          <a:xfrm>
            <a:off x="8984820" y="4175200"/>
            <a:ext cx="160000" cy="16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F5B56D13-99EC-41E8-BEA1-F0B69FE234DE}"/>
              </a:ext>
            </a:extLst>
          </p:cNvPr>
          <p:cNvSpPr>
            <a:spLocks noGrp="1"/>
          </p:cNvSpPr>
          <p:nvPr/>
        </p:nvSpPr>
        <p:spPr>
          <a:xfrm>
            <a:off x="7778820" y="4364200"/>
            <a:ext cx="160000" cy="16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A241A1A4-0174-4902-BCE7-57F16C3DB8B6}"/>
              </a:ext>
            </a:extLst>
          </p:cNvPr>
          <p:cNvSpPr>
            <a:spLocks noGrp="1"/>
          </p:cNvSpPr>
          <p:nvPr/>
        </p:nvSpPr>
        <p:spPr>
          <a:xfrm>
            <a:off x="6572820" y="4121200"/>
            <a:ext cx="160000" cy="16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67FFBB77-1B13-43ED-AB66-2E3B049A4611}"/>
              </a:ext>
            </a:extLst>
          </p:cNvPr>
          <p:cNvSpPr>
            <a:spLocks noGrp="1"/>
          </p:cNvSpPr>
          <p:nvPr/>
        </p:nvSpPr>
        <p:spPr>
          <a:xfrm>
            <a:off x="6304820" y="3203200"/>
            <a:ext cx="160000" cy="16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434455D2-8310-4E11-877F-6B9780910651}"/>
              </a:ext>
            </a:extLst>
          </p:cNvPr>
          <p:cNvSpPr>
            <a:spLocks noGrp="1"/>
          </p:cNvSpPr>
          <p:nvPr/>
        </p:nvSpPr>
        <p:spPr>
          <a:xfrm>
            <a:off x="7041820" y="1988200"/>
            <a:ext cx="160000" cy="16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C45CA9EF-D93C-4D63-8A4A-643A1443F92D}"/>
              </a:ext>
            </a:extLst>
          </p:cNvPr>
          <p:cNvSpPr>
            <a:spLocks noGrp="1"/>
          </p:cNvSpPr>
          <p:nvPr/>
        </p:nvSpPr>
        <p:spPr>
          <a:xfrm>
            <a:off x="8314820" y="4418200"/>
            <a:ext cx="160000" cy="16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70F0DC55-2420-4EA5-A84F-79F49BE3E09C}"/>
              </a:ext>
            </a:extLst>
          </p:cNvPr>
          <p:cNvSpPr>
            <a:spLocks noGrp="1"/>
          </p:cNvSpPr>
          <p:nvPr/>
        </p:nvSpPr>
        <p:spPr>
          <a:xfrm>
            <a:off x="7108820" y="2771200"/>
            <a:ext cx="160000" cy="16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FFD6EBC4-9363-4C27-BF95-79E96F4626F8}"/>
              </a:ext>
            </a:extLst>
          </p:cNvPr>
          <p:cNvSpPr>
            <a:spLocks noGrp="1"/>
          </p:cNvSpPr>
          <p:nvPr/>
        </p:nvSpPr>
        <p:spPr>
          <a:xfrm>
            <a:off x="7711820" y="2609200"/>
            <a:ext cx="160000" cy="16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1C698C9C-88B1-469C-A74D-D9F11B3145CF}"/>
              </a:ext>
            </a:extLst>
          </p:cNvPr>
          <p:cNvSpPr>
            <a:spLocks noGrp="1"/>
          </p:cNvSpPr>
          <p:nvPr/>
        </p:nvSpPr>
        <p:spPr>
          <a:xfrm>
            <a:off x="8314820" y="2879200"/>
            <a:ext cx="160000" cy="16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46FE63D0-821A-4FB4-AECA-E5E6D47CDBC9}"/>
              </a:ext>
            </a:extLst>
          </p:cNvPr>
          <p:cNvSpPr>
            <a:spLocks noGrp="1"/>
          </p:cNvSpPr>
          <p:nvPr/>
        </p:nvSpPr>
        <p:spPr>
          <a:xfrm>
            <a:off x="7309820" y="3338200"/>
            <a:ext cx="160000" cy="16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7" name="SH417">
            <a:extLst>
              <a:ext uri="{FF2B5EF4-FFF2-40B4-BE49-F238E27FC236}">
                <a16:creationId xmlns:a16="http://schemas.microsoft.com/office/drawing/2014/main" id="{41B9ED4A-D914-4767-AC2B-2DE9AC3EC964}"/>
              </a:ext>
            </a:extLst>
          </p:cNvPr>
          <p:cNvSpPr>
            <a:spLocks noGrp="1"/>
          </p:cNvSpPr>
          <p:nvPr/>
        </p:nvSpPr>
        <p:spPr>
          <a:xfrm>
            <a:off x="7946320" y="3257200"/>
            <a:ext cx="160000" cy="16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5F2B48BA-BB12-4E81-922B-5087681481D9}"/>
              </a:ext>
            </a:extLst>
          </p:cNvPr>
          <p:cNvSpPr>
            <a:spLocks noGrp="1"/>
          </p:cNvSpPr>
          <p:nvPr/>
        </p:nvSpPr>
        <p:spPr>
          <a:xfrm>
            <a:off x="8515820" y="3527200"/>
            <a:ext cx="160000" cy="16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140148B7-A819-4A3F-9B17-15F7C3A470B9}"/>
              </a:ext>
            </a:extLst>
          </p:cNvPr>
          <p:cNvSpPr>
            <a:spLocks noGrp="1"/>
          </p:cNvSpPr>
          <p:nvPr/>
        </p:nvSpPr>
        <p:spPr>
          <a:xfrm>
            <a:off x="7510820" y="3797200"/>
            <a:ext cx="160000" cy="16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0" name="SH420">
            <a:extLst>
              <a:ext uri="{FF2B5EF4-FFF2-40B4-BE49-F238E27FC236}">
                <a16:creationId xmlns:a16="http://schemas.microsoft.com/office/drawing/2014/main" id="{20E95094-3161-4BA3-A8BD-ED586EA9CD0D}"/>
              </a:ext>
            </a:extLst>
          </p:cNvPr>
          <p:cNvSpPr>
            <a:spLocks noGrp="1"/>
          </p:cNvSpPr>
          <p:nvPr/>
        </p:nvSpPr>
        <p:spPr>
          <a:xfrm>
            <a:off x="8180820" y="3959200"/>
            <a:ext cx="160000" cy="16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1" name="SH421">
            <a:extLst>
              <a:ext uri="{FF2B5EF4-FFF2-40B4-BE49-F238E27FC236}">
                <a16:creationId xmlns:a16="http://schemas.microsoft.com/office/drawing/2014/main" id="{669AEE79-725B-431B-9036-5F5BA6DC3BFF}"/>
              </a:ext>
            </a:extLst>
          </p:cNvPr>
          <p:cNvSpPr>
            <a:spLocks noGrp="1"/>
          </p:cNvSpPr>
          <p:nvPr/>
        </p:nvSpPr>
        <p:spPr>
          <a:xfrm>
            <a:off x="7041820" y="3095200"/>
            <a:ext cx="160000" cy="16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2" name="SH422">
            <a:extLst>
              <a:ext uri="{FF2B5EF4-FFF2-40B4-BE49-F238E27FC236}">
                <a16:creationId xmlns:a16="http://schemas.microsoft.com/office/drawing/2014/main" id="{89C11E26-65A5-487B-A85C-2992EE28EB3B}"/>
              </a:ext>
            </a:extLst>
          </p:cNvPr>
          <p:cNvSpPr>
            <a:spLocks noGrp="1"/>
          </p:cNvSpPr>
          <p:nvPr/>
        </p:nvSpPr>
        <p:spPr>
          <a:xfrm>
            <a:off x="8716820" y="3149200"/>
            <a:ext cx="160000" cy="16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3" name="SH423">
            <a:extLst>
              <a:ext uri="{FF2B5EF4-FFF2-40B4-BE49-F238E27FC236}">
                <a16:creationId xmlns:a16="http://schemas.microsoft.com/office/drawing/2014/main" id="{99F073AF-34EE-44BA-86CF-6DD2EA42B1A3}"/>
              </a:ext>
            </a:extLst>
          </p:cNvPr>
          <p:cNvSpPr>
            <a:spLocks noGrp="1"/>
          </p:cNvSpPr>
          <p:nvPr/>
        </p:nvSpPr>
        <p:spPr>
          <a:xfrm>
            <a:off x="9783820" y="2113200"/>
            <a:ext cx="160000" cy="16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24" name="TB424">
            <a:extLst>
              <a:ext uri="{FF2B5EF4-FFF2-40B4-BE49-F238E27FC236}">
                <a16:creationId xmlns:a16="http://schemas.microsoft.com/office/drawing/2014/main" id="{074A65AF-787D-4307-A14A-DE3F2650E290}"/>
              </a:ext>
            </a:extLst>
          </p:cNvPr>
          <p:cNvSpPr>
            <a:spLocks noGrp="1"/>
          </p:cNvSpPr>
          <p:nvPr/>
        </p:nvSpPr>
        <p:spPr>
          <a:xfrm>
            <a:off x="10023820" y="2053200"/>
            <a:ext cx="144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huellas mixtas de borde</a:t>
            </a:r>
          </a:p>
        </p:txBody>
      </p:sp>
      <p:sp>
        <p:nvSpPr>
          <p:cNvPr id="425" name="TB425">
            <a:extLst>
              <a:ext uri="{FF2B5EF4-FFF2-40B4-BE49-F238E27FC236}">
                <a16:creationId xmlns:a16="http://schemas.microsoft.com/office/drawing/2014/main" id="{FFB04823-3455-4863-9724-DD48993B2EAA}"/>
              </a:ext>
            </a:extLst>
          </p:cNvPr>
          <p:cNvSpPr>
            <a:spLocks noGrp="1"/>
          </p:cNvSpPr>
          <p:nvPr/>
        </p:nvSpPr>
        <p:spPr>
          <a:xfrm>
            <a:off x="10023820" y="2457892"/>
            <a:ext cx="144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covariables contaminadas</a:t>
            </a:r>
          </a:p>
        </p:txBody>
      </p:sp>
      <p:sp>
        <p:nvSpPr>
          <p:cNvPr id="426" name="SH426">
            <a:extLst>
              <a:ext uri="{FF2B5EF4-FFF2-40B4-BE49-F238E27FC236}">
                <a16:creationId xmlns:a16="http://schemas.microsoft.com/office/drawing/2014/main" id="{77A9ACB5-A9DC-4AD7-8EAB-384D2DF2C4C7}"/>
              </a:ext>
            </a:extLst>
          </p:cNvPr>
          <p:cNvSpPr>
            <a:spLocks noGrp="1"/>
          </p:cNvSpPr>
          <p:nvPr/>
        </p:nvSpPr>
        <p:spPr>
          <a:xfrm>
            <a:off x="9783820" y="3013200"/>
            <a:ext cx="160000" cy="16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7" name="TB427">
            <a:extLst>
              <a:ext uri="{FF2B5EF4-FFF2-40B4-BE49-F238E27FC236}">
                <a16:creationId xmlns:a16="http://schemas.microsoft.com/office/drawing/2014/main" id="{F4F59E50-7077-42D3-A72F-52D15F64C4D5}"/>
              </a:ext>
            </a:extLst>
          </p:cNvPr>
          <p:cNvSpPr>
            <a:spLocks noGrp="1"/>
          </p:cNvSpPr>
          <p:nvPr/>
        </p:nvSpPr>
        <p:spPr>
          <a:xfrm>
            <a:off x="10023820" y="2953200"/>
            <a:ext cx="144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huellas limpias</a:t>
            </a:r>
          </a:p>
        </p:txBody>
      </p:sp>
      <p:sp>
        <p:nvSpPr>
          <p:cNvPr id="428" name="TB428">
            <a:extLst>
              <a:ext uri="{FF2B5EF4-FFF2-40B4-BE49-F238E27FC236}">
                <a16:creationId xmlns:a16="http://schemas.microsoft.com/office/drawing/2014/main" id="{4B770BBC-8F07-436F-9740-4F01927133EF}"/>
              </a:ext>
            </a:extLst>
          </p:cNvPr>
          <p:cNvSpPr>
            <a:spLocks noGrp="1"/>
          </p:cNvSpPr>
          <p:nvPr/>
        </p:nvSpPr>
        <p:spPr>
          <a:xfrm>
            <a:off x="10023820" y="3233200"/>
            <a:ext cx="144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usadas para entrenar</a:t>
            </a:r>
          </a:p>
        </p:txBody>
      </p:sp>
      <p:sp>
        <p:nvSpPr>
          <p:cNvPr id="429" name="TB429">
            <a:extLst>
              <a:ext uri="{FF2B5EF4-FFF2-40B4-BE49-F238E27FC236}">
                <a16:creationId xmlns:a16="http://schemas.microsoft.com/office/drawing/2014/main" id="{3B2D2EFD-A71E-4141-B80B-D2B4AB24141B}"/>
              </a:ext>
            </a:extLst>
          </p:cNvPr>
          <p:cNvSpPr>
            <a:spLocks noGrp="1"/>
          </p:cNvSpPr>
          <p:nvPr/>
        </p:nvSpPr>
        <p:spPr>
          <a:xfrm>
            <a:off x="9773820" y="3983200"/>
            <a:ext cx="1690000" cy="6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1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El modelo se aplica a todo el paisaje; el error se informa en el borde.</a:t>
            </a:r>
          </a:p>
        </p:txBody>
      </p:sp>
      <p:sp>
        <p:nvSpPr>
          <p:cNvPr id="430" name="TB430">
            <a:extLst>
              <a:ext uri="{FF2B5EF4-FFF2-40B4-BE49-F238E27FC236}">
                <a16:creationId xmlns:a16="http://schemas.microsoft.com/office/drawing/2014/main" id="{59EEC648-74AF-447E-A760-6225AD000043}"/>
              </a:ext>
            </a:extLst>
          </p:cNvPr>
          <p:cNvSpPr>
            <a:spLocks noGrp="1"/>
          </p:cNvSpPr>
          <p:nvPr/>
        </p:nvSpPr>
        <p:spPr>
          <a:xfrm>
            <a:off x="6123820" y="48732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1" i="1">
                <a:latin typeface="Arial"/>
                <a:ea typeface="Arial"/>
                <a:cs typeface="Arial"/>
              </a:rPr>
              <a:t>Los bordes son poca superficie y mucho error: hay que aislarlos.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E336051-5A50-44A0-9CFB-C799A718ACFB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2D6A4B2-F3CE-40C0-BC71-6F42964E1713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31" name="Rectángulo 430">
            <a:extLst>
              <a:ext uri="{FF2B5EF4-FFF2-40B4-BE49-F238E27FC236}">
                <a16:creationId xmlns:a16="http://schemas.microsoft.com/office/drawing/2014/main" id="{D85F53E6-698F-4CBE-B794-6FD4DF4A940B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43/79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4528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E570FE-93AA-47C9-8D0A-AB3A586A68D8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Valor operativo para Chubut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9ACBAE-7DC0-4D6E-B3B6-9B2561AC9B5F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Aplicación como herramienta de priorización territorial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897A08-270B-4CB6-BA50-B3801826F5FC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5232400" cy="4419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Inventario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Apoyar el inventario de bosque nativo con estratificación espacial.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Carbono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Identificar rodales con alto stock y áreas de recuperación post-incendio.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Campañas de campo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Dirigir el muestreo hacia zonas de alta incertidumbre y tipos submuestreados.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Comparación temporal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Contrastar distribuciones por período: GEDI no revisita sistemáticamente la misma huella.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C8C45209-D384-4C7F-BEC2-ABE1240A09D0}"/>
              </a:ext>
            </a:extLst>
          </p:cNvPr>
          <p:cNvSpPr>
            <a:spLocks noGrp="1"/>
          </p:cNvSpPr>
          <p:nvPr/>
        </p:nvSpPr>
        <p:spPr>
          <a:xfrm>
            <a:off x="7245690" y="1300000"/>
            <a:ext cx="313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Cuatro usos concretos en Chubut</a:t>
            </a:r>
            <a:endParaRPr sz="1500">
              <a:latin typeface="Arial"/>
              <a:cs typeface="Arial"/>
            </a:endParaRPr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091ED701-EE9B-4B34-96BB-DCD57B7E3A52}"/>
              </a:ext>
            </a:extLst>
          </p:cNvPr>
          <p:cNvSpPr>
            <a:spLocks noGrp="1"/>
          </p:cNvSpPr>
          <p:nvPr/>
        </p:nvSpPr>
        <p:spPr>
          <a:xfrm>
            <a:off x="8092692" y="2890000"/>
            <a:ext cx="1520000" cy="1520000"/>
          </a:xfrm>
          <a:prstGeom prst="ellipse">
            <a:avLst/>
          </a:prstGeom>
          <a:solidFill>
            <a:srgbClr val="1B4332"/>
          </a:solidFill>
          <a:ln w="19050">
            <a:solidFill>
              <a:srgbClr val="1B4332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4" name="TB404">
            <a:extLst>
              <a:ext uri="{FF2B5EF4-FFF2-40B4-BE49-F238E27FC236}">
                <a16:creationId xmlns:a16="http://schemas.microsoft.com/office/drawing/2014/main" id="{D3209916-73EE-424A-83EA-5853EFDB8A2F}"/>
              </a:ext>
            </a:extLst>
          </p:cNvPr>
          <p:cNvSpPr>
            <a:spLocks noGrp="1"/>
          </p:cNvSpPr>
          <p:nvPr/>
        </p:nvSpPr>
        <p:spPr>
          <a:xfrm>
            <a:off x="8152692" y="3480000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GEDI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5" name="TB405">
            <a:extLst>
              <a:ext uri="{FF2B5EF4-FFF2-40B4-BE49-F238E27FC236}">
                <a16:creationId xmlns:a16="http://schemas.microsoft.com/office/drawing/2014/main" id="{F5D73F3A-1F62-4470-BF2E-559AF9262DDD}"/>
              </a:ext>
            </a:extLst>
          </p:cNvPr>
          <p:cNvSpPr>
            <a:spLocks noGrp="1"/>
          </p:cNvSpPr>
          <p:nvPr/>
        </p:nvSpPr>
        <p:spPr>
          <a:xfrm>
            <a:off x="8152692" y="3811173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multisensor</a:t>
            </a:r>
            <a:endParaRPr sz="12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58C23614-03D7-4352-8BB2-62E87C57BA72}"/>
              </a:ext>
            </a:extLst>
          </p:cNvPr>
          <p:cNvSpPr>
            <a:spLocks noGrp="1"/>
          </p:cNvSpPr>
          <p:nvPr/>
        </p:nvSpPr>
        <p:spPr>
          <a:xfrm>
            <a:off x="6282692" y="1800000"/>
            <a:ext cx="1240000" cy="1240000"/>
          </a:xfrm>
          <a:prstGeom prst="ellipse">
            <a:avLst/>
          </a:prstGeom>
          <a:solidFill>
            <a:srgbClr val="F4F7F5"/>
          </a:solidFill>
          <a:ln w="19050">
            <a:solidFill>
              <a:srgbClr val="4F9A74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7" name="TB407">
            <a:extLst>
              <a:ext uri="{FF2B5EF4-FFF2-40B4-BE49-F238E27FC236}">
                <a16:creationId xmlns:a16="http://schemas.microsoft.com/office/drawing/2014/main" id="{075B138B-7A76-45EE-9F91-F16EB273FC65}"/>
              </a:ext>
            </a:extLst>
          </p:cNvPr>
          <p:cNvSpPr>
            <a:spLocks noGrp="1"/>
          </p:cNvSpPr>
          <p:nvPr/>
        </p:nvSpPr>
        <p:spPr>
          <a:xfrm>
            <a:off x="6302692" y="2230000"/>
            <a:ext cx="1200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Inventario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8" name="TB408">
            <a:extLst>
              <a:ext uri="{FF2B5EF4-FFF2-40B4-BE49-F238E27FC236}">
                <a16:creationId xmlns:a16="http://schemas.microsoft.com/office/drawing/2014/main" id="{8459ED54-47F2-4B0F-BA55-AF9732800ADE}"/>
              </a:ext>
            </a:extLst>
          </p:cNvPr>
          <p:cNvSpPr>
            <a:spLocks noGrp="1"/>
          </p:cNvSpPr>
          <p:nvPr/>
        </p:nvSpPr>
        <p:spPr>
          <a:xfrm>
            <a:off x="6302692" y="2510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estratificar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6960EE27-9FDD-4D35-B9A6-2C1068053733}"/>
              </a:ext>
            </a:extLst>
          </p:cNvPr>
          <p:cNvSpPr>
            <a:spLocks noGrp="1"/>
          </p:cNvSpPr>
          <p:nvPr/>
        </p:nvSpPr>
        <p:spPr>
          <a:xfrm>
            <a:off x="10182692" y="1800000"/>
            <a:ext cx="1240000" cy="1240000"/>
          </a:xfrm>
          <a:prstGeom prst="ellipse">
            <a:avLst/>
          </a:prstGeom>
          <a:solidFill>
            <a:srgbClr val="F4F7F5"/>
          </a:solidFill>
          <a:ln w="19050">
            <a:solidFill>
              <a:srgbClr val="4F9A74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0" name="TB410">
            <a:extLst>
              <a:ext uri="{FF2B5EF4-FFF2-40B4-BE49-F238E27FC236}">
                <a16:creationId xmlns:a16="http://schemas.microsoft.com/office/drawing/2014/main" id="{6BF275F9-B661-4ABC-8DDC-290879929B5D}"/>
              </a:ext>
            </a:extLst>
          </p:cNvPr>
          <p:cNvSpPr>
            <a:spLocks noGrp="1"/>
          </p:cNvSpPr>
          <p:nvPr/>
        </p:nvSpPr>
        <p:spPr>
          <a:xfrm>
            <a:off x="10202692" y="2230000"/>
            <a:ext cx="1200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Carbono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1" name="TB411">
            <a:extLst>
              <a:ext uri="{FF2B5EF4-FFF2-40B4-BE49-F238E27FC236}">
                <a16:creationId xmlns:a16="http://schemas.microsoft.com/office/drawing/2014/main" id="{B796E09B-2CA6-475B-8946-E26A5CFF694F}"/>
              </a:ext>
            </a:extLst>
          </p:cNvPr>
          <p:cNvSpPr>
            <a:spLocks noGrp="1"/>
          </p:cNvSpPr>
          <p:nvPr/>
        </p:nvSpPr>
        <p:spPr>
          <a:xfrm>
            <a:off x="10202692" y="2510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stock y mapa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13DA11F3-E173-48D0-B6FC-ACEFC0E86F98}"/>
              </a:ext>
            </a:extLst>
          </p:cNvPr>
          <p:cNvSpPr>
            <a:spLocks noGrp="1"/>
          </p:cNvSpPr>
          <p:nvPr/>
        </p:nvSpPr>
        <p:spPr>
          <a:xfrm>
            <a:off x="6282692" y="4260000"/>
            <a:ext cx="1240000" cy="1240000"/>
          </a:xfrm>
          <a:prstGeom prst="ellipse">
            <a:avLst/>
          </a:prstGeom>
          <a:solidFill>
            <a:srgbClr val="F4F7F5"/>
          </a:solidFill>
          <a:ln w="19050">
            <a:solidFill>
              <a:srgbClr val="4F9A74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3" name="TB413">
            <a:extLst>
              <a:ext uri="{FF2B5EF4-FFF2-40B4-BE49-F238E27FC236}">
                <a16:creationId xmlns:a16="http://schemas.microsoft.com/office/drawing/2014/main" id="{AFA8814D-8BA2-4334-B714-4184A8DD02F0}"/>
              </a:ext>
            </a:extLst>
          </p:cNvPr>
          <p:cNvSpPr>
            <a:spLocks noGrp="1"/>
          </p:cNvSpPr>
          <p:nvPr/>
        </p:nvSpPr>
        <p:spPr>
          <a:xfrm>
            <a:off x="6302692" y="4690000"/>
            <a:ext cx="1200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Fuego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4" name="TB414">
            <a:extLst>
              <a:ext uri="{FF2B5EF4-FFF2-40B4-BE49-F238E27FC236}">
                <a16:creationId xmlns:a16="http://schemas.microsoft.com/office/drawing/2014/main" id="{BA42B7CE-2010-4B26-949A-7400C763E533}"/>
              </a:ext>
            </a:extLst>
          </p:cNvPr>
          <p:cNvSpPr>
            <a:spLocks noGrp="1"/>
          </p:cNvSpPr>
          <p:nvPr/>
        </p:nvSpPr>
        <p:spPr>
          <a:xfrm>
            <a:off x="6302692" y="4970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severidad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E1A24FB5-B834-4D04-9F5B-556140C10DBC}"/>
              </a:ext>
            </a:extLst>
          </p:cNvPr>
          <p:cNvSpPr>
            <a:spLocks noGrp="1"/>
          </p:cNvSpPr>
          <p:nvPr/>
        </p:nvSpPr>
        <p:spPr>
          <a:xfrm>
            <a:off x="10182692" y="4260000"/>
            <a:ext cx="1240000" cy="1240000"/>
          </a:xfrm>
          <a:prstGeom prst="ellipse">
            <a:avLst/>
          </a:prstGeom>
          <a:solidFill>
            <a:srgbClr val="F4F7F5"/>
          </a:solidFill>
          <a:ln w="19050">
            <a:solidFill>
              <a:srgbClr val="4F9A74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6" name="TB416">
            <a:extLst>
              <a:ext uri="{FF2B5EF4-FFF2-40B4-BE49-F238E27FC236}">
                <a16:creationId xmlns:a16="http://schemas.microsoft.com/office/drawing/2014/main" id="{2CE4B770-DD35-4DC1-A3A2-70602125A996}"/>
              </a:ext>
            </a:extLst>
          </p:cNvPr>
          <p:cNvSpPr>
            <a:spLocks noGrp="1"/>
          </p:cNvSpPr>
          <p:nvPr/>
        </p:nvSpPr>
        <p:spPr>
          <a:xfrm>
            <a:off x="10202692" y="4690000"/>
            <a:ext cx="1200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Manejo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23BB0054-A483-4142-A718-E132AB328D48}"/>
              </a:ext>
            </a:extLst>
          </p:cNvPr>
          <p:cNvSpPr>
            <a:spLocks noGrp="1"/>
          </p:cNvSpPr>
          <p:nvPr/>
        </p:nvSpPr>
        <p:spPr>
          <a:xfrm>
            <a:off x="10202692" y="4970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prioridades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3093038-8A75-429F-8835-48B94268EA9B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CIEFAP/SNMBN Bosque Andino Patagónico; Argentina Ambiente Mapas de Bosque Nativo; Chubut OTBN. Duncanson et al. (2022); Kellner et al. (2023); Duncanson et al. (2019); Subedi y Zurqani (2026).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76444B6-9EBB-4598-A207-3E1987E351ED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44/79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9A2B6A6-0BAA-4B30-92F6-57F2A137B203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EE625F9-7A05-43A4-A33D-EB156D182E80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pic>
        <p:nvPicPr>
          <p:cNvPr id="446" name="Graphic 4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3700" y="1866900"/>
            <a:ext cx="330200" cy="330200"/>
          </a:xfrm>
          <a:prstGeom prst="rect">
            <a:avLst/>
          </a:prstGeom>
        </p:spPr>
      </p:pic>
      <p:pic>
        <p:nvPicPr>
          <p:cNvPr id="447" name="Graphic 4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42600" y="1866900"/>
            <a:ext cx="330200" cy="330200"/>
          </a:xfrm>
          <a:prstGeom prst="rect">
            <a:avLst/>
          </a:prstGeom>
        </p:spPr>
      </p:pic>
      <p:pic>
        <p:nvPicPr>
          <p:cNvPr id="448" name="Graphic 4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3700" y="4318000"/>
            <a:ext cx="330200" cy="330200"/>
          </a:xfrm>
          <a:prstGeom prst="rect">
            <a:avLst/>
          </a:prstGeom>
        </p:spPr>
      </p:pic>
      <p:pic>
        <p:nvPicPr>
          <p:cNvPr id="449" name="Graphic 4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42600" y="4318000"/>
            <a:ext cx="330200" cy="330200"/>
          </a:xfrm>
          <a:prstGeom prst="rect">
            <a:avLst/>
          </a:prstGeom>
        </p:spPr>
      </p:pic>
      <p:sp>
        <p:nvSpPr>
          <p:cNvPr id="422" name="Rectángulo 421">
            <a:extLst>
              <a:ext uri="{FF2B5EF4-FFF2-40B4-BE49-F238E27FC236}">
                <a16:creationId xmlns:a16="http://schemas.microsoft.com/office/drawing/2014/main" id="{302FFC79-FA6B-42E5-A3C2-31BB99ADDCA8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44/79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8505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D94042-4EF3-43EF-9858-AAC9F8D7CFA6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Ética y transparencia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7128FD-E144-40B8-BD84-A55A3161477C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Requisitos de trazabilidad y documentación en la estimación de carbono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0C0F59-3F2A-46F8-8379-1B3A453827B0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5334000" cy="4318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Declarar el origen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Versiones de productos, filtros, fuentes y fecha de acceso.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Publicar el procedimiento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Código, parámetros, máscaras y métricas de validación.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Separar los usos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Distinguir resultados exploratorios de estimaciones aptas para reporte.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Evitar la falsa precisión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Los intervalos y las limitaciones son parte del resultado.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0AE38A90-9245-420E-ADD9-6BC2C2A6D91D}"/>
              </a:ext>
            </a:extLst>
          </p:cNvPr>
          <p:cNvSpPr>
            <a:spLocks noGrp="1"/>
          </p:cNvSpPr>
          <p:nvPr/>
        </p:nvSpPr>
        <p:spPr>
          <a:xfrm>
            <a:off x="6585592" y="1272936"/>
            <a:ext cx="3996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Ficha de procedencia del resultado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F1C5046D-574F-462F-A6E1-D84D598061BC}"/>
              </a:ext>
            </a:extLst>
          </p:cNvPr>
          <p:cNvSpPr>
            <a:spLocks noGrp="1"/>
          </p:cNvSpPr>
          <p:nvPr/>
        </p:nvSpPr>
        <p:spPr>
          <a:xfrm>
            <a:off x="6585592" y="1642936"/>
            <a:ext cx="3996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Lo que debe viajar junto con cada mapa publicado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0E0242D1-B753-4FFE-850B-AEBE8BABFB34}"/>
              </a:ext>
            </a:extLst>
          </p:cNvPr>
          <p:cNvSpPr>
            <a:spLocks noGrp="1"/>
          </p:cNvSpPr>
          <p:nvPr/>
        </p:nvSpPr>
        <p:spPr>
          <a:xfrm>
            <a:off x="6585592" y="1992936"/>
            <a:ext cx="70000" cy="343000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D4A1D792-1F9C-4EA7-9DD6-2C18FB5E04B8}"/>
              </a:ext>
            </a:extLst>
          </p:cNvPr>
          <p:cNvSpPr>
            <a:spLocks noGrp="1"/>
          </p:cNvSpPr>
          <p:nvPr/>
        </p:nvSpPr>
        <p:spPr>
          <a:xfrm>
            <a:off x="6655592" y="1992936"/>
            <a:ext cx="3852000" cy="63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9F578DE1-5505-453B-9B38-1771F2D0F165}"/>
              </a:ext>
            </a:extLst>
          </p:cNvPr>
          <p:cNvSpPr>
            <a:spLocks noGrp="1"/>
          </p:cNvSpPr>
          <p:nvPr/>
        </p:nvSpPr>
        <p:spPr>
          <a:xfrm>
            <a:off x="6800592" y="2132936"/>
            <a:ext cx="370000" cy="37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5" name="TB405">
            <a:extLst>
              <a:ext uri="{FF2B5EF4-FFF2-40B4-BE49-F238E27FC236}">
                <a16:creationId xmlns:a16="http://schemas.microsoft.com/office/drawing/2014/main" id="{BFBC1AAF-0602-43D2-A66B-A8A02143C5C6}"/>
              </a:ext>
            </a:extLst>
          </p:cNvPr>
          <p:cNvSpPr>
            <a:spLocks noGrp="1"/>
          </p:cNvSpPr>
          <p:nvPr/>
        </p:nvSpPr>
        <p:spPr>
          <a:xfrm>
            <a:off x="7315592" y="2072936"/>
            <a:ext cx="446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DOI y versión del producto</a:t>
            </a:r>
          </a:p>
        </p:txBody>
      </p:sp>
      <p:sp>
        <p:nvSpPr>
          <p:cNvPr id="406" name="TB406">
            <a:extLst>
              <a:ext uri="{FF2B5EF4-FFF2-40B4-BE49-F238E27FC236}">
                <a16:creationId xmlns:a16="http://schemas.microsoft.com/office/drawing/2014/main" id="{DC152B37-5025-4A14-8856-0B7FAB9D81A0}"/>
              </a:ext>
            </a:extLst>
          </p:cNvPr>
          <p:cNvSpPr>
            <a:spLocks noGrp="1"/>
          </p:cNvSpPr>
          <p:nvPr/>
        </p:nvSpPr>
        <p:spPr>
          <a:xfrm>
            <a:off x="7315592" y="2328072"/>
            <a:ext cx="446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GEDI L2A/L4A con versión exacta</a:t>
            </a:r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EE0866BD-CDC5-4E61-99E1-41C2EEB7C7D2}"/>
              </a:ext>
            </a:extLst>
          </p:cNvPr>
          <p:cNvSpPr>
            <a:spLocks noGrp="1"/>
          </p:cNvSpPr>
          <p:nvPr/>
        </p:nvSpPr>
        <p:spPr>
          <a:xfrm>
            <a:off x="6655592" y="2692936"/>
            <a:ext cx="3852000" cy="63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DF667519-CB32-4E11-BACE-0D6E533EB0D5}"/>
              </a:ext>
            </a:extLst>
          </p:cNvPr>
          <p:cNvSpPr>
            <a:spLocks noGrp="1"/>
          </p:cNvSpPr>
          <p:nvPr/>
        </p:nvSpPr>
        <p:spPr>
          <a:xfrm>
            <a:off x="6800592" y="2832936"/>
            <a:ext cx="370000" cy="37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9" name="TB409">
            <a:extLst>
              <a:ext uri="{FF2B5EF4-FFF2-40B4-BE49-F238E27FC236}">
                <a16:creationId xmlns:a16="http://schemas.microsoft.com/office/drawing/2014/main" id="{6B3D035E-3762-4016-BEFE-7E7CE4F6A09C}"/>
              </a:ext>
            </a:extLst>
          </p:cNvPr>
          <p:cNvSpPr>
            <a:spLocks noGrp="1"/>
          </p:cNvSpPr>
          <p:nvPr/>
        </p:nvSpPr>
        <p:spPr>
          <a:xfrm>
            <a:off x="7315592" y="2772936"/>
            <a:ext cx="446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Código reproducible</a:t>
            </a:r>
          </a:p>
        </p:txBody>
      </p:sp>
      <p:sp>
        <p:nvSpPr>
          <p:cNvPr id="410" name="TB410">
            <a:extLst>
              <a:ext uri="{FF2B5EF4-FFF2-40B4-BE49-F238E27FC236}">
                <a16:creationId xmlns:a16="http://schemas.microsoft.com/office/drawing/2014/main" id="{364CD6BF-FCDC-407D-8C04-54C25EC6C1AC}"/>
              </a:ext>
            </a:extLst>
          </p:cNvPr>
          <p:cNvSpPr>
            <a:spLocks noGrp="1"/>
          </p:cNvSpPr>
          <p:nvPr/>
        </p:nvSpPr>
        <p:spPr>
          <a:xfrm>
            <a:off x="7315592" y="3028072"/>
            <a:ext cx="446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scripts y parámetros publicados</a:t>
            </a:r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6BF53681-3C2A-44D2-94A4-8E81D94CD62E}"/>
              </a:ext>
            </a:extLst>
          </p:cNvPr>
          <p:cNvSpPr>
            <a:spLocks noGrp="1"/>
          </p:cNvSpPr>
          <p:nvPr/>
        </p:nvSpPr>
        <p:spPr>
          <a:xfrm>
            <a:off x="6655592" y="3392936"/>
            <a:ext cx="3852000" cy="63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endParaRPr sz="1500"/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2FBEEE2D-2CA1-4230-904C-0A4C19A0E785}"/>
              </a:ext>
            </a:extLst>
          </p:cNvPr>
          <p:cNvSpPr>
            <a:spLocks noGrp="1"/>
          </p:cNvSpPr>
          <p:nvPr/>
        </p:nvSpPr>
        <p:spPr>
          <a:xfrm>
            <a:off x="6800592" y="3532936"/>
            <a:ext cx="370000" cy="37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3" name="TB413">
            <a:extLst>
              <a:ext uri="{FF2B5EF4-FFF2-40B4-BE49-F238E27FC236}">
                <a16:creationId xmlns:a16="http://schemas.microsoft.com/office/drawing/2014/main" id="{9315D822-27AE-4582-B8C7-3E94E7983F15}"/>
              </a:ext>
            </a:extLst>
          </p:cNvPr>
          <p:cNvSpPr>
            <a:spLocks noGrp="1"/>
          </p:cNvSpPr>
          <p:nvPr/>
        </p:nvSpPr>
        <p:spPr>
          <a:xfrm>
            <a:off x="7315592" y="3472936"/>
            <a:ext cx="446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Filtros documentados</a:t>
            </a:r>
          </a:p>
        </p:txBody>
      </p:sp>
      <p:sp>
        <p:nvSpPr>
          <p:cNvPr id="414" name="TB414">
            <a:extLst>
              <a:ext uri="{FF2B5EF4-FFF2-40B4-BE49-F238E27FC236}">
                <a16:creationId xmlns:a16="http://schemas.microsoft.com/office/drawing/2014/main" id="{6C3ECF93-6B9F-45BA-9DC2-12A25A25AF6E}"/>
              </a:ext>
            </a:extLst>
          </p:cNvPr>
          <p:cNvSpPr>
            <a:spLocks noGrp="1"/>
          </p:cNvSpPr>
          <p:nvPr/>
        </p:nvSpPr>
        <p:spPr>
          <a:xfrm>
            <a:off x="7315592" y="3728072"/>
            <a:ext cx="446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umbrales de calidad declarados</a:t>
            </a:r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609CA77F-18AD-4D8B-91D4-C2A725A01EC5}"/>
              </a:ext>
            </a:extLst>
          </p:cNvPr>
          <p:cNvSpPr>
            <a:spLocks noGrp="1"/>
          </p:cNvSpPr>
          <p:nvPr/>
        </p:nvSpPr>
        <p:spPr>
          <a:xfrm>
            <a:off x="6655592" y="4092936"/>
            <a:ext cx="3852000" cy="63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endParaRPr sz="1500"/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0CAB091C-7D20-47FD-AB90-46886B171EAA}"/>
              </a:ext>
            </a:extLst>
          </p:cNvPr>
          <p:cNvSpPr>
            <a:spLocks noGrp="1"/>
          </p:cNvSpPr>
          <p:nvPr/>
        </p:nvSpPr>
        <p:spPr>
          <a:xfrm>
            <a:off x="6800592" y="4232936"/>
            <a:ext cx="370000" cy="37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AF0B044B-6C00-4232-B748-738FE59CA8E1}"/>
              </a:ext>
            </a:extLst>
          </p:cNvPr>
          <p:cNvSpPr>
            <a:spLocks noGrp="1"/>
          </p:cNvSpPr>
          <p:nvPr/>
        </p:nvSpPr>
        <p:spPr>
          <a:xfrm>
            <a:off x="7315592" y="4172936"/>
            <a:ext cx="446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Validación independiente</a:t>
            </a:r>
          </a:p>
        </p:txBody>
      </p:sp>
      <p:sp>
        <p:nvSpPr>
          <p:cNvPr id="418" name="TB418">
            <a:extLst>
              <a:ext uri="{FF2B5EF4-FFF2-40B4-BE49-F238E27FC236}">
                <a16:creationId xmlns:a16="http://schemas.microsoft.com/office/drawing/2014/main" id="{E82D09CC-2BA5-470B-B9F1-327801083597}"/>
              </a:ext>
            </a:extLst>
          </p:cNvPr>
          <p:cNvSpPr>
            <a:spLocks noGrp="1"/>
          </p:cNvSpPr>
          <p:nvPr/>
        </p:nvSpPr>
        <p:spPr>
          <a:xfrm>
            <a:off x="7315592" y="4428072"/>
            <a:ext cx="446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datos no usados en el ajuste</a:t>
            </a:r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237CE6C4-BF41-4B3D-AA4A-47D988DAB705}"/>
              </a:ext>
            </a:extLst>
          </p:cNvPr>
          <p:cNvSpPr>
            <a:spLocks noGrp="1"/>
          </p:cNvSpPr>
          <p:nvPr/>
        </p:nvSpPr>
        <p:spPr>
          <a:xfrm>
            <a:off x="6655592" y="4792936"/>
            <a:ext cx="3852000" cy="63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endParaRPr sz="1500"/>
          </a:p>
        </p:txBody>
      </p:sp>
      <p:sp>
        <p:nvSpPr>
          <p:cNvPr id="420" name="SH420">
            <a:extLst>
              <a:ext uri="{FF2B5EF4-FFF2-40B4-BE49-F238E27FC236}">
                <a16:creationId xmlns:a16="http://schemas.microsoft.com/office/drawing/2014/main" id="{CCC2125A-EBCA-40E8-9090-20342FDC3761}"/>
              </a:ext>
            </a:extLst>
          </p:cNvPr>
          <p:cNvSpPr>
            <a:spLocks noGrp="1"/>
          </p:cNvSpPr>
          <p:nvPr/>
        </p:nvSpPr>
        <p:spPr>
          <a:xfrm>
            <a:off x="6800592" y="4932936"/>
            <a:ext cx="370000" cy="37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1" name="TB421">
            <a:extLst>
              <a:ext uri="{FF2B5EF4-FFF2-40B4-BE49-F238E27FC236}">
                <a16:creationId xmlns:a16="http://schemas.microsoft.com/office/drawing/2014/main" id="{604D57B7-4AAC-4A89-8C29-7084E7AFF967}"/>
              </a:ext>
            </a:extLst>
          </p:cNvPr>
          <p:cNvSpPr>
            <a:spLocks noGrp="1"/>
          </p:cNvSpPr>
          <p:nvPr/>
        </p:nvSpPr>
        <p:spPr>
          <a:xfrm>
            <a:off x="7315592" y="4872936"/>
            <a:ext cx="446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Incertidumbre reportada</a:t>
            </a:r>
          </a:p>
        </p:txBody>
      </p:sp>
      <p:sp>
        <p:nvSpPr>
          <p:cNvPr id="422" name="TB422">
            <a:extLst>
              <a:ext uri="{FF2B5EF4-FFF2-40B4-BE49-F238E27FC236}">
                <a16:creationId xmlns:a16="http://schemas.microsoft.com/office/drawing/2014/main" id="{678F8713-6BAE-439A-9219-C724389BDF8A}"/>
              </a:ext>
            </a:extLst>
          </p:cNvPr>
          <p:cNvSpPr>
            <a:spLocks noGrp="1"/>
          </p:cNvSpPr>
          <p:nvPr/>
        </p:nvSpPr>
        <p:spPr>
          <a:xfrm>
            <a:off x="7315592" y="5128072"/>
            <a:ext cx="446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error por celda y por región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C578849-4034-4280-A115-FD93FC53EA0A}"/>
              </a:ext>
            </a:extLst>
          </p:cNvPr>
          <p:cNvSpPr>
            <a:spLocks noGrp="1"/>
          </p:cNvSpPr>
          <p:nvPr/>
        </p:nvSpPr>
        <p:spPr>
          <a:xfrm>
            <a:off x="600075" y="5711800"/>
            <a:ext cx="10915650" cy="42232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GEDI Data Resources; LP DAAC Quick Guide; Earthdata Cloud Cookbook. EOSDIS Data Use and Citation Guidance.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2A97A28-1D94-4B16-B298-E5676315CC96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45/79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87A324A-6E5C-465C-BB50-1ECEDB2BD0B5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6B8AC64-FC61-4A29-9D38-BB91ED4226C7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23" name="Rectángulo 422">
            <a:extLst>
              <a:ext uri="{FF2B5EF4-FFF2-40B4-BE49-F238E27FC236}">
                <a16:creationId xmlns:a16="http://schemas.microsoft.com/office/drawing/2014/main" id="{C4851B34-E098-4720-87B7-1F1734440DFA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45/79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73516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E37177-C722-4CD9-8476-4BE0C521A885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Matriz de riesgos antes de descargar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4962F2-779B-428B-9FF5-292715472111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Revisión temprana de la calidad de los datos previa al modelado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C9A124-19E1-436E-B700-B5F275D05C84}"/>
              </a:ext>
            </a:extLst>
          </p:cNvPr>
          <p:cNvSpPr>
            <a:spLocks noGrp="1"/>
          </p:cNvSpPr>
          <p:nvPr/>
        </p:nvSpPr>
        <p:spPr>
          <a:xfrm>
            <a:off x="596900" y="1371600"/>
            <a:ext cx="5080000" cy="4165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Riesgo de muestra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Pocas huellas válidas por tipo forestal o por cuenca.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Riesgo de soporte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Parcelas, huellas y píxeles con áreas incompatibles.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Riesgo temporal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GEDI y covariables de fechas no comparables.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Riesgo operativo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Falta de metadatos, trazabilidad o validación de campo.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F15853C-D97E-42E1-B3C0-99698A634B41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Elaboración propia. GEDI/UMD Products; LP DAAC GEDI02 User Guides; ORNL DAAC L4A/L4B. Duncanson et al. (2022); Kellner et al. (2023); Duncanson et al. (2019); Subedi y Zurqani (2026).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F01979A-77EC-409C-9991-12D4FD840275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46/79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80A8117-D274-4E68-960D-A2804F765E3E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066AD33-246F-4B7D-A553-6A583CE25664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graphicFrame>
        <p:nvGraphicFramePr>
          <p:cNvPr id="34" name="Tabla 25"/>
          <p:cNvGraphicFramePr/>
          <p:nvPr/>
        </p:nvGraphicFramePr>
        <p:xfrm>
          <a:off x="6093968" y="1366520"/>
          <a:ext cx="5626101" cy="41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Riesgo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Señal de alerta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Mitigación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muestra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 bajo por estrato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ampliar período/campo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soporte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parcelas pequeñas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buffers/parcelas compatibles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temporal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disturbio entre fechas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filtrar o etiquetar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operativo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sin metadatos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README y logs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ángulo 25">
            <a:extLst>
              <a:ext uri="{FF2B5EF4-FFF2-40B4-BE49-F238E27FC236}">
                <a16:creationId xmlns:a16="http://schemas.microsoft.com/office/drawing/2014/main" id="{C4EB3CCA-6645-4662-88DF-906E0CB3F2A3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46/79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42855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D7B1CE-7E0E-4E5C-BC33-5D203A6F82E9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Síntesis: qué aporta y qué exige GEDI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1D69D9-23FC-4064-9748-BB960822756D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Qué aporta GEDI y qué exige su uso responsable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FBF1AD-0300-49A5-A9B5-0E07E4934446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851400" cy="4318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Naturaleza del dato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GEDI aporta estructura 3D y biomasa por huella, no cobertura continua.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Condición regional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bosque andino chubutense exige estratificar por tipo, topografía y disturbio.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Momento de decidir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calidad se define antes de entrenar modelos, no al ver un RMSE adecuado.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lo hace defendible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trazabilidad del filtrado y de la validación.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34373E65-D50B-415B-8F7C-C2336C532AD7}"/>
              </a:ext>
            </a:extLst>
          </p:cNvPr>
          <p:cNvSpPr>
            <a:spLocks noGrp="1"/>
          </p:cNvSpPr>
          <p:nvPr/>
        </p:nvSpPr>
        <p:spPr>
          <a:xfrm>
            <a:off x="5900000" y="1300000"/>
            <a:ext cx="265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GEDI aporta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2" name="TB402">
            <a:extLst>
              <a:ext uri="{FF2B5EF4-FFF2-40B4-BE49-F238E27FC236}">
                <a16:creationId xmlns:a16="http://schemas.microsoft.com/office/drawing/2014/main" id="{DE6C97F0-5D50-489B-8C8E-44E20B00E440}"/>
              </a:ext>
            </a:extLst>
          </p:cNvPr>
          <p:cNvSpPr>
            <a:spLocks noGrp="1"/>
          </p:cNvSpPr>
          <p:nvPr/>
        </p:nvSpPr>
        <p:spPr>
          <a:xfrm>
            <a:off x="8750000" y="1300000"/>
            <a:ext cx="265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 exige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C62594B0-7D1D-4793-9F70-5957121A0DA3}"/>
              </a:ext>
            </a:extLst>
          </p:cNvPr>
          <p:cNvSpPr>
            <a:spLocks noGrp="1"/>
          </p:cNvSpPr>
          <p:nvPr/>
        </p:nvSpPr>
        <p:spPr>
          <a:xfrm>
            <a:off x="5900000" y="1730000"/>
            <a:ext cx="60000" cy="520000"/>
          </a:xfrm>
          <a:prstGeom prst="rect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5" name="TB405">
            <a:extLst>
              <a:ext uri="{FF2B5EF4-FFF2-40B4-BE49-F238E27FC236}">
                <a16:creationId xmlns:a16="http://schemas.microsoft.com/office/drawing/2014/main" id="{1E6C9804-FF77-491D-A882-B6BEFF4045F7}"/>
              </a:ext>
            </a:extLst>
          </p:cNvPr>
          <p:cNvSpPr>
            <a:spLocks noGrp="1"/>
          </p:cNvSpPr>
          <p:nvPr/>
        </p:nvSpPr>
        <p:spPr>
          <a:xfrm>
            <a:off x="6080000" y="1730000"/>
            <a:ext cx="2450000" cy="5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0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Estructura vertical 3D del dosel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8BF0009A-76A8-40D4-9C45-40A8B7F6AA5E}"/>
              </a:ext>
            </a:extLst>
          </p:cNvPr>
          <p:cNvSpPr>
            <a:spLocks noGrp="1"/>
          </p:cNvSpPr>
          <p:nvPr/>
        </p:nvSpPr>
        <p:spPr>
          <a:xfrm>
            <a:off x="8750000" y="1730000"/>
            <a:ext cx="60000" cy="520000"/>
          </a:xfrm>
          <a:prstGeom prst="rect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7" name="TB407">
            <a:extLst>
              <a:ext uri="{FF2B5EF4-FFF2-40B4-BE49-F238E27FC236}">
                <a16:creationId xmlns:a16="http://schemas.microsoft.com/office/drawing/2014/main" id="{1E7DC5BF-B447-4A58-BEA1-E3E19604ACD5}"/>
              </a:ext>
            </a:extLst>
          </p:cNvPr>
          <p:cNvSpPr>
            <a:spLocks noGrp="1"/>
          </p:cNvSpPr>
          <p:nvPr/>
        </p:nvSpPr>
        <p:spPr>
          <a:xfrm>
            <a:off x="8930000" y="1730000"/>
            <a:ext cx="2450000" cy="5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0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Filtros de calidad bien documentados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BF649EB4-09BC-4148-991E-19A4480F34A1}"/>
              </a:ext>
            </a:extLst>
          </p:cNvPr>
          <p:cNvSpPr>
            <a:spLocks noGrp="1"/>
          </p:cNvSpPr>
          <p:nvPr/>
        </p:nvSpPr>
        <p:spPr>
          <a:xfrm>
            <a:off x="5900000" y="2490000"/>
            <a:ext cx="60000" cy="520000"/>
          </a:xfrm>
          <a:prstGeom prst="rect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9" name="TB409">
            <a:extLst>
              <a:ext uri="{FF2B5EF4-FFF2-40B4-BE49-F238E27FC236}">
                <a16:creationId xmlns:a16="http://schemas.microsoft.com/office/drawing/2014/main" id="{D6A02559-B92F-45BD-A547-81E4E3CF7934}"/>
              </a:ext>
            </a:extLst>
          </p:cNvPr>
          <p:cNvSpPr>
            <a:spLocks noGrp="1"/>
          </p:cNvSpPr>
          <p:nvPr/>
        </p:nvSpPr>
        <p:spPr>
          <a:xfrm>
            <a:off x="6080000" y="2490000"/>
            <a:ext cx="2450000" cy="5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0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AGBD por huella con su error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EC40C3F6-75A5-4FF5-A4DB-76432BF00F00}"/>
              </a:ext>
            </a:extLst>
          </p:cNvPr>
          <p:cNvSpPr>
            <a:spLocks noGrp="1"/>
          </p:cNvSpPr>
          <p:nvPr/>
        </p:nvSpPr>
        <p:spPr>
          <a:xfrm>
            <a:off x="8750000" y="2490000"/>
            <a:ext cx="60000" cy="520000"/>
          </a:xfrm>
          <a:prstGeom prst="rect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1" name="TB411">
            <a:extLst>
              <a:ext uri="{FF2B5EF4-FFF2-40B4-BE49-F238E27FC236}">
                <a16:creationId xmlns:a16="http://schemas.microsoft.com/office/drawing/2014/main" id="{024FEA99-A2E0-4E2F-B4BB-D180B4C72A2D}"/>
              </a:ext>
            </a:extLst>
          </p:cNvPr>
          <p:cNvSpPr>
            <a:spLocks noGrp="1"/>
          </p:cNvSpPr>
          <p:nvPr/>
        </p:nvSpPr>
        <p:spPr>
          <a:xfrm>
            <a:off x="8930000" y="2490000"/>
            <a:ext cx="2450000" cy="5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0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Predictores continuos para extrapolar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958743DE-81B6-4C4C-AD31-072BF2FD15A3}"/>
              </a:ext>
            </a:extLst>
          </p:cNvPr>
          <p:cNvSpPr>
            <a:spLocks noGrp="1"/>
          </p:cNvSpPr>
          <p:nvPr/>
        </p:nvSpPr>
        <p:spPr>
          <a:xfrm>
            <a:off x="5900000" y="3250000"/>
            <a:ext cx="60000" cy="520000"/>
          </a:xfrm>
          <a:prstGeom prst="rect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3" name="TB413">
            <a:extLst>
              <a:ext uri="{FF2B5EF4-FFF2-40B4-BE49-F238E27FC236}">
                <a16:creationId xmlns:a16="http://schemas.microsoft.com/office/drawing/2014/main" id="{634EAD0E-244C-4602-9FAD-8503A30BFDA3}"/>
              </a:ext>
            </a:extLst>
          </p:cNvPr>
          <p:cNvSpPr>
            <a:spLocks noGrp="1"/>
          </p:cNvSpPr>
          <p:nvPr/>
        </p:nvSpPr>
        <p:spPr>
          <a:xfrm>
            <a:off x="6080000" y="3250000"/>
            <a:ext cx="2450000" cy="5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0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Cobertura global comparable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A52FEC75-921E-4E36-9869-ADD338B8FBAB}"/>
              </a:ext>
            </a:extLst>
          </p:cNvPr>
          <p:cNvSpPr>
            <a:spLocks noGrp="1"/>
          </p:cNvSpPr>
          <p:nvPr/>
        </p:nvSpPr>
        <p:spPr>
          <a:xfrm>
            <a:off x="8750000" y="3250000"/>
            <a:ext cx="60000" cy="520000"/>
          </a:xfrm>
          <a:prstGeom prst="rect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5" name="TB415">
            <a:extLst>
              <a:ext uri="{FF2B5EF4-FFF2-40B4-BE49-F238E27FC236}">
                <a16:creationId xmlns:a16="http://schemas.microsoft.com/office/drawing/2014/main" id="{6AD12A5F-0A86-47C0-90FF-4C1ED70B085B}"/>
              </a:ext>
            </a:extLst>
          </p:cNvPr>
          <p:cNvSpPr>
            <a:spLocks noGrp="1"/>
          </p:cNvSpPr>
          <p:nvPr/>
        </p:nvSpPr>
        <p:spPr>
          <a:xfrm>
            <a:off x="8930000" y="3250000"/>
            <a:ext cx="2450000" cy="5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0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Parcelas locales para validar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9C5453F9-0227-4EA2-B837-6A4800049D43}"/>
              </a:ext>
            </a:extLst>
          </p:cNvPr>
          <p:cNvSpPr>
            <a:spLocks noGrp="1"/>
          </p:cNvSpPr>
          <p:nvPr/>
        </p:nvSpPr>
        <p:spPr>
          <a:xfrm>
            <a:off x="5900000" y="4010000"/>
            <a:ext cx="60000" cy="520000"/>
          </a:xfrm>
          <a:prstGeom prst="rect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693AE1B7-D960-487A-8B35-7A92A5DF6843}"/>
              </a:ext>
            </a:extLst>
          </p:cNvPr>
          <p:cNvSpPr>
            <a:spLocks noGrp="1"/>
          </p:cNvSpPr>
          <p:nvPr/>
        </p:nvSpPr>
        <p:spPr>
          <a:xfrm>
            <a:off x="6080000" y="4010000"/>
            <a:ext cx="2450000" cy="5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0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Serie desde 2019, con una pausa de adquisición entre marzo de 2023 y abril de 2024</a:t>
            </a:r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567E3B46-DA42-4AA1-92F3-03B345820487}"/>
              </a:ext>
            </a:extLst>
          </p:cNvPr>
          <p:cNvSpPr>
            <a:spLocks noGrp="1"/>
          </p:cNvSpPr>
          <p:nvPr/>
        </p:nvSpPr>
        <p:spPr>
          <a:xfrm>
            <a:off x="8750000" y="4010000"/>
            <a:ext cx="60000" cy="520000"/>
          </a:xfrm>
          <a:prstGeom prst="rect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9" name="TB419">
            <a:extLst>
              <a:ext uri="{FF2B5EF4-FFF2-40B4-BE49-F238E27FC236}">
                <a16:creationId xmlns:a16="http://schemas.microsoft.com/office/drawing/2014/main" id="{C0F084A2-882C-4F1F-B3A2-8473B5943E6F}"/>
              </a:ext>
            </a:extLst>
          </p:cNvPr>
          <p:cNvSpPr>
            <a:spLocks noGrp="1"/>
          </p:cNvSpPr>
          <p:nvPr/>
        </p:nvSpPr>
        <p:spPr>
          <a:xfrm>
            <a:off x="8930000" y="4010000"/>
            <a:ext cx="2450000" cy="5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0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Manejo explícito de la incertidumbre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0" name="TB420">
            <a:extLst>
              <a:ext uri="{FF2B5EF4-FFF2-40B4-BE49-F238E27FC236}">
                <a16:creationId xmlns:a16="http://schemas.microsoft.com/office/drawing/2014/main" id="{3E6B6153-7074-4F51-B806-E6007D4A821B}"/>
              </a:ext>
            </a:extLst>
          </p:cNvPr>
          <p:cNvSpPr>
            <a:spLocks noGrp="1"/>
          </p:cNvSpPr>
          <p:nvPr/>
        </p:nvSpPr>
        <p:spPr>
          <a:xfrm>
            <a:off x="5900000" y="4830000"/>
            <a:ext cx="5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1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El valor no está en el dato crudo sino en el flujo completo.</a:t>
            </a:r>
            <a:endParaRPr sz="1400" b="1">
              <a:latin typeface="Arial"/>
              <a:cs typeface="Arial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F7736E3-9A0C-4348-9B14-99E58B4BE1D1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GEDI/UMD; NASA GSFC SVS 13090; Dubayah et al. (2020). CIEFAP/SNMBN Bosque Andino Patagónico; Argentina Ambiente Mapas de Bosque Nativo; Chubut OTBN. Duncanson et al. (2022); Kellner et al. (2023); Duncanson et al. (2019); Subedi y Zurqani (2026).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4398BA7-8F31-442A-A1B8-BC70FFFFC984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47/79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0FB0735-B3F2-4970-A6E7-58E90D916417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118EE80-4BF8-4BB4-8BC6-81F8103608F4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21" name="Rectángulo 420">
            <a:extLst>
              <a:ext uri="{FF2B5EF4-FFF2-40B4-BE49-F238E27FC236}">
                <a16:creationId xmlns:a16="http://schemas.microsoft.com/office/drawing/2014/main" id="{2C0C17F5-7180-446B-9C81-D20C5D0B2932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47/79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0069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E3689C-997C-4161-A8D4-32BCC646FFD8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Flujo general de descarga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EADE8F-D7AD-4020-9269-87C817C04F0B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Cadena completa de procesamiento y control de versiones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71AE3AD-41C3-4657-85A7-64D85E44C084}"/>
              </a:ext>
            </a:extLst>
          </p:cNvPr>
          <p:cNvSpPr>
            <a:spLocks noGrp="1"/>
          </p:cNvSpPr>
          <p:nvPr/>
        </p:nvSpPr>
        <p:spPr>
          <a:xfrm>
            <a:off x="596900" y="1168400"/>
            <a:ext cx="5016500" cy="45212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Delimitar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Definir área de interés y período temporal representativo.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Elegir producto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L2A y L2B para estructura; L4A para biomasa por huella.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Buscar gránulos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Earthdata Search, CMR/earthaccess, OPeNDAP o Google Earth Engine.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Procesar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Filtrar calidad, extraer variables, cruzar covariables y validar.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548ECD71-15DB-4DD1-8B8B-701472565975}"/>
              </a:ext>
            </a:extLst>
          </p:cNvPr>
          <p:cNvSpPr>
            <a:spLocks noGrp="1"/>
          </p:cNvSpPr>
          <p:nvPr/>
        </p:nvSpPr>
        <p:spPr>
          <a:xfrm>
            <a:off x="6123820" y="13359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Cadena de descarga y control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35B8DEE8-899E-4FDB-AFCC-923D10B2D1EE}"/>
              </a:ext>
            </a:extLst>
          </p:cNvPr>
          <p:cNvSpPr>
            <a:spLocks noGrp="1"/>
          </p:cNvSpPr>
          <p:nvPr/>
        </p:nvSpPr>
        <p:spPr>
          <a:xfrm>
            <a:off x="6123820" y="1655900"/>
            <a:ext cx="54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Seis etapas con versionado en cada paso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30F67325-2DAC-4DCC-B4D7-15F542CA1C65}"/>
              </a:ext>
            </a:extLst>
          </p:cNvPr>
          <p:cNvSpPr>
            <a:spLocks noGrp="1"/>
          </p:cNvSpPr>
          <p:nvPr/>
        </p:nvSpPr>
        <p:spPr>
          <a:xfrm>
            <a:off x="7093820" y="2405900"/>
            <a:ext cx="1210000" cy="25400"/>
          </a:xfrm>
          <a:prstGeom prst="rect">
            <a:avLst/>
          </a:prstGeom>
          <a:solidFill>
            <a:srgbClr val="C8D2CC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65633F72-DCCA-4710-A410-65F33A13E588}"/>
              </a:ext>
            </a:extLst>
          </p:cNvPr>
          <p:cNvSpPr>
            <a:spLocks noGrp="1"/>
          </p:cNvSpPr>
          <p:nvPr/>
        </p:nvSpPr>
        <p:spPr>
          <a:xfrm>
            <a:off x="8843820" y="2405900"/>
            <a:ext cx="1210000" cy="25400"/>
          </a:xfrm>
          <a:prstGeom prst="rect">
            <a:avLst/>
          </a:prstGeom>
          <a:solidFill>
            <a:srgbClr val="C8D2CC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9DFE6C7F-4EA9-412D-B3EC-2E0EC4424DA0}"/>
              </a:ext>
            </a:extLst>
          </p:cNvPr>
          <p:cNvSpPr>
            <a:spLocks noGrp="1"/>
          </p:cNvSpPr>
          <p:nvPr/>
        </p:nvSpPr>
        <p:spPr>
          <a:xfrm>
            <a:off x="8843820" y="4043200"/>
            <a:ext cx="1210000" cy="25400"/>
          </a:xfrm>
          <a:prstGeom prst="rect">
            <a:avLst/>
          </a:prstGeom>
          <a:solidFill>
            <a:srgbClr val="C8D2CC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0902948C-BED3-451C-A3E5-32E059886A6D}"/>
              </a:ext>
            </a:extLst>
          </p:cNvPr>
          <p:cNvSpPr>
            <a:spLocks noGrp="1"/>
          </p:cNvSpPr>
          <p:nvPr/>
        </p:nvSpPr>
        <p:spPr>
          <a:xfrm>
            <a:off x="7093820" y="4043200"/>
            <a:ext cx="1210000" cy="25400"/>
          </a:xfrm>
          <a:prstGeom prst="rect">
            <a:avLst/>
          </a:prstGeom>
          <a:solidFill>
            <a:srgbClr val="C8D2CC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EF60B895-4B58-45EA-A27E-22A9336384EF}"/>
              </a:ext>
            </a:extLst>
          </p:cNvPr>
          <p:cNvSpPr>
            <a:spLocks noGrp="1"/>
          </p:cNvSpPr>
          <p:nvPr/>
        </p:nvSpPr>
        <p:spPr>
          <a:xfrm>
            <a:off x="10553820" y="2405900"/>
            <a:ext cx="590000" cy="25400"/>
          </a:xfrm>
          <a:prstGeom prst="rect">
            <a:avLst/>
          </a:prstGeom>
          <a:solidFill>
            <a:srgbClr val="C8D2CC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799C55E7-CC0C-4CC0-8141-C4E9092E63E9}"/>
              </a:ext>
            </a:extLst>
          </p:cNvPr>
          <p:cNvSpPr>
            <a:spLocks noGrp="1"/>
          </p:cNvSpPr>
          <p:nvPr/>
        </p:nvSpPr>
        <p:spPr>
          <a:xfrm>
            <a:off x="11118420" y="2418600"/>
            <a:ext cx="25400" cy="1650000"/>
          </a:xfrm>
          <a:prstGeom prst="rect">
            <a:avLst/>
          </a:prstGeom>
          <a:solidFill>
            <a:srgbClr val="C8D2CC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501533C1-29D9-412C-8160-E930718AEEF2}"/>
              </a:ext>
            </a:extLst>
          </p:cNvPr>
          <p:cNvSpPr>
            <a:spLocks noGrp="1"/>
          </p:cNvSpPr>
          <p:nvPr/>
        </p:nvSpPr>
        <p:spPr>
          <a:xfrm>
            <a:off x="10553820" y="4043200"/>
            <a:ext cx="590000" cy="25400"/>
          </a:xfrm>
          <a:prstGeom prst="rect">
            <a:avLst/>
          </a:prstGeom>
          <a:solidFill>
            <a:srgbClr val="C8D2CC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5D146CA9-13B8-4F26-A87F-F9E11051AEF7}"/>
              </a:ext>
            </a:extLst>
          </p:cNvPr>
          <p:cNvSpPr>
            <a:spLocks noGrp="1"/>
          </p:cNvSpPr>
          <p:nvPr/>
        </p:nvSpPr>
        <p:spPr>
          <a:xfrm>
            <a:off x="6593820" y="2175900"/>
            <a:ext cx="460000" cy="460000"/>
          </a:xfrm>
          <a:prstGeom prst="ellipse">
            <a:avLst/>
          </a:prstGeom>
          <a:solidFill>
            <a:srgbClr val="1B4332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10" name="TB410">
            <a:extLst>
              <a:ext uri="{FF2B5EF4-FFF2-40B4-BE49-F238E27FC236}">
                <a16:creationId xmlns:a16="http://schemas.microsoft.com/office/drawing/2014/main" id="{DF217C98-04BD-49B1-B44D-1AAD447D7383}"/>
              </a:ext>
            </a:extLst>
          </p:cNvPr>
          <p:cNvSpPr>
            <a:spLocks noGrp="1"/>
          </p:cNvSpPr>
          <p:nvPr/>
        </p:nvSpPr>
        <p:spPr>
          <a:xfrm>
            <a:off x="6043820" y="2705900"/>
            <a:ext cx="15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AOI</a:t>
            </a:r>
          </a:p>
        </p:txBody>
      </p:sp>
      <p:sp>
        <p:nvSpPr>
          <p:cNvPr id="411" name="TB411">
            <a:extLst>
              <a:ext uri="{FF2B5EF4-FFF2-40B4-BE49-F238E27FC236}">
                <a16:creationId xmlns:a16="http://schemas.microsoft.com/office/drawing/2014/main" id="{9B5158A3-C608-4843-AFE1-9C84371BAA69}"/>
              </a:ext>
            </a:extLst>
          </p:cNvPr>
          <p:cNvSpPr>
            <a:spLocks noGrp="1"/>
          </p:cNvSpPr>
          <p:nvPr/>
        </p:nvSpPr>
        <p:spPr>
          <a:xfrm>
            <a:off x="6043820" y="2975900"/>
            <a:ext cx="156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polígono y período</a:t>
            </a:r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FC2D7F5E-53DE-4F9A-AE7D-B66ABF44E42D}"/>
              </a:ext>
            </a:extLst>
          </p:cNvPr>
          <p:cNvSpPr>
            <a:spLocks noGrp="1"/>
          </p:cNvSpPr>
          <p:nvPr/>
        </p:nvSpPr>
        <p:spPr>
          <a:xfrm>
            <a:off x="8343820" y="2175900"/>
            <a:ext cx="460000" cy="46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3" name="TB413">
            <a:extLst>
              <a:ext uri="{FF2B5EF4-FFF2-40B4-BE49-F238E27FC236}">
                <a16:creationId xmlns:a16="http://schemas.microsoft.com/office/drawing/2014/main" id="{54A55D8E-1CF1-40ED-BECC-8D5C514214D9}"/>
              </a:ext>
            </a:extLst>
          </p:cNvPr>
          <p:cNvSpPr>
            <a:spLocks noGrp="1"/>
          </p:cNvSpPr>
          <p:nvPr/>
        </p:nvSpPr>
        <p:spPr>
          <a:xfrm>
            <a:off x="7793820" y="2705900"/>
            <a:ext cx="15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producto</a:t>
            </a:r>
          </a:p>
        </p:txBody>
      </p:sp>
      <p:sp>
        <p:nvSpPr>
          <p:cNvPr id="414" name="TB414">
            <a:extLst>
              <a:ext uri="{FF2B5EF4-FFF2-40B4-BE49-F238E27FC236}">
                <a16:creationId xmlns:a16="http://schemas.microsoft.com/office/drawing/2014/main" id="{311F103B-AF69-4F1D-9399-51105D122D3B}"/>
              </a:ext>
            </a:extLst>
          </p:cNvPr>
          <p:cNvSpPr>
            <a:spLocks noGrp="1"/>
          </p:cNvSpPr>
          <p:nvPr/>
        </p:nvSpPr>
        <p:spPr>
          <a:xfrm>
            <a:off x="7793820" y="2975900"/>
            <a:ext cx="156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L2A/L2B o L4A</a:t>
            </a:r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3A6E9A27-3C09-421A-B9AB-A43A3393B176}"/>
              </a:ext>
            </a:extLst>
          </p:cNvPr>
          <p:cNvSpPr>
            <a:spLocks noGrp="1"/>
          </p:cNvSpPr>
          <p:nvPr/>
        </p:nvSpPr>
        <p:spPr>
          <a:xfrm>
            <a:off x="10093820" y="2175900"/>
            <a:ext cx="460000" cy="46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6" name="TB416">
            <a:extLst>
              <a:ext uri="{FF2B5EF4-FFF2-40B4-BE49-F238E27FC236}">
                <a16:creationId xmlns:a16="http://schemas.microsoft.com/office/drawing/2014/main" id="{DD69EECF-35E6-41FF-A92C-CE5800A4219D}"/>
              </a:ext>
            </a:extLst>
          </p:cNvPr>
          <p:cNvSpPr>
            <a:spLocks noGrp="1"/>
          </p:cNvSpPr>
          <p:nvPr/>
        </p:nvSpPr>
        <p:spPr>
          <a:xfrm>
            <a:off x="9543820" y="2705900"/>
            <a:ext cx="15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búsqueda</a:t>
            </a:r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C784AA7F-310A-4FD0-8501-209835F65740}"/>
              </a:ext>
            </a:extLst>
          </p:cNvPr>
          <p:cNvSpPr>
            <a:spLocks noGrp="1"/>
          </p:cNvSpPr>
          <p:nvPr/>
        </p:nvSpPr>
        <p:spPr>
          <a:xfrm>
            <a:off x="9543820" y="2975900"/>
            <a:ext cx="156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consulta reproducible</a:t>
            </a:r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570E5A1E-056F-4B2D-9A04-83112274F11D}"/>
              </a:ext>
            </a:extLst>
          </p:cNvPr>
          <p:cNvSpPr>
            <a:spLocks noGrp="1"/>
          </p:cNvSpPr>
          <p:nvPr/>
        </p:nvSpPr>
        <p:spPr>
          <a:xfrm>
            <a:off x="10093820" y="3825900"/>
            <a:ext cx="460000" cy="46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9" name="TB419">
            <a:extLst>
              <a:ext uri="{FF2B5EF4-FFF2-40B4-BE49-F238E27FC236}">
                <a16:creationId xmlns:a16="http://schemas.microsoft.com/office/drawing/2014/main" id="{C3A635CF-B6A8-4365-9981-56571D737B4F}"/>
              </a:ext>
            </a:extLst>
          </p:cNvPr>
          <p:cNvSpPr>
            <a:spLocks noGrp="1"/>
          </p:cNvSpPr>
          <p:nvPr/>
        </p:nvSpPr>
        <p:spPr>
          <a:xfrm>
            <a:off x="9543820" y="4355900"/>
            <a:ext cx="15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descarga</a:t>
            </a:r>
          </a:p>
        </p:txBody>
      </p:sp>
      <p:sp>
        <p:nvSpPr>
          <p:cNvPr id="420" name="TB420">
            <a:extLst>
              <a:ext uri="{FF2B5EF4-FFF2-40B4-BE49-F238E27FC236}">
                <a16:creationId xmlns:a16="http://schemas.microsoft.com/office/drawing/2014/main" id="{E56ABA7B-C9FD-482E-9DEF-7ADBB20E076C}"/>
              </a:ext>
            </a:extLst>
          </p:cNvPr>
          <p:cNvSpPr>
            <a:spLocks noGrp="1"/>
          </p:cNvSpPr>
          <p:nvPr/>
        </p:nvSpPr>
        <p:spPr>
          <a:xfrm>
            <a:off x="9543820" y="4625900"/>
            <a:ext cx="156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con checksum</a:t>
            </a:r>
          </a:p>
        </p:txBody>
      </p:sp>
      <p:sp>
        <p:nvSpPr>
          <p:cNvPr id="421" name="SH421">
            <a:extLst>
              <a:ext uri="{FF2B5EF4-FFF2-40B4-BE49-F238E27FC236}">
                <a16:creationId xmlns:a16="http://schemas.microsoft.com/office/drawing/2014/main" id="{07136354-BB21-4EF3-B38F-018D94F95ADF}"/>
              </a:ext>
            </a:extLst>
          </p:cNvPr>
          <p:cNvSpPr>
            <a:spLocks noGrp="1"/>
          </p:cNvSpPr>
          <p:nvPr/>
        </p:nvSpPr>
        <p:spPr>
          <a:xfrm>
            <a:off x="8343820" y="3825900"/>
            <a:ext cx="460000" cy="46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2" name="TB422">
            <a:extLst>
              <a:ext uri="{FF2B5EF4-FFF2-40B4-BE49-F238E27FC236}">
                <a16:creationId xmlns:a16="http://schemas.microsoft.com/office/drawing/2014/main" id="{CB132F7F-E7B8-4DD4-A74A-F0B3DF01BCE0}"/>
              </a:ext>
            </a:extLst>
          </p:cNvPr>
          <p:cNvSpPr>
            <a:spLocks noGrp="1"/>
          </p:cNvSpPr>
          <p:nvPr/>
        </p:nvSpPr>
        <p:spPr>
          <a:xfrm>
            <a:off x="7793820" y="4355900"/>
            <a:ext cx="15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filtros</a:t>
            </a:r>
          </a:p>
        </p:txBody>
      </p:sp>
      <p:sp>
        <p:nvSpPr>
          <p:cNvPr id="423" name="TB423">
            <a:extLst>
              <a:ext uri="{FF2B5EF4-FFF2-40B4-BE49-F238E27FC236}">
                <a16:creationId xmlns:a16="http://schemas.microsoft.com/office/drawing/2014/main" id="{DBE74331-53B7-4D27-A5EC-FA6319144522}"/>
              </a:ext>
            </a:extLst>
          </p:cNvPr>
          <p:cNvSpPr>
            <a:spLocks noGrp="1"/>
          </p:cNvSpPr>
          <p:nvPr/>
        </p:nvSpPr>
        <p:spPr>
          <a:xfrm>
            <a:off x="7793820" y="4625900"/>
            <a:ext cx="156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calidad y ruido</a:t>
            </a:r>
          </a:p>
        </p:txBody>
      </p:sp>
      <p:sp>
        <p:nvSpPr>
          <p:cNvPr id="424" name="SH424">
            <a:extLst>
              <a:ext uri="{FF2B5EF4-FFF2-40B4-BE49-F238E27FC236}">
                <a16:creationId xmlns:a16="http://schemas.microsoft.com/office/drawing/2014/main" id="{3133C9F2-BBE4-4D33-949F-C2F62291F953}"/>
              </a:ext>
            </a:extLst>
          </p:cNvPr>
          <p:cNvSpPr>
            <a:spLocks noGrp="1"/>
          </p:cNvSpPr>
          <p:nvPr/>
        </p:nvSpPr>
        <p:spPr>
          <a:xfrm>
            <a:off x="6593820" y="3825900"/>
            <a:ext cx="460000" cy="460000"/>
          </a:xfrm>
          <a:prstGeom prst="ellipse">
            <a:avLst/>
          </a:prstGeom>
          <a:solidFill>
            <a:srgbClr val="1B4332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5" name="TB425">
            <a:extLst>
              <a:ext uri="{FF2B5EF4-FFF2-40B4-BE49-F238E27FC236}">
                <a16:creationId xmlns:a16="http://schemas.microsoft.com/office/drawing/2014/main" id="{C13D06A7-A24A-4206-BF36-84E46F35DB52}"/>
              </a:ext>
            </a:extLst>
          </p:cNvPr>
          <p:cNvSpPr>
            <a:spLocks noGrp="1"/>
          </p:cNvSpPr>
          <p:nvPr/>
        </p:nvSpPr>
        <p:spPr>
          <a:xfrm>
            <a:off x="6043820" y="4355900"/>
            <a:ext cx="15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análisis</a:t>
            </a:r>
          </a:p>
        </p:txBody>
      </p:sp>
      <p:sp>
        <p:nvSpPr>
          <p:cNvPr id="426" name="TB426">
            <a:extLst>
              <a:ext uri="{FF2B5EF4-FFF2-40B4-BE49-F238E27FC236}">
                <a16:creationId xmlns:a16="http://schemas.microsoft.com/office/drawing/2014/main" id="{19F348B9-922C-406D-985C-BF549587E2B8}"/>
              </a:ext>
            </a:extLst>
          </p:cNvPr>
          <p:cNvSpPr>
            <a:spLocks noGrp="1"/>
          </p:cNvSpPr>
          <p:nvPr/>
        </p:nvSpPr>
        <p:spPr>
          <a:xfrm>
            <a:off x="6043820" y="4625900"/>
            <a:ext cx="156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trazable a la fuente</a:t>
            </a:r>
          </a:p>
        </p:txBody>
      </p:sp>
      <p:sp>
        <p:nvSpPr>
          <p:cNvPr id="427" name="TB427">
            <a:extLst>
              <a:ext uri="{FF2B5EF4-FFF2-40B4-BE49-F238E27FC236}">
                <a16:creationId xmlns:a16="http://schemas.microsoft.com/office/drawing/2014/main" id="{C7726FEF-024F-4B8F-96C0-27A0BFA57E19}"/>
              </a:ext>
            </a:extLst>
          </p:cNvPr>
          <p:cNvSpPr>
            <a:spLocks noGrp="1"/>
          </p:cNvSpPr>
          <p:nvPr/>
        </p:nvSpPr>
        <p:spPr>
          <a:xfrm>
            <a:off x="6123820" y="50559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Cada etapa deja registro: la cadena debe poder repetirse.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D181501-FEAE-4867-BD3B-E2D955598E98}"/>
              </a:ext>
            </a:extLst>
          </p:cNvPr>
          <p:cNvSpPr>
            <a:spLocks noGrp="1"/>
          </p:cNvSpPr>
          <p:nvPr/>
        </p:nvSpPr>
        <p:spPr>
          <a:xfrm>
            <a:off x="596900" y="5816600"/>
            <a:ext cx="10922000" cy="44954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GEDI Data Resources; LP DAAC Quick Guide; Earthdata Cloud Cookbook.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E7A2004-F7A7-45B4-9980-588F90897885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48/79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8B3720B-7C3A-45B9-ADF0-05A6A2A7ABDF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99114B-57F7-43DD-82CB-9CA8FF47E4CC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28" name="Rectángulo 427">
            <a:extLst>
              <a:ext uri="{FF2B5EF4-FFF2-40B4-BE49-F238E27FC236}">
                <a16:creationId xmlns:a16="http://schemas.microsoft.com/office/drawing/2014/main" id="{D9422133-D426-4249-9625-193FFAB970ED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48/79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3962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128729-B48D-4B1E-B5E7-6E9F5CAFD428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Definir área de interés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22FB1C-9800-4792-9659-E2059E274B70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Definición del área de interés como condicionante del flujo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5DB54A-1AF3-4150-ACB9-031A929876FB}"/>
              </a:ext>
            </a:extLst>
          </p:cNvPr>
          <p:cNvSpPr>
            <a:spLocks noGrp="1"/>
          </p:cNvSpPr>
          <p:nvPr/>
        </p:nvSpPr>
        <p:spPr>
          <a:xfrm>
            <a:off x="596900" y="1168400"/>
            <a:ext cx="5016500" cy="44704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Origen del polígono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Usar una capa oficial o validada de bosque andino chubutense.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Metadatos mínimos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Mantener CRS, fecha, escala y procedencia de la capa.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Separación de áreas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Distinguir el AOI de análisis, el de entrenamiento y el de validación.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Versionado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Guardar cada versión del polígono para repetir la búsqueda con exactitud.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F34AC813-16CF-4DC5-B065-972F99A9D565}"/>
              </a:ext>
            </a:extLst>
          </p:cNvPr>
          <p:cNvSpPr>
            <a:spLocks noGrp="1"/>
          </p:cNvSpPr>
          <p:nvPr/>
        </p:nvSpPr>
        <p:spPr>
          <a:xfrm>
            <a:off x="6123820" y="14759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La ficha del área de interés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A8444E8D-79F9-4F60-8FC0-7F6E4FF027AF}"/>
              </a:ext>
            </a:extLst>
          </p:cNvPr>
          <p:cNvSpPr>
            <a:spLocks noGrp="1"/>
          </p:cNvSpPr>
          <p:nvPr/>
        </p:nvSpPr>
        <p:spPr>
          <a:xfrm>
            <a:off x="6123820" y="1795900"/>
            <a:ext cx="486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Cinco atributos que condicionan todo el flujo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AF35A714-63B5-4C1E-A229-DD8817D84B78}"/>
              </a:ext>
            </a:extLst>
          </p:cNvPr>
          <p:cNvSpPr>
            <a:spLocks noGrp="1"/>
          </p:cNvSpPr>
          <p:nvPr/>
        </p:nvSpPr>
        <p:spPr>
          <a:xfrm>
            <a:off x="6223820" y="2275900"/>
            <a:ext cx="2350000" cy="23500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25400">
            <a:solidFill>
              <a:srgbClr val="2D6A4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A39F8672-EBC9-4E52-9011-5DDA733432D7}"/>
              </a:ext>
            </a:extLst>
          </p:cNvPr>
          <p:cNvSpPr>
            <a:spLocks noGrp="1"/>
          </p:cNvSpPr>
          <p:nvPr/>
        </p:nvSpPr>
        <p:spPr>
          <a:xfrm>
            <a:off x="6443820" y="2495900"/>
            <a:ext cx="1910000" cy="19100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4F9A74"/>
            </a:solidFill>
            <a:prstDash val="dash"/>
          </a:ln>
        </p:spPr>
        <p:txBody>
          <a:bodyPr/>
          <a:lstStyle/>
          <a:p>
            <a:endParaRPr sz="1500"/>
          </a:p>
        </p:txBody>
      </p:sp>
      <p:sp>
        <p:nvSpPr>
          <p:cNvPr id="404" name="TB404">
            <a:extLst>
              <a:ext uri="{FF2B5EF4-FFF2-40B4-BE49-F238E27FC236}">
                <a16:creationId xmlns:a16="http://schemas.microsoft.com/office/drawing/2014/main" id="{5F14677E-EC93-4ACA-8F6E-90566BAB07CA}"/>
              </a:ext>
            </a:extLst>
          </p:cNvPr>
          <p:cNvSpPr>
            <a:spLocks noGrp="1"/>
          </p:cNvSpPr>
          <p:nvPr/>
        </p:nvSpPr>
        <p:spPr>
          <a:xfrm>
            <a:off x="6223820" y="3190900"/>
            <a:ext cx="235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500" b="1" i="0">
                <a:solidFill>
                  <a:srgbClr val="2D6A4F"/>
                </a:solidFill>
                <a:latin typeface="Arial"/>
                <a:ea typeface="Arial"/>
                <a:cs typeface="Arial"/>
              </a:rPr>
              <a:t>AOI</a:t>
            </a:r>
          </a:p>
        </p:txBody>
      </p:sp>
      <p:sp>
        <p:nvSpPr>
          <p:cNvPr id="405" name="TB405">
            <a:extLst>
              <a:ext uri="{FF2B5EF4-FFF2-40B4-BE49-F238E27FC236}">
                <a16:creationId xmlns:a16="http://schemas.microsoft.com/office/drawing/2014/main" id="{34C0529C-DFC2-4F6D-A040-5043F564CAE4}"/>
              </a:ext>
            </a:extLst>
          </p:cNvPr>
          <p:cNvSpPr>
            <a:spLocks noGrp="1"/>
          </p:cNvSpPr>
          <p:nvPr/>
        </p:nvSpPr>
        <p:spPr>
          <a:xfrm>
            <a:off x="6223820" y="3570900"/>
            <a:ext cx="235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bosque andino chubutense</a:t>
            </a:r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0A52D1B1-1ECF-4F05-A1ED-1D7CF4E070D1}"/>
              </a:ext>
            </a:extLst>
          </p:cNvPr>
          <p:cNvSpPr>
            <a:spLocks noGrp="1"/>
          </p:cNvSpPr>
          <p:nvPr/>
        </p:nvSpPr>
        <p:spPr>
          <a:xfrm>
            <a:off x="8693820" y="2435900"/>
            <a:ext cx="200000" cy="254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2C3C3A3D-65FC-41EC-A6E2-A7E757594093}"/>
              </a:ext>
            </a:extLst>
          </p:cNvPr>
          <p:cNvSpPr>
            <a:spLocks noGrp="1"/>
          </p:cNvSpPr>
          <p:nvPr/>
        </p:nvSpPr>
        <p:spPr>
          <a:xfrm>
            <a:off x="8913820" y="2295900"/>
            <a:ext cx="60000" cy="39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08" name="TB408">
            <a:extLst>
              <a:ext uri="{FF2B5EF4-FFF2-40B4-BE49-F238E27FC236}">
                <a16:creationId xmlns:a16="http://schemas.microsoft.com/office/drawing/2014/main" id="{BAFE1341-2AF2-4DE7-958B-AD2585FBA6E1}"/>
              </a:ext>
            </a:extLst>
          </p:cNvPr>
          <p:cNvSpPr>
            <a:spLocks noGrp="1"/>
          </p:cNvSpPr>
          <p:nvPr/>
        </p:nvSpPr>
        <p:spPr>
          <a:xfrm>
            <a:off x="9043820" y="2285900"/>
            <a:ext cx="238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formato</a:t>
            </a:r>
          </a:p>
        </p:txBody>
      </p:sp>
      <p:sp>
        <p:nvSpPr>
          <p:cNvPr id="409" name="TB409">
            <a:extLst>
              <a:ext uri="{FF2B5EF4-FFF2-40B4-BE49-F238E27FC236}">
                <a16:creationId xmlns:a16="http://schemas.microsoft.com/office/drawing/2014/main" id="{C20DA6ED-EC5B-4E1A-8DAE-83FF4201ACEA}"/>
              </a:ext>
            </a:extLst>
          </p:cNvPr>
          <p:cNvSpPr>
            <a:spLocks noGrp="1"/>
          </p:cNvSpPr>
          <p:nvPr/>
        </p:nvSpPr>
        <p:spPr>
          <a:xfrm>
            <a:off x="9043820" y="2525900"/>
            <a:ext cx="2380000" cy="2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GeoJSON o GeoPackage</a:t>
            </a:r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412381B4-88B2-4DA3-BC74-C100D4A65B4D}"/>
              </a:ext>
            </a:extLst>
          </p:cNvPr>
          <p:cNvSpPr>
            <a:spLocks noGrp="1"/>
          </p:cNvSpPr>
          <p:nvPr/>
        </p:nvSpPr>
        <p:spPr>
          <a:xfrm>
            <a:off x="8693820" y="2925900"/>
            <a:ext cx="200000" cy="254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1CF766B2-63D3-4118-89A8-5C732EF064F3}"/>
              </a:ext>
            </a:extLst>
          </p:cNvPr>
          <p:cNvSpPr>
            <a:spLocks noGrp="1"/>
          </p:cNvSpPr>
          <p:nvPr/>
        </p:nvSpPr>
        <p:spPr>
          <a:xfrm>
            <a:off x="8913820" y="2785900"/>
            <a:ext cx="60000" cy="39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12" name="TB412">
            <a:extLst>
              <a:ext uri="{FF2B5EF4-FFF2-40B4-BE49-F238E27FC236}">
                <a16:creationId xmlns:a16="http://schemas.microsoft.com/office/drawing/2014/main" id="{B461E919-2A4F-4CEE-9B03-C54EEE05CB9D}"/>
              </a:ext>
            </a:extLst>
          </p:cNvPr>
          <p:cNvSpPr>
            <a:spLocks noGrp="1"/>
          </p:cNvSpPr>
          <p:nvPr/>
        </p:nvSpPr>
        <p:spPr>
          <a:xfrm>
            <a:off x="9043820" y="2775900"/>
            <a:ext cx="238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CRS declarado</a:t>
            </a:r>
          </a:p>
        </p:txBody>
      </p:sp>
      <p:sp>
        <p:nvSpPr>
          <p:cNvPr id="413" name="TB413">
            <a:extLst>
              <a:ext uri="{FF2B5EF4-FFF2-40B4-BE49-F238E27FC236}">
                <a16:creationId xmlns:a16="http://schemas.microsoft.com/office/drawing/2014/main" id="{44BBEA54-FD17-4BF4-96BB-A5E140CAA311}"/>
              </a:ext>
            </a:extLst>
          </p:cNvPr>
          <p:cNvSpPr>
            <a:spLocks noGrp="1"/>
          </p:cNvSpPr>
          <p:nvPr/>
        </p:nvSpPr>
        <p:spPr>
          <a:xfrm>
            <a:off x="9043820" y="3015900"/>
            <a:ext cx="2380000" cy="2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coordenadas explícitas</a:t>
            </a:r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1156EF22-8048-44B9-9CC7-7835B2FF8C74}"/>
              </a:ext>
            </a:extLst>
          </p:cNvPr>
          <p:cNvSpPr>
            <a:spLocks noGrp="1"/>
          </p:cNvSpPr>
          <p:nvPr/>
        </p:nvSpPr>
        <p:spPr>
          <a:xfrm>
            <a:off x="8693820" y="3415900"/>
            <a:ext cx="200000" cy="254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664FA1D3-F1B7-4989-A894-327E75A23B1B}"/>
              </a:ext>
            </a:extLst>
          </p:cNvPr>
          <p:cNvSpPr>
            <a:spLocks noGrp="1"/>
          </p:cNvSpPr>
          <p:nvPr/>
        </p:nvSpPr>
        <p:spPr>
          <a:xfrm>
            <a:off x="8913820" y="3275900"/>
            <a:ext cx="60000" cy="39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16" name="TB416">
            <a:extLst>
              <a:ext uri="{FF2B5EF4-FFF2-40B4-BE49-F238E27FC236}">
                <a16:creationId xmlns:a16="http://schemas.microsoft.com/office/drawing/2014/main" id="{4E17521B-727A-4934-9A6E-00085B994CF3}"/>
              </a:ext>
            </a:extLst>
          </p:cNvPr>
          <p:cNvSpPr>
            <a:spLocks noGrp="1"/>
          </p:cNvSpPr>
          <p:nvPr/>
        </p:nvSpPr>
        <p:spPr>
          <a:xfrm>
            <a:off x="9043820" y="3265900"/>
            <a:ext cx="2380000" cy="7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1B4332"/>
                </a:solidFill>
                <a:latin typeface="Arial"/>
                <a:ea typeface="Arial"/>
                <a:cs typeface="Arial"/>
              </a:rPr>
              <a:t>fuente oficial</a:t>
            </a:r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FD4B8D4F-1B8C-4A24-A3F8-ECF9946A2B8E}"/>
              </a:ext>
            </a:extLst>
          </p:cNvPr>
          <p:cNvSpPr>
            <a:spLocks noGrp="1"/>
          </p:cNvSpPr>
          <p:nvPr/>
        </p:nvSpPr>
        <p:spPr>
          <a:xfrm>
            <a:off x="9043820" y="3505900"/>
            <a:ext cx="2380000" cy="2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CIEFAP / SNMBN / OTBN</a:t>
            </a:r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DDA5F8FF-255B-4C18-9445-DA7A091570CB}"/>
              </a:ext>
            </a:extLst>
          </p:cNvPr>
          <p:cNvSpPr>
            <a:spLocks noGrp="1"/>
          </p:cNvSpPr>
          <p:nvPr/>
        </p:nvSpPr>
        <p:spPr>
          <a:xfrm>
            <a:off x="8693820" y="3905900"/>
            <a:ext cx="200000" cy="254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A6855478-A4D9-40E4-8C10-669A1DCB3481}"/>
              </a:ext>
            </a:extLst>
          </p:cNvPr>
          <p:cNvSpPr>
            <a:spLocks noGrp="1"/>
          </p:cNvSpPr>
          <p:nvPr/>
        </p:nvSpPr>
        <p:spPr>
          <a:xfrm>
            <a:off x="8913820" y="3765900"/>
            <a:ext cx="60000" cy="39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20" name="TB420">
            <a:extLst>
              <a:ext uri="{FF2B5EF4-FFF2-40B4-BE49-F238E27FC236}">
                <a16:creationId xmlns:a16="http://schemas.microsoft.com/office/drawing/2014/main" id="{64ACFDEF-99C2-463E-A9E8-B25AEC2EA077}"/>
              </a:ext>
            </a:extLst>
          </p:cNvPr>
          <p:cNvSpPr>
            <a:spLocks noGrp="1"/>
          </p:cNvSpPr>
          <p:nvPr/>
        </p:nvSpPr>
        <p:spPr>
          <a:xfrm>
            <a:off x="9043820" y="3755900"/>
            <a:ext cx="238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421" name="TB421">
            <a:extLst>
              <a:ext uri="{FF2B5EF4-FFF2-40B4-BE49-F238E27FC236}">
                <a16:creationId xmlns:a16="http://schemas.microsoft.com/office/drawing/2014/main" id="{87F01073-D984-4973-837A-D1D81DBE77B1}"/>
              </a:ext>
            </a:extLst>
          </p:cNvPr>
          <p:cNvSpPr>
            <a:spLocks noGrp="1"/>
          </p:cNvSpPr>
          <p:nvPr/>
        </p:nvSpPr>
        <p:spPr>
          <a:xfrm>
            <a:off x="9043820" y="3995900"/>
            <a:ext cx="2380000" cy="2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versión y actualización</a:t>
            </a:r>
          </a:p>
        </p:txBody>
      </p:sp>
      <p:sp>
        <p:nvSpPr>
          <p:cNvPr id="422" name="SH422">
            <a:extLst>
              <a:ext uri="{FF2B5EF4-FFF2-40B4-BE49-F238E27FC236}">
                <a16:creationId xmlns:a16="http://schemas.microsoft.com/office/drawing/2014/main" id="{CACA37AB-7448-47CE-BDEC-C8739DCFE388}"/>
              </a:ext>
            </a:extLst>
          </p:cNvPr>
          <p:cNvSpPr>
            <a:spLocks noGrp="1"/>
          </p:cNvSpPr>
          <p:nvPr/>
        </p:nvSpPr>
        <p:spPr>
          <a:xfrm>
            <a:off x="8693820" y="4395900"/>
            <a:ext cx="200000" cy="254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23" name="SH423">
            <a:extLst>
              <a:ext uri="{FF2B5EF4-FFF2-40B4-BE49-F238E27FC236}">
                <a16:creationId xmlns:a16="http://schemas.microsoft.com/office/drawing/2014/main" id="{00BC0A41-9547-48E4-B8A0-597B4D9E0BB4}"/>
              </a:ext>
            </a:extLst>
          </p:cNvPr>
          <p:cNvSpPr>
            <a:spLocks noGrp="1"/>
          </p:cNvSpPr>
          <p:nvPr/>
        </p:nvSpPr>
        <p:spPr>
          <a:xfrm>
            <a:off x="8913820" y="4255900"/>
            <a:ext cx="60000" cy="39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24" name="TB424">
            <a:extLst>
              <a:ext uri="{FF2B5EF4-FFF2-40B4-BE49-F238E27FC236}">
                <a16:creationId xmlns:a16="http://schemas.microsoft.com/office/drawing/2014/main" id="{6F87ACAD-0A19-4F5D-9B0E-1E1519FB9893}"/>
              </a:ext>
            </a:extLst>
          </p:cNvPr>
          <p:cNvSpPr>
            <a:spLocks noGrp="1"/>
          </p:cNvSpPr>
          <p:nvPr/>
        </p:nvSpPr>
        <p:spPr>
          <a:xfrm>
            <a:off x="9043820" y="4245900"/>
            <a:ext cx="238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buffer</a:t>
            </a:r>
          </a:p>
        </p:txBody>
      </p:sp>
      <p:sp>
        <p:nvSpPr>
          <p:cNvPr id="425" name="TB425">
            <a:extLst>
              <a:ext uri="{FF2B5EF4-FFF2-40B4-BE49-F238E27FC236}">
                <a16:creationId xmlns:a16="http://schemas.microsoft.com/office/drawing/2014/main" id="{B6AF267C-CACE-4E05-92A2-DEFCCBB93A83}"/>
              </a:ext>
            </a:extLst>
          </p:cNvPr>
          <p:cNvSpPr>
            <a:spLocks noGrp="1"/>
          </p:cNvSpPr>
          <p:nvPr/>
        </p:nvSpPr>
        <p:spPr>
          <a:xfrm>
            <a:off x="9043820" y="4485900"/>
            <a:ext cx="2380000" cy="2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si el borde lo exige</a:t>
            </a:r>
          </a:p>
        </p:txBody>
      </p:sp>
      <p:sp>
        <p:nvSpPr>
          <p:cNvPr id="426" name="TB426">
            <a:extLst>
              <a:ext uri="{FF2B5EF4-FFF2-40B4-BE49-F238E27FC236}">
                <a16:creationId xmlns:a16="http://schemas.microsoft.com/office/drawing/2014/main" id="{74E7B9C3-D2E4-41A7-A9EF-E8097C36E574}"/>
              </a:ext>
            </a:extLst>
          </p:cNvPr>
          <p:cNvSpPr>
            <a:spLocks noGrp="1"/>
          </p:cNvSpPr>
          <p:nvPr/>
        </p:nvSpPr>
        <p:spPr>
          <a:xfrm>
            <a:off x="6123820" y="4915900"/>
            <a:ext cx="486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Un AOI mal definido invalida la comparación entre versiones.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6344C8D-2F70-42B1-8CFE-A334E5AE88CA}"/>
              </a:ext>
            </a:extLst>
          </p:cNvPr>
          <p:cNvSpPr>
            <a:spLocks noGrp="1"/>
          </p:cNvSpPr>
          <p:nvPr/>
        </p:nvSpPr>
        <p:spPr>
          <a:xfrm>
            <a:off x="600075" y="5684580"/>
            <a:ext cx="10915650" cy="44954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MX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MX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CIEFAP/SNMBN Bosque Andino Patagónico; Argentina Ambiente Mapas de Bosque Nativo; Chubut OTBN. Elaboración propia.</a:t>
            </a:r>
            <a:endParaRPr lang="es-MX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17F0CF3-F75C-4143-A33A-D2A4A18F6570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49/79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68B60B3-C74F-4970-9F58-7CC21857FBA3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70C9CFB-6E00-4E03-A7B9-162F8BDFBE97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27" name="Rectángulo 426">
            <a:extLst>
              <a:ext uri="{FF2B5EF4-FFF2-40B4-BE49-F238E27FC236}">
                <a16:creationId xmlns:a16="http://schemas.microsoft.com/office/drawing/2014/main" id="{1398BF68-7278-47E6-9375-CAFB3E46E946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49/79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38423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890C1B-DE0C-422A-B3A9-7AF4C7D95709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Elegir período temporal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C97904-F60B-448B-81DC-E83DBF851ABC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Criterios para la definición del período de análisis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ADCF31-8069-4E08-80DD-AD67FF4A4475}"/>
              </a:ext>
            </a:extLst>
          </p:cNvPr>
          <p:cNvSpPr>
            <a:spLocks noGrp="1"/>
          </p:cNvSpPr>
          <p:nvPr/>
        </p:nvSpPr>
        <p:spPr>
          <a:xfrm>
            <a:off x="596900" y="1168400"/>
            <a:ext cx="4826000" cy="44704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Mapa actual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Combinar GEDI reciente con covariables del mismo período.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Línea base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Seleccionar años previos a incendios o cambios conocidos.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Coherencia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Evitar mezclar adquisiciones anteriores y posteriores a un disturbio sin etiquetar.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Zonas con pocas huellas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En valles se puede ampliar el rango de años, controlando los cambios.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D3E9A3A-AA8C-42C4-B48A-D5D25D9C6E6F}"/>
              </a:ext>
            </a:extLst>
          </p:cNvPr>
          <p:cNvSpPr>
            <a:spLocks noGrp="1"/>
          </p:cNvSpPr>
          <p:nvPr/>
        </p:nvSpPr>
        <p:spPr>
          <a:xfrm>
            <a:off x="6251448" y="3312160"/>
            <a:ext cx="498348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  <p:txBody>
          <a:bodyPr/>
          <a:lstStyle/>
          <a:p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911E599-203A-456F-A0E5-A413C81E8E6E}"/>
              </a:ext>
            </a:extLst>
          </p:cNvPr>
          <p:cNvSpPr>
            <a:spLocks noGrp="1"/>
          </p:cNvSpPr>
          <p:nvPr/>
        </p:nvSpPr>
        <p:spPr>
          <a:xfrm>
            <a:off x="6178296" y="3239008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CB0775-95F6-4DA0-B14C-C68F0EA04AE0}"/>
              </a:ext>
            </a:extLst>
          </p:cNvPr>
          <p:cNvSpPr>
            <a:spLocks noGrp="1"/>
          </p:cNvSpPr>
          <p:nvPr/>
        </p:nvSpPr>
        <p:spPr>
          <a:xfrm>
            <a:off x="5486400" y="28194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2019-2022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9B5D060-E005-430B-90FA-99F07F4EC8FC}"/>
              </a:ext>
            </a:extLst>
          </p:cNvPr>
          <p:cNvSpPr>
            <a:spLocks noGrp="1"/>
          </p:cNvSpPr>
          <p:nvPr/>
        </p:nvSpPr>
        <p:spPr>
          <a:xfrm>
            <a:off x="5461000" y="3530600"/>
            <a:ext cx="1574800" cy="584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base pre-pausa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A133590-4115-4C52-8591-7ECE42D7D9F0}"/>
              </a:ext>
            </a:extLst>
          </p:cNvPr>
          <p:cNvSpPr>
            <a:spLocks noGrp="1"/>
          </p:cNvSpPr>
          <p:nvPr/>
        </p:nvSpPr>
        <p:spPr>
          <a:xfrm>
            <a:off x="7839456" y="3239008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FE7043A-8E93-4E56-AD3A-96CD59541954}"/>
              </a:ext>
            </a:extLst>
          </p:cNvPr>
          <p:cNvSpPr>
            <a:spLocks noGrp="1"/>
          </p:cNvSpPr>
          <p:nvPr/>
        </p:nvSpPr>
        <p:spPr>
          <a:xfrm>
            <a:off x="7150100" y="28194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49E2EAC-8551-4CAF-B3F9-103A1BE2E3A8}"/>
              </a:ext>
            </a:extLst>
          </p:cNvPr>
          <p:cNvSpPr>
            <a:spLocks noGrp="1"/>
          </p:cNvSpPr>
          <p:nvPr/>
        </p:nvSpPr>
        <p:spPr>
          <a:xfrm>
            <a:off x="7124700" y="3530600"/>
            <a:ext cx="1574800" cy="584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sin nuevos datos desde marzo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659F9DA-F8EA-4F3D-8E1A-D8ECE0A7C207}"/>
              </a:ext>
            </a:extLst>
          </p:cNvPr>
          <p:cNvSpPr>
            <a:spLocks noGrp="1"/>
          </p:cNvSpPr>
          <p:nvPr/>
        </p:nvSpPr>
        <p:spPr>
          <a:xfrm>
            <a:off x="9500616" y="3239008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sz="15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02D0B06-F8A9-42C2-95A5-BF5D7E369663}"/>
              </a:ext>
            </a:extLst>
          </p:cNvPr>
          <p:cNvSpPr>
            <a:spLocks noGrp="1"/>
          </p:cNvSpPr>
          <p:nvPr/>
        </p:nvSpPr>
        <p:spPr>
          <a:xfrm>
            <a:off x="8813800" y="28194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2024-2025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3FCB731-32D9-4310-B7A0-EFECFB44F483}"/>
              </a:ext>
            </a:extLst>
          </p:cNvPr>
          <p:cNvSpPr>
            <a:spLocks noGrp="1"/>
          </p:cNvSpPr>
          <p:nvPr/>
        </p:nvSpPr>
        <p:spPr>
          <a:xfrm>
            <a:off x="8788400" y="3530600"/>
            <a:ext cx="15748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reanudación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B9257D5-BD72-4A4B-8C15-89D9D75E9187}"/>
              </a:ext>
            </a:extLst>
          </p:cNvPr>
          <p:cNvSpPr>
            <a:spLocks noGrp="1"/>
          </p:cNvSpPr>
          <p:nvPr/>
        </p:nvSpPr>
        <p:spPr>
          <a:xfrm>
            <a:off x="11161776" y="3239008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sz="15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6F3EA12-A9A4-4823-AD99-81F0058E7840}"/>
              </a:ext>
            </a:extLst>
          </p:cNvPr>
          <p:cNvSpPr>
            <a:spLocks noGrp="1"/>
          </p:cNvSpPr>
          <p:nvPr/>
        </p:nvSpPr>
        <p:spPr>
          <a:xfrm>
            <a:off x="10477500" y="28194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actual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3EBC1B7-0236-4C3C-8B71-9EBC0A1744EA}"/>
              </a:ext>
            </a:extLst>
          </p:cNvPr>
          <p:cNvSpPr>
            <a:spLocks noGrp="1"/>
          </p:cNvSpPr>
          <p:nvPr/>
        </p:nvSpPr>
        <p:spPr>
          <a:xfrm>
            <a:off x="10452100" y="3530600"/>
            <a:ext cx="1574800" cy="584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validación y máscaras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E898202-079B-4DCA-88DB-0D8983A47863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Earthdata GEDI v3 release; ORNL DAAC GEDI L4A v3, DOI 10.3334/ORNLDAAC/2508. CIEFAP/SNMBN Bosque Andino Patagónico; Argentina Ambiente Mapas de Bosque Nativo; Chubut OTBN.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47AA667-35AA-41D4-A8AA-A6DB0CF65FB8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50/79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B651084-1BA9-44E0-88DF-B0E0DCD6DEA0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9677F3C-1569-47F9-9A1A-401E36291FEB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76192CE-75FE-4872-8DF7-D04EA9024D36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50/79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0" name="LineaHead"/>
          <p:cNvSpPr txBox="1"/>
          <p:nvPr/>
        </p:nvSpPr>
        <p:spPr>
          <a:xfrm>
            <a:off x="5842000" y="1524000"/>
            <a:ext cx="56769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Ventanas temporales disponibles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1400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La pausa de 2023 divide la serie en dos tramos</a:t>
            </a:r>
          </a:p>
        </p:txBody>
      </p:sp>
    </p:spTree>
    <p:extLst>
      <p:ext uri="{BB962C8B-B14F-4D97-AF65-F5344CB8AC3E}">
        <p14:creationId xmlns:p14="http://schemas.microsoft.com/office/powerpoint/2010/main" val="30945479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47219A-01E1-4E7C-B26F-70C63326E8DA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Crear cuenta Earthdata Login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4316EC-313C-438D-BF92-83CAD23795A1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Registro y credenciales de acceso a NASA Earthdata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F04EE1-DED4-4270-82B0-D06162BE0EB3}"/>
              </a:ext>
            </a:extLst>
          </p:cNvPr>
          <p:cNvSpPr>
            <a:spLocks noGrp="1"/>
          </p:cNvSpPr>
          <p:nvPr/>
        </p:nvSpPr>
        <p:spPr>
          <a:xfrm>
            <a:off x="600075" y="5644180"/>
            <a:ext cx="10915650" cy="48994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GEDI Data Resources; LP DAAC Quick Guide; Earthdata Cloud Cookbook. NASA Earthdata Login.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0FA2F97-8190-4ED5-BFBA-19D728976A31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51/79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0EFCE5-0637-4021-A561-80B20D454A15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EEB642E-97B7-4388-994B-1A30FF14DA7B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0C4EDB-4CFC-48CB-84D5-7F688E031ED1}"/>
              </a:ext>
            </a:extLst>
          </p:cNvPr>
          <p:cNvSpPr>
            <a:spLocks noGrp="1"/>
          </p:cNvSpPr>
          <p:nvPr/>
        </p:nvSpPr>
        <p:spPr>
          <a:xfrm>
            <a:off x="596900" y="1193800"/>
            <a:ext cx="5016500" cy="4368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Registro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Crear el usuario en Earthdata Login y aceptar los términos de acceso.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Credenciales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Configurarlas de forma segura para Python o R; nunca pegarlas en scripts públicos.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Autorizaciones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Habilitar los servicios de LP DAAC y ORNL DAAC cuando el flujo lo solicite.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Trazabilidad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Guardar la fecha de acceso para citar los conjuntos de datos con su DOI.</a:t>
            </a:r>
          </a:p>
        </p:txBody>
      </p:sp>
      <p:sp>
        <p:nvSpPr>
          <p:cNvPr id="413" name="TB413">
            <a:extLst>
              <a:ext uri="{FF2B5EF4-FFF2-40B4-BE49-F238E27FC236}">
                <a16:creationId xmlns:a16="http://schemas.microsoft.com/office/drawing/2014/main" id="{6C0054FE-D5A9-42F6-9775-B491602843B9}"/>
              </a:ext>
            </a:extLst>
          </p:cNvPr>
          <p:cNvSpPr>
            <a:spLocks noGrp="1"/>
          </p:cNvSpPr>
          <p:nvPr/>
        </p:nvSpPr>
        <p:spPr>
          <a:xfrm>
            <a:off x="6020980" y="4219456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registro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E57C54DA-CF88-4F28-96D8-970569B52F4F}"/>
              </a:ext>
            </a:extLst>
          </p:cNvPr>
          <p:cNvSpPr>
            <a:spLocks noGrp="1"/>
          </p:cNvSpPr>
          <p:nvPr/>
        </p:nvSpPr>
        <p:spPr>
          <a:xfrm>
            <a:off x="6240980" y="1373200"/>
            <a:ext cx="5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latin typeface="Arial"/>
                <a:ea typeface="Arial"/>
                <a:cs typeface="Arial"/>
              </a:rPr>
              <a:t>Credenciales de acceso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18E3F1FE-E662-4DDE-A410-F3A121EF3DC5}"/>
              </a:ext>
            </a:extLst>
          </p:cNvPr>
          <p:cNvSpPr>
            <a:spLocks noGrp="1"/>
          </p:cNvSpPr>
          <p:nvPr/>
        </p:nvSpPr>
        <p:spPr>
          <a:xfrm>
            <a:off x="6240980" y="1743200"/>
            <a:ext cx="5400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Qué queda configurado después del registro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CC16218E-5190-419C-9AC4-7264A1876081}"/>
              </a:ext>
            </a:extLst>
          </p:cNvPr>
          <p:cNvSpPr>
            <a:spLocks noGrp="1"/>
          </p:cNvSpPr>
          <p:nvPr/>
        </p:nvSpPr>
        <p:spPr>
          <a:xfrm>
            <a:off x="6340980" y="2173200"/>
            <a:ext cx="5100000" cy="150000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25400">
            <a:solidFill>
              <a:srgbClr val="2D6A4F"/>
            </a:solidFill>
          </a:ln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BFA0C038-2EB5-48E5-9CE3-1B8161815FCB}"/>
              </a:ext>
            </a:extLst>
          </p:cNvPr>
          <p:cNvSpPr>
            <a:spLocks noGrp="1"/>
          </p:cNvSpPr>
          <p:nvPr/>
        </p:nvSpPr>
        <p:spPr>
          <a:xfrm>
            <a:off x="6340980" y="2173200"/>
            <a:ext cx="5100000" cy="33000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4" name="TB404">
            <a:extLst>
              <a:ext uri="{FF2B5EF4-FFF2-40B4-BE49-F238E27FC236}">
                <a16:creationId xmlns:a16="http://schemas.microsoft.com/office/drawing/2014/main" id="{258549B1-2BF5-4524-98AB-A2A8252C5945}"/>
              </a:ext>
            </a:extLst>
          </p:cNvPr>
          <p:cNvSpPr>
            <a:spLocks noGrp="1"/>
          </p:cNvSpPr>
          <p:nvPr/>
        </p:nvSpPr>
        <p:spPr>
          <a:xfrm>
            <a:off x="6520980" y="2173200"/>
            <a:ext cx="474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NASA Earthdata Login</a:t>
            </a:r>
          </a:p>
        </p:txBody>
      </p:sp>
      <p:sp>
        <p:nvSpPr>
          <p:cNvPr id="405" name="TB405">
            <a:extLst>
              <a:ext uri="{FF2B5EF4-FFF2-40B4-BE49-F238E27FC236}">
                <a16:creationId xmlns:a16="http://schemas.microsoft.com/office/drawing/2014/main" id="{FC0E2D3A-FC9C-4136-A210-209FA61E2230}"/>
              </a:ext>
            </a:extLst>
          </p:cNvPr>
          <p:cNvSpPr>
            <a:spLocks noGrp="1"/>
          </p:cNvSpPr>
          <p:nvPr/>
        </p:nvSpPr>
        <p:spPr>
          <a:xfrm>
            <a:off x="6520980" y="26032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usuario</a:t>
            </a:r>
          </a:p>
        </p:txBody>
      </p:sp>
      <p:sp>
        <p:nvSpPr>
          <p:cNvPr id="406" name="TB406">
            <a:extLst>
              <a:ext uri="{FF2B5EF4-FFF2-40B4-BE49-F238E27FC236}">
                <a16:creationId xmlns:a16="http://schemas.microsoft.com/office/drawing/2014/main" id="{44E8DC07-B555-4B4D-B8E0-02F95A4B2A8F}"/>
              </a:ext>
            </a:extLst>
          </p:cNvPr>
          <p:cNvSpPr>
            <a:spLocks noGrp="1"/>
          </p:cNvSpPr>
          <p:nvPr/>
        </p:nvSpPr>
        <p:spPr>
          <a:xfrm>
            <a:off x="8090980" y="2603200"/>
            <a:ext cx="31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registrado y con términos aceptados</a:t>
            </a:r>
          </a:p>
        </p:txBody>
      </p:sp>
      <p:sp>
        <p:nvSpPr>
          <p:cNvPr id="407" name="TB407">
            <a:extLst>
              <a:ext uri="{FF2B5EF4-FFF2-40B4-BE49-F238E27FC236}">
                <a16:creationId xmlns:a16="http://schemas.microsoft.com/office/drawing/2014/main" id="{6382B73E-AB3C-476D-8A22-F0613C378032}"/>
              </a:ext>
            </a:extLst>
          </p:cNvPr>
          <p:cNvSpPr>
            <a:spLocks noGrp="1"/>
          </p:cNvSpPr>
          <p:nvPr/>
        </p:nvSpPr>
        <p:spPr>
          <a:xfrm>
            <a:off x="6520980" y="29432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autorizaciones</a:t>
            </a:r>
          </a:p>
        </p:txBody>
      </p:sp>
      <p:sp>
        <p:nvSpPr>
          <p:cNvPr id="408" name="TB408">
            <a:extLst>
              <a:ext uri="{FF2B5EF4-FFF2-40B4-BE49-F238E27FC236}">
                <a16:creationId xmlns:a16="http://schemas.microsoft.com/office/drawing/2014/main" id="{88876614-43A7-4843-930C-55C38186B01E}"/>
              </a:ext>
            </a:extLst>
          </p:cNvPr>
          <p:cNvSpPr>
            <a:spLocks noGrp="1"/>
          </p:cNvSpPr>
          <p:nvPr/>
        </p:nvSpPr>
        <p:spPr>
          <a:xfrm>
            <a:off x="8090980" y="2943200"/>
            <a:ext cx="31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LP DAAC y ORNL DAAC habilitados</a:t>
            </a:r>
          </a:p>
        </p:txBody>
      </p:sp>
      <p:sp>
        <p:nvSpPr>
          <p:cNvPr id="409" name="TB409">
            <a:extLst>
              <a:ext uri="{FF2B5EF4-FFF2-40B4-BE49-F238E27FC236}">
                <a16:creationId xmlns:a16="http://schemas.microsoft.com/office/drawing/2014/main" id="{9306E19B-7C03-4A62-9AE9-5A93600C875A}"/>
              </a:ext>
            </a:extLst>
          </p:cNvPr>
          <p:cNvSpPr>
            <a:spLocks noGrp="1"/>
          </p:cNvSpPr>
          <p:nvPr/>
        </p:nvSpPr>
        <p:spPr>
          <a:xfrm>
            <a:off x="6520980" y="32832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credenciales</a:t>
            </a:r>
          </a:p>
        </p:txBody>
      </p:sp>
      <p:sp>
        <p:nvSpPr>
          <p:cNvPr id="410" name="TB410">
            <a:extLst>
              <a:ext uri="{FF2B5EF4-FFF2-40B4-BE49-F238E27FC236}">
                <a16:creationId xmlns:a16="http://schemas.microsoft.com/office/drawing/2014/main" id="{4F89F377-46C0-43DB-A3D3-D828A97A1FC2}"/>
              </a:ext>
            </a:extLst>
          </p:cNvPr>
          <p:cNvSpPr>
            <a:spLocks noGrp="1"/>
          </p:cNvSpPr>
          <p:nvPr/>
        </p:nvSpPr>
        <p:spPr>
          <a:xfrm>
            <a:off x="8090980" y="3283200"/>
            <a:ext cx="315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.netrc o token para Python / R</a:t>
            </a:r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D58C8A86-4F28-46D8-B9D6-DBB3D0235A54}"/>
              </a:ext>
            </a:extLst>
          </p:cNvPr>
          <p:cNvSpPr>
            <a:spLocks noGrp="1"/>
          </p:cNvSpPr>
          <p:nvPr/>
        </p:nvSpPr>
        <p:spPr>
          <a:xfrm>
            <a:off x="6500980" y="3703200"/>
            <a:ext cx="440000" cy="44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D68AE5B4-A94C-4414-85E4-4B6920A167F6}"/>
              </a:ext>
            </a:extLst>
          </p:cNvPr>
          <p:cNvSpPr>
            <a:spLocks noGrp="1"/>
          </p:cNvSpPr>
          <p:nvPr/>
        </p:nvSpPr>
        <p:spPr>
          <a:xfrm>
            <a:off x="6990980" y="3910500"/>
            <a:ext cx="880000" cy="25400"/>
          </a:xfrm>
          <a:prstGeom prst="rect">
            <a:avLst/>
          </a:prstGeom>
          <a:solidFill>
            <a:srgbClr val="C8D2CC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04B69CDC-B4E3-4511-9FC3-CF0FE20F84DD}"/>
              </a:ext>
            </a:extLst>
          </p:cNvPr>
          <p:cNvSpPr>
            <a:spLocks noGrp="1"/>
          </p:cNvSpPr>
          <p:nvPr/>
        </p:nvSpPr>
        <p:spPr>
          <a:xfrm>
            <a:off x="7920980" y="3703200"/>
            <a:ext cx="440000" cy="44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5FBF55D1-CA45-4D6B-8FA3-B5D50D0649F5}"/>
              </a:ext>
            </a:extLst>
          </p:cNvPr>
          <p:cNvSpPr>
            <a:spLocks noGrp="1"/>
          </p:cNvSpPr>
          <p:nvPr/>
        </p:nvSpPr>
        <p:spPr>
          <a:xfrm>
            <a:off x="8410980" y="3910500"/>
            <a:ext cx="880000" cy="25400"/>
          </a:xfrm>
          <a:prstGeom prst="rect">
            <a:avLst/>
          </a:prstGeom>
          <a:solidFill>
            <a:srgbClr val="C8D2CC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6" name="TB416">
            <a:extLst>
              <a:ext uri="{FF2B5EF4-FFF2-40B4-BE49-F238E27FC236}">
                <a16:creationId xmlns:a16="http://schemas.microsoft.com/office/drawing/2014/main" id="{1B699488-8B20-40CE-B968-4609EFCAA5FD}"/>
              </a:ext>
            </a:extLst>
          </p:cNvPr>
          <p:cNvSpPr>
            <a:spLocks noGrp="1"/>
          </p:cNvSpPr>
          <p:nvPr/>
        </p:nvSpPr>
        <p:spPr>
          <a:xfrm>
            <a:off x="7440980" y="4223200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autorización</a:t>
            </a:r>
          </a:p>
        </p:txBody>
      </p:sp>
      <p:sp>
        <p:nvSpPr>
          <p:cNvPr id="417" name="SH417">
            <a:extLst>
              <a:ext uri="{FF2B5EF4-FFF2-40B4-BE49-F238E27FC236}">
                <a16:creationId xmlns:a16="http://schemas.microsoft.com/office/drawing/2014/main" id="{9B3B031C-48CC-4468-AF4A-CD1F49AD168D}"/>
              </a:ext>
            </a:extLst>
          </p:cNvPr>
          <p:cNvSpPr>
            <a:spLocks noGrp="1"/>
          </p:cNvSpPr>
          <p:nvPr/>
        </p:nvSpPr>
        <p:spPr>
          <a:xfrm>
            <a:off x="9340980" y="3703200"/>
            <a:ext cx="440000" cy="44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EC9AD7F4-6C36-4281-95B4-F190873E13D3}"/>
              </a:ext>
            </a:extLst>
          </p:cNvPr>
          <p:cNvSpPr>
            <a:spLocks noGrp="1"/>
          </p:cNvSpPr>
          <p:nvPr/>
        </p:nvSpPr>
        <p:spPr>
          <a:xfrm>
            <a:off x="9830980" y="3910500"/>
            <a:ext cx="880000" cy="25400"/>
          </a:xfrm>
          <a:prstGeom prst="rect">
            <a:avLst/>
          </a:prstGeom>
          <a:solidFill>
            <a:srgbClr val="C8D2CC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9" name="TB419">
            <a:extLst>
              <a:ext uri="{FF2B5EF4-FFF2-40B4-BE49-F238E27FC236}">
                <a16:creationId xmlns:a16="http://schemas.microsoft.com/office/drawing/2014/main" id="{06EFAFE5-1511-4F2E-84E9-5ECF1BD9663E}"/>
              </a:ext>
            </a:extLst>
          </p:cNvPr>
          <p:cNvSpPr>
            <a:spLocks noGrp="1"/>
          </p:cNvSpPr>
          <p:nvPr/>
        </p:nvSpPr>
        <p:spPr>
          <a:xfrm>
            <a:off x="8860980" y="4223200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token</a:t>
            </a:r>
          </a:p>
        </p:txBody>
      </p:sp>
      <p:sp>
        <p:nvSpPr>
          <p:cNvPr id="420" name="SH420">
            <a:extLst>
              <a:ext uri="{FF2B5EF4-FFF2-40B4-BE49-F238E27FC236}">
                <a16:creationId xmlns:a16="http://schemas.microsoft.com/office/drawing/2014/main" id="{FA48DEF3-F493-49CD-962C-8AE5F616FD42}"/>
              </a:ext>
            </a:extLst>
          </p:cNvPr>
          <p:cNvSpPr>
            <a:spLocks noGrp="1"/>
          </p:cNvSpPr>
          <p:nvPr/>
        </p:nvSpPr>
        <p:spPr>
          <a:xfrm>
            <a:off x="10760980" y="3703200"/>
            <a:ext cx="440000" cy="440000"/>
          </a:xfrm>
          <a:prstGeom prst="ellipse">
            <a:avLst/>
          </a:prstGeom>
          <a:solidFill>
            <a:srgbClr val="1B4332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21" name="TB421">
            <a:extLst>
              <a:ext uri="{FF2B5EF4-FFF2-40B4-BE49-F238E27FC236}">
                <a16:creationId xmlns:a16="http://schemas.microsoft.com/office/drawing/2014/main" id="{A2A844CB-33D0-4386-A072-AD4EF27699AB}"/>
              </a:ext>
            </a:extLst>
          </p:cNvPr>
          <p:cNvSpPr>
            <a:spLocks noGrp="1"/>
          </p:cNvSpPr>
          <p:nvPr/>
        </p:nvSpPr>
        <p:spPr>
          <a:xfrm>
            <a:off x="10280980" y="4223200"/>
            <a:ext cx="1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descarga</a:t>
            </a:r>
          </a:p>
        </p:txBody>
      </p:sp>
      <p:sp>
        <p:nvSpPr>
          <p:cNvPr id="422" name="TB422">
            <a:extLst>
              <a:ext uri="{FF2B5EF4-FFF2-40B4-BE49-F238E27FC236}">
                <a16:creationId xmlns:a16="http://schemas.microsoft.com/office/drawing/2014/main" id="{0F38A21C-2E98-4A11-8CD3-D37B92F124AD}"/>
              </a:ext>
            </a:extLst>
          </p:cNvPr>
          <p:cNvSpPr>
            <a:spLocks noGrp="1"/>
          </p:cNvSpPr>
          <p:nvPr/>
        </p:nvSpPr>
        <p:spPr>
          <a:xfrm>
            <a:off x="6240980" y="4723200"/>
            <a:ext cx="5400000" cy="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500" b="1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Sin credenciales válidas, ninguna descarga es reproducible.</a:t>
            </a:r>
          </a:p>
        </p:txBody>
      </p:sp>
      <p:sp>
        <p:nvSpPr>
          <p:cNvPr id="423" name="Rectángulo 422">
            <a:extLst>
              <a:ext uri="{FF2B5EF4-FFF2-40B4-BE49-F238E27FC236}">
                <a16:creationId xmlns:a16="http://schemas.microsoft.com/office/drawing/2014/main" id="{568624D7-EC4F-4EB4-8EDD-6750B1323D40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51/79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30585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CDE0DF-8F92-451E-973E-CA7DC75CDF8D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Opción 1: Earthdata Search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16E171-7A4C-4DC7-B425-C6A1AFC459B5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Descarga manual y selección de subconjuntos mediante interfaz visual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6DD12B8-90CE-4895-9F79-4B167F86832C}"/>
              </a:ext>
            </a:extLst>
          </p:cNvPr>
          <p:cNvSpPr>
            <a:spLocks noGrp="1"/>
          </p:cNvSpPr>
          <p:nvPr/>
        </p:nvSpPr>
        <p:spPr>
          <a:xfrm>
            <a:off x="600075" y="5644180"/>
            <a:ext cx="10915650" cy="48994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GEDI Data Resources; LP DAAC Quick Guide; Earthdata Cloud Cookbook. LP DAAC GEDI Quick Guide.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BBE66A4-327B-4064-AF51-3266432CE193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52/79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05FB73A-F1B7-4B11-A579-2466356E560F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508905A-A422-4327-9E91-98B910D7F902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C41D48A-9980-4725-BFE1-F12C67BE27E8}"/>
              </a:ext>
            </a:extLst>
          </p:cNvPr>
          <p:cNvSpPr>
            <a:spLocks noGrp="1"/>
          </p:cNvSpPr>
          <p:nvPr/>
        </p:nvSpPr>
        <p:spPr>
          <a:xfrm>
            <a:off x="596900" y="1193800"/>
            <a:ext cx="5016500" cy="4368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Buscar el conjunto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Localizarlo en CMR por su short name: GEDI_L4A_AGB_Density_V3_2508.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Delimitar y filtrar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Dibujar o cargar el AOI y acotar el rango de fechas.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Revisar gránulos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Comprobar los intersectantes y aplicar subset espacial si está disponible.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Descargar y registrar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Guardar HDF5 y auxiliares, anotando DOI y versión.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9F4FDC0A-2FF4-4BF4-B932-6B316D3F9128}"/>
              </a:ext>
            </a:extLst>
          </p:cNvPr>
          <p:cNvSpPr>
            <a:spLocks noGrp="1"/>
          </p:cNvSpPr>
          <p:nvPr/>
        </p:nvSpPr>
        <p:spPr>
          <a:xfrm>
            <a:off x="6123820" y="1353200"/>
            <a:ext cx="5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Recorrido en Earthdata Search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7ADFE328-3709-4ACE-BA8E-C30FC91D0614}"/>
              </a:ext>
            </a:extLst>
          </p:cNvPr>
          <p:cNvSpPr>
            <a:spLocks noGrp="1"/>
          </p:cNvSpPr>
          <p:nvPr/>
        </p:nvSpPr>
        <p:spPr>
          <a:xfrm>
            <a:off x="6123820" y="1723200"/>
            <a:ext cx="3384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Cuatro acciones dentro de la interfaz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98AF5983-7B76-4B1A-A4E5-1BA4871BFFAC}"/>
              </a:ext>
            </a:extLst>
          </p:cNvPr>
          <p:cNvSpPr>
            <a:spLocks noGrp="1"/>
          </p:cNvSpPr>
          <p:nvPr/>
        </p:nvSpPr>
        <p:spPr>
          <a:xfrm>
            <a:off x="6223820" y="2153200"/>
            <a:ext cx="5100000" cy="27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8D2CC"/>
            </a:solidFill>
          </a:ln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7B4A951B-286E-4E47-8448-8A807DE0F09F}"/>
              </a:ext>
            </a:extLst>
          </p:cNvPr>
          <p:cNvSpPr>
            <a:spLocks noGrp="1"/>
          </p:cNvSpPr>
          <p:nvPr/>
        </p:nvSpPr>
        <p:spPr>
          <a:xfrm>
            <a:off x="6223820" y="2153200"/>
            <a:ext cx="5100000" cy="30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80381A59-CA03-46D9-AB3A-9FFF1CB475E7}"/>
              </a:ext>
            </a:extLst>
          </p:cNvPr>
          <p:cNvSpPr>
            <a:spLocks noGrp="1"/>
          </p:cNvSpPr>
          <p:nvPr/>
        </p:nvSpPr>
        <p:spPr>
          <a:xfrm>
            <a:off x="6353820" y="2253200"/>
            <a:ext cx="100000" cy="100000"/>
          </a:xfrm>
          <a:prstGeom prst="ellipse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70599869-9F15-4816-8040-6CFA5AA3EEC1}"/>
              </a:ext>
            </a:extLst>
          </p:cNvPr>
          <p:cNvSpPr>
            <a:spLocks noGrp="1"/>
          </p:cNvSpPr>
          <p:nvPr/>
        </p:nvSpPr>
        <p:spPr>
          <a:xfrm>
            <a:off x="6513820" y="2253200"/>
            <a:ext cx="100000" cy="100000"/>
          </a:xfrm>
          <a:prstGeom prst="ellipse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C5806CD9-4DF8-4B02-899A-AB33400611AB}"/>
              </a:ext>
            </a:extLst>
          </p:cNvPr>
          <p:cNvSpPr>
            <a:spLocks noGrp="1"/>
          </p:cNvSpPr>
          <p:nvPr/>
        </p:nvSpPr>
        <p:spPr>
          <a:xfrm>
            <a:off x="6673820" y="2253200"/>
            <a:ext cx="100000" cy="100000"/>
          </a:xfrm>
          <a:prstGeom prst="ellipse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07" name="TB407">
            <a:extLst>
              <a:ext uri="{FF2B5EF4-FFF2-40B4-BE49-F238E27FC236}">
                <a16:creationId xmlns:a16="http://schemas.microsoft.com/office/drawing/2014/main" id="{88C1E796-BE41-4526-B35B-FA9D3407218C}"/>
              </a:ext>
            </a:extLst>
          </p:cNvPr>
          <p:cNvSpPr>
            <a:spLocks noGrp="1"/>
          </p:cNvSpPr>
          <p:nvPr/>
        </p:nvSpPr>
        <p:spPr>
          <a:xfrm>
            <a:off x="6923820" y="2153200"/>
            <a:ext cx="42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EE0000"/>
                </a:solidFill>
                <a:latin typeface="Arial"/>
                <a:ea typeface="Arial"/>
                <a:cs typeface="Arial"/>
              </a:rPr>
              <a:t>search.earthdata.nasa.gov</a:t>
            </a:r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32ABFE5A-B1A9-4446-8608-91CD0789BA6B}"/>
              </a:ext>
            </a:extLst>
          </p:cNvPr>
          <p:cNvSpPr>
            <a:spLocks noGrp="1"/>
          </p:cNvSpPr>
          <p:nvPr/>
        </p:nvSpPr>
        <p:spPr>
          <a:xfrm>
            <a:off x="6403820" y="2583200"/>
            <a:ext cx="2000000" cy="26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9" name="TB409">
            <a:extLst>
              <a:ext uri="{FF2B5EF4-FFF2-40B4-BE49-F238E27FC236}">
                <a16:creationId xmlns:a16="http://schemas.microsoft.com/office/drawing/2014/main" id="{C44B31A5-762A-40CE-9DA9-1F76F774A089}"/>
              </a:ext>
            </a:extLst>
          </p:cNvPr>
          <p:cNvSpPr>
            <a:spLocks noGrp="1"/>
          </p:cNvSpPr>
          <p:nvPr/>
        </p:nvSpPr>
        <p:spPr>
          <a:xfrm>
            <a:off x="6463820" y="2583200"/>
            <a:ext cx="19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GEDI04_A v003</a:t>
            </a:r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6EFBDE33-A777-41A1-9E30-556E7A06D2EC}"/>
              </a:ext>
            </a:extLst>
          </p:cNvPr>
          <p:cNvSpPr>
            <a:spLocks noGrp="1"/>
          </p:cNvSpPr>
          <p:nvPr/>
        </p:nvSpPr>
        <p:spPr>
          <a:xfrm>
            <a:off x="8573820" y="2583200"/>
            <a:ext cx="2570000" cy="1900000"/>
          </a:xfrm>
          <a:prstGeom prst="rect">
            <a:avLst/>
          </a:prstGeom>
          <a:solidFill>
            <a:srgbClr val="F4F7F5"/>
          </a:solidFill>
          <a:ln w="19050">
            <a:solidFill>
              <a:srgbClr val="4F9A74"/>
            </a:solidFill>
          </a:ln>
        </p:spPr>
        <p:txBody>
          <a:bodyPr/>
          <a:lstStyle/>
          <a:p>
            <a:pPr algn="just"/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3731EC78-E33B-44A8-8CA8-4C824E109C46}"/>
              </a:ext>
            </a:extLst>
          </p:cNvPr>
          <p:cNvSpPr>
            <a:spLocks noGrp="1"/>
          </p:cNvSpPr>
          <p:nvPr/>
        </p:nvSpPr>
        <p:spPr>
          <a:xfrm>
            <a:off x="8823820" y="2853200"/>
            <a:ext cx="2000000" cy="1350000"/>
          </a:xfrm>
          <a:prstGeom prst="rect">
            <a:avLst/>
          </a:prstGeom>
          <a:noFill/>
          <a:ln w="19050">
            <a:solidFill>
              <a:srgbClr val="2D6A4F"/>
            </a:solidFill>
            <a:prstDash val="dash"/>
          </a:ln>
        </p:spPr>
        <p:txBody>
          <a:bodyPr/>
          <a:lstStyle/>
          <a:p>
            <a:endParaRPr sz="1500"/>
          </a:p>
        </p:txBody>
      </p:sp>
      <p:sp>
        <p:nvSpPr>
          <p:cNvPr id="412" name="TB412">
            <a:extLst>
              <a:ext uri="{FF2B5EF4-FFF2-40B4-BE49-F238E27FC236}">
                <a16:creationId xmlns:a16="http://schemas.microsoft.com/office/drawing/2014/main" id="{EA660EEE-8884-42FA-A29D-E88A7BBB9E0A}"/>
              </a:ext>
            </a:extLst>
          </p:cNvPr>
          <p:cNvSpPr>
            <a:spLocks noGrp="1"/>
          </p:cNvSpPr>
          <p:nvPr/>
        </p:nvSpPr>
        <p:spPr>
          <a:xfrm>
            <a:off x="8573820" y="4533200"/>
            <a:ext cx="257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AOI dibujado sobre el mapa</a:t>
            </a:r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C3C86080-E4CC-4F42-9FC5-549EDD5AF298}"/>
              </a:ext>
            </a:extLst>
          </p:cNvPr>
          <p:cNvSpPr>
            <a:spLocks noGrp="1"/>
          </p:cNvSpPr>
          <p:nvPr/>
        </p:nvSpPr>
        <p:spPr>
          <a:xfrm>
            <a:off x="6373820" y="2903200"/>
            <a:ext cx="300000" cy="30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14" name="TB414">
            <a:extLst>
              <a:ext uri="{FF2B5EF4-FFF2-40B4-BE49-F238E27FC236}">
                <a16:creationId xmlns:a16="http://schemas.microsoft.com/office/drawing/2014/main" id="{FC6981DD-6186-4646-AEC7-64BC37A8D59E}"/>
              </a:ext>
            </a:extLst>
          </p:cNvPr>
          <p:cNvSpPr>
            <a:spLocks noGrp="1"/>
          </p:cNvSpPr>
          <p:nvPr/>
        </p:nvSpPr>
        <p:spPr>
          <a:xfrm>
            <a:off x="6753820" y="2903200"/>
            <a:ext cx="18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buscar por short name</a:t>
            </a:r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7B88E6CD-8CB2-4C99-A1B0-80AB45573877}"/>
              </a:ext>
            </a:extLst>
          </p:cNvPr>
          <p:cNvSpPr>
            <a:spLocks noGrp="1"/>
          </p:cNvSpPr>
          <p:nvPr/>
        </p:nvSpPr>
        <p:spPr>
          <a:xfrm>
            <a:off x="6373820" y="3303200"/>
            <a:ext cx="300000" cy="30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6" name="TB416">
            <a:extLst>
              <a:ext uri="{FF2B5EF4-FFF2-40B4-BE49-F238E27FC236}">
                <a16:creationId xmlns:a16="http://schemas.microsoft.com/office/drawing/2014/main" id="{79E04534-1FA0-45BF-9041-E46461023941}"/>
              </a:ext>
            </a:extLst>
          </p:cNvPr>
          <p:cNvSpPr>
            <a:spLocks noGrp="1"/>
          </p:cNvSpPr>
          <p:nvPr/>
        </p:nvSpPr>
        <p:spPr>
          <a:xfrm>
            <a:off x="6753820" y="3303200"/>
            <a:ext cx="18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delimitar AOI</a:t>
            </a:r>
          </a:p>
        </p:txBody>
      </p:sp>
      <p:sp>
        <p:nvSpPr>
          <p:cNvPr id="417" name="SH417">
            <a:extLst>
              <a:ext uri="{FF2B5EF4-FFF2-40B4-BE49-F238E27FC236}">
                <a16:creationId xmlns:a16="http://schemas.microsoft.com/office/drawing/2014/main" id="{BB9598A4-A192-40E7-ABB2-B46D17DACE9B}"/>
              </a:ext>
            </a:extLst>
          </p:cNvPr>
          <p:cNvSpPr>
            <a:spLocks noGrp="1"/>
          </p:cNvSpPr>
          <p:nvPr/>
        </p:nvSpPr>
        <p:spPr>
          <a:xfrm>
            <a:off x="6373820" y="3703200"/>
            <a:ext cx="300000" cy="30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8" name="TB418">
            <a:extLst>
              <a:ext uri="{FF2B5EF4-FFF2-40B4-BE49-F238E27FC236}">
                <a16:creationId xmlns:a16="http://schemas.microsoft.com/office/drawing/2014/main" id="{CDA07AE8-617B-4B48-B3D4-F554A2A6D46D}"/>
              </a:ext>
            </a:extLst>
          </p:cNvPr>
          <p:cNvSpPr>
            <a:spLocks noGrp="1"/>
          </p:cNvSpPr>
          <p:nvPr/>
        </p:nvSpPr>
        <p:spPr>
          <a:xfrm>
            <a:off x="6753820" y="3703200"/>
            <a:ext cx="18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filtrar fechas</a:t>
            </a:r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8C5CD358-F2C2-471F-AAD3-FE88FEB506F2}"/>
              </a:ext>
            </a:extLst>
          </p:cNvPr>
          <p:cNvSpPr>
            <a:spLocks noGrp="1"/>
          </p:cNvSpPr>
          <p:nvPr/>
        </p:nvSpPr>
        <p:spPr>
          <a:xfrm>
            <a:off x="6373820" y="4103200"/>
            <a:ext cx="300000" cy="30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20" name="TB420">
            <a:extLst>
              <a:ext uri="{FF2B5EF4-FFF2-40B4-BE49-F238E27FC236}">
                <a16:creationId xmlns:a16="http://schemas.microsoft.com/office/drawing/2014/main" id="{72AE92C1-8739-4471-BF95-9AA640A625DA}"/>
              </a:ext>
            </a:extLst>
          </p:cNvPr>
          <p:cNvSpPr>
            <a:spLocks noGrp="1"/>
          </p:cNvSpPr>
          <p:nvPr/>
        </p:nvSpPr>
        <p:spPr>
          <a:xfrm>
            <a:off x="6753820" y="4103200"/>
            <a:ext cx="18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pedir subset</a:t>
            </a:r>
          </a:p>
        </p:txBody>
      </p:sp>
      <p:sp>
        <p:nvSpPr>
          <p:cNvPr id="421" name="TB421">
            <a:extLst>
              <a:ext uri="{FF2B5EF4-FFF2-40B4-BE49-F238E27FC236}">
                <a16:creationId xmlns:a16="http://schemas.microsoft.com/office/drawing/2014/main" id="{40F59235-A7D1-44DA-977C-226D8F72C195}"/>
              </a:ext>
            </a:extLst>
          </p:cNvPr>
          <p:cNvSpPr>
            <a:spLocks noGrp="1"/>
          </p:cNvSpPr>
          <p:nvPr/>
        </p:nvSpPr>
        <p:spPr>
          <a:xfrm>
            <a:off x="6123820" y="49832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5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La descarga final debe quedar registrada con producto y versión.</a:t>
            </a:r>
          </a:p>
        </p:txBody>
      </p:sp>
      <p:sp>
        <p:nvSpPr>
          <p:cNvPr id="422" name="Rectángulo 421">
            <a:extLst>
              <a:ext uri="{FF2B5EF4-FFF2-40B4-BE49-F238E27FC236}">
                <a16:creationId xmlns:a16="http://schemas.microsoft.com/office/drawing/2014/main" id="{2C4C0D2C-E531-410D-A831-B69E209D45A3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52/79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7231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DEAAF6-F2F7-406E-A15B-D7C677C10AA1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Opción 2: Python con earthaccess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1CF1D7-D1B7-4499-9A76-DD54DBF7FCA3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Búsqueda reproducible mediante el catálogo CMR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9032D30-27E2-48A8-AD69-8CAFEF9FA127}"/>
              </a:ext>
            </a:extLst>
          </p:cNvPr>
          <p:cNvSpPr>
            <a:spLocks noGrp="1"/>
          </p:cNvSpPr>
          <p:nvPr/>
        </p:nvSpPr>
        <p:spPr>
          <a:xfrm>
            <a:off x="596900" y="1219200"/>
            <a:ext cx="4838700" cy="4368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hace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Autentica, consulta el catálogo CMR y descarga o abre archivos remotos.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automatiza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AOI, rango de fechas, short_name y versión quedan escritos en el script.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Trabajo por lotes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Procesar en tandas evita saturar la memoria y el ancho de banda.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Actualización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mismo script incorpora las nuevas adquisiciones sin rehacer la búsqueda.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0710530-3BC2-45F0-A77C-5E8E33055241}"/>
              </a:ext>
            </a:extLst>
          </p:cNvPr>
          <p:cNvSpPr>
            <a:spLocks noGrp="1"/>
          </p:cNvSpPr>
          <p:nvPr/>
        </p:nvSpPr>
        <p:spPr>
          <a:xfrm>
            <a:off x="5892800" y="1905000"/>
            <a:ext cx="5626100" cy="2794000"/>
          </a:xfrm>
          <a:prstGeom prst="rect">
            <a:avLst/>
          </a:prstGeom>
          <a:solidFill>
            <a:srgbClr val="0D0D0D"/>
          </a:solidFill>
          <a:ln w="9525">
            <a:solidFill>
              <a:srgbClr val="3A3A3A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46304" tIns="128016" rIns="146304" bIns="128016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import earthaccess</a:t>
            </a:r>
            <a:endParaRPr sz="13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earthaccess.login(strategy="netrc")</a:t>
            </a:r>
            <a:endParaRPr sz="13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results = earthaccess.search_data(</a:t>
            </a:r>
            <a:endParaRPr sz="13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    doi="10.3334/ORNLDAAC/2508",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    temporal=("2024-04-26", "2025-07-10"),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    bounding_box=(-72.5, -45.0, -70.8, -42.0)</a:t>
            </a:r>
            <a:endParaRPr sz="13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)</a:t>
            </a:r>
            <a:endParaRPr sz="13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files = earthaccess.download(results, "data/gedi_l4a_v3")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BB763D1-26FD-4952-92D0-CCB9D8B9F03E}"/>
              </a:ext>
            </a:extLst>
          </p:cNvPr>
          <p:cNvSpPr>
            <a:spLocks noGrp="1"/>
          </p:cNvSpPr>
          <p:nvPr/>
        </p:nvSpPr>
        <p:spPr>
          <a:xfrm>
            <a:off x="600075" y="584388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n-U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GEDI Data Resources; LP DAAC Quick Guide; Earthdata Cloud Cookbook. NASA GEDI Data Resources.</a:t>
            </a:r>
            <a:endParaRPr lang="en-U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EE1802B-D352-417F-9D66-E57C8EC3B7C1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53/79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268603B-3234-4002-A564-AFD04CB6A0F9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0087FBB-6817-4236-8E14-A8C3D654C800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6F333D-0BC5-42DE-AE41-1DB44E7D1720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53/79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1030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98E9BF-7955-4184-989B-E43880D1FAB3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Opción 3: OPeNDAP en la nube (Hyrax)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B4FE76-2A91-47F2-8707-D89B9A652669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Acceso a variables seleccionadas sin descargar el gránulo completo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9AFC10-ECF3-49A7-80DD-54C5BF8BBC79}"/>
              </a:ext>
            </a:extLst>
          </p:cNvPr>
          <p:cNvSpPr>
            <a:spLocks noGrp="1"/>
          </p:cNvSpPr>
          <p:nvPr/>
        </p:nvSpPr>
        <p:spPr>
          <a:xfrm>
            <a:off x="596900" y="1219200"/>
            <a:ext cx="4838700" cy="4368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devuelve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Solo las variables y el rango solicitados de cada gránulo.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Ventaja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Evita descargar archivos HDF5 completos cuando bastan pocas columnas.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Requisito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Autenticación con Earthdata Login mediante un archivo .netrc.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Cuándo conviene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 pocas variables o rangos; el subconjunto espacial se construye de forma explícita.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C34487-E526-49EF-A84E-6FBEEA96182D}"/>
              </a:ext>
            </a:extLst>
          </p:cNvPr>
          <p:cNvSpPr>
            <a:spLocks noGrp="1"/>
          </p:cNvSpPr>
          <p:nvPr/>
        </p:nvSpPr>
        <p:spPr>
          <a:xfrm>
            <a:off x="5892800" y="1778000"/>
            <a:ext cx="5626100" cy="3175000"/>
          </a:xfrm>
          <a:prstGeom prst="rect">
            <a:avLst/>
          </a:prstGeom>
          <a:solidFill>
            <a:srgbClr val="0D0D0D"/>
          </a:solidFill>
          <a:ln w="9525">
            <a:solidFill>
              <a:srgbClr val="3A3A3A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46304" tIns="128016" rIns="146304" bIns="128016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import earthaccess, netCDF4 as nc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earthaccess.login(strategy="netrc")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granules = earthaccess.search_data(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    doi="10.3334/ORNLDAAC/2508",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    bounding_box=(-72.5, -45.0, -70.8, -42.0)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session = earthaccess.get_requests_https_session()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service = granules[0]._filter_related_links("USE SERVICE API")[0]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url = service + ".dap.nc4?dap4.ce=/BEAM0110/agbd;/BEAM0110/l4a_quality_flag_rel3"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E8E8"/>
                </a:solidFill>
                <a:latin typeface="Arial"/>
                <a:ea typeface="Arial"/>
                <a:cs typeface="Arial"/>
              </a:rPr>
              <a:t>r = session.get(url); ds = nc.Dataset("hyrax", memory=r.content)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A5DA40-1B23-4522-9FC7-5F0CD73ED014}"/>
              </a:ext>
            </a:extLst>
          </p:cNvPr>
          <p:cNvSpPr>
            <a:spLocks noGrp="1"/>
          </p:cNvSpPr>
          <p:nvPr/>
        </p:nvSpPr>
        <p:spPr>
          <a:xfrm>
            <a:off x="600075" y="584388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ORNL DAAC GEDI Tutorials (OPeNDAP/Hyrax); NASA Earthdata Cloud Cookbook; LP DAAC Quick Guide.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BA2A08C-6071-4FB6-BA11-B38A9A3AB7CC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54/79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268603B-3234-4002-A564-AFD04CB6A0F9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0087FBB-6817-4236-8E14-A8C3D654C800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AEB7D52-E291-4556-AE7A-C9E204AB66B0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54/79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28756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A9B8E3-7A1A-4AC3-8158-9C66E39E7796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Opción 4: Google Earth Engine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525DBB-5302-4500-813B-3540BAD14E3A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Prototipado rápido frente a procesamiento de producción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FC1A70-3411-46F8-BB94-B1C8A94FE5F3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838700" cy="4368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ofrece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Versiones rasterizadas y mensuales de GEDI v2/v2.1 para algunos productos.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Para qué sirve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Exploración rápida y filtrado de huellas directamente en la nube.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Límite para auditoría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 GEDI v3 conviene revisar disponibilidad y metadatos actualizados.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Advertencia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ráster mensual no equivale al producto HDF5 original de huellas.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2E008B-47E4-4929-B96B-8AF771EA2B9F}"/>
              </a:ext>
            </a:extLst>
          </p:cNvPr>
          <p:cNvSpPr>
            <a:spLocks noGrp="1"/>
          </p:cNvSpPr>
          <p:nvPr/>
        </p:nvSpPr>
        <p:spPr>
          <a:xfrm>
            <a:off x="5892800" y="2159000"/>
            <a:ext cx="5626100" cy="2286000"/>
          </a:xfrm>
          <a:prstGeom prst="rect">
            <a:avLst/>
          </a:prstGeom>
          <a:solidFill>
            <a:srgbClr val="0D0D0D"/>
          </a:solidFill>
          <a:ln w="9525">
            <a:solidFill>
              <a:srgbClr val="3A3A3A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46304" tIns="128016" rIns="146304" bIns="128016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chemeClr val="bg1"/>
                </a:solidFill>
                <a:latin typeface="Arial"/>
                <a:ea typeface="Arial"/>
                <a:cs typeface="Arial"/>
              </a:rPr>
              <a:t>var gedi = ee.ImageCollection('LARSE/GEDI/GEDI04_A_002_MONTHLY')</a:t>
            </a:r>
            <a:endParaRPr sz="13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chemeClr val="bg1"/>
                </a:solidFill>
                <a:latin typeface="Arial"/>
                <a:ea typeface="Arial"/>
                <a:cs typeface="Arial"/>
              </a:rPr>
              <a:t>  .filterBounds(aoi)</a:t>
            </a:r>
            <a:endParaRPr sz="13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chemeClr val="bg1"/>
                </a:solidFill>
                <a:latin typeface="Arial"/>
                <a:ea typeface="Arial"/>
                <a:cs typeface="Arial"/>
              </a:rPr>
              <a:t>  .filterDate('2021-01-01', '2021-12-31')</a:t>
            </a:r>
            <a:endParaRPr sz="13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chemeClr val="bg1"/>
                </a:solidFill>
                <a:latin typeface="Arial"/>
                <a:ea typeface="Arial"/>
                <a:cs typeface="Arial"/>
              </a:rPr>
              <a:t>  .map(function(img){</a:t>
            </a:r>
            <a:endParaRPr sz="13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return img.updateMask(img.select('l4_quality_flag').eq(1));</a:t>
            </a:r>
            <a:endParaRPr sz="13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chemeClr val="bg1"/>
                </a:solidFill>
                <a:latin typeface="Arial"/>
                <a:ea typeface="Arial"/>
                <a:cs typeface="Arial"/>
              </a:rPr>
              <a:t>  });</a:t>
            </a:r>
            <a:endParaRPr sz="13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922B6EB-0BD3-46EE-8358-E8B7965656B9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GEDI Data Resources; LP DAAC Quick Guide; Earthdata Cloud Cookbook. Google Earth Engine Data Catalog GEDI.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DF1A06C-B0F6-499F-B480-1EEA806E5C54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55/79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9D8D80-B9F8-45D2-A3EC-21B8ADD1A55A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4ADFB57-7951-481A-B4F5-00D7FA7E9A56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9CF822B-D27A-4A58-95D4-93F3DD6F28A8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55/79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26949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FEF72D-5C23-45C0-A52E-3112163452D8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Comparación de rutas de acceso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4E866C-7367-4076-93A7-A5A2CAF7B35A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Selección de la ruta de acceso según el objetivo del trabajo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49E753C-1ECF-4E9D-B3E1-1922424727B3}"/>
              </a:ext>
            </a:extLst>
          </p:cNvPr>
          <p:cNvSpPr>
            <a:spLocks noGrp="1"/>
          </p:cNvSpPr>
          <p:nvPr/>
        </p:nvSpPr>
        <p:spPr>
          <a:xfrm>
            <a:off x="596900" y="1371600"/>
            <a:ext cx="4838700" cy="4165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Earthdata Search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Ideal para usuarios GIS y descargas puntuales.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earthaccess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Ideal para reproducibilidad y procesamiento masivo.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OPeNDAP / Hyrax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Ideal para extraer pocas variables de muchos gránulos.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Google Earth Engine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Ideal para prototipado espacial y exploración de grandes áreas.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82235B0-D551-4A3A-9087-4090FB5E041D}"/>
              </a:ext>
            </a:extLst>
          </p:cNvPr>
          <p:cNvSpPr>
            <a:spLocks noGrp="1"/>
          </p:cNvSpPr>
          <p:nvPr/>
        </p:nvSpPr>
        <p:spPr>
          <a:xfrm>
            <a:off x="596900" y="5864200"/>
            <a:ext cx="109220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GEDI Data Resources; LP DAAC Quick Guide; Earthdata Cloud Cookbook.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7CCA0A-56C7-4DBE-8199-1A50FF8959C0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56/79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7E19299-871D-43B7-9DA4-02E7E0C82219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2C5A79E-2C76-4ED8-86B0-419991E2E79F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graphicFrame>
        <p:nvGraphicFramePr>
          <p:cNvPr id="34" name="Tabla 25"/>
          <p:cNvGraphicFramePr/>
          <p:nvPr/>
        </p:nvGraphicFramePr>
        <p:xfrm>
          <a:off x="5892800" y="1366520"/>
          <a:ext cx="5626101" cy="41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Ruta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Ventaja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Cuándo usar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Earthdata 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visual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primeras descargas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earthaccess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reproducible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pipeline Python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OPeNDAP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selectivo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variables puntuales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GEE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cloud GIS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prototipado espacial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ángulo 25">
            <a:extLst>
              <a:ext uri="{FF2B5EF4-FFF2-40B4-BE49-F238E27FC236}">
                <a16:creationId xmlns:a16="http://schemas.microsoft.com/office/drawing/2014/main" id="{6E3CB7E4-3817-4A79-A926-BEA6078990B5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56/79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2350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B603E2-3E4A-4556-AF8A-C7A44862295D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Estructura HDF5 de GEDI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2DC4FE-C94A-43DF-BF02-4E5F95538968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Organización interna de los archivos HDF5: haces, grupos y variables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6753F38-8845-4743-9AED-E264888467EB}"/>
              </a:ext>
            </a:extLst>
          </p:cNvPr>
          <p:cNvSpPr>
            <a:spLocks noGrp="1"/>
          </p:cNvSpPr>
          <p:nvPr/>
        </p:nvSpPr>
        <p:spPr>
          <a:xfrm>
            <a:off x="600075" y="5891068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GEDI/UMD Products; LP DAAC GEDI02 User Guides; ORNL DAAC L4A/L4B. ORNL DAAC/LP DAAC Data Dictionaries.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1F988EC-C24E-4E1C-B417-3FFE5EB98192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57/79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6501B76-F524-45FD-B14C-E37964147D18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E00271-4C00-4998-89F7-D6E1534B85CB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85628A-45C9-4A3D-A4ED-D4B9ECC26262}"/>
              </a:ext>
            </a:extLst>
          </p:cNvPr>
          <p:cNvSpPr>
            <a:spLocks noGrp="1"/>
          </p:cNvSpPr>
          <p:nvPr/>
        </p:nvSpPr>
        <p:spPr>
          <a:xfrm>
            <a:off x="596900" y="1270000"/>
            <a:ext cx="5080000" cy="44196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Organización interna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Cada archivo contiene grupos METADATA, BEAMXXXX y variables por haz.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Los ocho haces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Tienen muestreo nominal comparable, pero distinta potencia y densidad de retornos válidos.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Cómo procesarlo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Iterar por haz y concatenar los resultados conservando el identificador original.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Clave de trazabilidad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shot_number permite auditar y deduplicar cada huella.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B6941092-66F3-4EC8-9B21-79D6B89AC4F5}"/>
              </a:ext>
            </a:extLst>
          </p:cNvPr>
          <p:cNvSpPr>
            <a:spLocks noGrp="1"/>
          </p:cNvSpPr>
          <p:nvPr/>
        </p:nvSpPr>
        <p:spPr>
          <a:xfrm>
            <a:off x="7545820" y="1495088"/>
            <a:ext cx="2556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Árbol del archivo HDF5</a:t>
            </a:r>
          </a:p>
        </p:txBody>
      </p:sp>
      <p:sp>
        <p:nvSpPr>
          <p:cNvPr id="403" name="TB403">
            <a:extLst>
              <a:ext uri="{FF2B5EF4-FFF2-40B4-BE49-F238E27FC236}">
                <a16:creationId xmlns:a16="http://schemas.microsoft.com/office/drawing/2014/main" id="{AD27C804-B9BF-4091-99B3-5284BFD6A419}"/>
              </a:ext>
            </a:extLst>
          </p:cNvPr>
          <p:cNvSpPr>
            <a:spLocks noGrp="1"/>
          </p:cNvSpPr>
          <p:nvPr/>
        </p:nvSpPr>
        <p:spPr>
          <a:xfrm>
            <a:off x="6963820" y="2275088"/>
            <a:ext cx="108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archivo .h5</a:t>
            </a:r>
          </a:p>
        </p:txBody>
      </p:sp>
      <p:sp>
        <p:nvSpPr>
          <p:cNvPr id="406" name="TB406">
            <a:extLst>
              <a:ext uri="{FF2B5EF4-FFF2-40B4-BE49-F238E27FC236}">
                <a16:creationId xmlns:a16="http://schemas.microsoft.com/office/drawing/2014/main" id="{9CD71291-3273-4772-9762-739C881F7A82}"/>
              </a:ext>
            </a:extLst>
          </p:cNvPr>
          <p:cNvSpPr>
            <a:spLocks noGrp="1"/>
          </p:cNvSpPr>
          <p:nvPr/>
        </p:nvSpPr>
        <p:spPr>
          <a:xfrm>
            <a:off x="7463820" y="2875088"/>
            <a:ext cx="1044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METADATA</a:t>
            </a:r>
          </a:p>
        </p:txBody>
      </p:sp>
      <p:sp>
        <p:nvSpPr>
          <p:cNvPr id="411" name="TB411">
            <a:extLst>
              <a:ext uri="{FF2B5EF4-FFF2-40B4-BE49-F238E27FC236}">
                <a16:creationId xmlns:a16="http://schemas.microsoft.com/office/drawing/2014/main" id="{EEA8CC02-D908-4870-B6BC-13A09186F5AE}"/>
              </a:ext>
            </a:extLst>
          </p:cNvPr>
          <p:cNvSpPr>
            <a:spLocks noGrp="1"/>
          </p:cNvSpPr>
          <p:nvPr/>
        </p:nvSpPr>
        <p:spPr>
          <a:xfrm>
            <a:off x="7463820" y="3475088"/>
            <a:ext cx="2124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BEAM0000 … BEAM1011</a:t>
            </a:r>
          </a:p>
        </p:txBody>
      </p:sp>
      <p:sp>
        <p:nvSpPr>
          <p:cNvPr id="416" name="TB416">
            <a:extLst>
              <a:ext uri="{FF2B5EF4-FFF2-40B4-BE49-F238E27FC236}">
                <a16:creationId xmlns:a16="http://schemas.microsoft.com/office/drawing/2014/main" id="{ADCC42C3-B254-4F8E-B09E-B79F163482B0}"/>
              </a:ext>
            </a:extLst>
          </p:cNvPr>
          <p:cNvSpPr>
            <a:spLocks noGrp="1"/>
          </p:cNvSpPr>
          <p:nvPr/>
        </p:nvSpPr>
        <p:spPr>
          <a:xfrm>
            <a:off x="7963820" y="4075088"/>
            <a:ext cx="1512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variables por haz</a:t>
            </a:r>
          </a:p>
        </p:txBody>
      </p:sp>
      <p:sp>
        <p:nvSpPr>
          <p:cNvPr id="421" name="TB421">
            <a:extLst>
              <a:ext uri="{FF2B5EF4-FFF2-40B4-BE49-F238E27FC236}">
                <a16:creationId xmlns:a16="http://schemas.microsoft.com/office/drawing/2014/main" id="{16ED718B-6783-4EEB-A126-F1FD3F387751}"/>
              </a:ext>
            </a:extLst>
          </p:cNvPr>
          <p:cNvSpPr>
            <a:spLocks noGrp="1"/>
          </p:cNvSpPr>
          <p:nvPr/>
        </p:nvSpPr>
        <p:spPr>
          <a:xfrm>
            <a:off x="8463820" y="4675088"/>
            <a:ext cx="1296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GeoDataFrame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BE1B4DF7-E2F9-4CAD-9B49-BC46253D5BA1}"/>
              </a:ext>
            </a:extLst>
          </p:cNvPr>
          <p:cNvSpPr>
            <a:spLocks noGrp="1"/>
          </p:cNvSpPr>
          <p:nvPr/>
        </p:nvSpPr>
        <p:spPr>
          <a:xfrm>
            <a:off x="6663820" y="1865088"/>
            <a:ext cx="2808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Del .h5 a una tabla geográfica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26A64FEA-B5C9-468D-8E8F-12FCBFBF5281}"/>
              </a:ext>
            </a:extLst>
          </p:cNvPr>
          <p:cNvSpPr>
            <a:spLocks noGrp="1"/>
          </p:cNvSpPr>
          <p:nvPr/>
        </p:nvSpPr>
        <p:spPr>
          <a:xfrm>
            <a:off x="6813820" y="2275088"/>
            <a:ext cx="60000" cy="440000"/>
          </a:xfrm>
          <a:prstGeom prst="rect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04" name="TB404">
            <a:extLst>
              <a:ext uri="{FF2B5EF4-FFF2-40B4-BE49-F238E27FC236}">
                <a16:creationId xmlns:a16="http://schemas.microsoft.com/office/drawing/2014/main" id="{EFB47DE8-E62D-49AD-B04B-75F58A1657D3}"/>
              </a:ext>
            </a:extLst>
          </p:cNvPr>
          <p:cNvSpPr>
            <a:spLocks noGrp="1"/>
          </p:cNvSpPr>
          <p:nvPr/>
        </p:nvSpPr>
        <p:spPr>
          <a:xfrm>
            <a:off x="6963820" y="2525088"/>
            <a:ext cx="2592000" cy="2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contenedor con todos los haces</a:t>
            </a:r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FBAC102F-4EAA-4E07-B3C4-786861937B0A}"/>
              </a:ext>
            </a:extLst>
          </p:cNvPr>
          <p:cNvSpPr>
            <a:spLocks noGrp="1"/>
          </p:cNvSpPr>
          <p:nvPr/>
        </p:nvSpPr>
        <p:spPr>
          <a:xfrm>
            <a:off x="7313820" y="2875088"/>
            <a:ext cx="60000" cy="44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07" name="TB407">
            <a:extLst>
              <a:ext uri="{FF2B5EF4-FFF2-40B4-BE49-F238E27FC236}">
                <a16:creationId xmlns:a16="http://schemas.microsoft.com/office/drawing/2014/main" id="{DB994F8F-A2AD-467B-A75E-387E8ADB486C}"/>
              </a:ext>
            </a:extLst>
          </p:cNvPr>
          <p:cNvSpPr>
            <a:spLocks noGrp="1"/>
          </p:cNvSpPr>
          <p:nvPr/>
        </p:nvSpPr>
        <p:spPr>
          <a:xfrm>
            <a:off x="7463820" y="3125088"/>
            <a:ext cx="2556000" cy="2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versión, órbita, procesamiento</a:t>
            </a:r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B288B941-AF42-48E7-86E9-ED5A52804434}"/>
              </a:ext>
            </a:extLst>
          </p:cNvPr>
          <p:cNvSpPr>
            <a:spLocks noGrp="1"/>
          </p:cNvSpPr>
          <p:nvPr/>
        </p:nvSpPr>
        <p:spPr>
          <a:xfrm>
            <a:off x="6831120" y="2715088"/>
            <a:ext cx="25400" cy="380000"/>
          </a:xfrm>
          <a:prstGeom prst="rect">
            <a:avLst/>
          </a:prstGeom>
          <a:solidFill>
            <a:srgbClr val="C8D2CC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2266ABE1-CE2B-42D8-9C86-9C10931F6516}"/>
              </a:ext>
            </a:extLst>
          </p:cNvPr>
          <p:cNvSpPr>
            <a:spLocks noGrp="1"/>
          </p:cNvSpPr>
          <p:nvPr/>
        </p:nvSpPr>
        <p:spPr>
          <a:xfrm>
            <a:off x="6843820" y="3082388"/>
            <a:ext cx="470000" cy="25400"/>
          </a:xfrm>
          <a:prstGeom prst="rect">
            <a:avLst/>
          </a:prstGeom>
          <a:solidFill>
            <a:srgbClr val="C8D2CC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656A7163-C549-4AE9-9157-84E326DE2588}"/>
              </a:ext>
            </a:extLst>
          </p:cNvPr>
          <p:cNvSpPr>
            <a:spLocks noGrp="1"/>
          </p:cNvSpPr>
          <p:nvPr/>
        </p:nvSpPr>
        <p:spPr>
          <a:xfrm>
            <a:off x="7313820" y="3475088"/>
            <a:ext cx="60000" cy="44000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2" name="TB412">
            <a:extLst>
              <a:ext uri="{FF2B5EF4-FFF2-40B4-BE49-F238E27FC236}">
                <a16:creationId xmlns:a16="http://schemas.microsoft.com/office/drawing/2014/main" id="{325332DA-B0EF-4EA8-8E89-2409B90E9C73}"/>
              </a:ext>
            </a:extLst>
          </p:cNvPr>
          <p:cNvSpPr>
            <a:spLocks noGrp="1"/>
          </p:cNvSpPr>
          <p:nvPr/>
        </p:nvSpPr>
        <p:spPr>
          <a:xfrm>
            <a:off x="7463820" y="3725088"/>
            <a:ext cx="2556000" cy="2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8 haces: full power y coverage</a:t>
            </a:r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C8F3B05C-4711-4515-A315-47222BFF5617}"/>
              </a:ext>
            </a:extLst>
          </p:cNvPr>
          <p:cNvSpPr>
            <a:spLocks noGrp="1"/>
          </p:cNvSpPr>
          <p:nvPr/>
        </p:nvSpPr>
        <p:spPr>
          <a:xfrm>
            <a:off x="6831120" y="3315088"/>
            <a:ext cx="25400" cy="380000"/>
          </a:xfrm>
          <a:prstGeom prst="rect">
            <a:avLst/>
          </a:prstGeom>
          <a:solidFill>
            <a:srgbClr val="C8D2CC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829285B3-84FC-4474-B221-6D4758CFEE8A}"/>
              </a:ext>
            </a:extLst>
          </p:cNvPr>
          <p:cNvSpPr>
            <a:spLocks noGrp="1"/>
          </p:cNvSpPr>
          <p:nvPr/>
        </p:nvSpPr>
        <p:spPr>
          <a:xfrm>
            <a:off x="6843820" y="3682388"/>
            <a:ext cx="470000" cy="25400"/>
          </a:xfrm>
          <a:prstGeom prst="rect">
            <a:avLst/>
          </a:prstGeom>
          <a:solidFill>
            <a:srgbClr val="C8D2CC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736AB3AB-FC4F-4535-83AE-199772998626}"/>
              </a:ext>
            </a:extLst>
          </p:cNvPr>
          <p:cNvSpPr>
            <a:spLocks noGrp="1"/>
          </p:cNvSpPr>
          <p:nvPr/>
        </p:nvSpPr>
        <p:spPr>
          <a:xfrm>
            <a:off x="7813820" y="4075088"/>
            <a:ext cx="60000" cy="44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E94040E5-84DC-4EAF-AF7C-1056B7598DB3}"/>
              </a:ext>
            </a:extLst>
          </p:cNvPr>
          <p:cNvSpPr>
            <a:spLocks noGrp="1"/>
          </p:cNvSpPr>
          <p:nvPr/>
        </p:nvSpPr>
        <p:spPr>
          <a:xfrm>
            <a:off x="7963820" y="4325088"/>
            <a:ext cx="2520000" cy="2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agbd, rh98, quality_flag, lat/lon</a:t>
            </a:r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C9954FA7-ECAB-46C6-A6C5-E8CEA7B4A773}"/>
              </a:ext>
            </a:extLst>
          </p:cNvPr>
          <p:cNvSpPr>
            <a:spLocks noGrp="1"/>
          </p:cNvSpPr>
          <p:nvPr/>
        </p:nvSpPr>
        <p:spPr>
          <a:xfrm>
            <a:off x="7331120" y="3915088"/>
            <a:ext cx="25400" cy="380000"/>
          </a:xfrm>
          <a:prstGeom prst="rect">
            <a:avLst/>
          </a:prstGeom>
          <a:solidFill>
            <a:srgbClr val="C8D2CC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E7E0E3F6-8720-423D-A2D9-6BD25E2B5E49}"/>
              </a:ext>
            </a:extLst>
          </p:cNvPr>
          <p:cNvSpPr>
            <a:spLocks noGrp="1"/>
          </p:cNvSpPr>
          <p:nvPr/>
        </p:nvSpPr>
        <p:spPr>
          <a:xfrm>
            <a:off x="7343820" y="4282388"/>
            <a:ext cx="470000" cy="25400"/>
          </a:xfrm>
          <a:prstGeom prst="rect">
            <a:avLst/>
          </a:prstGeom>
          <a:solidFill>
            <a:srgbClr val="C8D2CC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20" name="SH420">
            <a:extLst>
              <a:ext uri="{FF2B5EF4-FFF2-40B4-BE49-F238E27FC236}">
                <a16:creationId xmlns:a16="http://schemas.microsoft.com/office/drawing/2014/main" id="{7BFA531B-31F3-4194-8887-08526673D8A5}"/>
              </a:ext>
            </a:extLst>
          </p:cNvPr>
          <p:cNvSpPr>
            <a:spLocks noGrp="1"/>
          </p:cNvSpPr>
          <p:nvPr/>
        </p:nvSpPr>
        <p:spPr>
          <a:xfrm>
            <a:off x="8313820" y="4675088"/>
            <a:ext cx="60000" cy="440000"/>
          </a:xfrm>
          <a:prstGeom prst="rect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22" name="TB422">
            <a:extLst>
              <a:ext uri="{FF2B5EF4-FFF2-40B4-BE49-F238E27FC236}">
                <a16:creationId xmlns:a16="http://schemas.microsoft.com/office/drawing/2014/main" id="{925822ED-E04C-442E-A105-9B957B9799DA}"/>
              </a:ext>
            </a:extLst>
          </p:cNvPr>
          <p:cNvSpPr>
            <a:spLocks noGrp="1"/>
          </p:cNvSpPr>
          <p:nvPr/>
        </p:nvSpPr>
        <p:spPr>
          <a:xfrm>
            <a:off x="8463820" y="4925088"/>
            <a:ext cx="2520000" cy="2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una fila por huella, con shot_id</a:t>
            </a:r>
          </a:p>
        </p:txBody>
      </p:sp>
      <p:sp>
        <p:nvSpPr>
          <p:cNvPr id="423" name="SH423">
            <a:extLst>
              <a:ext uri="{FF2B5EF4-FFF2-40B4-BE49-F238E27FC236}">
                <a16:creationId xmlns:a16="http://schemas.microsoft.com/office/drawing/2014/main" id="{3A5F281D-9BFF-4704-AB79-2B20FB9A8825}"/>
              </a:ext>
            </a:extLst>
          </p:cNvPr>
          <p:cNvSpPr>
            <a:spLocks noGrp="1"/>
          </p:cNvSpPr>
          <p:nvPr/>
        </p:nvSpPr>
        <p:spPr>
          <a:xfrm>
            <a:off x="7831120" y="4515088"/>
            <a:ext cx="25400" cy="380000"/>
          </a:xfrm>
          <a:prstGeom prst="rect">
            <a:avLst/>
          </a:prstGeom>
          <a:solidFill>
            <a:srgbClr val="C8D2CC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24" name="SH424">
            <a:extLst>
              <a:ext uri="{FF2B5EF4-FFF2-40B4-BE49-F238E27FC236}">
                <a16:creationId xmlns:a16="http://schemas.microsoft.com/office/drawing/2014/main" id="{96B1E5E0-F37A-4CAE-A1A3-E2F2EEECFB88}"/>
              </a:ext>
            </a:extLst>
          </p:cNvPr>
          <p:cNvSpPr>
            <a:spLocks noGrp="1"/>
          </p:cNvSpPr>
          <p:nvPr/>
        </p:nvSpPr>
        <p:spPr>
          <a:xfrm>
            <a:off x="7843820" y="4882388"/>
            <a:ext cx="470000" cy="25400"/>
          </a:xfrm>
          <a:prstGeom prst="rect">
            <a:avLst/>
          </a:prstGeom>
          <a:solidFill>
            <a:srgbClr val="C8D2CC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25" name="TB425">
            <a:extLst>
              <a:ext uri="{FF2B5EF4-FFF2-40B4-BE49-F238E27FC236}">
                <a16:creationId xmlns:a16="http://schemas.microsoft.com/office/drawing/2014/main" id="{7484B184-09F8-4628-9139-1A058D79B0F0}"/>
              </a:ext>
            </a:extLst>
          </p:cNvPr>
          <p:cNvSpPr>
            <a:spLocks noGrp="1"/>
          </p:cNvSpPr>
          <p:nvPr/>
        </p:nvSpPr>
        <p:spPr>
          <a:xfrm>
            <a:off x="6123820" y="5335088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Cada huella conserva su shot_id: sin él no hay trazabilidad.</a:t>
            </a:r>
          </a:p>
        </p:txBody>
      </p:sp>
      <p:sp>
        <p:nvSpPr>
          <p:cNvPr id="426" name="Rectángulo 425">
            <a:extLst>
              <a:ext uri="{FF2B5EF4-FFF2-40B4-BE49-F238E27FC236}">
                <a16:creationId xmlns:a16="http://schemas.microsoft.com/office/drawing/2014/main" id="{D8547BFA-4BEE-4701-8DBC-68FC8BF2E841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57/79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15876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3B7D19-0261-4258-99B5-8884E3FAB4B0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Variables mínimas L4A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459FD7-9E88-43AF-89D5-301A8E87031E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Conversión de huellas a una tabla geoespacial lista para mapear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441792-4083-493C-A8E1-5B38FA45ACE4}"/>
              </a:ext>
            </a:extLst>
          </p:cNvPr>
          <p:cNvSpPr>
            <a:spLocks noGrp="1"/>
          </p:cNvSpPr>
          <p:nvPr/>
        </p:nvSpPr>
        <p:spPr>
          <a:xfrm>
            <a:off x="596900" y="1219200"/>
            <a:ext cx="5080000" cy="44704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Geometría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lat_lowestmode y lon_lowestmode, o sus coordenadas equivalentes.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Variable objetivo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agbd como densidad de biomasa aérea y agbd_se como error estándar.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Filtros de calidad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l4a_quality_flag_rel3, degrade_include_flag, sensitivity y selected_algorithm.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Auditoría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beam, shot_number, fecha y metadatos del modelo predictor.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066C804-7FB7-443A-8079-74510CB0EB03}"/>
              </a:ext>
            </a:extLst>
          </p:cNvPr>
          <p:cNvSpPr>
            <a:spLocks noGrp="1"/>
          </p:cNvSpPr>
          <p:nvPr/>
        </p:nvSpPr>
        <p:spPr>
          <a:xfrm>
            <a:off x="600075" y="58674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Earthdata GEDI v3 release; ORNL DAAC GEDI L4A v3, DOI 10.3334/ORNLDAAC/2508.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CCCEA1A-40C3-47BC-A0C4-5867C75FB913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58/79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0069215-6448-4B4C-A0BE-A337F99D5F3D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EFA18CC-56DD-467D-A1DD-0074EE51EE9C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graphicFrame>
        <p:nvGraphicFramePr>
          <p:cNvPr id="37" name="Tabla 28"/>
          <p:cNvGraphicFramePr/>
          <p:nvPr/>
        </p:nvGraphicFramePr>
        <p:xfrm>
          <a:off x="6048248" y="1317244"/>
          <a:ext cx="5256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Campo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Tipo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lat/lon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coordenada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geometría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agbd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numérico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objetivo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agbd_se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numérico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peso/incertidumbre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quality/degrade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entero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filtro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shot_number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trazabilidad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Rectángulo 28">
            <a:extLst>
              <a:ext uri="{FF2B5EF4-FFF2-40B4-BE49-F238E27FC236}">
                <a16:creationId xmlns:a16="http://schemas.microsoft.com/office/drawing/2014/main" id="{93BDFD67-06BA-4F4C-B586-42F6940455E7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58/79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36385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B5B8EA-BC94-4F79-8FE7-54F18EEB6A79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Variables mínimas L2A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53087E-90E7-4108-9009-86099349627E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Alturas relativas y control de la superficie del terreno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4B3F2B-1B59-451A-A0BE-C0E390096695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4838700" cy="4368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Métricas RH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 RH25 a RH100, según producto y haz.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Terreno y copa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elev_lowestmode y elev_highestreturn permiten revisarlos por separado.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Filtros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sensitivity y l2a_quality_flag_rel3 descartan los retornos poco confiables.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Condiciones raras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solar_elevation y las banderas auxiliares ayudan a detectarlas.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352B404-1D92-4D93-B63C-491298EEDAE3}"/>
              </a:ext>
            </a:extLst>
          </p:cNvPr>
          <p:cNvSpPr>
            <a:spLocks noGrp="1"/>
          </p:cNvSpPr>
          <p:nvPr/>
        </p:nvSpPr>
        <p:spPr>
          <a:xfrm>
            <a:off x="596900" y="5864200"/>
            <a:ext cx="109220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Dubayah et al. (2021a); LP DAAC (2020); GEDI/UMD Products.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9A961A6-8177-4682-B580-B5CC6C265E68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59/79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C8867D5-218E-48E6-9CB5-11F76ED76CF6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DCBC543-50EF-4D97-B0F5-750BA67A5002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graphicFrame>
        <p:nvGraphicFramePr>
          <p:cNvPr id="35" name="Tabla 25"/>
          <p:cNvGraphicFramePr/>
          <p:nvPr/>
        </p:nvGraphicFramePr>
        <p:xfrm>
          <a:off x="5892800" y="1270000"/>
          <a:ext cx="5626101" cy="41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Campo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Comentario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rh95/rh98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altura de dosel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predictor fuerte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elev_lowestmode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terreno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comparar con DEM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quality_flag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filtro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usar primero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sensitivity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filtro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umbral según bosque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ángulo 25">
            <a:extLst>
              <a:ext uri="{FF2B5EF4-FFF2-40B4-BE49-F238E27FC236}">
                <a16:creationId xmlns:a16="http://schemas.microsoft.com/office/drawing/2014/main" id="{013736DC-ABF7-4A3E-AC02-FDC034E7B77A}"/>
              </a:ext>
            </a:extLst>
          </p:cNvPr>
          <p:cNvSpPr>
            <a:spLocks noGrp="1"/>
          </p:cNvSpPr>
          <p:nvPr/>
        </p:nvSpPr>
        <p:spPr>
          <a:xfrm>
            <a:off x="5905500" y="3600450"/>
            <a:ext cx="18669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47625" rIns="38100" bIns="47625" anchor="ctr"/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l2a_quality_</a:t>
            </a:r>
          </a:p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flag_rel3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FA12700-5FDE-4404-BB8B-9F501ABB2D1D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59/79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11978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7AF0C9-DFA9-47BB-AAA5-8DFACCE6FCA0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Variables mínimas L2B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681F76-878F-4F7E-A43A-58DAAE263466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Métricas de estructura vertical para la mejora de los modelos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3DD2BF-8AF2-4902-A35D-FCE01D5315CC}"/>
              </a:ext>
            </a:extLst>
          </p:cNvPr>
          <p:cNvSpPr>
            <a:spLocks noGrp="1"/>
          </p:cNvSpPr>
          <p:nvPr/>
        </p:nvSpPr>
        <p:spPr>
          <a:xfrm>
            <a:off x="596900" y="1257300"/>
            <a:ext cx="5588000" cy="4191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cover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Cierre de copa por huella: indica cuánta superficie intercepta el dosel.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pai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Índice de área vegetal acumulado, sensible a la densidad del follaje.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pavd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Densidad de área vegetal por estratos verticales.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fhd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Diversidad vertical, útil para describir la complejidad del bosque.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898F74C-F93C-4787-B640-0B13370A1903}"/>
              </a:ext>
            </a:extLst>
          </p:cNvPr>
          <p:cNvSpPr>
            <a:spLocks noGrp="1"/>
          </p:cNvSpPr>
          <p:nvPr/>
        </p:nvSpPr>
        <p:spPr>
          <a:xfrm>
            <a:off x="596900" y="5740400"/>
            <a:ext cx="109220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nl-NL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nl-NL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Dubayah et al. (2021b); LP DAAC (2020); GEDI/UMD Products.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92D452B-5A65-453B-911C-523F37903AE6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60/79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0506649-FF28-4DE8-BAB0-936F4A83CDEB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AD0064-6542-4523-A196-164CF220B7E1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graphicFrame>
        <p:nvGraphicFramePr>
          <p:cNvPr id="34" name="Tabla 25"/>
          <p:cNvGraphicFramePr/>
          <p:nvPr/>
        </p:nvGraphicFramePr>
        <p:xfrm>
          <a:off x="6670040" y="1252220"/>
          <a:ext cx="4503367" cy="41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Campo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Interpretación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cierre de copa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densidad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pai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área vegetal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estructura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pavd_z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perfil vertical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estratos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fhd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diversidad vertical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hábitat/biomasa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ángulo 25">
            <a:extLst>
              <a:ext uri="{FF2B5EF4-FFF2-40B4-BE49-F238E27FC236}">
                <a16:creationId xmlns:a16="http://schemas.microsoft.com/office/drawing/2014/main" id="{53F6DCD5-2126-4075-B945-C754A673C2E7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60/79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68887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158402-0A07-4225-AD8F-8BAE88D8D84F}"/>
              </a:ext>
            </a:extLst>
          </p:cNvPr>
          <p:cNvSpPr>
            <a:spLocks noGrp="1"/>
          </p:cNvSpPr>
          <p:nvPr/>
        </p:nvSpPr>
        <p:spPr>
          <a:xfrm>
            <a:off x="502920" y="231104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Filtrado espacial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5D1B46-D248-49B6-9309-6229BD768CE6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Filtrado espacial: área de interés y máscara de bosque válido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6AE1DB1-FFE8-46C7-A9A7-DD2E5C8B4FFB}"/>
              </a:ext>
            </a:extLst>
          </p:cNvPr>
          <p:cNvSpPr>
            <a:spLocks noGrp="1"/>
          </p:cNvSpPr>
          <p:nvPr/>
        </p:nvSpPr>
        <p:spPr>
          <a:xfrm>
            <a:off x="600075" y="58200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CIEFAP/SNMBN Bosque Andino Patagónico; Argentina Ambiente Mapas de Bosque Nativo; Chubut OTBN. NASA GEDI Data Resources; LP DAAC Quick Guide; Earthdata Cloud Cookbook.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A0CCAE1-6F28-46A3-A0CD-EC14DD21FEDF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61/79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FE8310-DD08-4943-97EA-43025449046B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11C855-3278-4C56-B778-4A96E17C87FF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19C2D9-08C4-4208-B1BB-E0D4F6CD082D}"/>
              </a:ext>
            </a:extLst>
          </p:cNvPr>
          <p:cNvSpPr>
            <a:spLocks noGrp="1"/>
          </p:cNvSpPr>
          <p:nvPr/>
        </p:nvSpPr>
        <p:spPr>
          <a:xfrm>
            <a:off x="596900" y="1219200"/>
            <a:ext cx="5080000" cy="4368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Intersección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Cruzar las huellas con el polígono de bosque andino chubutense.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Máscaras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Aplicar las de bosque nativo, agua, nieve, urbano, plantación y áreas no objetivo.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Bordes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Excluir las huellas próximas al límite si se busca un entrenamiento limpio.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Registro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Mantener una tabla de conteos antes y después de cada filtro.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580BEC91-1123-4EDA-9CCA-65493416C482}"/>
              </a:ext>
            </a:extLst>
          </p:cNvPr>
          <p:cNvSpPr>
            <a:spLocks noGrp="1"/>
          </p:cNvSpPr>
          <p:nvPr/>
        </p:nvSpPr>
        <p:spPr>
          <a:xfrm>
            <a:off x="6498820" y="1150000"/>
            <a:ext cx="432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Intersección espacial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9BAA22FB-3FAD-474F-B93A-885EE4791425}"/>
              </a:ext>
            </a:extLst>
          </p:cNvPr>
          <p:cNvSpPr>
            <a:spLocks noGrp="1"/>
          </p:cNvSpPr>
          <p:nvPr/>
        </p:nvSpPr>
        <p:spPr>
          <a:xfrm>
            <a:off x="6498820" y="1520000"/>
            <a:ext cx="4248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Solo las huellas dentro de ambas capas entran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27DA2601-DF14-42CF-AE84-713D7051154B}"/>
              </a:ext>
            </a:extLst>
          </p:cNvPr>
          <p:cNvSpPr>
            <a:spLocks noGrp="1"/>
          </p:cNvSpPr>
          <p:nvPr/>
        </p:nvSpPr>
        <p:spPr>
          <a:xfrm>
            <a:off x="7198820" y="2150000"/>
            <a:ext cx="2000000" cy="2000000"/>
          </a:xfrm>
          <a:prstGeom prst="ellipse">
            <a:avLst/>
          </a:prstGeom>
          <a:solidFill>
            <a:srgbClr val="F4F7F5"/>
          </a:solidFill>
          <a:ln w="25400">
            <a:solidFill>
              <a:srgbClr val="4F9A74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A5DFDC5B-593A-49B4-9F35-A9BD84ECBF7F}"/>
              </a:ext>
            </a:extLst>
          </p:cNvPr>
          <p:cNvSpPr>
            <a:spLocks noGrp="1"/>
          </p:cNvSpPr>
          <p:nvPr/>
        </p:nvSpPr>
        <p:spPr>
          <a:xfrm>
            <a:off x="8548820" y="2150000"/>
            <a:ext cx="2000000" cy="2000000"/>
          </a:xfrm>
          <a:prstGeom prst="ellipse">
            <a:avLst/>
          </a:prstGeom>
          <a:noFill/>
          <a:ln w="25400">
            <a:solidFill>
              <a:srgbClr val="2D6A4F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4" name="TB404">
            <a:extLst>
              <a:ext uri="{FF2B5EF4-FFF2-40B4-BE49-F238E27FC236}">
                <a16:creationId xmlns:a16="http://schemas.microsoft.com/office/drawing/2014/main" id="{465745EE-45AE-48BB-B333-6E0B09C1DC9A}"/>
              </a:ext>
            </a:extLst>
          </p:cNvPr>
          <p:cNvSpPr>
            <a:spLocks noGrp="1"/>
          </p:cNvSpPr>
          <p:nvPr/>
        </p:nvSpPr>
        <p:spPr>
          <a:xfrm>
            <a:off x="6998820" y="1820000"/>
            <a:ext cx="200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AOI declarado</a:t>
            </a:r>
          </a:p>
        </p:txBody>
      </p:sp>
      <p:sp>
        <p:nvSpPr>
          <p:cNvPr id="405" name="TB405">
            <a:extLst>
              <a:ext uri="{FF2B5EF4-FFF2-40B4-BE49-F238E27FC236}">
                <a16:creationId xmlns:a16="http://schemas.microsoft.com/office/drawing/2014/main" id="{62406744-A670-4166-9C65-513B36813DD1}"/>
              </a:ext>
            </a:extLst>
          </p:cNvPr>
          <p:cNvSpPr>
            <a:spLocks noGrp="1"/>
          </p:cNvSpPr>
          <p:nvPr/>
        </p:nvSpPr>
        <p:spPr>
          <a:xfrm>
            <a:off x="8748820" y="4230000"/>
            <a:ext cx="200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máscara de bosque</a:t>
            </a:r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99081FF0-40D4-4971-AAF6-2BDE0D18056C}"/>
              </a:ext>
            </a:extLst>
          </p:cNvPr>
          <p:cNvSpPr>
            <a:spLocks noGrp="1"/>
          </p:cNvSpPr>
          <p:nvPr/>
        </p:nvSpPr>
        <p:spPr>
          <a:xfrm>
            <a:off x="8801820" y="2798000"/>
            <a:ext cx="144000" cy="14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B7116DFF-50F8-4259-933C-34A94F64585F}"/>
              </a:ext>
            </a:extLst>
          </p:cNvPr>
          <p:cNvSpPr>
            <a:spLocks noGrp="1"/>
          </p:cNvSpPr>
          <p:nvPr/>
        </p:nvSpPr>
        <p:spPr>
          <a:xfrm>
            <a:off x="8897820" y="3078000"/>
            <a:ext cx="144000" cy="14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C6FE5FB6-2DEA-495F-A67D-675649BCF2BA}"/>
              </a:ext>
            </a:extLst>
          </p:cNvPr>
          <p:cNvSpPr>
            <a:spLocks noGrp="1"/>
          </p:cNvSpPr>
          <p:nvPr/>
        </p:nvSpPr>
        <p:spPr>
          <a:xfrm>
            <a:off x="8761820" y="3318000"/>
            <a:ext cx="144000" cy="14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2343AE36-2923-48D2-AAE2-7EF28725C614}"/>
              </a:ext>
            </a:extLst>
          </p:cNvPr>
          <p:cNvSpPr>
            <a:spLocks noGrp="1"/>
          </p:cNvSpPr>
          <p:nvPr/>
        </p:nvSpPr>
        <p:spPr>
          <a:xfrm>
            <a:off x="8961820" y="2958000"/>
            <a:ext cx="144000" cy="14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BEECE3F9-5D92-4550-AF90-5A469093026F}"/>
              </a:ext>
            </a:extLst>
          </p:cNvPr>
          <p:cNvSpPr>
            <a:spLocks noGrp="1"/>
          </p:cNvSpPr>
          <p:nvPr/>
        </p:nvSpPr>
        <p:spPr>
          <a:xfrm>
            <a:off x="8681820" y="3038000"/>
            <a:ext cx="144000" cy="14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51A8E40F-DD16-405B-B739-44A7A236AABA}"/>
              </a:ext>
            </a:extLst>
          </p:cNvPr>
          <p:cNvSpPr>
            <a:spLocks noGrp="1"/>
          </p:cNvSpPr>
          <p:nvPr/>
        </p:nvSpPr>
        <p:spPr>
          <a:xfrm>
            <a:off x="8841820" y="3198000"/>
            <a:ext cx="144000" cy="14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9C0B71FB-3EF1-45DD-92C3-7ADCD5B7453B}"/>
              </a:ext>
            </a:extLst>
          </p:cNvPr>
          <p:cNvSpPr>
            <a:spLocks noGrp="1"/>
          </p:cNvSpPr>
          <p:nvPr/>
        </p:nvSpPr>
        <p:spPr>
          <a:xfrm>
            <a:off x="7376820" y="2678000"/>
            <a:ext cx="144000" cy="14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4544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A7F062C3-9394-445D-A6B1-218F6FE5E518}"/>
              </a:ext>
            </a:extLst>
          </p:cNvPr>
          <p:cNvSpPr>
            <a:spLocks noGrp="1"/>
          </p:cNvSpPr>
          <p:nvPr/>
        </p:nvSpPr>
        <p:spPr>
          <a:xfrm>
            <a:off x="7276820" y="3328000"/>
            <a:ext cx="144000" cy="14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4544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2675A6A9-7EC7-4C38-B3B0-1C565011881E}"/>
              </a:ext>
            </a:extLst>
          </p:cNvPr>
          <p:cNvSpPr>
            <a:spLocks noGrp="1"/>
          </p:cNvSpPr>
          <p:nvPr/>
        </p:nvSpPr>
        <p:spPr>
          <a:xfrm>
            <a:off x="7576820" y="3698000"/>
            <a:ext cx="144000" cy="14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4544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625D391D-0C67-4211-8274-4B9F2656153B}"/>
              </a:ext>
            </a:extLst>
          </p:cNvPr>
          <p:cNvSpPr>
            <a:spLocks noGrp="1"/>
          </p:cNvSpPr>
          <p:nvPr/>
        </p:nvSpPr>
        <p:spPr>
          <a:xfrm>
            <a:off x="7526820" y="2458000"/>
            <a:ext cx="144000" cy="14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4544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26EC2507-E339-4541-B480-95FDF19B4685}"/>
              </a:ext>
            </a:extLst>
          </p:cNvPr>
          <p:cNvSpPr>
            <a:spLocks noGrp="1"/>
          </p:cNvSpPr>
          <p:nvPr/>
        </p:nvSpPr>
        <p:spPr>
          <a:xfrm>
            <a:off x="10276820" y="2728000"/>
            <a:ext cx="144000" cy="14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4544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7" name="SH417">
            <a:extLst>
              <a:ext uri="{FF2B5EF4-FFF2-40B4-BE49-F238E27FC236}">
                <a16:creationId xmlns:a16="http://schemas.microsoft.com/office/drawing/2014/main" id="{C52C3665-1F03-4445-9075-9341CBB7CC43}"/>
              </a:ext>
            </a:extLst>
          </p:cNvPr>
          <p:cNvSpPr>
            <a:spLocks noGrp="1"/>
          </p:cNvSpPr>
          <p:nvPr/>
        </p:nvSpPr>
        <p:spPr>
          <a:xfrm>
            <a:off x="10176820" y="3578000"/>
            <a:ext cx="144000" cy="14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4544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C7CEE558-0C99-45EE-92A5-9B17C3F326BA}"/>
              </a:ext>
            </a:extLst>
          </p:cNvPr>
          <p:cNvSpPr>
            <a:spLocks noGrp="1"/>
          </p:cNvSpPr>
          <p:nvPr/>
        </p:nvSpPr>
        <p:spPr>
          <a:xfrm>
            <a:off x="10376820" y="3198000"/>
            <a:ext cx="144000" cy="14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4544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1D3B5BEF-7045-4A31-B133-B09C157513FB}"/>
              </a:ext>
            </a:extLst>
          </p:cNvPr>
          <p:cNvSpPr>
            <a:spLocks noGrp="1"/>
          </p:cNvSpPr>
          <p:nvPr/>
        </p:nvSpPr>
        <p:spPr>
          <a:xfrm>
            <a:off x="6676820" y="4598000"/>
            <a:ext cx="144000" cy="14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0" name="TB420">
            <a:extLst>
              <a:ext uri="{FF2B5EF4-FFF2-40B4-BE49-F238E27FC236}">
                <a16:creationId xmlns:a16="http://schemas.microsoft.com/office/drawing/2014/main" id="{C31967AD-AC6E-4B98-AD01-6BD94900E50E}"/>
              </a:ext>
            </a:extLst>
          </p:cNvPr>
          <p:cNvSpPr>
            <a:spLocks noGrp="1"/>
          </p:cNvSpPr>
          <p:nvPr/>
        </p:nvSpPr>
        <p:spPr>
          <a:xfrm>
            <a:off x="6918820" y="4525000"/>
            <a:ext cx="190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huellas válidas</a:t>
            </a:r>
          </a:p>
        </p:txBody>
      </p:sp>
      <p:sp>
        <p:nvSpPr>
          <p:cNvPr id="421" name="SH421">
            <a:extLst>
              <a:ext uri="{FF2B5EF4-FFF2-40B4-BE49-F238E27FC236}">
                <a16:creationId xmlns:a16="http://schemas.microsoft.com/office/drawing/2014/main" id="{71DDED9C-68B5-42B0-A7DD-FD1826EDB50E}"/>
              </a:ext>
            </a:extLst>
          </p:cNvPr>
          <p:cNvSpPr>
            <a:spLocks noGrp="1"/>
          </p:cNvSpPr>
          <p:nvPr/>
        </p:nvSpPr>
        <p:spPr>
          <a:xfrm>
            <a:off x="8926820" y="4598000"/>
            <a:ext cx="144000" cy="14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4544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22" name="TB422">
            <a:extLst>
              <a:ext uri="{FF2B5EF4-FFF2-40B4-BE49-F238E27FC236}">
                <a16:creationId xmlns:a16="http://schemas.microsoft.com/office/drawing/2014/main" id="{79A3A07B-4BA7-4CE1-A075-7060D8127FD3}"/>
              </a:ext>
            </a:extLst>
          </p:cNvPr>
          <p:cNvSpPr>
            <a:spLocks noGrp="1"/>
          </p:cNvSpPr>
          <p:nvPr/>
        </p:nvSpPr>
        <p:spPr>
          <a:xfrm>
            <a:off x="9168820" y="4525000"/>
            <a:ext cx="198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descartadas por máscara</a:t>
            </a:r>
          </a:p>
        </p:txBody>
      </p:sp>
      <p:sp>
        <p:nvSpPr>
          <p:cNvPr id="423" name="TB423">
            <a:extLst>
              <a:ext uri="{FF2B5EF4-FFF2-40B4-BE49-F238E27FC236}">
                <a16:creationId xmlns:a16="http://schemas.microsoft.com/office/drawing/2014/main" id="{FEB6EC86-FC24-4B3B-BF39-E5F849F16046}"/>
              </a:ext>
            </a:extLst>
          </p:cNvPr>
          <p:cNvSpPr>
            <a:spLocks noGrp="1"/>
          </p:cNvSpPr>
          <p:nvPr/>
        </p:nvSpPr>
        <p:spPr>
          <a:xfrm>
            <a:off x="6498820" y="4990000"/>
            <a:ext cx="4248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Se excluyen agua, nieve, urbano y bordes con buffer.</a:t>
            </a:r>
          </a:p>
        </p:txBody>
      </p:sp>
      <p:sp>
        <p:nvSpPr>
          <p:cNvPr id="424" name="TB424">
            <a:extLst>
              <a:ext uri="{FF2B5EF4-FFF2-40B4-BE49-F238E27FC236}">
                <a16:creationId xmlns:a16="http://schemas.microsoft.com/office/drawing/2014/main" id="{EFA3BF08-D55B-4FDB-B601-35DD608BF269}"/>
              </a:ext>
            </a:extLst>
          </p:cNvPr>
          <p:cNvSpPr>
            <a:spLocks noGrp="1"/>
          </p:cNvSpPr>
          <p:nvPr/>
        </p:nvSpPr>
        <p:spPr>
          <a:xfrm>
            <a:off x="6498820" y="5330000"/>
            <a:ext cx="4248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El recorte espacial se hace antes de cualquier ajuste.</a:t>
            </a:r>
          </a:p>
        </p:txBody>
      </p:sp>
      <p:sp>
        <p:nvSpPr>
          <p:cNvPr id="425" name="Rectángulo 424">
            <a:extLst>
              <a:ext uri="{FF2B5EF4-FFF2-40B4-BE49-F238E27FC236}">
                <a16:creationId xmlns:a16="http://schemas.microsoft.com/office/drawing/2014/main" id="{A59FB206-E634-4C42-9102-379B3C0066C6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61/79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45208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D9E6A4-C127-4002-A177-EB6206EA860C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Filtrado de calidad recomendado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FCB8EB-EB27-42E8-835B-DAF4CFBE2720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Secuencia recomendada de filtros de calidad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40DCEB2-594F-4540-B2D8-DDD77313F860}"/>
              </a:ext>
            </a:extLst>
          </p:cNvPr>
          <p:cNvSpPr>
            <a:spLocks noGrp="1"/>
          </p:cNvSpPr>
          <p:nvPr/>
        </p:nvSpPr>
        <p:spPr>
          <a:xfrm>
            <a:off x="600075" y="5644180"/>
            <a:ext cx="10915650" cy="48994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GEDI/UMD Products; LP DAAC GEDI02 User Guides; ORNL DAAC L4A/L4B. NASA EarthRISE GEDI training.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B2C4FFB-905A-4C0E-828F-B68B1EC705C2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62/79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E1F59AC-737E-4988-BAF9-0C3C1A34D34C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98BDFE4-2D89-4E80-A958-DA134FF70FB1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12C274-E13F-4590-86DB-CEBB81A5C76E}"/>
              </a:ext>
            </a:extLst>
          </p:cNvPr>
          <p:cNvSpPr>
            <a:spLocks noGrp="1"/>
          </p:cNvSpPr>
          <p:nvPr/>
        </p:nvSpPr>
        <p:spPr>
          <a:xfrm>
            <a:off x="596900" y="1193800"/>
            <a:ext cx="5080000" cy="4368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Primero, flags oficiales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l4a_quality_flag_rel3 y degrade_include_flag, en ese orden.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Luego, umbrales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Sensibilidad mínima y rangos plausibles de AGBD y su error estándar.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Después, filtros espaciales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Bosque, pendiente, distancia a borde y a cuerpos de agua.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Por último, diagnóstico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Revisión de valores atípicos con covariables e inspección visual.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265167D8-8750-4136-98F0-285079A344AC}"/>
              </a:ext>
            </a:extLst>
          </p:cNvPr>
          <p:cNvSpPr>
            <a:spLocks noGrp="1"/>
          </p:cNvSpPr>
          <p:nvPr/>
        </p:nvSpPr>
        <p:spPr>
          <a:xfrm>
            <a:off x="6342820" y="1393200"/>
            <a:ext cx="4536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Secuencia de filtros de calidad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1A49C8B9-E8BE-47CF-8E7C-AAF63B4A9533}"/>
              </a:ext>
            </a:extLst>
          </p:cNvPr>
          <p:cNvSpPr>
            <a:spLocks noGrp="1"/>
          </p:cNvSpPr>
          <p:nvPr/>
        </p:nvSpPr>
        <p:spPr>
          <a:xfrm>
            <a:off x="6342820" y="1763200"/>
            <a:ext cx="4140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El caudal de huellas se angosta en cada compuerta: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E569A8BF-3743-4C3D-BD32-9810CB29BD4E}"/>
              </a:ext>
            </a:extLst>
          </p:cNvPr>
          <p:cNvSpPr>
            <a:spLocks noGrp="1"/>
          </p:cNvSpPr>
          <p:nvPr/>
        </p:nvSpPr>
        <p:spPr>
          <a:xfrm>
            <a:off x="6492820" y="2443200"/>
            <a:ext cx="782000" cy="1500000"/>
          </a:xfrm>
          <a:prstGeom prst="rect">
            <a:avLst/>
          </a:prstGeom>
          <a:solidFill>
            <a:srgbClr val="F4F7F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F2A77AC4-729E-4C7E-A558-D63DFE8C81F0}"/>
              </a:ext>
            </a:extLst>
          </p:cNvPr>
          <p:cNvSpPr>
            <a:spLocks noGrp="1"/>
          </p:cNvSpPr>
          <p:nvPr/>
        </p:nvSpPr>
        <p:spPr>
          <a:xfrm>
            <a:off x="7263295" y="2613200"/>
            <a:ext cx="19050" cy="1160000"/>
          </a:xfrm>
          <a:prstGeom prst="rect">
            <a:avLst/>
          </a:prstGeom>
          <a:solidFill>
            <a:srgbClr val="4F9A74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sz="1500"/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EA2164E3-ABF6-40C1-8193-8B56482049D6}"/>
              </a:ext>
            </a:extLst>
          </p:cNvPr>
          <p:cNvSpPr>
            <a:spLocks noGrp="1"/>
          </p:cNvSpPr>
          <p:nvPr/>
        </p:nvSpPr>
        <p:spPr>
          <a:xfrm>
            <a:off x="7272820" y="2613200"/>
            <a:ext cx="782000" cy="1160000"/>
          </a:xfrm>
          <a:prstGeom prst="rect">
            <a:avLst/>
          </a:prstGeom>
          <a:solidFill>
            <a:srgbClr val="F4F7F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D2D738DD-AC38-4771-8763-861C011312B0}"/>
              </a:ext>
            </a:extLst>
          </p:cNvPr>
          <p:cNvSpPr>
            <a:spLocks noGrp="1"/>
          </p:cNvSpPr>
          <p:nvPr/>
        </p:nvSpPr>
        <p:spPr>
          <a:xfrm>
            <a:off x="8043295" y="2743200"/>
            <a:ext cx="19050" cy="900000"/>
          </a:xfrm>
          <a:prstGeom prst="rect">
            <a:avLst/>
          </a:prstGeom>
          <a:solidFill>
            <a:srgbClr val="4F9A74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D3F94931-25D1-411D-A4A1-DEBDE6D90715}"/>
              </a:ext>
            </a:extLst>
          </p:cNvPr>
          <p:cNvSpPr>
            <a:spLocks noGrp="1"/>
          </p:cNvSpPr>
          <p:nvPr/>
        </p:nvSpPr>
        <p:spPr>
          <a:xfrm>
            <a:off x="8052820" y="2743200"/>
            <a:ext cx="782000" cy="900000"/>
          </a:xfrm>
          <a:prstGeom prst="rect">
            <a:avLst/>
          </a:prstGeom>
          <a:solidFill>
            <a:srgbClr val="F4F7F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2C7D4961-1658-4F80-B20E-C5C980604AD3}"/>
              </a:ext>
            </a:extLst>
          </p:cNvPr>
          <p:cNvSpPr>
            <a:spLocks noGrp="1"/>
          </p:cNvSpPr>
          <p:nvPr/>
        </p:nvSpPr>
        <p:spPr>
          <a:xfrm>
            <a:off x="8823295" y="2848200"/>
            <a:ext cx="19050" cy="690000"/>
          </a:xfrm>
          <a:prstGeom prst="rect">
            <a:avLst/>
          </a:prstGeom>
          <a:solidFill>
            <a:srgbClr val="4F9A74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D29C8EE9-6AA9-4F5E-8A84-DA82E754961D}"/>
              </a:ext>
            </a:extLst>
          </p:cNvPr>
          <p:cNvSpPr>
            <a:spLocks noGrp="1"/>
          </p:cNvSpPr>
          <p:nvPr/>
        </p:nvSpPr>
        <p:spPr>
          <a:xfrm>
            <a:off x="8832820" y="2848200"/>
            <a:ext cx="782000" cy="690000"/>
          </a:xfrm>
          <a:prstGeom prst="rect">
            <a:avLst/>
          </a:prstGeom>
          <a:solidFill>
            <a:srgbClr val="F4F7F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02693F81-0203-40AF-8D53-A9A01A07ACB2}"/>
              </a:ext>
            </a:extLst>
          </p:cNvPr>
          <p:cNvSpPr>
            <a:spLocks noGrp="1"/>
          </p:cNvSpPr>
          <p:nvPr/>
        </p:nvSpPr>
        <p:spPr>
          <a:xfrm>
            <a:off x="9603295" y="2933200"/>
            <a:ext cx="19050" cy="520000"/>
          </a:xfrm>
          <a:prstGeom prst="rect">
            <a:avLst/>
          </a:prstGeom>
          <a:solidFill>
            <a:srgbClr val="4F9A74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sz="1500"/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15F93648-E50C-401C-AB2C-085A2C07EBEF}"/>
              </a:ext>
            </a:extLst>
          </p:cNvPr>
          <p:cNvSpPr>
            <a:spLocks noGrp="1"/>
          </p:cNvSpPr>
          <p:nvPr/>
        </p:nvSpPr>
        <p:spPr>
          <a:xfrm>
            <a:off x="9612820" y="2933200"/>
            <a:ext cx="782000" cy="520000"/>
          </a:xfrm>
          <a:prstGeom prst="rect">
            <a:avLst/>
          </a:prstGeom>
          <a:solidFill>
            <a:srgbClr val="F4F7F5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75214E2B-0636-47EC-9214-8B43F053631A}"/>
              </a:ext>
            </a:extLst>
          </p:cNvPr>
          <p:cNvSpPr>
            <a:spLocks noGrp="1"/>
          </p:cNvSpPr>
          <p:nvPr/>
        </p:nvSpPr>
        <p:spPr>
          <a:xfrm>
            <a:off x="10383295" y="2998200"/>
            <a:ext cx="19050" cy="390000"/>
          </a:xfrm>
          <a:prstGeom prst="rect">
            <a:avLst/>
          </a:prstGeom>
          <a:solidFill>
            <a:srgbClr val="4F9A74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sz="1500"/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A829E751-8758-4B6B-9584-CE528378FC0C}"/>
              </a:ext>
            </a:extLst>
          </p:cNvPr>
          <p:cNvSpPr>
            <a:spLocks noGrp="1"/>
          </p:cNvSpPr>
          <p:nvPr/>
        </p:nvSpPr>
        <p:spPr>
          <a:xfrm>
            <a:off x="6492820" y="2443200"/>
            <a:ext cx="3900000" cy="25400"/>
          </a:xfrm>
          <a:prstGeom prst="rect">
            <a:avLst/>
          </a:prstGeom>
          <a:solidFill>
            <a:srgbClr val="4F9A74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sz="1500"/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AEF8A017-795A-49E2-877A-D04B7A3D33E2}"/>
              </a:ext>
            </a:extLst>
          </p:cNvPr>
          <p:cNvSpPr>
            <a:spLocks noGrp="1"/>
          </p:cNvSpPr>
          <p:nvPr/>
        </p:nvSpPr>
        <p:spPr>
          <a:xfrm>
            <a:off x="6492820" y="3917800"/>
            <a:ext cx="3900000" cy="25400"/>
          </a:xfrm>
          <a:prstGeom prst="rect">
            <a:avLst/>
          </a:prstGeom>
          <a:solidFill>
            <a:srgbClr val="4F9A74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sz="1500"/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BB3BEFB9-92FB-4395-BE1E-6197FE51D422}"/>
              </a:ext>
            </a:extLst>
          </p:cNvPr>
          <p:cNvSpPr>
            <a:spLocks noGrp="1"/>
          </p:cNvSpPr>
          <p:nvPr/>
        </p:nvSpPr>
        <p:spPr>
          <a:xfrm>
            <a:off x="6737820" y="3048200"/>
            <a:ext cx="290000" cy="290000"/>
          </a:xfrm>
          <a:prstGeom prst="ellipse">
            <a:avLst/>
          </a:prstGeom>
          <a:solidFill>
            <a:srgbClr val="2D6A4F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15" name="TB415">
            <a:extLst>
              <a:ext uri="{FF2B5EF4-FFF2-40B4-BE49-F238E27FC236}">
                <a16:creationId xmlns:a16="http://schemas.microsoft.com/office/drawing/2014/main" id="{3F3C25D9-F362-4562-BE39-39624DF3E58E}"/>
              </a:ext>
            </a:extLst>
          </p:cNvPr>
          <p:cNvSpPr>
            <a:spLocks noGrp="1"/>
          </p:cNvSpPr>
          <p:nvPr/>
        </p:nvSpPr>
        <p:spPr>
          <a:xfrm>
            <a:off x="6337300" y="4089400"/>
            <a:ext cx="12192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latin typeface="Arial"/>
                <a:ea typeface="Arial"/>
                <a:cs typeface="Arial"/>
              </a:rPr>
              <a:t>flags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latin typeface="Arial"/>
                <a:ea typeface="Arial"/>
                <a:cs typeface="Arial"/>
              </a:rPr>
              <a:t>oficiales</a:t>
            </a:r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0FC52AF9-86AB-4C07-8091-2ABFA5AEAA28}"/>
              </a:ext>
            </a:extLst>
          </p:cNvPr>
          <p:cNvSpPr>
            <a:spLocks noGrp="1"/>
          </p:cNvSpPr>
          <p:nvPr/>
        </p:nvSpPr>
        <p:spPr>
          <a:xfrm>
            <a:off x="7517820" y="3048200"/>
            <a:ext cx="290000" cy="290000"/>
          </a:xfrm>
          <a:prstGeom prst="ellipse">
            <a:avLst/>
          </a:prstGeom>
          <a:solidFill>
            <a:srgbClr val="2D6A4F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BF92852D-5517-4931-9185-D020F0C145CB}"/>
              </a:ext>
            </a:extLst>
          </p:cNvPr>
          <p:cNvSpPr>
            <a:spLocks noGrp="1"/>
          </p:cNvSpPr>
          <p:nvPr/>
        </p:nvSpPr>
        <p:spPr>
          <a:xfrm>
            <a:off x="7112000" y="4089400"/>
            <a:ext cx="12192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latin typeface="Arial"/>
                <a:ea typeface="Arial"/>
                <a:cs typeface="Arial"/>
              </a:rPr>
              <a:t>sensibilidad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latin typeface="Arial"/>
                <a:ea typeface="Arial"/>
                <a:cs typeface="Arial"/>
              </a:rPr>
              <a:t>mínima</a:t>
            </a:r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8649D584-5CB8-4B61-AC6A-B405D3BF67DE}"/>
              </a:ext>
            </a:extLst>
          </p:cNvPr>
          <p:cNvSpPr>
            <a:spLocks noGrp="1"/>
          </p:cNvSpPr>
          <p:nvPr/>
        </p:nvSpPr>
        <p:spPr>
          <a:xfrm>
            <a:off x="8297820" y="3048200"/>
            <a:ext cx="290000" cy="290000"/>
          </a:xfrm>
          <a:prstGeom prst="ellipse">
            <a:avLst/>
          </a:prstGeom>
          <a:solidFill>
            <a:srgbClr val="2D6A4F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9" name="TB419">
            <a:extLst>
              <a:ext uri="{FF2B5EF4-FFF2-40B4-BE49-F238E27FC236}">
                <a16:creationId xmlns:a16="http://schemas.microsoft.com/office/drawing/2014/main" id="{F8F08178-D297-426E-8683-DE955C2F9866}"/>
              </a:ext>
            </a:extLst>
          </p:cNvPr>
          <p:cNvSpPr>
            <a:spLocks noGrp="1"/>
          </p:cNvSpPr>
          <p:nvPr/>
        </p:nvSpPr>
        <p:spPr>
          <a:xfrm>
            <a:off x="7899400" y="4089400"/>
            <a:ext cx="12192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latin typeface="Arial"/>
                <a:ea typeface="Arial"/>
                <a:cs typeface="Arial"/>
              </a:rPr>
              <a:t>rangos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latin typeface="Arial"/>
                <a:ea typeface="Arial"/>
                <a:cs typeface="Arial"/>
              </a:rPr>
              <a:t>plausibles</a:t>
            </a:r>
          </a:p>
        </p:txBody>
      </p:sp>
      <p:sp>
        <p:nvSpPr>
          <p:cNvPr id="420" name="SH420">
            <a:extLst>
              <a:ext uri="{FF2B5EF4-FFF2-40B4-BE49-F238E27FC236}">
                <a16:creationId xmlns:a16="http://schemas.microsoft.com/office/drawing/2014/main" id="{9F4F5971-FA8A-479A-A174-B6EDD24A81A8}"/>
              </a:ext>
            </a:extLst>
          </p:cNvPr>
          <p:cNvSpPr>
            <a:spLocks noGrp="1"/>
          </p:cNvSpPr>
          <p:nvPr/>
        </p:nvSpPr>
        <p:spPr>
          <a:xfrm>
            <a:off x="9077820" y="3048200"/>
            <a:ext cx="290000" cy="290000"/>
          </a:xfrm>
          <a:prstGeom prst="ellipse">
            <a:avLst/>
          </a:prstGeom>
          <a:solidFill>
            <a:srgbClr val="2D6A4F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21" name="TB421">
            <a:extLst>
              <a:ext uri="{FF2B5EF4-FFF2-40B4-BE49-F238E27FC236}">
                <a16:creationId xmlns:a16="http://schemas.microsoft.com/office/drawing/2014/main" id="{EC297607-FDF3-479A-BD56-02EF4B01EB0D}"/>
              </a:ext>
            </a:extLst>
          </p:cNvPr>
          <p:cNvSpPr>
            <a:spLocks noGrp="1"/>
          </p:cNvSpPr>
          <p:nvPr/>
        </p:nvSpPr>
        <p:spPr>
          <a:xfrm>
            <a:off x="8674100" y="4089400"/>
            <a:ext cx="12192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latin typeface="Arial"/>
                <a:ea typeface="Arial"/>
                <a:cs typeface="Arial"/>
              </a:rPr>
              <a:t>coherencia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latin typeface="Arial"/>
                <a:ea typeface="Arial"/>
                <a:cs typeface="Arial"/>
              </a:rPr>
              <a:t>espacial</a:t>
            </a:r>
          </a:p>
        </p:txBody>
      </p:sp>
      <p:sp>
        <p:nvSpPr>
          <p:cNvPr id="422" name="SH422">
            <a:extLst>
              <a:ext uri="{FF2B5EF4-FFF2-40B4-BE49-F238E27FC236}">
                <a16:creationId xmlns:a16="http://schemas.microsoft.com/office/drawing/2014/main" id="{5817C03C-FFC4-4919-9ED3-4DABD702B088}"/>
              </a:ext>
            </a:extLst>
          </p:cNvPr>
          <p:cNvSpPr>
            <a:spLocks noGrp="1"/>
          </p:cNvSpPr>
          <p:nvPr/>
        </p:nvSpPr>
        <p:spPr>
          <a:xfrm>
            <a:off x="9857820" y="3048200"/>
            <a:ext cx="290000" cy="290000"/>
          </a:xfrm>
          <a:prstGeom prst="ellipse">
            <a:avLst/>
          </a:prstGeom>
          <a:solidFill>
            <a:srgbClr val="2D6A4F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3" name="TB423">
            <a:extLst>
              <a:ext uri="{FF2B5EF4-FFF2-40B4-BE49-F238E27FC236}">
                <a16:creationId xmlns:a16="http://schemas.microsoft.com/office/drawing/2014/main" id="{29BCFB5F-8F51-4176-B5AB-EE9BAB0E3F82}"/>
              </a:ext>
            </a:extLst>
          </p:cNvPr>
          <p:cNvSpPr>
            <a:spLocks noGrp="1"/>
          </p:cNvSpPr>
          <p:nvPr/>
        </p:nvSpPr>
        <p:spPr>
          <a:xfrm>
            <a:off x="9461500" y="4089400"/>
            <a:ext cx="12192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latin typeface="Arial"/>
                <a:ea typeface="Arial"/>
                <a:cs typeface="Arial"/>
              </a:rPr>
              <a:t>outliers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latin typeface="Arial"/>
                <a:ea typeface="Arial"/>
                <a:cs typeface="Arial"/>
              </a:rPr>
              <a:t>auditados</a:t>
            </a:r>
          </a:p>
        </p:txBody>
      </p:sp>
      <p:sp>
        <p:nvSpPr>
          <p:cNvPr id="424" name="TB424">
            <a:extLst>
              <a:ext uri="{FF2B5EF4-FFF2-40B4-BE49-F238E27FC236}">
                <a16:creationId xmlns:a16="http://schemas.microsoft.com/office/drawing/2014/main" id="{9180A47E-6B98-478B-8B62-E6F5DFCC6501}"/>
              </a:ext>
            </a:extLst>
          </p:cNvPr>
          <p:cNvSpPr>
            <a:spLocks noGrp="1"/>
          </p:cNvSpPr>
          <p:nvPr/>
        </p:nvSpPr>
        <p:spPr>
          <a:xfrm>
            <a:off x="6492820" y="2113200"/>
            <a:ext cx="390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huellas brutas</a:t>
            </a:r>
          </a:p>
        </p:txBody>
      </p:sp>
      <p:sp>
        <p:nvSpPr>
          <p:cNvPr id="425" name="TB425">
            <a:extLst>
              <a:ext uri="{FF2B5EF4-FFF2-40B4-BE49-F238E27FC236}">
                <a16:creationId xmlns:a16="http://schemas.microsoft.com/office/drawing/2014/main" id="{C9737CA2-07AB-4834-AC7E-D0578ECAA403}"/>
              </a:ext>
            </a:extLst>
          </p:cNvPr>
          <p:cNvSpPr>
            <a:spLocks noGrp="1"/>
          </p:cNvSpPr>
          <p:nvPr/>
        </p:nvSpPr>
        <p:spPr>
          <a:xfrm>
            <a:off x="10512820" y="2903200"/>
            <a:ext cx="792000" cy="5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400" b="1" i="0">
                <a:solidFill>
                  <a:srgbClr val="2D6A4F"/>
                </a:solidFill>
                <a:latin typeface="Arial"/>
                <a:ea typeface="Arial"/>
                <a:cs typeface="Arial"/>
              </a:rPr>
              <a:t>muestra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1400" b="1" i="0">
                <a:solidFill>
                  <a:srgbClr val="2D6A4F"/>
                </a:solidFill>
                <a:latin typeface="Arial"/>
                <a:ea typeface="Arial"/>
                <a:cs typeface="Arial"/>
              </a:rPr>
              <a:t>utilizable</a:t>
            </a:r>
          </a:p>
        </p:txBody>
      </p:sp>
      <p:sp>
        <p:nvSpPr>
          <p:cNvPr id="426" name="TB426">
            <a:extLst>
              <a:ext uri="{FF2B5EF4-FFF2-40B4-BE49-F238E27FC236}">
                <a16:creationId xmlns:a16="http://schemas.microsoft.com/office/drawing/2014/main" id="{DB8A987A-60B2-48D8-872A-DC554CF5D056}"/>
              </a:ext>
            </a:extLst>
          </p:cNvPr>
          <p:cNvSpPr>
            <a:spLocks noGrp="1"/>
          </p:cNvSpPr>
          <p:nvPr/>
        </p:nvSpPr>
        <p:spPr>
          <a:xfrm>
            <a:off x="6342820" y="4943200"/>
            <a:ext cx="414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El orden importa: los flags oficiales van primero.</a:t>
            </a:r>
          </a:p>
        </p:txBody>
      </p:sp>
      <p:sp>
        <p:nvSpPr>
          <p:cNvPr id="427" name="Rectángulo 426">
            <a:extLst>
              <a:ext uri="{FF2B5EF4-FFF2-40B4-BE49-F238E27FC236}">
                <a16:creationId xmlns:a16="http://schemas.microsoft.com/office/drawing/2014/main" id="{2D503AE8-A8E8-43FF-825F-8CD03A65943E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62/79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16939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F83CBA-285E-4951-9879-EAFE882824C0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Conteo de huellas por filtro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59EE83-02CF-42F8-AD72-3419A421F0A9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Documentación de los filtros como requisito de transparencia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972831-42FD-4638-8B44-0EB965EFB848}"/>
              </a:ext>
            </a:extLst>
          </p:cNvPr>
          <p:cNvSpPr>
            <a:spLocks noGrp="1"/>
          </p:cNvSpPr>
          <p:nvPr/>
        </p:nvSpPr>
        <p:spPr>
          <a:xfrm>
            <a:off x="596900" y="1270000"/>
            <a:ext cx="5080000" cy="4500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Para qué sirve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conteo revela si el filtrado deja fuera estratos importantes.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reportar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Cuántas huellas se excluyen por calidad, bosque, pendiente o borde.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Señal de alarma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 un filtro elimina demasiado, revisar los umbrales por tipo forestal.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Criterio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Las pérdidas de muestra no se ocultan: son parte de la calidad del producto.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80B2740-6629-475F-B784-B781961EACD1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Elaboración propia. GEDI/UMD Products; LP DAAC GEDI02 User Guides; ORNL DAAC L4A/L4B.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2B500D8-F2C7-498D-9997-B450C65FAF7B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63/79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42F850A-A768-43BD-98E7-3D78DA656F42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F7F457F-1A47-4910-B9F4-49B6C8D9F48F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graphicFrame>
        <p:nvGraphicFramePr>
          <p:cNvPr id="37" name="Tabla 28"/>
          <p:cNvGraphicFramePr/>
          <p:nvPr/>
        </p:nvGraphicFramePr>
        <p:xfrm>
          <a:off x="6212840" y="1353820"/>
          <a:ext cx="4938734" cy="423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Ejemplo de criterio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Salida esperada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bruto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intersecta AOI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 inicial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quality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flag = 1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 confiable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bosque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clase nativa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 objetivo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&lt; umbral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 estable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outliers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rango/DEM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 final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Rectángulo 28">
            <a:extLst>
              <a:ext uri="{FF2B5EF4-FFF2-40B4-BE49-F238E27FC236}">
                <a16:creationId xmlns:a16="http://schemas.microsoft.com/office/drawing/2014/main" id="{D36BBBD7-DB74-4BEF-AA3B-0783FFB47BDA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63/79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0623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BEF173-03A1-4065-A5EE-60530E7BC365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Exploración inicial de AGBD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974649-22F9-448D-BCCE-4EDD52B5195A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Exploración descriptiva previa al ajuste del modelo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826664B-B971-4032-A3E0-C8D85F14E31F}"/>
              </a:ext>
            </a:extLst>
          </p:cNvPr>
          <p:cNvSpPr>
            <a:spLocks noGrp="1"/>
          </p:cNvSpPr>
          <p:nvPr/>
        </p:nvSpPr>
        <p:spPr>
          <a:xfrm>
            <a:off x="600075" y="582198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Elaboración propia. NASA Earthdata GEDI v3 release; ORNL DAAC GEDI L4A v3, DOI 10.3334/ORNLDAAC/2508.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8B25876-612D-48EA-BCC7-6ED1DC142097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64/79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4D6F988-B255-40AD-9A45-B0B73CE2EA2E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3F458BA-4885-4002-8AEF-1B811B4298C7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989EFC2-A4A7-4ACA-9B57-C3B22F539EA8}"/>
              </a:ext>
            </a:extLst>
          </p:cNvPr>
          <p:cNvSpPr>
            <a:spLocks noGrp="1"/>
          </p:cNvSpPr>
          <p:nvPr/>
        </p:nvSpPr>
        <p:spPr>
          <a:xfrm>
            <a:off x="596900" y="1193800"/>
            <a:ext cx="5080000" cy="4368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Distribución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Histograma de AGBD por tipo forestal y por período.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Patrón espacial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Mapa de huellas para detectar clústeres, vacíos y transectas problemáticas.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Relaciones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Dispersión de AGBD frente a RH98, cover, pendiente y reflectancia.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Incertidumbre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Resumen de agbd_se para ponderar o filtrar los datos ruidosos.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6EC6B6A4-8B1C-426E-ABC2-4859611D40D6}"/>
              </a:ext>
            </a:extLst>
          </p:cNvPr>
          <p:cNvSpPr>
            <a:spLocks noGrp="1"/>
          </p:cNvSpPr>
          <p:nvPr/>
        </p:nvSpPr>
        <p:spPr>
          <a:xfrm>
            <a:off x="6273820" y="1232100"/>
            <a:ext cx="4932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Distribución de AGBD — ejemplo ilustrativo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197AC0C3-B18A-416B-B7FA-A5F0794F8C2A}"/>
              </a:ext>
            </a:extLst>
          </p:cNvPr>
          <p:cNvSpPr>
            <a:spLocks noGrp="1"/>
          </p:cNvSpPr>
          <p:nvPr/>
        </p:nvSpPr>
        <p:spPr>
          <a:xfrm>
            <a:off x="6273820" y="1602100"/>
            <a:ext cx="4932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Dispersión por clase antes de ajustar el modelo</a:t>
            </a:r>
          </a:p>
        </p:txBody>
      </p:sp>
      <p:sp>
        <p:nvSpPr>
          <p:cNvPr id="402" name="TB402">
            <a:extLst>
              <a:ext uri="{FF2B5EF4-FFF2-40B4-BE49-F238E27FC236}">
                <a16:creationId xmlns:a16="http://schemas.microsoft.com/office/drawing/2014/main" id="{D7859C41-E653-4EE1-AA8F-7516D139520D}"/>
              </a:ext>
            </a:extLst>
          </p:cNvPr>
          <p:cNvSpPr>
            <a:spLocks noGrp="1"/>
          </p:cNvSpPr>
          <p:nvPr/>
        </p:nvSpPr>
        <p:spPr>
          <a:xfrm>
            <a:off x="6273820" y="2017508"/>
            <a:ext cx="165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cuantil bajo</a:t>
            </a:r>
          </a:p>
        </p:txBody>
      </p:sp>
      <p:sp>
        <p:nvSpPr>
          <p:cNvPr id="403" name="TB403">
            <a:extLst>
              <a:ext uri="{FF2B5EF4-FFF2-40B4-BE49-F238E27FC236}">
                <a16:creationId xmlns:a16="http://schemas.microsoft.com/office/drawing/2014/main" id="{933720EC-3717-4EE6-A3F5-8A7D23AF4F21}"/>
              </a:ext>
            </a:extLst>
          </p:cNvPr>
          <p:cNvSpPr>
            <a:spLocks noGrp="1"/>
          </p:cNvSpPr>
          <p:nvPr/>
        </p:nvSpPr>
        <p:spPr>
          <a:xfrm>
            <a:off x="6273820" y="2287508"/>
            <a:ext cx="165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definir con datos locales</a:t>
            </a:r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18D1091C-602C-41B6-8274-EA9C7A042918}"/>
              </a:ext>
            </a:extLst>
          </p:cNvPr>
          <p:cNvSpPr>
            <a:spLocks noGrp="1"/>
          </p:cNvSpPr>
          <p:nvPr/>
        </p:nvSpPr>
        <p:spPr>
          <a:xfrm>
            <a:off x="8023820" y="2405750"/>
            <a:ext cx="3350000" cy="127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EFEE8078-AE08-459D-9A68-36A8D4C020FA}"/>
              </a:ext>
            </a:extLst>
          </p:cNvPr>
          <p:cNvSpPr>
            <a:spLocks noGrp="1"/>
          </p:cNvSpPr>
          <p:nvPr/>
        </p:nvSpPr>
        <p:spPr>
          <a:xfrm>
            <a:off x="8028820" y="2382167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AD97F19F-989D-40E8-AC45-DA59ECC83B09}"/>
              </a:ext>
            </a:extLst>
          </p:cNvPr>
          <p:cNvSpPr>
            <a:spLocks noGrp="1"/>
          </p:cNvSpPr>
          <p:nvPr/>
        </p:nvSpPr>
        <p:spPr>
          <a:xfrm>
            <a:off x="8391689" y="2378545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ED7486B4-E511-4286-BACD-630B45CD7E75}"/>
              </a:ext>
            </a:extLst>
          </p:cNvPr>
          <p:cNvSpPr>
            <a:spLocks noGrp="1"/>
          </p:cNvSpPr>
          <p:nvPr/>
        </p:nvSpPr>
        <p:spPr>
          <a:xfrm>
            <a:off x="8028820" y="2308507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02F0A604-BFA0-4E16-B732-A5CCCD3FD0B1}"/>
              </a:ext>
            </a:extLst>
          </p:cNvPr>
          <p:cNvSpPr>
            <a:spLocks noGrp="1"/>
          </p:cNvSpPr>
          <p:nvPr/>
        </p:nvSpPr>
        <p:spPr>
          <a:xfrm>
            <a:off x="8280355" y="2394293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37A923F3-FF28-4520-AE0B-7F8074758808}"/>
              </a:ext>
            </a:extLst>
          </p:cNvPr>
          <p:cNvSpPr>
            <a:spLocks noGrp="1"/>
          </p:cNvSpPr>
          <p:nvPr/>
        </p:nvSpPr>
        <p:spPr>
          <a:xfrm>
            <a:off x="8028820" y="2308904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18DD093D-9B77-4090-A30D-C67C76BB8D82}"/>
              </a:ext>
            </a:extLst>
          </p:cNvPr>
          <p:cNvSpPr>
            <a:spLocks noGrp="1"/>
          </p:cNvSpPr>
          <p:nvPr/>
        </p:nvSpPr>
        <p:spPr>
          <a:xfrm>
            <a:off x="8349406" y="2284773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543BFDB8-A979-4968-A6CD-C60526E7DCA0}"/>
              </a:ext>
            </a:extLst>
          </p:cNvPr>
          <p:cNvSpPr>
            <a:spLocks noGrp="1"/>
          </p:cNvSpPr>
          <p:nvPr/>
        </p:nvSpPr>
        <p:spPr>
          <a:xfrm>
            <a:off x="8165624" y="2401315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6FD83C55-81DA-487D-A812-1DD04D7D737B}"/>
              </a:ext>
            </a:extLst>
          </p:cNvPr>
          <p:cNvSpPr>
            <a:spLocks noGrp="1"/>
          </p:cNvSpPr>
          <p:nvPr/>
        </p:nvSpPr>
        <p:spPr>
          <a:xfrm>
            <a:off x="8342574" y="2426417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DFE368D1-1049-42B1-A826-ECB4BE9C2454}"/>
              </a:ext>
            </a:extLst>
          </p:cNvPr>
          <p:cNvSpPr>
            <a:spLocks noGrp="1"/>
          </p:cNvSpPr>
          <p:nvPr/>
        </p:nvSpPr>
        <p:spPr>
          <a:xfrm>
            <a:off x="8985413" y="2378849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4" name="TB414">
            <a:extLst>
              <a:ext uri="{FF2B5EF4-FFF2-40B4-BE49-F238E27FC236}">
                <a16:creationId xmlns:a16="http://schemas.microsoft.com/office/drawing/2014/main" id="{F9F7AF56-AD8E-4A70-928B-1DA3BED54002}"/>
              </a:ext>
            </a:extLst>
          </p:cNvPr>
          <p:cNvSpPr>
            <a:spLocks noGrp="1"/>
          </p:cNvSpPr>
          <p:nvPr/>
        </p:nvSpPr>
        <p:spPr>
          <a:xfrm>
            <a:off x="6273820" y="2717508"/>
            <a:ext cx="165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cuantil medio-bajo</a:t>
            </a:r>
          </a:p>
        </p:txBody>
      </p:sp>
      <p:sp>
        <p:nvSpPr>
          <p:cNvPr id="415" name="TB415">
            <a:extLst>
              <a:ext uri="{FF2B5EF4-FFF2-40B4-BE49-F238E27FC236}">
                <a16:creationId xmlns:a16="http://schemas.microsoft.com/office/drawing/2014/main" id="{E013980E-C826-4D7F-B299-2A26A8E9A969}"/>
              </a:ext>
            </a:extLst>
          </p:cNvPr>
          <p:cNvSpPr>
            <a:spLocks noGrp="1"/>
          </p:cNvSpPr>
          <p:nvPr/>
        </p:nvSpPr>
        <p:spPr>
          <a:xfrm>
            <a:off x="6273820" y="2987508"/>
            <a:ext cx="165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describir por estrato</a:t>
            </a:r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C3A16137-0A52-4E0E-B382-0828582CB378}"/>
              </a:ext>
            </a:extLst>
          </p:cNvPr>
          <p:cNvSpPr>
            <a:spLocks noGrp="1"/>
          </p:cNvSpPr>
          <p:nvPr/>
        </p:nvSpPr>
        <p:spPr>
          <a:xfrm>
            <a:off x="8023820" y="3105750"/>
            <a:ext cx="3350000" cy="127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17" name="SH417">
            <a:extLst>
              <a:ext uri="{FF2B5EF4-FFF2-40B4-BE49-F238E27FC236}">
                <a16:creationId xmlns:a16="http://schemas.microsoft.com/office/drawing/2014/main" id="{A97ABA28-690B-4130-9611-4D7C41BA3B29}"/>
              </a:ext>
            </a:extLst>
          </p:cNvPr>
          <p:cNvSpPr>
            <a:spLocks noGrp="1"/>
          </p:cNvSpPr>
          <p:nvPr/>
        </p:nvSpPr>
        <p:spPr>
          <a:xfrm>
            <a:off x="9152319" y="3131521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412A70D3-4679-466A-AF2E-26964B3EC497}"/>
              </a:ext>
            </a:extLst>
          </p:cNvPr>
          <p:cNvSpPr>
            <a:spLocks noGrp="1"/>
          </p:cNvSpPr>
          <p:nvPr/>
        </p:nvSpPr>
        <p:spPr>
          <a:xfrm>
            <a:off x="8941483" y="3123449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7DE4757F-9A2F-41FD-8ECA-86594CDFF958}"/>
              </a:ext>
            </a:extLst>
          </p:cNvPr>
          <p:cNvSpPr>
            <a:spLocks noGrp="1"/>
          </p:cNvSpPr>
          <p:nvPr/>
        </p:nvSpPr>
        <p:spPr>
          <a:xfrm>
            <a:off x="8603602" y="2964032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0" name="SH420">
            <a:extLst>
              <a:ext uri="{FF2B5EF4-FFF2-40B4-BE49-F238E27FC236}">
                <a16:creationId xmlns:a16="http://schemas.microsoft.com/office/drawing/2014/main" id="{241AE072-8FD8-44E0-AC75-C65322C031AA}"/>
              </a:ext>
            </a:extLst>
          </p:cNvPr>
          <p:cNvSpPr>
            <a:spLocks noGrp="1"/>
          </p:cNvSpPr>
          <p:nvPr/>
        </p:nvSpPr>
        <p:spPr>
          <a:xfrm>
            <a:off x="9011392" y="2969446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1" name="SH421">
            <a:extLst>
              <a:ext uri="{FF2B5EF4-FFF2-40B4-BE49-F238E27FC236}">
                <a16:creationId xmlns:a16="http://schemas.microsoft.com/office/drawing/2014/main" id="{7469E318-7B7B-4892-AE2C-F7836F8F2212}"/>
              </a:ext>
            </a:extLst>
          </p:cNvPr>
          <p:cNvSpPr>
            <a:spLocks noGrp="1"/>
          </p:cNvSpPr>
          <p:nvPr/>
        </p:nvSpPr>
        <p:spPr>
          <a:xfrm>
            <a:off x="8887756" y="3009961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2" name="SH422">
            <a:extLst>
              <a:ext uri="{FF2B5EF4-FFF2-40B4-BE49-F238E27FC236}">
                <a16:creationId xmlns:a16="http://schemas.microsoft.com/office/drawing/2014/main" id="{C680D152-7DB8-4315-A263-648246C67744}"/>
              </a:ext>
            </a:extLst>
          </p:cNvPr>
          <p:cNvSpPr>
            <a:spLocks noGrp="1"/>
          </p:cNvSpPr>
          <p:nvPr/>
        </p:nvSpPr>
        <p:spPr>
          <a:xfrm>
            <a:off x="9213993" y="3081717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3" name="SH423">
            <a:extLst>
              <a:ext uri="{FF2B5EF4-FFF2-40B4-BE49-F238E27FC236}">
                <a16:creationId xmlns:a16="http://schemas.microsoft.com/office/drawing/2014/main" id="{174E59B9-6439-41AE-A1B1-781D8B0C9D27}"/>
              </a:ext>
            </a:extLst>
          </p:cNvPr>
          <p:cNvSpPr>
            <a:spLocks noGrp="1"/>
          </p:cNvSpPr>
          <p:nvPr/>
        </p:nvSpPr>
        <p:spPr>
          <a:xfrm>
            <a:off x="8733433" y="3045635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4" name="SH424">
            <a:extLst>
              <a:ext uri="{FF2B5EF4-FFF2-40B4-BE49-F238E27FC236}">
                <a16:creationId xmlns:a16="http://schemas.microsoft.com/office/drawing/2014/main" id="{EC2AF318-35EB-4134-99F9-28F3C5FD3ABB}"/>
              </a:ext>
            </a:extLst>
          </p:cNvPr>
          <p:cNvSpPr>
            <a:spLocks noGrp="1"/>
          </p:cNvSpPr>
          <p:nvPr/>
        </p:nvSpPr>
        <p:spPr>
          <a:xfrm>
            <a:off x="8517137" y="3096185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5" name="SH425">
            <a:extLst>
              <a:ext uri="{FF2B5EF4-FFF2-40B4-BE49-F238E27FC236}">
                <a16:creationId xmlns:a16="http://schemas.microsoft.com/office/drawing/2014/main" id="{C47BC991-F89F-4D49-A903-0887743D06DB}"/>
              </a:ext>
            </a:extLst>
          </p:cNvPr>
          <p:cNvSpPr>
            <a:spLocks noGrp="1"/>
          </p:cNvSpPr>
          <p:nvPr/>
        </p:nvSpPr>
        <p:spPr>
          <a:xfrm>
            <a:off x="9143128" y="3021348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6" name="SH426">
            <a:extLst>
              <a:ext uri="{FF2B5EF4-FFF2-40B4-BE49-F238E27FC236}">
                <a16:creationId xmlns:a16="http://schemas.microsoft.com/office/drawing/2014/main" id="{27CB99FE-4308-48DC-8C55-DA93EE459AD9}"/>
              </a:ext>
            </a:extLst>
          </p:cNvPr>
          <p:cNvSpPr>
            <a:spLocks noGrp="1"/>
          </p:cNvSpPr>
          <p:nvPr/>
        </p:nvSpPr>
        <p:spPr>
          <a:xfrm>
            <a:off x="8778734" y="3133757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7" name="SH427">
            <a:extLst>
              <a:ext uri="{FF2B5EF4-FFF2-40B4-BE49-F238E27FC236}">
                <a16:creationId xmlns:a16="http://schemas.microsoft.com/office/drawing/2014/main" id="{1AB49E74-5ED0-4478-963C-D0CE25280FA6}"/>
              </a:ext>
            </a:extLst>
          </p:cNvPr>
          <p:cNvSpPr>
            <a:spLocks noGrp="1"/>
          </p:cNvSpPr>
          <p:nvPr/>
        </p:nvSpPr>
        <p:spPr>
          <a:xfrm>
            <a:off x="8738612" y="2982379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8" name="SH428">
            <a:extLst>
              <a:ext uri="{FF2B5EF4-FFF2-40B4-BE49-F238E27FC236}">
                <a16:creationId xmlns:a16="http://schemas.microsoft.com/office/drawing/2014/main" id="{32A0A469-CC46-4860-8794-DD42F6CB7537}"/>
              </a:ext>
            </a:extLst>
          </p:cNvPr>
          <p:cNvSpPr>
            <a:spLocks noGrp="1"/>
          </p:cNvSpPr>
          <p:nvPr/>
        </p:nvSpPr>
        <p:spPr>
          <a:xfrm>
            <a:off x="8771205" y="3104611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9" name="SH429">
            <a:extLst>
              <a:ext uri="{FF2B5EF4-FFF2-40B4-BE49-F238E27FC236}">
                <a16:creationId xmlns:a16="http://schemas.microsoft.com/office/drawing/2014/main" id="{DA422299-652E-425B-B910-5D7A1F481E0C}"/>
              </a:ext>
            </a:extLst>
          </p:cNvPr>
          <p:cNvSpPr>
            <a:spLocks noGrp="1"/>
          </p:cNvSpPr>
          <p:nvPr/>
        </p:nvSpPr>
        <p:spPr>
          <a:xfrm>
            <a:off x="9020558" y="2981911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30" name="SH430">
            <a:extLst>
              <a:ext uri="{FF2B5EF4-FFF2-40B4-BE49-F238E27FC236}">
                <a16:creationId xmlns:a16="http://schemas.microsoft.com/office/drawing/2014/main" id="{4854EFAB-9D18-4380-8055-6B26164611DC}"/>
              </a:ext>
            </a:extLst>
          </p:cNvPr>
          <p:cNvSpPr>
            <a:spLocks noGrp="1"/>
          </p:cNvSpPr>
          <p:nvPr/>
        </p:nvSpPr>
        <p:spPr>
          <a:xfrm>
            <a:off x="8909528" y="3020305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31" name="SH431">
            <a:extLst>
              <a:ext uri="{FF2B5EF4-FFF2-40B4-BE49-F238E27FC236}">
                <a16:creationId xmlns:a16="http://schemas.microsoft.com/office/drawing/2014/main" id="{0CEC86AC-A723-42F3-9008-4BC0F05A3B15}"/>
              </a:ext>
            </a:extLst>
          </p:cNvPr>
          <p:cNvSpPr>
            <a:spLocks noGrp="1"/>
          </p:cNvSpPr>
          <p:nvPr/>
        </p:nvSpPr>
        <p:spPr>
          <a:xfrm>
            <a:off x="8755786" y="3094549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32" name="SH432">
            <a:extLst>
              <a:ext uri="{FF2B5EF4-FFF2-40B4-BE49-F238E27FC236}">
                <a16:creationId xmlns:a16="http://schemas.microsoft.com/office/drawing/2014/main" id="{72C4C596-9E7C-4057-B324-48851F8F6BF7}"/>
              </a:ext>
            </a:extLst>
          </p:cNvPr>
          <p:cNvSpPr>
            <a:spLocks noGrp="1"/>
          </p:cNvSpPr>
          <p:nvPr/>
        </p:nvSpPr>
        <p:spPr>
          <a:xfrm>
            <a:off x="8943536" y="2988392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33" name="TB433">
            <a:extLst>
              <a:ext uri="{FF2B5EF4-FFF2-40B4-BE49-F238E27FC236}">
                <a16:creationId xmlns:a16="http://schemas.microsoft.com/office/drawing/2014/main" id="{9ED07BD4-6C4A-440B-B093-D430F7B2A50A}"/>
              </a:ext>
            </a:extLst>
          </p:cNvPr>
          <p:cNvSpPr>
            <a:spLocks noGrp="1"/>
          </p:cNvSpPr>
          <p:nvPr/>
        </p:nvSpPr>
        <p:spPr>
          <a:xfrm>
            <a:off x="6273820" y="3417508"/>
            <a:ext cx="165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cuantil medio-alto</a:t>
            </a:r>
          </a:p>
        </p:txBody>
      </p:sp>
      <p:sp>
        <p:nvSpPr>
          <p:cNvPr id="434" name="TB434">
            <a:extLst>
              <a:ext uri="{FF2B5EF4-FFF2-40B4-BE49-F238E27FC236}">
                <a16:creationId xmlns:a16="http://schemas.microsoft.com/office/drawing/2014/main" id="{BFAEB9E1-2E8B-4BF9-911E-A0A7F50F7F02}"/>
              </a:ext>
            </a:extLst>
          </p:cNvPr>
          <p:cNvSpPr>
            <a:spLocks noGrp="1"/>
          </p:cNvSpPr>
          <p:nvPr/>
        </p:nvSpPr>
        <p:spPr>
          <a:xfrm>
            <a:off x="6273820" y="3687508"/>
            <a:ext cx="165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validar con campo</a:t>
            </a:r>
          </a:p>
        </p:txBody>
      </p:sp>
      <p:sp>
        <p:nvSpPr>
          <p:cNvPr id="435" name="SH435">
            <a:extLst>
              <a:ext uri="{FF2B5EF4-FFF2-40B4-BE49-F238E27FC236}">
                <a16:creationId xmlns:a16="http://schemas.microsoft.com/office/drawing/2014/main" id="{158DBCE5-F64C-423E-B0BA-9977B4DEB418}"/>
              </a:ext>
            </a:extLst>
          </p:cNvPr>
          <p:cNvSpPr>
            <a:spLocks noGrp="1"/>
          </p:cNvSpPr>
          <p:nvPr/>
        </p:nvSpPr>
        <p:spPr>
          <a:xfrm>
            <a:off x="8023820" y="3805750"/>
            <a:ext cx="3350000" cy="127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36" name="SH436">
            <a:extLst>
              <a:ext uri="{FF2B5EF4-FFF2-40B4-BE49-F238E27FC236}">
                <a16:creationId xmlns:a16="http://schemas.microsoft.com/office/drawing/2014/main" id="{AE53D478-64E8-4090-BDBF-585E19FE5210}"/>
              </a:ext>
            </a:extLst>
          </p:cNvPr>
          <p:cNvSpPr>
            <a:spLocks noGrp="1"/>
          </p:cNvSpPr>
          <p:nvPr/>
        </p:nvSpPr>
        <p:spPr>
          <a:xfrm>
            <a:off x="9897328" y="3765062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37" name="SH437">
            <a:extLst>
              <a:ext uri="{FF2B5EF4-FFF2-40B4-BE49-F238E27FC236}">
                <a16:creationId xmlns:a16="http://schemas.microsoft.com/office/drawing/2014/main" id="{38E31E76-23EC-428B-8AAA-936EDAB7F87B}"/>
              </a:ext>
            </a:extLst>
          </p:cNvPr>
          <p:cNvSpPr>
            <a:spLocks noGrp="1"/>
          </p:cNvSpPr>
          <p:nvPr/>
        </p:nvSpPr>
        <p:spPr>
          <a:xfrm>
            <a:off x="9966658" y="3677618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38" name="SH438">
            <a:extLst>
              <a:ext uri="{FF2B5EF4-FFF2-40B4-BE49-F238E27FC236}">
                <a16:creationId xmlns:a16="http://schemas.microsoft.com/office/drawing/2014/main" id="{8262B870-03DB-44CC-B728-9D646804377A}"/>
              </a:ext>
            </a:extLst>
          </p:cNvPr>
          <p:cNvSpPr>
            <a:spLocks noGrp="1"/>
          </p:cNvSpPr>
          <p:nvPr/>
        </p:nvSpPr>
        <p:spPr>
          <a:xfrm>
            <a:off x="9934885" y="3664527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39" name="SH439">
            <a:extLst>
              <a:ext uri="{FF2B5EF4-FFF2-40B4-BE49-F238E27FC236}">
                <a16:creationId xmlns:a16="http://schemas.microsoft.com/office/drawing/2014/main" id="{F643E532-7430-4117-8523-9290E9EB139D}"/>
              </a:ext>
            </a:extLst>
          </p:cNvPr>
          <p:cNvSpPr>
            <a:spLocks noGrp="1"/>
          </p:cNvSpPr>
          <p:nvPr/>
        </p:nvSpPr>
        <p:spPr>
          <a:xfrm>
            <a:off x="9809081" y="3715076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40" name="SH440">
            <a:extLst>
              <a:ext uri="{FF2B5EF4-FFF2-40B4-BE49-F238E27FC236}">
                <a16:creationId xmlns:a16="http://schemas.microsoft.com/office/drawing/2014/main" id="{BEB364D6-7A3F-42B6-8076-1ECDD4F5C32F}"/>
              </a:ext>
            </a:extLst>
          </p:cNvPr>
          <p:cNvSpPr>
            <a:spLocks noGrp="1"/>
          </p:cNvSpPr>
          <p:nvPr/>
        </p:nvSpPr>
        <p:spPr>
          <a:xfrm>
            <a:off x="9797527" y="3673816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41" name="SH441">
            <a:extLst>
              <a:ext uri="{FF2B5EF4-FFF2-40B4-BE49-F238E27FC236}">
                <a16:creationId xmlns:a16="http://schemas.microsoft.com/office/drawing/2014/main" id="{50F53D24-2EEB-47F6-82A0-337DCE43BA0C}"/>
              </a:ext>
            </a:extLst>
          </p:cNvPr>
          <p:cNvSpPr>
            <a:spLocks noGrp="1"/>
          </p:cNvSpPr>
          <p:nvPr/>
        </p:nvSpPr>
        <p:spPr>
          <a:xfrm>
            <a:off x="9112398" y="3764282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42" name="SH442">
            <a:extLst>
              <a:ext uri="{FF2B5EF4-FFF2-40B4-BE49-F238E27FC236}">
                <a16:creationId xmlns:a16="http://schemas.microsoft.com/office/drawing/2014/main" id="{3966D739-1510-4F31-89CA-8B503EC9575F}"/>
              </a:ext>
            </a:extLst>
          </p:cNvPr>
          <p:cNvSpPr>
            <a:spLocks noGrp="1"/>
          </p:cNvSpPr>
          <p:nvPr/>
        </p:nvSpPr>
        <p:spPr>
          <a:xfrm>
            <a:off x="9936368" y="3770145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43" name="SH443">
            <a:extLst>
              <a:ext uri="{FF2B5EF4-FFF2-40B4-BE49-F238E27FC236}">
                <a16:creationId xmlns:a16="http://schemas.microsoft.com/office/drawing/2014/main" id="{B9F71F40-0490-45E2-B02C-97576D26456B}"/>
              </a:ext>
            </a:extLst>
          </p:cNvPr>
          <p:cNvSpPr>
            <a:spLocks noGrp="1"/>
          </p:cNvSpPr>
          <p:nvPr/>
        </p:nvSpPr>
        <p:spPr>
          <a:xfrm>
            <a:off x="10121725" y="3837023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44" name="SH444">
            <a:extLst>
              <a:ext uri="{FF2B5EF4-FFF2-40B4-BE49-F238E27FC236}">
                <a16:creationId xmlns:a16="http://schemas.microsoft.com/office/drawing/2014/main" id="{825348CE-F7EE-4A08-A56C-9020A54B1B0C}"/>
              </a:ext>
            </a:extLst>
          </p:cNvPr>
          <p:cNvSpPr>
            <a:spLocks noGrp="1"/>
          </p:cNvSpPr>
          <p:nvPr/>
        </p:nvSpPr>
        <p:spPr>
          <a:xfrm>
            <a:off x="9961148" y="3730820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45" name="SH445">
            <a:extLst>
              <a:ext uri="{FF2B5EF4-FFF2-40B4-BE49-F238E27FC236}">
                <a16:creationId xmlns:a16="http://schemas.microsoft.com/office/drawing/2014/main" id="{874436A1-873B-4C92-8A84-BDB1FD1B8AC5}"/>
              </a:ext>
            </a:extLst>
          </p:cNvPr>
          <p:cNvSpPr>
            <a:spLocks noGrp="1"/>
          </p:cNvSpPr>
          <p:nvPr/>
        </p:nvSpPr>
        <p:spPr>
          <a:xfrm>
            <a:off x="9691667" y="3664071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46" name="SH446">
            <a:extLst>
              <a:ext uri="{FF2B5EF4-FFF2-40B4-BE49-F238E27FC236}">
                <a16:creationId xmlns:a16="http://schemas.microsoft.com/office/drawing/2014/main" id="{939EE8FF-0E7A-4640-8E8F-98E6445CBF22}"/>
              </a:ext>
            </a:extLst>
          </p:cNvPr>
          <p:cNvSpPr>
            <a:spLocks noGrp="1"/>
          </p:cNvSpPr>
          <p:nvPr/>
        </p:nvSpPr>
        <p:spPr>
          <a:xfrm>
            <a:off x="9989735" y="3767592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47" name="SH447">
            <a:extLst>
              <a:ext uri="{FF2B5EF4-FFF2-40B4-BE49-F238E27FC236}">
                <a16:creationId xmlns:a16="http://schemas.microsoft.com/office/drawing/2014/main" id="{100A85CC-5EB4-409F-8643-6C255444BAB7}"/>
              </a:ext>
            </a:extLst>
          </p:cNvPr>
          <p:cNvSpPr>
            <a:spLocks noGrp="1"/>
          </p:cNvSpPr>
          <p:nvPr/>
        </p:nvSpPr>
        <p:spPr>
          <a:xfrm>
            <a:off x="9810677" y="3724689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48" name="SH448">
            <a:extLst>
              <a:ext uri="{FF2B5EF4-FFF2-40B4-BE49-F238E27FC236}">
                <a16:creationId xmlns:a16="http://schemas.microsoft.com/office/drawing/2014/main" id="{361CAFBE-E918-4DC3-A7A8-B7A1A2399346}"/>
              </a:ext>
            </a:extLst>
          </p:cNvPr>
          <p:cNvSpPr>
            <a:spLocks noGrp="1"/>
          </p:cNvSpPr>
          <p:nvPr/>
        </p:nvSpPr>
        <p:spPr>
          <a:xfrm>
            <a:off x="9678577" y="3686588"/>
            <a:ext cx="124000" cy="124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49" name="TB449">
            <a:extLst>
              <a:ext uri="{FF2B5EF4-FFF2-40B4-BE49-F238E27FC236}">
                <a16:creationId xmlns:a16="http://schemas.microsoft.com/office/drawing/2014/main" id="{D9F11741-0EE5-4E88-BE2D-B8DD09C2DD9F}"/>
              </a:ext>
            </a:extLst>
          </p:cNvPr>
          <p:cNvSpPr>
            <a:spLocks noGrp="1"/>
          </p:cNvSpPr>
          <p:nvPr/>
        </p:nvSpPr>
        <p:spPr>
          <a:xfrm>
            <a:off x="6273820" y="4117508"/>
            <a:ext cx="165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cuantil alto</a:t>
            </a:r>
          </a:p>
        </p:txBody>
      </p:sp>
      <p:sp>
        <p:nvSpPr>
          <p:cNvPr id="450" name="TB450">
            <a:extLst>
              <a:ext uri="{FF2B5EF4-FFF2-40B4-BE49-F238E27FC236}">
                <a16:creationId xmlns:a16="http://schemas.microsoft.com/office/drawing/2014/main" id="{055CFA9D-3DBF-4F28-8431-543C6809A53D}"/>
              </a:ext>
            </a:extLst>
          </p:cNvPr>
          <p:cNvSpPr>
            <a:spLocks noGrp="1"/>
          </p:cNvSpPr>
          <p:nvPr/>
        </p:nvSpPr>
        <p:spPr>
          <a:xfrm>
            <a:off x="6273820" y="4387508"/>
            <a:ext cx="165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revisar: extremo, no error automático</a:t>
            </a:r>
          </a:p>
        </p:txBody>
      </p:sp>
      <p:sp>
        <p:nvSpPr>
          <p:cNvPr id="451" name="SH451">
            <a:extLst>
              <a:ext uri="{FF2B5EF4-FFF2-40B4-BE49-F238E27FC236}">
                <a16:creationId xmlns:a16="http://schemas.microsoft.com/office/drawing/2014/main" id="{B395E62D-E98F-46A2-8A44-B5ED58FC726D}"/>
              </a:ext>
            </a:extLst>
          </p:cNvPr>
          <p:cNvSpPr>
            <a:spLocks noGrp="1"/>
          </p:cNvSpPr>
          <p:nvPr/>
        </p:nvSpPr>
        <p:spPr>
          <a:xfrm>
            <a:off x="8023820" y="4505750"/>
            <a:ext cx="3350000" cy="127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52" name="SH452">
            <a:extLst>
              <a:ext uri="{FF2B5EF4-FFF2-40B4-BE49-F238E27FC236}">
                <a16:creationId xmlns:a16="http://schemas.microsoft.com/office/drawing/2014/main" id="{A982FDC9-6458-4A38-B426-9365A97A1CFB}"/>
              </a:ext>
            </a:extLst>
          </p:cNvPr>
          <p:cNvSpPr>
            <a:spLocks noGrp="1"/>
          </p:cNvSpPr>
          <p:nvPr/>
        </p:nvSpPr>
        <p:spPr>
          <a:xfrm>
            <a:off x="11089645" y="4487717"/>
            <a:ext cx="124000" cy="124000"/>
          </a:xfrm>
          <a:prstGeom prst="ellipse">
            <a:avLst/>
          </a:prstGeom>
          <a:solidFill>
            <a:srgbClr val="B4553C"/>
          </a:solidFill>
        </p:spPr>
        <p:txBody>
          <a:bodyPr/>
          <a:lstStyle/>
          <a:p>
            <a:endParaRPr sz="1500"/>
          </a:p>
        </p:txBody>
      </p:sp>
      <p:sp>
        <p:nvSpPr>
          <p:cNvPr id="453" name="SH453">
            <a:extLst>
              <a:ext uri="{FF2B5EF4-FFF2-40B4-BE49-F238E27FC236}">
                <a16:creationId xmlns:a16="http://schemas.microsoft.com/office/drawing/2014/main" id="{AF655B52-319F-41AE-B35C-63121F294384}"/>
              </a:ext>
            </a:extLst>
          </p:cNvPr>
          <p:cNvSpPr>
            <a:spLocks noGrp="1"/>
          </p:cNvSpPr>
          <p:nvPr/>
        </p:nvSpPr>
        <p:spPr>
          <a:xfrm>
            <a:off x="10828645" y="4406677"/>
            <a:ext cx="124000" cy="124000"/>
          </a:xfrm>
          <a:prstGeom prst="ellipse">
            <a:avLst/>
          </a:prstGeom>
          <a:solidFill>
            <a:srgbClr val="B4553C"/>
          </a:solidFill>
        </p:spPr>
        <p:txBody>
          <a:bodyPr/>
          <a:lstStyle/>
          <a:p>
            <a:endParaRPr sz="1500"/>
          </a:p>
        </p:txBody>
      </p:sp>
      <p:sp>
        <p:nvSpPr>
          <p:cNvPr id="454" name="SH454">
            <a:extLst>
              <a:ext uri="{FF2B5EF4-FFF2-40B4-BE49-F238E27FC236}">
                <a16:creationId xmlns:a16="http://schemas.microsoft.com/office/drawing/2014/main" id="{1560A3F5-8288-45E9-AAD3-29A0BFD26235}"/>
              </a:ext>
            </a:extLst>
          </p:cNvPr>
          <p:cNvSpPr>
            <a:spLocks noGrp="1"/>
          </p:cNvSpPr>
          <p:nvPr/>
        </p:nvSpPr>
        <p:spPr>
          <a:xfrm>
            <a:off x="10742124" y="4493496"/>
            <a:ext cx="124000" cy="124000"/>
          </a:xfrm>
          <a:prstGeom prst="ellipse">
            <a:avLst/>
          </a:prstGeom>
          <a:solidFill>
            <a:srgbClr val="B4553C"/>
          </a:solidFill>
        </p:spPr>
        <p:txBody>
          <a:bodyPr/>
          <a:lstStyle/>
          <a:p>
            <a:endParaRPr sz="1500"/>
          </a:p>
        </p:txBody>
      </p:sp>
      <p:sp>
        <p:nvSpPr>
          <p:cNvPr id="455" name="SH455">
            <a:extLst>
              <a:ext uri="{FF2B5EF4-FFF2-40B4-BE49-F238E27FC236}">
                <a16:creationId xmlns:a16="http://schemas.microsoft.com/office/drawing/2014/main" id="{378A8C6F-F7C5-4964-8A7C-A7ECB7FB59FB}"/>
              </a:ext>
            </a:extLst>
          </p:cNvPr>
          <p:cNvSpPr>
            <a:spLocks noGrp="1"/>
          </p:cNvSpPr>
          <p:nvPr/>
        </p:nvSpPr>
        <p:spPr>
          <a:xfrm>
            <a:off x="10661544" y="4410086"/>
            <a:ext cx="124000" cy="124000"/>
          </a:xfrm>
          <a:prstGeom prst="ellipse">
            <a:avLst/>
          </a:prstGeom>
          <a:solidFill>
            <a:srgbClr val="B4553C"/>
          </a:solidFill>
        </p:spPr>
        <p:txBody>
          <a:bodyPr/>
          <a:lstStyle/>
          <a:p>
            <a:endParaRPr sz="1500"/>
          </a:p>
        </p:txBody>
      </p:sp>
      <p:sp>
        <p:nvSpPr>
          <p:cNvPr id="456" name="SH456">
            <a:extLst>
              <a:ext uri="{FF2B5EF4-FFF2-40B4-BE49-F238E27FC236}">
                <a16:creationId xmlns:a16="http://schemas.microsoft.com/office/drawing/2014/main" id="{03B03799-E130-4004-B6BD-5766492A40BF}"/>
              </a:ext>
            </a:extLst>
          </p:cNvPr>
          <p:cNvSpPr>
            <a:spLocks noGrp="1"/>
          </p:cNvSpPr>
          <p:nvPr/>
        </p:nvSpPr>
        <p:spPr>
          <a:xfrm>
            <a:off x="8023820" y="4912575"/>
            <a:ext cx="3350000" cy="1905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57" name="TB457">
            <a:extLst>
              <a:ext uri="{FF2B5EF4-FFF2-40B4-BE49-F238E27FC236}">
                <a16:creationId xmlns:a16="http://schemas.microsoft.com/office/drawing/2014/main" id="{48B1C9FE-6A53-4DF8-ACAC-CABE0289ABBA}"/>
              </a:ext>
            </a:extLst>
          </p:cNvPr>
          <p:cNvSpPr>
            <a:spLocks noGrp="1"/>
          </p:cNvSpPr>
          <p:nvPr/>
        </p:nvSpPr>
        <p:spPr>
          <a:xfrm>
            <a:off x="8023820" y="4962100"/>
            <a:ext cx="335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AGBD creciente  →</a:t>
            </a:r>
          </a:p>
        </p:txBody>
      </p:sp>
      <p:sp>
        <p:nvSpPr>
          <p:cNvPr id="458" name="TB458">
            <a:extLst>
              <a:ext uri="{FF2B5EF4-FFF2-40B4-BE49-F238E27FC236}">
                <a16:creationId xmlns:a16="http://schemas.microsoft.com/office/drawing/2014/main" id="{0B0B8B4E-3B5C-4EDD-9FBB-F34FBC8A4BB9}"/>
              </a:ext>
            </a:extLst>
          </p:cNvPr>
          <p:cNvSpPr>
            <a:spLocks noGrp="1"/>
          </p:cNvSpPr>
          <p:nvPr/>
        </p:nvSpPr>
        <p:spPr>
          <a:xfrm>
            <a:off x="6273820" y="5282100"/>
            <a:ext cx="4932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Las colas se revisan antes de modelar, no después.</a:t>
            </a:r>
          </a:p>
        </p:txBody>
      </p:sp>
      <p:sp>
        <p:nvSpPr>
          <p:cNvPr id="459" name="Rectángulo 458">
            <a:extLst>
              <a:ext uri="{FF2B5EF4-FFF2-40B4-BE49-F238E27FC236}">
                <a16:creationId xmlns:a16="http://schemas.microsoft.com/office/drawing/2014/main" id="{9D1277CF-7DF1-457A-92B0-BB472B104B4C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64/79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81723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6E52A6-974E-4762-BCE2-E83440707E29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Mapear huellas GEDI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B72A59-2F41-41A0-BDBB-11AA351CB598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Representación espacial de la muestra antes de interpretar promedios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4AC83-7174-4744-90C9-C80B60156D85}"/>
              </a:ext>
            </a:extLst>
          </p:cNvPr>
          <p:cNvSpPr>
            <a:spLocks noGrp="1"/>
          </p:cNvSpPr>
          <p:nvPr/>
        </p:nvSpPr>
        <p:spPr>
          <a:xfrm>
            <a:off x="596900" y="1231900"/>
            <a:ext cx="5080000" cy="4318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visualizar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Huellas por año, haz, calidad y tipo forestal.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detectar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Zonas sin cobertura y áreas con sesgo de muestreo.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Con qué contrastar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Áreas quemadas, pendientes y clases forestales superpuestas.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Para qué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Exportar mapas de control y discutirlos con especialistas locales.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B789294D-7125-4512-839E-4EFAE3AC1D3F}"/>
              </a:ext>
            </a:extLst>
          </p:cNvPr>
          <p:cNvSpPr>
            <a:spLocks noGrp="1"/>
          </p:cNvSpPr>
          <p:nvPr/>
        </p:nvSpPr>
        <p:spPr>
          <a:xfrm>
            <a:off x="6218276" y="1300000"/>
            <a:ext cx="550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La muestra antes que el promedio</a:t>
            </a:r>
            <a:endParaRPr sz="1500">
              <a:latin typeface="Arial"/>
              <a:cs typeface="Arial"/>
            </a:endParaRPr>
          </a:p>
        </p:txBody>
      </p:sp>
      <p:sp>
        <p:nvSpPr>
          <p:cNvPr id="402" name="TB402">
            <a:extLst>
              <a:ext uri="{FF2B5EF4-FFF2-40B4-BE49-F238E27FC236}">
                <a16:creationId xmlns:a16="http://schemas.microsoft.com/office/drawing/2014/main" id="{74E5FAC6-612F-43A9-83D8-D64651D464A6}"/>
              </a:ext>
            </a:extLst>
          </p:cNvPr>
          <p:cNvSpPr>
            <a:spLocks noGrp="1"/>
          </p:cNvSpPr>
          <p:nvPr/>
        </p:nvSpPr>
        <p:spPr>
          <a:xfrm>
            <a:off x="6218276" y="1650000"/>
            <a:ext cx="5500000" cy="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latin typeface="Arial"/>
                <a:ea typeface="Arial"/>
                <a:cs typeface="Arial"/>
              </a:rPr>
              <a:t>Huellas por transecta sobre el área de interés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64CA8CB4-7BBD-4DED-875C-35E03DDC639A}"/>
              </a:ext>
            </a:extLst>
          </p:cNvPr>
          <p:cNvSpPr>
            <a:spLocks noGrp="1"/>
          </p:cNvSpPr>
          <p:nvPr/>
        </p:nvSpPr>
        <p:spPr>
          <a:xfrm>
            <a:off x="6468276" y="2080000"/>
            <a:ext cx="5000000" cy="275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2203AB32-0679-4864-BFDC-798B02E4E8DF}"/>
              </a:ext>
            </a:extLst>
          </p:cNvPr>
          <p:cNvSpPr>
            <a:spLocks noGrp="1"/>
          </p:cNvSpPr>
          <p:nvPr/>
        </p:nvSpPr>
        <p:spPr>
          <a:xfrm>
            <a:off x="6910276" y="220200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F63112BB-C4AD-4CA4-9FF0-CFAA3F06B171}"/>
              </a:ext>
            </a:extLst>
          </p:cNvPr>
          <p:cNvSpPr>
            <a:spLocks noGrp="1"/>
          </p:cNvSpPr>
          <p:nvPr/>
        </p:nvSpPr>
        <p:spPr>
          <a:xfrm>
            <a:off x="6950276" y="250075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5BF969EF-0D11-47F8-AA99-5A526A69CBBD}"/>
              </a:ext>
            </a:extLst>
          </p:cNvPr>
          <p:cNvSpPr>
            <a:spLocks noGrp="1"/>
          </p:cNvSpPr>
          <p:nvPr/>
        </p:nvSpPr>
        <p:spPr>
          <a:xfrm>
            <a:off x="6910276" y="279950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73047C0C-64B3-49AF-A1B2-7D6666A6CA3E}"/>
              </a:ext>
            </a:extLst>
          </p:cNvPr>
          <p:cNvSpPr>
            <a:spLocks noGrp="1"/>
          </p:cNvSpPr>
          <p:nvPr/>
        </p:nvSpPr>
        <p:spPr>
          <a:xfrm>
            <a:off x="6950276" y="309825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FB2F9D1E-CB14-442A-BEA6-3862DBDF2F06}"/>
              </a:ext>
            </a:extLst>
          </p:cNvPr>
          <p:cNvSpPr>
            <a:spLocks noGrp="1"/>
          </p:cNvSpPr>
          <p:nvPr/>
        </p:nvSpPr>
        <p:spPr>
          <a:xfrm>
            <a:off x="6910276" y="339700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99014DAF-B473-4AFF-86E7-0E8234C62632}"/>
              </a:ext>
            </a:extLst>
          </p:cNvPr>
          <p:cNvSpPr>
            <a:spLocks noGrp="1"/>
          </p:cNvSpPr>
          <p:nvPr/>
        </p:nvSpPr>
        <p:spPr>
          <a:xfrm>
            <a:off x="6950276" y="369575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3EB6CC8E-1873-48AE-931C-D2B8CFB44036}"/>
              </a:ext>
            </a:extLst>
          </p:cNvPr>
          <p:cNvSpPr>
            <a:spLocks noGrp="1"/>
          </p:cNvSpPr>
          <p:nvPr/>
        </p:nvSpPr>
        <p:spPr>
          <a:xfrm>
            <a:off x="6910276" y="399450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14C1B3AB-B82E-492B-942B-F91FF5DAE155}"/>
              </a:ext>
            </a:extLst>
          </p:cNvPr>
          <p:cNvSpPr>
            <a:spLocks noGrp="1"/>
          </p:cNvSpPr>
          <p:nvPr/>
        </p:nvSpPr>
        <p:spPr>
          <a:xfrm>
            <a:off x="6950276" y="429325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B4156D3B-AFC7-4804-84C7-034904F74EE2}"/>
              </a:ext>
            </a:extLst>
          </p:cNvPr>
          <p:cNvSpPr>
            <a:spLocks noGrp="1"/>
          </p:cNvSpPr>
          <p:nvPr/>
        </p:nvSpPr>
        <p:spPr>
          <a:xfrm>
            <a:off x="6910276" y="459200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18D09733-E5C4-46D3-9DB8-C7E6038ECC09}"/>
              </a:ext>
            </a:extLst>
          </p:cNvPr>
          <p:cNvSpPr>
            <a:spLocks noGrp="1"/>
          </p:cNvSpPr>
          <p:nvPr/>
        </p:nvSpPr>
        <p:spPr>
          <a:xfrm>
            <a:off x="7610276" y="22020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3E2BF966-E529-4D25-91BB-8772C5D3141C}"/>
              </a:ext>
            </a:extLst>
          </p:cNvPr>
          <p:cNvSpPr>
            <a:spLocks noGrp="1"/>
          </p:cNvSpPr>
          <p:nvPr/>
        </p:nvSpPr>
        <p:spPr>
          <a:xfrm>
            <a:off x="7650276" y="250075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C8C1920E-B05F-494D-9409-DD77627F6917}"/>
              </a:ext>
            </a:extLst>
          </p:cNvPr>
          <p:cNvSpPr>
            <a:spLocks noGrp="1"/>
          </p:cNvSpPr>
          <p:nvPr/>
        </p:nvSpPr>
        <p:spPr>
          <a:xfrm>
            <a:off x="7610276" y="27995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4ACEA2E8-44C5-490E-B466-DF5CFC6E9484}"/>
              </a:ext>
            </a:extLst>
          </p:cNvPr>
          <p:cNvSpPr>
            <a:spLocks noGrp="1"/>
          </p:cNvSpPr>
          <p:nvPr/>
        </p:nvSpPr>
        <p:spPr>
          <a:xfrm>
            <a:off x="7650276" y="309825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7" name="SH417">
            <a:extLst>
              <a:ext uri="{FF2B5EF4-FFF2-40B4-BE49-F238E27FC236}">
                <a16:creationId xmlns:a16="http://schemas.microsoft.com/office/drawing/2014/main" id="{D22E7B73-0119-486F-937C-851D36D3C102}"/>
              </a:ext>
            </a:extLst>
          </p:cNvPr>
          <p:cNvSpPr>
            <a:spLocks noGrp="1"/>
          </p:cNvSpPr>
          <p:nvPr/>
        </p:nvSpPr>
        <p:spPr>
          <a:xfrm>
            <a:off x="7610276" y="33970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A79BE668-EC3F-460C-B739-F157E1779E7C}"/>
              </a:ext>
            </a:extLst>
          </p:cNvPr>
          <p:cNvSpPr>
            <a:spLocks noGrp="1"/>
          </p:cNvSpPr>
          <p:nvPr/>
        </p:nvSpPr>
        <p:spPr>
          <a:xfrm>
            <a:off x="7650276" y="369575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A300BF63-FC97-4CB2-8534-46D374E5FE9C}"/>
              </a:ext>
            </a:extLst>
          </p:cNvPr>
          <p:cNvSpPr>
            <a:spLocks noGrp="1"/>
          </p:cNvSpPr>
          <p:nvPr/>
        </p:nvSpPr>
        <p:spPr>
          <a:xfrm>
            <a:off x="7610276" y="39945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0" name="SH420">
            <a:extLst>
              <a:ext uri="{FF2B5EF4-FFF2-40B4-BE49-F238E27FC236}">
                <a16:creationId xmlns:a16="http://schemas.microsoft.com/office/drawing/2014/main" id="{A69259CC-BBC5-4EE2-AFF7-85AC712AC007}"/>
              </a:ext>
            </a:extLst>
          </p:cNvPr>
          <p:cNvSpPr>
            <a:spLocks noGrp="1"/>
          </p:cNvSpPr>
          <p:nvPr/>
        </p:nvSpPr>
        <p:spPr>
          <a:xfrm>
            <a:off x="7650276" y="429325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1" name="SH421">
            <a:extLst>
              <a:ext uri="{FF2B5EF4-FFF2-40B4-BE49-F238E27FC236}">
                <a16:creationId xmlns:a16="http://schemas.microsoft.com/office/drawing/2014/main" id="{8D75385F-6422-4459-80CE-38329B85A684}"/>
              </a:ext>
            </a:extLst>
          </p:cNvPr>
          <p:cNvSpPr>
            <a:spLocks noGrp="1"/>
          </p:cNvSpPr>
          <p:nvPr/>
        </p:nvSpPr>
        <p:spPr>
          <a:xfrm>
            <a:off x="7610276" y="45920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2" name="SH422">
            <a:extLst>
              <a:ext uri="{FF2B5EF4-FFF2-40B4-BE49-F238E27FC236}">
                <a16:creationId xmlns:a16="http://schemas.microsoft.com/office/drawing/2014/main" id="{54058DD5-61C5-49B8-A3A0-B57CE02DE2A0}"/>
              </a:ext>
            </a:extLst>
          </p:cNvPr>
          <p:cNvSpPr>
            <a:spLocks noGrp="1"/>
          </p:cNvSpPr>
          <p:nvPr/>
        </p:nvSpPr>
        <p:spPr>
          <a:xfrm>
            <a:off x="8310276" y="220200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3" name="SH423">
            <a:extLst>
              <a:ext uri="{FF2B5EF4-FFF2-40B4-BE49-F238E27FC236}">
                <a16:creationId xmlns:a16="http://schemas.microsoft.com/office/drawing/2014/main" id="{005DBA1F-2053-4575-9C8B-572004CDFA5D}"/>
              </a:ext>
            </a:extLst>
          </p:cNvPr>
          <p:cNvSpPr>
            <a:spLocks noGrp="1"/>
          </p:cNvSpPr>
          <p:nvPr/>
        </p:nvSpPr>
        <p:spPr>
          <a:xfrm>
            <a:off x="8350276" y="250075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4" name="SH424">
            <a:extLst>
              <a:ext uri="{FF2B5EF4-FFF2-40B4-BE49-F238E27FC236}">
                <a16:creationId xmlns:a16="http://schemas.microsoft.com/office/drawing/2014/main" id="{87FCCCD3-2F29-4012-BCBE-70EF7F714F6B}"/>
              </a:ext>
            </a:extLst>
          </p:cNvPr>
          <p:cNvSpPr>
            <a:spLocks noGrp="1"/>
          </p:cNvSpPr>
          <p:nvPr/>
        </p:nvSpPr>
        <p:spPr>
          <a:xfrm>
            <a:off x="8310276" y="279950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5" name="SH425">
            <a:extLst>
              <a:ext uri="{FF2B5EF4-FFF2-40B4-BE49-F238E27FC236}">
                <a16:creationId xmlns:a16="http://schemas.microsoft.com/office/drawing/2014/main" id="{26CDBCDD-25C1-4163-9438-B18BF2C608F3}"/>
              </a:ext>
            </a:extLst>
          </p:cNvPr>
          <p:cNvSpPr>
            <a:spLocks noGrp="1"/>
          </p:cNvSpPr>
          <p:nvPr/>
        </p:nvSpPr>
        <p:spPr>
          <a:xfrm>
            <a:off x="8350276" y="309825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6" name="SH426">
            <a:extLst>
              <a:ext uri="{FF2B5EF4-FFF2-40B4-BE49-F238E27FC236}">
                <a16:creationId xmlns:a16="http://schemas.microsoft.com/office/drawing/2014/main" id="{2E72181F-400A-4D26-BFEA-1361A748571C}"/>
              </a:ext>
            </a:extLst>
          </p:cNvPr>
          <p:cNvSpPr>
            <a:spLocks noGrp="1"/>
          </p:cNvSpPr>
          <p:nvPr/>
        </p:nvSpPr>
        <p:spPr>
          <a:xfrm>
            <a:off x="8310276" y="339700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7" name="SH427">
            <a:extLst>
              <a:ext uri="{FF2B5EF4-FFF2-40B4-BE49-F238E27FC236}">
                <a16:creationId xmlns:a16="http://schemas.microsoft.com/office/drawing/2014/main" id="{FD64A6D1-C766-4DAB-97F7-3A75D47DC3B2}"/>
              </a:ext>
            </a:extLst>
          </p:cNvPr>
          <p:cNvSpPr>
            <a:spLocks noGrp="1"/>
          </p:cNvSpPr>
          <p:nvPr/>
        </p:nvSpPr>
        <p:spPr>
          <a:xfrm>
            <a:off x="8350276" y="369575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8" name="SH428">
            <a:extLst>
              <a:ext uri="{FF2B5EF4-FFF2-40B4-BE49-F238E27FC236}">
                <a16:creationId xmlns:a16="http://schemas.microsoft.com/office/drawing/2014/main" id="{E71D1529-16F5-4C95-AC30-1B4A7BE15CD8}"/>
              </a:ext>
            </a:extLst>
          </p:cNvPr>
          <p:cNvSpPr>
            <a:spLocks noGrp="1"/>
          </p:cNvSpPr>
          <p:nvPr/>
        </p:nvSpPr>
        <p:spPr>
          <a:xfrm>
            <a:off x="8310276" y="399450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9" name="SH429">
            <a:extLst>
              <a:ext uri="{FF2B5EF4-FFF2-40B4-BE49-F238E27FC236}">
                <a16:creationId xmlns:a16="http://schemas.microsoft.com/office/drawing/2014/main" id="{AAD6FD82-D06F-4C0D-BACD-D6813EC6E60A}"/>
              </a:ext>
            </a:extLst>
          </p:cNvPr>
          <p:cNvSpPr>
            <a:spLocks noGrp="1"/>
          </p:cNvSpPr>
          <p:nvPr/>
        </p:nvSpPr>
        <p:spPr>
          <a:xfrm>
            <a:off x="8350276" y="429325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30" name="SH430">
            <a:extLst>
              <a:ext uri="{FF2B5EF4-FFF2-40B4-BE49-F238E27FC236}">
                <a16:creationId xmlns:a16="http://schemas.microsoft.com/office/drawing/2014/main" id="{060B8049-5922-45F2-926E-27D754EF31C4}"/>
              </a:ext>
            </a:extLst>
          </p:cNvPr>
          <p:cNvSpPr>
            <a:spLocks noGrp="1"/>
          </p:cNvSpPr>
          <p:nvPr/>
        </p:nvSpPr>
        <p:spPr>
          <a:xfrm>
            <a:off x="8310276" y="459200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31" name="SH431">
            <a:extLst>
              <a:ext uri="{FF2B5EF4-FFF2-40B4-BE49-F238E27FC236}">
                <a16:creationId xmlns:a16="http://schemas.microsoft.com/office/drawing/2014/main" id="{3C7C1FA7-248C-4B64-9E64-2D3130B86C21}"/>
              </a:ext>
            </a:extLst>
          </p:cNvPr>
          <p:cNvSpPr>
            <a:spLocks noGrp="1"/>
          </p:cNvSpPr>
          <p:nvPr/>
        </p:nvSpPr>
        <p:spPr>
          <a:xfrm>
            <a:off x="9010276" y="22020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32" name="SH432">
            <a:extLst>
              <a:ext uri="{FF2B5EF4-FFF2-40B4-BE49-F238E27FC236}">
                <a16:creationId xmlns:a16="http://schemas.microsoft.com/office/drawing/2014/main" id="{1E172225-1FBA-481A-9DE7-FDD2BA03EFF7}"/>
              </a:ext>
            </a:extLst>
          </p:cNvPr>
          <p:cNvSpPr>
            <a:spLocks noGrp="1"/>
          </p:cNvSpPr>
          <p:nvPr/>
        </p:nvSpPr>
        <p:spPr>
          <a:xfrm>
            <a:off x="9050276" y="250075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33" name="SH433">
            <a:extLst>
              <a:ext uri="{FF2B5EF4-FFF2-40B4-BE49-F238E27FC236}">
                <a16:creationId xmlns:a16="http://schemas.microsoft.com/office/drawing/2014/main" id="{315C22D9-9813-4AFF-BC7C-3EF4D4B6D555}"/>
              </a:ext>
            </a:extLst>
          </p:cNvPr>
          <p:cNvSpPr>
            <a:spLocks noGrp="1"/>
          </p:cNvSpPr>
          <p:nvPr/>
        </p:nvSpPr>
        <p:spPr>
          <a:xfrm>
            <a:off x="9010276" y="27995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34" name="SH434">
            <a:extLst>
              <a:ext uri="{FF2B5EF4-FFF2-40B4-BE49-F238E27FC236}">
                <a16:creationId xmlns:a16="http://schemas.microsoft.com/office/drawing/2014/main" id="{7AB2E29D-963C-464A-A2E3-2B1CFCB32B47}"/>
              </a:ext>
            </a:extLst>
          </p:cNvPr>
          <p:cNvSpPr>
            <a:spLocks noGrp="1"/>
          </p:cNvSpPr>
          <p:nvPr/>
        </p:nvSpPr>
        <p:spPr>
          <a:xfrm>
            <a:off x="9050276" y="309825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35" name="SH435">
            <a:extLst>
              <a:ext uri="{FF2B5EF4-FFF2-40B4-BE49-F238E27FC236}">
                <a16:creationId xmlns:a16="http://schemas.microsoft.com/office/drawing/2014/main" id="{0E015D7E-06AC-42CA-AEC5-D12355D09222}"/>
              </a:ext>
            </a:extLst>
          </p:cNvPr>
          <p:cNvSpPr>
            <a:spLocks noGrp="1"/>
          </p:cNvSpPr>
          <p:nvPr/>
        </p:nvSpPr>
        <p:spPr>
          <a:xfrm>
            <a:off x="9010276" y="33970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36" name="SH436">
            <a:extLst>
              <a:ext uri="{FF2B5EF4-FFF2-40B4-BE49-F238E27FC236}">
                <a16:creationId xmlns:a16="http://schemas.microsoft.com/office/drawing/2014/main" id="{379E0A84-43DC-4364-86EC-BF8226447B20}"/>
              </a:ext>
            </a:extLst>
          </p:cNvPr>
          <p:cNvSpPr>
            <a:spLocks noGrp="1"/>
          </p:cNvSpPr>
          <p:nvPr/>
        </p:nvSpPr>
        <p:spPr>
          <a:xfrm>
            <a:off x="9050276" y="369575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37" name="SH437">
            <a:extLst>
              <a:ext uri="{FF2B5EF4-FFF2-40B4-BE49-F238E27FC236}">
                <a16:creationId xmlns:a16="http://schemas.microsoft.com/office/drawing/2014/main" id="{88BC74DC-EE1C-4C79-91F6-8F2A6F53E6EA}"/>
              </a:ext>
            </a:extLst>
          </p:cNvPr>
          <p:cNvSpPr>
            <a:spLocks noGrp="1"/>
          </p:cNvSpPr>
          <p:nvPr/>
        </p:nvSpPr>
        <p:spPr>
          <a:xfrm>
            <a:off x="9010276" y="39945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38" name="SH438">
            <a:extLst>
              <a:ext uri="{FF2B5EF4-FFF2-40B4-BE49-F238E27FC236}">
                <a16:creationId xmlns:a16="http://schemas.microsoft.com/office/drawing/2014/main" id="{2EC24F12-FDC4-41DC-B030-292457BB5F9C}"/>
              </a:ext>
            </a:extLst>
          </p:cNvPr>
          <p:cNvSpPr>
            <a:spLocks noGrp="1"/>
          </p:cNvSpPr>
          <p:nvPr/>
        </p:nvSpPr>
        <p:spPr>
          <a:xfrm>
            <a:off x="9050276" y="429325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39" name="SH439">
            <a:extLst>
              <a:ext uri="{FF2B5EF4-FFF2-40B4-BE49-F238E27FC236}">
                <a16:creationId xmlns:a16="http://schemas.microsoft.com/office/drawing/2014/main" id="{C12987EE-C0BC-46A2-9C27-FC92B70FF8DC}"/>
              </a:ext>
            </a:extLst>
          </p:cNvPr>
          <p:cNvSpPr>
            <a:spLocks noGrp="1"/>
          </p:cNvSpPr>
          <p:nvPr/>
        </p:nvSpPr>
        <p:spPr>
          <a:xfrm>
            <a:off x="9010276" y="45920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40" name="SH440">
            <a:extLst>
              <a:ext uri="{FF2B5EF4-FFF2-40B4-BE49-F238E27FC236}">
                <a16:creationId xmlns:a16="http://schemas.microsoft.com/office/drawing/2014/main" id="{F9ACCB4F-FF0A-4109-B506-1C2EF29AF375}"/>
              </a:ext>
            </a:extLst>
          </p:cNvPr>
          <p:cNvSpPr>
            <a:spLocks noGrp="1"/>
          </p:cNvSpPr>
          <p:nvPr/>
        </p:nvSpPr>
        <p:spPr>
          <a:xfrm>
            <a:off x="9710276" y="220200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41" name="SH441">
            <a:extLst>
              <a:ext uri="{FF2B5EF4-FFF2-40B4-BE49-F238E27FC236}">
                <a16:creationId xmlns:a16="http://schemas.microsoft.com/office/drawing/2014/main" id="{E8808F1E-0417-40ED-B7FD-319A0121256B}"/>
              </a:ext>
            </a:extLst>
          </p:cNvPr>
          <p:cNvSpPr>
            <a:spLocks noGrp="1"/>
          </p:cNvSpPr>
          <p:nvPr/>
        </p:nvSpPr>
        <p:spPr>
          <a:xfrm>
            <a:off x="9750276" y="250075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42" name="SH442">
            <a:extLst>
              <a:ext uri="{FF2B5EF4-FFF2-40B4-BE49-F238E27FC236}">
                <a16:creationId xmlns:a16="http://schemas.microsoft.com/office/drawing/2014/main" id="{D98E7E3E-4B34-4D6A-8E66-E3F4404B1238}"/>
              </a:ext>
            </a:extLst>
          </p:cNvPr>
          <p:cNvSpPr>
            <a:spLocks noGrp="1"/>
          </p:cNvSpPr>
          <p:nvPr/>
        </p:nvSpPr>
        <p:spPr>
          <a:xfrm>
            <a:off x="9710276" y="279950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43" name="SH443">
            <a:extLst>
              <a:ext uri="{FF2B5EF4-FFF2-40B4-BE49-F238E27FC236}">
                <a16:creationId xmlns:a16="http://schemas.microsoft.com/office/drawing/2014/main" id="{20202281-FD56-4B64-801C-7A0F8D616DEC}"/>
              </a:ext>
            </a:extLst>
          </p:cNvPr>
          <p:cNvSpPr>
            <a:spLocks noGrp="1"/>
          </p:cNvSpPr>
          <p:nvPr/>
        </p:nvSpPr>
        <p:spPr>
          <a:xfrm>
            <a:off x="9750276" y="309825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44" name="SH444">
            <a:extLst>
              <a:ext uri="{FF2B5EF4-FFF2-40B4-BE49-F238E27FC236}">
                <a16:creationId xmlns:a16="http://schemas.microsoft.com/office/drawing/2014/main" id="{F9C85C06-677D-4887-B5F0-3A3AFBBA51EA}"/>
              </a:ext>
            </a:extLst>
          </p:cNvPr>
          <p:cNvSpPr>
            <a:spLocks noGrp="1"/>
          </p:cNvSpPr>
          <p:nvPr/>
        </p:nvSpPr>
        <p:spPr>
          <a:xfrm>
            <a:off x="9710276" y="339700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45" name="SH445">
            <a:extLst>
              <a:ext uri="{FF2B5EF4-FFF2-40B4-BE49-F238E27FC236}">
                <a16:creationId xmlns:a16="http://schemas.microsoft.com/office/drawing/2014/main" id="{BA7C5A68-BCF0-4C8F-B0E6-F496C28195E5}"/>
              </a:ext>
            </a:extLst>
          </p:cNvPr>
          <p:cNvSpPr>
            <a:spLocks noGrp="1"/>
          </p:cNvSpPr>
          <p:nvPr/>
        </p:nvSpPr>
        <p:spPr>
          <a:xfrm>
            <a:off x="9750276" y="369575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46" name="SH446">
            <a:extLst>
              <a:ext uri="{FF2B5EF4-FFF2-40B4-BE49-F238E27FC236}">
                <a16:creationId xmlns:a16="http://schemas.microsoft.com/office/drawing/2014/main" id="{3DF50AFA-EDC8-40A0-9256-F21961B582F9}"/>
              </a:ext>
            </a:extLst>
          </p:cNvPr>
          <p:cNvSpPr>
            <a:spLocks noGrp="1"/>
          </p:cNvSpPr>
          <p:nvPr/>
        </p:nvSpPr>
        <p:spPr>
          <a:xfrm>
            <a:off x="9710276" y="399450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47" name="SH447">
            <a:extLst>
              <a:ext uri="{FF2B5EF4-FFF2-40B4-BE49-F238E27FC236}">
                <a16:creationId xmlns:a16="http://schemas.microsoft.com/office/drawing/2014/main" id="{B65748A7-1409-44E9-AB1A-3BD5E7D32C4F}"/>
              </a:ext>
            </a:extLst>
          </p:cNvPr>
          <p:cNvSpPr>
            <a:spLocks noGrp="1"/>
          </p:cNvSpPr>
          <p:nvPr/>
        </p:nvSpPr>
        <p:spPr>
          <a:xfrm>
            <a:off x="9750276" y="429325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48" name="SH448">
            <a:extLst>
              <a:ext uri="{FF2B5EF4-FFF2-40B4-BE49-F238E27FC236}">
                <a16:creationId xmlns:a16="http://schemas.microsoft.com/office/drawing/2014/main" id="{86BF5AE5-4B7C-4816-9C39-75E38EF92281}"/>
              </a:ext>
            </a:extLst>
          </p:cNvPr>
          <p:cNvSpPr>
            <a:spLocks noGrp="1"/>
          </p:cNvSpPr>
          <p:nvPr/>
        </p:nvSpPr>
        <p:spPr>
          <a:xfrm>
            <a:off x="9710276" y="4592000"/>
            <a:ext cx="116000" cy="116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49" name="SH449">
            <a:extLst>
              <a:ext uri="{FF2B5EF4-FFF2-40B4-BE49-F238E27FC236}">
                <a16:creationId xmlns:a16="http://schemas.microsoft.com/office/drawing/2014/main" id="{BCED39B7-1948-408B-8C02-B8BCCD7EA150}"/>
              </a:ext>
            </a:extLst>
          </p:cNvPr>
          <p:cNvSpPr>
            <a:spLocks noGrp="1"/>
          </p:cNvSpPr>
          <p:nvPr/>
        </p:nvSpPr>
        <p:spPr>
          <a:xfrm>
            <a:off x="10410276" y="220200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50" name="SH450">
            <a:extLst>
              <a:ext uri="{FF2B5EF4-FFF2-40B4-BE49-F238E27FC236}">
                <a16:creationId xmlns:a16="http://schemas.microsoft.com/office/drawing/2014/main" id="{CA90A868-9DA4-4FD2-A7B4-A2F662390608}"/>
              </a:ext>
            </a:extLst>
          </p:cNvPr>
          <p:cNvSpPr>
            <a:spLocks noGrp="1"/>
          </p:cNvSpPr>
          <p:nvPr/>
        </p:nvSpPr>
        <p:spPr>
          <a:xfrm>
            <a:off x="10450276" y="250075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51" name="SH451">
            <a:extLst>
              <a:ext uri="{FF2B5EF4-FFF2-40B4-BE49-F238E27FC236}">
                <a16:creationId xmlns:a16="http://schemas.microsoft.com/office/drawing/2014/main" id="{16CBBEA2-1DD7-4D63-8731-AC5F3D3CC52F}"/>
              </a:ext>
            </a:extLst>
          </p:cNvPr>
          <p:cNvSpPr>
            <a:spLocks noGrp="1"/>
          </p:cNvSpPr>
          <p:nvPr/>
        </p:nvSpPr>
        <p:spPr>
          <a:xfrm>
            <a:off x="10410276" y="279950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52" name="SH452">
            <a:extLst>
              <a:ext uri="{FF2B5EF4-FFF2-40B4-BE49-F238E27FC236}">
                <a16:creationId xmlns:a16="http://schemas.microsoft.com/office/drawing/2014/main" id="{A2A71DF6-ED9D-46E9-B292-3D898B0A1393}"/>
              </a:ext>
            </a:extLst>
          </p:cNvPr>
          <p:cNvSpPr>
            <a:spLocks noGrp="1"/>
          </p:cNvSpPr>
          <p:nvPr/>
        </p:nvSpPr>
        <p:spPr>
          <a:xfrm>
            <a:off x="10450276" y="309825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53" name="SH453">
            <a:extLst>
              <a:ext uri="{FF2B5EF4-FFF2-40B4-BE49-F238E27FC236}">
                <a16:creationId xmlns:a16="http://schemas.microsoft.com/office/drawing/2014/main" id="{BFBEA170-EA44-4D0A-9237-CE19751668D7}"/>
              </a:ext>
            </a:extLst>
          </p:cNvPr>
          <p:cNvSpPr>
            <a:spLocks noGrp="1"/>
          </p:cNvSpPr>
          <p:nvPr/>
        </p:nvSpPr>
        <p:spPr>
          <a:xfrm>
            <a:off x="10410276" y="339700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54" name="SH454">
            <a:extLst>
              <a:ext uri="{FF2B5EF4-FFF2-40B4-BE49-F238E27FC236}">
                <a16:creationId xmlns:a16="http://schemas.microsoft.com/office/drawing/2014/main" id="{65B06CA8-63E6-4FF7-AAE6-08A398854513}"/>
              </a:ext>
            </a:extLst>
          </p:cNvPr>
          <p:cNvSpPr>
            <a:spLocks noGrp="1"/>
          </p:cNvSpPr>
          <p:nvPr/>
        </p:nvSpPr>
        <p:spPr>
          <a:xfrm>
            <a:off x="10450276" y="369575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55" name="SH455">
            <a:extLst>
              <a:ext uri="{FF2B5EF4-FFF2-40B4-BE49-F238E27FC236}">
                <a16:creationId xmlns:a16="http://schemas.microsoft.com/office/drawing/2014/main" id="{ECB0C003-7786-4DCB-A57A-E75FD0AF4F8F}"/>
              </a:ext>
            </a:extLst>
          </p:cNvPr>
          <p:cNvSpPr>
            <a:spLocks noGrp="1"/>
          </p:cNvSpPr>
          <p:nvPr/>
        </p:nvSpPr>
        <p:spPr>
          <a:xfrm>
            <a:off x="10410276" y="399450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56" name="SH456">
            <a:extLst>
              <a:ext uri="{FF2B5EF4-FFF2-40B4-BE49-F238E27FC236}">
                <a16:creationId xmlns:a16="http://schemas.microsoft.com/office/drawing/2014/main" id="{7DECF4F4-A823-4171-813C-4E1FC836C3B2}"/>
              </a:ext>
            </a:extLst>
          </p:cNvPr>
          <p:cNvSpPr>
            <a:spLocks noGrp="1"/>
          </p:cNvSpPr>
          <p:nvPr/>
        </p:nvSpPr>
        <p:spPr>
          <a:xfrm>
            <a:off x="10450276" y="429325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57" name="SH457">
            <a:extLst>
              <a:ext uri="{FF2B5EF4-FFF2-40B4-BE49-F238E27FC236}">
                <a16:creationId xmlns:a16="http://schemas.microsoft.com/office/drawing/2014/main" id="{82C374A8-1504-4AFE-A350-91E70C2B0E73}"/>
              </a:ext>
            </a:extLst>
          </p:cNvPr>
          <p:cNvSpPr>
            <a:spLocks noGrp="1"/>
          </p:cNvSpPr>
          <p:nvPr/>
        </p:nvSpPr>
        <p:spPr>
          <a:xfrm>
            <a:off x="10410276" y="4592000"/>
            <a:ext cx="116000" cy="116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58" name="SH458">
            <a:extLst>
              <a:ext uri="{FF2B5EF4-FFF2-40B4-BE49-F238E27FC236}">
                <a16:creationId xmlns:a16="http://schemas.microsoft.com/office/drawing/2014/main" id="{2BE0717E-E090-450F-968A-F8232E6487B0}"/>
              </a:ext>
            </a:extLst>
          </p:cNvPr>
          <p:cNvSpPr>
            <a:spLocks noGrp="1"/>
          </p:cNvSpPr>
          <p:nvPr/>
        </p:nvSpPr>
        <p:spPr>
          <a:xfrm>
            <a:off x="11060276" y="22020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59" name="SH459">
            <a:extLst>
              <a:ext uri="{FF2B5EF4-FFF2-40B4-BE49-F238E27FC236}">
                <a16:creationId xmlns:a16="http://schemas.microsoft.com/office/drawing/2014/main" id="{592BC22E-ADD9-44F2-ACF8-B820BC80753C}"/>
              </a:ext>
            </a:extLst>
          </p:cNvPr>
          <p:cNvSpPr>
            <a:spLocks noGrp="1"/>
          </p:cNvSpPr>
          <p:nvPr/>
        </p:nvSpPr>
        <p:spPr>
          <a:xfrm>
            <a:off x="11100276" y="250075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60" name="SH460">
            <a:extLst>
              <a:ext uri="{FF2B5EF4-FFF2-40B4-BE49-F238E27FC236}">
                <a16:creationId xmlns:a16="http://schemas.microsoft.com/office/drawing/2014/main" id="{FC8A2CEC-41CF-4F7F-AEE4-F47C5135AA20}"/>
              </a:ext>
            </a:extLst>
          </p:cNvPr>
          <p:cNvSpPr>
            <a:spLocks noGrp="1"/>
          </p:cNvSpPr>
          <p:nvPr/>
        </p:nvSpPr>
        <p:spPr>
          <a:xfrm>
            <a:off x="11060276" y="27995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61" name="SH461">
            <a:extLst>
              <a:ext uri="{FF2B5EF4-FFF2-40B4-BE49-F238E27FC236}">
                <a16:creationId xmlns:a16="http://schemas.microsoft.com/office/drawing/2014/main" id="{FFFE2DB5-4C99-4170-B914-EA1255862B79}"/>
              </a:ext>
            </a:extLst>
          </p:cNvPr>
          <p:cNvSpPr>
            <a:spLocks noGrp="1"/>
          </p:cNvSpPr>
          <p:nvPr/>
        </p:nvSpPr>
        <p:spPr>
          <a:xfrm>
            <a:off x="11100276" y="309825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62" name="SH462">
            <a:extLst>
              <a:ext uri="{FF2B5EF4-FFF2-40B4-BE49-F238E27FC236}">
                <a16:creationId xmlns:a16="http://schemas.microsoft.com/office/drawing/2014/main" id="{F06CB76F-7402-4DF7-9606-3DC5271A5D56}"/>
              </a:ext>
            </a:extLst>
          </p:cNvPr>
          <p:cNvSpPr>
            <a:spLocks noGrp="1"/>
          </p:cNvSpPr>
          <p:nvPr/>
        </p:nvSpPr>
        <p:spPr>
          <a:xfrm>
            <a:off x="11060276" y="33970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63" name="SH463">
            <a:extLst>
              <a:ext uri="{FF2B5EF4-FFF2-40B4-BE49-F238E27FC236}">
                <a16:creationId xmlns:a16="http://schemas.microsoft.com/office/drawing/2014/main" id="{60452E44-18D2-41B0-A9F4-95449A9FB65F}"/>
              </a:ext>
            </a:extLst>
          </p:cNvPr>
          <p:cNvSpPr>
            <a:spLocks noGrp="1"/>
          </p:cNvSpPr>
          <p:nvPr/>
        </p:nvSpPr>
        <p:spPr>
          <a:xfrm>
            <a:off x="11100276" y="369575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64" name="SH464">
            <a:extLst>
              <a:ext uri="{FF2B5EF4-FFF2-40B4-BE49-F238E27FC236}">
                <a16:creationId xmlns:a16="http://schemas.microsoft.com/office/drawing/2014/main" id="{D70A265B-D494-48CE-97FC-976F45BB702E}"/>
              </a:ext>
            </a:extLst>
          </p:cNvPr>
          <p:cNvSpPr>
            <a:spLocks noGrp="1"/>
          </p:cNvSpPr>
          <p:nvPr/>
        </p:nvSpPr>
        <p:spPr>
          <a:xfrm>
            <a:off x="11060276" y="39945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65" name="SH465">
            <a:extLst>
              <a:ext uri="{FF2B5EF4-FFF2-40B4-BE49-F238E27FC236}">
                <a16:creationId xmlns:a16="http://schemas.microsoft.com/office/drawing/2014/main" id="{7F7A064D-1D63-4535-BE5C-C9B5C1771180}"/>
              </a:ext>
            </a:extLst>
          </p:cNvPr>
          <p:cNvSpPr>
            <a:spLocks noGrp="1"/>
          </p:cNvSpPr>
          <p:nvPr/>
        </p:nvSpPr>
        <p:spPr>
          <a:xfrm>
            <a:off x="11100276" y="429325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66" name="SH466">
            <a:extLst>
              <a:ext uri="{FF2B5EF4-FFF2-40B4-BE49-F238E27FC236}">
                <a16:creationId xmlns:a16="http://schemas.microsoft.com/office/drawing/2014/main" id="{2785EB80-7406-4F29-A306-BEFFE1D75333}"/>
              </a:ext>
            </a:extLst>
          </p:cNvPr>
          <p:cNvSpPr>
            <a:spLocks noGrp="1"/>
          </p:cNvSpPr>
          <p:nvPr/>
        </p:nvSpPr>
        <p:spPr>
          <a:xfrm>
            <a:off x="11060276" y="4592000"/>
            <a:ext cx="116000" cy="116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68" name="SH468">
            <a:extLst>
              <a:ext uri="{FF2B5EF4-FFF2-40B4-BE49-F238E27FC236}">
                <a16:creationId xmlns:a16="http://schemas.microsoft.com/office/drawing/2014/main" id="{FB57AC54-F684-4169-8AA3-19C4962832B8}"/>
              </a:ext>
            </a:extLst>
          </p:cNvPr>
          <p:cNvSpPr>
            <a:spLocks noGrp="1"/>
          </p:cNvSpPr>
          <p:nvPr/>
        </p:nvSpPr>
        <p:spPr>
          <a:xfrm>
            <a:off x="6458276" y="4980000"/>
            <a:ext cx="160000" cy="160000"/>
          </a:xfrm>
          <a:prstGeom prst="ellipse">
            <a:avLst/>
          </a:prstGeom>
          <a:solidFill>
            <a:srgbClr val="1B4332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69" name="TB469">
            <a:extLst>
              <a:ext uri="{FF2B5EF4-FFF2-40B4-BE49-F238E27FC236}">
                <a16:creationId xmlns:a16="http://schemas.microsoft.com/office/drawing/2014/main" id="{EBBEADC6-1E15-441C-8C8A-B678C06ECF3D}"/>
              </a:ext>
            </a:extLst>
          </p:cNvPr>
          <p:cNvSpPr>
            <a:spLocks noGrp="1"/>
          </p:cNvSpPr>
          <p:nvPr/>
        </p:nvSpPr>
        <p:spPr>
          <a:xfrm>
            <a:off x="6688276" y="494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huella válida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0" name="SH470">
            <a:extLst>
              <a:ext uri="{FF2B5EF4-FFF2-40B4-BE49-F238E27FC236}">
                <a16:creationId xmlns:a16="http://schemas.microsoft.com/office/drawing/2014/main" id="{B747F019-28CB-43FD-B86D-47437C157A3C}"/>
              </a:ext>
            </a:extLst>
          </p:cNvPr>
          <p:cNvSpPr>
            <a:spLocks noGrp="1"/>
          </p:cNvSpPr>
          <p:nvPr/>
        </p:nvSpPr>
        <p:spPr>
          <a:xfrm>
            <a:off x="8108276" y="4980000"/>
            <a:ext cx="160000" cy="160000"/>
          </a:xfrm>
          <a:prstGeom prst="ellipse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71" name="TB471">
            <a:extLst>
              <a:ext uri="{FF2B5EF4-FFF2-40B4-BE49-F238E27FC236}">
                <a16:creationId xmlns:a16="http://schemas.microsoft.com/office/drawing/2014/main" id="{5F667FC4-EBF2-4547-8035-362DF9E955C4}"/>
              </a:ext>
            </a:extLst>
          </p:cNvPr>
          <p:cNvSpPr>
            <a:spLocks noGrp="1"/>
          </p:cNvSpPr>
          <p:nvPr/>
        </p:nvSpPr>
        <p:spPr>
          <a:xfrm>
            <a:off x="8338276" y="494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calidad dudosa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2" name="SH472">
            <a:extLst>
              <a:ext uri="{FF2B5EF4-FFF2-40B4-BE49-F238E27FC236}">
                <a16:creationId xmlns:a16="http://schemas.microsoft.com/office/drawing/2014/main" id="{AAC460AE-6257-47D3-A22D-244AF2D73527}"/>
              </a:ext>
            </a:extLst>
          </p:cNvPr>
          <p:cNvSpPr>
            <a:spLocks noGrp="1"/>
          </p:cNvSpPr>
          <p:nvPr/>
        </p:nvSpPr>
        <p:spPr>
          <a:xfrm>
            <a:off x="9758276" y="4980000"/>
            <a:ext cx="160000" cy="160000"/>
          </a:xfrm>
          <a:prstGeom prst="ellipse">
            <a:avLst/>
          </a:prstGeom>
          <a:solidFill>
            <a:srgbClr val="6B7280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73" name="TB473">
            <a:extLst>
              <a:ext uri="{FF2B5EF4-FFF2-40B4-BE49-F238E27FC236}">
                <a16:creationId xmlns:a16="http://schemas.microsoft.com/office/drawing/2014/main" id="{8377913F-5E82-401B-99C0-D877512B8F4F}"/>
              </a:ext>
            </a:extLst>
          </p:cNvPr>
          <p:cNvSpPr>
            <a:spLocks noGrp="1"/>
          </p:cNvSpPr>
          <p:nvPr/>
        </p:nvSpPr>
        <p:spPr>
          <a:xfrm>
            <a:off x="9988276" y="494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descartada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4" name="TB474">
            <a:extLst>
              <a:ext uri="{FF2B5EF4-FFF2-40B4-BE49-F238E27FC236}">
                <a16:creationId xmlns:a16="http://schemas.microsoft.com/office/drawing/2014/main" id="{61E2541A-2864-4D59-8757-334F434D0518}"/>
              </a:ext>
            </a:extLst>
          </p:cNvPr>
          <p:cNvSpPr>
            <a:spLocks noGrp="1"/>
          </p:cNvSpPr>
          <p:nvPr/>
        </p:nvSpPr>
        <p:spPr>
          <a:xfrm>
            <a:off x="6218276" y="5280000"/>
            <a:ext cx="5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latin typeface="Arial"/>
                <a:ea typeface="Arial"/>
                <a:cs typeface="Arial"/>
              </a:rPr>
              <a:t>Los huecos entre transectas no son ceros: son ausencia de dato.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FDA63BB-8B4A-4AF6-8351-B5B8F534E6CC}"/>
              </a:ext>
            </a:extLst>
          </p:cNvPr>
          <p:cNvSpPr>
            <a:spLocks noGrp="1"/>
          </p:cNvSpPr>
          <p:nvPr/>
        </p:nvSpPr>
        <p:spPr>
          <a:xfrm>
            <a:off x="600075" y="586420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GEDI Data Resources; LP DAAC Quick Guide; Earthdata Cloud Cookbook. CIEFAP/SNMBN Bosque Andino Patagónico; Argentina Ambiente Mapas de Bosque Nativo; Chubut OTBN.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0F18E07-3F6A-4619-8292-745FE540992C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65/79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4821B29-EF6B-42E1-83A7-AEA850F6E25C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27164DA-C5B5-48D2-9855-7C0DF079BB07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75" name="Rectángulo 474">
            <a:extLst>
              <a:ext uri="{FF2B5EF4-FFF2-40B4-BE49-F238E27FC236}">
                <a16:creationId xmlns:a16="http://schemas.microsoft.com/office/drawing/2014/main" id="{667DC7BF-6645-4A54-883E-180F48F2FC7D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65/79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92891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F835EE-75C4-420A-A8DE-A0951732B9C4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Validación con parcelas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85EEE9-4003-4DBF-AABB-086C80B43E7C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Comparación entre estimaciones satelitales y mediciones de campo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EACA159-63B3-43E0-9B95-B365D684ADAF}"/>
              </a:ext>
            </a:extLst>
          </p:cNvPr>
          <p:cNvSpPr>
            <a:spLocks noGrp="1"/>
          </p:cNvSpPr>
          <p:nvPr/>
        </p:nvSpPr>
        <p:spPr>
          <a:xfrm>
            <a:off x="596900" y="1181100"/>
            <a:ext cx="5080000" cy="4368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Emparejamiento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Unir parcelas con huellas o píxeles según reglas de distancia y soporte.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Separación de usos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Distinguir la validación local del ajuste de sesgo.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Estratificación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Evaluar por tipo forestal, pendiente y rango de biomasa.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Reporte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Informar también la incertidumbre de la parcela, no solo la satelital.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7713D0C-AC13-4854-87FF-737A0C964812}"/>
              </a:ext>
            </a:extLst>
          </p:cNvPr>
          <p:cNvSpPr>
            <a:spLocks noGrp="1"/>
          </p:cNvSpPr>
          <p:nvPr/>
        </p:nvSpPr>
        <p:spPr>
          <a:xfrm>
            <a:off x="600075" y="5666196"/>
            <a:ext cx="10915650" cy="46792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Duncanson et al. (2022); Kellner et al. (2023); Duncanson et al. (2019); Subedi y Zurqani (2026). CIEFAP/SNMBN Bosque Andino Patagónico; Argentina Ambiente Mapas de Bosque Nativo; Chubut OTBN.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0368DF7-D323-4FB3-A798-DE84532ED8A1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66/79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B473929-A14C-475D-AAA9-4B7F03751D61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EC731D-D309-41D0-88D6-48B606A274C2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96328D4B-7996-479D-B51E-8637CFF42EF9}"/>
              </a:ext>
            </a:extLst>
          </p:cNvPr>
          <p:cNvSpPr>
            <a:spLocks noGrp="1"/>
          </p:cNvSpPr>
          <p:nvPr/>
        </p:nvSpPr>
        <p:spPr>
          <a:xfrm>
            <a:off x="6315176" y="1142772"/>
            <a:ext cx="4824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Emparejar parcela con huella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691B5722-CB60-4D2B-A8E8-12B5F69BCD4B}"/>
              </a:ext>
            </a:extLst>
          </p:cNvPr>
          <p:cNvSpPr>
            <a:spLocks noGrp="1"/>
          </p:cNvSpPr>
          <p:nvPr/>
        </p:nvSpPr>
        <p:spPr>
          <a:xfrm>
            <a:off x="6315176" y="1540204"/>
            <a:ext cx="3384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Regla de distancia y soporte comparable</a:t>
            </a:r>
          </a:p>
        </p:txBody>
      </p:sp>
      <p:sp>
        <p:nvSpPr>
          <p:cNvPr id="402" name="TB402">
            <a:extLst>
              <a:ext uri="{FF2B5EF4-FFF2-40B4-BE49-F238E27FC236}">
                <a16:creationId xmlns:a16="http://schemas.microsoft.com/office/drawing/2014/main" id="{46F934A8-1102-49B5-9763-1CD3D36E1350}"/>
              </a:ext>
            </a:extLst>
          </p:cNvPr>
          <p:cNvSpPr>
            <a:spLocks noGrp="1"/>
          </p:cNvSpPr>
          <p:nvPr/>
        </p:nvSpPr>
        <p:spPr>
          <a:xfrm>
            <a:off x="6465176" y="1886508"/>
            <a:ext cx="62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parcela</a:t>
            </a:r>
          </a:p>
        </p:txBody>
      </p:sp>
      <p:sp>
        <p:nvSpPr>
          <p:cNvPr id="403" name="TB403">
            <a:extLst>
              <a:ext uri="{FF2B5EF4-FFF2-40B4-BE49-F238E27FC236}">
                <a16:creationId xmlns:a16="http://schemas.microsoft.com/office/drawing/2014/main" id="{09E74EB7-7CAB-4402-957B-7E8A00CCCA5C}"/>
              </a:ext>
            </a:extLst>
          </p:cNvPr>
          <p:cNvSpPr>
            <a:spLocks noGrp="1"/>
          </p:cNvSpPr>
          <p:nvPr/>
        </p:nvSpPr>
        <p:spPr>
          <a:xfrm>
            <a:off x="8565176" y="1886508"/>
            <a:ext cx="80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huella</a:t>
            </a:r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BD218510-DEAD-4F5F-9F36-CC5E99CF5055}"/>
              </a:ext>
            </a:extLst>
          </p:cNvPr>
          <p:cNvSpPr>
            <a:spLocks noGrp="1"/>
          </p:cNvSpPr>
          <p:nvPr/>
        </p:nvSpPr>
        <p:spPr>
          <a:xfrm>
            <a:off x="6565176" y="2216508"/>
            <a:ext cx="380000" cy="380000"/>
          </a:xfrm>
          <a:prstGeom prst="rect">
            <a:avLst/>
          </a:prstGeom>
          <a:solidFill>
            <a:srgbClr val="F4F7F5"/>
          </a:solidFill>
          <a:ln w="19050">
            <a:solidFill>
              <a:srgbClr val="2D6A4F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1124D959-510F-4299-A4E0-C0A476E4EDD4}"/>
              </a:ext>
            </a:extLst>
          </p:cNvPr>
          <p:cNvSpPr>
            <a:spLocks noGrp="1"/>
          </p:cNvSpPr>
          <p:nvPr/>
        </p:nvSpPr>
        <p:spPr>
          <a:xfrm>
            <a:off x="8800176" y="2241508"/>
            <a:ext cx="330000" cy="33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146C2608-C1D3-48B1-B253-949208A0FA8E}"/>
              </a:ext>
            </a:extLst>
          </p:cNvPr>
          <p:cNvSpPr>
            <a:spLocks noGrp="1"/>
          </p:cNvSpPr>
          <p:nvPr/>
        </p:nvSpPr>
        <p:spPr>
          <a:xfrm>
            <a:off x="6975176" y="2396983"/>
            <a:ext cx="1810000" cy="1905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B1E74321-0084-4C53-9198-8ED559A99EEA}"/>
              </a:ext>
            </a:extLst>
          </p:cNvPr>
          <p:cNvSpPr>
            <a:spLocks noGrp="1"/>
          </p:cNvSpPr>
          <p:nvPr/>
        </p:nvSpPr>
        <p:spPr>
          <a:xfrm>
            <a:off x="6565176" y="2736508"/>
            <a:ext cx="380000" cy="3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35D162D8-D579-4012-BF59-A8E01F7FB0ED}"/>
              </a:ext>
            </a:extLst>
          </p:cNvPr>
          <p:cNvSpPr>
            <a:spLocks noGrp="1"/>
          </p:cNvSpPr>
          <p:nvPr/>
        </p:nvSpPr>
        <p:spPr>
          <a:xfrm>
            <a:off x="8800176" y="2761508"/>
            <a:ext cx="330000" cy="33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3AF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9CF7AE5B-167E-4D97-9F1B-010CBBDE22CF}"/>
              </a:ext>
            </a:extLst>
          </p:cNvPr>
          <p:cNvSpPr>
            <a:spLocks noGrp="1"/>
          </p:cNvSpPr>
          <p:nvPr/>
        </p:nvSpPr>
        <p:spPr>
          <a:xfrm>
            <a:off x="6565176" y="3256508"/>
            <a:ext cx="380000" cy="380000"/>
          </a:xfrm>
          <a:prstGeom prst="rect">
            <a:avLst/>
          </a:prstGeom>
          <a:solidFill>
            <a:srgbClr val="F4F7F5"/>
          </a:solidFill>
          <a:ln w="19050">
            <a:solidFill>
              <a:srgbClr val="2D6A4F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F2A0670C-7CA9-416B-BA6D-CF1794E7CE00}"/>
              </a:ext>
            </a:extLst>
          </p:cNvPr>
          <p:cNvSpPr>
            <a:spLocks noGrp="1"/>
          </p:cNvSpPr>
          <p:nvPr/>
        </p:nvSpPr>
        <p:spPr>
          <a:xfrm>
            <a:off x="8800176" y="3281508"/>
            <a:ext cx="330000" cy="33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E610CCC4-6AAA-494E-A24B-FAB52CE10650}"/>
              </a:ext>
            </a:extLst>
          </p:cNvPr>
          <p:cNvSpPr>
            <a:spLocks noGrp="1"/>
          </p:cNvSpPr>
          <p:nvPr/>
        </p:nvSpPr>
        <p:spPr>
          <a:xfrm>
            <a:off x="6975176" y="3436983"/>
            <a:ext cx="1810000" cy="1905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14AFC5A7-BB38-44E2-BDAC-F57CDAFEAA32}"/>
              </a:ext>
            </a:extLst>
          </p:cNvPr>
          <p:cNvSpPr>
            <a:spLocks noGrp="1"/>
          </p:cNvSpPr>
          <p:nvPr/>
        </p:nvSpPr>
        <p:spPr>
          <a:xfrm>
            <a:off x="6565176" y="3776508"/>
            <a:ext cx="380000" cy="380000"/>
          </a:xfrm>
          <a:prstGeom prst="rect">
            <a:avLst/>
          </a:prstGeom>
          <a:solidFill>
            <a:srgbClr val="F4F7F5"/>
          </a:solidFill>
          <a:ln w="19050">
            <a:solidFill>
              <a:srgbClr val="2D6A4F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85C104DE-E4DD-4995-A3D4-0E42D3594FCA}"/>
              </a:ext>
            </a:extLst>
          </p:cNvPr>
          <p:cNvSpPr>
            <a:spLocks noGrp="1"/>
          </p:cNvSpPr>
          <p:nvPr/>
        </p:nvSpPr>
        <p:spPr>
          <a:xfrm>
            <a:off x="8800176" y="3801508"/>
            <a:ext cx="330000" cy="330000"/>
          </a:xfrm>
          <a:prstGeom prst="ellipse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401CB202-F16A-475B-997A-A1C301CC9452}"/>
              </a:ext>
            </a:extLst>
          </p:cNvPr>
          <p:cNvSpPr>
            <a:spLocks noGrp="1"/>
          </p:cNvSpPr>
          <p:nvPr/>
        </p:nvSpPr>
        <p:spPr>
          <a:xfrm>
            <a:off x="6975176" y="3956983"/>
            <a:ext cx="1810000" cy="1905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EB262DAA-3F2E-4A2C-906D-669828C5F0B4}"/>
              </a:ext>
            </a:extLst>
          </p:cNvPr>
          <p:cNvSpPr>
            <a:spLocks noGrp="1"/>
          </p:cNvSpPr>
          <p:nvPr/>
        </p:nvSpPr>
        <p:spPr>
          <a:xfrm>
            <a:off x="6565176" y="4296508"/>
            <a:ext cx="380000" cy="3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B3E52F67-EFD1-4839-BA77-717865DA2447}"/>
              </a:ext>
            </a:extLst>
          </p:cNvPr>
          <p:cNvSpPr>
            <a:spLocks noGrp="1"/>
          </p:cNvSpPr>
          <p:nvPr/>
        </p:nvSpPr>
        <p:spPr>
          <a:xfrm>
            <a:off x="8800176" y="4321508"/>
            <a:ext cx="330000" cy="33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CA3AF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33ACE3CC-2517-416B-8EDD-84C449BFFC15}"/>
              </a:ext>
            </a:extLst>
          </p:cNvPr>
          <p:cNvSpPr>
            <a:spLocks noGrp="1"/>
          </p:cNvSpPr>
          <p:nvPr/>
        </p:nvSpPr>
        <p:spPr>
          <a:xfrm>
            <a:off x="9855200" y="22606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emparejadas</a:t>
            </a:r>
          </a:p>
        </p:txBody>
      </p:sp>
      <p:sp>
        <p:nvSpPr>
          <p:cNvPr id="418" name="TB418">
            <a:extLst>
              <a:ext uri="{FF2B5EF4-FFF2-40B4-BE49-F238E27FC236}">
                <a16:creationId xmlns:a16="http://schemas.microsoft.com/office/drawing/2014/main" id="{73693CD1-4D84-4B7F-B87C-F3D04C9F29DC}"/>
              </a:ext>
            </a:extLst>
          </p:cNvPr>
          <p:cNvSpPr>
            <a:spLocks noGrp="1"/>
          </p:cNvSpPr>
          <p:nvPr/>
        </p:nvSpPr>
        <p:spPr>
          <a:xfrm>
            <a:off x="9855200" y="2540000"/>
            <a:ext cx="1905000" cy="736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distancia y fecha compatibles;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soporte equivalente</a:t>
            </a:r>
          </a:p>
        </p:txBody>
      </p:sp>
      <p:sp>
        <p:nvSpPr>
          <p:cNvPr id="419" name="TB419">
            <a:extLst>
              <a:ext uri="{FF2B5EF4-FFF2-40B4-BE49-F238E27FC236}">
                <a16:creationId xmlns:a16="http://schemas.microsoft.com/office/drawing/2014/main" id="{4B804C8F-0B3A-4596-9E96-05785C8EEE1A}"/>
              </a:ext>
            </a:extLst>
          </p:cNvPr>
          <p:cNvSpPr>
            <a:spLocks noGrp="1"/>
          </p:cNvSpPr>
          <p:nvPr/>
        </p:nvSpPr>
        <p:spPr>
          <a:xfrm>
            <a:off x="9855200" y="34290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sin par</a:t>
            </a:r>
          </a:p>
        </p:txBody>
      </p:sp>
      <p:sp>
        <p:nvSpPr>
          <p:cNvPr id="420" name="TB420">
            <a:extLst>
              <a:ext uri="{FF2B5EF4-FFF2-40B4-BE49-F238E27FC236}">
                <a16:creationId xmlns:a16="http://schemas.microsoft.com/office/drawing/2014/main" id="{614D6396-2E32-4EC5-85E0-1875EA3978FE}"/>
              </a:ext>
            </a:extLst>
          </p:cNvPr>
          <p:cNvSpPr>
            <a:spLocks noGrp="1"/>
          </p:cNvSpPr>
          <p:nvPr/>
        </p:nvSpPr>
        <p:spPr>
          <a:xfrm>
            <a:off x="9855200" y="3708400"/>
            <a:ext cx="1905000" cy="736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no se fuerzan: se reservan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o se descartan</a:t>
            </a:r>
          </a:p>
        </p:txBody>
      </p:sp>
      <p:sp>
        <p:nvSpPr>
          <p:cNvPr id="421" name="TB421">
            <a:extLst>
              <a:ext uri="{FF2B5EF4-FFF2-40B4-BE49-F238E27FC236}">
                <a16:creationId xmlns:a16="http://schemas.microsoft.com/office/drawing/2014/main" id="{F63F12A6-37DF-4CF4-BF36-1B319B9EB964}"/>
              </a:ext>
            </a:extLst>
          </p:cNvPr>
          <p:cNvSpPr>
            <a:spLocks noGrp="1"/>
          </p:cNvSpPr>
          <p:nvPr/>
        </p:nvSpPr>
        <p:spPr>
          <a:xfrm>
            <a:off x="6315176" y="4906196"/>
            <a:ext cx="4356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La validación usa parcelas no empleadas en el ajuste: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sz="14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un mal emparejamiento inventa error que no existe.</a:t>
            </a:r>
          </a:p>
        </p:txBody>
      </p:sp>
      <p:sp>
        <p:nvSpPr>
          <p:cNvPr id="422" name="Rectángulo 421">
            <a:extLst>
              <a:ext uri="{FF2B5EF4-FFF2-40B4-BE49-F238E27FC236}">
                <a16:creationId xmlns:a16="http://schemas.microsoft.com/office/drawing/2014/main" id="{C81EF8C6-9510-4EA2-BDD3-0E578FF53CF2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66/79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1" name="LeyLinea"/>
          <p:cNvSpPr/>
          <p:nvPr/>
        </p:nvSpPr>
        <p:spPr>
          <a:xfrm>
            <a:off x="9461500" y="2362200"/>
            <a:ext cx="304800" cy="50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92" name="LeyCuadro"/>
          <p:cNvSpPr/>
          <p:nvPr/>
        </p:nvSpPr>
        <p:spPr>
          <a:xfrm>
            <a:off x="9486900" y="3479800"/>
            <a:ext cx="203200" cy="20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97509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8C6E1A-77F0-4CA9-9C37-C944689DF480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Modelos de regresión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E23C02-8CF3-4130-A995-CAEC9E51BEF7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Selección del algoritmo de regresión y calidad de los datos de entrada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FB82C8-2E2A-482D-9CEE-D2D6082B134A}"/>
              </a:ext>
            </a:extLst>
          </p:cNvPr>
          <p:cNvSpPr>
            <a:spLocks noGrp="1"/>
          </p:cNvSpPr>
          <p:nvPr/>
        </p:nvSpPr>
        <p:spPr>
          <a:xfrm>
            <a:off x="596900" y="1244600"/>
            <a:ext cx="5588000" cy="4368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Regresión lineal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Ayuda a interpretar relaciones y a detectar sesgo.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Random Forest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Modela no linealidad, pero exige validación espacial y control de extrapolación.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XGBoost y LightGBM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Mejoran la precisión a cambio de ajuste fino y control de sobreajuste.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Modelos espaciales y GPR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Representan dependencia espacial si los supuestos se cumplen, con mayor costo de cómputo.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9A7D3A3-1565-418E-961D-5DAB57D176E7}"/>
              </a:ext>
            </a:extLst>
          </p:cNvPr>
          <p:cNvSpPr>
            <a:spLocks noGrp="1"/>
          </p:cNvSpPr>
          <p:nvPr/>
        </p:nvSpPr>
        <p:spPr>
          <a:xfrm>
            <a:off x="600075" y="584134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Duncanson et al. (2022); Kellner et al. (2023); Duncanson et al. (2019); Subedi y Zurqani (2026).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2908C1B-8968-4382-976A-7098679FA9C7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67/79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D1D3F3C-6190-4F63-9EA1-5C3926498A6C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858D79D-5E3E-448E-BDE0-F4891A8530A1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graphicFrame>
        <p:nvGraphicFramePr>
          <p:cNvPr id="34" name="Tabla 25"/>
          <p:cNvGraphicFramePr/>
          <p:nvPr/>
        </p:nvGraphicFramePr>
        <p:xfrm>
          <a:off x="6781799" y="1343660"/>
          <a:ext cx="4036716" cy="41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Fortaleza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</a:rPr>
                        <a:t>Cuidado</a:t>
                      </a:r>
                    </a:p>
                  </a:txBody>
                  <a:tcPr anchor="ctr"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Lineal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interpretable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no linealidad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RF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robusto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extrapolación</a:t>
                      </a:r>
                    </a:p>
                  </a:txBody>
                  <a:tcPr anchor="ctr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preciso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overfit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GPR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incertidumbre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escala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ángulo 25">
            <a:extLst>
              <a:ext uri="{FF2B5EF4-FFF2-40B4-BE49-F238E27FC236}">
                <a16:creationId xmlns:a16="http://schemas.microsoft.com/office/drawing/2014/main" id="{9ABB0070-3F26-43C6-A8A9-ABD153A3ACA2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67/79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32458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2A2CB9-2B92-4980-83AF-06FA452ED985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Validación espacial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E5B8A4-79A9-467B-982A-ED0B85480594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Validación cruzada espacial para controlar la autocorrelación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078092-0303-4C0A-81EB-CF08AED9F591}"/>
              </a:ext>
            </a:extLst>
          </p:cNvPr>
          <p:cNvSpPr>
            <a:spLocks noGrp="1"/>
          </p:cNvSpPr>
          <p:nvPr/>
        </p:nvSpPr>
        <p:spPr>
          <a:xfrm>
            <a:off x="600075" y="5644180"/>
            <a:ext cx="10915650" cy="48994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Duncanson et al. (2022); Kellner et al. (2023); Duncanson et al. (2019); Subedi y Zurqani (2026). CIEFAP/SNMBN Bosque Andino Patagónico; Argentina Ambiente Mapas de Bosque Nativo; Chubut OTBN.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0D9A1C-1B1E-4C4B-A98E-95510EE2140A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68/79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C53CC9-0DFB-497C-AE2E-C56AE2245054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5D598A3-C2D5-48BC-A9FD-1DC0B546BE9C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1EA964-BD2F-42FC-AB77-8BDD48F38C09}"/>
              </a:ext>
            </a:extLst>
          </p:cNvPr>
          <p:cNvSpPr>
            <a:spLocks noGrp="1"/>
          </p:cNvSpPr>
          <p:nvPr/>
        </p:nvSpPr>
        <p:spPr>
          <a:xfrm>
            <a:off x="596900" y="1193800"/>
            <a:ext cx="5080000" cy="4428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Partición por bloques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Usar bloques espaciales o agrupación por transecta y órbita.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Riesgo de la partición aleatoria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Sobreestima el desempeño por autocorrelación espacial.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Reporte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Informar métricas por bloque, no solo el promedio global.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Transferibilidad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Probarla entre cuencas y entre sectores norte, centro y sur de la cordillera.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C160648A-A082-4545-AF23-0EAB1D149836}"/>
              </a:ext>
            </a:extLst>
          </p:cNvPr>
          <p:cNvSpPr>
            <a:spLocks noGrp="1"/>
          </p:cNvSpPr>
          <p:nvPr/>
        </p:nvSpPr>
        <p:spPr>
          <a:xfrm>
            <a:off x="6335820" y="1303200"/>
            <a:ext cx="414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Validación cruzada espacial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D83910F3-95AE-4248-8C28-E140D68565B3}"/>
              </a:ext>
            </a:extLst>
          </p:cNvPr>
          <p:cNvSpPr>
            <a:spLocks noGrp="1"/>
          </p:cNvSpPr>
          <p:nvPr/>
        </p:nvSpPr>
        <p:spPr>
          <a:xfrm>
            <a:off x="6335820" y="1673200"/>
            <a:ext cx="3132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Bloques completos, no huellas sueltas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75D39808-A8AC-43E7-8624-DE96422441C6}"/>
              </a:ext>
            </a:extLst>
          </p:cNvPr>
          <p:cNvSpPr>
            <a:spLocks noGrp="1"/>
          </p:cNvSpPr>
          <p:nvPr/>
        </p:nvSpPr>
        <p:spPr>
          <a:xfrm>
            <a:off x="6485820" y="2203200"/>
            <a:ext cx="620000" cy="62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27452F92-F62F-4BD6-8046-7A22CEF81254}"/>
              </a:ext>
            </a:extLst>
          </p:cNvPr>
          <p:cNvSpPr>
            <a:spLocks noGrp="1"/>
          </p:cNvSpPr>
          <p:nvPr/>
        </p:nvSpPr>
        <p:spPr>
          <a:xfrm>
            <a:off x="7145820" y="2203200"/>
            <a:ext cx="620000" cy="62000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2492B067-8782-4504-9604-81143B7DF1B7}"/>
              </a:ext>
            </a:extLst>
          </p:cNvPr>
          <p:cNvSpPr>
            <a:spLocks noGrp="1"/>
          </p:cNvSpPr>
          <p:nvPr/>
        </p:nvSpPr>
        <p:spPr>
          <a:xfrm>
            <a:off x="7805820" y="2203200"/>
            <a:ext cx="620000" cy="62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B8E08FFC-C0C4-4121-9525-764CA7DA3CEF}"/>
              </a:ext>
            </a:extLst>
          </p:cNvPr>
          <p:cNvSpPr>
            <a:spLocks noGrp="1"/>
          </p:cNvSpPr>
          <p:nvPr/>
        </p:nvSpPr>
        <p:spPr>
          <a:xfrm>
            <a:off x="8465820" y="2203200"/>
            <a:ext cx="620000" cy="62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291CC6C7-814E-4757-AAA7-ED4B85467CE0}"/>
              </a:ext>
            </a:extLst>
          </p:cNvPr>
          <p:cNvSpPr>
            <a:spLocks noGrp="1"/>
          </p:cNvSpPr>
          <p:nvPr/>
        </p:nvSpPr>
        <p:spPr>
          <a:xfrm>
            <a:off x="6485820" y="2863200"/>
            <a:ext cx="620000" cy="62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A1F3F81B-58CC-40D3-8E5D-83D7685638FD}"/>
              </a:ext>
            </a:extLst>
          </p:cNvPr>
          <p:cNvSpPr>
            <a:spLocks noGrp="1"/>
          </p:cNvSpPr>
          <p:nvPr/>
        </p:nvSpPr>
        <p:spPr>
          <a:xfrm>
            <a:off x="7145820" y="2863200"/>
            <a:ext cx="620000" cy="62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FB2979B3-B3A9-46FF-988B-6F61C9799B3D}"/>
              </a:ext>
            </a:extLst>
          </p:cNvPr>
          <p:cNvSpPr>
            <a:spLocks noGrp="1"/>
          </p:cNvSpPr>
          <p:nvPr/>
        </p:nvSpPr>
        <p:spPr>
          <a:xfrm>
            <a:off x="7805820" y="2863200"/>
            <a:ext cx="620000" cy="62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A6D6C10E-0BD5-4741-93DA-F616E6F731C1}"/>
              </a:ext>
            </a:extLst>
          </p:cNvPr>
          <p:cNvSpPr>
            <a:spLocks noGrp="1"/>
          </p:cNvSpPr>
          <p:nvPr/>
        </p:nvSpPr>
        <p:spPr>
          <a:xfrm>
            <a:off x="8465820" y="2863200"/>
            <a:ext cx="620000" cy="62000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A7FB8488-4A88-4789-8469-4B24FD7BF0B3}"/>
              </a:ext>
            </a:extLst>
          </p:cNvPr>
          <p:cNvSpPr>
            <a:spLocks noGrp="1"/>
          </p:cNvSpPr>
          <p:nvPr/>
        </p:nvSpPr>
        <p:spPr>
          <a:xfrm>
            <a:off x="6485820" y="3523200"/>
            <a:ext cx="620000" cy="62000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D27AC57C-0423-4D2C-9B77-A89B5C688955}"/>
              </a:ext>
            </a:extLst>
          </p:cNvPr>
          <p:cNvSpPr>
            <a:spLocks noGrp="1"/>
          </p:cNvSpPr>
          <p:nvPr/>
        </p:nvSpPr>
        <p:spPr>
          <a:xfrm>
            <a:off x="7145820" y="3523200"/>
            <a:ext cx="620000" cy="62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E01A9481-71E7-46EA-8680-A4369B357E1E}"/>
              </a:ext>
            </a:extLst>
          </p:cNvPr>
          <p:cNvSpPr>
            <a:spLocks noGrp="1"/>
          </p:cNvSpPr>
          <p:nvPr/>
        </p:nvSpPr>
        <p:spPr>
          <a:xfrm>
            <a:off x="7805820" y="3523200"/>
            <a:ext cx="620000" cy="62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61122353-3D81-413F-8A71-ECB24F8F7322}"/>
              </a:ext>
            </a:extLst>
          </p:cNvPr>
          <p:cNvSpPr>
            <a:spLocks noGrp="1"/>
          </p:cNvSpPr>
          <p:nvPr/>
        </p:nvSpPr>
        <p:spPr>
          <a:xfrm>
            <a:off x="8465820" y="3523200"/>
            <a:ext cx="620000" cy="62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3E3DFDC8-D147-4724-B830-DB7BCEB12334}"/>
              </a:ext>
            </a:extLst>
          </p:cNvPr>
          <p:cNvSpPr>
            <a:spLocks noGrp="1"/>
          </p:cNvSpPr>
          <p:nvPr/>
        </p:nvSpPr>
        <p:spPr>
          <a:xfrm>
            <a:off x="6485820" y="4183200"/>
            <a:ext cx="620000" cy="62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03470893-1645-465C-A166-53D8A94466BA}"/>
              </a:ext>
            </a:extLst>
          </p:cNvPr>
          <p:cNvSpPr>
            <a:spLocks noGrp="1"/>
          </p:cNvSpPr>
          <p:nvPr/>
        </p:nvSpPr>
        <p:spPr>
          <a:xfrm>
            <a:off x="7145820" y="4183200"/>
            <a:ext cx="620000" cy="62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1E987BBE-0063-45B0-8C4D-9F798416C7D8}"/>
              </a:ext>
            </a:extLst>
          </p:cNvPr>
          <p:cNvSpPr>
            <a:spLocks noGrp="1"/>
          </p:cNvSpPr>
          <p:nvPr/>
        </p:nvSpPr>
        <p:spPr>
          <a:xfrm>
            <a:off x="7805820" y="4183200"/>
            <a:ext cx="620000" cy="62000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7" name="SH417">
            <a:extLst>
              <a:ext uri="{FF2B5EF4-FFF2-40B4-BE49-F238E27FC236}">
                <a16:creationId xmlns:a16="http://schemas.microsoft.com/office/drawing/2014/main" id="{907CA29F-2BF0-4FB2-AA16-B92025D19466}"/>
              </a:ext>
            </a:extLst>
          </p:cNvPr>
          <p:cNvSpPr>
            <a:spLocks noGrp="1"/>
          </p:cNvSpPr>
          <p:nvPr/>
        </p:nvSpPr>
        <p:spPr>
          <a:xfrm>
            <a:off x="8465820" y="4183200"/>
            <a:ext cx="620000" cy="62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F958498D-1FFF-4BF4-B389-1F0BCB3F9069}"/>
              </a:ext>
            </a:extLst>
          </p:cNvPr>
          <p:cNvSpPr>
            <a:spLocks noGrp="1"/>
          </p:cNvSpPr>
          <p:nvPr/>
        </p:nvSpPr>
        <p:spPr>
          <a:xfrm>
            <a:off x="9375820" y="2243200"/>
            <a:ext cx="200000" cy="20000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9" name="TB419">
            <a:extLst>
              <a:ext uri="{FF2B5EF4-FFF2-40B4-BE49-F238E27FC236}">
                <a16:creationId xmlns:a16="http://schemas.microsoft.com/office/drawing/2014/main" id="{C18255BB-DC14-4A69-B6AF-5FF828FDC70B}"/>
              </a:ext>
            </a:extLst>
          </p:cNvPr>
          <p:cNvSpPr>
            <a:spLocks noGrp="1"/>
          </p:cNvSpPr>
          <p:nvPr/>
        </p:nvSpPr>
        <p:spPr>
          <a:xfrm>
            <a:off x="9655820" y="2203200"/>
            <a:ext cx="1368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bloque de prueba</a:t>
            </a:r>
          </a:p>
        </p:txBody>
      </p:sp>
      <p:sp>
        <p:nvSpPr>
          <p:cNvPr id="420" name="TB420">
            <a:extLst>
              <a:ext uri="{FF2B5EF4-FFF2-40B4-BE49-F238E27FC236}">
                <a16:creationId xmlns:a16="http://schemas.microsoft.com/office/drawing/2014/main" id="{ED9B63C6-FF42-4341-9AA6-7EA7CEF590F5}"/>
              </a:ext>
            </a:extLst>
          </p:cNvPr>
          <p:cNvSpPr>
            <a:spLocks noGrp="1"/>
          </p:cNvSpPr>
          <p:nvPr/>
        </p:nvSpPr>
        <p:spPr>
          <a:xfrm>
            <a:off x="9655820" y="2473200"/>
            <a:ext cx="1656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ninguna huella de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este bloque entrena</a:t>
            </a:r>
          </a:p>
        </p:txBody>
      </p:sp>
      <p:sp>
        <p:nvSpPr>
          <p:cNvPr id="421" name="SH421">
            <a:extLst>
              <a:ext uri="{FF2B5EF4-FFF2-40B4-BE49-F238E27FC236}">
                <a16:creationId xmlns:a16="http://schemas.microsoft.com/office/drawing/2014/main" id="{3D758B43-41C8-420B-8E28-37B54E624C69}"/>
              </a:ext>
            </a:extLst>
          </p:cNvPr>
          <p:cNvSpPr>
            <a:spLocks noGrp="1"/>
          </p:cNvSpPr>
          <p:nvPr/>
        </p:nvSpPr>
        <p:spPr>
          <a:xfrm>
            <a:off x="9375820" y="3103200"/>
            <a:ext cx="200000" cy="20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22" name="TB422">
            <a:extLst>
              <a:ext uri="{FF2B5EF4-FFF2-40B4-BE49-F238E27FC236}">
                <a16:creationId xmlns:a16="http://schemas.microsoft.com/office/drawing/2014/main" id="{BDC9E883-4437-48B6-86CE-BA72A974D21A}"/>
              </a:ext>
            </a:extLst>
          </p:cNvPr>
          <p:cNvSpPr>
            <a:spLocks noGrp="1"/>
          </p:cNvSpPr>
          <p:nvPr/>
        </p:nvSpPr>
        <p:spPr>
          <a:xfrm>
            <a:off x="9655820" y="3063200"/>
            <a:ext cx="1368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bloque de ajuste</a:t>
            </a:r>
          </a:p>
        </p:txBody>
      </p:sp>
      <p:sp>
        <p:nvSpPr>
          <p:cNvPr id="423" name="TB423">
            <a:extLst>
              <a:ext uri="{FF2B5EF4-FFF2-40B4-BE49-F238E27FC236}">
                <a16:creationId xmlns:a16="http://schemas.microsoft.com/office/drawing/2014/main" id="{B444DDE4-7AF3-4CB1-BA7D-F38255AA3244}"/>
              </a:ext>
            </a:extLst>
          </p:cNvPr>
          <p:cNvSpPr>
            <a:spLocks noGrp="1"/>
          </p:cNvSpPr>
          <p:nvPr/>
        </p:nvSpPr>
        <p:spPr>
          <a:xfrm>
            <a:off x="9655820" y="3333200"/>
            <a:ext cx="1368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se rota en cada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partición</a:t>
            </a:r>
          </a:p>
        </p:txBody>
      </p:sp>
      <p:sp>
        <p:nvSpPr>
          <p:cNvPr id="424" name="TB424">
            <a:extLst>
              <a:ext uri="{FF2B5EF4-FFF2-40B4-BE49-F238E27FC236}">
                <a16:creationId xmlns:a16="http://schemas.microsoft.com/office/drawing/2014/main" id="{C8E51788-734B-4AFF-A9B1-21D026C91E0C}"/>
              </a:ext>
            </a:extLst>
          </p:cNvPr>
          <p:cNvSpPr>
            <a:spLocks noGrp="1"/>
          </p:cNvSpPr>
          <p:nvPr/>
        </p:nvSpPr>
        <p:spPr>
          <a:xfrm>
            <a:off x="9375820" y="4003200"/>
            <a:ext cx="1872000" cy="7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La partición aleatoria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infla el desempeño por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autocorrelación.</a:t>
            </a:r>
          </a:p>
        </p:txBody>
      </p:sp>
      <p:sp>
        <p:nvSpPr>
          <p:cNvPr id="425" name="TB425">
            <a:extLst>
              <a:ext uri="{FF2B5EF4-FFF2-40B4-BE49-F238E27FC236}">
                <a16:creationId xmlns:a16="http://schemas.microsoft.com/office/drawing/2014/main" id="{B41B9D04-3263-4CE9-BCF8-CD2794A60FF2}"/>
              </a:ext>
            </a:extLst>
          </p:cNvPr>
          <p:cNvSpPr>
            <a:spLocks noGrp="1"/>
          </p:cNvSpPr>
          <p:nvPr/>
        </p:nvSpPr>
        <p:spPr>
          <a:xfrm>
            <a:off x="6335820" y="5033200"/>
            <a:ext cx="432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El error se informa por bloque y se lleva al mapa.</a:t>
            </a:r>
          </a:p>
        </p:txBody>
      </p:sp>
      <p:sp>
        <p:nvSpPr>
          <p:cNvPr id="426" name="Rectángulo 425">
            <a:extLst>
              <a:ext uri="{FF2B5EF4-FFF2-40B4-BE49-F238E27FC236}">
                <a16:creationId xmlns:a16="http://schemas.microsoft.com/office/drawing/2014/main" id="{BBCF8A90-63BD-4F3C-8437-B576D4342570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68/79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21754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D13E65-60D0-4785-BC42-E021E67A4FBD}"/>
              </a:ext>
            </a:extLst>
          </p:cNvPr>
          <p:cNvSpPr>
            <a:spLocks noGrp="1"/>
          </p:cNvSpPr>
          <p:nvPr/>
        </p:nvSpPr>
        <p:spPr>
          <a:xfrm>
            <a:off x="539496" y="235960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Métricas de desempeño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BD6EFE-FDC1-4154-A396-3AA5DC853858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Métricas de ajuste y evaluación del sesgo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17A01C-D6AC-43BB-A8ED-AE97DCA4B1F0}"/>
              </a:ext>
            </a:extLst>
          </p:cNvPr>
          <p:cNvSpPr>
            <a:spLocks noGrp="1"/>
          </p:cNvSpPr>
          <p:nvPr/>
        </p:nvSpPr>
        <p:spPr>
          <a:xfrm>
            <a:off x="596900" y="1397000"/>
            <a:ext cx="5334000" cy="3810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RMSE y MAE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Expresan el error absoluto en Mg ha⁻¹.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NRMSE o %RMSE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Solo son comparables si se declara el denominador, por ejemplo la media observada.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Sesgo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Identifica la sobreestimación o subestimación sistemática.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Cobertura de intervalos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Evalúa si la incertidumbre prometida se cumple.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BBE01916-0279-4EDD-993A-0D85BF2AAFD7}"/>
              </a:ext>
            </a:extLst>
          </p:cNvPr>
          <p:cNvSpPr>
            <a:spLocks noGrp="1"/>
          </p:cNvSpPr>
          <p:nvPr/>
        </p:nvSpPr>
        <p:spPr>
          <a:xfrm>
            <a:off x="6374988" y="1646404"/>
            <a:ext cx="414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Cómo se lee el desempeño</a:t>
            </a:r>
            <a:endParaRPr sz="1500">
              <a:latin typeface="Arial"/>
              <a:cs typeface="Arial"/>
            </a:endParaRPr>
          </a:p>
        </p:txBody>
      </p:sp>
      <p:sp>
        <p:nvSpPr>
          <p:cNvPr id="402" name="TB402">
            <a:extLst>
              <a:ext uri="{FF2B5EF4-FFF2-40B4-BE49-F238E27FC236}">
                <a16:creationId xmlns:a16="http://schemas.microsoft.com/office/drawing/2014/main" id="{DDED6599-6ECE-46FC-B8B2-9129A115CBF6}"/>
              </a:ext>
            </a:extLst>
          </p:cNvPr>
          <p:cNvSpPr>
            <a:spLocks noGrp="1"/>
          </p:cNvSpPr>
          <p:nvPr/>
        </p:nvSpPr>
        <p:spPr>
          <a:xfrm>
            <a:off x="6374988" y="1996404"/>
            <a:ext cx="3744000" cy="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Predicho frente a observado, con la recta 1:1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D3248950-EF17-449D-94C4-DEF5B457EFDE}"/>
              </a:ext>
            </a:extLst>
          </p:cNvPr>
          <p:cNvSpPr>
            <a:spLocks noGrp="1"/>
          </p:cNvSpPr>
          <p:nvPr/>
        </p:nvSpPr>
        <p:spPr>
          <a:xfrm>
            <a:off x="6974988" y="2406404"/>
            <a:ext cx="2450000" cy="24500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just"/>
            <a:endParaRPr sz="1500"/>
          </a:p>
        </p:txBody>
      </p:sp>
      <p:sp>
        <p:nvSpPr>
          <p:cNvPr id="404" name="L404">
            <a:extLst>
              <a:ext uri="{FF2B5EF4-FFF2-40B4-BE49-F238E27FC236}">
                <a16:creationId xmlns:a16="http://schemas.microsoft.com/office/drawing/2014/main" id="{6C9F2C0F-E74D-4FBC-92E5-B4C77B474696}"/>
              </a:ext>
            </a:extLst>
          </p:cNvPr>
          <p:cNvSpPr>
            <a:spLocks noGrp="1"/>
          </p:cNvSpPr>
          <p:nvPr/>
        </p:nvSpPr>
        <p:spPr>
          <a:xfrm flipV="1">
            <a:off x="6974988" y="2406404"/>
            <a:ext cx="2450000" cy="2450000"/>
          </a:xfrm>
          <a:prstGeom prst="line">
            <a:avLst/>
          </a:prstGeom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pPr algn="just"/>
            <a:endParaRPr lang="es-ES"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4D8EBF9A-AFC0-4B48-BF68-3DD84990AFCF}"/>
              </a:ext>
            </a:extLst>
          </p:cNvPr>
          <p:cNvSpPr>
            <a:spLocks noGrp="1"/>
          </p:cNvSpPr>
          <p:nvPr/>
        </p:nvSpPr>
        <p:spPr>
          <a:xfrm>
            <a:off x="7237988" y="4286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23795AD0-2D44-44DE-A12D-2D04E98FF8BF}"/>
              </a:ext>
            </a:extLst>
          </p:cNvPr>
          <p:cNvSpPr>
            <a:spLocks noGrp="1"/>
          </p:cNvSpPr>
          <p:nvPr/>
        </p:nvSpPr>
        <p:spPr>
          <a:xfrm>
            <a:off x="7433988" y="4139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C822CA57-532F-4EA6-9191-54A88A0E8084}"/>
              </a:ext>
            </a:extLst>
          </p:cNvPr>
          <p:cNvSpPr>
            <a:spLocks noGrp="1"/>
          </p:cNvSpPr>
          <p:nvPr/>
        </p:nvSpPr>
        <p:spPr>
          <a:xfrm>
            <a:off x="7629988" y="4090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09BB209A-6A50-47B4-8C81-31DEB0D3040D}"/>
              </a:ext>
            </a:extLst>
          </p:cNvPr>
          <p:cNvSpPr>
            <a:spLocks noGrp="1"/>
          </p:cNvSpPr>
          <p:nvPr/>
        </p:nvSpPr>
        <p:spPr>
          <a:xfrm>
            <a:off x="7727988" y="3747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F5716132-C821-4B5C-B6B5-8A97030847DA}"/>
              </a:ext>
            </a:extLst>
          </p:cNvPr>
          <p:cNvSpPr>
            <a:spLocks noGrp="1"/>
          </p:cNvSpPr>
          <p:nvPr/>
        </p:nvSpPr>
        <p:spPr>
          <a:xfrm>
            <a:off x="7923988" y="3796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79C94256-9C00-49A5-89C4-312A48D8090B}"/>
              </a:ext>
            </a:extLst>
          </p:cNvPr>
          <p:cNvSpPr>
            <a:spLocks noGrp="1"/>
          </p:cNvSpPr>
          <p:nvPr/>
        </p:nvSpPr>
        <p:spPr>
          <a:xfrm>
            <a:off x="8070988" y="3502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14F5E4FD-1C8E-490B-B54F-02EE39A89524}"/>
              </a:ext>
            </a:extLst>
          </p:cNvPr>
          <p:cNvSpPr>
            <a:spLocks noGrp="1"/>
          </p:cNvSpPr>
          <p:nvPr/>
        </p:nvSpPr>
        <p:spPr>
          <a:xfrm>
            <a:off x="8242488" y="3551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3978F24B-97A6-42E9-8C62-96705732CD92}"/>
              </a:ext>
            </a:extLst>
          </p:cNvPr>
          <p:cNvSpPr>
            <a:spLocks noGrp="1"/>
          </p:cNvSpPr>
          <p:nvPr/>
        </p:nvSpPr>
        <p:spPr>
          <a:xfrm>
            <a:off x="8364988" y="3257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00462D64-96AE-4ABF-902B-D9802591C101}"/>
              </a:ext>
            </a:extLst>
          </p:cNvPr>
          <p:cNvSpPr>
            <a:spLocks noGrp="1"/>
          </p:cNvSpPr>
          <p:nvPr/>
        </p:nvSpPr>
        <p:spPr>
          <a:xfrm>
            <a:off x="8511988" y="3355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4C5BC63B-4959-4D4B-9525-AAB4E82C4F32}"/>
              </a:ext>
            </a:extLst>
          </p:cNvPr>
          <p:cNvSpPr>
            <a:spLocks noGrp="1"/>
          </p:cNvSpPr>
          <p:nvPr/>
        </p:nvSpPr>
        <p:spPr>
          <a:xfrm>
            <a:off x="8658988" y="3061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9467778E-6C54-457B-981C-DD0556ABBF7D}"/>
              </a:ext>
            </a:extLst>
          </p:cNvPr>
          <p:cNvSpPr>
            <a:spLocks noGrp="1"/>
          </p:cNvSpPr>
          <p:nvPr/>
        </p:nvSpPr>
        <p:spPr>
          <a:xfrm>
            <a:off x="8805988" y="3159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D9D31FCA-91F3-4348-940D-7E82CB0213E9}"/>
              </a:ext>
            </a:extLst>
          </p:cNvPr>
          <p:cNvSpPr>
            <a:spLocks noGrp="1"/>
          </p:cNvSpPr>
          <p:nvPr/>
        </p:nvSpPr>
        <p:spPr>
          <a:xfrm>
            <a:off x="8977488" y="2963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7" name="SH417">
            <a:extLst>
              <a:ext uri="{FF2B5EF4-FFF2-40B4-BE49-F238E27FC236}">
                <a16:creationId xmlns:a16="http://schemas.microsoft.com/office/drawing/2014/main" id="{8399DE39-E205-49B0-B0FC-1160E58F893A}"/>
              </a:ext>
            </a:extLst>
          </p:cNvPr>
          <p:cNvSpPr>
            <a:spLocks noGrp="1"/>
          </p:cNvSpPr>
          <p:nvPr/>
        </p:nvSpPr>
        <p:spPr>
          <a:xfrm>
            <a:off x="9099988" y="2816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9C45B255-553B-41C9-8144-7DDE5A596B9D}"/>
              </a:ext>
            </a:extLst>
          </p:cNvPr>
          <p:cNvSpPr>
            <a:spLocks noGrp="1"/>
          </p:cNvSpPr>
          <p:nvPr/>
        </p:nvSpPr>
        <p:spPr>
          <a:xfrm>
            <a:off x="7507488" y="3894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AD31B91C-0C33-4ECD-A6ED-F5F551F522B9}"/>
              </a:ext>
            </a:extLst>
          </p:cNvPr>
          <p:cNvSpPr>
            <a:spLocks noGrp="1"/>
          </p:cNvSpPr>
          <p:nvPr/>
        </p:nvSpPr>
        <p:spPr>
          <a:xfrm>
            <a:off x="8168988" y="3698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0" name="SH420">
            <a:extLst>
              <a:ext uri="{FF2B5EF4-FFF2-40B4-BE49-F238E27FC236}">
                <a16:creationId xmlns:a16="http://schemas.microsoft.com/office/drawing/2014/main" id="{F7F168F9-E9F0-4DDD-9570-AB43B3751C8A}"/>
              </a:ext>
            </a:extLst>
          </p:cNvPr>
          <p:cNvSpPr>
            <a:spLocks noGrp="1"/>
          </p:cNvSpPr>
          <p:nvPr/>
        </p:nvSpPr>
        <p:spPr>
          <a:xfrm>
            <a:off x="8609988" y="2816404"/>
            <a:ext cx="108000" cy="108000"/>
          </a:xfrm>
          <a:prstGeom prst="ellipse">
            <a:avLst/>
          </a:prstGeom>
          <a:solidFill>
            <a:srgbClr val="2D6A4F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1" name="TB421">
            <a:extLst>
              <a:ext uri="{FF2B5EF4-FFF2-40B4-BE49-F238E27FC236}">
                <a16:creationId xmlns:a16="http://schemas.microsoft.com/office/drawing/2014/main" id="{DDDECA65-BFF3-461D-A690-0C9DC2968AA9}"/>
              </a:ext>
            </a:extLst>
          </p:cNvPr>
          <p:cNvSpPr>
            <a:spLocks noGrp="1"/>
          </p:cNvSpPr>
          <p:nvPr/>
        </p:nvSpPr>
        <p:spPr>
          <a:xfrm>
            <a:off x="6974988" y="4946404"/>
            <a:ext cx="2450000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observado en parcela →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2" name="TB422">
            <a:extLst>
              <a:ext uri="{FF2B5EF4-FFF2-40B4-BE49-F238E27FC236}">
                <a16:creationId xmlns:a16="http://schemas.microsoft.com/office/drawing/2014/main" id="{7BBFF9B1-C8DC-46D6-BBAB-D0B75936B9A8}"/>
              </a:ext>
            </a:extLst>
          </p:cNvPr>
          <p:cNvSpPr>
            <a:spLocks noGrp="1"/>
          </p:cNvSpPr>
          <p:nvPr/>
        </p:nvSpPr>
        <p:spPr>
          <a:xfrm>
            <a:off x="5740400" y="3454400"/>
            <a:ext cx="1168400" cy="2540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predicho ↑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3" name="SH423">
            <a:extLst>
              <a:ext uri="{FF2B5EF4-FFF2-40B4-BE49-F238E27FC236}">
                <a16:creationId xmlns:a16="http://schemas.microsoft.com/office/drawing/2014/main" id="{5853E040-0910-41DB-9F23-DBB536203B70}"/>
              </a:ext>
            </a:extLst>
          </p:cNvPr>
          <p:cNvSpPr>
            <a:spLocks noGrp="1"/>
          </p:cNvSpPr>
          <p:nvPr/>
        </p:nvSpPr>
        <p:spPr>
          <a:xfrm>
            <a:off x="9624988" y="2436404"/>
            <a:ext cx="50000" cy="400000"/>
          </a:xfrm>
          <a:prstGeom prst="rect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4" name="TB424">
            <a:extLst>
              <a:ext uri="{FF2B5EF4-FFF2-40B4-BE49-F238E27FC236}">
                <a16:creationId xmlns:a16="http://schemas.microsoft.com/office/drawing/2014/main" id="{01857541-BF43-41B8-96DD-8475EFDED605}"/>
              </a:ext>
            </a:extLst>
          </p:cNvPr>
          <p:cNvSpPr>
            <a:spLocks noGrp="1"/>
          </p:cNvSpPr>
          <p:nvPr/>
        </p:nvSpPr>
        <p:spPr>
          <a:xfrm>
            <a:off x="9774988" y="2406404"/>
            <a:ext cx="1700000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RMSE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5" name="TB425">
            <a:extLst>
              <a:ext uri="{FF2B5EF4-FFF2-40B4-BE49-F238E27FC236}">
                <a16:creationId xmlns:a16="http://schemas.microsoft.com/office/drawing/2014/main" id="{8BEC5B6C-14BB-4937-B374-52F6B7411A61}"/>
              </a:ext>
            </a:extLst>
          </p:cNvPr>
          <p:cNvSpPr>
            <a:spLocks noGrp="1"/>
          </p:cNvSpPr>
          <p:nvPr/>
        </p:nvSpPr>
        <p:spPr>
          <a:xfrm>
            <a:off x="9774988" y="2646404"/>
            <a:ext cx="175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error típico en Mg ha⁻¹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6" name="SH426">
            <a:extLst>
              <a:ext uri="{FF2B5EF4-FFF2-40B4-BE49-F238E27FC236}">
                <a16:creationId xmlns:a16="http://schemas.microsoft.com/office/drawing/2014/main" id="{4C8BE3B7-BCB2-4DEC-AF65-C9C9BD9529C8}"/>
              </a:ext>
            </a:extLst>
          </p:cNvPr>
          <p:cNvSpPr>
            <a:spLocks noGrp="1"/>
          </p:cNvSpPr>
          <p:nvPr/>
        </p:nvSpPr>
        <p:spPr>
          <a:xfrm>
            <a:off x="9624988" y="3076404"/>
            <a:ext cx="50000" cy="400000"/>
          </a:xfrm>
          <a:prstGeom prst="rect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27" name="TB427">
            <a:extLst>
              <a:ext uri="{FF2B5EF4-FFF2-40B4-BE49-F238E27FC236}">
                <a16:creationId xmlns:a16="http://schemas.microsoft.com/office/drawing/2014/main" id="{37C65C6B-9E94-4755-A132-432FA928B3D2}"/>
              </a:ext>
            </a:extLst>
          </p:cNvPr>
          <p:cNvSpPr>
            <a:spLocks noGrp="1"/>
          </p:cNvSpPr>
          <p:nvPr/>
        </p:nvSpPr>
        <p:spPr>
          <a:xfrm>
            <a:off x="9774988" y="3046404"/>
            <a:ext cx="1700000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MAE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8" name="TB428">
            <a:extLst>
              <a:ext uri="{FF2B5EF4-FFF2-40B4-BE49-F238E27FC236}">
                <a16:creationId xmlns:a16="http://schemas.microsoft.com/office/drawing/2014/main" id="{95585B48-01D6-41B6-9273-4D4B969FD31B}"/>
              </a:ext>
            </a:extLst>
          </p:cNvPr>
          <p:cNvSpPr>
            <a:spLocks noGrp="1"/>
          </p:cNvSpPr>
          <p:nvPr/>
        </p:nvSpPr>
        <p:spPr>
          <a:xfrm>
            <a:off x="9774988" y="3286404"/>
            <a:ext cx="175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menos sensible a extremos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9" name="SH429">
            <a:extLst>
              <a:ext uri="{FF2B5EF4-FFF2-40B4-BE49-F238E27FC236}">
                <a16:creationId xmlns:a16="http://schemas.microsoft.com/office/drawing/2014/main" id="{C94A0140-5C4E-440E-89AF-CF20BBA06A23}"/>
              </a:ext>
            </a:extLst>
          </p:cNvPr>
          <p:cNvSpPr>
            <a:spLocks noGrp="1"/>
          </p:cNvSpPr>
          <p:nvPr/>
        </p:nvSpPr>
        <p:spPr>
          <a:xfrm>
            <a:off x="9624988" y="3716404"/>
            <a:ext cx="50000" cy="400000"/>
          </a:xfrm>
          <a:prstGeom prst="rect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30" name="TB430">
            <a:extLst>
              <a:ext uri="{FF2B5EF4-FFF2-40B4-BE49-F238E27FC236}">
                <a16:creationId xmlns:a16="http://schemas.microsoft.com/office/drawing/2014/main" id="{5E624B03-DDED-4A7B-A36E-04A7E971FA9D}"/>
              </a:ext>
            </a:extLst>
          </p:cNvPr>
          <p:cNvSpPr>
            <a:spLocks noGrp="1"/>
          </p:cNvSpPr>
          <p:nvPr/>
        </p:nvSpPr>
        <p:spPr>
          <a:xfrm>
            <a:off x="9774988" y="3686404"/>
            <a:ext cx="1700000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sesgo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1" name="TB431">
            <a:extLst>
              <a:ext uri="{FF2B5EF4-FFF2-40B4-BE49-F238E27FC236}">
                <a16:creationId xmlns:a16="http://schemas.microsoft.com/office/drawing/2014/main" id="{57B7F188-9E4E-4046-A67F-C700E0A21C88}"/>
              </a:ext>
            </a:extLst>
          </p:cNvPr>
          <p:cNvSpPr>
            <a:spLocks noGrp="1"/>
          </p:cNvSpPr>
          <p:nvPr/>
        </p:nvSpPr>
        <p:spPr>
          <a:xfrm>
            <a:off x="9774988" y="3926404"/>
            <a:ext cx="175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desvío medio vs. la 1:1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2" name="SH432">
            <a:extLst>
              <a:ext uri="{FF2B5EF4-FFF2-40B4-BE49-F238E27FC236}">
                <a16:creationId xmlns:a16="http://schemas.microsoft.com/office/drawing/2014/main" id="{6874727E-278A-4004-BDA4-5D56DD904425}"/>
              </a:ext>
            </a:extLst>
          </p:cNvPr>
          <p:cNvSpPr>
            <a:spLocks noGrp="1"/>
          </p:cNvSpPr>
          <p:nvPr/>
        </p:nvSpPr>
        <p:spPr>
          <a:xfrm>
            <a:off x="9624988" y="4356404"/>
            <a:ext cx="50000" cy="400000"/>
          </a:xfrm>
          <a:prstGeom prst="rect">
            <a:avLst/>
          </a:prstGeom>
          <a:solidFill>
            <a:srgbClr val="4F9A74"/>
          </a:solidFill>
        </p:spPr>
        <p:txBody>
          <a:bodyPr wrap="square" lIns="45720" tIns="0" rIns="45720" bIns="0" anchor="ctr">
            <a:noAutofit/>
          </a:bodyPr>
          <a:lstStyle/>
          <a:p>
            <a:endParaRPr sz="1500"/>
          </a:p>
        </p:txBody>
      </p:sp>
      <p:sp>
        <p:nvSpPr>
          <p:cNvPr id="433" name="TB433">
            <a:extLst>
              <a:ext uri="{FF2B5EF4-FFF2-40B4-BE49-F238E27FC236}">
                <a16:creationId xmlns:a16="http://schemas.microsoft.com/office/drawing/2014/main" id="{E055F9DC-7B12-4872-8CFB-854CED42212F}"/>
              </a:ext>
            </a:extLst>
          </p:cNvPr>
          <p:cNvSpPr>
            <a:spLocks noGrp="1"/>
          </p:cNvSpPr>
          <p:nvPr/>
        </p:nvSpPr>
        <p:spPr>
          <a:xfrm>
            <a:off x="9774988" y="4326404"/>
            <a:ext cx="1700000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cobertura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4" name="TB434">
            <a:extLst>
              <a:ext uri="{FF2B5EF4-FFF2-40B4-BE49-F238E27FC236}">
                <a16:creationId xmlns:a16="http://schemas.microsoft.com/office/drawing/2014/main" id="{079B3855-0A21-42BF-BB79-D1E9676DA3C8}"/>
              </a:ext>
            </a:extLst>
          </p:cNvPr>
          <p:cNvSpPr>
            <a:spLocks noGrp="1"/>
          </p:cNvSpPr>
          <p:nvPr/>
        </p:nvSpPr>
        <p:spPr>
          <a:xfrm>
            <a:off x="9774988" y="4566404"/>
            <a:ext cx="175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% dentro del intervalo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0251568-0A77-434B-A3CD-92A83ED56816}"/>
              </a:ext>
            </a:extLst>
          </p:cNvPr>
          <p:cNvSpPr>
            <a:spLocks noGrp="1"/>
          </p:cNvSpPr>
          <p:nvPr/>
        </p:nvSpPr>
        <p:spPr>
          <a:xfrm>
            <a:off x="600075" y="5396404"/>
            <a:ext cx="10915650" cy="73772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Duncanson et al. (2022); Kellner et al. (2023); Duncanson et al. (2019); Subedi y Zurqani (2026).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D910AE6-4C0B-4D6F-A680-957790B1CB0D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69/79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145B2CB-E11B-417A-9E97-86BF0E5AA90E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0CF8CA4-49E5-4E83-B8D1-5E0545128354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35" name="Rectángulo 434">
            <a:extLst>
              <a:ext uri="{FF2B5EF4-FFF2-40B4-BE49-F238E27FC236}">
                <a16:creationId xmlns:a16="http://schemas.microsoft.com/office/drawing/2014/main" id="{DE2CF548-8BBC-4B13-8DDF-4F0BD7D34918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69/79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32818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E70E0B-20BE-45D0-9785-E8FD8D7CDF2F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Agregación a rodal o cuenca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3CBC76-75D5-4027-A2E9-3FF554A7E214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Agregación de estimaciones a unidades de gestión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072907-1B82-4D3D-A822-8D8F19367F8B}"/>
              </a:ext>
            </a:extLst>
          </p:cNvPr>
          <p:cNvSpPr>
            <a:spLocks noGrp="1"/>
          </p:cNvSpPr>
          <p:nvPr/>
        </p:nvSpPr>
        <p:spPr>
          <a:xfrm>
            <a:off x="596900" y="1193800"/>
            <a:ext cx="5080000" cy="4500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Promediar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Calcular la media de los píxeles válidos por unidad de manejo y su área efectiva.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Propagar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Incorporar covarianzas, sesgo y autocorrelación: los errores no se suman de forma lineal.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Reportar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Informar la distribución y no solo la media; los percentiles orientan la gestión.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Delimitar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Usar máscaras y clases coherentes con el inventario y el OTBN.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7E39CC3-9C16-45D6-8F7B-53DFB55EB1D5}"/>
              </a:ext>
            </a:extLst>
          </p:cNvPr>
          <p:cNvSpPr>
            <a:spLocks noGrp="1"/>
          </p:cNvSpPr>
          <p:nvPr/>
        </p:nvSpPr>
        <p:spPr>
          <a:xfrm>
            <a:off x="600075" y="5821980"/>
            <a:ext cx="1091565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Duncanson et al. (2022); Kellner et al. (2023); Duncanson et al. (2019); Subedi y Zurqani (2026). CIEFAP/SNMBN Bosque Andino Patagónico; Argentina Ambiente Mapas de Bosque Nativo; Chubut OTBN.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FEE43EC-FD14-47D6-88AB-11C408A9BEF8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70/79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D440658-F2DC-4D14-A8F4-53997C318476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142ECF-DFA7-4475-8A99-1B7A3CA20BE8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6743131F-568D-4D23-9121-35DC040971F0}"/>
              </a:ext>
            </a:extLst>
          </p:cNvPr>
          <p:cNvSpPr>
            <a:spLocks noGrp="1"/>
          </p:cNvSpPr>
          <p:nvPr/>
        </p:nvSpPr>
        <p:spPr>
          <a:xfrm>
            <a:off x="6050000" y="1482100"/>
            <a:ext cx="5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 píxeles a unidad de gestión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7123042F-F5D0-4DA9-A965-D52D8C4E428E}"/>
              </a:ext>
            </a:extLst>
          </p:cNvPr>
          <p:cNvSpPr>
            <a:spLocks noGrp="1"/>
          </p:cNvSpPr>
          <p:nvPr/>
        </p:nvSpPr>
        <p:spPr>
          <a:xfrm>
            <a:off x="6050000" y="1852100"/>
            <a:ext cx="5400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Suma ponderada por área más su incertidumbre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15CF1312-975F-4C0F-9F9A-F782E3A88FED}"/>
              </a:ext>
            </a:extLst>
          </p:cNvPr>
          <p:cNvSpPr>
            <a:spLocks noGrp="1"/>
          </p:cNvSpPr>
          <p:nvPr/>
        </p:nvSpPr>
        <p:spPr>
          <a:xfrm>
            <a:off x="6170000" y="2432100"/>
            <a:ext cx="2200000" cy="21000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25400">
            <a:solidFill>
              <a:srgbClr val="4F9A74"/>
            </a:solidFill>
          </a:ln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AC4C70AC-DC11-4D89-A589-BACF9E999A15}"/>
              </a:ext>
            </a:extLst>
          </p:cNvPr>
          <p:cNvSpPr>
            <a:spLocks noGrp="1"/>
          </p:cNvSpPr>
          <p:nvPr/>
        </p:nvSpPr>
        <p:spPr>
          <a:xfrm>
            <a:off x="6350000" y="26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3AA49004-CC0E-40A9-A1ED-12371D4DC141}"/>
              </a:ext>
            </a:extLst>
          </p:cNvPr>
          <p:cNvSpPr>
            <a:spLocks noGrp="1"/>
          </p:cNvSpPr>
          <p:nvPr/>
        </p:nvSpPr>
        <p:spPr>
          <a:xfrm>
            <a:off x="6660000" y="26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837C288C-79B2-494B-AD72-8CBB8D7C60E4}"/>
              </a:ext>
            </a:extLst>
          </p:cNvPr>
          <p:cNvSpPr>
            <a:spLocks noGrp="1"/>
          </p:cNvSpPr>
          <p:nvPr/>
        </p:nvSpPr>
        <p:spPr>
          <a:xfrm>
            <a:off x="6970000" y="26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93734D5A-4415-4AC9-B79F-33DA94FAEC9A}"/>
              </a:ext>
            </a:extLst>
          </p:cNvPr>
          <p:cNvSpPr>
            <a:spLocks noGrp="1"/>
          </p:cNvSpPr>
          <p:nvPr/>
        </p:nvSpPr>
        <p:spPr>
          <a:xfrm>
            <a:off x="7590000" y="26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4A612361-7F13-4A4E-9B1C-C41ECD37FA56}"/>
              </a:ext>
            </a:extLst>
          </p:cNvPr>
          <p:cNvSpPr>
            <a:spLocks noGrp="1"/>
          </p:cNvSpPr>
          <p:nvPr/>
        </p:nvSpPr>
        <p:spPr>
          <a:xfrm>
            <a:off x="7900000" y="26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B6AD9E6A-42EB-4607-9852-5879859ED1C9}"/>
              </a:ext>
            </a:extLst>
          </p:cNvPr>
          <p:cNvSpPr>
            <a:spLocks noGrp="1"/>
          </p:cNvSpPr>
          <p:nvPr/>
        </p:nvSpPr>
        <p:spPr>
          <a:xfrm>
            <a:off x="6660000" y="2962100"/>
            <a:ext cx="240000" cy="230000"/>
          </a:xfrm>
          <a:prstGeom prst="rect">
            <a:avLst/>
          </a:prstGeom>
          <a:solidFill>
            <a:srgbClr val="95C9AE"/>
          </a:solidFill>
        </p:spPr>
        <p:txBody>
          <a:bodyPr/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A8AAF514-D99C-4948-8225-238A72756D70}"/>
              </a:ext>
            </a:extLst>
          </p:cNvPr>
          <p:cNvSpPr>
            <a:spLocks noGrp="1"/>
          </p:cNvSpPr>
          <p:nvPr/>
        </p:nvSpPr>
        <p:spPr>
          <a:xfrm>
            <a:off x="6970000" y="29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E312EC85-9F86-47B6-BD49-A2BD4235AEB9}"/>
              </a:ext>
            </a:extLst>
          </p:cNvPr>
          <p:cNvSpPr>
            <a:spLocks noGrp="1"/>
          </p:cNvSpPr>
          <p:nvPr/>
        </p:nvSpPr>
        <p:spPr>
          <a:xfrm>
            <a:off x="7590000" y="2962100"/>
            <a:ext cx="240000" cy="230000"/>
          </a:xfrm>
          <a:prstGeom prst="rect">
            <a:avLst/>
          </a:prstGeom>
          <a:solidFill>
            <a:srgbClr val="95C9AE"/>
          </a:solidFill>
        </p:spPr>
        <p:txBody>
          <a:bodyPr/>
          <a:lstStyle/>
          <a:p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8CA20C19-2554-473B-AB35-4E86464BA47F}"/>
              </a:ext>
            </a:extLst>
          </p:cNvPr>
          <p:cNvSpPr>
            <a:spLocks noGrp="1"/>
          </p:cNvSpPr>
          <p:nvPr/>
        </p:nvSpPr>
        <p:spPr>
          <a:xfrm>
            <a:off x="7900000" y="29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80A8CCF9-CB35-4D25-88B5-B2154B31CC79}"/>
              </a:ext>
            </a:extLst>
          </p:cNvPr>
          <p:cNvSpPr>
            <a:spLocks noGrp="1"/>
          </p:cNvSpPr>
          <p:nvPr/>
        </p:nvSpPr>
        <p:spPr>
          <a:xfrm>
            <a:off x="6660000" y="3262100"/>
            <a:ext cx="240000" cy="230000"/>
          </a:xfrm>
          <a:prstGeom prst="rect">
            <a:avLst/>
          </a:prstGeom>
          <a:solidFill>
            <a:srgbClr val="95C9AE"/>
          </a:solidFill>
        </p:spPr>
        <p:txBody>
          <a:bodyPr/>
          <a:lstStyle/>
          <a:p>
            <a:endParaRPr sz="1500"/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1007B4FB-D596-4294-A594-FC6F7E612D6A}"/>
              </a:ext>
            </a:extLst>
          </p:cNvPr>
          <p:cNvSpPr>
            <a:spLocks noGrp="1"/>
          </p:cNvSpPr>
          <p:nvPr/>
        </p:nvSpPr>
        <p:spPr>
          <a:xfrm>
            <a:off x="6970000" y="3262100"/>
            <a:ext cx="240000" cy="230000"/>
          </a:xfrm>
          <a:prstGeom prst="rect">
            <a:avLst/>
          </a:prstGeom>
          <a:solidFill>
            <a:srgbClr val="95C9AE"/>
          </a:solidFill>
        </p:spPr>
        <p:txBody>
          <a:bodyPr/>
          <a:lstStyle/>
          <a:p>
            <a:endParaRPr sz="1500"/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F4022099-6C1C-41EE-A9BD-5BA078F63DB8}"/>
              </a:ext>
            </a:extLst>
          </p:cNvPr>
          <p:cNvSpPr>
            <a:spLocks noGrp="1"/>
          </p:cNvSpPr>
          <p:nvPr/>
        </p:nvSpPr>
        <p:spPr>
          <a:xfrm>
            <a:off x="7590000" y="3262100"/>
            <a:ext cx="240000" cy="230000"/>
          </a:xfrm>
          <a:prstGeom prst="rect">
            <a:avLst/>
          </a:prstGeom>
          <a:solidFill>
            <a:srgbClr val="95C9AE"/>
          </a:solidFill>
        </p:spPr>
        <p:txBody>
          <a:bodyPr/>
          <a:lstStyle/>
          <a:p>
            <a:endParaRPr sz="1500"/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9B7A8A92-08C9-488B-B69F-7E8EC8CB9981}"/>
              </a:ext>
            </a:extLst>
          </p:cNvPr>
          <p:cNvSpPr>
            <a:spLocks noGrp="1"/>
          </p:cNvSpPr>
          <p:nvPr/>
        </p:nvSpPr>
        <p:spPr>
          <a:xfrm>
            <a:off x="7900000" y="32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32A4A407-3DCE-453D-A070-8C5C7974D063}"/>
              </a:ext>
            </a:extLst>
          </p:cNvPr>
          <p:cNvSpPr>
            <a:spLocks noGrp="1"/>
          </p:cNvSpPr>
          <p:nvPr/>
        </p:nvSpPr>
        <p:spPr>
          <a:xfrm>
            <a:off x="6350000" y="3562100"/>
            <a:ext cx="240000" cy="230000"/>
          </a:xfrm>
          <a:prstGeom prst="rect">
            <a:avLst/>
          </a:prstGeom>
          <a:solidFill>
            <a:srgbClr val="95C9AE"/>
          </a:solidFill>
        </p:spPr>
        <p:txBody>
          <a:bodyPr/>
          <a:lstStyle/>
          <a:p>
            <a:endParaRPr sz="1500"/>
          </a:p>
        </p:txBody>
      </p:sp>
      <p:sp>
        <p:nvSpPr>
          <p:cNvPr id="417" name="SH417">
            <a:extLst>
              <a:ext uri="{FF2B5EF4-FFF2-40B4-BE49-F238E27FC236}">
                <a16:creationId xmlns:a16="http://schemas.microsoft.com/office/drawing/2014/main" id="{8BCE1C57-7341-4B38-A72A-83D873BCB0E9}"/>
              </a:ext>
            </a:extLst>
          </p:cNvPr>
          <p:cNvSpPr>
            <a:spLocks noGrp="1"/>
          </p:cNvSpPr>
          <p:nvPr/>
        </p:nvSpPr>
        <p:spPr>
          <a:xfrm>
            <a:off x="6660000" y="35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8611716E-3468-4FBF-B0EF-C0BD86408BAF}"/>
              </a:ext>
            </a:extLst>
          </p:cNvPr>
          <p:cNvSpPr>
            <a:spLocks noGrp="1"/>
          </p:cNvSpPr>
          <p:nvPr/>
        </p:nvSpPr>
        <p:spPr>
          <a:xfrm>
            <a:off x="6970000" y="3562100"/>
            <a:ext cx="240000" cy="230000"/>
          </a:xfrm>
          <a:prstGeom prst="rect">
            <a:avLst/>
          </a:prstGeom>
          <a:solidFill>
            <a:srgbClr val="95C9AE"/>
          </a:solidFill>
        </p:spPr>
        <p:txBody>
          <a:bodyPr/>
          <a:lstStyle/>
          <a:p>
            <a:endParaRPr sz="1500"/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4D59630A-BA7B-403E-9E5B-CBF1D379A160}"/>
              </a:ext>
            </a:extLst>
          </p:cNvPr>
          <p:cNvSpPr>
            <a:spLocks noGrp="1"/>
          </p:cNvSpPr>
          <p:nvPr/>
        </p:nvSpPr>
        <p:spPr>
          <a:xfrm>
            <a:off x="7280000" y="35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20" name="SH420">
            <a:extLst>
              <a:ext uri="{FF2B5EF4-FFF2-40B4-BE49-F238E27FC236}">
                <a16:creationId xmlns:a16="http://schemas.microsoft.com/office/drawing/2014/main" id="{B05E7361-62B8-4896-83B2-A2DE4918A1C3}"/>
              </a:ext>
            </a:extLst>
          </p:cNvPr>
          <p:cNvSpPr>
            <a:spLocks noGrp="1"/>
          </p:cNvSpPr>
          <p:nvPr/>
        </p:nvSpPr>
        <p:spPr>
          <a:xfrm>
            <a:off x="7590000" y="35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21" name="SH421">
            <a:extLst>
              <a:ext uri="{FF2B5EF4-FFF2-40B4-BE49-F238E27FC236}">
                <a16:creationId xmlns:a16="http://schemas.microsoft.com/office/drawing/2014/main" id="{EFADBC00-BC64-471C-B3E9-61A178D99D60}"/>
              </a:ext>
            </a:extLst>
          </p:cNvPr>
          <p:cNvSpPr>
            <a:spLocks noGrp="1"/>
          </p:cNvSpPr>
          <p:nvPr/>
        </p:nvSpPr>
        <p:spPr>
          <a:xfrm>
            <a:off x="7900000" y="3562100"/>
            <a:ext cx="240000" cy="230000"/>
          </a:xfrm>
          <a:prstGeom prst="rect">
            <a:avLst/>
          </a:prstGeom>
          <a:solidFill>
            <a:srgbClr val="95C9AE"/>
          </a:solidFill>
        </p:spPr>
        <p:txBody>
          <a:bodyPr/>
          <a:lstStyle/>
          <a:p>
            <a:endParaRPr sz="1500"/>
          </a:p>
        </p:txBody>
      </p:sp>
      <p:sp>
        <p:nvSpPr>
          <p:cNvPr id="422" name="SH422">
            <a:extLst>
              <a:ext uri="{FF2B5EF4-FFF2-40B4-BE49-F238E27FC236}">
                <a16:creationId xmlns:a16="http://schemas.microsoft.com/office/drawing/2014/main" id="{66CF43E9-9C0D-4D9B-95C5-DE17F1ED1741}"/>
              </a:ext>
            </a:extLst>
          </p:cNvPr>
          <p:cNvSpPr>
            <a:spLocks noGrp="1"/>
          </p:cNvSpPr>
          <p:nvPr/>
        </p:nvSpPr>
        <p:spPr>
          <a:xfrm>
            <a:off x="7280000" y="38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23" name="SH423">
            <a:extLst>
              <a:ext uri="{FF2B5EF4-FFF2-40B4-BE49-F238E27FC236}">
                <a16:creationId xmlns:a16="http://schemas.microsoft.com/office/drawing/2014/main" id="{AC50E948-8BD7-4E28-8372-6FA6E8C94C78}"/>
              </a:ext>
            </a:extLst>
          </p:cNvPr>
          <p:cNvSpPr>
            <a:spLocks noGrp="1"/>
          </p:cNvSpPr>
          <p:nvPr/>
        </p:nvSpPr>
        <p:spPr>
          <a:xfrm>
            <a:off x="7900000" y="3862100"/>
            <a:ext cx="240000" cy="230000"/>
          </a:xfrm>
          <a:prstGeom prst="rect">
            <a:avLst/>
          </a:prstGeom>
          <a:solidFill>
            <a:srgbClr val="95C9AE"/>
          </a:solidFill>
        </p:spPr>
        <p:txBody>
          <a:bodyPr/>
          <a:lstStyle/>
          <a:p>
            <a:endParaRPr sz="1500"/>
          </a:p>
        </p:txBody>
      </p:sp>
      <p:sp>
        <p:nvSpPr>
          <p:cNvPr id="424" name="SH424">
            <a:extLst>
              <a:ext uri="{FF2B5EF4-FFF2-40B4-BE49-F238E27FC236}">
                <a16:creationId xmlns:a16="http://schemas.microsoft.com/office/drawing/2014/main" id="{A3E0B844-32C2-48D2-BD7F-D5B2CDD5847C}"/>
              </a:ext>
            </a:extLst>
          </p:cNvPr>
          <p:cNvSpPr>
            <a:spLocks noGrp="1"/>
          </p:cNvSpPr>
          <p:nvPr/>
        </p:nvSpPr>
        <p:spPr>
          <a:xfrm>
            <a:off x="6350000" y="41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25" name="SH425">
            <a:extLst>
              <a:ext uri="{FF2B5EF4-FFF2-40B4-BE49-F238E27FC236}">
                <a16:creationId xmlns:a16="http://schemas.microsoft.com/office/drawing/2014/main" id="{7FC0174E-CCA1-41DE-8C72-9972244B11DD}"/>
              </a:ext>
            </a:extLst>
          </p:cNvPr>
          <p:cNvSpPr>
            <a:spLocks noGrp="1"/>
          </p:cNvSpPr>
          <p:nvPr/>
        </p:nvSpPr>
        <p:spPr>
          <a:xfrm>
            <a:off x="6660000" y="4162100"/>
            <a:ext cx="240000" cy="230000"/>
          </a:xfrm>
          <a:prstGeom prst="rect">
            <a:avLst/>
          </a:prstGeom>
          <a:solidFill>
            <a:srgbClr val="95C9AE"/>
          </a:solidFill>
        </p:spPr>
        <p:txBody>
          <a:bodyPr/>
          <a:lstStyle/>
          <a:p>
            <a:endParaRPr sz="1500"/>
          </a:p>
        </p:txBody>
      </p:sp>
      <p:sp>
        <p:nvSpPr>
          <p:cNvPr id="426" name="SH426">
            <a:extLst>
              <a:ext uri="{FF2B5EF4-FFF2-40B4-BE49-F238E27FC236}">
                <a16:creationId xmlns:a16="http://schemas.microsoft.com/office/drawing/2014/main" id="{857FF5E5-96DA-41E6-AB86-27D8A53C55B5}"/>
              </a:ext>
            </a:extLst>
          </p:cNvPr>
          <p:cNvSpPr>
            <a:spLocks noGrp="1"/>
          </p:cNvSpPr>
          <p:nvPr/>
        </p:nvSpPr>
        <p:spPr>
          <a:xfrm>
            <a:off x="6970000" y="41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27" name="SH427">
            <a:extLst>
              <a:ext uri="{FF2B5EF4-FFF2-40B4-BE49-F238E27FC236}">
                <a16:creationId xmlns:a16="http://schemas.microsoft.com/office/drawing/2014/main" id="{E5E82C20-04A1-4722-8226-D7187D8F1ADD}"/>
              </a:ext>
            </a:extLst>
          </p:cNvPr>
          <p:cNvSpPr>
            <a:spLocks noGrp="1"/>
          </p:cNvSpPr>
          <p:nvPr/>
        </p:nvSpPr>
        <p:spPr>
          <a:xfrm>
            <a:off x="7590000" y="4162100"/>
            <a:ext cx="240000" cy="230000"/>
          </a:xfrm>
          <a:prstGeom prst="rect">
            <a:avLst/>
          </a:prstGeom>
          <a:solidFill>
            <a:srgbClr val="95C9AE"/>
          </a:solidFill>
        </p:spPr>
        <p:txBody>
          <a:bodyPr/>
          <a:lstStyle/>
          <a:p>
            <a:endParaRPr sz="1500"/>
          </a:p>
        </p:txBody>
      </p:sp>
      <p:sp>
        <p:nvSpPr>
          <p:cNvPr id="428" name="SH428">
            <a:extLst>
              <a:ext uri="{FF2B5EF4-FFF2-40B4-BE49-F238E27FC236}">
                <a16:creationId xmlns:a16="http://schemas.microsoft.com/office/drawing/2014/main" id="{46044BB8-2954-42AC-81A6-6917195D58BD}"/>
              </a:ext>
            </a:extLst>
          </p:cNvPr>
          <p:cNvSpPr>
            <a:spLocks noGrp="1"/>
          </p:cNvSpPr>
          <p:nvPr/>
        </p:nvSpPr>
        <p:spPr>
          <a:xfrm>
            <a:off x="7900000" y="4162100"/>
            <a:ext cx="240000" cy="2300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29" name="TB429">
            <a:extLst>
              <a:ext uri="{FF2B5EF4-FFF2-40B4-BE49-F238E27FC236}">
                <a16:creationId xmlns:a16="http://schemas.microsoft.com/office/drawing/2014/main" id="{A0B8C721-98B2-4CFA-B2F8-1A52A578BBAD}"/>
              </a:ext>
            </a:extLst>
          </p:cNvPr>
          <p:cNvSpPr>
            <a:spLocks noGrp="1"/>
          </p:cNvSpPr>
          <p:nvPr/>
        </p:nvSpPr>
        <p:spPr>
          <a:xfrm>
            <a:off x="6170000" y="4592100"/>
            <a:ext cx="220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píxeles válidos del rodal</a:t>
            </a:r>
          </a:p>
        </p:txBody>
      </p:sp>
      <p:sp>
        <p:nvSpPr>
          <p:cNvPr id="430" name="SH430">
            <a:extLst>
              <a:ext uri="{FF2B5EF4-FFF2-40B4-BE49-F238E27FC236}">
                <a16:creationId xmlns:a16="http://schemas.microsoft.com/office/drawing/2014/main" id="{BABA03EB-B0A6-4596-9FF8-05A95C77D2DE}"/>
              </a:ext>
            </a:extLst>
          </p:cNvPr>
          <p:cNvSpPr>
            <a:spLocks noGrp="1"/>
          </p:cNvSpPr>
          <p:nvPr/>
        </p:nvSpPr>
        <p:spPr>
          <a:xfrm>
            <a:off x="8510000" y="3392100"/>
            <a:ext cx="420000" cy="180000"/>
          </a:xfrm>
          <a:prstGeom prst="rightArrow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31" name="SH431">
            <a:extLst>
              <a:ext uri="{FF2B5EF4-FFF2-40B4-BE49-F238E27FC236}">
                <a16:creationId xmlns:a16="http://schemas.microsoft.com/office/drawing/2014/main" id="{1A34A809-34B5-4D63-907B-4ED58A220EE7}"/>
              </a:ext>
            </a:extLst>
          </p:cNvPr>
          <p:cNvSpPr>
            <a:spLocks noGrp="1"/>
          </p:cNvSpPr>
          <p:nvPr/>
        </p:nvSpPr>
        <p:spPr>
          <a:xfrm>
            <a:off x="9070000" y="2632100"/>
            <a:ext cx="2280000" cy="15000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25400">
            <a:solidFill>
              <a:srgbClr val="2D6A4F"/>
            </a:solidFill>
          </a:ln>
        </p:spPr>
        <p:txBody>
          <a:bodyPr/>
          <a:lstStyle/>
          <a:p>
            <a:pPr algn="just"/>
            <a:endParaRPr sz="1500"/>
          </a:p>
        </p:txBody>
      </p:sp>
      <p:sp>
        <p:nvSpPr>
          <p:cNvPr id="432" name="TB432">
            <a:extLst>
              <a:ext uri="{FF2B5EF4-FFF2-40B4-BE49-F238E27FC236}">
                <a16:creationId xmlns:a16="http://schemas.microsoft.com/office/drawing/2014/main" id="{E0FE57A1-8B7D-4B10-A681-A30EB74372CC}"/>
              </a:ext>
            </a:extLst>
          </p:cNvPr>
          <p:cNvSpPr>
            <a:spLocks noGrp="1"/>
          </p:cNvSpPr>
          <p:nvPr/>
        </p:nvSpPr>
        <p:spPr>
          <a:xfrm>
            <a:off x="9220000" y="2752100"/>
            <a:ext cx="198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Total de la unidad</a:t>
            </a:r>
          </a:p>
        </p:txBody>
      </p:sp>
      <p:sp>
        <p:nvSpPr>
          <p:cNvPr id="433" name="TB433">
            <a:extLst>
              <a:ext uri="{FF2B5EF4-FFF2-40B4-BE49-F238E27FC236}">
                <a16:creationId xmlns:a16="http://schemas.microsoft.com/office/drawing/2014/main" id="{B660353C-07C2-45BB-8770-0974561579DF}"/>
              </a:ext>
            </a:extLst>
          </p:cNvPr>
          <p:cNvSpPr>
            <a:spLocks noGrp="1"/>
          </p:cNvSpPr>
          <p:nvPr/>
        </p:nvSpPr>
        <p:spPr>
          <a:xfrm>
            <a:off x="9220000" y="3072100"/>
            <a:ext cx="1980000" cy="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2D6A4F"/>
                </a:solidFill>
                <a:latin typeface="Arial"/>
                <a:ea typeface="Arial"/>
                <a:cs typeface="Arial"/>
              </a:rPr>
              <a:t>Σ (AGBDᵢ × áreaᵢ)</a:t>
            </a:r>
          </a:p>
        </p:txBody>
      </p:sp>
      <p:sp>
        <p:nvSpPr>
          <p:cNvPr id="434" name="TB434">
            <a:extLst>
              <a:ext uri="{FF2B5EF4-FFF2-40B4-BE49-F238E27FC236}">
                <a16:creationId xmlns:a16="http://schemas.microsoft.com/office/drawing/2014/main" id="{0252F000-046E-4928-B468-DC957A622CEC}"/>
              </a:ext>
            </a:extLst>
          </p:cNvPr>
          <p:cNvSpPr>
            <a:spLocks noGrp="1"/>
          </p:cNvSpPr>
          <p:nvPr/>
        </p:nvSpPr>
        <p:spPr>
          <a:xfrm>
            <a:off x="9220000" y="3452100"/>
            <a:ext cx="198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media = total / área válida
intervalo propagado</a:t>
            </a:r>
          </a:p>
        </p:txBody>
      </p:sp>
      <p:sp>
        <p:nvSpPr>
          <p:cNvPr id="435" name="TB435">
            <a:extLst>
              <a:ext uri="{FF2B5EF4-FFF2-40B4-BE49-F238E27FC236}">
                <a16:creationId xmlns:a16="http://schemas.microsoft.com/office/drawing/2014/main" id="{EB4566C6-88A9-4FDD-9EE6-90A3EA689148}"/>
              </a:ext>
            </a:extLst>
          </p:cNvPr>
          <p:cNvSpPr>
            <a:spLocks noGrp="1"/>
          </p:cNvSpPr>
          <p:nvPr/>
        </p:nvSpPr>
        <p:spPr>
          <a:xfrm>
            <a:off x="8903744" y="4232100"/>
            <a:ext cx="2556000" cy="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400" b="0" i="1">
                <a:latin typeface="Arial"/>
                <a:ea typeface="Arial"/>
                <a:cs typeface="Arial"/>
              </a:rPr>
              <a:t>Se informan también los píxeles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sz="1400" b="0" i="1">
                <a:latin typeface="Arial"/>
                <a:ea typeface="Arial"/>
                <a:cs typeface="Arial"/>
              </a:rPr>
              <a:t>usados y la cobertura efectiva.</a:t>
            </a:r>
          </a:p>
        </p:txBody>
      </p:sp>
      <p:sp>
        <p:nvSpPr>
          <p:cNvPr id="436" name="TB436">
            <a:extLst>
              <a:ext uri="{FF2B5EF4-FFF2-40B4-BE49-F238E27FC236}">
                <a16:creationId xmlns:a16="http://schemas.microsoft.com/office/drawing/2014/main" id="{7E53059D-5B97-42DB-B9E8-9B920F4B9C90}"/>
              </a:ext>
            </a:extLst>
          </p:cNvPr>
          <p:cNvSpPr>
            <a:spLocks noGrp="1"/>
          </p:cNvSpPr>
          <p:nvPr/>
        </p:nvSpPr>
        <p:spPr>
          <a:xfrm>
            <a:off x="6050000" y="50321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1">
                <a:latin typeface="Arial"/>
                <a:ea typeface="Arial"/>
                <a:cs typeface="Arial"/>
              </a:rPr>
              <a:t>Sin área válida declarada, el total no es comparable.</a:t>
            </a:r>
          </a:p>
        </p:txBody>
      </p:sp>
      <p:sp>
        <p:nvSpPr>
          <p:cNvPr id="437" name="Rectángulo 436">
            <a:extLst>
              <a:ext uri="{FF2B5EF4-FFF2-40B4-BE49-F238E27FC236}">
                <a16:creationId xmlns:a16="http://schemas.microsoft.com/office/drawing/2014/main" id="{4E1C24A7-FFF8-4611-AE19-D646DBCB1BF2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70/79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10667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1D7036-DFEE-4A85-8561-939ACB1766F7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Propagación de incertidumbre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D3EDA1-D967-47B4-8950-C38356A70D89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Propagación de la incertidumbre a lo largo del flujo de trabajo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2B69D17-1342-44A5-B7DE-84CE3408D2ED}"/>
              </a:ext>
            </a:extLst>
          </p:cNvPr>
          <p:cNvSpPr>
            <a:spLocks noGrp="1"/>
          </p:cNvSpPr>
          <p:nvPr/>
        </p:nvSpPr>
        <p:spPr>
          <a:xfrm>
            <a:off x="600075" y="5644180"/>
            <a:ext cx="10915650" cy="48994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Earthdata GEDI v3 release; ORNL DAAC GEDI L4A v3, DOI 10.3334/ORNLDAAC/2508. Duncanson et al. (2022); Kellner et al. (2023); Duncanson et al. (2019); Subedi y Zurqani (2026).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24A0C2A-CFBF-43C8-B383-BD8725101E08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71/79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70E089-AF50-4399-97BC-01E3B0655980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5808B21-C3B3-4E15-930E-DE2C5E534058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EA8FFA-E222-4BFA-9BDD-A46068568FC8}"/>
              </a:ext>
            </a:extLst>
          </p:cNvPr>
          <p:cNvSpPr>
            <a:spLocks noGrp="1"/>
          </p:cNvSpPr>
          <p:nvPr/>
        </p:nvSpPr>
        <p:spPr>
          <a:xfrm>
            <a:off x="596900" y="1193800"/>
            <a:ext cx="5080000" cy="44280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se combina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Incertidumbre de GEDI, del modelo, de las covariables y de la agregación espacial.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Cómo se estima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 bootstrap por bloques captura la dependencia espacial.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Cómo se comunica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Los mapas de cuantiles informan más que una única superficie.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Para qué decide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Las zonas de alta incertidumbre condicionan las decisiones de manejo.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F82EB8A9-1C84-44C6-85CF-D7E91423B561}"/>
              </a:ext>
            </a:extLst>
          </p:cNvPr>
          <p:cNvSpPr>
            <a:spLocks noGrp="1"/>
          </p:cNvSpPr>
          <p:nvPr/>
        </p:nvSpPr>
        <p:spPr>
          <a:xfrm>
            <a:off x="6123820" y="1336441"/>
            <a:ext cx="5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Las fuentes de incertidumbre interactúan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118586E5-B5D2-4441-ADCB-13B51E9B0129}"/>
              </a:ext>
            </a:extLst>
          </p:cNvPr>
          <p:cNvSpPr>
            <a:spLocks noGrp="1"/>
          </p:cNvSpPr>
          <p:nvPr/>
        </p:nvSpPr>
        <p:spPr>
          <a:xfrm>
            <a:off x="6123820" y="1706441"/>
            <a:ext cx="5400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1400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Covarianzas, sesgos y soporte espacial definen el intervalo declarado.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DBD3A7D1-65E1-4AD7-8BAD-CF1ED0567DA3}"/>
              </a:ext>
            </a:extLst>
          </p:cNvPr>
          <p:cNvSpPr>
            <a:spLocks noGrp="1"/>
          </p:cNvSpPr>
          <p:nvPr/>
        </p:nvSpPr>
        <p:spPr>
          <a:xfrm>
            <a:off x="6373820" y="3423741"/>
            <a:ext cx="4300000" cy="25400"/>
          </a:xfrm>
          <a:prstGeom prst="rect">
            <a:avLst/>
          </a:prstGeom>
          <a:solidFill>
            <a:srgbClr val="4F9A74"/>
          </a:solidFill>
        </p:spPr>
        <p:txBody>
          <a:bodyPr/>
          <a:lstStyle/>
          <a:p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C36D53D9-C198-4EE3-9A2F-21B0F09B1D36}"/>
              </a:ext>
            </a:extLst>
          </p:cNvPr>
          <p:cNvSpPr>
            <a:spLocks noGrp="1"/>
          </p:cNvSpPr>
          <p:nvPr/>
        </p:nvSpPr>
        <p:spPr>
          <a:xfrm>
            <a:off x="6794295" y="3306441"/>
            <a:ext cx="19050" cy="26000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4" name="SH404">
            <a:extLst>
              <a:ext uri="{FF2B5EF4-FFF2-40B4-BE49-F238E27FC236}">
                <a16:creationId xmlns:a16="http://schemas.microsoft.com/office/drawing/2014/main" id="{7989B7BB-45EA-4F7F-9990-6438A04F0D7D}"/>
              </a:ext>
            </a:extLst>
          </p:cNvPr>
          <p:cNvSpPr>
            <a:spLocks noGrp="1"/>
          </p:cNvSpPr>
          <p:nvPr/>
        </p:nvSpPr>
        <p:spPr>
          <a:xfrm>
            <a:off x="6713820" y="3296916"/>
            <a:ext cx="180000" cy="1905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5" name="SH405">
            <a:extLst>
              <a:ext uri="{FF2B5EF4-FFF2-40B4-BE49-F238E27FC236}">
                <a16:creationId xmlns:a16="http://schemas.microsoft.com/office/drawing/2014/main" id="{07B0616F-4EFD-47C0-A16E-6D0EFFA0BCEA}"/>
              </a:ext>
            </a:extLst>
          </p:cNvPr>
          <p:cNvSpPr>
            <a:spLocks noGrp="1"/>
          </p:cNvSpPr>
          <p:nvPr/>
        </p:nvSpPr>
        <p:spPr>
          <a:xfrm>
            <a:off x="6713820" y="3556916"/>
            <a:ext cx="180000" cy="1905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F35F7CC2-9CDA-4A29-A5DE-0516C0F36E37}"/>
              </a:ext>
            </a:extLst>
          </p:cNvPr>
          <p:cNvSpPr>
            <a:spLocks noGrp="1"/>
          </p:cNvSpPr>
          <p:nvPr/>
        </p:nvSpPr>
        <p:spPr>
          <a:xfrm>
            <a:off x="6713820" y="3346441"/>
            <a:ext cx="180000" cy="180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07" name="TB407">
            <a:extLst>
              <a:ext uri="{FF2B5EF4-FFF2-40B4-BE49-F238E27FC236}">
                <a16:creationId xmlns:a16="http://schemas.microsoft.com/office/drawing/2014/main" id="{CE6DAEA6-0BE5-4D20-8505-5A41B7F9C399}"/>
              </a:ext>
            </a:extLst>
          </p:cNvPr>
          <p:cNvSpPr>
            <a:spLocks noGrp="1"/>
          </p:cNvSpPr>
          <p:nvPr/>
        </p:nvSpPr>
        <p:spPr>
          <a:xfrm>
            <a:off x="6053820" y="3708396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GEDI SE</a:t>
            </a:r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C49DF61C-6062-4402-B32C-1318EFBE6C64}"/>
              </a:ext>
            </a:extLst>
          </p:cNvPr>
          <p:cNvSpPr>
            <a:spLocks noGrp="1"/>
          </p:cNvSpPr>
          <p:nvPr/>
        </p:nvSpPr>
        <p:spPr>
          <a:xfrm>
            <a:off x="7654295" y="3116441"/>
            <a:ext cx="19050" cy="64000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FA1E9850-8AB6-4FD5-82DA-E21A8845B2CB}"/>
              </a:ext>
            </a:extLst>
          </p:cNvPr>
          <p:cNvSpPr>
            <a:spLocks noGrp="1"/>
          </p:cNvSpPr>
          <p:nvPr/>
        </p:nvSpPr>
        <p:spPr>
          <a:xfrm>
            <a:off x="7573820" y="3106916"/>
            <a:ext cx="180000" cy="1905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0" name="SH410">
            <a:extLst>
              <a:ext uri="{FF2B5EF4-FFF2-40B4-BE49-F238E27FC236}">
                <a16:creationId xmlns:a16="http://schemas.microsoft.com/office/drawing/2014/main" id="{305117ED-DB1E-49D0-BFE9-19E0F8052216}"/>
              </a:ext>
            </a:extLst>
          </p:cNvPr>
          <p:cNvSpPr>
            <a:spLocks noGrp="1"/>
          </p:cNvSpPr>
          <p:nvPr/>
        </p:nvSpPr>
        <p:spPr>
          <a:xfrm>
            <a:off x="7573820" y="3746916"/>
            <a:ext cx="180000" cy="1905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1" name="SH411">
            <a:extLst>
              <a:ext uri="{FF2B5EF4-FFF2-40B4-BE49-F238E27FC236}">
                <a16:creationId xmlns:a16="http://schemas.microsoft.com/office/drawing/2014/main" id="{FA1F3589-0D15-4880-BC7F-A50203BEAA30}"/>
              </a:ext>
            </a:extLst>
          </p:cNvPr>
          <p:cNvSpPr>
            <a:spLocks noGrp="1"/>
          </p:cNvSpPr>
          <p:nvPr/>
        </p:nvSpPr>
        <p:spPr>
          <a:xfrm>
            <a:off x="7573820" y="3346441"/>
            <a:ext cx="180000" cy="180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12" name="TB412">
            <a:extLst>
              <a:ext uri="{FF2B5EF4-FFF2-40B4-BE49-F238E27FC236}">
                <a16:creationId xmlns:a16="http://schemas.microsoft.com/office/drawing/2014/main" id="{AE305B4B-1704-4E96-92DE-46757B9F535C}"/>
              </a:ext>
            </a:extLst>
          </p:cNvPr>
          <p:cNvSpPr>
            <a:spLocks noGrp="1"/>
          </p:cNvSpPr>
          <p:nvPr/>
        </p:nvSpPr>
        <p:spPr>
          <a:xfrm>
            <a:off x="6913820" y="3898396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modelo</a:t>
            </a:r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73699046-BB21-46D2-B0AD-701061F08917}"/>
              </a:ext>
            </a:extLst>
          </p:cNvPr>
          <p:cNvSpPr>
            <a:spLocks noGrp="1"/>
          </p:cNvSpPr>
          <p:nvPr/>
        </p:nvSpPr>
        <p:spPr>
          <a:xfrm>
            <a:off x="8729295" y="2876441"/>
            <a:ext cx="19050" cy="112000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4" name="SH414">
            <a:extLst>
              <a:ext uri="{FF2B5EF4-FFF2-40B4-BE49-F238E27FC236}">
                <a16:creationId xmlns:a16="http://schemas.microsoft.com/office/drawing/2014/main" id="{84204E2A-55E4-43F9-8CBA-F0DF538804B8}"/>
              </a:ext>
            </a:extLst>
          </p:cNvPr>
          <p:cNvSpPr>
            <a:spLocks noGrp="1"/>
          </p:cNvSpPr>
          <p:nvPr/>
        </p:nvSpPr>
        <p:spPr>
          <a:xfrm>
            <a:off x="8648820" y="2866916"/>
            <a:ext cx="180000" cy="1905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0FBA3AF2-BE38-4FDC-A1D5-C78945A5AF0F}"/>
              </a:ext>
            </a:extLst>
          </p:cNvPr>
          <p:cNvSpPr>
            <a:spLocks noGrp="1"/>
          </p:cNvSpPr>
          <p:nvPr/>
        </p:nvSpPr>
        <p:spPr>
          <a:xfrm>
            <a:off x="8648820" y="3986916"/>
            <a:ext cx="180000" cy="1905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6" name="SH416">
            <a:extLst>
              <a:ext uri="{FF2B5EF4-FFF2-40B4-BE49-F238E27FC236}">
                <a16:creationId xmlns:a16="http://schemas.microsoft.com/office/drawing/2014/main" id="{C7C9B3A1-CB64-412D-B7EE-9B6E1483D201}"/>
              </a:ext>
            </a:extLst>
          </p:cNvPr>
          <p:cNvSpPr>
            <a:spLocks noGrp="1"/>
          </p:cNvSpPr>
          <p:nvPr/>
        </p:nvSpPr>
        <p:spPr>
          <a:xfrm>
            <a:off x="8648820" y="3346441"/>
            <a:ext cx="180000" cy="180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03095F14-F30D-42B7-9FB5-3E1CDA0E302D}"/>
              </a:ext>
            </a:extLst>
          </p:cNvPr>
          <p:cNvSpPr>
            <a:spLocks noGrp="1"/>
          </p:cNvSpPr>
          <p:nvPr/>
        </p:nvSpPr>
        <p:spPr>
          <a:xfrm>
            <a:off x="7988820" y="4138396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covariables</a:t>
            </a:r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29536ECB-14F9-4AB4-9477-89ED3B8B9D9C}"/>
              </a:ext>
            </a:extLst>
          </p:cNvPr>
          <p:cNvSpPr>
            <a:spLocks noGrp="1"/>
          </p:cNvSpPr>
          <p:nvPr/>
        </p:nvSpPr>
        <p:spPr>
          <a:xfrm>
            <a:off x="10019295" y="2576441"/>
            <a:ext cx="19050" cy="172000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19" name="SH419">
            <a:extLst>
              <a:ext uri="{FF2B5EF4-FFF2-40B4-BE49-F238E27FC236}">
                <a16:creationId xmlns:a16="http://schemas.microsoft.com/office/drawing/2014/main" id="{0DDBE970-391E-4332-AC10-B2174A8C814A}"/>
              </a:ext>
            </a:extLst>
          </p:cNvPr>
          <p:cNvSpPr>
            <a:spLocks noGrp="1"/>
          </p:cNvSpPr>
          <p:nvPr/>
        </p:nvSpPr>
        <p:spPr>
          <a:xfrm>
            <a:off x="9938820" y="2566916"/>
            <a:ext cx="180000" cy="1905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0" name="SH420">
            <a:extLst>
              <a:ext uri="{FF2B5EF4-FFF2-40B4-BE49-F238E27FC236}">
                <a16:creationId xmlns:a16="http://schemas.microsoft.com/office/drawing/2014/main" id="{CA9920EA-8026-429D-A089-A5ED140C2CA5}"/>
              </a:ext>
            </a:extLst>
          </p:cNvPr>
          <p:cNvSpPr>
            <a:spLocks noGrp="1"/>
          </p:cNvSpPr>
          <p:nvPr/>
        </p:nvSpPr>
        <p:spPr>
          <a:xfrm>
            <a:off x="9938820" y="4286916"/>
            <a:ext cx="180000" cy="19050"/>
          </a:xfrm>
          <a:prstGeom prst="rect">
            <a:avLst/>
          </a:prstGeom>
          <a:solidFill>
            <a:srgbClr val="2D6A4F"/>
          </a:solidFill>
        </p:spPr>
        <p:txBody>
          <a:bodyPr/>
          <a:lstStyle/>
          <a:p>
            <a:endParaRPr sz="1500"/>
          </a:p>
        </p:txBody>
      </p:sp>
      <p:sp>
        <p:nvSpPr>
          <p:cNvPr id="421" name="SH421">
            <a:extLst>
              <a:ext uri="{FF2B5EF4-FFF2-40B4-BE49-F238E27FC236}">
                <a16:creationId xmlns:a16="http://schemas.microsoft.com/office/drawing/2014/main" id="{4AC7E055-E0C6-460D-9D64-B441DC86D7D3}"/>
              </a:ext>
            </a:extLst>
          </p:cNvPr>
          <p:cNvSpPr>
            <a:spLocks noGrp="1"/>
          </p:cNvSpPr>
          <p:nvPr/>
        </p:nvSpPr>
        <p:spPr>
          <a:xfrm>
            <a:off x="9938820" y="3346441"/>
            <a:ext cx="180000" cy="180000"/>
          </a:xfrm>
          <a:prstGeom prst="ellipse">
            <a:avLst/>
          </a:prstGeom>
          <a:solidFill>
            <a:srgbClr val="1B4332"/>
          </a:solidFill>
        </p:spPr>
        <p:txBody>
          <a:bodyPr/>
          <a:lstStyle/>
          <a:p>
            <a:endParaRPr sz="1500"/>
          </a:p>
        </p:txBody>
      </p:sp>
      <p:sp>
        <p:nvSpPr>
          <p:cNvPr id="422" name="TB422">
            <a:extLst>
              <a:ext uri="{FF2B5EF4-FFF2-40B4-BE49-F238E27FC236}">
                <a16:creationId xmlns:a16="http://schemas.microsoft.com/office/drawing/2014/main" id="{C5AD553D-B552-4141-8C42-FAA7770ED8B0}"/>
              </a:ext>
            </a:extLst>
          </p:cNvPr>
          <p:cNvSpPr>
            <a:spLocks noGrp="1"/>
          </p:cNvSpPr>
          <p:nvPr/>
        </p:nvSpPr>
        <p:spPr>
          <a:xfrm>
            <a:off x="9278820" y="4386441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agregación</a:t>
            </a:r>
          </a:p>
        </p:txBody>
      </p:sp>
      <p:sp>
        <p:nvSpPr>
          <p:cNvPr id="423" name="SH423">
            <a:extLst>
              <a:ext uri="{FF2B5EF4-FFF2-40B4-BE49-F238E27FC236}">
                <a16:creationId xmlns:a16="http://schemas.microsoft.com/office/drawing/2014/main" id="{8A6BAA5E-9305-490D-91C6-52D2AF08B74F}"/>
              </a:ext>
            </a:extLst>
          </p:cNvPr>
          <p:cNvSpPr>
            <a:spLocks noGrp="1"/>
          </p:cNvSpPr>
          <p:nvPr/>
        </p:nvSpPr>
        <p:spPr>
          <a:xfrm>
            <a:off x="6803820" y="3203504"/>
            <a:ext cx="860000" cy="15875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24" name="SH424">
            <a:extLst>
              <a:ext uri="{FF2B5EF4-FFF2-40B4-BE49-F238E27FC236}">
                <a16:creationId xmlns:a16="http://schemas.microsoft.com/office/drawing/2014/main" id="{249CEFB5-8A08-4350-9901-CE6CD71132E9}"/>
              </a:ext>
            </a:extLst>
          </p:cNvPr>
          <p:cNvSpPr>
            <a:spLocks noGrp="1"/>
          </p:cNvSpPr>
          <p:nvPr/>
        </p:nvSpPr>
        <p:spPr>
          <a:xfrm>
            <a:off x="6803820" y="3653504"/>
            <a:ext cx="860000" cy="15875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25" name="SH425">
            <a:extLst>
              <a:ext uri="{FF2B5EF4-FFF2-40B4-BE49-F238E27FC236}">
                <a16:creationId xmlns:a16="http://schemas.microsoft.com/office/drawing/2014/main" id="{23F46512-A7E1-4927-BB14-F28090B806C2}"/>
              </a:ext>
            </a:extLst>
          </p:cNvPr>
          <p:cNvSpPr>
            <a:spLocks noGrp="1"/>
          </p:cNvSpPr>
          <p:nvPr/>
        </p:nvSpPr>
        <p:spPr>
          <a:xfrm>
            <a:off x="7663820" y="2988504"/>
            <a:ext cx="1075000" cy="15875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26" name="SH426">
            <a:extLst>
              <a:ext uri="{FF2B5EF4-FFF2-40B4-BE49-F238E27FC236}">
                <a16:creationId xmlns:a16="http://schemas.microsoft.com/office/drawing/2014/main" id="{324FC92D-47D8-462A-B986-530AEBB369B7}"/>
              </a:ext>
            </a:extLst>
          </p:cNvPr>
          <p:cNvSpPr>
            <a:spLocks noGrp="1"/>
          </p:cNvSpPr>
          <p:nvPr/>
        </p:nvSpPr>
        <p:spPr>
          <a:xfrm>
            <a:off x="7663820" y="3868504"/>
            <a:ext cx="1075000" cy="15875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27" name="SH427">
            <a:extLst>
              <a:ext uri="{FF2B5EF4-FFF2-40B4-BE49-F238E27FC236}">
                <a16:creationId xmlns:a16="http://schemas.microsoft.com/office/drawing/2014/main" id="{052E4F6F-CAFC-4841-B7BB-814090D10741}"/>
              </a:ext>
            </a:extLst>
          </p:cNvPr>
          <p:cNvSpPr>
            <a:spLocks noGrp="1"/>
          </p:cNvSpPr>
          <p:nvPr/>
        </p:nvSpPr>
        <p:spPr>
          <a:xfrm>
            <a:off x="8738820" y="2718504"/>
            <a:ext cx="1290000" cy="15875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28" name="SH428">
            <a:extLst>
              <a:ext uri="{FF2B5EF4-FFF2-40B4-BE49-F238E27FC236}">
                <a16:creationId xmlns:a16="http://schemas.microsoft.com/office/drawing/2014/main" id="{C1BD2115-8190-4C5C-AC93-B2FFEAA49854}"/>
              </a:ext>
            </a:extLst>
          </p:cNvPr>
          <p:cNvSpPr>
            <a:spLocks noGrp="1"/>
          </p:cNvSpPr>
          <p:nvPr/>
        </p:nvSpPr>
        <p:spPr>
          <a:xfrm>
            <a:off x="8738820" y="4138504"/>
            <a:ext cx="1290000" cy="15875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30" name="TB430">
            <a:extLst>
              <a:ext uri="{FF2B5EF4-FFF2-40B4-BE49-F238E27FC236}">
                <a16:creationId xmlns:a16="http://schemas.microsoft.com/office/drawing/2014/main" id="{30ACFBF9-095D-469A-90D5-2D3A69E8FA1A}"/>
              </a:ext>
            </a:extLst>
          </p:cNvPr>
          <p:cNvSpPr>
            <a:spLocks noGrp="1"/>
          </p:cNvSpPr>
          <p:nvPr/>
        </p:nvSpPr>
        <p:spPr>
          <a:xfrm>
            <a:off x="6123820" y="4699960"/>
            <a:ext cx="54000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sz="15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El bootstrap por bloques captura la dependencia espacial;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sz="1500" b="0" i="1">
                <a:solidFill>
                  <a:srgbClr val="2D6A4F"/>
                </a:solidFill>
                <a:latin typeface="Arial"/>
                <a:ea typeface="Arial"/>
                <a:cs typeface="Arial"/>
              </a:rPr>
              <a:t>la decisión se toma sobre el intervalo, no sobre el número.</a:t>
            </a:r>
          </a:p>
        </p:txBody>
      </p:sp>
      <p:sp>
        <p:nvSpPr>
          <p:cNvPr id="431" name="Rectángulo 430">
            <a:extLst>
              <a:ext uri="{FF2B5EF4-FFF2-40B4-BE49-F238E27FC236}">
                <a16:creationId xmlns:a16="http://schemas.microsoft.com/office/drawing/2014/main" id="{C1FFC05F-9F5A-4DB0-B0D7-66BB3EDD3DF0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71/79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21118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10397E-07C8-49CD-A677-A6A05AB78F3E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Errores comunes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C1F61C-6302-4A62-8AB1-122E069C2E51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Errores frecuentes en el procesamiento de datos GEDI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DC70DAD-DFE7-4ED8-B5DA-5CC269966067}"/>
              </a:ext>
            </a:extLst>
          </p:cNvPr>
          <p:cNvSpPr>
            <a:spLocks noGrp="1"/>
          </p:cNvSpPr>
          <p:nvPr/>
        </p:nvSpPr>
        <p:spPr>
          <a:xfrm>
            <a:off x="600075" y="5740400"/>
            <a:ext cx="10915650" cy="75412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Elaboración propia. GEDI/UMD Products; LP DAAC GEDI02 User Guides; ORNL DAAC L4A/L4B. Duncanson et al. (2022); Kellner et al. (2023); Duncanson et al. (2019); Subedi y Zurqani (2026).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A774BDA-4245-4120-8EF6-87D3AB987493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72/79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09AF13E-D3FA-424D-8063-35D05FBDD85D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4AD467E-3BA6-48E9-86FB-A716C4AF53A3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F3046AC5-6A4E-47FA-AF34-F08E922BAE9D}"/>
              </a:ext>
            </a:extLst>
          </p:cNvPr>
          <p:cNvSpPr>
            <a:spLocks noGrp="1"/>
          </p:cNvSpPr>
          <p:nvPr/>
        </p:nvSpPr>
        <p:spPr>
          <a:xfrm>
            <a:off x="596900" y="1150000"/>
            <a:ext cx="10922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Error y corrección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615C6EE6-5C01-4227-9137-52F328FF2C8A}"/>
              </a:ext>
            </a:extLst>
          </p:cNvPr>
          <p:cNvSpPr>
            <a:spLocks noGrp="1"/>
          </p:cNvSpPr>
          <p:nvPr/>
        </p:nvSpPr>
        <p:spPr>
          <a:xfrm>
            <a:off x="596900" y="1520000"/>
            <a:ext cx="10922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Cinco fallas que invalidan el resultado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26C6E1EE-5F2E-465B-8E4B-F750500D1DA1}"/>
              </a:ext>
            </a:extLst>
          </p:cNvPr>
          <p:cNvSpPr>
            <a:spLocks noGrp="1"/>
          </p:cNvSpPr>
          <p:nvPr/>
        </p:nvSpPr>
        <p:spPr>
          <a:xfrm>
            <a:off x="596900" y="2235200"/>
            <a:ext cx="10922000" cy="5842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2654A423-4DE1-4A9E-95D0-F56187E82C76}"/>
              </a:ext>
            </a:extLst>
          </p:cNvPr>
          <p:cNvSpPr>
            <a:spLocks noGrp="1"/>
          </p:cNvSpPr>
          <p:nvPr/>
        </p:nvSpPr>
        <p:spPr>
          <a:xfrm>
            <a:off x="596900" y="2235200"/>
            <a:ext cx="50800" cy="584200"/>
          </a:xfrm>
          <a:prstGeom prst="rect">
            <a:avLst/>
          </a:prstGeom>
          <a:solidFill>
            <a:srgbClr val="B4553C"/>
          </a:solidFill>
        </p:spPr>
        <p:txBody>
          <a:bodyPr/>
          <a:lstStyle/>
          <a:p>
            <a:endParaRPr sz="1500"/>
          </a:p>
        </p:txBody>
      </p:sp>
      <p:sp>
        <p:nvSpPr>
          <p:cNvPr id="404" name="TB404">
            <a:extLst>
              <a:ext uri="{FF2B5EF4-FFF2-40B4-BE49-F238E27FC236}">
                <a16:creationId xmlns:a16="http://schemas.microsoft.com/office/drawing/2014/main" id="{0930B585-099F-4402-A92E-FC3E0A4BFB3B}"/>
              </a:ext>
            </a:extLst>
          </p:cNvPr>
          <p:cNvSpPr>
            <a:spLocks noGrp="1"/>
          </p:cNvSpPr>
          <p:nvPr/>
        </p:nvSpPr>
        <p:spPr>
          <a:xfrm>
            <a:off x="787400" y="2286000"/>
            <a:ext cx="508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400" b="1" dirty="0">
                <a:solidFill>
                  <a:srgbClr val="B91C1C"/>
                </a:solidFill>
                <a:latin typeface="Arial"/>
                <a:ea typeface="Arial"/>
                <a:cs typeface="Arial"/>
              </a:rPr>
              <a:t>Usar GEDI sin flags</a:t>
            </a:r>
          </a:p>
        </p:txBody>
      </p:sp>
      <p:sp>
        <p:nvSpPr>
          <p:cNvPr id="405" name="TB405">
            <a:extLst>
              <a:ext uri="{FF2B5EF4-FFF2-40B4-BE49-F238E27FC236}">
                <a16:creationId xmlns:a16="http://schemas.microsoft.com/office/drawing/2014/main" id="{531CC9B3-ACEF-4204-AF0C-BE78006DC1D3}"/>
              </a:ext>
            </a:extLst>
          </p:cNvPr>
          <p:cNvSpPr>
            <a:spLocks noGrp="1"/>
          </p:cNvSpPr>
          <p:nvPr/>
        </p:nvSpPr>
        <p:spPr>
          <a:xfrm>
            <a:off x="7747000" y="2286000"/>
            <a:ext cx="37084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4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Aplicar flags de calidad y degradación</a:t>
            </a:r>
          </a:p>
        </p:txBody>
      </p:sp>
      <p:sp>
        <p:nvSpPr>
          <p:cNvPr id="407" name="SH407">
            <a:extLst>
              <a:ext uri="{FF2B5EF4-FFF2-40B4-BE49-F238E27FC236}">
                <a16:creationId xmlns:a16="http://schemas.microsoft.com/office/drawing/2014/main" id="{4B3986CE-AE70-4216-B3B0-B3D342A1738D}"/>
              </a:ext>
            </a:extLst>
          </p:cNvPr>
          <p:cNvSpPr>
            <a:spLocks noGrp="1"/>
          </p:cNvSpPr>
          <p:nvPr/>
        </p:nvSpPr>
        <p:spPr>
          <a:xfrm>
            <a:off x="596900" y="2895600"/>
            <a:ext cx="10922000" cy="5842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pPr algn="just"/>
            <a:endParaRPr sz="1500"/>
          </a:p>
        </p:txBody>
      </p:sp>
      <p:sp>
        <p:nvSpPr>
          <p:cNvPr id="408" name="SH408">
            <a:extLst>
              <a:ext uri="{FF2B5EF4-FFF2-40B4-BE49-F238E27FC236}">
                <a16:creationId xmlns:a16="http://schemas.microsoft.com/office/drawing/2014/main" id="{CB2E1B05-2C83-4E8B-B92F-EF1C4505EA3D}"/>
              </a:ext>
            </a:extLst>
          </p:cNvPr>
          <p:cNvSpPr>
            <a:spLocks noGrp="1"/>
          </p:cNvSpPr>
          <p:nvPr/>
        </p:nvSpPr>
        <p:spPr>
          <a:xfrm>
            <a:off x="596900" y="2895600"/>
            <a:ext cx="50800" cy="584200"/>
          </a:xfrm>
          <a:prstGeom prst="rect">
            <a:avLst/>
          </a:prstGeom>
          <a:solidFill>
            <a:srgbClr val="B4553C"/>
          </a:solidFill>
        </p:spPr>
        <p:txBody>
          <a:bodyPr/>
          <a:lstStyle/>
          <a:p>
            <a:endParaRPr sz="1500"/>
          </a:p>
        </p:txBody>
      </p:sp>
      <p:sp>
        <p:nvSpPr>
          <p:cNvPr id="409" name="TB409">
            <a:extLst>
              <a:ext uri="{FF2B5EF4-FFF2-40B4-BE49-F238E27FC236}">
                <a16:creationId xmlns:a16="http://schemas.microsoft.com/office/drawing/2014/main" id="{80588525-E695-4849-8B6F-F6A694977AC7}"/>
              </a:ext>
            </a:extLst>
          </p:cNvPr>
          <p:cNvSpPr>
            <a:spLocks noGrp="1"/>
          </p:cNvSpPr>
          <p:nvPr/>
        </p:nvSpPr>
        <p:spPr>
          <a:xfrm>
            <a:off x="787400" y="2946400"/>
            <a:ext cx="508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400" b="1" dirty="0">
                <a:solidFill>
                  <a:srgbClr val="B91C1C"/>
                </a:solidFill>
                <a:latin typeface="Arial"/>
                <a:ea typeface="Arial"/>
                <a:cs typeface="Arial"/>
              </a:rPr>
              <a:t>Mezclar v2 y v3</a:t>
            </a:r>
          </a:p>
        </p:txBody>
      </p:sp>
      <p:sp>
        <p:nvSpPr>
          <p:cNvPr id="410" name="TB410">
            <a:extLst>
              <a:ext uri="{FF2B5EF4-FFF2-40B4-BE49-F238E27FC236}">
                <a16:creationId xmlns:a16="http://schemas.microsoft.com/office/drawing/2014/main" id="{ED79E4FB-802E-4176-92C6-696CD1C89056}"/>
              </a:ext>
            </a:extLst>
          </p:cNvPr>
          <p:cNvSpPr>
            <a:spLocks noGrp="1"/>
          </p:cNvSpPr>
          <p:nvPr/>
        </p:nvSpPr>
        <p:spPr>
          <a:xfrm>
            <a:off x="7747000" y="2946400"/>
            <a:ext cx="37084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4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Declarar producto, versión y DOI</a:t>
            </a:r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5367A6AC-2044-47A3-8D27-6B1A4773C68C}"/>
              </a:ext>
            </a:extLst>
          </p:cNvPr>
          <p:cNvSpPr>
            <a:spLocks noGrp="1"/>
          </p:cNvSpPr>
          <p:nvPr/>
        </p:nvSpPr>
        <p:spPr>
          <a:xfrm>
            <a:off x="596900" y="3556000"/>
            <a:ext cx="10922000" cy="5842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pPr algn="just"/>
            <a:endParaRPr sz="1500"/>
          </a:p>
        </p:txBody>
      </p:sp>
      <p:sp>
        <p:nvSpPr>
          <p:cNvPr id="413" name="SH413">
            <a:extLst>
              <a:ext uri="{FF2B5EF4-FFF2-40B4-BE49-F238E27FC236}">
                <a16:creationId xmlns:a16="http://schemas.microsoft.com/office/drawing/2014/main" id="{1922F925-43B0-4616-AC41-400DF863D710}"/>
              </a:ext>
            </a:extLst>
          </p:cNvPr>
          <p:cNvSpPr>
            <a:spLocks noGrp="1"/>
          </p:cNvSpPr>
          <p:nvPr/>
        </p:nvSpPr>
        <p:spPr>
          <a:xfrm>
            <a:off x="596900" y="3556000"/>
            <a:ext cx="50800" cy="584200"/>
          </a:xfrm>
          <a:prstGeom prst="rect">
            <a:avLst/>
          </a:prstGeom>
          <a:solidFill>
            <a:srgbClr val="B4553C"/>
          </a:solidFill>
        </p:spPr>
        <p:txBody>
          <a:bodyPr/>
          <a:lstStyle/>
          <a:p>
            <a:endParaRPr sz="1500"/>
          </a:p>
        </p:txBody>
      </p:sp>
      <p:sp>
        <p:nvSpPr>
          <p:cNvPr id="414" name="TB414">
            <a:extLst>
              <a:ext uri="{FF2B5EF4-FFF2-40B4-BE49-F238E27FC236}">
                <a16:creationId xmlns:a16="http://schemas.microsoft.com/office/drawing/2014/main" id="{2CC819EA-F088-4021-A664-634C36D16A8B}"/>
              </a:ext>
            </a:extLst>
          </p:cNvPr>
          <p:cNvSpPr>
            <a:spLocks noGrp="1"/>
          </p:cNvSpPr>
          <p:nvPr/>
        </p:nvSpPr>
        <p:spPr>
          <a:xfrm>
            <a:off x="787400" y="3606800"/>
            <a:ext cx="508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400" b="1" dirty="0">
                <a:solidFill>
                  <a:srgbClr val="B91C1C"/>
                </a:solidFill>
                <a:latin typeface="Arial"/>
                <a:ea typeface="Arial"/>
                <a:cs typeface="Arial"/>
              </a:rPr>
              <a:t>Entrenar fuera de bosque</a:t>
            </a:r>
          </a:p>
        </p:txBody>
      </p:sp>
      <p:sp>
        <p:nvSpPr>
          <p:cNvPr id="415" name="TB415">
            <a:extLst>
              <a:ext uri="{FF2B5EF4-FFF2-40B4-BE49-F238E27FC236}">
                <a16:creationId xmlns:a16="http://schemas.microsoft.com/office/drawing/2014/main" id="{EE20D644-4E68-417C-A90B-58AC2D679345}"/>
              </a:ext>
            </a:extLst>
          </p:cNvPr>
          <p:cNvSpPr>
            <a:spLocks noGrp="1"/>
          </p:cNvSpPr>
          <p:nvPr/>
        </p:nvSpPr>
        <p:spPr>
          <a:xfrm>
            <a:off x="7747000" y="3606800"/>
            <a:ext cx="37084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4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Recortar con máscara validada</a:t>
            </a:r>
          </a:p>
        </p:txBody>
      </p:sp>
      <p:sp>
        <p:nvSpPr>
          <p:cNvPr id="417" name="SH417">
            <a:extLst>
              <a:ext uri="{FF2B5EF4-FFF2-40B4-BE49-F238E27FC236}">
                <a16:creationId xmlns:a16="http://schemas.microsoft.com/office/drawing/2014/main" id="{3259E2F7-8A5A-46F7-98EE-412E80C56854}"/>
              </a:ext>
            </a:extLst>
          </p:cNvPr>
          <p:cNvSpPr>
            <a:spLocks noGrp="1"/>
          </p:cNvSpPr>
          <p:nvPr/>
        </p:nvSpPr>
        <p:spPr>
          <a:xfrm>
            <a:off x="596900" y="4216400"/>
            <a:ext cx="10922000" cy="5842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pPr algn="just"/>
            <a:endParaRPr sz="1500"/>
          </a:p>
        </p:txBody>
      </p:sp>
      <p:sp>
        <p:nvSpPr>
          <p:cNvPr id="418" name="SH418">
            <a:extLst>
              <a:ext uri="{FF2B5EF4-FFF2-40B4-BE49-F238E27FC236}">
                <a16:creationId xmlns:a16="http://schemas.microsoft.com/office/drawing/2014/main" id="{C3E35FFF-9667-41AF-9AF4-7AA9A09721B3}"/>
              </a:ext>
            </a:extLst>
          </p:cNvPr>
          <p:cNvSpPr>
            <a:spLocks noGrp="1"/>
          </p:cNvSpPr>
          <p:nvPr/>
        </p:nvSpPr>
        <p:spPr>
          <a:xfrm>
            <a:off x="596900" y="4216400"/>
            <a:ext cx="50800" cy="584200"/>
          </a:xfrm>
          <a:prstGeom prst="rect">
            <a:avLst/>
          </a:prstGeom>
          <a:solidFill>
            <a:srgbClr val="B4553C"/>
          </a:solidFill>
        </p:spPr>
        <p:txBody>
          <a:bodyPr/>
          <a:lstStyle/>
          <a:p>
            <a:endParaRPr sz="1500"/>
          </a:p>
        </p:txBody>
      </p:sp>
      <p:sp>
        <p:nvSpPr>
          <p:cNvPr id="419" name="TB419">
            <a:extLst>
              <a:ext uri="{FF2B5EF4-FFF2-40B4-BE49-F238E27FC236}">
                <a16:creationId xmlns:a16="http://schemas.microsoft.com/office/drawing/2014/main" id="{43D5CEEF-09C9-478F-9D2E-FEEDAB313BA0}"/>
              </a:ext>
            </a:extLst>
          </p:cNvPr>
          <p:cNvSpPr>
            <a:spLocks noGrp="1"/>
          </p:cNvSpPr>
          <p:nvPr/>
        </p:nvSpPr>
        <p:spPr>
          <a:xfrm>
            <a:off x="787400" y="4267200"/>
            <a:ext cx="508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400" b="1" dirty="0">
                <a:solidFill>
                  <a:srgbClr val="B91C1C"/>
                </a:solidFill>
                <a:latin typeface="Arial"/>
                <a:ea typeface="Arial"/>
                <a:cs typeface="Arial"/>
              </a:rPr>
              <a:t>Validación cruzada aleatoria</a:t>
            </a:r>
          </a:p>
        </p:txBody>
      </p:sp>
      <p:sp>
        <p:nvSpPr>
          <p:cNvPr id="420" name="TB420">
            <a:extLst>
              <a:ext uri="{FF2B5EF4-FFF2-40B4-BE49-F238E27FC236}">
                <a16:creationId xmlns:a16="http://schemas.microsoft.com/office/drawing/2014/main" id="{9685EBE6-EDF4-45A2-97F1-F211CF29BED5}"/>
              </a:ext>
            </a:extLst>
          </p:cNvPr>
          <p:cNvSpPr>
            <a:spLocks noGrp="1"/>
          </p:cNvSpPr>
          <p:nvPr/>
        </p:nvSpPr>
        <p:spPr>
          <a:xfrm>
            <a:off x="7747000" y="4267200"/>
            <a:ext cx="37084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4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Usar particiones espaciales por bloques</a:t>
            </a:r>
          </a:p>
        </p:txBody>
      </p:sp>
      <p:sp>
        <p:nvSpPr>
          <p:cNvPr id="422" name="SH422">
            <a:extLst>
              <a:ext uri="{FF2B5EF4-FFF2-40B4-BE49-F238E27FC236}">
                <a16:creationId xmlns:a16="http://schemas.microsoft.com/office/drawing/2014/main" id="{100F2665-2D51-4AC1-8CA4-0BB4AEFF1882}"/>
              </a:ext>
            </a:extLst>
          </p:cNvPr>
          <p:cNvSpPr>
            <a:spLocks noGrp="1"/>
          </p:cNvSpPr>
          <p:nvPr/>
        </p:nvSpPr>
        <p:spPr>
          <a:xfrm>
            <a:off x="596900" y="4876800"/>
            <a:ext cx="10922000" cy="584200"/>
          </a:xfrm>
          <a:prstGeom prst="rect">
            <a:avLst/>
          </a:prstGeom>
          <a:solidFill>
            <a:srgbClr val="F4F7F5"/>
          </a:solidFill>
          <a:ln w="12700">
            <a:solidFill>
              <a:srgbClr val="C8D2CC"/>
            </a:solidFill>
          </a:ln>
        </p:spPr>
        <p:txBody>
          <a:bodyPr/>
          <a:lstStyle/>
          <a:p>
            <a:pPr algn="just"/>
            <a:endParaRPr sz="1500"/>
          </a:p>
        </p:txBody>
      </p:sp>
      <p:sp>
        <p:nvSpPr>
          <p:cNvPr id="423" name="SH423">
            <a:extLst>
              <a:ext uri="{FF2B5EF4-FFF2-40B4-BE49-F238E27FC236}">
                <a16:creationId xmlns:a16="http://schemas.microsoft.com/office/drawing/2014/main" id="{F606E4EB-5559-4FAF-A00E-9DFFDDE36DF5}"/>
              </a:ext>
            </a:extLst>
          </p:cNvPr>
          <p:cNvSpPr>
            <a:spLocks noGrp="1"/>
          </p:cNvSpPr>
          <p:nvPr/>
        </p:nvSpPr>
        <p:spPr>
          <a:xfrm>
            <a:off x="596900" y="4876800"/>
            <a:ext cx="50800" cy="584200"/>
          </a:xfrm>
          <a:prstGeom prst="rect">
            <a:avLst/>
          </a:prstGeom>
          <a:solidFill>
            <a:srgbClr val="B4553C"/>
          </a:solidFill>
        </p:spPr>
        <p:txBody>
          <a:bodyPr/>
          <a:lstStyle/>
          <a:p>
            <a:endParaRPr sz="1500"/>
          </a:p>
        </p:txBody>
      </p:sp>
      <p:sp>
        <p:nvSpPr>
          <p:cNvPr id="424" name="TB424">
            <a:extLst>
              <a:ext uri="{FF2B5EF4-FFF2-40B4-BE49-F238E27FC236}">
                <a16:creationId xmlns:a16="http://schemas.microsoft.com/office/drawing/2014/main" id="{496F704B-F06B-408E-96EF-EBAD69C00CCD}"/>
              </a:ext>
            </a:extLst>
          </p:cNvPr>
          <p:cNvSpPr>
            <a:spLocks noGrp="1"/>
          </p:cNvSpPr>
          <p:nvPr/>
        </p:nvSpPr>
        <p:spPr>
          <a:xfrm>
            <a:off x="787400" y="4927600"/>
            <a:ext cx="50800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400" b="1" dirty="0">
                <a:solidFill>
                  <a:srgbClr val="B91C1C"/>
                </a:solidFill>
                <a:latin typeface="Arial"/>
                <a:ea typeface="Arial"/>
                <a:cs typeface="Arial"/>
              </a:rPr>
              <a:t>Ocultar la incertidumbre</a:t>
            </a:r>
          </a:p>
        </p:txBody>
      </p:sp>
      <p:sp>
        <p:nvSpPr>
          <p:cNvPr id="425" name="TB425">
            <a:extLst>
              <a:ext uri="{FF2B5EF4-FFF2-40B4-BE49-F238E27FC236}">
                <a16:creationId xmlns:a16="http://schemas.microsoft.com/office/drawing/2014/main" id="{C80E22EC-E6BF-4EBC-9E7C-F6A8D47BC56A}"/>
              </a:ext>
            </a:extLst>
          </p:cNvPr>
          <p:cNvSpPr>
            <a:spLocks noGrp="1"/>
          </p:cNvSpPr>
          <p:nvPr/>
        </p:nvSpPr>
        <p:spPr>
          <a:xfrm>
            <a:off x="7747000" y="4927600"/>
            <a:ext cx="3708400" cy="2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4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Publicar el intervalo por unidad</a:t>
            </a:r>
          </a:p>
        </p:txBody>
      </p:sp>
      <p:sp>
        <p:nvSpPr>
          <p:cNvPr id="427" name="Rectángulo 426">
            <a:extLst>
              <a:ext uri="{FF2B5EF4-FFF2-40B4-BE49-F238E27FC236}">
                <a16:creationId xmlns:a16="http://schemas.microsoft.com/office/drawing/2014/main" id="{D7466A5C-8DAE-4075-A84C-589E17C77FAB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72/79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0" name="PorQue0"/>
          <p:cNvSpPr txBox="1"/>
          <p:nvPr/>
        </p:nvSpPr>
        <p:spPr>
          <a:xfrm>
            <a:off x="3632200" y="22860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Los retornos degradados y de baja sensibilidad dominan el ajuste.</a:t>
            </a:r>
          </a:p>
        </p:txBody>
      </p:sp>
      <p:sp>
        <p:nvSpPr>
          <p:cNvPr id="701" name="PorQue1"/>
          <p:cNvSpPr txBox="1"/>
          <p:nvPr/>
        </p:nvSpPr>
        <p:spPr>
          <a:xfrm>
            <a:off x="3632200" y="29464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Cambian geolocalización y modelos: las series dejan de ser comparables.</a:t>
            </a:r>
          </a:p>
        </p:txBody>
      </p:sp>
      <p:sp>
        <p:nvSpPr>
          <p:cNvPr id="702" name="PorQue2"/>
          <p:cNvSpPr txBox="1"/>
          <p:nvPr/>
        </p:nvSpPr>
        <p:spPr>
          <a:xfrm>
            <a:off x="3632200" y="36068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El modelo aprende relaciones de clases ajenas al objetivo.</a:t>
            </a:r>
          </a:p>
        </p:txBody>
      </p:sp>
      <p:sp>
        <p:nvSpPr>
          <p:cNvPr id="703" name="PorQue3"/>
          <p:cNvSpPr txBox="1"/>
          <p:nvPr/>
        </p:nvSpPr>
        <p:spPr>
          <a:xfrm>
            <a:off x="3632200" y="42672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La autocorrelación espacial infla el desempeño aparente.</a:t>
            </a:r>
          </a:p>
        </p:txBody>
      </p:sp>
      <p:sp>
        <p:nvSpPr>
          <p:cNvPr id="704" name="PorQue4"/>
          <p:cNvSpPr txBox="1"/>
          <p:nvPr/>
        </p:nvSpPr>
        <p:spPr>
          <a:xfrm>
            <a:off x="3632200" y="49276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E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Una cifra sin intervalo no permite decidir ni comparar.</a:t>
            </a:r>
          </a:p>
        </p:txBody>
      </p:sp>
      <p:sp>
        <p:nvSpPr>
          <p:cNvPr id="995" name="EncError"/>
          <p:cNvSpPr txBox="1"/>
          <p:nvPr/>
        </p:nvSpPr>
        <p:spPr>
          <a:xfrm>
            <a:off x="787400" y="19050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400" b="1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Error frecuente</a:t>
            </a:r>
          </a:p>
        </p:txBody>
      </p:sp>
      <p:sp>
        <p:nvSpPr>
          <p:cNvPr id="997" name="EncPorque"/>
          <p:cNvSpPr txBox="1"/>
          <p:nvPr/>
        </p:nvSpPr>
        <p:spPr>
          <a:xfrm>
            <a:off x="3632200" y="1905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400" b="1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Por qué invalida el resultado</a:t>
            </a:r>
          </a:p>
        </p:txBody>
      </p:sp>
      <p:sp>
        <p:nvSpPr>
          <p:cNvPr id="996" name="EncCorr"/>
          <p:cNvSpPr txBox="1"/>
          <p:nvPr/>
        </p:nvSpPr>
        <p:spPr>
          <a:xfrm>
            <a:off x="7747000" y="1905000"/>
            <a:ext cx="3708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s-ES" sz="1400" b="1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Corrección</a:t>
            </a:r>
          </a:p>
        </p:txBody>
      </p:sp>
    </p:spTree>
    <p:extLst>
      <p:ext uri="{BB962C8B-B14F-4D97-AF65-F5344CB8AC3E}">
        <p14:creationId xmlns:p14="http://schemas.microsoft.com/office/powerpoint/2010/main" val="16804150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95BE58-E90F-4FDE-BB6D-F6A190487806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Rúbrica operativa de la entrega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1913A1-0722-428B-B345-7363EEC58523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Verificación final previa al cierre de la muestra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650CBB1-BF50-4B1A-A7F7-97A700F9CF23}"/>
              </a:ext>
            </a:extLst>
          </p:cNvPr>
          <p:cNvSpPr>
            <a:spLocks noGrp="1"/>
          </p:cNvSpPr>
          <p:nvPr/>
        </p:nvSpPr>
        <p:spPr>
          <a:xfrm>
            <a:off x="600075" y="5708883"/>
            <a:ext cx="10915650" cy="42524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GEDI Data Resources; LP DAAC Quick Guide; Earthdata Cloud Cookbook. CIEFAP/SNMBN Bosque Andino Patagónico; Argentina Ambiente Mapas de Bosque Nativo; Chubut OTBN.</a:t>
            </a:r>
            <a:endParaRPr lang="es-ES" sz="14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13EAB28-DA1B-4666-81E7-F8F449C313FA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73/79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DFB430E-BFA1-41B3-B369-09F35D1E1192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EE2E9DA-2A4D-4375-94D4-3F5C503915A2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07" name="TB407">
            <a:extLst>
              <a:ext uri="{FF2B5EF4-FFF2-40B4-BE49-F238E27FC236}">
                <a16:creationId xmlns:a16="http://schemas.microsoft.com/office/drawing/2014/main" id="{F31802D6-CABD-45F4-8D09-71DA6987D432}"/>
              </a:ext>
            </a:extLst>
          </p:cNvPr>
          <p:cNvSpPr>
            <a:spLocks noGrp="1"/>
          </p:cNvSpPr>
          <p:nvPr/>
        </p:nvSpPr>
        <p:spPr>
          <a:xfrm>
            <a:off x="6761486" y="2710441"/>
            <a:ext cx="2268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Descarga trazable</a:t>
            </a:r>
          </a:p>
        </p:txBody>
      </p:sp>
      <p:sp>
        <p:nvSpPr>
          <p:cNvPr id="410" name="TB410">
            <a:extLst>
              <a:ext uri="{FF2B5EF4-FFF2-40B4-BE49-F238E27FC236}">
                <a16:creationId xmlns:a16="http://schemas.microsoft.com/office/drawing/2014/main" id="{AA4A6965-9CA7-4620-87E8-B8F33FEA037F}"/>
              </a:ext>
            </a:extLst>
          </p:cNvPr>
          <p:cNvSpPr>
            <a:spLocks noGrp="1"/>
          </p:cNvSpPr>
          <p:nvPr/>
        </p:nvSpPr>
        <p:spPr>
          <a:xfrm>
            <a:off x="6761486" y="3350441"/>
            <a:ext cx="2268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Filtros auditados</a:t>
            </a:r>
          </a:p>
        </p:txBody>
      </p:sp>
      <p:sp>
        <p:nvSpPr>
          <p:cNvPr id="413" name="TB413">
            <a:extLst>
              <a:ext uri="{FF2B5EF4-FFF2-40B4-BE49-F238E27FC236}">
                <a16:creationId xmlns:a16="http://schemas.microsoft.com/office/drawing/2014/main" id="{3A480B51-41BB-4664-965C-83D4245F274E}"/>
              </a:ext>
            </a:extLst>
          </p:cNvPr>
          <p:cNvSpPr>
            <a:spLocks noGrp="1"/>
          </p:cNvSpPr>
          <p:nvPr/>
        </p:nvSpPr>
        <p:spPr>
          <a:xfrm>
            <a:off x="6761486" y="3990441"/>
            <a:ext cx="2268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Tabla final</a:t>
            </a:r>
          </a:p>
        </p:txBody>
      </p:sp>
      <p:sp>
        <p:nvSpPr>
          <p:cNvPr id="416" name="TB416">
            <a:extLst>
              <a:ext uri="{FF2B5EF4-FFF2-40B4-BE49-F238E27FC236}">
                <a16:creationId xmlns:a16="http://schemas.microsoft.com/office/drawing/2014/main" id="{495E958A-0283-4BC7-9328-15464AE2F880}"/>
              </a:ext>
            </a:extLst>
          </p:cNvPr>
          <p:cNvSpPr>
            <a:spLocks noGrp="1"/>
          </p:cNvSpPr>
          <p:nvPr/>
        </p:nvSpPr>
        <p:spPr>
          <a:xfrm>
            <a:off x="6761486" y="4630441"/>
            <a:ext cx="2268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README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1237076E-A460-46FE-979F-68FE66B893ED}"/>
              </a:ext>
            </a:extLst>
          </p:cNvPr>
          <p:cNvSpPr>
            <a:spLocks noGrp="1"/>
          </p:cNvSpPr>
          <p:nvPr/>
        </p:nvSpPr>
        <p:spPr>
          <a:xfrm>
            <a:off x="6159500" y="1193800"/>
            <a:ext cx="1836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Verificación final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562C5117-F821-41A2-832E-4F559296B1FB}"/>
              </a:ext>
            </a:extLst>
          </p:cNvPr>
          <p:cNvSpPr>
            <a:spLocks noGrp="1"/>
          </p:cNvSpPr>
          <p:nvPr/>
        </p:nvSpPr>
        <p:spPr>
          <a:xfrm>
            <a:off x="6159500" y="1563800"/>
            <a:ext cx="4140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i="0">
                <a:latin typeface="Arial"/>
                <a:ea typeface="Arial"/>
                <a:cs typeface="Arial"/>
              </a:rPr>
              <a:t>Cinco criterios mínimos: cada uno debe quedar documentado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5426CC8E-800F-4364-B509-9D5D568AC68A}"/>
              </a:ext>
            </a:extLst>
          </p:cNvPr>
          <p:cNvSpPr>
            <a:spLocks noGrp="1"/>
          </p:cNvSpPr>
          <p:nvPr/>
        </p:nvSpPr>
        <p:spPr>
          <a:xfrm>
            <a:off x="6426799" y="2213800"/>
            <a:ext cx="25400" cy="2560000"/>
          </a:xfrm>
          <a:prstGeom prst="rect">
            <a:avLst/>
          </a:prstGeom>
          <a:solidFill>
            <a:srgbClr val="C8D2CC"/>
          </a:solidFill>
        </p:spPr>
        <p:txBody>
          <a:bodyPr/>
          <a:lstStyle/>
          <a:p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EA9A46A4-2A37-41EA-BCCD-A7AF783F6CDA}"/>
              </a:ext>
            </a:extLst>
          </p:cNvPr>
          <p:cNvSpPr>
            <a:spLocks noGrp="1"/>
          </p:cNvSpPr>
          <p:nvPr/>
        </p:nvSpPr>
        <p:spPr>
          <a:xfrm>
            <a:off x="6264499" y="2038800"/>
            <a:ext cx="350000" cy="35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04" name="TB404">
            <a:extLst>
              <a:ext uri="{FF2B5EF4-FFF2-40B4-BE49-F238E27FC236}">
                <a16:creationId xmlns:a16="http://schemas.microsoft.com/office/drawing/2014/main" id="{4648D15A-3AE6-4EE7-AF7E-09AA6453E209}"/>
              </a:ext>
            </a:extLst>
          </p:cNvPr>
          <p:cNvSpPr>
            <a:spLocks noGrp="1"/>
          </p:cNvSpPr>
          <p:nvPr/>
        </p:nvSpPr>
        <p:spPr>
          <a:xfrm>
            <a:off x="6779499" y="2093800"/>
            <a:ext cx="1188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AOI validado</a:t>
            </a:r>
          </a:p>
        </p:txBody>
      </p:sp>
      <p:sp>
        <p:nvSpPr>
          <p:cNvPr id="405" name="TB405">
            <a:extLst>
              <a:ext uri="{FF2B5EF4-FFF2-40B4-BE49-F238E27FC236}">
                <a16:creationId xmlns:a16="http://schemas.microsoft.com/office/drawing/2014/main" id="{7A148E51-211C-4639-863A-99550771C6E3}"/>
              </a:ext>
            </a:extLst>
          </p:cNvPr>
          <p:cNvSpPr>
            <a:spLocks noGrp="1"/>
          </p:cNvSpPr>
          <p:nvPr/>
        </p:nvSpPr>
        <p:spPr>
          <a:xfrm>
            <a:off x="6779499" y="2383800"/>
            <a:ext cx="234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polígono y máscara citados</a:t>
            </a:r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B39F24F7-F91B-489D-BA76-D34E80BAA376}"/>
              </a:ext>
            </a:extLst>
          </p:cNvPr>
          <p:cNvSpPr>
            <a:spLocks noGrp="1"/>
          </p:cNvSpPr>
          <p:nvPr/>
        </p:nvSpPr>
        <p:spPr>
          <a:xfrm>
            <a:off x="6264499" y="2678800"/>
            <a:ext cx="350000" cy="35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08" name="TB408">
            <a:extLst>
              <a:ext uri="{FF2B5EF4-FFF2-40B4-BE49-F238E27FC236}">
                <a16:creationId xmlns:a16="http://schemas.microsoft.com/office/drawing/2014/main" id="{022B197D-CBA1-4A66-BA67-F9118ED795BC}"/>
              </a:ext>
            </a:extLst>
          </p:cNvPr>
          <p:cNvSpPr>
            <a:spLocks noGrp="1"/>
          </p:cNvSpPr>
          <p:nvPr/>
        </p:nvSpPr>
        <p:spPr>
          <a:xfrm>
            <a:off x="6779499" y="3023800"/>
            <a:ext cx="234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producto, versión y DOI</a:t>
            </a:r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2A32A579-FB19-44E6-AC28-8CD1AEF6E111}"/>
              </a:ext>
            </a:extLst>
          </p:cNvPr>
          <p:cNvSpPr>
            <a:spLocks noGrp="1"/>
          </p:cNvSpPr>
          <p:nvPr/>
        </p:nvSpPr>
        <p:spPr>
          <a:xfrm>
            <a:off x="6264499" y="3318800"/>
            <a:ext cx="350000" cy="35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11" name="TB411">
            <a:extLst>
              <a:ext uri="{FF2B5EF4-FFF2-40B4-BE49-F238E27FC236}">
                <a16:creationId xmlns:a16="http://schemas.microsoft.com/office/drawing/2014/main" id="{1EC2C55B-C50A-4E84-B67B-4DAB60612769}"/>
              </a:ext>
            </a:extLst>
          </p:cNvPr>
          <p:cNvSpPr>
            <a:spLocks noGrp="1"/>
          </p:cNvSpPr>
          <p:nvPr/>
        </p:nvSpPr>
        <p:spPr>
          <a:xfrm>
            <a:off x="6779499" y="3663800"/>
            <a:ext cx="234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umbrales documentados</a:t>
            </a:r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B20FC0FC-6B0E-4854-BA06-90329EB839D6}"/>
              </a:ext>
            </a:extLst>
          </p:cNvPr>
          <p:cNvSpPr>
            <a:spLocks noGrp="1"/>
          </p:cNvSpPr>
          <p:nvPr/>
        </p:nvSpPr>
        <p:spPr>
          <a:xfrm>
            <a:off x="6264499" y="3958800"/>
            <a:ext cx="350000" cy="35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14" name="TB414">
            <a:extLst>
              <a:ext uri="{FF2B5EF4-FFF2-40B4-BE49-F238E27FC236}">
                <a16:creationId xmlns:a16="http://schemas.microsoft.com/office/drawing/2014/main" id="{A2E5CCB2-5505-489B-A128-0282F6983203}"/>
              </a:ext>
            </a:extLst>
          </p:cNvPr>
          <p:cNvSpPr>
            <a:spLocks noGrp="1"/>
          </p:cNvSpPr>
          <p:nvPr/>
        </p:nvSpPr>
        <p:spPr>
          <a:xfrm>
            <a:off x="6779499" y="4303800"/>
            <a:ext cx="234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shot_id y covariables</a:t>
            </a:r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2DB07D44-E66D-467F-9C23-D8454EF464C6}"/>
              </a:ext>
            </a:extLst>
          </p:cNvPr>
          <p:cNvSpPr>
            <a:spLocks noGrp="1"/>
          </p:cNvSpPr>
          <p:nvPr/>
        </p:nvSpPr>
        <p:spPr>
          <a:xfrm>
            <a:off x="6264499" y="4598800"/>
            <a:ext cx="350000" cy="35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A1CCB800-30B0-428F-AB61-D5BF068A03FF}"/>
              </a:ext>
            </a:extLst>
          </p:cNvPr>
          <p:cNvSpPr>
            <a:spLocks noGrp="1"/>
          </p:cNvSpPr>
          <p:nvPr/>
        </p:nvSpPr>
        <p:spPr>
          <a:xfrm>
            <a:off x="6779499" y="4943800"/>
            <a:ext cx="234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cómo reproducir el resultado</a:t>
            </a:r>
          </a:p>
        </p:txBody>
      </p:sp>
      <p:sp>
        <p:nvSpPr>
          <p:cNvPr id="419" name="Rectángulo 418">
            <a:extLst>
              <a:ext uri="{FF2B5EF4-FFF2-40B4-BE49-F238E27FC236}">
                <a16:creationId xmlns:a16="http://schemas.microsoft.com/office/drawing/2014/main" id="{E5076AF3-5B02-4BF8-8512-E7D94DA26DD9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73/79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8" name="PanelIzq"/>
          <p:cNvSpPr txBox="1"/>
          <p:nvPr/>
        </p:nvSpPr>
        <p:spPr>
          <a:xfrm>
            <a:off x="596900" y="1193800"/>
            <a:ext cx="5080000" cy="43688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Qué es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Una rúbrica de cierre: cinco comprobaciones mínimas antes de entregar la muestra.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Cómo se aplica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Cada criterio se acredita con evidencia concreta, no con una afirmación.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Regla de aprobación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 un punto falla, la muestra no se cierra ni se publica.</a:t>
            </a:r>
          </a:p>
          <a:p>
            <a:pPr marL="0" indent="0" algn="l">
              <a:lnSpc>
                <a:spcPct val="100000"/>
              </a:lnSpc>
              <a:spcBef>
                <a:spcPts val="11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Para qué sirve</a:t>
            </a:r>
          </a:p>
          <a:p>
            <a:pPr marL="0" indent="0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Permite auditar y reproducir el trabajo meses o años después.</a:t>
            </a:r>
          </a:p>
        </p:txBody>
      </p:sp>
    </p:spTree>
    <p:extLst>
      <p:ext uri="{BB962C8B-B14F-4D97-AF65-F5344CB8AC3E}">
        <p14:creationId xmlns:p14="http://schemas.microsoft.com/office/powerpoint/2010/main" val="1221850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AC3EC0-AE11-42F9-B497-925D6BD434CC}"/>
              </a:ext>
            </a:extLst>
          </p:cNvPr>
          <p:cNvSpPr>
            <a:spLocks noGrp="1"/>
          </p:cNvSpPr>
          <p:nvPr/>
        </p:nvSpPr>
        <p:spPr>
          <a:xfrm>
            <a:off x="502920" y="201168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Desafío integrador: construir una muestra GEDI auditable</a:t>
            </a:r>
            <a:endParaRPr sz="2600" b="1">
              <a:solidFill>
                <a:srgbClr val="1B4332"/>
              </a:solidFill>
              <a:latin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94810B-8810-4553-A9A3-18AC0F947F79}"/>
              </a:ext>
            </a:extLst>
          </p:cNvPr>
          <p:cNvSpPr>
            <a:spLocks noGrp="1"/>
          </p:cNvSpPr>
          <p:nvPr/>
        </p:nvSpPr>
        <p:spPr>
          <a:xfrm>
            <a:off x="502920" y="59436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Producto final y criterios de aprobación</a:t>
            </a:r>
            <a:endParaRPr sz="2000" b="1" i="1">
              <a:solidFill>
                <a:srgbClr val="374151"/>
              </a:solidFill>
              <a:latin typeface="Arial"/>
              <a:cs typeface="Arial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7ACD82C-1F8E-437D-9C0D-60D05E5C8C53}"/>
              </a:ext>
            </a:extLst>
          </p:cNvPr>
          <p:cNvSpPr>
            <a:spLocks noGrp="1"/>
          </p:cNvSpPr>
          <p:nvPr/>
        </p:nvSpPr>
        <p:spPr>
          <a:xfrm>
            <a:off x="600075" y="5791200"/>
            <a:ext cx="10915650" cy="4659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 sz="1400" b="0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Fuente:</a:t>
            </a:r>
            <a:r>
              <a:rPr lang="es-ES" sz="14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 NASA GEDI Data Resources; LP DAAC Quick Guide; Earthdata Cloud Cookbook. NASA Earthdata GEDI v3 release; ORNL DAAC GEDI L4A v3, DOI 10.3334/ORNLDAAC/2508. Duncanson et al. (2022); Kellner et al. (2023); Duncanson et al. (2019); Subedi y Zurqani (2026).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0337750-FFBA-4095-B570-2CE8927DAE4F}"/>
              </a:ext>
            </a:extLst>
          </p:cNvPr>
          <p:cNvSpPr>
            <a:spLocks noGrp="1"/>
          </p:cNvSpPr>
          <p:nvPr/>
        </p:nvSpPr>
        <p:spPr>
          <a:xfrm>
            <a:off x="11161183" y="6428373"/>
            <a:ext cx="3831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74/79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B92F4F1-A115-4EB1-9994-80D7567F651E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60E691C-60BC-4F5B-BA4C-927FE9E2193A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15820E-93C0-40AD-A9D2-BF2F83291C30}"/>
              </a:ext>
            </a:extLst>
          </p:cNvPr>
          <p:cNvSpPr>
            <a:spLocks noGrp="1"/>
          </p:cNvSpPr>
          <p:nvPr/>
        </p:nvSpPr>
        <p:spPr>
          <a:xfrm>
            <a:off x="596900" y="1168400"/>
            <a:ext cx="5080000" cy="44704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wrap="square" lIns="228600" tIns="152400" rIns="228600" bIns="15240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Declarar</a:t>
            </a:r>
          </a:p>
          <a:p>
            <a:pPr marL="0" indent="0" algn="just">
              <a:lnSpc>
                <a:spcPct val="150000"/>
              </a:lnSpc>
              <a:spcBef>
                <a:spcPts val="2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AOI, población objetivo, producto, versión y DOI.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Entregar</a:t>
            </a:r>
          </a:p>
          <a:p>
            <a:pPr marL="0" indent="0" algn="just">
              <a:lnSpc>
                <a:spcPct val="150000"/>
              </a:lnSpc>
              <a:spcBef>
                <a:spcPts val="2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 script reproducible con entorno y salida esperada.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Registrar</a:t>
            </a:r>
          </a:p>
          <a:p>
            <a:pPr marL="0" indent="0" algn="just">
              <a:lnSpc>
                <a:spcPct val="150000"/>
              </a:lnSpc>
              <a:spcBef>
                <a:spcPts val="2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Conteos antes y después de cada filtro v3.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Validar</a:t>
            </a:r>
          </a:p>
          <a:p>
            <a:pPr marL="0" indent="0" algn="just">
              <a:lnSpc>
                <a:spcPct val="150000"/>
              </a:lnSpc>
              <a:spcBef>
                <a:spcPts val="2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 datos espacialmente independientes del ajuste.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s-ES" sz="15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Informar</a:t>
            </a:r>
          </a:p>
          <a:p>
            <a:pPr marL="0" indent="0" algn="just">
              <a:lnSpc>
                <a:spcPct val="150000"/>
              </a:lnSpc>
              <a:spcBef>
                <a:spcPts val="200"/>
              </a:spcBef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Error, sesgo, cobertura e incertidumbre por unidad.</a:t>
            </a:r>
          </a:p>
        </p:txBody>
      </p:sp>
      <p:sp>
        <p:nvSpPr>
          <p:cNvPr id="400" name="TB400">
            <a:extLst>
              <a:ext uri="{FF2B5EF4-FFF2-40B4-BE49-F238E27FC236}">
                <a16:creationId xmlns:a16="http://schemas.microsoft.com/office/drawing/2014/main" id="{B4D1DC44-4BFC-4F9A-9C59-8C36A1B22C1F}"/>
              </a:ext>
            </a:extLst>
          </p:cNvPr>
          <p:cNvSpPr>
            <a:spLocks noGrp="1"/>
          </p:cNvSpPr>
          <p:nvPr/>
        </p:nvSpPr>
        <p:spPr>
          <a:xfrm>
            <a:off x="6465301" y="1168200"/>
            <a:ext cx="1944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5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El ciclo operativo</a:t>
            </a:r>
          </a:p>
        </p:txBody>
      </p:sp>
      <p:sp>
        <p:nvSpPr>
          <p:cNvPr id="401" name="TB401">
            <a:extLst>
              <a:ext uri="{FF2B5EF4-FFF2-40B4-BE49-F238E27FC236}">
                <a16:creationId xmlns:a16="http://schemas.microsoft.com/office/drawing/2014/main" id="{43D10C78-9C2F-4CC4-A5CA-6BE7EE375D5E}"/>
              </a:ext>
            </a:extLst>
          </p:cNvPr>
          <p:cNvSpPr>
            <a:spLocks noGrp="1"/>
          </p:cNvSpPr>
          <p:nvPr/>
        </p:nvSpPr>
        <p:spPr>
          <a:xfrm>
            <a:off x="6465301" y="1538200"/>
            <a:ext cx="3240000" cy="2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De la descarga a la muestra modelable</a:t>
            </a:r>
          </a:p>
        </p:txBody>
      </p:sp>
      <p:sp>
        <p:nvSpPr>
          <p:cNvPr id="402" name="SH402">
            <a:extLst>
              <a:ext uri="{FF2B5EF4-FFF2-40B4-BE49-F238E27FC236}">
                <a16:creationId xmlns:a16="http://schemas.microsoft.com/office/drawing/2014/main" id="{0C36E61C-C4DC-4486-883C-73416BB2E57E}"/>
              </a:ext>
            </a:extLst>
          </p:cNvPr>
          <p:cNvSpPr>
            <a:spLocks noGrp="1"/>
          </p:cNvSpPr>
          <p:nvPr/>
        </p:nvSpPr>
        <p:spPr>
          <a:xfrm>
            <a:off x="8235301" y="2638200"/>
            <a:ext cx="1660000" cy="1660000"/>
          </a:xfrm>
          <a:prstGeom prst="ellipse">
            <a:avLst/>
          </a:prstGeom>
          <a:noFill/>
          <a:ln w="25400">
            <a:solidFill>
              <a:srgbClr val="C8D2CC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403" name="SH403">
            <a:extLst>
              <a:ext uri="{FF2B5EF4-FFF2-40B4-BE49-F238E27FC236}">
                <a16:creationId xmlns:a16="http://schemas.microsoft.com/office/drawing/2014/main" id="{1D162A5D-F56F-4419-B70C-79FA29123EEC}"/>
              </a:ext>
            </a:extLst>
          </p:cNvPr>
          <p:cNvSpPr>
            <a:spLocks noGrp="1"/>
          </p:cNvSpPr>
          <p:nvPr/>
        </p:nvSpPr>
        <p:spPr>
          <a:xfrm>
            <a:off x="8850301" y="2303200"/>
            <a:ext cx="430000" cy="43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4" name="TB404">
            <a:extLst>
              <a:ext uri="{FF2B5EF4-FFF2-40B4-BE49-F238E27FC236}">
                <a16:creationId xmlns:a16="http://schemas.microsoft.com/office/drawing/2014/main" id="{4A32F463-90B1-4777-B09F-5B8F8311013B}"/>
              </a:ext>
            </a:extLst>
          </p:cNvPr>
          <p:cNvSpPr>
            <a:spLocks noGrp="1"/>
          </p:cNvSpPr>
          <p:nvPr/>
        </p:nvSpPr>
        <p:spPr>
          <a:xfrm>
            <a:off x="8165301" y="1958200"/>
            <a:ext cx="1800000" cy="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descarga</a:t>
            </a:r>
          </a:p>
        </p:txBody>
      </p:sp>
      <p:sp>
        <p:nvSpPr>
          <p:cNvPr id="405" name="TB405">
            <a:extLst>
              <a:ext uri="{FF2B5EF4-FFF2-40B4-BE49-F238E27FC236}">
                <a16:creationId xmlns:a16="http://schemas.microsoft.com/office/drawing/2014/main" id="{B7070858-AD84-4F5B-B02F-7E66F126402A}"/>
              </a:ext>
            </a:extLst>
          </p:cNvPr>
          <p:cNvSpPr>
            <a:spLocks noGrp="1"/>
          </p:cNvSpPr>
          <p:nvPr/>
        </p:nvSpPr>
        <p:spPr>
          <a:xfrm>
            <a:off x="8944623" y="2218200"/>
            <a:ext cx="180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latin typeface="Arial"/>
                <a:ea typeface="Arial"/>
                <a:cs typeface="Arial"/>
              </a:rPr>
              <a:t>producto y versión</a:t>
            </a:r>
          </a:p>
        </p:txBody>
      </p:sp>
      <p:sp>
        <p:nvSpPr>
          <p:cNvPr id="406" name="SH406">
            <a:extLst>
              <a:ext uri="{FF2B5EF4-FFF2-40B4-BE49-F238E27FC236}">
                <a16:creationId xmlns:a16="http://schemas.microsoft.com/office/drawing/2014/main" id="{3EED765D-90B8-4B05-895B-48E571977991}"/>
              </a:ext>
            </a:extLst>
          </p:cNvPr>
          <p:cNvSpPr>
            <a:spLocks noGrp="1"/>
          </p:cNvSpPr>
          <p:nvPr/>
        </p:nvSpPr>
        <p:spPr>
          <a:xfrm>
            <a:off x="9753804" y="2959633"/>
            <a:ext cx="430000" cy="43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7" name="TB407">
            <a:extLst>
              <a:ext uri="{FF2B5EF4-FFF2-40B4-BE49-F238E27FC236}">
                <a16:creationId xmlns:a16="http://schemas.microsoft.com/office/drawing/2014/main" id="{536863C6-DAC2-4004-9F86-A0D4E37A532C}"/>
              </a:ext>
            </a:extLst>
          </p:cNvPr>
          <p:cNvSpPr>
            <a:spLocks noGrp="1"/>
          </p:cNvSpPr>
          <p:nvPr/>
        </p:nvSpPr>
        <p:spPr>
          <a:xfrm>
            <a:off x="9068804" y="2614633"/>
            <a:ext cx="1800000" cy="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lectura</a:t>
            </a:r>
          </a:p>
        </p:txBody>
      </p:sp>
      <p:sp>
        <p:nvSpPr>
          <p:cNvPr id="408" name="TB408">
            <a:extLst>
              <a:ext uri="{FF2B5EF4-FFF2-40B4-BE49-F238E27FC236}">
                <a16:creationId xmlns:a16="http://schemas.microsoft.com/office/drawing/2014/main" id="{1818051A-16B7-4517-8496-AAFE2E4E157E}"/>
              </a:ext>
            </a:extLst>
          </p:cNvPr>
          <p:cNvSpPr>
            <a:spLocks noGrp="1"/>
          </p:cNvSpPr>
          <p:nvPr/>
        </p:nvSpPr>
        <p:spPr>
          <a:xfrm>
            <a:off x="10066339" y="2874633"/>
            <a:ext cx="1116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HDF5 a tabla</a:t>
            </a:r>
          </a:p>
        </p:txBody>
      </p:sp>
      <p:sp>
        <p:nvSpPr>
          <p:cNvPr id="409" name="SH409">
            <a:extLst>
              <a:ext uri="{FF2B5EF4-FFF2-40B4-BE49-F238E27FC236}">
                <a16:creationId xmlns:a16="http://schemas.microsoft.com/office/drawing/2014/main" id="{91E8D90A-D848-449E-B9E5-E57995BF6F7A}"/>
              </a:ext>
            </a:extLst>
          </p:cNvPr>
          <p:cNvSpPr>
            <a:spLocks noGrp="1"/>
          </p:cNvSpPr>
          <p:nvPr/>
        </p:nvSpPr>
        <p:spPr>
          <a:xfrm>
            <a:off x="9408696" y="4021766"/>
            <a:ext cx="430000" cy="43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0" name="TB410">
            <a:extLst>
              <a:ext uri="{FF2B5EF4-FFF2-40B4-BE49-F238E27FC236}">
                <a16:creationId xmlns:a16="http://schemas.microsoft.com/office/drawing/2014/main" id="{816C2AC3-C224-4092-B4AE-B0B4C81CE19F}"/>
              </a:ext>
            </a:extLst>
          </p:cNvPr>
          <p:cNvSpPr>
            <a:spLocks noGrp="1"/>
          </p:cNvSpPr>
          <p:nvPr/>
        </p:nvSpPr>
        <p:spPr>
          <a:xfrm>
            <a:off x="8723696" y="4486766"/>
            <a:ext cx="1800000" cy="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filtros</a:t>
            </a:r>
          </a:p>
        </p:txBody>
      </p:sp>
      <p:sp>
        <p:nvSpPr>
          <p:cNvPr id="411" name="TB411">
            <a:extLst>
              <a:ext uri="{FF2B5EF4-FFF2-40B4-BE49-F238E27FC236}">
                <a16:creationId xmlns:a16="http://schemas.microsoft.com/office/drawing/2014/main" id="{E8FBAD45-2CD1-4A09-98CF-1FF92486FE71}"/>
              </a:ext>
            </a:extLst>
          </p:cNvPr>
          <p:cNvSpPr>
            <a:spLocks noGrp="1"/>
          </p:cNvSpPr>
          <p:nvPr/>
        </p:nvSpPr>
        <p:spPr>
          <a:xfrm>
            <a:off x="9222460" y="4746766"/>
            <a:ext cx="180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calidad y espacio</a:t>
            </a:r>
          </a:p>
        </p:txBody>
      </p:sp>
      <p:sp>
        <p:nvSpPr>
          <p:cNvPr id="412" name="SH412">
            <a:extLst>
              <a:ext uri="{FF2B5EF4-FFF2-40B4-BE49-F238E27FC236}">
                <a16:creationId xmlns:a16="http://schemas.microsoft.com/office/drawing/2014/main" id="{BF1EEF2D-A6B3-4610-B793-79678EAFF19C}"/>
              </a:ext>
            </a:extLst>
          </p:cNvPr>
          <p:cNvSpPr>
            <a:spLocks noGrp="1"/>
          </p:cNvSpPr>
          <p:nvPr/>
        </p:nvSpPr>
        <p:spPr>
          <a:xfrm>
            <a:off x="8291905" y="4021766"/>
            <a:ext cx="430000" cy="430000"/>
          </a:xfrm>
          <a:prstGeom prst="ellipse">
            <a:avLst/>
          </a:prstGeom>
          <a:solidFill>
            <a:srgbClr val="2D6A4F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3" name="TB413">
            <a:extLst>
              <a:ext uri="{FF2B5EF4-FFF2-40B4-BE49-F238E27FC236}">
                <a16:creationId xmlns:a16="http://schemas.microsoft.com/office/drawing/2014/main" id="{887A8A2F-50FF-402A-B158-92B9EC1A4B53}"/>
              </a:ext>
            </a:extLst>
          </p:cNvPr>
          <p:cNvSpPr>
            <a:spLocks noGrp="1"/>
          </p:cNvSpPr>
          <p:nvPr/>
        </p:nvSpPr>
        <p:spPr>
          <a:xfrm>
            <a:off x="7606905" y="4486766"/>
            <a:ext cx="1800000" cy="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414" name="TB414">
            <a:extLst>
              <a:ext uri="{FF2B5EF4-FFF2-40B4-BE49-F238E27FC236}">
                <a16:creationId xmlns:a16="http://schemas.microsoft.com/office/drawing/2014/main" id="{8B695822-26E3-408D-A84E-DDB2EFF7E198}"/>
              </a:ext>
            </a:extLst>
          </p:cNvPr>
          <p:cNvSpPr>
            <a:spLocks noGrp="1"/>
          </p:cNvSpPr>
          <p:nvPr/>
        </p:nvSpPr>
        <p:spPr>
          <a:xfrm>
            <a:off x="7128919" y="4746766"/>
            <a:ext cx="180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parcelas y CV</a:t>
            </a:r>
          </a:p>
        </p:txBody>
      </p:sp>
      <p:sp>
        <p:nvSpPr>
          <p:cNvPr id="415" name="SH415">
            <a:extLst>
              <a:ext uri="{FF2B5EF4-FFF2-40B4-BE49-F238E27FC236}">
                <a16:creationId xmlns:a16="http://schemas.microsoft.com/office/drawing/2014/main" id="{7CB15F98-952A-45D5-868E-C1432A78E9A8}"/>
              </a:ext>
            </a:extLst>
          </p:cNvPr>
          <p:cNvSpPr>
            <a:spLocks noGrp="1"/>
          </p:cNvSpPr>
          <p:nvPr/>
        </p:nvSpPr>
        <p:spPr>
          <a:xfrm>
            <a:off x="7946797" y="2959633"/>
            <a:ext cx="430000" cy="430000"/>
          </a:xfrm>
          <a:prstGeom prst="ellipse">
            <a:avLst/>
          </a:prstGeom>
          <a:solidFill>
            <a:srgbClr val="1B4332"/>
          </a:solidFill>
        </p:spPr>
        <p:txBody>
          <a:bodyPr wrap="square" lIns="27432" tIns="0" rIns="27432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6" name="TB416">
            <a:extLst>
              <a:ext uri="{FF2B5EF4-FFF2-40B4-BE49-F238E27FC236}">
                <a16:creationId xmlns:a16="http://schemas.microsoft.com/office/drawing/2014/main" id="{38EA6B10-E553-49E1-9C3E-3D387D06D4DB}"/>
              </a:ext>
            </a:extLst>
          </p:cNvPr>
          <p:cNvSpPr>
            <a:spLocks noGrp="1"/>
          </p:cNvSpPr>
          <p:nvPr/>
        </p:nvSpPr>
        <p:spPr>
          <a:xfrm>
            <a:off x="7126714" y="2614633"/>
            <a:ext cx="1800000" cy="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 i="0">
                <a:solidFill>
                  <a:srgbClr val="1B4332"/>
                </a:solidFill>
                <a:latin typeface="Arial"/>
                <a:ea typeface="Arial"/>
                <a:cs typeface="Arial"/>
              </a:rPr>
              <a:t>muestra limpia</a:t>
            </a:r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DBE04973-EBB7-473D-AAB0-1284C2289AF9}"/>
              </a:ext>
            </a:extLst>
          </p:cNvPr>
          <p:cNvSpPr>
            <a:spLocks noGrp="1"/>
          </p:cNvSpPr>
          <p:nvPr/>
        </p:nvSpPr>
        <p:spPr>
          <a:xfrm>
            <a:off x="6482476" y="2874633"/>
            <a:ext cx="1800000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0" i="0">
                <a:solidFill>
                  <a:srgbClr val="44544C"/>
                </a:solidFill>
                <a:latin typeface="Arial"/>
                <a:ea typeface="Arial"/>
                <a:cs typeface="Arial"/>
              </a:rPr>
              <a:t>lista para modelar</a:t>
            </a:r>
          </a:p>
        </p:txBody>
      </p:sp>
      <p:sp>
        <p:nvSpPr>
          <p:cNvPr id="418" name="TB418">
            <a:extLst>
              <a:ext uri="{FF2B5EF4-FFF2-40B4-BE49-F238E27FC236}">
                <a16:creationId xmlns:a16="http://schemas.microsoft.com/office/drawing/2014/main" id="{CEBB20BC-65CF-4DFD-A5FE-5932EC22B4EC}"/>
              </a:ext>
            </a:extLst>
          </p:cNvPr>
          <p:cNvSpPr>
            <a:spLocks noGrp="1"/>
          </p:cNvSpPr>
          <p:nvPr/>
        </p:nvSpPr>
        <p:spPr>
          <a:xfrm>
            <a:off x="8365301" y="3308200"/>
            <a:ext cx="14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500" b="1" i="0">
                <a:solidFill>
                  <a:srgbClr val="2D6A4F"/>
                </a:solidFill>
                <a:latin typeface="Arial"/>
                <a:ea typeface="Arial"/>
                <a:cs typeface="Arial"/>
              </a:rPr>
              <a:t>GEDI</a:t>
            </a:r>
          </a:p>
        </p:txBody>
      </p:sp>
      <p:sp>
        <p:nvSpPr>
          <p:cNvPr id="419" name="TB419">
            <a:extLst>
              <a:ext uri="{FF2B5EF4-FFF2-40B4-BE49-F238E27FC236}">
                <a16:creationId xmlns:a16="http://schemas.microsoft.com/office/drawing/2014/main" id="{9963EF1F-5FA2-4820-880D-E4AB02D00FD4}"/>
              </a:ext>
            </a:extLst>
          </p:cNvPr>
          <p:cNvSpPr>
            <a:spLocks noGrp="1"/>
          </p:cNvSpPr>
          <p:nvPr/>
        </p:nvSpPr>
        <p:spPr>
          <a:xfrm>
            <a:off x="6465301" y="5168200"/>
            <a:ext cx="4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1">
                <a:latin typeface="Arial"/>
                <a:ea typeface="Arial"/>
                <a:cs typeface="Arial"/>
              </a:rPr>
              <a:t>Cada vuelta deja una versión documentada del dataset.</a:t>
            </a:r>
          </a:p>
        </p:txBody>
      </p:sp>
      <p:sp>
        <p:nvSpPr>
          <p:cNvPr id="420" name="Rectángulo 419">
            <a:extLst>
              <a:ext uri="{FF2B5EF4-FFF2-40B4-BE49-F238E27FC236}">
                <a16:creationId xmlns:a16="http://schemas.microsoft.com/office/drawing/2014/main" id="{65CB6C19-F485-474D-8890-0EB00EA5DBA0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74/79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500232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83E3CE-000E-47CC-AED8-94F152C2D36D}"/>
              </a:ext>
            </a:extLst>
          </p:cNvPr>
          <p:cNvSpPr>
            <a:spLocks noGrp="1"/>
          </p:cNvSpPr>
          <p:nvPr/>
        </p:nvSpPr>
        <p:spPr>
          <a:xfrm>
            <a:off x="502920" y="203200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Referencias bibliográficas (1/5)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03DC5F-D3C7-4EC8-B802-ADC67688FB11}"/>
              </a:ext>
            </a:extLst>
          </p:cNvPr>
          <p:cNvSpPr>
            <a:spLocks noGrp="1"/>
          </p:cNvSpPr>
          <p:nvPr/>
        </p:nvSpPr>
        <p:spPr>
          <a:xfrm>
            <a:off x="502920" y="59690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 dirty="0" err="1">
                <a:solidFill>
                  <a:srgbClr val="374151"/>
                </a:solidFill>
                <a:latin typeface="Arial"/>
                <a:ea typeface="Arial"/>
                <a:cs typeface="Arial"/>
              </a:rPr>
              <a:t>Artículos</a:t>
            </a:r>
            <a:r>
              <a:rPr sz="2000" b="1" i="1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y </a:t>
            </a:r>
            <a:r>
              <a:rPr sz="2000" b="1" i="1" dirty="0" err="1">
                <a:solidFill>
                  <a:srgbClr val="374151"/>
                </a:solidFill>
                <a:latin typeface="Arial"/>
                <a:ea typeface="Arial"/>
                <a:cs typeface="Arial"/>
              </a:rPr>
              <a:t>documentos</a:t>
            </a:r>
            <a:r>
              <a:rPr sz="2000" b="1" i="1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i="1" dirty="0" err="1">
                <a:solidFill>
                  <a:srgbClr val="374151"/>
                </a:solidFill>
                <a:latin typeface="Arial"/>
                <a:ea typeface="Arial"/>
                <a:cs typeface="Arial"/>
              </a:rPr>
              <a:t>técnicos</a:t>
            </a:r>
            <a:endParaRPr sz="2000" b="1" i="1" dirty="0">
              <a:solidFill>
                <a:srgbClr val="37415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20F57C4-C217-453F-8B6B-D65671D997C9}"/>
              </a:ext>
            </a:extLst>
          </p:cNvPr>
          <p:cNvSpPr>
            <a:spLocks noGrp="1"/>
          </p:cNvSpPr>
          <p:nvPr/>
        </p:nvSpPr>
        <p:spPr>
          <a:xfrm>
            <a:off x="10976517" y="6379289"/>
            <a:ext cx="567783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r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75/79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77AC391-87DB-4F35-980D-C0CF632E5183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0F9110C-AF5A-40DC-9D16-D17044F04260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B5D2CF-53E3-4A76-B107-224213300EFF}"/>
              </a:ext>
            </a:extLst>
          </p:cNvPr>
          <p:cNvSpPr>
            <a:spLocks noGrp="1"/>
          </p:cNvSpPr>
          <p:nvPr/>
        </p:nvSpPr>
        <p:spPr>
          <a:xfrm>
            <a:off x="596900" y="1117600"/>
            <a:ext cx="10642600" cy="45212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vert="horz" wrap="square" lIns="228600" tIns="182880" rIns="228600" bIns="182880" anchor="t">
            <a:noAutofit/>
          </a:bodyPr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Dubayah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R., Blair, J. B., Goetz, S.,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Fatoyinbo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L., Hansen, M., Healey, S.,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Hofton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M., Hurtt, G., Kellner, J.,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Luthcke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S.,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Armston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J., Tang, H., Duncanson, L., Hancock, S., Jantz, P., Marselis, S., Patterson, P. L., Qi, W., y Silva, C. (2020). The Global Ecosystem Dynamics Investigation: High-resolution laser ranging of the Earth's forests and topography. Science of Remote Sensing, 1, 100002. https://doi.org/10.1016/j.srs.2020.100002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Dubayah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R.,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Armston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J., Healey, S. P., Bruening, J. M., Patterson, P. L., Kellner, J. R., Duncanson, L., Saarela, S., Ståhl, G., Yang, Z., Tang, H., Blair, J. B.,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Fatoyinbo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L., Goetz, S., Hancock, S., Hansen, M.,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Hofton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M., Hurtt, G., y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Luthcke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S. (2022b). GEDI launches a new era of biomass inference from space. Environmental Research Letters, 17(9), 095001. https://doi.org/10.1088/1748-9326/ac8694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Duncanson, L.,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Armston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J., Disney, M., Avitabile, V., Barbier, N., y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Calders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K. (2019). The importance of consistent global forest aboveground biomass product validation. Surveys in Geophysics, 40(4), 979-999. https://doi.org/10.1007/s10712-019-09538-8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Duncanson, L., Kellner, J. R.,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Armston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J.,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Dubayah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R., Minor, D. M., y Hancock, S. (2022). Aboveground biomass density models for NASA's Global Ecosystem Dynamics Investigation (GEDI) lidar mission. Remote Sensing of Environment, 270, 112845. https://doi.org/10.1016/j.rse.2021.112845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Hancock, S.,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Armston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J.,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Hofton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M., Sun, X., Tang, H., Duncanson, L. I., Kellner, J. R., y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Dubayah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R. (2019). The GEDI simulator: A large-footprint waveform lidar simulator for calibration and validation of spaceborne missions. Earth and Space Science, 6(2), 294-310. https://doi.org/10.1029/2018EA000506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89948EED-CEA7-4B17-AD70-8D6D2539134C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75/79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795903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E82F96-54AF-4465-8656-12866836E3F8}"/>
              </a:ext>
            </a:extLst>
          </p:cNvPr>
          <p:cNvSpPr>
            <a:spLocks noGrp="1"/>
          </p:cNvSpPr>
          <p:nvPr/>
        </p:nvSpPr>
        <p:spPr>
          <a:xfrm>
            <a:off x="502920" y="203200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Referencias bibliográficas (2/5)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203045-D9D5-40BA-AC80-1563E5D04814}"/>
              </a:ext>
            </a:extLst>
          </p:cNvPr>
          <p:cNvSpPr>
            <a:spLocks noGrp="1"/>
          </p:cNvSpPr>
          <p:nvPr/>
        </p:nvSpPr>
        <p:spPr>
          <a:xfrm>
            <a:off x="502920" y="59690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 dirty="0" err="1">
                <a:solidFill>
                  <a:srgbClr val="374151"/>
                </a:solidFill>
                <a:latin typeface="Arial"/>
                <a:ea typeface="Arial"/>
                <a:cs typeface="Arial"/>
              </a:rPr>
              <a:t>Artículos</a:t>
            </a:r>
            <a:r>
              <a:rPr sz="2000" b="1" i="1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y </a:t>
            </a:r>
            <a:r>
              <a:rPr sz="2000" b="1" i="1" dirty="0" err="1">
                <a:solidFill>
                  <a:srgbClr val="374151"/>
                </a:solidFill>
                <a:latin typeface="Arial"/>
                <a:ea typeface="Arial"/>
                <a:cs typeface="Arial"/>
              </a:rPr>
              <a:t>documentos</a:t>
            </a:r>
            <a:r>
              <a:rPr sz="2000" b="1" i="1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i="1" dirty="0" err="1">
                <a:solidFill>
                  <a:srgbClr val="374151"/>
                </a:solidFill>
                <a:latin typeface="Arial"/>
                <a:ea typeface="Arial"/>
                <a:cs typeface="Arial"/>
              </a:rPr>
              <a:t>técnicos</a:t>
            </a:r>
            <a:endParaRPr sz="2000" b="1" i="1" dirty="0">
              <a:solidFill>
                <a:srgbClr val="37415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20F57C4-C217-453F-8B6B-D65671D997C9}"/>
              </a:ext>
            </a:extLst>
          </p:cNvPr>
          <p:cNvSpPr>
            <a:spLocks noGrp="1"/>
          </p:cNvSpPr>
          <p:nvPr/>
        </p:nvSpPr>
        <p:spPr>
          <a:xfrm>
            <a:off x="10976517" y="6379289"/>
            <a:ext cx="567783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r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76/79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77AC391-87DB-4F35-980D-C0CF632E5183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0F9110C-AF5A-40DC-9D16-D17044F04260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B5D2CF-53E3-4A76-B107-224213300EFF}"/>
              </a:ext>
            </a:extLst>
          </p:cNvPr>
          <p:cNvSpPr>
            <a:spLocks noGrp="1"/>
          </p:cNvSpPr>
          <p:nvPr/>
        </p:nvSpPr>
        <p:spPr>
          <a:xfrm>
            <a:off x="596900" y="1117600"/>
            <a:ext cx="10642600" cy="45212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vert="horz" wrap="square" lIns="228600" tIns="182880" rIns="228600" bIns="182880" anchor="t">
            <a:noAutofit/>
          </a:bodyPr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Kellner, J. R.,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Armston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J., y Duncanson, L. (2023). Algorithm theoretical basis document for GEDI footprint aboveground biomass density. Earth and Space Science, 10(4), e2022EA002516. https://doi.org/10.1029/2022EA002516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Moudrý, V.,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Gdulová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K., Gábor, L.,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Šárovcová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E., Barták, V., Leroy, F., Fogl, M., Kacic, P.,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Prošek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J., y Wild, J. (2024). How to find accurate terrain and canopy height GEDI footprints in temperate forests and grasslands? Earth and Space Science, 11(10), e2024EA003709. https://doi.org/10.1029/2024EA003709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Patterson, P. L., Healey, S. P., Ståhl, G., Saarela, S., Holm, S., Andersen, H.-E.,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Dubayah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R. O., Duncanson, L., Hancock, S.,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Armston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J., Kellner, J. R., Cohen, W. B., y Yang, Z. (2019). Statistical properties of hybrid estimators proposed for GEDI-NASA's Global Ecosystem Dynamics Investigation. Environmental Research Letters, 14(6), 065007. https://doi.org/10.1088/1748-9326/ab18df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Subedi, P. B., y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Zurqani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H. A. (2026). Multi-sensor forest aboveground biomass estimation using GEDI, machine learning, and deep learning techniques. Advances in Space Research, 77(3), 2784–2806. https://doi.org/10.1016/j.asr.2025.12.032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D69DB0D-38A3-4856-853A-40758B122DD6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76/79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70747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B6F486-5120-4C39-8D34-E267225A9452}"/>
              </a:ext>
            </a:extLst>
          </p:cNvPr>
          <p:cNvSpPr>
            <a:spLocks noGrp="1"/>
          </p:cNvSpPr>
          <p:nvPr/>
        </p:nvSpPr>
        <p:spPr>
          <a:xfrm>
            <a:off x="502920" y="203200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 dirty="0" err="1">
                <a:solidFill>
                  <a:srgbClr val="1B4332"/>
                </a:solidFill>
                <a:latin typeface="Arial"/>
                <a:ea typeface="Arial"/>
                <a:cs typeface="Arial"/>
              </a:rPr>
              <a:t>Referencias</a:t>
            </a:r>
            <a:r>
              <a:rPr sz="26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dirty="0" err="1">
                <a:solidFill>
                  <a:srgbClr val="1B4332"/>
                </a:solidFill>
                <a:latin typeface="Arial"/>
                <a:ea typeface="Arial"/>
                <a:cs typeface="Arial"/>
              </a:rPr>
              <a:t>bibliográficas</a:t>
            </a:r>
            <a:r>
              <a:rPr lang="es-ES" sz="26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 (3/5)</a:t>
            </a:r>
            <a:endParaRPr sz="2600" b="1" dirty="0">
              <a:solidFill>
                <a:srgbClr val="1B43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C41987-7293-4E1E-8EA1-1E3475A9FA95}"/>
              </a:ext>
            </a:extLst>
          </p:cNvPr>
          <p:cNvSpPr>
            <a:spLocks noGrp="1"/>
          </p:cNvSpPr>
          <p:nvPr/>
        </p:nvSpPr>
        <p:spPr>
          <a:xfrm>
            <a:off x="502920" y="59690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Conjuntos de </a:t>
            </a:r>
            <a:r>
              <a:rPr sz="2000" b="1" i="1" dirty="0" err="1">
                <a:solidFill>
                  <a:srgbClr val="374151"/>
                </a:solidFill>
                <a:latin typeface="Arial"/>
                <a:ea typeface="Arial"/>
                <a:cs typeface="Arial"/>
              </a:rPr>
              <a:t>datos</a:t>
            </a:r>
            <a:r>
              <a:rPr sz="2000" b="1" i="1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y </a:t>
            </a:r>
            <a:r>
              <a:rPr sz="2000" b="1" i="1" dirty="0" err="1">
                <a:solidFill>
                  <a:srgbClr val="374151"/>
                </a:solidFill>
                <a:latin typeface="Arial"/>
                <a:ea typeface="Arial"/>
                <a:cs typeface="Arial"/>
              </a:rPr>
              <a:t>guías</a:t>
            </a:r>
            <a:r>
              <a:rPr sz="2000" b="1" i="1" dirty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de </a:t>
            </a:r>
            <a:r>
              <a:rPr sz="2000" b="1" i="1" dirty="0" err="1">
                <a:solidFill>
                  <a:srgbClr val="374151"/>
                </a:solidFill>
                <a:latin typeface="Arial"/>
                <a:ea typeface="Arial"/>
                <a:cs typeface="Arial"/>
              </a:rPr>
              <a:t>producto</a:t>
            </a:r>
            <a:endParaRPr sz="2000" b="1" i="1" dirty="0">
              <a:solidFill>
                <a:srgbClr val="37415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20F57C4-C217-453F-8B6B-D65671D997C9}"/>
              </a:ext>
            </a:extLst>
          </p:cNvPr>
          <p:cNvSpPr>
            <a:spLocks noGrp="1"/>
          </p:cNvSpPr>
          <p:nvPr/>
        </p:nvSpPr>
        <p:spPr>
          <a:xfrm>
            <a:off x="10976517" y="6379289"/>
            <a:ext cx="567783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r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77/79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77AC391-87DB-4F35-980D-C0CF632E5183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0F9110C-AF5A-40DC-9D16-D17044F04260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09FF080-D86A-431F-AD75-58A5FE9A5C61}"/>
              </a:ext>
            </a:extLst>
          </p:cNvPr>
          <p:cNvSpPr>
            <a:spLocks noGrp="1"/>
          </p:cNvSpPr>
          <p:nvPr/>
        </p:nvSpPr>
        <p:spPr>
          <a:xfrm>
            <a:off x="596900" y="1117600"/>
            <a:ext cx="10642600" cy="45212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vert="horz" wrap="square" lIns="228600" tIns="182880" rIns="228600" bIns="182880" anchor="t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Dubayah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R.,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Hofton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M., Blair, J. B.,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Armston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J., Tang, H., y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Luthcke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S. (2021a). GEDI L2A elevation and height metrics data global footprint level V002 [Conjunto de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datos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]. NASA EOSDIS Land Processes DAAC. https://doi.org/10.5067/GEDI/GEDI02_A.002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Dubayah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R., Tang, H.,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Armston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J.,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Luthcke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S.,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Hofton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M., y Blair, J. B. (2021b). GEDI L2B canopy cover and vertical profile metrics data global footprint level V002 [Conjunto de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datos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]. NASA EOSDIS Land Processes DAAC. https://doi.org/10.5067/GEDI/GEDI02_B.002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Dubayah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R. O.,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Armston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J., Kellner, J. R., Duncanson, L., Healey, S. P., Patterson, P. L., Hancock, S., Tang, H., Bruening, J. M.,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Hofton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M. A., Blair, J. B., y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Luthcke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S. B. (2022a). GEDI L4A footprint level aboveground biomass density, version 2.1 [Conjunto de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datos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]. ORNL DAAC. https://doi.org/10.3334/ORNLDAAC/2056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Dubayah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R. O.,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Armston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J., Kellner, J. R., Duncanson, L., Healey, S. P., Patterson, P. L., Hancock, S., Tang, H., Bruening, J. M.,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Hofton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M. A., Blair, J. B., y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Luthcke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S. B. (2026). GEDI L4A footprint level aboveground biomass density, version 3 [Conjunto de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datos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]. ORNL DAAC. https://doi.org/10.3334/ORNLDAAC/2508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Dubayah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R. O.,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Armston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J., Healey, S. P., Yang, Z., Patterson, P. L., Saarela, S., Ståhl, G., Duncanson, L., Kellner, J. R., Bruening, J., y Pascual, A. (2025). GEDI L4B gridded aboveground biomass density, version 2.1 [Conjunto de </a:t>
            </a:r>
            <a:r>
              <a:rPr sz="13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datos</a:t>
            </a: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]. ORNL DAAC. https://doi.org/10.3334/ORNLDAAC/2299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Land Processes Distributed Active Archive Center. (2020). Global Ecosystem Dynamics Investigation (GEDI) level 02 user guide (version 1). U.S. Geological Survey. https://lpdaac.usgs.gov/documents/650/GEDI02_UserGuide_V1.pdf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3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Oak Ridge National Laboratory Distributed Active Archive Center. (2025). GEDI L4B gridded aboveground biomass density, version 2.1: User guide. ORNL DAAC. https://daac.ornl.gov/GEDI/guides/GEDI_L4B_Gridded_Biomass_V2_1.html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268499B-A2D2-4FC0-90C1-8CEBC88123C9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77/79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33029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48C88E-2F7F-498F-AD5C-F204D1BA545B}"/>
              </a:ext>
            </a:extLst>
          </p:cNvPr>
          <p:cNvSpPr>
            <a:spLocks noGrp="1"/>
          </p:cNvSpPr>
          <p:nvPr/>
        </p:nvSpPr>
        <p:spPr>
          <a:xfrm>
            <a:off x="502920" y="203200"/>
            <a:ext cx="9738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B4332"/>
                </a:solidFill>
                <a:latin typeface="Arial"/>
                <a:ea typeface="Arial"/>
                <a:cs typeface="Arial"/>
              </a:rPr>
              <a:t>Referencias bibliográficas (4/5)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FB6749-C5B6-4642-A77C-7E90EBE5DAC7}"/>
              </a:ext>
            </a:extLst>
          </p:cNvPr>
          <p:cNvSpPr>
            <a:spLocks noGrp="1"/>
          </p:cNvSpPr>
          <p:nvPr/>
        </p:nvSpPr>
        <p:spPr>
          <a:xfrm>
            <a:off x="502920" y="596900"/>
            <a:ext cx="97383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Ecología del fuego en bosque andino-patagónico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3C66D4BB-16B1-42B5-983F-C55FDDABABC9}"/>
              </a:ext>
            </a:extLst>
          </p:cNvPr>
          <p:cNvSpPr>
            <a:spLocks noGrp="1"/>
          </p:cNvSpPr>
          <p:nvPr/>
        </p:nvSpPr>
        <p:spPr>
          <a:xfrm>
            <a:off x="10976517" y="6379289"/>
            <a:ext cx="567783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r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78/79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AC4396F8-2E36-4456-A39E-DAC9ED103BFC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DF43C9B-FD97-418F-9DEE-4893D8BDA465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96DFEC-6B45-459A-A241-AA73ACED26C4}"/>
              </a:ext>
            </a:extLst>
          </p:cNvPr>
          <p:cNvSpPr>
            <a:spLocks noGrp="1"/>
          </p:cNvSpPr>
          <p:nvPr/>
        </p:nvSpPr>
        <p:spPr>
          <a:xfrm>
            <a:off x="596900" y="1117600"/>
            <a:ext cx="10642600" cy="45212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vert="horz" wrap="square" lIns="228600" tIns="182880" rIns="228600" bIns="182880" anchor="t">
            <a:noAutofit/>
          </a:bodyPr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Kitzberger, T., y Veblen, T. T. (1999). Fire-induced changes in northern Patagonian landscapes. Landscape Ecology, 14(1), 1–15. https://doi.org/10.1023/A:1008069712826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Kitzberger, T., Perry, G. L. W., Paritsis, J., Gowda, J. H., Tepley, A. J., Holz, A., y Veblen, T. T. (2016). Fire–vegetation feedbacks and alternative states: common mechanisms of temperate forest vulnerability to fire in southern South America and New Zealand. New Zealand Journal of Botany, 54(2), 247–272. https://doi.org/10.1080/0028825X.2016.1151903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Landesmann, J. B., Gowda, J. H., y Kitzberger, T. (2016). Temporal shifts in the interaction between woody resprouters and an obligate seeder tree during a post-fire succession in Patagonia. Journal of Vegetation Science, 27(6), 1198–1208. https://doi.org/10.1111/jvs.12430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lang="es-ES"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Paritsis, J., Veblen, T. T., y Holz, A. (2015). Positive fire feedbacks contribute to shifts from Nothofagus pumilio forests to fire-prone shrublands in Patagonia. Journal of Vegetation Science, 26(1), 89–101. https://doi.org/10.1111/jvs.12225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Urretavizcaya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M. F., y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Defossé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G. E. (2019). Restoration of burned and post-fire logged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Austrocedrus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chilensis stands in Patagonia: Effects of competition and environmental conditions on seedling survival and growth. International Journal of Wildland Fire, 28(5), 365–376. https://doi.org/10.1071/WF18154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560C0AE8-136A-4E8C-80AD-DE50E68B044D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78/79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03235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56428E-B558-4FC9-B4D3-158EFFA6B226}"/>
              </a:ext>
            </a:extLst>
          </p:cNvPr>
          <p:cNvSpPr>
            <a:spLocks noGrp="1"/>
          </p:cNvSpPr>
          <p:nvPr/>
        </p:nvSpPr>
        <p:spPr>
          <a:xfrm>
            <a:off x="520446" y="203200"/>
            <a:ext cx="907161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 dirty="0" err="1">
                <a:solidFill>
                  <a:srgbClr val="1B4332"/>
                </a:solidFill>
                <a:latin typeface="Arial"/>
                <a:ea typeface="Arial"/>
                <a:cs typeface="Arial"/>
              </a:rPr>
              <a:t>Referencias</a:t>
            </a:r>
            <a:r>
              <a:rPr sz="26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dirty="0" err="1">
                <a:solidFill>
                  <a:srgbClr val="1B4332"/>
                </a:solidFill>
                <a:latin typeface="Arial"/>
                <a:ea typeface="Arial"/>
                <a:cs typeface="Arial"/>
              </a:rPr>
              <a:t>bibliográficas</a:t>
            </a:r>
            <a:r>
              <a:rPr sz="2600" b="1" dirty="0">
                <a:solidFill>
                  <a:srgbClr val="1B4332"/>
                </a:solidFill>
                <a:latin typeface="Arial"/>
                <a:ea typeface="Arial"/>
                <a:cs typeface="Arial"/>
              </a:rPr>
              <a:t> (5/5)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DBD381-E2A3-4745-B5D7-A159E8C5C853}"/>
              </a:ext>
            </a:extLst>
          </p:cNvPr>
          <p:cNvSpPr>
            <a:spLocks noGrp="1"/>
          </p:cNvSpPr>
          <p:nvPr/>
        </p:nvSpPr>
        <p:spPr>
          <a:xfrm>
            <a:off x="502920" y="635000"/>
            <a:ext cx="9738360" cy="7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buNone/>
            </a:pPr>
            <a:r>
              <a:rPr lang="es-MX" sz="2000" b="1" i="1">
                <a:solidFill>
                  <a:srgbClr val="374151"/>
                </a:solidFill>
                <a:latin typeface="Arial"/>
                <a:ea typeface="Arial"/>
                <a:cs typeface="Arial"/>
              </a:rPr>
              <a:t>Fuentes de datos institucionales y recursos web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3C66D4BB-16B1-42B5-983F-C55FDDABABC9}"/>
              </a:ext>
            </a:extLst>
          </p:cNvPr>
          <p:cNvSpPr>
            <a:spLocks noGrp="1"/>
          </p:cNvSpPr>
          <p:nvPr/>
        </p:nvSpPr>
        <p:spPr>
          <a:xfrm>
            <a:off x="10976517" y="6379289"/>
            <a:ext cx="567783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r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79/79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AC4396F8-2E36-4456-A39E-DAC9ED103BFC}"/>
              </a:ext>
            </a:extLst>
          </p:cNvPr>
          <p:cNvSpPr>
            <a:spLocks noGrp="1"/>
          </p:cNvSpPr>
          <p:nvPr/>
        </p:nvSpPr>
        <p:spPr>
          <a:xfrm>
            <a:off x="596900" y="6379289"/>
            <a:ext cx="561372" cy="276999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lang="es-ES"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GEDI</a:t>
            </a:r>
            <a:endParaRPr sz="1200">
              <a:solidFill>
                <a:srgbClr val="6B72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DF43C9B-FD97-418F-9DEE-4893D8BDA465}"/>
              </a:ext>
            </a:extLst>
          </p:cNvPr>
          <p:cNvSpPr>
            <a:spLocks noGrp="1"/>
          </p:cNvSpPr>
          <p:nvPr/>
        </p:nvSpPr>
        <p:spPr>
          <a:xfrm>
            <a:off x="5258270" y="6379289"/>
            <a:ext cx="1675459" cy="246221"/>
          </a:xfrm>
          <a:prstGeom prst="rect">
            <a:avLst/>
          </a:prstGeom>
          <a:noFill/>
        </p:spPr>
        <p:txBody>
          <a:bodyPr vert="horz" wrap="none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6B7280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96DFEC-6B45-459A-A241-AA73ACED26C4}"/>
              </a:ext>
            </a:extLst>
          </p:cNvPr>
          <p:cNvSpPr>
            <a:spLocks noGrp="1"/>
          </p:cNvSpPr>
          <p:nvPr/>
        </p:nvSpPr>
        <p:spPr>
          <a:xfrm>
            <a:off x="596900" y="1168400"/>
            <a:ext cx="10642600" cy="447040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vert="horz" wrap="square" lIns="228600" tIns="182880" rIns="228600" bIns="182880" anchor="t">
            <a:noAutofit/>
          </a:bodyPr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Centro de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Investigación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y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Extensión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Forestal Andino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Patagónico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 (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s.f.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). Sistema Nacional de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Monitoreo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de Bosques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Nativos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: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Región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Bosque Andino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Patagónico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 CIEFAP. https://ciefap.org.ar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Ministerio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de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Ambiente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y Desarrollo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Sostenible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de la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Nación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 (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s.f.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). Mapas de bosque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nativo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y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Ordenamiento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Territorial de Bosques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Nativos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(OTBN). Argentina.gob.ar. https://www.argentina.gob.ar/ambiente/bosques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Provincia del Chubut. (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s.f.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).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Ordenamiento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Territorial de Bosques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Nativos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de la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provincia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del Chubut.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Gobierno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del Chubut.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NASA Goddard Space Flight Center Scientific Visualization Studio. (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s.f.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). GEDI: Global Ecosystem Dynamics Investigation (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Visualización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13090). NASA GSFC SVS. https://svs.gsfc.nasa.gov/13090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NASA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Earthdata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 (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s.f.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).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Earthdata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Login. https://urs.earthdata.nasa.gov
NASA EOSDIS. (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s.f.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). Data use and citation guidance. https://www.earthdata.nasa.gov/engage/open-data-services-and-software/data-and-information-policy/data-citations-and-acknowledgements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NASA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Openscapes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 (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s.f.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). NASA 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Earthdata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Cloud Cookbook. https://nasa-openscapes.github.io/earthdata-cloud-cookbook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None/>
            </a:pP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Google. (</a:t>
            </a:r>
            <a:r>
              <a:rPr sz="150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s.f.</a:t>
            </a:r>
            <a:r>
              <a:rPr sz="15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). Earth Engine Data Catalog: GEDI L4A/L2A/L2B monthly rasters. Google Earth Engine. https://developers.google.com/earth-engine/datasets/catalog/LARSE_GEDI_GEDI04_A_002_MONTHLY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16707558-A33C-4A8A-B3CA-A14F5A0E390B}"/>
              </a:ext>
            </a:extLst>
          </p:cNvPr>
          <p:cNvSpPr>
            <a:spLocks noGrp="1"/>
          </p:cNvSpPr>
          <p:nvPr/>
        </p:nvSpPr>
        <p:spPr>
          <a:xfrm>
            <a:off x="10477500" y="6334125"/>
            <a:ext cx="11049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685800" tIns="0" rIns="0" bIns="0" anchor="ctr"/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s-ES"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79/79</a:t>
            </a:r>
            <a:endParaRPr sz="120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9133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E9081F-0C0C-4498-BBBE-8599895A6CFA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deb6e6bc-1aa7-4f36-aa05-dc8d5723b50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13192</Words>
  <Application>Microsoft Office PowerPoint</Application>
  <DocSecurity>0</DocSecurity>
  <PresentationFormat>Panorámica</PresentationFormat>
  <Paragraphs>1957</Paragraphs>
  <Slides>79</Slides>
  <Notes>77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79</vt:i4>
      </vt:variant>
    </vt:vector>
  </HeadingPairs>
  <TitlesOfParts>
    <vt:vector size="83" baseType="lpstr">
      <vt:lpstr>Arial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Hector Francisco del Valle</cp:lastModifiedBy>
  <cp:revision>101</cp:revision>
  <dcterms:created xsi:type="dcterms:W3CDTF">2026-08-09T01:59:33Z</dcterms:created>
  <dcterms:modified xsi:type="dcterms:W3CDTF">2026-08-24T18:00:47Z</dcterms:modified>
</cp:coreProperties>
</file>