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3.xml" ContentType="application/vnd.openxmlformats-officedocument.drawingml.chart+xml"/>
  <Override PartName="/ppt/notesSlides/notesSlide9.xml" ContentType="application/vnd.openxmlformats-officedocument.presentationml.notesSlide+xml"/>
  <Override PartName="/ppt/charts/chart4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5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7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8"/>
  </p:notesMasterIdLst>
  <p:sldIdLst>
    <p:sldId id="280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3" r:id="rId33"/>
    <p:sldId id="281" r:id="rId26"/>
    <p:sldId id="282" r:id="rId27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  <Relationship Id="rId33" Type="http://schemas.openxmlformats.org/officeDocument/2006/relationships/slide" Target="slides/slide27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s-MX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v>BOSQUE_NW_02</c:v>
          </c:tx>
          <c:spPr>
            <a:ln w="38100">
              <a:solidFill>
                <a:srgbClr val="1B6B4A"/>
              </a:solidFill>
              <a:prstDash val="solid"/>
            </a:ln>
          </c:spPr>
          <c:marker>
            <c:symbol val="circle"/>
            <c:size val="5"/>
            <c:spPr>
              <a:solidFill>
                <a:srgbClr val="1B6B4A"/>
              </a:solidFill>
            </c:spPr>
          </c:marker>
          <c:cat>
            <c:numLit>
              <c:formatCode>General</c:formatCode>
              <c:ptCount val="10"/>
              <c:pt idx="0">
                <c:v>2015</c:v>
              </c:pt>
              <c:pt idx="1">
                <c:v>2016</c:v>
              </c:pt>
              <c:pt idx="2">
                <c:v>2017</c:v>
              </c:pt>
              <c:pt idx="3">
                <c:v>2018</c:v>
              </c:pt>
              <c:pt idx="4">
                <c:v>2019</c:v>
              </c:pt>
              <c:pt idx="5">
                <c:v>2020</c:v>
              </c:pt>
              <c:pt idx="6">
                <c:v>2021</c:v>
              </c:pt>
              <c:pt idx="7">
                <c:v>2022</c:v>
              </c:pt>
              <c:pt idx="8">
                <c:v>2023</c:v>
              </c:pt>
              <c:pt idx="9">
                <c:v>2024</c:v>
              </c:pt>
            </c:numLit>
          </c:cat>
          <c:val>
            <c:numLit>
              <c:formatCode>0.0</c:formatCode>
              <c:ptCount val="10"/>
              <c:pt idx="0">
                <c:v>100</c:v>
              </c:pt>
              <c:pt idx="1">
                <c:v>103.88195590498619</c:v>
              </c:pt>
              <c:pt idx="2">
                <c:v>108.45185336275472</c:v>
              </c:pt>
              <c:pt idx="3">
                <c:v>113.8988299430733</c:v>
              </c:pt>
              <c:pt idx="4">
                <c:v>121.97611674609209</c:v>
              </c:pt>
              <c:pt idx="5">
                <c:v>122.98577759646943</c:v>
              </c:pt>
              <c:pt idx="6">
                <c:v>119.26792634760517</c:v>
              </c:pt>
              <c:pt idx="7">
                <c:v>121.77863487177586</c:v>
              </c:pt>
              <c:pt idx="8">
                <c:v>121.40499545698974</c:v>
              </c:pt>
              <c:pt idx="9">
                <c:v>120.53533349403845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618E-4207-B736-A9B73CBF9FD7}"/>
            </c:ext>
          </c:extLst>
        </c:ser>
        <c:ser>
          <c:idx val="1"/>
          <c:order val="1"/>
          <c:tx>
            <c:v>ESTEPA_NW_02</c:v>
          </c:tx>
          <c:spPr>
            <a:ln w="38100">
              <a:solidFill>
                <a:srgbClr val="3D8DFF"/>
              </a:solidFill>
              <a:prstDash val="solid"/>
            </a:ln>
          </c:spPr>
          <c:marker>
            <c:symbol val="circle"/>
            <c:size val="5"/>
            <c:spPr>
              <a:solidFill>
                <a:srgbClr val="3D8DFF"/>
              </a:solidFill>
            </c:spPr>
          </c:marker>
          <c:cat>
            <c:numLit>
              <c:formatCode>General</c:formatCode>
              <c:ptCount val="10"/>
              <c:pt idx="0">
                <c:v>2015</c:v>
              </c:pt>
              <c:pt idx="1">
                <c:v>2016</c:v>
              </c:pt>
              <c:pt idx="2">
                <c:v>2017</c:v>
              </c:pt>
              <c:pt idx="3">
                <c:v>2018</c:v>
              </c:pt>
              <c:pt idx="4">
                <c:v>2019</c:v>
              </c:pt>
              <c:pt idx="5">
                <c:v>2020</c:v>
              </c:pt>
              <c:pt idx="6">
                <c:v>2021</c:v>
              </c:pt>
              <c:pt idx="7">
                <c:v>2022</c:v>
              </c:pt>
              <c:pt idx="8">
                <c:v>2023</c:v>
              </c:pt>
              <c:pt idx="9">
                <c:v>2024</c:v>
              </c:pt>
            </c:numLit>
          </c:cat>
          <c:val>
            <c:numLit>
              <c:formatCode>0.0</c:formatCode>
              <c:ptCount val="10"/>
              <c:pt idx="0">
                <c:v>100</c:v>
              </c:pt>
              <c:pt idx="1">
                <c:v>149.81595092024543</c:v>
              </c:pt>
              <c:pt idx="2">
                <c:v>196.50306748466261</c:v>
              </c:pt>
              <c:pt idx="3">
                <c:v>256.31901840490798</c:v>
              </c:pt>
              <c:pt idx="4">
                <c:v>287.54601226993867</c:v>
              </c:pt>
              <c:pt idx="5">
                <c:v>272.26993865030676</c:v>
              </c:pt>
              <c:pt idx="6">
                <c:v>282.20858895705521</c:v>
              </c:pt>
              <c:pt idx="7">
                <c:v>302.94478527607362</c:v>
              </c:pt>
              <c:pt idx="8">
                <c:v>305.21472392638037</c:v>
              </c:pt>
              <c:pt idx="9">
                <c:v>296.01226993865032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1-618E-4207-B736-A9B73CBF9FD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B8BCC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endParaRPr lang="es-ES"/>
          </a:p>
        </c:txPr>
        <c:crossAx val="48672768"/>
        <c:crosses val="autoZero"/>
        <c:auto val="1"/>
        <c:lblAlgn val="ctr"/>
        <c:lblOffset val="90"/>
        <c:noMultiLvlLbl val="1"/>
      </c:catAx>
      <c:valAx>
        <c:axId val="48672768"/>
        <c:scaling>
          <c:orientation val="minMax"/>
          <c:max val="320"/>
          <c:min val="80"/>
        </c:scaling>
        <c:delete val="0"/>
        <c:axPos val="l"/>
        <c:majorGridlines>
          <c:spPr>
            <a:ln w="9525">
              <a:solidFill>
                <a:srgbClr val="E6E7E9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r>
                  <a:rPr lang="es-ES" sz="1200">
                    <a:solidFill>
                      <a:srgbClr val="111111"/>
                    </a:solidFill>
                    <a:latin typeface="Arial"/>
                    <a:ea typeface="Arial"/>
                    <a:cs typeface="Arial"/>
                  </a:rPr>
                  <a:t>Índice AGB (2015 = 100)</a:t>
                </a:r>
              </a:p>
            </c:rich>
          </c:tx>
          <c:overlay val="0"/>
        </c:title>
        <c:numFmt formatCode="0.0" sourceLinked="1"/>
        <c:majorTickMark val="none"/>
        <c:minorTickMark val="none"/>
        <c:tickLblPos val="nextTo"/>
        <c:spPr>
          <a:ln w="0">
            <a:solidFill>
              <a:srgbClr val="FFFFFF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endParaRPr lang="es-ES"/>
          </a:p>
        </c:txPr>
        <c:crossAx val="48650112"/>
        <c:crosses val="autoZero"/>
        <c:crossBetween val="between"/>
        <c:majorUnit val="40"/>
      </c:valAx>
      <c:spPr>
        <a:noFill/>
        <a:ln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anchorCtr="1"/>
        <a:lstStyle/>
        <a:p>
          <a:pPr>
            <a:defRPr sz="1275">
              <a:solidFill>
                <a:srgbClr val="111111"/>
              </a:solidFill>
              <a:latin typeface="Arial"/>
              <a:ea typeface="Arial"/>
              <a:cs typeface="Arial"/>
            </a:defRPr>
          </a:pPr>
          <a:endParaRPr lang="es-ES"/>
        </a:p>
      </c:txPr>
    </c:legend>
    <c:plotVisOnly val="1"/>
    <c:dispBlanksAs val="gap"/>
    <c:showDLblsOverMax val="1"/>
  </c:chart>
  <c:spPr>
    <a:solidFill>
      <a:srgbClr val="FFFFFF"/>
    </a:solidFill>
    <a:ln w="0">
      <a:solidFill>
        <a:srgbClr val="FFFFFF"/>
      </a:solidFill>
      <a:prstDash val="solid"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s-MX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v>AGB media</c:v>
          </c:tx>
          <c:spPr>
            <a:ln w="38100">
              <a:solidFill>
                <a:srgbClr val="1B6B4A"/>
              </a:solidFill>
              <a:prstDash val="solid"/>
            </a:ln>
          </c:spPr>
          <c:marker>
            <c:symbol val="circle"/>
            <c:size val="5"/>
            <c:spPr>
              <a:solidFill>
                <a:srgbClr val="1B6B4A"/>
              </a:solidFill>
            </c:spPr>
          </c:marker>
          <c:cat>
            <c:numLit>
              <c:formatCode>General</c:formatCode>
              <c:ptCount val="18"/>
              <c:pt idx="0">
                <c:v>2005</c:v>
              </c:pt>
              <c:pt idx="1">
                <c:v>2006</c:v>
              </c:pt>
              <c:pt idx="2">
                <c:v>2007</c:v>
              </c:pt>
              <c:pt idx="3">
                <c:v>2008</c:v>
              </c:pt>
              <c:pt idx="4">
                <c:v>2009</c:v>
              </c:pt>
              <c:pt idx="5">
                <c:v>2010</c:v>
              </c:pt>
              <c:pt idx="6">
                <c:v>2011</c:v>
              </c:pt>
              <c:pt idx="7">
                <c:v>2012</c:v>
              </c:pt>
              <c:pt idx="8">
                <c:v>2015</c:v>
              </c:pt>
              <c:pt idx="9">
                <c:v>2016</c:v>
              </c:pt>
              <c:pt idx="10">
                <c:v>2017</c:v>
              </c:pt>
              <c:pt idx="11">
                <c:v>2018</c:v>
              </c:pt>
              <c:pt idx="12">
                <c:v>2019</c:v>
              </c:pt>
              <c:pt idx="13">
                <c:v>2020</c:v>
              </c:pt>
              <c:pt idx="14">
                <c:v>2021</c:v>
              </c:pt>
              <c:pt idx="15">
                <c:v>2022</c:v>
              </c:pt>
              <c:pt idx="16">
                <c:v>2023</c:v>
              </c:pt>
              <c:pt idx="17">
                <c:v>2024</c:v>
              </c:pt>
            </c:numLit>
          </c:cat>
          <c:val>
            <c:numLit>
              <c:formatCode>0.0</c:formatCode>
              <c:ptCount val="18"/>
              <c:pt idx="0">
                <c:v>92.594999999999999</c:v>
              </c:pt>
              <c:pt idx="1">
                <c:v>92.594999999999999</c:v>
              </c:pt>
              <c:pt idx="2">
                <c:v>96.756</c:v>
              </c:pt>
              <c:pt idx="3">
                <c:v>101.89400000000001</c:v>
              </c:pt>
              <c:pt idx="4">
                <c:v>98.307000000000002</c:v>
              </c:pt>
              <c:pt idx="5">
                <c:v>103.145</c:v>
              </c:pt>
              <c:pt idx="6">
                <c:v>104.664</c:v>
              </c:pt>
              <c:pt idx="7">
                <c:v>103.066</c:v>
              </c:pt>
              <c:pt idx="8">
                <c:v>107.858</c:v>
              </c:pt>
              <c:pt idx="9">
                <c:v>112.045</c:v>
              </c:pt>
              <c:pt idx="10">
                <c:v>116.974</c:v>
              </c:pt>
              <c:pt idx="11">
                <c:v>122.849</c:v>
              </c:pt>
              <c:pt idx="12">
                <c:v>131.56100000000001</c:v>
              </c:pt>
              <c:pt idx="13">
                <c:v>132.65</c:v>
              </c:pt>
              <c:pt idx="14">
                <c:v>128.63999999999999</c:v>
              </c:pt>
              <c:pt idx="15">
                <c:v>131.34800000000001</c:v>
              </c:pt>
              <c:pt idx="16">
                <c:v>130.94499999999999</c:v>
              </c:pt>
              <c:pt idx="17">
                <c:v>130.00700000000001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C5C3-486A-B183-589615D7C219}"/>
            </c:ext>
          </c:extLst>
        </c:ser>
        <c:ser>
          <c:idx val="1"/>
          <c:order val="1"/>
          <c:tx>
            <c:v>Incertidumbre media</c:v>
          </c:tx>
          <c:spPr>
            <a:ln w="28575">
              <a:solidFill>
                <a:srgbClr val="D97706"/>
              </a:solidFill>
              <a:prstDash val="solid"/>
            </a:ln>
          </c:spPr>
          <c:marker>
            <c:symbol val="diamond"/>
            <c:size val="4"/>
            <c:spPr>
              <a:solidFill>
                <a:srgbClr val="D97706"/>
              </a:solidFill>
            </c:spPr>
          </c:marker>
          <c:cat>
            <c:numLit>
              <c:formatCode>General</c:formatCode>
              <c:ptCount val="18"/>
              <c:pt idx="0">
                <c:v>2005</c:v>
              </c:pt>
              <c:pt idx="1">
                <c:v>2006</c:v>
              </c:pt>
              <c:pt idx="2">
                <c:v>2007</c:v>
              </c:pt>
              <c:pt idx="3">
                <c:v>2008</c:v>
              </c:pt>
              <c:pt idx="4">
                <c:v>2009</c:v>
              </c:pt>
              <c:pt idx="5">
                <c:v>2010</c:v>
              </c:pt>
              <c:pt idx="6">
                <c:v>2011</c:v>
              </c:pt>
              <c:pt idx="7">
                <c:v>2012</c:v>
              </c:pt>
              <c:pt idx="8">
                <c:v>2015</c:v>
              </c:pt>
              <c:pt idx="9">
                <c:v>2016</c:v>
              </c:pt>
              <c:pt idx="10">
                <c:v>2017</c:v>
              </c:pt>
              <c:pt idx="11">
                <c:v>2018</c:v>
              </c:pt>
              <c:pt idx="12">
                <c:v>2019</c:v>
              </c:pt>
              <c:pt idx="13">
                <c:v>2020</c:v>
              </c:pt>
              <c:pt idx="14">
                <c:v>2021</c:v>
              </c:pt>
              <c:pt idx="15">
                <c:v>2022</c:v>
              </c:pt>
              <c:pt idx="16">
                <c:v>2023</c:v>
              </c:pt>
              <c:pt idx="17">
                <c:v>2024</c:v>
              </c:pt>
            </c:numLit>
          </c:cat>
          <c:val>
            <c:numLit>
              <c:formatCode>0.0</c:formatCode>
              <c:ptCount val="18"/>
              <c:pt idx="0">
                <c:v>60.798000000000002</c:v>
              </c:pt>
              <c:pt idx="1">
                <c:v>60.798000000000002</c:v>
              </c:pt>
              <c:pt idx="2">
                <c:v>51.058</c:v>
              </c:pt>
              <c:pt idx="3">
                <c:v>55.652999999999999</c:v>
              </c:pt>
              <c:pt idx="4">
                <c:v>51.621000000000002</c:v>
              </c:pt>
              <c:pt idx="5">
                <c:v>52.439</c:v>
              </c:pt>
              <c:pt idx="6">
                <c:v>56.134</c:v>
              </c:pt>
              <c:pt idx="7">
                <c:v>54.432000000000002</c:v>
              </c:pt>
              <c:pt idx="8">
                <c:v>64.692999999999998</c:v>
              </c:pt>
              <c:pt idx="9">
                <c:v>51.491</c:v>
              </c:pt>
              <c:pt idx="10">
                <c:v>48.661999999999999</c:v>
              </c:pt>
              <c:pt idx="11">
                <c:v>51.116999999999997</c:v>
              </c:pt>
              <c:pt idx="12">
                <c:v>56.180999999999997</c:v>
              </c:pt>
              <c:pt idx="13">
                <c:v>55.179000000000002</c:v>
              </c:pt>
              <c:pt idx="14">
                <c:v>55.131999999999998</c:v>
              </c:pt>
              <c:pt idx="15">
                <c:v>54.704000000000001</c:v>
              </c:pt>
              <c:pt idx="16">
                <c:v>55.378</c:v>
              </c:pt>
              <c:pt idx="17">
                <c:v>54.963000000000001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1-C5C3-486A-B183-589615D7C21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B8BCC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endParaRPr lang="es-ES"/>
          </a:p>
        </c:txPr>
        <c:crossAx val="48672768"/>
        <c:crosses val="autoZero"/>
        <c:auto val="1"/>
        <c:lblAlgn val="ctr"/>
        <c:lblOffset val="90"/>
        <c:noMultiLvlLbl val="1"/>
      </c:catAx>
      <c:valAx>
        <c:axId val="48672768"/>
        <c:scaling>
          <c:orientation val="minMax"/>
          <c:max val="160"/>
          <c:min val="0"/>
        </c:scaling>
        <c:delete val="0"/>
        <c:axPos val="l"/>
        <c:majorGridlines>
          <c:spPr>
            <a:ln w="9525">
              <a:solidFill>
                <a:srgbClr val="E6E7E9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r>
                  <a:rPr lang="es-ES" sz="1200">
                    <a:solidFill>
                      <a:srgbClr val="111111"/>
                    </a:solidFill>
                    <a:latin typeface="Arial"/>
                    <a:ea typeface="Arial"/>
                    <a:cs typeface="Arial"/>
                  </a:rPr>
                  <a:t>Mg/ha</a:t>
                </a:r>
              </a:p>
            </c:rich>
          </c:tx>
          <c:overlay val="0"/>
        </c:title>
        <c:numFmt formatCode="0.0" sourceLinked="1"/>
        <c:majorTickMark val="none"/>
        <c:minorTickMark val="none"/>
        <c:tickLblPos val="nextTo"/>
        <c:spPr>
          <a:ln w="0">
            <a:solidFill>
              <a:srgbClr val="FFFFFF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endParaRPr lang="es-ES"/>
          </a:p>
        </c:txPr>
        <c:crossAx val="48650112"/>
        <c:crosses val="autoZero"/>
        <c:crossBetween val="between"/>
        <c:majorUnit val="20"/>
      </c:valAx>
      <c:spPr>
        <a:noFill/>
        <a:ln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anchorCtr="1"/>
        <a:lstStyle/>
        <a:p>
          <a:pPr>
            <a:defRPr sz="1275">
              <a:solidFill>
                <a:srgbClr val="111111"/>
              </a:solidFill>
              <a:latin typeface="Arial"/>
              <a:ea typeface="Arial"/>
              <a:cs typeface="Arial"/>
            </a:defRPr>
          </a:pPr>
          <a:endParaRPr lang="es-ES"/>
        </a:p>
      </c:txPr>
    </c:legend>
    <c:plotVisOnly val="1"/>
    <c:dispBlanksAs val="gap"/>
    <c:showDLblsOverMax val="1"/>
  </c:chart>
  <c:spPr>
    <a:solidFill>
      <a:srgbClr val="FFFFFF"/>
    </a:solidFill>
    <a:ln w="0">
      <a:solidFill>
        <a:srgbClr val="FFFFFF"/>
      </a:solidFill>
      <a:prstDash val="solid"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s-MX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Cambio medio</c:v>
          </c:tx>
          <c:spPr>
            <a:solidFill>
              <a:srgbClr val="1B6B4A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125">
                    <a:solidFill>
                      <a:srgbClr val="111111"/>
                    </a:solidFill>
                    <a:latin typeface="Arial"/>
                    <a:ea typeface="Arial"/>
                    <a:cs typeface="Arial"/>
                  </a:defRPr>
                </a:pPr>
                <a:endParaRPr lang="es-E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2"/>
              <c:pt idx="0">
                <c:v>2010–2020</c:v>
              </c:pt>
              <c:pt idx="1">
                <c:v>2019–2020</c:v>
              </c:pt>
            </c:strLit>
          </c:cat>
          <c:val>
            <c:numLit>
              <c:formatCode>0.0</c:formatCode>
              <c:ptCount val="2"/>
              <c:pt idx="0">
                <c:v>32.472999999999999</c:v>
              </c:pt>
              <c:pt idx="1">
                <c:v>1.198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86CC-4DE1-8DCC-14340785ADFF}"/>
            </c:ext>
          </c:extLst>
        </c:ser>
        <c:ser>
          <c:idx val="1"/>
          <c:order val="1"/>
          <c:tx>
            <c:v>SD del cambio</c:v>
          </c:tx>
          <c:spPr>
            <a:solidFill>
              <a:srgbClr val="D97706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125">
                    <a:solidFill>
                      <a:srgbClr val="111111"/>
                    </a:solidFill>
                    <a:latin typeface="Arial"/>
                    <a:ea typeface="Arial"/>
                    <a:cs typeface="Arial"/>
                  </a:defRPr>
                </a:pPr>
                <a:endParaRPr lang="es-E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2"/>
              <c:pt idx="0">
                <c:v>2010–2020</c:v>
              </c:pt>
              <c:pt idx="1">
                <c:v>2019–2020</c:v>
              </c:pt>
            </c:strLit>
          </c:cat>
          <c:val>
            <c:numLit>
              <c:formatCode>0.0</c:formatCode>
              <c:ptCount val="2"/>
              <c:pt idx="0">
                <c:v>85.903000000000006</c:v>
              </c:pt>
              <c:pt idx="1">
                <c:v>86.972999999999999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86CC-4DE1-8DCC-14340785ADF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B8BCC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endParaRPr lang="es-E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10"/>
          <c:min val="0"/>
        </c:scaling>
        <c:delete val="0"/>
        <c:axPos val="l"/>
        <c:majorGridlines>
          <c:spPr>
            <a:ln w="9525">
              <a:solidFill>
                <a:srgbClr val="E6E7E9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r>
                  <a:rPr lang="es-ES" sz="1200">
                    <a:solidFill>
                      <a:srgbClr val="111111"/>
                    </a:solidFill>
                    <a:latin typeface="Arial"/>
                    <a:ea typeface="Arial"/>
                    <a:cs typeface="Arial"/>
                  </a:rPr>
                  <a:t>Mg/ha</a:t>
                </a:r>
              </a:p>
            </c:rich>
          </c:tx>
          <c:overlay val="0"/>
        </c:title>
        <c:numFmt formatCode="0.0" sourceLinked="1"/>
        <c:majorTickMark val="none"/>
        <c:minorTickMark val="none"/>
        <c:tickLblPos val="nextTo"/>
        <c:spPr>
          <a:ln w="0">
            <a:solidFill>
              <a:srgbClr val="FFFFFF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endParaRPr lang="es-ES"/>
          </a:p>
        </c:txPr>
        <c:crossAx val="48650112"/>
        <c:crosses val="autoZero"/>
        <c:crossBetween val="between"/>
      </c:valAx>
      <c:spPr>
        <a:noFill/>
        <a:ln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anchorCtr="1"/>
        <a:lstStyle/>
        <a:p>
          <a:pPr>
            <a:defRPr sz="1200">
              <a:solidFill>
                <a:srgbClr val="111111"/>
              </a:solidFill>
              <a:latin typeface="Arial"/>
              <a:ea typeface="Arial"/>
              <a:cs typeface="Arial"/>
            </a:defRPr>
          </a:pPr>
          <a:endParaRPr lang="es-ES"/>
        </a:p>
      </c:txPr>
    </c:legend>
    <c:plotVisOnly val="1"/>
    <c:dispBlanksAs val="zero"/>
    <c:showDLblsOverMax val="1"/>
  </c:chart>
  <c:spPr>
    <a:solidFill>
      <a:srgbClr val="FFFFFF"/>
    </a:solidFill>
    <a:ln w="0">
      <a:solidFill>
        <a:srgbClr val="FFFFFF"/>
      </a:solidFill>
      <a:prstDash val="solid"/>
    </a:ln>
  </c:sp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s-MX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v>AGB media</c:v>
          </c:tx>
          <c:spPr>
            <a:ln w="38100">
              <a:solidFill>
                <a:srgbClr val="1B6B4A"/>
              </a:solidFill>
              <a:prstDash val="solid"/>
            </a:ln>
          </c:spPr>
          <c:marker>
            <c:symbol val="circle"/>
            <c:size val="5"/>
            <c:spPr>
              <a:solidFill>
                <a:srgbClr val="1B6B4A"/>
              </a:solidFill>
            </c:spPr>
          </c:marker>
          <c:cat>
            <c:numLit>
              <c:formatCode>General</c:formatCode>
              <c:ptCount val="18"/>
              <c:pt idx="0">
                <c:v>2005</c:v>
              </c:pt>
              <c:pt idx="1">
                <c:v>2006</c:v>
              </c:pt>
              <c:pt idx="2">
                <c:v>2007</c:v>
              </c:pt>
              <c:pt idx="3">
                <c:v>2008</c:v>
              </c:pt>
              <c:pt idx="4">
                <c:v>2009</c:v>
              </c:pt>
              <c:pt idx="5">
                <c:v>2010</c:v>
              </c:pt>
              <c:pt idx="6">
                <c:v>2011</c:v>
              </c:pt>
              <c:pt idx="7">
                <c:v>2012</c:v>
              </c:pt>
              <c:pt idx="8">
                <c:v>2015</c:v>
              </c:pt>
              <c:pt idx="9">
                <c:v>2016</c:v>
              </c:pt>
              <c:pt idx="10">
                <c:v>2017</c:v>
              </c:pt>
              <c:pt idx="11">
                <c:v>2018</c:v>
              </c:pt>
              <c:pt idx="12">
                <c:v>2019</c:v>
              </c:pt>
              <c:pt idx="13">
                <c:v>2020</c:v>
              </c:pt>
              <c:pt idx="14">
                <c:v>2021</c:v>
              </c:pt>
              <c:pt idx="15">
                <c:v>2022</c:v>
              </c:pt>
              <c:pt idx="16">
                <c:v>2023</c:v>
              </c:pt>
              <c:pt idx="17">
                <c:v>2024</c:v>
              </c:pt>
            </c:numLit>
          </c:cat>
          <c:val>
            <c:numLit>
              <c:formatCode>0.0</c:formatCode>
              <c:ptCount val="18"/>
              <c:pt idx="0">
                <c:v>1.5429999999999999</c:v>
              </c:pt>
              <c:pt idx="1">
                <c:v>1.6619999999999999</c:v>
              </c:pt>
              <c:pt idx="2">
                <c:v>1.782</c:v>
              </c:pt>
              <c:pt idx="3">
                <c:v>1.83</c:v>
              </c:pt>
              <c:pt idx="4">
                <c:v>2.2050000000000001</c:v>
              </c:pt>
              <c:pt idx="5">
                <c:v>2.0219999999999998</c:v>
              </c:pt>
              <c:pt idx="6">
                <c:v>1.8959999999999999</c:v>
              </c:pt>
              <c:pt idx="7">
                <c:v>1.847</c:v>
              </c:pt>
              <c:pt idx="8">
                <c:v>1.63</c:v>
              </c:pt>
              <c:pt idx="9">
                <c:v>2.4420000000000002</c:v>
              </c:pt>
              <c:pt idx="10">
                <c:v>3.2029999999999998</c:v>
              </c:pt>
              <c:pt idx="11">
                <c:v>4.1779999999999999</c:v>
              </c:pt>
              <c:pt idx="12">
                <c:v>4.6870000000000003</c:v>
              </c:pt>
              <c:pt idx="13">
                <c:v>4.4379999999999997</c:v>
              </c:pt>
              <c:pt idx="14">
                <c:v>4.5999999999999996</c:v>
              </c:pt>
              <c:pt idx="15">
                <c:v>4.9379999999999997</c:v>
              </c:pt>
              <c:pt idx="16">
                <c:v>4.9749999999999996</c:v>
              </c:pt>
              <c:pt idx="17">
                <c:v>4.8250000000000002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7980-440D-BD2B-50BEF20EF226}"/>
            </c:ext>
          </c:extLst>
        </c:ser>
        <c:ser>
          <c:idx val="1"/>
          <c:order val="1"/>
          <c:tx>
            <c:v>Incertidumbre media</c:v>
          </c:tx>
          <c:spPr>
            <a:ln w="28575">
              <a:solidFill>
                <a:srgbClr val="D97706"/>
              </a:solidFill>
              <a:prstDash val="solid"/>
            </a:ln>
          </c:spPr>
          <c:marker>
            <c:symbol val="diamond"/>
            <c:size val="4"/>
            <c:spPr>
              <a:solidFill>
                <a:srgbClr val="D97706"/>
              </a:solidFill>
            </c:spPr>
          </c:marker>
          <c:cat>
            <c:numLit>
              <c:formatCode>General</c:formatCode>
              <c:ptCount val="18"/>
              <c:pt idx="0">
                <c:v>2005</c:v>
              </c:pt>
              <c:pt idx="1">
                <c:v>2006</c:v>
              </c:pt>
              <c:pt idx="2">
                <c:v>2007</c:v>
              </c:pt>
              <c:pt idx="3">
                <c:v>2008</c:v>
              </c:pt>
              <c:pt idx="4">
                <c:v>2009</c:v>
              </c:pt>
              <c:pt idx="5">
                <c:v>2010</c:v>
              </c:pt>
              <c:pt idx="6">
                <c:v>2011</c:v>
              </c:pt>
              <c:pt idx="7">
                <c:v>2012</c:v>
              </c:pt>
              <c:pt idx="8">
                <c:v>2015</c:v>
              </c:pt>
              <c:pt idx="9">
                <c:v>2016</c:v>
              </c:pt>
              <c:pt idx="10">
                <c:v>2017</c:v>
              </c:pt>
              <c:pt idx="11">
                <c:v>2018</c:v>
              </c:pt>
              <c:pt idx="12">
                <c:v>2019</c:v>
              </c:pt>
              <c:pt idx="13">
                <c:v>2020</c:v>
              </c:pt>
              <c:pt idx="14">
                <c:v>2021</c:v>
              </c:pt>
              <c:pt idx="15">
                <c:v>2022</c:v>
              </c:pt>
              <c:pt idx="16">
                <c:v>2023</c:v>
              </c:pt>
              <c:pt idx="17">
                <c:v>2024</c:v>
              </c:pt>
            </c:numLit>
          </c:cat>
          <c:val>
            <c:numLit>
              <c:formatCode>0.0</c:formatCode>
              <c:ptCount val="18"/>
              <c:pt idx="0">
                <c:v>1.02</c:v>
              </c:pt>
              <c:pt idx="1">
                <c:v>0.98499999999999999</c:v>
              </c:pt>
              <c:pt idx="2">
                <c:v>0.98</c:v>
              </c:pt>
              <c:pt idx="3">
                <c:v>0.88900000000000001</c:v>
              </c:pt>
              <c:pt idx="4">
                <c:v>1.4239999999999999</c:v>
              </c:pt>
              <c:pt idx="5">
                <c:v>1.147</c:v>
              </c:pt>
              <c:pt idx="6">
                <c:v>1.1299999999999999</c:v>
              </c:pt>
              <c:pt idx="7">
                <c:v>1.177</c:v>
              </c:pt>
              <c:pt idx="8">
                <c:v>1.077</c:v>
              </c:pt>
              <c:pt idx="9">
                <c:v>1.206</c:v>
              </c:pt>
              <c:pt idx="10">
                <c:v>1.373</c:v>
              </c:pt>
              <c:pt idx="11">
                <c:v>1.8540000000000001</c:v>
              </c:pt>
              <c:pt idx="12">
                <c:v>2.0859999999999999</c:v>
              </c:pt>
              <c:pt idx="13">
                <c:v>1.9750000000000001</c:v>
              </c:pt>
              <c:pt idx="14">
                <c:v>2.0859999999999999</c:v>
              </c:pt>
              <c:pt idx="15">
                <c:v>2.274</c:v>
              </c:pt>
              <c:pt idx="16">
                <c:v>2.2309999999999999</c:v>
              </c:pt>
              <c:pt idx="17">
                <c:v>2.2050000000000001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1-7980-440D-BD2B-50BEF20EF2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B8BCC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endParaRPr lang="es-ES"/>
          </a:p>
        </c:txPr>
        <c:crossAx val="48672768"/>
        <c:crosses val="autoZero"/>
        <c:auto val="1"/>
        <c:lblAlgn val="ctr"/>
        <c:lblOffset val="90"/>
        <c:noMultiLvlLbl val="1"/>
      </c:catAx>
      <c:valAx>
        <c:axId val="48672768"/>
        <c:scaling>
          <c:orientation val="minMax"/>
          <c:max val="6"/>
          <c:min val="0"/>
        </c:scaling>
        <c:delete val="0"/>
        <c:axPos val="l"/>
        <c:majorGridlines>
          <c:spPr>
            <a:ln w="9525">
              <a:solidFill>
                <a:srgbClr val="E6E7E9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r>
                  <a:rPr lang="es-ES" sz="1200">
                    <a:solidFill>
                      <a:srgbClr val="111111"/>
                    </a:solidFill>
                    <a:latin typeface="Arial"/>
                    <a:ea typeface="Arial"/>
                    <a:cs typeface="Arial"/>
                  </a:rPr>
                  <a:t>Mg/ha</a:t>
                </a:r>
              </a:p>
            </c:rich>
          </c:tx>
          <c:overlay val="0"/>
        </c:title>
        <c:numFmt formatCode="0.0" sourceLinked="1"/>
        <c:majorTickMark val="none"/>
        <c:minorTickMark val="none"/>
        <c:tickLblPos val="nextTo"/>
        <c:spPr>
          <a:ln w="0">
            <a:solidFill>
              <a:srgbClr val="FFFFFF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endParaRPr lang="es-ES"/>
          </a:p>
        </c:txPr>
        <c:crossAx val="48650112"/>
        <c:crosses val="autoZero"/>
        <c:crossBetween val="between"/>
        <c:majorUnit val="1"/>
      </c:valAx>
      <c:spPr>
        <a:noFill/>
        <a:ln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anchorCtr="1"/>
        <a:lstStyle/>
        <a:p>
          <a:pPr>
            <a:defRPr sz="1275">
              <a:solidFill>
                <a:srgbClr val="111111"/>
              </a:solidFill>
              <a:latin typeface="Arial"/>
              <a:ea typeface="Arial"/>
              <a:cs typeface="Arial"/>
            </a:defRPr>
          </a:pPr>
          <a:endParaRPr lang="es-ES"/>
        </a:p>
      </c:txPr>
    </c:legend>
    <c:plotVisOnly val="1"/>
    <c:dispBlanksAs val="gap"/>
    <c:showDLblsOverMax val="1"/>
  </c:chart>
  <c:spPr>
    <a:solidFill>
      <a:srgbClr val="FFFFFF"/>
    </a:solidFill>
    <a:ln w="0">
      <a:solidFill>
        <a:srgbClr val="FFFFFF"/>
      </a:solidFill>
      <a:prstDash val="solid"/>
    </a:ln>
  </c:spPr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s-MX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Cambio medio</c:v>
          </c:tx>
          <c:spPr>
            <a:solidFill>
              <a:srgbClr val="1B6B4A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125">
                    <a:solidFill>
                      <a:srgbClr val="111111"/>
                    </a:solidFill>
                    <a:latin typeface="Arial"/>
                    <a:ea typeface="Arial"/>
                    <a:cs typeface="Arial"/>
                  </a:defRPr>
                </a:pPr>
                <a:endParaRPr lang="es-E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2"/>
              <c:pt idx="0">
                <c:v>2010–2020</c:v>
              </c:pt>
              <c:pt idx="1">
                <c:v>2019–2020</c:v>
              </c:pt>
            </c:strLit>
          </c:cat>
          <c:val>
            <c:numLit>
              <c:formatCode>0.0</c:formatCode>
              <c:ptCount val="2"/>
              <c:pt idx="0">
                <c:v>9.1310000000000002</c:v>
              </c:pt>
              <c:pt idx="1">
                <c:v>-0.82399999999999995</c:v>
              </c:pt>
            </c:numLit>
          </c:val>
          <c:extLst>
            <c:ext xmlns:c16="http://schemas.microsoft.com/office/drawing/2014/chart" uri="{C3380CC4-5D6E-409C-BE32-E72D297353CC}">
              <c16:uniqueId val="{00000000-D7B2-418B-9221-C06AD8A21209}"/>
            </c:ext>
          </c:extLst>
        </c:ser>
        <c:ser>
          <c:idx val="1"/>
          <c:order val="1"/>
          <c:tx>
            <c:v>SD del cambio</c:v>
          </c:tx>
          <c:spPr>
            <a:solidFill>
              <a:srgbClr val="D97706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125">
                    <a:solidFill>
                      <a:srgbClr val="111111"/>
                    </a:solidFill>
                    <a:latin typeface="Arial"/>
                    <a:ea typeface="Arial"/>
                    <a:cs typeface="Arial"/>
                  </a:defRPr>
                </a:pPr>
                <a:endParaRPr lang="es-E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2"/>
              <c:pt idx="0">
                <c:v>2010–2020</c:v>
              </c:pt>
              <c:pt idx="1">
                <c:v>2019–2020</c:v>
              </c:pt>
            </c:strLit>
          </c:cat>
          <c:val>
            <c:numLit>
              <c:formatCode>0.0</c:formatCode>
              <c:ptCount val="2"/>
              <c:pt idx="0">
                <c:v>9.5169999999999995</c:v>
              </c:pt>
              <c:pt idx="1">
                <c:v>9.6470000000000002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D7B2-418B-9221-C06AD8A2120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B8BCC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endParaRPr lang="es-E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4"/>
          <c:min val="-2"/>
        </c:scaling>
        <c:delete val="0"/>
        <c:axPos val="l"/>
        <c:majorGridlines>
          <c:spPr>
            <a:ln w="9525">
              <a:solidFill>
                <a:srgbClr val="E6E7E9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r>
                  <a:rPr lang="es-ES" sz="1200">
                    <a:solidFill>
                      <a:srgbClr val="111111"/>
                    </a:solidFill>
                    <a:latin typeface="Arial"/>
                    <a:ea typeface="Arial"/>
                    <a:cs typeface="Arial"/>
                  </a:rPr>
                  <a:t>Mg/ha</a:t>
                </a:r>
              </a:p>
            </c:rich>
          </c:tx>
          <c:overlay val="0"/>
        </c:title>
        <c:numFmt formatCode="0.0" sourceLinked="1"/>
        <c:majorTickMark val="none"/>
        <c:minorTickMark val="none"/>
        <c:tickLblPos val="nextTo"/>
        <c:spPr>
          <a:ln w="0">
            <a:solidFill>
              <a:srgbClr val="FFFFFF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endParaRPr lang="es-ES"/>
          </a:p>
        </c:txPr>
        <c:crossAx val="48650112"/>
        <c:crosses val="autoZero"/>
        <c:crossBetween val="between"/>
      </c:valAx>
      <c:spPr>
        <a:noFill/>
        <a:ln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anchorCtr="1"/>
        <a:lstStyle/>
        <a:p>
          <a:pPr>
            <a:defRPr sz="1200">
              <a:solidFill>
                <a:srgbClr val="111111"/>
              </a:solidFill>
              <a:latin typeface="Arial"/>
              <a:ea typeface="Arial"/>
              <a:cs typeface="Arial"/>
            </a:defRPr>
          </a:pPr>
          <a:endParaRPr lang="es-ES"/>
        </a:p>
      </c:txPr>
    </c:legend>
    <c:plotVisOnly val="1"/>
    <c:dispBlanksAs val="zero"/>
    <c:showDLblsOverMax val="1"/>
  </c:chart>
  <c:spPr>
    <a:solidFill>
      <a:srgbClr val="FFFFFF"/>
    </a:solidFill>
    <a:ln w="0">
      <a:solidFill>
        <a:srgbClr val="FFFFFF"/>
      </a:solidFill>
      <a:prstDash val="solid"/>
    </a:ln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1" i="0">
                <a:solidFill>
                  <a:srgbClr val="1F2F28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64726B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10">
                <a:solidFill>
                  <a:srgbClr val="BBC8C1"/>
                </a:solidFill>
              </a:rPr>
              <a:t>ICESat-</a:t>
            </a:r>
            <a:r>
              <a:rPr>
                <a:solidFill>
                  <a:srgbClr val="BBC8C1"/>
                </a:solidFill>
              </a:rPr>
              <a:t>2</a:t>
            </a:r>
            <a:r>
              <a:rPr spc="-10">
                <a:solidFill>
                  <a:srgbClr val="BBC8C1"/>
                </a:solidFill>
              </a:rPr>
              <a:t> </a:t>
            </a:r>
            <a:r>
              <a:rPr>
                <a:solidFill>
                  <a:srgbClr val="BBC8C1"/>
                </a:solidFill>
              </a:rPr>
              <a:t>·</a:t>
            </a:r>
            <a:r>
              <a:rPr spc="-50">
                <a:solidFill>
                  <a:srgbClr val="BBC8C1"/>
                </a:solidFill>
              </a:rPr>
              <a:t> </a:t>
            </a:r>
            <a:r>
              <a:rPr spc="-10">
                <a:solidFill>
                  <a:srgbClr val="BBC8C1"/>
                </a:solidFill>
              </a:rPr>
              <a:t>ATLAS</a:t>
            </a:r>
            <a:r>
              <a:rPr>
                <a:solidFill>
                  <a:srgbClr val="BBC8C1"/>
                </a:solidFill>
              </a:rPr>
              <a:t> ·</a:t>
            </a:r>
            <a:r>
              <a:rPr spc="-50">
                <a:solidFill>
                  <a:srgbClr val="BBC8C1"/>
                </a:solidFill>
              </a:rPr>
              <a:t> </a:t>
            </a:r>
            <a:r>
              <a:rPr spc="-20">
                <a:solidFill>
                  <a:srgbClr val="BBC8C1"/>
                </a:solidFill>
              </a:rPr>
              <a:t>ATL08</a:t>
            </a:r>
            <a:r>
              <a:rPr>
                <a:solidFill>
                  <a:srgbClr val="BBC8C1"/>
                </a:solidFill>
              </a:rPr>
              <a:t> </a:t>
            </a:r>
            <a:r>
              <a:rPr spc="-20">
                <a:solidFill>
                  <a:srgbClr val="BBC8C1"/>
                </a:solidFill>
              </a:rPr>
              <a:t>V007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64726B"/>
                </a:solidFill>
                <a:latin typeface="Arial"/>
                <a:cs typeface="Arial"/>
              </a:defRPr>
            </a:lvl1pPr>
          </a:lstStyle>
          <a:p>
            <a:pPr marL="70485">
              <a:lnSpc>
                <a:spcPct val="100000"/>
              </a:lnSpc>
              <a:spcBef>
                <a:spcPts val="50"/>
              </a:spcBef>
              <a:tabLst>
                <a:tab pos="1437005" algn="l"/>
              </a:tabLst>
            </a:pPr>
            <a:r>
              <a:rPr>
                <a:solidFill>
                  <a:srgbClr val="BBC8C1"/>
                </a:solidFill>
              </a:rPr>
              <a:t>Héctor</a:t>
            </a:r>
            <a:r>
              <a:rPr spc="60">
                <a:solidFill>
                  <a:srgbClr val="BBC8C1"/>
                </a:solidFill>
              </a:rPr>
              <a:t> </a:t>
            </a:r>
            <a:r>
              <a:rPr>
                <a:solidFill>
                  <a:srgbClr val="BBC8C1"/>
                </a:solidFill>
              </a:rPr>
              <a:t>Francisco</a:t>
            </a:r>
            <a:r>
              <a:rPr spc="60">
                <a:solidFill>
                  <a:srgbClr val="BBC8C1"/>
                </a:solidFill>
              </a:rPr>
              <a:t> </a:t>
            </a:r>
            <a:r>
              <a:rPr>
                <a:solidFill>
                  <a:srgbClr val="BBC8C1"/>
                </a:solidFill>
              </a:rPr>
              <a:t>del</a:t>
            </a:r>
            <a:r>
              <a:rPr spc="60">
                <a:solidFill>
                  <a:srgbClr val="BBC8C1"/>
                </a:solidFill>
              </a:rPr>
              <a:t> </a:t>
            </a:r>
            <a:r>
              <a:rPr spc="-20">
                <a:solidFill>
                  <a:srgbClr val="BBC8C1"/>
                </a:solidFill>
              </a:rPr>
              <a:t>Valle</a:t>
            </a:r>
            <a:r>
              <a:rPr>
                <a:solidFill>
                  <a:srgbClr val="BBC8C1"/>
                </a:solidFill>
              </a:rPr>
              <a:t>	</a:t>
            </a:r>
            <a:fld id="{81D60167-4931-47E6-BA6A-407CBD079E47}" type="slidenum">
              <a:rPr spc="-20" dirty="0">
                <a:solidFill>
                  <a:srgbClr val="BBC8C1"/>
                </a:solidFill>
              </a:rPr>
              <a:t>‹Nº›</a:t>
            </a:fld>
            <a:r>
              <a:rPr spc="-20">
                <a:solidFill>
                  <a:srgbClr val="BBC8C1"/>
                </a:solidFill>
              </a:rPr>
              <a:t>/40</a:t>
            </a:r>
          </a:p>
        </p:txBody>
      </p:sp>
    </p:spTree>
    <p:extLst>
      <p:ext uri="{BB962C8B-B14F-4D97-AF65-F5344CB8AC3E}">
        <p14:creationId xmlns:p14="http://schemas.microsoft.com/office/powerpoint/2010/main" val="9399304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climate.esa.int/en/catalogue/6429d1aafe1e43b9b414e4a5a7f8b903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climate.esa.int/media/documents/Product_User_Guide_PUG_V7.0.pdf" TargetMode="External"/><Relationship Id="rId5" Type="http://schemas.openxmlformats.org/officeDocument/2006/relationships/hyperlink" Target="https://data.cci.ceda.ac.uk/thredds/catalog/esacci/biomass/data/agb/maps/v7.0/geotiff/catalog.html" TargetMode="External"/><Relationship Id="rId4" Type="http://schemas.openxmlformats.org/officeDocument/2006/relationships/hyperlink" Target="https://catalogue.ceda.ac.uk/uuid/6429d1aafe1e43b9b414e4a5a7f8b903/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
<Relationships xmlns="http://schemas.openxmlformats.org/package/2006/relationships"><Relationship Id="rId3" Type="http://schemas.openxmlformats.org/officeDocument/2006/relationships/image" Target="../media/image10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758" y="0"/>
                </a:moveTo>
                <a:lnTo>
                  <a:pt x="0" y="0"/>
                </a:lnTo>
                <a:lnTo>
                  <a:pt x="0" y="6858000"/>
                </a:lnTo>
                <a:lnTo>
                  <a:pt x="12191758" y="6858000"/>
                </a:lnTo>
                <a:lnTo>
                  <a:pt x="12191758" y="0"/>
                </a:lnTo>
                <a:close/>
              </a:path>
            </a:pathLst>
          </a:custGeom>
          <a:solidFill>
            <a:srgbClr val="1D493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Text 2">
            <a:extLst>
              <a:ext uri="{FF2B5EF4-FFF2-40B4-BE49-F238E27FC236}">
                <a16:creationId xmlns:a16="http://schemas.microsoft.com/office/drawing/2014/main" id="{FB858122-9AE2-60F8-F046-BECE6AFB0C1B}"/>
              </a:ext>
            </a:extLst>
          </p:cNvPr>
          <p:cNvSpPr/>
          <p:nvPr/>
        </p:nvSpPr>
        <p:spPr>
          <a:xfrm>
            <a:off x="550164" y="59893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40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Curso de posgrado · Esquel, Chubut · 14 al 19 de septiembre de 2026</a:t>
            </a:r>
            <a:endParaRPr lang="en-US" sz="1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1FA2D3FC-17B3-1471-5BE6-7B4D5FC33195}"/>
              </a:ext>
            </a:extLst>
          </p:cNvPr>
          <p:cNvSpPr txBox="1"/>
          <p:nvPr/>
        </p:nvSpPr>
        <p:spPr>
          <a:xfrm>
            <a:off x="1624000" y="3276600"/>
            <a:ext cx="8944000" cy="26935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endParaRPr lang="es-ES" sz="1200" b="0" i="0" u="none" strike="noStrike" baseline="0">
              <a:solidFill>
                <a:srgbClr val="000000"/>
              </a:solidFill>
              <a:latin typeface="Arial" panose="02020603050405020304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es-MX" sz="1600" b="0" i="0" u="none" strike="noStrike" baseline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Héctor Francisco del Valle</a:t>
            </a:r>
          </a:p>
          <a:p>
            <a:pPr algn="ctr">
              <a:lnSpc>
                <a:spcPct val="150000"/>
              </a:lnSpc>
            </a:pPr>
            <a:r>
              <a:rPr lang="es-MX" sz="1600" b="0" i="0" u="none" strike="noStrike" baseline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Centro Regional de Geomática (CeReGeo), Facultad de Ciencia y Tecnología (FCyT)</a:t>
            </a:r>
          </a:p>
          <a:p>
            <a:pPr algn="ctr">
              <a:lnSpc>
                <a:spcPct val="150000"/>
              </a:lnSpc>
            </a:pPr>
            <a:r>
              <a:rPr lang="es-MX" sz="1600" b="0" i="0" u="none" strike="noStrike" baseline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Universidad Autónoma de Entre Ríos (UADER) </a:t>
            </a:r>
          </a:p>
          <a:p>
            <a:pPr algn="ctr">
              <a:lnSpc>
                <a:spcPct val="150000"/>
              </a:lnSpc>
            </a:pPr>
            <a:r>
              <a:rPr lang="es-MX" sz="1600" b="0" i="0" u="none" strike="noStrike" baseline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Laboratorio de Ecología, Meteorología y Gestión de Fuegos (LEMIV)</a:t>
            </a:r>
          </a:p>
          <a:p>
            <a:pPr algn="ctr">
              <a:lnSpc>
                <a:spcPct val="150000"/>
              </a:lnSpc>
            </a:pPr>
            <a:r>
              <a:rPr lang="es-MX" sz="1600" b="0" i="0" u="none" strike="noStrike" baseline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Facultad de Ingeniería, Universidad Nacional de la Patagonia San Juan Bosco (UNPSJB) </a:t>
            </a:r>
          </a:p>
          <a:p>
            <a:pPr algn="ctr"/>
            <a:endParaRPr lang="es-MX" sz="1600" b="0" i="0" u="none" strike="noStrike" baseline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es-MX" sz="1600" b="0" i="0" u="none" strike="noStrike" baseline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Correo Electrónico: </a:t>
            </a:r>
            <a:r>
              <a:rPr lang="es-MX" sz="1600" b="0" i="1" u="none" strike="noStrike" baseline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hfdelvalle@gmail.com </a:t>
            </a:r>
            <a:endParaRPr lang="es-ES" sz="160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7" name="Imagen 26">
            <a:extLst>
              <a:ext uri="{FF2B5EF4-FFF2-40B4-BE49-F238E27FC236}">
                <a16:creationId xmlns:a16="http://schemas.microsoft.com/office/drawing/2014/main" id="{8F81142D-0558-B17B-DB94-BBF7C9AA1B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7110" y="147103"/>
            <a:ext cx="873551" cy="1044000"/>
          </a:xfrm>
          <a:prstGeom prst="rect">
            <a:avLst/>
          </a:prstGeom>
        </p:spPr>
      </p:pic>
      <p:pic>
        <p:nvPicPr>
          <p:cNvPr id="29" name="Imagen 28">
            <a:extLst>
              <a:ext uri="{FF2B5EF4-FFF2-40B4-BE49-F238E27FC236}">
                <a16:creationId xmlns:a16="http://schemas.microsoft.com/office/drawing/2014/main" id="{485EA480-9992-83A6-E297-5035FDF78B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7885" y="453103"/>
            <a:ext cx="1941194" cy="432000"/>
          </a:xfrm>
          <a:prstGeom prst="rect">
            <a:avLst/>
          </a:prstGeom>
        </p:spPr>
      </p:pic>
      <p:pic>
        <p:nvPicPr>
          <p:cNvPr id="31" name="Gráfico 30" descr="Secretaría de Ciencia y Tecnología del Chubut">
            <a:extLst>
              <a:ext uri="{FF2B5EF4-FFF2-40B4-BE49-F238E27FC236}">
                <a16:creationId xmlns:a16="http://schemas.microsoft.com/office/drawing/2014/main" id="{570B5BB3-9090-F7A4-D52D-1C6C3D57B19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82921" y="402478"/>
            <a:ext cx="2295000" cy="533250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33" name="CuadroTexto 32">
            <a:extLst>
              <a:ext uri="{FF2B5EF4-FFF2-40B4-BE49-F238E27FC236}">
                <a16:creationId xmlns:a16="http://schemas.microsoft.com/office/drawing/2014/main" id="{00328527-EEA7-A2EF-7689-27D271026205}"/>
              </a:ext>
            </a:extLst>
          </p:cNvPr>
          <p:cNvSpPr txBox="1"/>
          <p:nvPr/>
        </p:nvSpPr>
        <p:spPr>
          <a:xfrm>
            <a:off x="1254000" y="2418943"/>
            <a:ext cx="9684000" cy="830225"/>
          </a:xfrm>
          <a:prstGeom prst="rect">
            <a:avLst/>
          </a:prstGeom>
          <a:noFill/>
        </p:spPr>
        <p:txBody>
          <a:bodyPr wrap="square">
            <a:normAutofit fontScale="92500" lnSpcReduction="10000"/>
          </a:bodyPr>
          <a:lstStyle/>
          <a:p>
            <a:pPr algn="ctr"/>
            <a:r>
              <a:rPr lang="es-E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Descarga y análisis de Biomasa aérea</a:t>
            </a:r>
          </a:p>
          <a:p>
            <a:pPr algn="ctr"/>
            <a:r>
              <a:rPr lang="es-E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ESA CCI BIOMASS v7.0</a:t>
            </a:r>
          </a:p>
        </p:txBody>
      </p:sp>
      <p:sp>
        <p:nvSpPr>
          <p:cNvPr id="35" name="Text 1">
            <a:extLst>
              <a:ext uri="{FF2B5EF4-FFF2-40B4-BE49-F238E27FC236}">
                <a16:creationId xmlns:a16="http://schemas.microsoft.com/office/drawing/2014/main" id="{21057DD6-89B2-D35D-0106-B908544AB4B7}"/>
              </a:ext>
            </a:extLst>
          </p:cNvPr>
          <p:cNvSpPr/>
          <p:nvPr/>
        </p:nvSpPr>
        <p:spPr>
          <a:xfrm>
            <a:off x="30000" y="1012828"/>
            <a:ext cx="12132000" cy="165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s-E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es-ES" sz="2200" b="1" dirty="0">
                <a:solidFill>
                  <a:srgbClr val="A9D18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Modelos de Inteligencia Artificial Multisensor </a:t>
            </a:r>
            <a:endParaRPr lang="es-ES" sz="2200" dirty="0">
              <a:solidFill>
                <a:srgbClr val="A9D1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es-MX" sz="2200" b="1" i="1" dirty="0">
                <a:solidFill>
                  <a:srgbClr val="A9D18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Estimación de Biomasa en Bosques Andinos y Pastizales </a:t>
            </a:r>
            <a:r>
              <a:rPr lang="es-ES" sz="2200" b="1" i="1" dirty="0">
                <a:solidFill>
                  <a:srgbClr val="A9D18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del Ecotono Bosque-Estepa </a:t>
            </a:r>
          </a:p>
          <a:p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2">
            <a:extLst>
              <a:ext uri="{FF2B5EF4-FFF2-40B4-BE49-F238E27FC236}">
                <a16:creationId xmlns:a16="http://schemas.microsoft.com/office/drawing/2014/main" id="{EF6077B9-8AA9-4F67-92F7-C6832A0AB5D4}"/>
              </a:ext>
            </a:extLst>
          </p:cNvPr>
          <p:cNvSpPr>
            <a:spLocks noGrp="1"/>
          </p:cNvSpPr>
          <p:nvPr/>
        </p:nvSpPr>
        <p:spPr>
          <a:xfrm>
            <a:off x="400050" y="476250"/>
            <a:ext cx="11049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>
              <a:defRPr sz="26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s-MX" sz="2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La descarga oficial es verificable y reproducible</a:t>
            </a:r>
          </a:p>
        </p:txBody>
      </p:sp>
      <p:sp>
        <p:nvSpPr>
          <p:cNvPr id="5" name="version-label">
            <a:extLst>
              <a:ext uri="{FF2B5EF4-FFF2-40B4-BE49-F238E27FC236}">
                <a16:creationId xmlns:a16="http://schemas.microsoft.com/office/drawing/2014/main" id="{DC9D6669-D944-448C-805A-5559E3A5FBDA}"/>
              </a:ext>
            </a:extLst>
          </p:cNvPr>
          <p:cNvSpPr>
            <a:spLocks noGrp="1"/>
          </p:cNvSpPr>
          <p:nvPr/>
        </p:nvSpPr>
        <p:spPr>
          <a:xfrm>
            <a:off x="400050" y="1438275"/>
            <a:ext cx="2571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Versión utilizada</a:t>
            </a:r>
          </a:p>
        </p:txBody>
      </p:sp>
      <p:sp>
        <p:nvSpPr>
          <p:cNvPr id="6" name="version-value">
            <a:extLst>
              <a:ext uri="{FF2B5EF4-FFF2-40B4-BE49-F238E27FC236}">
                <a16:creationId xmlns:a16="http://schemas.microsoft.com/office/drawing/2014/main" id="{5027EC40-7A5D-4516-99C2-1843D1C005FB}"/>
              </a:ext>
            </a:extLst>
          </p:cNvPr>
          <p:cNvSpPr>
            <a:spLocks noGrp="1"/>
          </p:cNvSpPr>
          <p:nvPr/>
        </p:nvSpPr>
        <p:spPr>
          <a:xfrm>
            <a:off x="400050" y="1809750"/>
            <a:ext cx="25717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defRPr sz="46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7.0</a:t>
            </a:r>
          </a:p>
        </p:txBody>
      </p:sp>
      <p:sp>
        <p:nvSpPr>
          <p:cNvPr id="7" name="tile-label">
            <a:extLst>
              <a:ext uri="{FF2B5EF4-FFF2-40B4-BE49-F238E27FC236}">
                <a16:creationId xmlns:a16="http://schemas.microsoft.com/office/drawing/2014/main" id="{F55170BE-0F5B-4F5C-8D65-249039CE2EC8}"/>
              </a:ext>
            </a:extLst>
          </p:cNvPr>
          <p:cNvSpPr>
            <a:spLocks noGrp="1"/>
          </p:cNvSpPr>
          <p:nvPr/>
        </p:nvSpPr>
        <p:spPr>
          <a:xfrm>
            <a:off x="400050" y="2857500"/>
            <a:ext cx="2571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Mosaico fuente</a:t>
            </a:r>
          </a:p>
        </p:txBody>
      </p:sp>
      <p:sp>
        <p:nvSpPr>
          <p:cNvPr id="8" name="tile-value">
            <a:extLst>
              <a:ext uri="{FF2B5EF4-FFF2-40B4-BE49-F238E27FC236}">
                <a16:creationId xmlns:a16="http://schemas.microsoft.com/office/drawing/2014/main" id="{EA2456C9-4AF5-402F-8FC7-B3A697F59A56}"/>
              </a:ext>
            </a:extLst>
          </p:cNvPr>
          <p:cNvSpPr>
            <a:spLocks noGrp="1"/>
          </p:cNvSpPr>
          <p:nvPr/>
        </p:nvSpPr>
        <p:spPr>
          <a:xfrm>
            <a:off x="400050" y="3238500"/>
            <a:ext cx="2571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defRPr sz="3150" b="1">
                <a:solidFill>
                  <a:srgbClr val="1B6B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B6B4A"/>
                </a:solidFill>
                <a:latin typeface="Arial"/>
                <a:ea typeface="Arial"/>
                <a:cs typeface="Arial"/>
              </a:rPr>
              <a:t>S40W080</a:t>
            </a:r>
          </a:p>
        </p:txBody>
      </p:sp>
      <p:sp>
        <p:nvSpPr>
          <p:cNvPr id="9" name="download-meta">
            <a:extLst>
              <a:ext uri="{FF2B5EF4-FFF2-40B4-BE49-F238E27FC236}">
                <a16:creationId xmlns:a16="http://schemas.microsoft.com/office/drawing/2014/main" id="{E95397D0-35EE-4A55-9923-F2AF29EB67DC}"/>
              </a:ext>
            </a:extLst>
          </p:cNvPr>
          <p:cNvSpPr>
            <a:spLocks noGrp="1"/>
          </p:cNvSpPr>
          <p:nvPr/>
        </p:nvSpPr>
        <p:spPr>
          <a:xfrm>
            <a:off x="400050" y="4333875"/>
            <a:ext cx="28575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defRPr sz="165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5F6670"/>
                </a:solidFill>
                <a:latin typeface="Arial"/>
                <a:ea typeface="Arial"/>
                <a:cs typeface="Arial"/>
              </a:rPr>
              <a:t>Formato: GeoTIFF</a:t>
            </a:r>
          </a:p>
          <a:p>
            <a:pPr>
              <a:defRPr sz="165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5F6670"/>
                </a:solidFill>
                <a:latin typeface="Arial"/>
                <a:ea typeface="Arial"/>
                <a:cs typeface="Arial"/>
              </a:rPr>
              <a:t>CRS: EPSG:4326</a:t>
            </a:r>
          </a:p>
          <a:p>
            <a:pPr>
              <a:defRPr sz="165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5F6670"/>
                </a:solidFill>
                <a:latin typeface="Arial"/>
                <a:ea typeface="Arial"/>
                <a:cs typeface="Arial"/>
              </a:rPr>
              <a:t>Recorte: máscara de cada KML</a:t>
            </a:r>
          </a:p>
        </p:txBody>
      </p:sp>
      <p:sp>
        <p:nvSpPr>
          <p:cNvPr id="10" name="url-panel">
            <a:extLst>
              <a:ext uri="{FF2B5EF4-FFF2-40B4-BE49-F238E27FC236}">
                <a16:creationId xmlns:a16="http://schemas.microsoft.com/office/drawing/2014/main" id="{209945EE-7246-43FD-A22F-68DA58B2EEEB}"/>
              </a:ext>
            </a:extLst>
          </p:cNvPr>
          <p:cNvSpPr>
            <a:spLocks noGrp="1"/>
          </p:cNvSpPr>
          <p:nvPr/>
        </p:nvSpPr>
        <p:spPr>
          <a:xfrm>
            <a:off x="3524250" y="1428750"/>
            <a:ext cx="8267700" cy="4333875"/>
          </a:xfrm>
          <a:prstGeom prst="rect">
            <a:avLst/>
          </a:prstGeom>
          <a:solidFill>
            <a:srgbClr val="F7F7F7"/>
          </a:solidFill>
          <a:ln w="0">
            <a:solidFill>
              <a:srgbClr val="F7F7F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url-label-0">
            <a:extLst>
              <a:ext uri="{FF2B5EF4-FFF2-40B4-BE49-F238E27FC236}">
                <a16:creationId xmlns:a16="http://schemas.microsoft.com/office/drawing/2014/main" id="{49F27970-6157-4FFA-8C4C-E72585958297}"/>
              </a:ext>
            </a:extLst>
          </p:cNvPr>
          <p:cNvSpPr>
            <a:spLocks noGrp="1"/>
          </p:cNvSpPr>
          <p:nvPr/>
        </p:nvSpPr>
        <p:spPr>
          <a:xfrm>
            <a:off x="3886200" y="1714500"/>
            <a:ext cx="742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Catálogo ESA Climate Office</a:t>
            </a:r>
          </a:p>
        </p:txBody>
      </p:sp>
      <p:sp>
        <p:nvSpPr>
          <p:cNvPr id="12" name="url-0">
            <a:extLst>
              <a:ext uri="{FF2B5EF4-FFF2-40B4-BE49-F238E27FC236}">
                <a16:creationId xmlns:a16="http://schemas.microsoft.com/office/drawing/2014/main" id="{6508978D-1297-4751-B2D2-2B9EA5FB0281}"/>
              </a:ext>
            </a:extLst>
          </p:cNvPr>
          <p:cNvSpPr>
            <a:spLocks noGrp="1"/>
          </p:cNvSpPr>
          <p:nvPr/>
        </p:nvSpPr>
        <p:spPr>
          <a:xfrm>
            <a:off x="3886200" y="2057400"/>
            <a:ext cx="7429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defRPr sz="1275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75" u="sng" dirty="0">
                <a:solidFill>
                  <a:srgbClr val="3D8DFF"/>
                </a:solidFill>
                <a:latin typeface="Arial"/>
                <a:ea typeface="Arial"/>
                <a:cs typeface="Arial"/>
                <a:hlinkClick r:id="rId3"/>
              </a:rPr>
              <a:t>https://climate.esa.int/en/catalogue/6429d1aafe1e43b9b414e4a5a7f8b903/</a:t>
            </a:r>
          </a:p>
        </p:txBody>
      </p:sp>
      <p:sp>
        <p:nvSpPr>
          <p:cNvPr id="13" name="url-label-1">
            <a:extLst>
              <a:ext uri="{FF2B5EF4-FFF2-40B4-BE49-F238E27FC236}">
                <a16:creationId xmlns:a16="http://schemas.microsoft.com/office/drawing/2014/main" id="{9A8136DB-768A-4A7E-9FE6-5BA88905BDB8}"/>
              </a:ext>
            </a:extLst>
          </p:cNvPr>
          <p:cNvSpPr>
            <a:spLocks noGrp="1"/>
          </p:cNvSpPr>
          <p:nvPr/>
        </p:nvSpPr>
        <p:spPr>
          <a:xfrm>
            <a:off x="3886200" y="2667000"/>
            <a:ext cx="742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Registro citable CEDA / DOI</a:t>
            </a:r>
          </a:p>
        </p:txBody>
      </p:sp>
      <p:sp>
        <p:nvSpPr>
          <p:cNvPr id="14" name="url-1">
            <a:extLst>
              <a:ext uri="{FF2B5EF4-FFF2-40B4-BE49-F238E27FC236}">
                <a16:creationId xmlns:a16="http://schemas.microsoft.com/office/drawing/2014/main" id="{50B5A847-BEC4-439A-A1AE-027C12D34980}"/>
              </a:ext>
            </a:extLst>
          </p:cNvPr>
          <p:cNvSpPr>
            <a:spLocks noGrp="1"/>
          </p:cNvSpPr>
          <p:nvPr/>
        </p:nvSpPr>
        <p:spPr>
          <a:xfrm>
            <a:off x="3886200" y="3009900"/>
            <a:ext cx="7429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defRPr sz="1275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75" u="sng">
                <a:solidFill>
                  <a:srgbClr val="3D8DFF"/>
                </a:solidFill>
                <a:latin typeface="Arial"/>
                <a:ea typeface="Arial"/>
                <a:cs typeface="Arial"/>
                <a:hlinkClick r:id="rId4"/>
              </a:rPr>
              <a:t>https://catalogue.ceda.ac.uk/uuid/6429d1aafe1e43b9b414e4a5a7f8b903/</a:t>
            </a:r>
          </a:p>
        </p:txBody>
      </p:sp>
      <p:sp>
        <p:nvSpPr>
          <p:cNvPr id="15" name="url-label-2">
            <a:extLst>
              <a:ext uri="{FF2B5EF4-FFF2-40B4-BE49-F238E27FC236}">
                <a16:creationId xmlns:a16="http://schemas.microsoft.com/office/drawing/2014/main" id="{214A0EFC-23B8-45AE-AC5C-34C70A86E9A5}"/>
              </a:ext>
            </a:extLst>
          </p:cNvPr>
          <p:cNvSpPr>
            <a:spLocks noGrp="1"/>
          </p:cNvSpPr>
          <p:nvPr/>
        </p:nvSpPr>
        <p:spPr>
          <a:xfrm>
            <a:off x="3886200" y="3619500"/>
            <a:ext cx="742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Directorio oficial de GeoTIFF v7.0</a:t>
            </a:r>
          </a:p>
        </p:txBody>
      </p:sp>
      <p:sp>
        <p:nvSpPr>
          <p:cNvPr id="16" name="url-2">
            <a:extLst>
              <a:ext uri="{FF2B5EF4-FFF2-40B4-BE49-F238E27FC236}">
                <a16:creationId xmlns:a16="http://schemas.microsoft.com/office/drawing/2014/main" id="{6E75BE9B-CEC2-40FC-8454-87052CED9ECC}"/>
              </a:ext>
            </a:extLst>
          </p:cNvPr>
          <p:cNvSpPr>
            <a:spLocks noGrp="1"/>
          </p:cNvSpPr>
          <p:nvPr/>
        </p:nvSpPr>
        <p:spPr>
          <a:xfrm>
            <a:off x="3886200" y="3962400"/>
            <a:ext cx="7429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defRPr sz="1275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75" u="sng">
                <a:solidFill>
                  <a:srgbClr val="3D8DFF"/>
                </a:solidFill>
                <a:latin typeface="Arial"/>
                <a:ea typeface="Arial"/>
                <a:cs typeface="Arial"/>
                <a:hlinkClick r:id="rId5"/>
              </a:rPr>
              <a:t>https://data.cci.ceda.ac.uk/thredds/catalog/esacci/biomass/data/agb/maps/v7.0/geotiff/catalog.html</a:t>
            </a:r>
          </a:p>
        </p:txBody>
      </p:sp>
      <p:sp>
        <p:nvSpPr>
          <p:cNvPr id="17" name="url-label-3">
            <a:extLst>
              <a:ext uri="{FF2B5EF4-FFF2-40B4-BE49-F238E27FC236}">
                <a16:creationId xmlns:a16="http://schemas.microsoft.com/office/drawing/2014/main" id="{F7814759-616B-4FA5-B642-A9E1BF293DC0}"/>
              </a:ext>
            </a:extLst>
          </p:cNvPr>
          <p:cNvSpPr>
            <a:spLocks noGrp="1"/>
          </p:cNvSpPr>
          <p:nvPr/>
        </p:nvSpPr>
        <p:spPr>
          <a:xfrm>
            <a:off x="3886200" y="4572000"/>
            <a:ext cx="742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Product User Guide v7.0</a:t>
            </a:r>
          </a:p>
        </p:txBody>
      </p:sp>
      <p:sp>
        <p:nvSpPr>
          <p:cNvPr id="18" name="url-3">
            <a:extLst>
              <a:ext uri="{FF2B5EF4-FFF2-40B4-BE49-F238E27FC236}">
                <a16:creationId xmlns:a16="http://schemas.microsoft.com/office/drawing/2014/main" id="{99BE8FA7-337E-441D-84B8-93020B03E378}"/>
              </a:ext>
            </a:extLst>
          </p:cNvPr>
          <p:cNvSpPr>
            <a:spLocks noGrp="1"/>
          </p:cNvSpPr>
          <p:nvPr/>
        </p:nvSpPr>
        <p:spPr>
          <a:xfrm>
            <a:off x="3886200" y="4914900"/>
            <a:ext cx="7429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defRPr sz="1275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75" u="sng">
                <a:solidFill>
                  <a:srgbClr val="3D8DFF"/>
                </a:solidFill>
                <a:latin typeface="Arial"/>
                <a:ea typeface="Arial"/>
                <a:cs typeface="Arial"/>
                <a:hlinkClick r:id="rId6"/>
              </a:rPr>
              <a:t>https://climate.esa.int/media/documents/Product_User_Guide_PUG_V7.0.pdf</a:t>
            </a:r>
          </a:p>
        </p:txBody>
      </p:sp>
      <p:sp>
        <p:nvSpPr>
          <p:cNvPr id="19" name="footer-left"/>
          <p:cNvSpPr txBox="1"/>
          <p:nvPr/>
        </p:nvSpPr>
        <p:spPr>
          <a:xfrm>
            <a:off x="400050" y="6248400"/>
            <a:ext cx="35000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s-ES" sz="1000" dirty="0">
                <a:solidFill>
                  <a:srgbClr val="7A7A7A"/>
                </a:solidFill>
                <a:latin typeface="Arial"/>
                <a:ea typeface="Arial"/>
                <a:cs typeface="Arial"/>
              </a:rPr>
              <a:t>CCI BIOMASS v7.0</a:t>
            </a:r>
          </a:p>
        </p:txBody>
      </p:sp>
      <p:sp>
        <p:nvSpPr>
          <p:cNvPr id="20" name="footer-center"/>
          <p:cNvSpPr txBox="1"/>
          <p:nvPr/>
        </p:nvSpPr>
        <p:spPr>
          <a:xfrm>
            <a:off x="4200000" y="6248400"/>
            <a:ext cx="37000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s-ES" sz="1000" dirty="0">
                <a:solidFill>
                  <a:srgbClr val="7A7A7A"/>
                </a:solidFill>
                <a:latin typeface="Arial"/>
                <a:ea typeface="Arial"/>
                <a:cs typeface="Arial"/>
              </a:rPr>
              <a:t>Héctor Francisco del Valle</a:t>
            </a:r>
          </a:p>
        </p:txBody>
      </p:sp>
      <p:sp>
        <p:nvSpPr>
          <p:cNvPr id="21" name="footer-right"/>
          <p:cNvSpPr txBox="1"/>
          <p:nvPr/>
        </p:nvSpPr>
        <p:spPr>
          <a:xfrm>
            <a:off x="8100000" y="6248400"/>
            <a:ext cx="36919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s-ES" sz="1000">
                <a:solidFill>
                  <a:srgbClr val="7A7A7A"/>
                </a:solidFill>
                <a:latin typeface="Arial"/>
                <a:ea typeface="Arial"/>
                <a:cs typeface="Arial"/>
              </a:rPr>
              <a:t>2/27</a:t>
            </a:r>
            <a:endParaRPr lang="es-ES" sz="1000" dirty="0">
              <a:solidFill>
                <a:srgbClr val="7A7A7A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312460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3">
            <a:extLst>
              <a:ext uri="{FF2B5EF4-FFF2-40B4-BE49-F238E27FC236}">
                <a16:creationId xmlns:a16="http://schemas.microsoft.com/office/drawing/2014/main" id="{5E12896A-6106-4360-BD3F-526E784A8ECD}"/>
              </a:ext>
            </a:extLst>
          </p:cNvPr>
          <p:cNvSpPr>
            <a:spLocks noGrp="1"/>
          </p:cNvSpPr>
          <p:nvPr/>
        </p:nvSpPr>
        <p:spPr>
          <a:xfrm>
            <a:off x="400050" y="476250"/>
            <a:ext cx="11049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>
              <a:defRPr sz="26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s-MX" sz="2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AGB, </a:t>
            </a:r>
            <a:r>
              <a:rPr lang="es-MX" sz="2600" b="1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incertidumbre</a:t>
            </a:r>
            <a:r>
              <a:rPr lang="es-MX" sz="2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 y </a:t>
            </a:r>
            <a:r>
              <a:rPr lang="es-MX" sz="2600" b="1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cambio</a:t>
            </a:r>
            <a:r>
              <a:rPr lang="es-MX" sz="2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lang="es-MX" sz="2600" b="1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forman</a:t>
            </a:r>
            <a:r>
              <a:rPr lang="es-MX" sz="2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 el </a:t>
            </a:r>
            <a:r>
              <a:rPr lang="es-MX" sz="2600" b="1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producto</a:t>
            </a:r>
            <a:endParaRPr lang="es-MX" sz="2600" b="1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  <p:graphicFrame>
        <p:nvGraphicFramePr>
          <p:cNvPr id="11" name="Tabla 10"/>
          <p:cNvGraphicFramePr/>
          <p:nvPr>
            <p:extLst>
              <p:ext uri="{D42A27DB-BD31-4B8C-83A1-F6EECF244321}">
                <p14:modId xmlns:p14="http://schemas.microsoft.com/office/powerpoint/2010/main" val="1278319993"/>
              </p:ext>
            </p:extLst>
          </p:nvPr>
        </p:nvGraphicFramePr>
        <p:xfrm>
          <a:off x="400050" y="1447800"/>
          <a:ext cx="11391900" cy="4095752"/>
        </p:xfrm>
        <a:graphic>
          <a:graphicData uri="http://schemas.openxmlformats.org/drawingml/2006/table">
            <a:tbl>
              <a:tblPr firstRow="1" bandRow="1"/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5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62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1969"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Componente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Contenido temático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Unidad / codificación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Resolución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2C5F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1969"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AGB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Biomasa aérea leñosa viva por píxel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Mg/ha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100 m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1969"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AGB_SD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Desviación estándar de AGB por píxel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Mg/ha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100 m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1969"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DIFF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Diferencia de AGB entre dos años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Mg/ha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100 m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1969"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DIFF_SD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Desviación estándar del cambio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Mg/ha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100 m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1969"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DIFF_QF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Calidad: pérdida, estabilidad o ganancia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Clases 0–5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100 m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1969"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Agregados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Promedios para análisis global o climático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AGB / cambio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1–50 km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1969"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Cobertura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2005–2012 y 2015–2024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18 mapas anuales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 dirty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Global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product-scope">
            <a:extLst>
              <a:ext uri="{FF2B5EF4-FFF2-40B4-BE49-F238E27FC236}">
                <a16:creationId xmlns:a16="http://schemas.microsoft.com/office/drawing/2014/main" id="{00BC2862-28F5-42E8-94AF-5CB663D3B9A0}"/>
              </a:ext>
            </a:extLst>
          </p:cNvPr>
          <p:cNvSpPr>
            <a:spLocks noGrp="1"/>
          </p:cNvSpPr>
          <p:nvPr/>
        </p:nvSpPr>
        <p:spPr>
          <a:xfrm>
            <a:off x="400050" y="5810250"/>
            <a:ext cx="113919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1375"/>
          </a:bodyPr>
          <a:lstStyle/>
          <a:p>
            <a:pPr>
              <a:defRPr sz="1650" b="1">
                <a:solidFill>
                  <a:srgbClr val="1B6B4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B6B4A"/>
                </a:solidFill>
                <a:latin typeface="Arial"/>
                <a:ea typeface="Arial"/>
                <a:cs typeface="Arial"/>
              </a:rPr>
              <a:t>Para los dos KML se conservaron únicamente los productos de 100 m: 18 AGB, 18 AGB_SD y 2 cambios multibanda por AOI.</a:t>
            </a:r>
          </a:p>
        </p:txBody>
      </p:sp>
      <p:sp>
        <p:nvSpPr>
          <p:cNvPr id="12" name="footer-left"/>
          <p:cNvSpPr txBox="1"/>
          <p:nvPr/>
        </p:nvSpPr>
        <p:spPr>
          <a:xfrm>
            <a:off x="400050" y="6248400"/>
            <a:ext cx="35000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s-ES" sz="1000" dirty="0">
                <a:solidFill>
                  <a:srgbClr val="7A7A7A"/>
                </a:solidFill>
                <a:latin typeface="Arial"/>
                <a:ea typeface="Arial"/>
                <a:cs typeface="Arial"/>
              </a:rPr>
              <a:t>CCI BIOMASS v7.0</a:t>
            </a:r>
          </a:p>
        </p:txBody>
      </p:sp>
      <p:sp>
        <p:nvSpPr>
          <p:cNvPr id="13" name="footer-center"/>
          <p:cNvSpPr txBox="1"/>
          <p:nvPr/>
        </p:nvSpPr>
        <p:spPr>
          <a:xfrm>
            <a:off x="4200000" y="6248400"/>
            <a:ext cx="37000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s-ES" sz="1000" dirty="0">
                <a:solidFill>
                  <a:srgbClr val="7A7A7A"/>
                </a:solidFill>
                <a:latin typeface="Arial"/>
                <a:ea typeface="Arial"/>
                <a:cs typeface="Arial"/>
              </a:rPr>
              <a:t>Héctor Francisco del Valle</a:t>
            </a:r>
          </a:p>
        </p:txBody>
      </p:sp>
      <p:sp>
        <p:nvSpPr>
          <p:cNvPr id="14" name="footer-right"/>
          <p:cNvSpPr txBox="1"/>
          <p:nvPr/>
        </p:nvSpPr>
        <p:spPr>
          <a:xfrm>
            <a:off x="8100000" y="6248400"/>
            <a:ext cx="36919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s-ES" sz="1000">
                <a:solidFill>
                  <a:srgbClr val="7A7A7A"/>
                </a:solidFill>
                <a:latin typeface="Arial"/>
                <a:ea typeface="Arial"/>
                <a:cs typeface="Arial"/>
              </a:rPr>
              <a:t>3/27</a:t>
            </a:r>
            <a:endParaRPr lang="es-ES" sz="1000" dirty="0">
              <a:solidFill>
                <a:srgbClr val="7A7A7A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316323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4">
            <a:extLst>
              <a:ext uri="{FF2B5EF4-FFF2-40B4-BE49-F238E27FC236}">
                <a16:creationId xmlns:a16="http://schemas.microsoft.com/office/drawing/2014/main" id="{9677D040-A2B5-4433-9FD0-7C8A4BDB0CB5}"/>
              </a:ext>
            </a:extLst>
          </p:cNvPr>
          <p:cNvSpPr>
            <a:spLocks noGrp="1"/>
          </p:cNvSpPr>
          <p:nvPr/>
        </p:nvSpPr>
        <p:spPr>
          <a:xfrm>
            <a:off x="400050" y="476250"/>
            <a:ext cx="11049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>
              <a:defRPr sz="26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s-MX" sz="2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Un mosaico cubre ambos AOI sin remuestreo</a:t>
            </a:r>
          </a:p>
        </p:txBody>
      </p:sp>
      <p:sp>
        <p:nvSpPr>
          <p:cNvPr id="5" name="step-num-0">
            <a:extLst>
              <a:ext uri="{FF2B5EF4-FFF2-40B4-BE49-F238E27FC236}">
                <a16:creationId xmlns:a16="http://schemas.microsoft.com/office/drawing/2014/main" id="{DA88D4BC-1DA3-4F90-B366-F0BC07C2B6ED}"/>
              </a:ext>
            </a:extLst>
          </p:cNvPr>
          <p:cNvSpPr>
            <a:spLocks noGrp="1"/>
          </p:cNvSpPr>
          <p:nvPr/>
        </p:nvSpPr>
        <p:spPr>
          <a:xfrm>
            <a:off x="400050" y="1476375"/>
            <a:ext cx="666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defRPr sz="19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950" b="1" dirty="0">
                <a:solidFill>
                  <a:srgbClr val="3D8D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step-title-0">
            <a:extLst>
              <a:ext uri="{FF2B5EF4-FFF2-40B4-BE49-F238E27FC236}">
                <a16:creationId xmlns:a16="http://schemas.microsoft.com/office/drawing/2014/main" id="{F5D000F2-A347-40B1-9130-604013DA01C4}"/>
              </a:ext>
            </a:extLst>
          </p:cNvPr>
          <p:cNvSpPr>
            <a:spLocks noGrp="1"/>
          </p:cNvSpPr>
          <p:nvPr/>
        </p:nvSpPr>
        <p:spPr>
          <a:xfrm>
            <a:off x="1162050" y="1438275"/>
            <a:ext cx="2476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defRPr sz="23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Localizar</a:t>
            </a:r>
          </a:p>
        </p:txBody>
      </p:sp>
      <p:sp>
        <p:nvSpPr>
          <p:cNvPr id="7" name="step-body-0">
            <a:extLst>
              <a:ext uri="{FF2B5EF4-FFF2-40B4-BE49-F238E27FC236}">
                <a16:creationId xmlns:a16="http://schemas.microsoft.com/office/drawing/2014/main" id="{D70D36FD-39BE-4596-8F99-82F3F02619BC}"/>
              </a:ext>
            </a:extLst>
          </p:cNvPr>
          <p:cNvSpPr>
            <a:spLocks noGrp="1"/>
          </p:cNvSpPr>
          <p:nvPr/>
        </p:nvSpPr>
        <p:spPr>
          <a:xfrm>
            <a:off x="1162050" y="1952625"/>
            <a:ext cx="271462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defRPr sz="165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5F6670"/>
                </a:solidFill>
                <a:latin typeface="Arial"/>
                <a:ea typeface="Arial"/>
                <a:cs typeface="Arial"/>
              </a:rPr>
              <a:t>Tile S40W080 y 38 archivos fuente</a:t>
            </a:r>
          </a:p>
        </p:txBody>
      </p:sp>
      <p:sp>
        <p:nvSpPr>
          <p:cNvPr id="8" name="step-num-1">
            <a:extLst>
              <a:ext uri="{FF2B5EF4-FFF2-40B4-BE49-F238E27FC236}">
                <a16:creationId xmlns:a16="http://schemas.microsoft.com/office/drawing/2014/main" id="{5E0F4EA5-4A6E-4F95-97AC-20DDE8FE1D16}"/>
              </a:ext>
            </a:extLst>
          </p:cNvPr>
          <p:cNvSpPr>
            <a:spLocks noGrp="1"/>
          </p:cNvSpPr>
          <p:nvPr/>
        </p:nvSpPr>
        <p:spPr>
          <a:xfrm>
            <a:off x="4210050" y="1476375"/>
            <a:ext cx="666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defRPr sz="19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950" b="1" dirty="0">
                <a:solidFill>
                  <a:srgbClr val="3D8D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step-title-1">
            <a:extLst>
              <a:ext uri="{FF2B5EF4-FFF2-40B4-BE49-F238E27FC236}">
                <a16:creationId xmlns:a16="http://schemas.microsoft.com/office/drawing/2014/main" id="{7656E5B1-05AF-443D-B05B-B8F1822C7B33}"/>
              </a:ext>
            </a:extLst>
          </p:cNvPr>
          <p:cNvSpPr>
            <a:spLocks noGrp="1"/>
          </p:cNvSpPr>
          <p:nvPr/>
        </p:nvSpPr>
        <p:spPr>
          <a:xfrm>
            <a:off x="4972050" y="1438275"/>
            <a:ext cx="2476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defRPr sz="23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Recortar</a:t>
            </a:r>
          </a:p>
        </p:txBody>
      </p:sp>
      <p:sp>
        <p:nvSpPr>
          <p:cNvPr id="10" name="step-body-1">
            <a:extLst>
              <a:ext uri="{FF2B5EF4-FFF2-40B4-BE49-F238E27FC236}">
                <a16:creationId xmlns:a16="http://schemas.microsoft.com/office/drawing/2014/main" id="{3A5A081B-1CCE-4AC3-A257-8B95796CA02B}"/>
              </a:ext>
            </a:extLst>
          </p:cNvPr>
          <p:cNvSpPr>
            <a:spLocks noGrp="1"/>
          </p:cNvSpPr>
          <p:nvPr/>
        </p:nvSpPr>
        <p:spPr>
          <a:xfrm>
            <a:off x="4972050" y="1952625"/>
            <a:ext cx="271462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defRPr sz="165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5F6670"/>
                </a:solidFill>
                <a:latin typeface="Arial"/>
                <a:ea typeface="Arial"/>
                <a:cs typeface="Arial"/>
              </a:rPr>
              <a:t>Máscara geométrica de cada KML</a:t>
            </a:r>
          </a:p>
        </p:txBody>
      </p:sp>
      <p:sp>
        <p:nvSpPr>
          <p:cNvPr id="11" name="step-num-2">
            <a:extLst>
              <a:ext uri="{FF2B5EF4-FFF2-40B4-BE49-F238E27FC236}">
                <a16:creationId xmlns:a16="http://schemas.microsoft.com/office/drawing/2014/main" id="{3D5B016B-7C42-4A76-8B45-47254A31E212}"/>
              </a:ext>
            </a:extLst>
          </p:cNvPr>
          <p:cNvSpPr>
            <a:spLocks noGrp="1"/>
          </p:cNvSpPr>
          <p:nvPr/>
        </p:nvSpPr>
        <p:spPr>
          <a:xfrm>
            <a:off x="8020050" y="1476375"/>
            <a:ext cx="666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defRPr sz="19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950" b="1" dirty="0">
                <a:solidFill>
                  <a:srgbClr val="3D8D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2" name="step-title-2">
            <a:extLst>
              <a:ext uri="{FF2B5EF4-FFF2-40B4-BE49-F238E27FC236}">
                <a16:creationId xmlns:a16="http://schemas.microsoft.com/office/drawing/2014/main" id="{9EDB29A3-3079-4C51-83B3-0FC9063E99E8}"/>
              </a:ext>
            </a:extLst>
          </p:cNvPr>
          <p:cNvSpPr>
            <a:spLocks noGrp="1"/>
          </p:cNvSpPr>
          <p:nvPr/>
        </p:nvSpPr>
        <p:spPr>
          <a:xfrm>
            <a:off x="8782050" y="1438275"/>
            <a:ext cx="2476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defRPr sz="23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Validar</a:t>
            </a:r>
          </a:p>
        </p:txBody>
      </p:sp>
      <p:sp>
        <p:nvSpPr>
          <p:cNvPr id="13" name="step-body-2">
            <a:extLst>
              <a:ext uri="{FF2B5EF4-FFF2-40B4-BE49-F238E27FC236}">
                <a16:creationId xmlns:a16="http://schemas.microsoft.com/office/drawing/2014/main" id="{A1C51EAE-A99B-42DC-8101-BA394BB28778}"/>
              </a:ext>
            </a:extLst>
          </p:cNvPr>
          <p:cNvSpPr>
            <a:spLocks noGrp="1"/>
          </p:cNvSpPr>
          <p:nvPr/>
        </p:nvSpPr>
        <p:spPr>
          <a:xfrm>
            <a:off x="8782050" y="1952625"/>
            <a:ext cx="271462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defRPr sz="165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5F6670"/>
                </a:solidFill>
                <a:latin typeface="Arial"/>
                <a:ea typeface="Arial"/>
                <a:cs typeface="Arial"/>
              </a:rPr>
              <a:t>CRS, bandas, NoData y checksums</a:t>
            </a:r>
          </a:p>
        </p:txBody>
      </p:sp>
      <p:graphicFrame>
        <p:nvGraphicFramePr>
          <p:cNvPr id="30" name="Tabla 29"/>
          <p:cNvGraphicFramePr/>
          <p:nvPr>
            <p:extLst>
              <p:ext uri="{D42A27DB-BD31-4B8C-83A1-F6EECF244321}">
                <p14:modId xmlns:p14="http://schemas.microsoft.com/office/powerpoint/2010/main" val="761589956"/>
              </p:ext>
            </p:extLst>
          </p:nvPr>
        </p:nvGraphicFramePr>
        <p:xfrm>
          <a:off x="400050" y="3238500"/>
          <a:ext cx="11391900" cy="1809750"/>
        </p:xfrm>
        <a:graphic>
          <a:graphicData uri="http://schemas.openxmlformats.org/drawingml/2006/table">
            <a:tbl>
              <a:tblPr firstRow="1" bandRow="1"/>
              <a:tblGrid>
                <a:gridCol w="247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95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95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2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3250"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AOI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Superficie KML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Píxeles válidos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Bbox WGS84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2C5F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250"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BOSQUE_NW_02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224,6 km²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31.243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-71,598, -42,695 / -71,410, -42,556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250"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ESTEPA_NW_02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224,6 km²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31.323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 dirty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-71,214, -42,847 / -71,026, -42,708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5" name="pixel-note">
            <a:extLst>
              <a:ext uri="{FF2B5EF4-FFF2-40B4-BE49-F238E27FC236}">
                <a16:creationId xmlns:a16="http://schemas.microsoft.com/office/drawing/2014/main" id="{9A4C14A4-CC68-435F-8F2E-1711F6316F42}"/>
              </a:ext>
            </a:extLst>
          </p:cNvPr>
          <p:cNvSpPr>
            <a:spLocks noGrp="1"/>
          </p:cNvSpPr>
          <p:nvPr/>
        </p:nvSpPr>
        <p:spPr>
          <a:xfrm>
            <a:off x="400050" y="5476875"/>
            <a:ext cx="113919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La resolución angular nativa es 0,0008889°: aproximadamente 100 m y 0,72 ha por píxel a esta latitud.</a:t>
            </a:r>
          </a:p>
        </p:txBody>
      </p:sp>
      <p:sp>
        <p:nvSpPr>
          <p:cNvPr id="16" name="area-note">
            <a:extLst>
              <a:ext uri="{FF2B5EF4-FFF2-40B4-BE49-F238E27FC236}">
                <a16:creationId xmlns:a16="http://schemas.microsoft.com/office/drawing/2014/main" id="{4EBF8E40-37D9-48FC-9F61-14BDE7B31FA7}"/>
              </a:ext>
            </a:extLst>
          </p:cNvPr>
          <p:cNvSpPr>
            <a:spLocks noGrp="1"/>
          </p:cNvSpPr>
          <p:nvPr/>
        </p:nvSpPr>
        <p:spPr>
          <a:xfrm>
            <a:off x="400050" y="5962650"/>
            <a:ext cx="11391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defRPr sz="1575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F6670"/>
                </a:solidFill>
                <a:latin typeface="Arial"/>
                <a:ea typeface="Arial"/>
                <a:cs typeface="Arial"/>
              </a:rPr>
              <a:t>Las áreas rasterizadas y geométricas difieren menos de 0,02% por la discretización de la grilla.</a:t>
            </a:r>
          </a:p>
        </p:txBody>
      </p:sp>
      <p:sp>
        <p:nvSpPr>
          <p:cNvPr id="31" name="footer-left"/>
          <p:cNvSpPr txBox="1"/>
          <p:nvPr/>
        </p:nvSpPr>
        <p:spPr>
          <a:xfrm>
            <a:off x="400050" y="6248400"/>
            <a:ext cx="35000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s-ES" sz="1000" dirty="0">
                <a:solidFill>
                  <a:srgbClr val="7A7A7A"/>
                </a:solidFill>
                <a:latin typeface="Arial"/>
                <a:ea typeface="Arial"/>
                <a:cs typeface="Arial"/>
              </a:rPr>
              <a:t>CCI BIOMASS v7.0</a:t>
            </a:r>
          </a:p>
        </p:txBody>
      </p:sp>
      <p:sp>
        <p:nvSpPr>
          <p:cNvPr id="32" name="footer-center"/>
          <p:cNvSpPr txBox="1"/>
          <p:nvPr/>
        </p:nvSpPr>
        <p:spPr>
          <a:xfrm>
            <a:off x="4200000" y="6248400"/>
            <a:ext cx="37000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s-ES" sz="1000" dirty="0">
                <a:solidFill>
                  <a:srgbClr val="7A7A7A"/>
                </a:solidFill>
                <a:latin typeface="Arial"/>
                <a:ea typeface="Arial"/>
                <a:cs typeface="Arial"/>
              </a:rPr>
              <a:t>Héctor Francisco del Valle</a:t>
            </a:r>
          </a:p>
        </p:txBody>
      </p:sp>
      <p:sp>
        <p:nvSpPr>
          <p:cNvPr id="33" name="footer-right"/>
          <p:cNvSpPr txBox="1"/>
          <p:nvPr/>
        </p:nvSpPr>
        <p:spPr>
          <a:xfrm>
            <a:off x="8100000" y="6248400"/>
            <a:ext cx="36919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s-ES" sz="1000">
                <a:solidFill>
                  <a:srgbClr val="7A7A7A"/>
                </a:solidFill>
                <a:latin typeface="Arial"/>
                <a:ea typeface="Arial"/>
                <a:cs typeface="Arial"/>
              </a:rPr>
              <a:t>4/27</a:t>
            </a:r>
            <a:endParaRPr lang="es-ES" sz="1000" dirty="0">
              <a:solidFill>
                <a:srgbClr val="7A7A7A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014489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5">
            <a:extLst>
              <a:ext uri="{FF2B5EF4-FFF2-40B4-BE49-F238E27FC236}">
                <a16:creationId xmlns:a16="http://schemas.microsoft.com/office/drawing/2014/main" id="{C8550B10-7D0F-4DED-B16A-CDA58D79FD11}"/>
              </a:ext>
            </a:extLst>
          </p:cNvPr>
          <p:cNvSpPr>
            <a:spLocks noGrp="1"/>
          </p:cNvSpPr>
          <p:nvPr/>
        </p:nvSpPr>
        <p:spPr>
          <a:xfrm>
            <a:off x="400050" y="476250"/>
            <a:ext cx="11049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>
              <a:defRPr sz="26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s-ES" sz="2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Ambos AOI aumentan desde 2015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="400050" y="1381125"/>
          <a:ext cx="752475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compare-bosque-bg">
            <a:extLst>
              <a:ext uri="{FF2B5EF4-FFF2-40B4-BE49-F238E27FC236}">
                <a16:creationId xmlns:a16="http://schemas.microsoft.com/office/drawing/2014/main" id="{C9023FF1-BDD9-427B-91BF-0B00C47D4434}"/>
              </a:ext>
            </a:extLst>
          </p:cNvPr>
          <p:cNvSpPr>
            <a:spLocks noGrp="1"/>
          </p:cNvSpPr>
          <p:nvPr/>
        </p:nvSpPr>
        <p:spPr>
          <a:xfrm>
            <a:off x="8286750" y="1552575"/>
            <a:ext cx="3143250" cy="1762125"/>
          </a:xfrm>
          <a:prstGeom prst="rect">
            <a:avLst/>
          </a:prstGeom>
          <a:solidFill>
            <a:srgbClr val="DDEFE7"/>
          </a:solidFill>
          <a:ln w="0">
            <a:solidFill>
              <a:srgbClr val="DDEFE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compare-bosque-value">
            <a:extLst>
              <a:ext uri="{FF2B5EF4-FFF2-40B4-BE49-F238E27FC236}">
                <a16:creationId xmlns:a16="http://schemas.microsoft.com/office/drawing/2014/main" id="{B8E38B46-BB10-42D4-9B05-BB3401DA6908}"/>
              </a:ext>
            </a:extLst>
          </p:cNvPr>
          <p:cNvSpPr>
            <a:spLocks noGrp="1"/>
          </p:cNvSpPr>
          <p:nvPr/>
        </p:nvSpPr>
        <p:spPr>
          <a:xfrm>
            <a:off x="8496300" y="1781175"/>
            <a:ext cx="27241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defRPr sz="3225" b="1">
                <a:solidFill>
                  <a:srgbClr val="1B6B4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B6B4A"/>
                </a:solidFill>
                <a:latin typeface="Arial"/>
                <a:ea typeface="Arial"/>
                <a:cs typeface="Arial"/>
              </a:rPr>
              <a:t>+20,5%</a:t>
            </a:r>
          </a:p>
        </p:txBody>
      </p:sp>
      <p:sp>
        <p:nvSpPr>
          <p:cNvPr id="8" name="compare-bosque-label">
            <a:extLst>
              <a:ext uri="{FF2B5EF4-FFF2-40B4-BE49-F238E27FC236}">
                <a16:creationId xmlns:a16="http://schemas.microsoft.com/office/drawing/2014/main" id="{C0EB6A04-C9A7-4EFA-B1A1-300CAE6F85E0}"/>
              </a:ext>
            </a:extLst>
          </p:cNvPr>
          <p:cNvSpPr>
            <a:spLocks noGrp="1"/>
          </p:cNvSpPr>
          <p:nvPr/>
        </p:nvSpPr>
        <p:spPr>
          <a:xfrm>
            <a:off x="8496300" y="2533650"/>
            <a:ext cx="27241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defRPr sz="165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5F6670"/>
                </a:solidFill>
                <a:latin typeface="Arial"/>
                <a:ea typeface="Arial"/>
                <a:cs typeface="Arial"/>
              </a:rPr>
              <a:t>BOSQUE · cambio relativo 2015–2024</a:t>
            </a:r>
          </a:p>
        </p:txBody>
      </p:sp>
      <p:sp>
        <p:nvSpPr>
          <p:cNvPr id="9" name="compare-estepa-bg">
            <a:extLst>
              <a:ext uri="{FF2B5EF4-FFF2-40B4-BE49-F238E27FC236}">
                <a16:creationId xmlns:a16="http://schemas.microsoft.com/office/drawing/2014/main" id="{8EBBC0C5-3C2C-4F0E-B0A7-157E01DD4CB0}"/>
              </a:ext>
            </a:extLst>
          </p:cNvPr>
          <p:cNvSpPr>
            <a:spLocks noGrp="1"/>
          </p:cNvSpPr>
          <p:nvPr/>
        </p:nvSpPr>
        <p:spPr>
          <a:xfrm>
            <a:off x="8286750" y="3619500"/>
            <a:ext cx="3143250" cy="1762125"/>
          </a:xfrm>
          <a:prstGeom prst="rect">
            <a:avLst/>
          </a:prstGeom>
          <a:solidFill>
            <a:srgbClr val="D0EDFA"/>
          </a:solidFill>
          <a:ln w="0">
            <a:solidFill>
              <a:srgbClr val="D0EDF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compare-estepa-value">
            <a:extLst>
              <a:ext uri="{FF2B5EF4-FFF2-40B4-BE49-F238E27FC236}">
                <a16:creationId xmlns:a16="http://schemas.microsoft.com/office/drawing/2014/main" id="{5AC9D738-5ECA-4C8C-AF68-6C4219B89AE5}"/>
              </a:ext>
            </a:extLst>
          </p:cNvPr>
          <p:cNvSpPr>
            <a:spLocks noGrp="1"/>
          </p:cNvSpPr>
          <p:nvPr/>
        </p:nvSpPr>
        <p:spPr>
          <a:xfrm>
            <a:off x="8496300" y="3848100"/>
            <a:ext cx="27241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defRPr sz="32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+196,0%</a:t>
            </a:r>
          </a:p>
        </p:txBody>
      </p:sp>
      <p:sp>
        <p:nvSpPr>
          <p:cNvPr id="11" name="compare-estepa-label">
            <a:extLst>
              <a:ext uri="{FF2B5EF4-FFF2-40B4-BE49-F238E27FC236}">
                <a16:creationId xmlns:a16="http://schemas.microsoft.com/office/drawing/2014/main" id="{5B92F750-833D-46F4-8E8A-4636969F7ADD}"/>
              </a:ext>
            </a:extLst>
          </p:cNvPr>
          <p:cNvSpPr>
            <a:spLocks noGrp="1"/>
          </p:cNvSpPr>
          <p:nvPr/>
        </p:nvSpPr>
        <p:spPr>
          <a:xfrm>
            <a:off x="8496300" y="4600575"/>
            <a:ext cx="27241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8470"/>
          </a:bodyPr>
          <a:lstStyle/>
          <a:p>
            <a:pPr>
              <a:defRPr sz="165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5F6670"/>
                </a:solidFill>
                <a:latin typeface="Arial"/>
                <a:ea typeface="Arial"/>
                <a:cs typeface="Arial"/>
              </a:rPr>
              <a:t>ESTEPA · cambio relativo sobre una base de 1,63 Mg/ha</a:t>
            </a:r>
          </a:p>
        </p:txBody>
      </p:sp>
      <p:sp>
        <p:nvSpPr>
          <p:cNvPr id="12" name="index-caution">
            <a:extLst>
              <a:ext uri="{FF2B5EF4-FFF2-40B4-BE49-F238E27FC236}">
                <a16:creationId xmlns:a16="http://schemas.microsoft.com/office/drawing/2014/main" id="{231DAB82-79F6-40A7-9333-669FDDE17B78}"/>
              </a:ext>
            </a:extLst>
          </p:cNvPr>
          <p:cNvSpPr>
            <a:spLocks noGrp="1"/>
          </p:cNvSpPr>
          <p:nvPr/>
        </p:nvSpPr>
        <p:spPr>
          <a:xfrm>
            <a:off x="8286750" y="5619750"/>
            <a:ext cx="3143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defRPr sz="1575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F6670"/>
                </a:solidFill>
                <a:latin typeface="Arial"/>
                <a:ea typeface="Arial"/>
                <a:cs typeface="Arial"/>
              </a:rPr>
              <a:t>El índice muestra la trayectoria; no implica reservas comparables.</a:t>
            </a:r>
          </a:p>
        </p:txBody>
      </p:sp>
      <p:sp>
        <p:nvSpPr>
          <p:cNvPr id="18" name="footer-left"/>
          <p:cNvSpPr txBox="1"/>
          <p:nvPr/>
        </p:nvSpPr>
        <p:spPr>
          <a:xfrm>
            <a:off x="400050" y="6248400"/>
            <a:ext cx="35000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s-ES" sz="1000" dirty="0">
                <a:solidFill>
                  <a:srgbClr val="7A7A7A"/>
                </a:solidFill>
                <a:latin typeface="Arial"/>
                <a:ea typeface="Arial"/>
                <a:cs typeface="Arial"/>
              </a:rPr>
              <a:t>CCI BIOMASS v7.0</a:t>
            </a:r>
          </a:p>
        </p:txBody>
      </p:sp>
      <p:sp>
        <p:nvSpPr>
          <p:cNvPr id="19" name="footer-center"/>
          <p:cNvSpPr txBox="1"/>
          <p:nvPr/>
        </p:nvSpPr>
        <p:spPr>
          <a:xfrm>
            <a:off x="4200000" y="6248400"/>
            <a:ext cx="37000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s-ES" sz="1000" dirty="0">
                <a:solidFill>
                  <a:srgbClr val="7A7A7A"/>
                </a:solidFill>
                <a:latin typeface="Arial"/>
                <a:ea typeface="Arial"/>
                <a:cs typeface="Arial"/>
              </a:rPr>
              <a:t>Héctor Francisco del Valle</a:t>
            </a:r>
          </a:p>
        </p:txBody>
      </p:sp>
      <p:sp>
        <p:nvSpPr>
          <p:cNvPr id="20" name="footer-right"/>
          <p:cNvSpPr txBox="1"/>
          <p:nvPr/>
        </p:nvSpPr>
        <p:spPr>
          <a:xfrm>
            <a:off x="8100000" y="6248400"/>
            <a:ext cx="36919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s-ES" sz="1000">
                <a:solidFill>
                  <a:srgbClr val="7A7A7A"/>
                </a:solidFill>
                <a:latin typeface="Arial"/>
                <a:ea typeface="Arial"/>
                <a:cs typeface="Arial"/>
              </a:rPr>
              <a:t>5/27</a:t>
            </a:r>
            <a:endParaRPr lang="es-ES" sz="1000" dirty="0">
              <a:solidFill>
                <a:srgbClr val="7A7A7A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853305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6">
            <a:extLst>
              <a:ext uri="{FF2B5EF4-FFF2-40B4-BE49-F238E27FC236}">
                <a16:creationId xmlns:a16="http://schemas.microsoft.com/office/drawing/2014/main" id="{B66E0E6E-D922-43E5-82D4-23B4D584F983}"/>
              </a:ext>
            </a:extLst>
          </p:cNvPr>
          <p:cNvSpPr>
            <a:spLocks noGrp="1"/>
          </p:cNvSpPr>
          <p:nvPr/>
        </p:nvSpPr>
        <p:spPr>
          <a:xfrm>
            <a:off x="400050" y="476250"/>
            <a:ext cx="11049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>
              <a:defRPr sz="26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s-MX" sz="2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BOSQUE se estabiliza después de 2020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="400050" y="1381125"/>
          <a:ext cx="7524750" cy="4667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bosque-agb-bg">
            <a:extLst>
              <a:ext uri="{FF2B5EF4-FFF2-40B4-BE49-F238E27FC236}">
                <a16:creationId xmlns:a16="http://schemas.microsoft.com/office/drawing/2014/main" id="{0BDCB81C-3A8C-492A-AB1E-6C4FCDD52F13}"/>
              </a:ext>
            </a:extLst>
          </p:cNvPr>
          <p:cNvSpPr>
            <a:spLocks noGrp="1"/>
          </p:cNvSpPr>
          <p:nvPr/>
        </p:nvSpPr>
        <p:spPr>
          <a:xfrm>
            <a:off x="8286750" y="1476375"/>
            <a:ext cx="3143250" cy="1666875"/>
          </a:xfrm>
          <a:prstGeom prst="rect">
            <a:avLst/>
          </a:prstGeom>
          <a:solidFill>
            <a:srgbClr val="DDEFE7"/>
          </a:solidFill>
          <a:ln w="0">
            <a:solidFill>
              <a:srgbClr val="DDEFE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bosque-agb-value">
            <a:extLst>
              <a:ext uri="{FF2B5EF4-FFF2-40B4-BE49-F238E27FC236}">
                <a16:creationId xmlns:a16="http://schemas.microsoft.com/office/drawing/2014/main" id="{32238DDC-8414-42B6-8912-940FF25A6231}"/>
              </a:ext>
            </a:extLst>
          </p:cNvPr>
          <p:cNvSpPr>
            <a:spLocks noGrp="1"/>
          </p:cNvSpPr>
          <p:nvPr/>
        </p:nvSpPr>
        <p:spPr>
          <a:xfrm>
            <a:off x="8496300" y="1704975"/>
            <a:ext cx="27241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defRPr sz="3225" b="1">
                <a:solidFill>
                  <a:srgbClr val="1B6B4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B6B4A"/>
                </a:solidFill>
                <a:latin typeface="Arial"/>
                <a:ea typeface="Arial"/>
                <a:cs typeface="Arial"/>
              </a:rPr>
              <a:t>130,0 Mg/ha</a:t>
            </a:r>
          </a:p>
        </p:txBody>
      </p:sp>
      <p:sp>
        <p:nvSpPr>
          <p:cNvPr id="8" name="bosque-agb-label">
            <a:extLst>
              <a:ext uri="{FF2B5EF4-FFF2-40B4-BE49-F238E27FC236}">
                <a16:creationId xmlns:a16="http://schemas.microsoft.com/office/drawing/2014/main" id="{9093D260-A0BD-4425-98C7-78FADD2DADAF}"/>
              </a:ext>
            </a:extLst>
          </p:cNvPr>
          <p:cNvSpPr>
            <a:spLocks noGrp="1"/>
          </p:cNvSpPr>
          <p:nvPr/>
        </p:nvSpPr>
        <p:spPr>
          <a:xfrm>
            <a:off x="8496300" y="2457450"/>
            <a:ext cx="27241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defRPr sz="165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5F6670"/>
                </a:solidFill>
                <a:latin typeface="Arial"/>
                <a:ea typeface="Arial"/>
                <a:cs typeface="Arial"/>
              </a:rPr>
              <a:t>AGB media en 2024</a:t>
            </a:r>
          </a:p>
        </p:txBody>
      </p:sp>
      <p:sp>
        <p:nvSpPr>
          <p:cNvPr id="9" name="bosque-stock-bg">
            <a:extLst>
              <a:ext uri="{FF2B5EF4-FFF2-40B4-BE49-F238E27FC236}">
                <a16:creationId xmlns:a16="http://schemas.microsoft.com/office/drawing/2014/main" id="{5B65A70D-F5AE-4C4C-9ECF-632A78CB3FCB}"/>
              </a:ext>
            </a:extLst>
          </p:cNvPr>
          <p:cNvSpPr>
            <a:spLocks noGrp="1"/>
          </p:cNvSpPr>
          <p:nvPr/>
        </p:nvSpPr>
        <p:spPr>
          <a:xfrm>
            <a:off x="8286750" y="3381375"/>
            <a:ext cx="3143250" cy="1666875"/>
          </a:xfrm>
          <a:prstGeom prst="rect">
            <a:avLst/>
          </a:prstGeom>
          <a:solidFill>
            <a:srgbClr val="F1F2F3"/>
          </a:solidFill>
          <a:ln w="0">
            <a:solidFill>
              <a:srgbClr val="F1F2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bosque-stock-value">
            <a:extLst>
              <a:ext uri="{FF2B5EF4-FFF2-40B4-BE49-F238E27FC236}">
                <a16:creationId xmlns:a16="http://schemas.microsoft.com/office/drawing/2014/main" id="{DAFA14F9-FDA5-4F77-A2A7-AE5BB90364AC}"/>
              </a:ext>
            </a:extLst>
          </p:cNvPr>
          <p:cNvSpPr>
            <a:spLocks noGrp="1"/>
          </p:cNvSpPr>
          <p:nvPr/>
        </p:nvSpPr>
        <p:spPr>
          <a:xfrm>
            <a:off x="8496300" y="3609975"/>
            <a:ext cx="27241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defRPr sz="32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2,92 Mt</a:t>
            </a:r>
          </a:p>
        </p:txBody>
      </p:sp>
      <p:sp>
        <p:nvSpPr>
          <p:cNvPr id="11" name="bosque-stock-label">
            <a:extLst>
              <a:ext uri="{FF2B5EF4-FFF2-40B4-BE49-F238E27FC236}">
                <a16:creationId xmlns:a16="http://schemas.microsoft.com/office/drawing/2014/main" id="{83B11D3D-D71C-4BB8-9773-8DE7D8BB88B9}"/>
              </a:ext>
            </a:extLst>
          </p:cNvPr>
          <p:cNvSpPr>
            <a:spLocks noGrp="1"/>
          </p:cNvSpPr>
          <p:nvPr/>
        </p:nvSpPr>
        <p:spPr>
          <a:xfrm>
            <a:off x="8496300" y="4362450"/>
            <a:ext cx="27241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defRPr sz="165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5F6670"/>
                </a:solidFill>
                <a:latin typeface="Arial"/>
                <a:ea typeface="Arial"/>
                <a:cs typeface="Arial"/>
              </a:rPr>
              <a:t>stock aéreo estimado en el AOI, 2024</a:t>
            </a:r>
          </a:p>
        </p:txBody>
      </p:sp>
      <p:sp>
        <p:nvSpPr>
          <p:cNvPr id="12" name="bosque-unc">
            <a:extLst>
              <a:ext uri="{FF2B5EF4-FFF2-40B4-BE49-F238E27FC236}">
                <a16:creationId xmlns:a16="http://schemas.microsoft.com/office/drawing/2014/main" id="{BE84ECD3-052E-442A-AF9E-EB8C6E839CBE}"/>
              </a:ext>
            </a:extLst>
          </p:cNvPr>
          <p:cNvSpPr>
            <a:spLocks noGrp="1"/>
          </p:cNvSpPr>
          <p:nvPr/>
        </p:nvSpPr>
        <p:spPr>
          <a:xfrm>
            <a:off x="8286750" y="5334000"/>
            <a:ext cx="31432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defRPr sz="1575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F6670"/>
                </a:solidFill>
                <a:latin typeface="Arial"/>
                <a:ea typeface="Arial"/>
                <a:cs typeface="Arial"/>
              </a:rPr>
              <a:t>Incertidumbre media 2024: 55,0 Mg/ha (42,3% de la AGB media).</a:t>
            </a:r>
          </a:p>
        </p:txBody>
      </p:sp>
      <p:sp>
        <p:nvSpPr>
          <p:cNvPr id="18" name="footer-left"/>
          <p:cNvSpPr txBox="1"/>
          <p:nvPr/>
        </p:nvSpPr>
        <p:spPr>
          <a:xfrm>
            <a:off x="400050" y="6248400"/>
            <a:ext cx="35000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s-ES" sz="1000" dirty="0">
                <a:solidFill>
                  <a:srgbClr val="7A7A7A"/>
                </a:solidFill>
                <a:latin typeface="Arial"/>
                <a:ea typeface="Arial"/>
                <a:cs typeface="Arial"/>
              </a:rPr>
              <a:t>CCI BIOMASS v7.0</a:t>
            </a:r>
          </a:p>
        </p:txBody>
      </p:sp>
      <p:sp>
        <p:nvSpPr>
          <p:cNvPr id="19" name="footer-center"/>
          <p:cNvSpPr txBox="1"/>
          <p:nvPr/>
        </p:nvSpPr>
        <p:spPr>
          <a:xfrm>
            <a:off x="4200000" y="6248400"/>
            <a:ext cx="37000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s-ES" sz="1000" dirty="0">
                <a:solidFill>
                  <a:srgbClr val="7A7A7A"/>
                </a:solidFill>
                <a:latin typeface="Arial"/>
                <a:ea typeface="Arial"/>
                <a:cs typeface="Arial"/>
              </a:rPr>
              <a:t>Héctor Francisco del Valle</a:t>
            </a:r>
          </a:p>
        </p:txBody>
      </p:sp>
      <p:sp>
        <p:nvSpPr>
          <p:cNvPr id="20" name="footer-right"/>
          <p:cNvSpPr txBox="1"/>
          <p:nvPr/>
        </p:nvSpPr>
        <p:spPr>
          <a:xfrm>
            <a:off x="8100000" y="6248400"/>
            <a:ext cx="36919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s-ES" sz="1000">
                <a:solidFill>
                  <a:srgbClr val="7A7A7A"/>
                </a:solidFill>
                <a:latin typeface="Arial"/>
                <a:ea typeface="Arial"/>
                <a:cs typeface="Arial"/>
              </a:rPr>
              <a:t>6/27</a:t>
            </a:r>
            <a:endParaRPr lang="es-ES" sz="1000" dirty="0">
              <a:solidFill>
                <a:srgbClr val="7A7A7A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585447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7">
            <a:extLst>
              <a:ext uri="{FF2B5EF4-FFF2-40B4-BE49-F238E27FC236}">
                <a16:creationId xmlns:a16="http://schemas.microsoft.com/office/drawing/2014/main" id="{C186E021-F937-440F-B1FD-0634BE32A430}"/>
              </a:ext>
            </a:extLst>
          </p:cNvPr>
          <p:cNvSpPr>
            <a:spLocks noGrp="1"/>
          </p:cNvSpPr>
          <p:nvPr/>
        </p:nvSpPr>
        <p:spPr>
          <a:xfrm>
            <a:off x="400050" y="476250"/>
            <a:ext cx="11049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>
              <a:defRPr sz="26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s-MX" sz="2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BOSQUE 2005–2012: el promedio sube 10,5 Mg/ha</a:t>
            </a:r>
          </a:p>
        </p:txBody>
      </p:sp>
      <p:graphicFrame>
        <p:nvGraphicFramePr>
          <p:cNvPr id="11" name="Tabla 10"/>
          <p:cNvGraphicFramePr/>
          <p:nvPr>
            <p:extLst>
              <p:ext uri="{D42A27DB-BD31-4B8C-83A1-F6EECF244321}">
                <p14:modId xmlns:p14="http://schemas.microsoft.com/office/powerpoint/2010/main" val="1394667097"/>
              </p:ext>
            </p:extLst>
          </p:nvPr>
        </p:nvGraphicFramePr>
        <p:xfrm>
          <a:off x="1190625" y="1381125"/>
          <a:ext cx="9810750" cy="4187145"/>
        </p:xfrm>
        <a:graphic>
          <a:graphicData uri="http://schemas.openxmlformats.org/drawingml/2006/table">
            <a:tbl>
              <a:tblPr firstRow="1" bandRow="1"/>
              <a:tblGrid>
                <a:gridCol w="952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5083">
                <a:tc>
                  <a:txBody>
                    <a:bodyPr/>
                    <a:lstStyle/>
                    <a:p>
                      <a:pPr algn="ctr"/>
                      <a:r>
                        <a:rPr sz="1613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Año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3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AGB media</a:t>
                      </a:r>
                    </a:p>
                    <a:p>
                      <a:pPr algn="ctr"/>
                      <a:r>
                        <a:rPr sz="1613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(Mg/ha)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3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Mín.–máx.</a:t>
                      </a:r>
                    </a:p>
                    <a:p>
                      <a:pPr algn="ctr"/>
                      <a:r>
                        <a:rPr sz="1613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(Mg/ha)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3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Incert. media</a:t>
                      </a:r>
                    </a:p>
                    <a:p>
                      <a:pPr algn="ctr"/>
                      <a:r>
                        <a:rPr sz="1613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(Mg/ha)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3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Incert. relativa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3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Stock estimado</a:t>
                      </a:r>
                    </a:p>
                    <a:p>
                      <a:pPr algn="ctr"/>
                      <a:r>
                        <a:rPr sz="1613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(Mt)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2C5F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5083"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2005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92,6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0–263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60,8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65,7%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2,08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5083"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2006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92,6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0–263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60,8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65,7%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2,08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5083"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2007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96,8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0–263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51,1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52,8%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2,17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5083"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2008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101,9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0–264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55,7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54,6%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2,29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5083"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2009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98,3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0–265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51,6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52,5%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2,21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5083"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103,1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0–263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52,4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50,8%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2,32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5083"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2011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104,7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0–261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56,1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53,6%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2,35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5083"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2012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103,1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0–264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54,4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52,8%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3" b="0" dirty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2,31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bosque-early-note">
            <a:extLst>
              <a:ext uri="{FF2B5EF4-FFF2-40B4-BE49-F238E27FC236}">
                <a16:creationId xmlns:a16="http://schemas.microsoft.com/office/drawing/2014/main" id="{5CFF38C5-B88C-478C-80CE-DD38C454FF4A}"/>
              </a:ext>
            </a:extLst>
          </p:cNvPr>
          <p:cNvSpPr>
            <a:spLocks noGrp="1"/>
          </p:cNvSpPr>
          <p:nvPr/>
        </p:nvSpPr>
        <p:spPr>
          <a:xfrm>
            <a:off x="400050" y="5743575"/>
            <a:ext cx="113919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defRPr sz="1575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F6670"/>
                </a:solidFill>
                <a:latin typeface="Arial"/>
                <a:ea typeface="Arial"/>
                <a:cs typeface="Arial"/>
              </a:rPr>
              <a:t>2005–2006 son idénticos; la guía advierte mayor dependencia de observaciones C-band en los primeros años.</a:t>
            </a:r>
          </a:p>
        </p:txBody>
      </p:sp>
      <p:sp>
        <p:nvSpPr>
          <p:cNvPr id="12" name="footer-left"/>
          <p:cNvSpPr txBox="1"/>
          <p:nvPr/>
        </p:nvSpPr>
        <p:spPr>
          <a:xfrm>
            <a:off x="400050" y="6248400"/>
            <a:ext cx="35000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s-ES" sz="1000" dirty="0">
                <a:solidFill>
                  <a:srgbClr val="7A7A7A"/>
                </a:solidFill>
                <a:latin typeface="Arial"/>
                <a:ea typeface="Arial"/>
                <a:cs typeface="Arial"/>
              </a:rPr>
              <a:t>CCI BIOMASS v7.0</a:t>
            </a:r>
          </a:p>
        </p:txBody>
      </p:sp>
      <p:sp>
        <p:nvSpPr>
          <p:cNvPr id="13" name="footer-center"/>
          <p:cNvSpPr txBox="1"/>
          <p:nvPr/>
        </p:nvSpPr>
        <p:spPr>
          <a:xfrm>
            <a:off x="4200000" y="6248400"/>
            <a:ext cx="37000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s-ES" sz="1000" dirty="0">
                <a:solidFill>
                  <a:srgbClr val="7A7A7A"/>
                </a:solidFill>
                <a:latin typeface="Arial"/>
                <a:ea typeface="Arial"/>
                <a:cs typeface="Arial"/>
              </a:rPr>
              <a:t>Héctor Francisco del Valle</a:t>
            </a:r>
          </a:p>
        </p:txBody>
      </p:sp>
      <p:sp>
        <p:nvSpPr>
          <p:cNvPr id="14" name="footer-right"/>
          <p:cNvSpPr txBox="1"/>
          <p:nvPr/>
        </p:nvSpPr>
        <p:spPr>
          <a:xfrm>
            <a:off x="8100000" y="6248400"/>
            <a:ext cx="36919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s-ES" sz="1000">
                <a:solidFill>
                  <a:srgbClr val="7A7A7A"/>
                </a:solidFill>
                <a:latin typeface="Arial"/>
                <a:ea typeface="Arial"/>
                <a:cs typeface="Arial"/>
              </a:rPr>
              <a:t>7/27</a:t>
            </a:r>
            <a:endParaRPr lang="es-ES" sz="1000" dirty="0">
              <a:solidFill>
                <a:srgbClr val="7A7A7A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011607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8">
            <a:extLst>
              <a:ext uri="{FF2B5EF4-FFF2-40B4-BE49-F238E27FC236}">
                <a16:creationId xmlns:a16="http://schemas.microsoft.com/office/drawing/2014/main" id="{FC3AF535-93AA-49BF-A38E-EBA7307E2F5B}"/>
              </a:ext>
            </a:extLst>
          </p:cNvPr>
          <p:cNvSpPr>
            <a:spLocks noGrp="1"/>
          </p:cNvSpPr>
          <p:nvPr/>
        </p:nvSpPr>
        <p:spPr>
          <a:xfrm>
            <a:off x="400050" y="476250"/>
            <a:ext cx="11049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>
              <a:defRPr sz="26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s-MX" sz="2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BOSQUE 2015–2024: crecimiento y meseta final</a:t>
            </a:r>
          </a:p>
        </p:txBody>
      </p:sp>
      <p:graphicFrame>
        <p:nvGraphicFramePr>
          <p:cNvPr id="11" name="Tabla 10"/>
          <p:cNvGraphicFramePr/>
          <p:nvPr>
            <p:extLst>
              <p:ext uri="{D42A27DB-BD31-4B8C-83A1-F6EECF244321}">
                <p14:modId xmlns:p14="http://schemas.microsoft.com/office/powerpoint/2010/main" val="3108220503"/>
              </p:ext>
            </p:extLst>
          </p:nvPr>
        </p:nvGraphicFramePr>
        <p:xfrm>
          <a:off x="1190625" y="1086843"/>
          <a:ext cx="9810750" cy="4702841"/>
        </p:xfrm>
        <a:graphic>
          <a:graphicData uri="http://schemas.openxmlformats.org/drawingml/2006/table">
            <a:tbl>
              <a:tblPr firstRow="1" bandRow="1"/>
              <a:tblGrid>
                <a:gridCol w="952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15636">
                <a:tc>
                  <a:txBody>
                    <a:bodyPr/>
                    <a:lstStyle/>
                    <a:p>
                      <a:pPr algn="ctr"/>
                      <a:r>
                        <a:rPr sz="1613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Año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3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AGB media</a:t>
                      </a:r>
                    </a:p>
                    <a:p>
                      <a:pPr algn="ctr"/>
                      <a:r>
                        <a:rPr sz="1613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(Mg/ha)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3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Mín.–máx.</a:t>
                      </a:r>
                    </a:p>
                    <a:p>
                      <a:pPr algn="ctr"/>
                      <a:r>
                        <a:rPr sz="1613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(Mg/ha)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3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Incert. media</a:t>
                      </a:r>
                    </a:p>
                    <a:p>
                      <a:pPr algn="ctr"/>
                      <a:r>
                        <a:rPr sz="1613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(Mg/ha)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3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Incert. relativa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3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Stock estimado</a:t>
                      </a:r>
                    </a:p>
                    <a:p>
                      <a:pPr algn="ctr"/>
                      <a:r>
                        <a:rPr sz="1613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(Mt)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2C5F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2015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107,9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0–256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64,7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60,0%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2,42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2016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112,0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0–251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51,5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46,0%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2,52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2017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117,0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0–255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48,7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41,6%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2,63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2018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122,8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0–256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51,1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41,6%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2,76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2019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131,6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0–256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56,2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42,7%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2,95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2020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132,7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0–262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55,2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41,6%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2,98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2021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128,6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0–256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55,1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42,9%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2,89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2022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131,3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0–261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54,7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41,6%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2,95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2023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130,9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0–262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55,4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42,3%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2,94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2024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130,0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0–256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55,0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42,3%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3" b="0" dirty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2,92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6" name="bosque-late-note">
            <a:extLst>
              <a:ext uri="{FF2B5EF4-FFF2-40B4-BE49-F238E27FC236}">
                <a16:creationId xmlns:a16="http://schemas.microsoft.com/office/drawing/2014/main" id="{B8EB2C9E-452C-409E-A85D-853074DE33DB}"/>
              </a:ext>
            </a:extLst>
          </p:cNvPr>
          <p:cNvSpPr>
            <a:spLocks noGrp="1"/>
          </p:cNvSpPr>
          <p:nvPr/>
        </p:nvSpPr>
        <p:spPr>
          <a:xfrm>
            <a:off x="400050" y="5820768"/>
            <a:ext cx="11391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defRPr sz="1575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F6670"/>
                </a:solidFill>
                <a:latin typeface="Arial"/>
                <a:ea typeface="Arial"/>
                <a:cs typeface="Arial"/>
              </a:rPr>
              <a:t>Máximo en 2020: 132,7 Mg/ha. Entre 2020 y 2024: −2,0%, con incertidumbre media cercana a 55 Mg/ha.</a:t>
            </a:r>
          </a:p>
        </p:txBody>
      </p:sp>
      <p:sp>
        <p:nvSpPr>
          <p:cNvPr id="12" name="footer-left"/>
          <p:cNvSpPr txBox="1"/>
          <p:nvPr/>
        </p:nvSpPr>
        <p:spPr>
          <a:xfrm>
            <a:off x="400050" y="6248400"/>
            <a:ext cx="35000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s-ES" sz="1000" dirty="0">
                <a:solidFill>
                  <a:srgbClr val="7A7A7A"/>
                </a:solidFill>
                <a:latin typeface="Arial"/>
                <a:ea typeface="Arial"/>
                <a:cs typeface="Arial"/>
              </a:rPr>
              <a:t>CCI BIOMASS v7.0</a:t>
            </a:r>
          </a:p>
        </p:txBody>
      </p:sp>
      <p:sp>
        <p:nvSpPr>
          <p:cNvPr id="13" name="footer-center"/>
          <p:cNvSpPr txBox="1"/>
          <p:nvPr/>
        </p:nvSpPr>
        <p:spPr>
          <a:xfrm>
            <a:off x="4200000" y="6248400"/>
            <a:ext cx="37000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s-ES" sz="1000" dirty="0">
                <a:solidFill>
                  <a:srgbClr val="7A7A7A"/>
                </a:solidFill>
                <a:latin typeface="Arial"/>
                <a:ea typeface="Arial"/>
                <a:cs typeface="Arial"/>
              </a:rPr>
              <a:t>Héctor Francisco del Valle</a:t>
            </a:r>
          </a:p>
        </p:txBody>
      </p:sp>
      <p:sp>
        <p:nvSpPr>
          <p:cNvPr id="14" name="footer-right"/>
          <p:cNvSpPr txBox="1"/>
          <p:nvPr/>
        </p:nvSpPr>
        <p:spPr>
          <a:xfrm>
            <a:off x="8100000" y="6248400"/>
            <a:ext cx="36919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s-ES" sz="1000">
                <a:solidFill>
                  <a:srgbClr val="7A7A7A"/>
                </a:solidFill>
                <a:latin typeface="Arial"/>
                <a:ea typeface="Arial"/>
                <a:cs typeface="Arial"/>
              </a:rPr>
              <a:t>8/27</a:t>
            </a:r>
            <a:endParaRPr lang="es-ES" sz="1000" dirty="0">
              <a:solidFill>
                <a:srgbClr val="7A7A7A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482219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9">
            <a:extLst>
              <a:ext uri="{FF2B5EF4-FFF2-40B4-BE49-F238E27FC236}">
                <a16:creationId xmlns:a16="http://schemas.microsoft.com/office/drawing/2014/main" id="{017A3ED5-F87A-44D4-8C3F-8495FCD42AFD}"/>
              </a:ext>
            </a:extLst>
          </p:cNvPr>
          <p:cNvSpPr>
            <a:spLocks noGrp="1"/>
          </p:cNvSpPr>
          <p:nvPr/>
        </p:nvSpPr>
        <p:spPr>
          <a:xfrm>
            <a:off x="400050" y="476250"/>
            <a:ext cx="11049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>
              <a:defRPr sz="26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s-ES" sz="2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BOSQUE: cambio decenal positivo, pero disperso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="400050" y="1428750"/>
          <a:ext cx="6191250" cy="381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4" name="Tabla 13"/>
          <p:cNvGraphicFramePr/>
          <p:nvPr>
            <p:extLst>
              <p:ext uri="{D42A27DB-BD31-4B8C-83A1-F6EECF244321}">
                <p14:modId xmlns:p14="http://schemas.microsoft.com/office/powerpoint/2010/main" val="690920523"/>
              </p:ext>
            </p:extLst>
          </p:nvPr>
        </p:nvGraphicFramePr>
        <p:xfrm>
          <a:off x="6762750" y="1619250"/>
          <a:ext cx="5029200" cy="2190750"/>
        </p:xfrm>
        <a:graphic>
          <a:graphicData uri="http://schemas.openxmlformats.org/drawingml/2006/table">
            <a:tbl>
              <a:tblPr firstRow="1" bandRow="1"/>
              <a:tblGrid>
                <a:gridCol w="1095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0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30250">
                <a:tc>
                  <a:txBody>
                    <a:bodyPr/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Período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Píxeles válidos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Cambio medio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Rango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SD media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2C5F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0250"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2010–20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28.388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32,5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-185 a 210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85,9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0250"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2019–20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28.391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1,2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-201 a 262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 dirty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87,0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bosque-change-label">
            <a:extLst>
              <a:ext uri="{FF2B5EF4-FFF2-40B4-BE49-F238E27FC236}">
                <a16:creationId xmlns:a16="http://schemas.microsoft.com/office/drawing/2014/main" id="{A5B3F56D-397F-4082-B23A-4EEB1294000A}"/>
              </a:ext>
            </a:extLst>
          </p:cNvPr>
          <p:cNvSpPr>
            <a:spLocks noGrp="1"/>
          </p:cNvSpPr>
          <p:nvPr/>
        </p:nvSpPr>
        <p:spPr>
          <a:xfrm>
            <a:off x="6762750" y="4191000"/>
            <a:ext cx="1428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Lectura</a:t>
            </a:r>
          </a:p>
        </p:txBody>
      </p:sp>
      <p:sp>
        <p:nvSpPr>
          <p:cNvPr id="8" name="bosque-change-reading">
            <a:extLst>
              <a:ext uri="{FF2B5EF4-FFF2-40B4-BE49-F238E27FC236}">
                <a16:creationId xmlns:a16="http://schemas.microsoft.com/office/drawing/2014/main" id="{5AFBCC2A-885E-4761-88B1-4783A88E02C1}"/>
              </a:ext>
            </a:extLst>
          </p:cNvPr>
          <p:cNvSpPr>
            <a:spLocks noGrp="1"/>
          </p:cNvSpPr>
          <p:nvPr/>
        </p:nvSpPr>
        <p:spPr>
          <a:xfrm>
            <a:off x="6762750" y="4572000"/>
            <a:ext cx="5029200" cy="152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defRPr sz="165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5F6670"/>
                </a:solidFill>
                <a:latin typeface="Arial"/>
                <a:ea typeface="Arial"/>
                <a:cs typeface="Arial"/>
              </a:rPr>
              <a:t>El producto registra +32,5 Mg/ha en los píxeles válidos de 2010–2020. La SD media (85,9 Mg/ha) supera al cambio: conviene interpretar patrones agregados y usar los flags de calidad, no píxeles aislados.</a:t>
            </a:r>
          </a:p>
        </p:txBody>
      </p:sp>
      <p:sp>
        <p:nvSpPr>
          <p:cNvPr id="15" name="footer-left"/>
          <p:cNvSpPr txBox="1"/>
          <p:nvPr/>
        </p:nvSpPr>
        <p:spPr>
          <a:xfrm>
            <a:off x="400050" y="6248400"/>
            <a:ext cx="35000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s-ES" sz="1000" dirty="0">
                <a:solidFill>
                  <a:srgbClr val="7A7A7A"/>
                </a:solidFill>
                <a:latin typeface="Arial"/>
                <a:ea typeface="Arial"/>
                <a:cs typeface="Arial"/>
              </a:rPr>
              <a:t>CCI BIOMASS v7.0</a:t>
            </a:r>
          </a:p>
        </p:txBody>
      </p:sp>
      <p:sp>
        <p:nvSpPr>
          <p:cNvPr id="16" name="footer-center"/>
          <p:cNvSpPr txBox="1"/>
          <p:nvPr/>
        </p:nvSpPr>
        <p:spPr>
          <a:xfrm>
            <a:off x="4200000" y="6248400"/>
            <a:ext cx="37000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s-ES" sz="1000" dirty="0">
                <a:solidFill>
                  <a:srgbClr val="7A7A7A"/>
                </a:solidFill>
                <a:latin typeface="Arial"/>
                <a:ea typeface="Arial"/>
                <a:cs typeface="Arial"/>
              </a:rPr>
              <a:t>Héctor Francisco del Valle</a:t>
            </a:r>
          </a:p>
        </p:txBody>
      </p:sp>
      <p:sp>
        <p:nvSpPr>
          <p:cNvPr id="17" name="footer-right"/>
          <p:cNvSpPr txBox="1"/>
          <p:nvPr/>
        </p:nvSpPr>
        <p:spPr>
          <a:xfrm>
            <a:off x="8100000" y="6248400"/>
            <a:ext cx="36919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s-ES" sz="1000">
                <a:solidFill>
                  <a:srgbClr val="7A7A7A"/>
                </a:solidFill>
                <a:latin typeface="Arial"/>
                <a:ea typeface="Arial"/>
                <a:cs typeface="Arial"/>
              </a:rPr>
              <a:t>9/27</a:t>
            </a:r>
            <a:endParaRPr lang="es-ES" sz="1000" dirty="0">
              <a:solidFill>
                <a:srgbClr val="7A7A7A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31848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10">
            <a:extLst>
              <a:ext uri="{FF2B5EF4-FFF2-40B4-BE49-F238E27FC236}">
                <a16:creationId xmlns:a16="http://schemas.microsoft.com/office/drawing/2014/main" id="{51151BAE-BF4B-4038-8CEB-50361F04DFD3}"/>
              </a:ext>
            </a:extLst>
          </p:cNvPr>
          <p:cNvSpPr>
            <a:spLocks noGrp="1"/>
          </p:cNvSpPr>
          <p:nvPr/>
        </p:nvSpPr>
        <p:spPr>
          <a:xfrm>
            <a:off x="400050" y="476250"/>
            <a:ext cx="11049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>
              <a:defRPr sz="26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s-MX" sz="2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ESTEPA aumenta, pero la biomasa sigue baja</a:t>
            </a:r>
          </a:p>
        </p:txBody>
      </p:sp>
      <p:graphicFrame>
        <p:nvGraphicFramePr>
          <p:cNvPr id="17" name="Chart"/>
          <p:cNvGraphicFramePr/>
          <p:nvPr>
            <p:extLst>
              <p:ext uri="{D42A27DB-BD31-4B8C-83A1-F6EECF244321}">
                <p14:modId xmlns:p14="http://schemas.microsoft.com/office/powerpoint/2010/main" val="915714107"/>
              </p:ext>
            </p:extLst>
          </p:nvPr>
        </p:nvGraphicFramePr>
        <p:xfrm>
          <a:off x="400050" y="1381125"/>
          <a:ext cx="7524750" cy="4667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estepa-agb-bg">
            <a:extLst>
              <a:ext uri="{FF2B5EF4-FFF2-40B4-BE49-F238E27FC236}">
                <a16:creationId xmlns:a16="http://schemas.microsoft.com/office/drawing/2014/main" id="{ED99E18D-C1BA-4587-900C-8DA73791A914}"/>
              </a:ext>
            </a:extLst>
          </p:cNvPr>
          <p:cNvSpPr>
            <a:spLocks noGrp="1"/>
          </p:cNvSpPr>
          <p:nvPr/>
        </p:nvSpPr>
        <p:spPr>
          <a:xfrm>
            <a:off x="8286750" y="1476375"/>
            <a:ext cx="3143250" cy="1666875"/>
          </a:xfrm>
          <a:prstGeom prst="rect">
            <a:avLst/>
          </a:prstGeom>
          <a:solidFill>
            <a:srgbClr val="D0EDFA"/>
          </a:solidFill>
          <a:ln w="0">
            <a:solidFill>
              <a:srgbClr val="D0EDF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estepa-agb-value">
            <a:extLst>
              <a:ext uri="{FF2B5EF4-FFF2-40B4-BE49-F238E27FC236}">
                <a16:creationId xmlns:a16="http://schemas.microsoft.com/office/drawing/2014/main" id="{B3F15D3C-EB70-4593-A76A-1FF3E7EF4473}"/>
              </a:ext>
            </a:extLst>
          </p:cNvPr>
          <p:cNvSpPr>
            <a:spLocks noGrp="1"/>
          </p:cNvSpPr>
          <p:nvPr/>
        </p:nvSpPr>
        <p:spPr>
          <a:xfrm>
            <a:off x="8496300" y="1704975"/>
            <a:ext cx="27241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defRPr sz="32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4,8 Mg/ha</a:t>
            </a:r>
          </a:p>
        </p:txBody>
      </p:sp>
      <p:sp>
        <p:nvSpPr>
          <p:cNvPr id="8" name="estepa-agb-label">
            <a:extLst>
              <a:ext uri="{FF2B5EF4-FFF2-40B4-BE49-F238E27FC236}">
                <a16:creationId xmlns:a16="http://schemas.microsoft.com/office/drawing/2014/main" id="{8FB93000-AD95-4D09-8A0F-2E002F7F592D}"/>
              </a:ext>
            </a:extLst>
          </p:cNvPr>
          <p:cNvSpPr>
            <a:spLocks noGrp="1"/>
          </p:cNvSpPr>
          <p:nvPr/>
        </p:nvSpPr>
        <p:spPr>
          <a:xfrm>
            <a:off x="8496300" y="2457450"/>
            <a:ext cx="27241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defRPr sz="165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5F6670"/>
                </a:solidFill>
                <a:latin typeface="Arial"/>
                <a:ea typeface="Arial"/>
                <a:cs typeface="Arial"/>
              </a:rPr>
              <a:t>AGB media en 2024</a:t>
            </a:r>
          </a:p>
        </p:txBody>
      </p:sp>
      <p:sp>
        <p:nvSpPr>
          <p:cNvPr id="9" name="estepa-stock-bg">
            <a:extLst>
              <a:ext uri="{FF2B5EF4-FFF2-40B4-BE49-F238E27FC236}">
                <a16:creationId xmlns:a16="http://schemas.microsoft.com/office/drawing/2014/main" id="{A1AE7D02-7E97-45F9-8501-FBE58F425D35}"/>
              </a:ext>
            </a:extLst>
          </p:cNvPr>
          <p:cNvSpPr>
            <a:spLocks noGrp="1"/>
          </p:cNvSpPr>
          <p:nvPr/>
        </p:nvSpPr>
        <p:spPr>
          <a:xfrm>
            <a:off x="8286750" y="3381375"/>
            <a:ext cx="3143250" cy="1666875"/>
          </a:xfrm>
          <a:prstGeom prst="rect">
            <a:avLst/>
          </a:prstGeom>
          <a:solidFill>
            <a:srgbClr val="F1F2F3"/>
          </a:solidFill>
          <a:ln w="0">
            <a:solidFill>
              <a:srgbClr val="F1F2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estepa-stock-value">
            <a:extLst>
              <a:ext uri="{FF2B5EF4-FFF2-40B4-BE49-F238E27FC236}">
                <a16:creationId xmlns:a16="http://schemas.microsoft.com/office/drawing/2014/main" id="{B145D5A1-E1AD-44D2-A1CD-F034F304B6C2}"/>
              </a:ext>
            </a:extLst>
          </p:cNvPr>
          <p:cNvSpPr>
            <a:spLocks noGrp="1"/>
          </p:cNvSpPr>
          <p:nvPr/>
        </p:nvSpPr>
        <p:spPr>
          <a:xfrm>
            <a:off x="8496300" y="3609975"/>
            <a:ext cx="27241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defRPr sz="32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108,4 mil Mg</a:t>
            </a:r>
          </a:p>
        </p:txBody>
      </p:sp>
      <p:sp>
        <p:nvSpPr>
          <p:cNvPr id="11" name="estepa-stock-label">
            <a:extLst>
              <a:ext uri="{FF2B5EF4-FFF2-40B4-BE49-F238E27FC236}">
                <a16:creationId xmlns:a16="http://schemas.microsoft.com/office/drawing/2014/main" id="{BCC9171D-A7C7-4AEE-AB16-3E1D9F955D91}"/>
              </a:ext>
            </a:extLst>
          </p:cNvPr>
          <p:cNvSpPr>
            <a:spLocks noGrp="1"/>
          </p:cNvSpPr>
          <p:nvPr/>
        </p:nvSpPr>
        <p:spPr>
          <a:xfrm>
            <a:off x="8496300" y="4362450"/>
            <a:ext cx="27241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defRPr sz="165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5F6670"/>
                </a:solidFill>
                <a:latin typeface="Arial"/>
                <a:ea typeface="Arial"/>
                <a:cs typeface="Arial"/>
              </a:rPr>
              <a:t>stock aéreo estimado en el AOI, 2024</a:t>
            </a:r>
          </a:p>
        </p:txBody>
      </p:sp>
      <p:sp>
        <p:nvSpPr>
          <p:cNvPr id="12" name="estepa-unc">
            <a:extLst>
              <a:ext uri="{FF2B5EF4-FFF2-40B4-BE49-F238E27FC236}">
                <a16:creationId xmlns:a16="http://schemas.microsoft.com/office/drawing/2014/main" id="{B0C2601D-317F-4041-ACC4-805A3FAE48FA}"/>
              </a:ext>
            </a:extLst>
          </p:cNvPr>
          <p:cNvSpPr>
            <a:spLocks noGrp="1"/>
          </p:cNvSpPr>
          <p:nvPr/>
        </p:nvSpPr>
        <p:spPr>
          <a:xfrm>
            <a:off x="8286750" y="5334000"/>
            <a:ext cx="31432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defRPr sz="1575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F6670"/>
                </a:solidFill>
                <a:latin typeface="Arial"/>
                <a:ea typeface="Arial"/>
                <a:cs typeface="Arial"/>
              </a:rPr>
              <a:t>Incertidumbre media 2024: 2,2 Mg/ha (45,7% de la AGB media).</a:t>
            </a:r>
          </a:p>
        </p:txBody>
      </p:sp>
      <p:sp>
        <p:nvSpPr>
          <p:cNvPr id="18" name="footer-left"/>
          <p:cNvSpPr txBox="1"/>
          <p:nvPr/>
        </p:nvSpPr>
        <p:spPr>
          <a:xfrm>
            <a:off x="400050" y="6248400"/>
            <a:ext cx="35000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s-ES" sz="1000" dirty="0">
                <a:solidFill>
                  <a:srgbClr val="7A7A7A"/>
                </a:solidFill>
                <a:latin typeface="Arial"/>
                <a:ea typeface="Arial"/>
                <a:cs typeface="Arial"/>
              </a:rPr>
              <a:t>CCI BIOMASS v7.0</a:t>
            </a:r>
          </a:p>
        </p:txBody>
      </p:sp>
      <p:sp>
        <p:nvSpPr>
          <p:cNvPr id="19" name="footer-center"/>
          <p:cNvSpPr txBox="1"/>
          <p:nvPr/>
        </p:nvSpPr>
        <p:spPr>
          <a:xfrm>
            <a:off x="4200000" y="6248400"/>
            <a:ext cx="37000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s-ES" sz="1000" dirty="0">
                <a:solidFill>
                  <a:srgbClr val="7A7A7A"/>
                </a:solidFill>
                <a:latin typeface="Arial"/>
                <a:ea typeface="Arial"/>
                <a:cs typeface="Arial"/>
              </a:rPr>
              <a:t>Héctor Francisco del Valle</a:t>
            </a:r>
          </a:p>
        </p:txBody>
      </p:sp>
      <p:sp>
        <p:nvSpPr>
          <p:cNvPr id="20" name="footer-right"/>
          <p:cNvSpPr txBox="1"/>
          <p:nvPr/>
        </p:nvSpPr>
        <p:spPr>
          <a:xfrm>
            <a:off x="8100000" y="6248400"/>
            <a:ext cx="36919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s-ES" sz="1000">
                <a:solidFill>
                  <a:srgbClr val="7A7A7A"/>
                </a:solidFill>
                <a:latin typeface="Arial"/>
                <a:ea typeface="Arial"/>
                <a:cs typeface="Arial"/>
              </a:rPr>
              <a:t>10/27</a:t>
            </a:r>
            <a:endParaRPr lang="es-ES" sz="1000" dirty="0">
              <a:solidFill>
                <a:srgbClr val="7A7A7A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034261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11">
            <a:extLst>
              <a:ext uri="{FF2B5EF4-FFF2-40B4-BE49-F238E27FC236}">
                <a16:creationId xmlns:a16="http://schemas.microsoft.com/office/drawing/2014/main" id="{16BE6287-99B9-465F-8115-B2505F8B7F0B}"/>
              </a:ext>
            </a:extLst>
          </p:cNvPr>
          <p:cNvSpPr>
            <a:spLocks noGrp="1"/>
          </p:cNvSpPr>
          <p:nvPr/>
        </p:nvSpPr>
        <p:spPr>
          <a:xfrm>
            <a:off x="400050" y="476250"/>
            <a:ext cx="11049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>
              <a:defRPr sz="26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s-MX" sz="2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ESTEPA 2005–2012: biomasa baja y estable</a:t>
            </a:r>
          </a:p>
        </p:txBody>
      </p:sp>
      <p:graphicFrame>
        <p:nvGraphicFramePr>
          <p:cNvPr id="11" name="Tabla 10"/>
          <p:cNvGraphicFramePr/>
          <p:nvPr>
            <p:extLst>
              <p:ext uri="{D42A27DB-BD31-4B8C-83A1-F6EECF244321}">
                <p14:modId xmlns:p14="http://schemas.microsoft.com/office/powerpoint/2010/main" val="422020551"/>
              </p:ext>
            </p:extLst>
          </p:nvPr>
        </p:nvGraphicFramePr>
        <p:xfrm>
          <a:off x="1190625" y="1381125"/>
          <a:ext cx="9810750" cy="4187145"/>
        </p:xfrm>
        <a:graphic>
          <a:graphicData uri="http://schemas.openxmlformats.org/drawingml/2006/table">
            <a:tbl>
              <a:tblPr firstRow="1" bandRow="1"/>
              <a:tblGrid>
                <a:gridCol w="952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5083">
                <a:tc>
                  <a:txBody>
                    <a:bodyPr/>
                    <a:lstStyle/>
                    <a:p>
                      <a:pPr algn="ctr"/>
                      <a:r>
                        <a:rPr sz="1613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Año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3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AGB media</a:t>
                      </a:r>
                    </a:p>
                    <a:p>
                      <a:pPr algn="ctr"/>
                      <a:r>
                        <a:rPr sz="1613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(Mg/ha)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3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Mín.–máx.</a:t>
                      </a:r>
                    </a:p>
                    <a:p>
                      <a:pPr algn="ctr"/>
                      <a:r>
                        <a:rPr sz="1613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(Mg/ha)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3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Incert. media</a:t>
                      </a:r>
                    </a:p>
                    <a:p>
                      <a:pPr algn="ctr"/>
                      <a:r>
                        <a:rPr sz="1613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(Mg/ha)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3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Incert. relativa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3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Stock estimado</a:t>
                      </a:r>
                    </a:p>
                    <a:p>
                      <a:pPr algn="ctr"/>
                      <a:r>
                        <a:rPr sz="1613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(Mt)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2C5F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5083"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2005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1,5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0–150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1,0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66,1%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0,03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5083"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2006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1,7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0–150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1,0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59,3%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0,04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5083"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2007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1,8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0–150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1,0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55,0%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0,04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5083"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2008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1,8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0–148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0,9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48,6%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0,04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5083"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2009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2,2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0–153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1,4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64,6%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0,05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5083"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2,0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0–152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1,1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56,7%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0,05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5083"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2011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1,9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0–149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1,1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59,6%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0,04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5083"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2012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1,8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0–151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1,2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63,7%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3" b="0" dirty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0,04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estepa-early-note">
            <a:extLst>
              <a:ext uri="{FF2B5EF4-FFF2-40B4-BE49-F238E27FC236}">
                <a16:creationId xmlns:a16="http://schemas.microsoft.com/office/drawing/2014/main" id="{48A973B2-4EB1-42B4-988F-E4B4D560F998}"/>
              </a:ext>
            </a:extLst>
          </p:cNvPr>
          <p:cNvSpPr>
            <a:spLocks noGrp="1"/>
          </p:cNvSpPr>
          <p:nvPr/>
        </p:nvSpPr>
        <p:spPr>
          <a:xfrm>
            <a:off x="400050" y="5743575"/>
            <a:ext cx="113919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defRPr sz="1575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F6670"/>
                </a:solidFill>
                <a:latin typeface="Arial"/>
                <a:ea typeface="Arial"/>
                <a:cs typeface="Arial"/>
              </a:rPr>
              <a:t>La media ronda 2 Mg/ha, pero máximos de ~150 Mg/ha indican pocos píxeles leñosos densos en una matriz abierta.</a:t>
            </a:r>
          </a:p>
        </p:txBody>
      </p:sp>
      <p:sp>
        <p:nvSpPr>
          <p:cNvPr id="12" name="footer-left"/>
          <p:cNvSpPr txBox="1"/>
          <p:nvPr/>
        </p:nvSpPr>
        <p:spPr>
          <a:xfrm>
            <a:off x="400050" y="6248400"/>
            <a:ext cx="35000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s-ES" sz="1000" dirty="0">
                <a:solidFill>
                  <a:srgbClr val="7A7A7A"/>
                </a:solidFill>
                <a:latin typeface="Arial"/>
                <a:ea typeface="Arial"/>
                <a:cs typeface="Arial"/>
              </a:rPr>
              <a:t>CCI BIOMASS v7.0</a:t>
            </a:r>
          </a:p>
        </p:txBody>
      </p:sp>
      <p:sp>
        <p:nvSpPr>
          <p:cNvPr id="13" name="footer-center"/>
          <p:cNvSpPr txBox="1"/>
          <p:nvPr/>
        </p:nvSpPr>
        <p:spPr>
          <a:xfrm>
            <a:off x="4200000" y="6248400"/>
            <a:ext cx="37000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s-ES" sz="1000" dirty="0">
                <a:solidFill>
                  <a:srgbClr val="7A7A7A"/>
                </a:solidFill>
                <a:latin typeface="Arial"/>
                <a:ea typeface="Arial"/>
                <a:cs typeface="Arial"/>
              </a:rPr>
              <a:t>Héctor Francisco del Valle</a:t>
            </a:r>
          </a:p>
        </p:txBody>
      </p:sp>
      <p:sp>
        <p:nvSpPr>
          <p:cNvPr id="14" name="footer-right"/>
          <p:cNvSpPr txBox="1"/>
          <p:nvPr/>
        </p:nvSpPr>
        <p:spPr>
          <a:xfrm>
            <a:off x="8100000" y="6248400"/>
            <a:ext cx="36919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s-ES" sz="1000">
                <a:solidFill>
                  <a:srgbClr val="7A7A7A"/>
                </a:solidFill>
                <a:latin typeface="Arial"/>
                <a:ea typeface="Arial"/>
                <a:cs typeface="Arial"/>
              </a:rPr>
              <a:t>11/27</a:t>
            </a:r>
            <a:endParaRPr lang="es-ES" sz="1000" dirty="0">
              <a:solidFill>
                <a:srgbClr val="7A7A7A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258726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12">
            <a:extLst>
              <a:ext uri="{FF2B5EF4-FFF2-40B4-BE49-F238E27FC236}">
                <a16:creationId xmlns:a16="http://schemas.microsoft.com/office/drawing/2014/main" id="{C22FF122-DADD-4E6F-BDFF-C798DF789030}"/>
              </a:ext>
            </a:extLst>
          </p:cNvPr>
          <p:cNvSpPr>
            <a:spLocks noGrp="1"/>
          </p:cNvSpPr>
          <p:nvPr/>
        </p:nvSpPr>
        <p:spPr>
          <a:xfrm>
            <a:off x="400050" y="476250"/>
            <a:ext cx="11049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>
              <a:defRPr sz="26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s-ES" sz="2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ESTEPA 2015–2024: +3,20 Mg/ha absolutos</a:t>
            </a:r>
          </a:p>
        </p:txBody>
      </p:sp>
      <p:graphicFrame>
        <p:nvGraphicFramePr>
          <p:cNvPr id="11" name="Tabla 10"/>
          <p:cNvGraphicFramePr/>
          <p:nvPr>
            <p:extLst>
              <p:ext uri="{D42A27DB-BD31-4B8C-83A1-F6EECF244321}">
                <p14:modId xmlns:p14="http://schemas.microsoft.com/office/powerpoint/2010/main" val="2081948464"/>
              </p:ext>
            </p:extLst>
          </p:nvPr>
        </p:nvGraphicFramePr>
        <p:xfrm>
          <a:off x="1190625" y="1139395"/>
          <a:ext cx="9810750" cy="4702841"/>
        </p:xfrm>
        <a:graphic>
          <a:graphicData uri="http://schemas.openxmlformats.org/drawingml/2006/table">
            <a:tbl>
              <a:tblPr firstRow="1" bandRow="1"/>
              <a:tblGrid>
                <a:gridCol w="952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15636">
                <a:tc>
                  <a:txBody>
                    <a:bodyPr/>
                    <a:lstStyle/>
                    <a:p>
                      <a:pPr algn="ctr"/>
                      <a:r>
                        <a:rPr sz="1613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Año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3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AGB media</a:t>
                      </a:r>
                    </a:p>
                    <a:p>
                      <a:pPr algn="ctr"/>
                      <a:r>
                        <a:rPr sz="1613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(Mg/ha)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3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Mín.–máx.</a:t>
                      </a:r>
                    </a:p>
                    <a:p>
                      <a:pPr algn="ctr"/>
                      <a:r>
                        <a:rPr sz="1613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(Mg/ha)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3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Incert. media</a:t>
                      </a:r>
                    </a:p>
                    <a:p>
                      <a:pPr algn="ctr"/>
                      <a:r>
                        <a:rPr sz="1613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(Mg/ha)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3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Incert. relativa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3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Stock estimado</a:t>
                      </a:r>
                    </a:p>
                    <a:p>
                      <a:pPr algn="ctr"/>
                      <a:r>
                        <a:rPr sz="1613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(Mt)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2C5F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2015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1,6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0–151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1,1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66,1%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0,04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2016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2,4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0–151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1,2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49,4%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0,05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2017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3,2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0–151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1,4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42,9%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0,07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2018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4,2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0–152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1,9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44,4%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0,09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2019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4,7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0–151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2,1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44,5%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0,11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2020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4,4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0–151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2,0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44,5%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0,10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2021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4,6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0–151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2,1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45,3%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0,10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2022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4,9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0–151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2,3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46,1%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0,11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2023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5,0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0–151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2,2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44,8%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0,11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2024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4,8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0–151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2,2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3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45,7%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3" b="0" dirty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0,11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6" name="estepa-late-note">
            <a:extLst>
              <a:ext uri="{FF2B5EF4-FFF2-40B4-BE49-F238E27FC236}">
                <a16:creationId xmlns:a16="http://schemas.microsoft.com/office/drawing/2014/main" id="{6E2285C1-7880-4F79-94A1-88885DCBD2B3}"/>
              </a:ext>
            </a:extLst>
          </p:cNvPr>
          <p:cNvSpPr>
            <a:spLocks noGrp="1"/>
          </p:cNvSpPr>
          <p:nvPr/>
        </p:nvSpPr>
        <p:spPr>
          <a:xfrm>
            <a:off x="400050" y="5873320"/>
            <a:ext cx="11391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defRPr sz="1575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575" dirty="0">
                <a:solidFill>
                  <a:srgbClr val="5F6670"/>
                </a:solidFill>
                <a:latin typeface="Arial"/>
                <a:ea typeface="Arial"/>
                <a:cs typeface="Arial"/>
              </a:rPr>
              <a:t>El +196% </a:t>
            </a:r>
            <a:r>
              <a:rPr sz="1575" dirty="0" err="1">
                <a:solidFill>
                  <a:srgbClr val="5F6670"/>
                </a:solidFill>
                <a:latin typeface="Arial"/>
                <a:ea typeface="Arial"/>
                <a:cs typeface="Arial"/>
              </a:rPr>
              <a:t>parte</a:t>
            </a:r>
            <a:r>
              <a:rPr sz="1575" dirty="0">
                <a:solidFill>
                  <a:srgbClr val="5F6670"/>
                </a:solidFill>
                <a:latin typeface="Arial"/>
                <a:ea typeface="Arial"/>
                <a:cs typeface="Arial"/>
              </a:rPr>
              <a:t> de 1,63 Mg/ha. Cambio </a:t>
            </a:r>
            <a:r>
              <a:rPr sz="1575" dirty="0" err="1">
                <a:solidFill>
                  <a:srgbClr val="5F6670"/>
                </a:solidFill>
                <a:latin typeface="Arial"/>
                <a:ea typeface="Arial"/>
                <a:cs typeface="Arial"/>
              </a:rPr>
              <a:t>absoluto</a:t>
            </a:r>
            <a:r>
              <a:rPr sz="1575" dirty="0">
                <a:solidFill>
                  <a:srgbClr val="5F6670"/>
                </a:solidFill>
                <a:latin typeface="Arial"/>
                <a:ea typeface="Arial"/>
                <a:cs typeface="Arial"/>
              </a:rPr>
              <a:t>: +3,20 Mg/ha; </a:t>
            </a:r>
            <a:r>
              <a:rPr sz="1575" dirty="0" err="1">
                <a:solidFill>
                  <a:srgbClr val="5F6670"/>
                </a:solidFill>
                <a:latin typeface="Arial"/>
                <a:ea typeface="Arial"/>
                <a:cs typeface="Arial"/>
              </a:rPr>
              <a:t>incertidumbre</a:t>
            </a:r>
            <a:r>
              <a:rPr sz="1575" dirty="0">
                <a:solidFill>
                  <a:srgbClr val="5F6670"/>
                </a:solidFill>
                <a:latin typeface="Arial"/>
                <a:ea typeface="Arial"/>
                <a:cs typeface="Arial"/>
              </a:rPr>
              <a:t> 2024: 2,21 Mg/ha.</a:t>
            </a:r>
          </a:p>
        </p:txBody>
      </p:sp>
      <p:sp>
        <p:nvSpPr>
          <p:cNvPr id="12" name="footer-left"/>
          <p:cNvSpPr txBox="1"/>
          <p:nvPr/>
        </p:nvSpPr>
        <p:spPr>
          <a:xfrm>
            <a:off x="400050" y="6248400"/>
            <a:ext cx="35000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s-ES" sz="1000" dirty="0">
                <a:solidFill>
                  <a:srgbClr val="7A7A7A"/>
                </a:solidFill>
                <a:latin typeface="Arial"/>
                <a:ea typeface="Arial"/>
                <a:cs typeface="Arial"/>
              </a:rPr>
              <a:t>CCI BIOMASS v7.0</a:t>
            </a:r>
          </a:p>
        </p:txBody>
      </p:sp>
      <p:sp>
        <p:nvSpPr>
          <p:cNvPr id="13" name="footer-center"/>
          <p:cNvSpPr txBox="1"/>
          <p:nvPr/>
        </p:nvSpPr>
        <p:spPr>
          <a:xfrm>
            <a:off x="4200000" y="6248400"/>
            <a:ext cx="37000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s-ES" sz="1000" dirty="0">
                <a:solidFill>
                  <a:srgbClr val="7A7A7A"/>
                </a:solidFill>
                <a:latin typeface="Arial"/>
                <a:ea typeface="Arial"/>
                <a:cs typeface="Arial"/>
              </a:rPr>
              <a:t>Héctor Francisco del Valle</a:t>
            </a:r>
          </a:p>
        </p:txBody>
      </p:sp>
      <p:sp>
        <p:nvSpPr>
          <p:cNvPr id="14" name="footer-right"/>
          <p:cNvSpPr txBox="1"/>
          <p:nvPr/>
        </p:nvSpPr>
        <p:spPr>
          <a:xfrm>
            <a:off x="8100000" y="6248400"/>
            <a:ext cx="36919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s-ES" sz="1000">
                <a:solidFill>
                  <a:srgbClr val="7A7A7A"/>
                </a:solidFill>
                <a:latin typeface="Arial"/>
                <a:ea typeface="Arial"/>
                <a:cs typeface="Arial"/>
              </a:rPr>
              <a:t>12/27</a:t>
            </a:r>
            <a:endParaRPr lang="es-ES" sz="1000" dirty="0">
              <a:solidFill>
                <a:srgbClr val="7A7A7A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156525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13">
            <a:extLst>
              <a:ext uri="{FF2B5EF4-FFF2-40B4-BE49-F238E27FC236}">
                <a16:creationId xmlns:a16="http://schemas.microsoft.com/office/drawing/2014/main" id="{9152CD71-1399-4E7F-BF31-3FDB214D8E67}"/>
              </a:ext>
            </a:extLst>
          </p:cNvPr>
          <p:cNvSpPr>
            <a:spLocks noGrp="1"/>
          </p:cNvSpPr>
          <p:nvPr/>
        </p:nvSpPr>
        <p:spPr>
          <a:xfrm>
            <a:off x="400050" y="476250"/>
            <a:ext cx="11049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>
              <a:defRPr sz="26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s-MX" sz="2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ESTEPA: el cambio reciente no es concluyente</a:t>
            </a:r>
          </a:p>
        </p:txBody>
      </p:sp>
      <p:graphicFrame>
        <p:nvGraphicFramePr>
          <p:cNvPr id="13" name="Chart"/>
          <p:cNvGraphicFramePr/>
          <p:nvPr>
            <p:extLst>
              <p:ext uri="{D42A27DB-BD31-4B8C-83A1-F6EECF244321}">
                <p14:modId xmlns:p14="http://schemas.microsoft.com/office/powerpoint/2010/main" val="1166466474"/>
              </p:ext>
            </p:extLst>
          </p:nvPr>
        </p:nvGraphicFramePr>
        <p:xfrm>
          <a:off x="400050" y="1428750"/>
          <a:ext cx="6191250" cy="381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4" name="Tabla 13"/>
          <p:cNvGraphicFramePr/>
          <p:nvPr>
            <p:extLst>
              <p:ext uri="{D42A27DB-BD31-4B8C-83A1-F6EECF244321}">
                <p14:modId xmlns:p14="http://schemas.microsoft.com/office/powerpoint/2010/main" val="3118923001"/>
              </p:ext>
            </p:extLst>
          </p:nvPr>
        </p:nvGraphicFramePr>
        <p:xfrm>
          <a:off x="6762750" y="1619250"/>
          <a:ext cx="5029200" cy="2190750"/>
        </p:xfrm>
        <a:graphic>
          <a:graphicData uri="http://schemas.openxmlformats.org/drawingml/2006/table">
            <a:tbl>
              <a:tblPr firstRow="1" bandRow="1"/>
              <a:tblGrid>
                <a:gridCol w="1095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0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30250">
                <a:tc>
                  <a:txBody>
                    <a:bodyPr/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Período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Píxeles válidos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Cambio medio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Rango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SD media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2C5F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0250"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2010–20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8.288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9,1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-101 a 112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9,5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0250"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2019–20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9.458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-0,8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-57 a 39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 dirty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9,6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estepa-change-label">
            <a:extLst>
              <a:ext uri="{FF2B5EF4-FFF2-40B4-BE49-F238E27FC236}">
                <a16:creationId xmlns:a16="http://schemas.microsoft.com/office/drawing/2014/main" id="{C2C7189C-0BDC-4BB8-898A-6707D32164C2}"/>
              </a:ext>
            </a:extLst>
          </p:cNvPr>
          <p:cNvSpPr>
            <a:spLocks noGrp="1"/>
          </p:cNvSpPr>
          <p:nvPr/>
        </p:nvSpPr>
        <p:spPr>
          <a:xfrm>
            <a:off x="6762750" y="4191000"/>
            <a:ext cx="1428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Lectura</a:t>
            </a:r>
          </a:p>
        </p:txBody>
      </p:sp>
      <p:sp>
        <p:nvSpPr>
          <p:cNvPr id="8" name="estepa-change-reading">
            <a:extLst>
              <a:ext uri="{FF2B5EF4-FFF2-40B4-BE49-F238E27FC236}">
                <a16:creationId xmlns:a16="http://schemas.microsoft.com/office/drawing/2014/main" id="{65F23DEE-AFBB-4B56-A045-29F5CE82CA2E}"/>
              </a:ext>
            </a:extLst>
          </p:cNvPr>
          <p:cNvSpPr>
            <a:spLocks noGrp="1"/>
          </p:cNvSpPr>
          <p:nvPr/>
        </p:nvSpPr>
        <p:spPr>
          <a:xfrm>
            <a:off x="6762750" y="4572000"/>
            <a:ext cx="5029200" cy="152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defRPr sz="165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5F6670"/>
                </a:solidFill>
                <a:latin typeface="Arial"/>
                <a:ea typeface="Arial"/>
                <a:cs typeface="Arial"/>
              </a:rPr>
              <a:t>En 2010–2020, el cambio medio (+9,13 Mg/ha) es similar a su SD (9,52 Mg/ha). En 2019–2020, −0,82 Mg/ha queda muy por debajo de una SD de 9,65 Mg/ha: no hay evidencia robusta de cambio anual neto.</a:t>
            </a:r>
          </a:p>
        </p:txBody>
      </p:sp>
      <p:sp>
        <p:nvSpPr>
          <p:cNvPr id="15" name="footer-left"/>
          <p:cNvSpPr txBox="1"/>
          <p:nvPr/>
        </p:nvSpPr>
        <p:spPr>
          <a:xfrm>
            <a:off x="400050" y="6248400"/>
            <a:ext cx="35000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s-ES" sz="1000" dirty="0">
                <a:solidFill>
                  <a:srgbClr val="7A7A7A"/>
                </a:solidFill>
                <a:latin typeface="Arial"/>
                <a:ea typeface="Arial"/>
                <a:cs typeface="Arial"/>
              </a:rPr>
              <a:t>CCI BIOMASS v7.0</a:t>
            </a:r>
          </a:p>
        </p:txBody>
      </p:sp>
      <p:sp>
        <p:nvSpPr>
          <p:cNvPr id="16" name="footer-center"/>
          <p:cNvSpPr txBox="1"/>
          <p:nvPr/>
        </p:nvSpPr>
        <p:spPr>
          <a:xfrm>
            <a:off x="4200000" y="6248400"/>
            <a:ext cx="37000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s-ES" sz="1000" dirty="0">
                <a:solidFill>
                  <a:srgbClr val="7A7A7A"/>
                </a:solidFill>
                <a:latin typeface="Arial"/>
                <a:ea typeface="Arial"/>
                <a:cs typeface="Arial"/>
              </a:rPr>
              <a:t>Héctor Francisco del Valle</a:t>
            </a:r>
          </a:p>
        </p:txBody>
      </p:sp>
      <p:sp>
        <p:nvSpPr>
          <p:cNvPr id="17" name="footer-right"/>
          <p:cNvSpPr txBox="1"/>
          <p:nvPr/>
        </p:nvSpPr>
        <p:spPr>
          <a:xfrm>
            <a:off x="8100000" y="6248400"/>
            <a:ext cx="36919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s-ES" sz="1000">
                <a:solidFill>
                  <a:srgbClr val="7A7A7A"/>
                </a:solidFill>
                <a:latin typeface="Arial"/>
                <a:ea typeface="Arial"/>
                <a:cs typeface="Arial"/>
              </a:rPr>
              <a:t>13/27</a:t>
            </a:r>
            <a:endParaRPr lang="es-ES" sz="1000" dirty="0">
              <a:solidFill>
                <a:srgbClr val="7A7A7A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526009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14">
            <a:extLst>
              <a:ext uri="{FF2B5EF4-FFF2-40B4-BE49-F238E27FC236}">
                <a16:creationId xmlns:a16="http://schemas.microsoft.com/office/drawing/2014/main" id="{51A1535A-CCAC-415C-AA44-1CC0FC8998FC}"/>
              </a:ext>
            </a:extLst>
          </p:cNvPr>
          <p:cNvSpPr>
            <a:spLocks noGrp="1"/>
          </p:cNvSpPr>
          <p:nvPr/>
        </p:nvSpPr>
        <p:spPr>
          <a:xfrm>
            <a:off x="400050" y="476250"/>
            <a:ext cx="11049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>
              <a:defRPr sz="26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s-MX" sz="2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La escala y la incertidumbre cambian la lectura</a:t>
            </a:r>
          </a:p>
        </p:txBody>
      </p:sp>
      <p:pic>
        <p:nvPicPr>
          <p:cNvPr id="18" name="Imagen 1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00050" y="1903512"/>
            <a:ext cx="5429250" cy="3336727"/>
          </a:xfrm>
          <a:prstGeom prst="rect">
            <a:avLst/>
          </a:prstGeom>
        </p:spPr>
      </p:pic>
      <p:sp>
        <p:nvSpPr>
          <p:cNvPr id="6" name="close-image-source">
            <a:extLst>
              <a:ext uri="{FF2B5EF4-FFF2-40B4-BE49-F238E27FC236}">
                <a16:creationId xmlns:a16="http://schemas.microsoft.com/office/drawing/2014/main" id="{2A98ACE5-1080-4A35-98E2-4E8F06A8FD5E}"/>
              </a:ext>
            </a:extLst>
          </p:cNvPr>
          <p:cNvSpPr>
            <a:spLocks noGrp="1"/>
          </p:cNvSpPr>
          <p:nvPr/>
        </p:nvSpPr>
        <p:spPr>
          <a:xfrm>
            <a:off x="400050" y="5829300"/>
            <a:ext cx="5429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defRPr sz="90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F6670"/>
                </a:solidFill>
                <a:latin typeface="Arial"/>
                <a:ea typeface="Arial"/>
                <a:cs typeface="Arial"/>
              </a:rPr>
              <a:t>Fuente visual: ESA, Above-ground biomass 2020</a:t>
            </a:r>
          </a:p>
        </p:txBody>
      </p:sp>
      <p:sp>
        <p:nvSpPr>
          <p:cNvPr id="7" name="close-head-0">
            <a:extLst>
              <a:ext uri="{FF2B5EF4-FFF2-40B4-BE49-F238E27FC236}">
                <a16:creationId xmlns:a16="http://schemas.microsoft.com/office/drawing/2014/main" id="{ECE1BD06-143C-44C7-9730-00083A6C4AC1}"/>
              </a:ext>
            </a:extLst>
          </p:cNvPr>
          <p:cNvSpPr>
            <a:spLocks noGrp="1"/>
          </p:cNvSpPr>
          <p:nvPr/>
        </p:nvSpPr>
        <p:spPr>
          <a:xfrm>
            <a:off x="6286500" y="1476375"/>
            <a:ext cx="504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defRPr sz="1650" b="1">
                <a:solidFill>
                  <a:srgbClr val="1B6B4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B6B4A"/>
                </a:solidFill>
                <a:latin typeface="Arial"/>
                <a:ea typeface="Arial"/>
                <a:cs typeface="Arial"/>
              </a:rPr>
              <a:t>BOSQUE</a:t>
            </a:r>
          </a:p>
        </p:txBody>
      </p:sp>
      <p:sp>
        <p:nvSpPr>
          <p:cNvPr id="8" name="close-body-0">
            <a:extLst>
              <a:ext uri="{FF2B5EF4-FFF2-40B4-BE49-F238E27FC236}">
                <a16:creationId xmlns:a16="http://schemas.microsoft.com/office/drawing/2014/main" id="{2DB2D8C9-FF99-40E7-913F-FDA95A40BF11}"/>
              </a:ext>
            </a:extLst>
          </p:cNvPr>
          <p:cNvSpPr>
            <a:spLocks noGrp="1"/>
          </p:cNvSpPr>
          <p:nvPr/>
        </p:nvSpPr>
        <p:spPr>
          <a:xfrm>
            <a:off x="6286500" y="1876425"/>
            <a:ext cx="50482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defRPr sz="16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11111"/>
                </a:solidFill>
                <a:latin typeface="Arial"/>
                <a:ea typeface="Arial"/>
                <a:cs typeface="Arial"/>
              </a:rPr>
              <a:t>130,0 Mg/ha en 2024; stock estimado 2,92 Mt. La señal se estabiliza después del máximo de 2020.</a:t>
            </a:r>
          </a:p>
        </p:txBody>
      </p:sp>
      <p:sp>
        <p:nvSpPr>
          <p:cNvPr id="9" name="close-head-1">
            <a:extLst>
              <a:ext uri="{FF2B5EF4-FFF2-40B4-BE49-F238E27FC236}">
                <a16:creationId xmlns:a16="http://schemas.microsoft.com/office/drawing/2014/main" id="{E8E97EDA-AC68-4CBA-857A-F0A77FED4939}"/>
              </a:ext>
            </a:extLst>
          </p:cNvPr>
          <p:cNvSpPr>
            <a:spLocks noGrp="1"/>
          </p:cNvSpPr>
          <p:nvPr/>
        </p:nvSpPr>
        <p:spPr>
          <a:xfrm>
            <a:off x="6286500" y="2952750"/>
            <a:ext cx="504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defRPr sz="16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ESTEPA</a:t>
            </a:r>
          </a:p>
        </p:txBody>
      </p:sp>
      <p:sp>
        <p:nvSpPr>
          <p:cNvPr id="10" name="close-body-1">
            <a:extLst>
              <a:ext uri="{FF2B5EF4-FFF2-40B4-BE49-F238E27FC236}">
                <a16:creationId xmlns:a16="http://schemas.microsoft.com/office/drawing/2014/main" id="{CCE4D000-C04D-49A8-A5E3-D01BCCE7C36D}"/>
              </a:ext>
            </a:extLst>
          </p:cNvPr>
          <p:cNvSpPr>
            <a:spLocks noGrp="1"/>
          </p:cNvSpPr>
          <p:nvPr/>
        </p:nvSpPr>
        <p:spPr>
          <a:xfrm>
            <a:off x="6286500" y="3352800"/>
            <a:ext cx="50482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defRPr sz="16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11111"/>
                </a:solidFill>
                <a:latin typeface="Arial"/>
                <a:ea typeface="Arial"/>
                <a:cs typeface="Arial"/>
              </a:rPr>
              <a:t>4,83 Mg/ha en 2024; stock estimado 108 mil Mg. El aumento relativo es alto, pero la magnitud absoluta sigue siendo baja.</a:t>
            </a:r>
          </a:p>
        </p:txBody>
      </p:sp>
      <p:sp>
        <p:nvSpPr>
          <p:cNvPr id="11" name="close-head-2">
            <a:extLst>
              <a:ext uri="{FF2B5EF4-FFF2-40B4-BE49-F238E27FC236}">
                <a16:creationId xmlns:a16="http://schemas.microsoft.com/office/drawing/2014/main" id="{F78CD21F-EBCE-400E-9230-384676BBF6F0}"/>
              </a:ext>
            </a:extLst>
          </p:cNvPr>
          <p:cNvSpPr>
            <a:spLocks noGrp="1"/>
          </p:cNvSpPr>
          <p:nvPr/>
        </p:nvSpPr>
        <p:spPr>
          <a:xfrm>
            <a:off x="6286500" y="4429125"/>
            <a:ext cx="504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defRPr sz="1650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DECISIÓN ANALÍTICA</a:t>
            </a:r>
          </a:p>
        </p:txBody>
      </p:sp>
      <p:sp>
        <p:nvSpPr>
          <p:cNvPr id="12" name="close-body-2">
            <a:extLst>
              <a:ext uri="{FF2B5EF4-FFF2-40B4-BE49-F238E27FC236}">
                <a16:creationId xmlns:a16="http://schemas.microsoft.com/office/drawing/2014/main" id="{3700B4B3-59CC-4A4F-8465-120B349645A7}"/>
              </a:ext>
            </a:extLst>
          </p:cNvPr>
          <p:cNvSpPr>
            <a:spLocks noGrp="1"/>
          </p:cNvSpPr>
          <p:nvPr/>
        </p:nvSpPr>
        <p:spPr>
          <a:xfrm>
            <a:off x="6286500" y="4829175"/>
            <a:ext cx="50482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defRPr sz="16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11111"/>
                </a:solidFill>
                <a:latin typeface="Arial"/>
                <a:ea typeface="Arial"/>
                <a:cs typeface="Arial"/>
              </a:rPr>
              <a:t>Usar promedios zonales, SD y flags. Evitar conclusiones basadas en píxeles individuales o en porcentajes sin valor absoluto.</a:t>
            </a:r>
          </a:p>
        </p:txBody>
      </p:sp>
      <p:sp>
        <p:nvSpPr>
          <p:cNvPr id="13" name="close-action">
            <a:extLst>
              <a:ext uri="{FF2B5EF4-FFF2-40B4-BE49-F238E27FC236}">
                <a16:creationId xmlns:a16="http://schemas.microsoft.com/office/drawing/2014/main" id="{694873D5-09BC-446F-9D8B-0FE07A984706}"/>
              </a:ext>
            </a:extLst>
          </p:cNvPr>
          <p:cNvSpPr>
            <a:spLocks noGrp="1"/>
          </p:cNvSpPr>
          <p:nvPr/>
        </p:nvSpPr>
        <p:spPr>
          <a:xfrm>
            <a:off x="6286500" y="5689092"/>
            <a:ext cx="5048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0781" lnSpcReduction="10000"/>
          </a:bodyPr>
          <a:lstStyle/>
          <a:p>
            <a:pPr>
              <a:defRPr sz="1350" b="1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350" b="1" dirty="0" err="1">
                <a:solidFill>
                  <a:srgbClr val="5F6670"/>
                </a:solidFill>
                <a:latin typeface="Arial"/>
                <a:ea typeface="Arial"/>
                <a:cs typeface="Arial"/>
              </a:rPr>
              <a:t>Siguiente</a:t>
            </a:r>
            <a:r>
              <a:rPr sz="1350" b="1" dirty="0">
                <a:solidFill>
                  <a:srgbClr val="5F6670"/>
                </a:solidFill>
                <a:latin typeface="Arial"/>
                <a:ea typeface="Arial"/>
                <a:cs typeface="Arial"/>
              </a:rPr>
              <a:t> paso recomendado: </a:t>
            </a:r>
            <a:r>
              <a:rPr sz="1350" b="1" dirty="0" err="1">
                <a:solidFill>
                  <a:srgbClr val="5F6670"/>
                </a:solidFill>
                <a:latin typeface="Arial"/>
                <a:ea typeface="Arial"/>
                <a:cs typeface="Arial"/>
              </a:rPr>
              <a:t>contrastar</a:t>
            </a:r>
            <a:r>
              <a:rPr sz="1350" b="1" dirty="0">
                <a:solidFill>
                  <a:srgbClr val="5F6670"/>
                </a:solidFill>
                <a:latin typeface="Arial"/>
                <a:ea typeface="Arial"/>
                <a:cs typeface="Arial"/>
              </a:rPr>
              <a:t> con </a:t>
            </a:r>
            <a:r>
              <a:rPr sz="1350" b="1" dirty="0" err="1">
                <a:solidFill>
                  <a:srgbClr val="5F6670"/>
                </a:solidFill>
                <a:latin typeface="Arial"/>
                <a:ea typeface="Arial"/>
                <a:cs typeface="Arial"/>
              </a:rPr>
              <a:t>cobertura</a:t>
            </a:r>
            <a:r>
              <a:rPr sz="1350" b="1" dirty="0">
                <a:solidFill>
                  <a:srgbClr val="5F6670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1" dirty="0" err="1">
                <a:solidFill>
                  <a:srgbClr val="5F6670"/>
                </a:solidFill>
                <a:latin typeface="Arial"/>
                <a:ea typeface="Arial"/>
                <a:cs typeface="Arial"/>
              </a:rPr>
              <a:t>forestal</a:t>
            </a:r>
            <a:r>
              <a:rPr sz="1350" b="1" dirty="0">
                <a:solidFill>
                  <a:srgbClr val="5F6670"/>
                </a:solidFill>
                <a:latin typeface="Arial"/>
                <a:ea typeface="Arial"/>
                <a:cs typeface="Arial"/>
              </a:rPr>
              <a:t> y </a:t>
            </a:r>
            <a:r>
              <a:rPr sz="1350" b="1" dirty="0" err="1">
                <a:solidFill>
                  <a:srgbClr val="5F6670"/>
                </a:solidFill>
                <a:latin typeface="Arial"/>
                <a:ea typeface="Arial"/>
                <a:cs typeface="Arial"/>
              </a:rPr>
              <a:t>datos</a:t>
            </a:r>
            <a:r>
              <a:rPr sz="1350" b="1" dirty="0">
                <a:solidFill>
                  <a:srgbClr val="5F6670"/>
                </a:solidFill>
                <a:latin typeface="Arial"/>
                <a:ea typeface="Arial"/>
                <a:cs typeface="Arial"/>
              </a:rPr>
              <a:t> de campo antes de </a:t>
            </a:r>
            <a:r>
              <a:rPr sz="1350" b="1" dirty="0" err="1">
                <a:solidFill>
                  <a:srgbClr val="5F6670"/>
                </a:solidFill>
                <a:latin typeface="Arial"/>
                <a:ea typeface="Arial"/>
                <a:cs typeface="Arial"/>
              </a:rPr>
              <a:t>estimar</a:t>
            </a:r>
            <a:r>
              <a:rPr sz="1350" b="1" dirty="0">
                <a:solidFill>
                  <a:srgbClr val="5F6670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1" dirty="0" err="1">
                <a:solidFill>
                  <a:srgbClr val="5F6670"/>
                </a:solidFill>
                <a:latin typeface="Arial"/>
                <a:ea typeface="Arial"/>
                <a:cs typeface="Arial"/>
              </a:rPr>
              <a:t>tendencias</a:t>
            </a:r>
            <a:r>
              <a:rPr sz="1350" b="1" dirty="0">
                <a:solidFill>
                  <a:srgbClr val="5F6670"/>
                </a:solidFill>
                <a:latin typeface="Arial"/>
                <a:ea typeface="Arial"/>
                <a:cs typeface="Arial"/>
              </a:rPr>
              <a:t> o </a:t>
            </a:r>
            <a:r>
              <a:rPr sz="1350" b="1" dirty="0" err="1">
                <a:solidFill>
                  <a:srgbClr val="5F6670"/>
                </a:solidFill>
                <a:latin typeface="Arial"/>
                <a:ea typeface="Arial"/>
                <a:cs typeface="Arial"/>
              </a:rPr>
              <a:t>existencias</a:t>
            </a:r>
            <a:r>
              <a:rPr sz="1350" b="1" dirty="0">
                <a:solidFill>
                  <a:srgbClr val="5F6670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1" dirty="0" err="1">
                <a:solidFill>
                  <a:srgbClr val="5F6670"/>
                </a:solidFill>
                <a:latin typeface="Arial"/>
                <a:ea typeface="Arial"/>
                <a:cs typeface="Arial"/>
              </a:rPr>
              <a:t>operativas</a:t>
            </a:r>
            <a:r>
              <a:rPr sz="1350" b="1" dirty="0">
                <a:solidFill>
                  <a:srgbClr val="5F6670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19" name="footer-left"/>
          <p:cNvSpPr txBox="1"/>
          <p:nvPr/>
        </p:nvSpPr>
        <p:spPr>
          <a:xfrm>
            <a:off x="400050" y="6248400"/>
            <a:ext cx="35000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s-ES" sz="1000" dirty="0">
                <a:solidFill>
                  <a:srgbClr val="7A7A7A"/>
                </a:solidFill>
                <a:latin typeface="Arial"/>
                <a:ea typeface="Arial"/>
                <a:cs typeface="Arial"/>
              </a:rPr>
              <a:t>CCI BIOMASS v7.0</a:t>
            </a:r>
          </a:p>
        </p:txBody>
      </p:sp>
      <p:sp>
        <p:nvSpPr>
          <p:cNvPr id="20" name="footer-center"/>
          <p:cNvSpPr txBox="1"/>
          <p:nvPr/>
        </p:nvSpPr>
        <p:spPr>
          <a:xfrm>
            <a:off x="4200000" y="6248400"/>
            <a:ext cx="37000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s-ES" sz="1000" dirty="0">
                <a:solidFill>
                  <a:srgbClr val="7A7A7A"/>
                </a:solidFill>
                <a:latin typeface="Arial"/>
                <a:ea typeface="Arial"/>
                <a:cs typeface="Arial"/>
              </a:rPr>
              <a:t>Héctor Francisco del Valle</a:t>
            </a:r>
          </a:p>
        </p:txBody>
      </p:sp>
      <p:sp>
        <p:nvSpPr>
          <p:cNvPr id="21" name="footer-right"/>
          <p:cNvSpPr txBox="1"/>
          <p:nvPr/>
        </p:nvSpPr>
        <p:spPr>
          <a:xfrm>
            <a:off x="8100000" y="6248400"/>
            <a:ext cx="36919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s-ES" sz="1000">
                <a:solidFill>
                  <a:srgbClr val="7A7A7A"/>
                </a:solidFill>
                <a:latin typeface="Arial"/>
                <a:ea typeface="Arial"/>
                <a:cs typeface="Arial"/>
              </a:rPr>
              <a:t>14/27</a:t>
            </a:r>
            <a:endParaRPr lang="es-ES" sz="1000" dirty="0">
              <a:solidFill>
                <a:srgbClr val="7A7A7A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430559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15">
            <a:extLst>
              <a:ext uri="{FF2B5EF4-FFF2-40B4-BE49-F238E27FC236}">
                <a16:creationId xmlns:a16="http://schemas.microsoft.com/office/drawing/2014/main" id="{D6842AD3-C1CB-4D46-A80A-EF030F6BB21D}"/>
              </a:ext>
            </a:extLst>
          </p:cNvPr>
          <p:cNvSpPr>
            <a:spLocks noGrp="1"/>
          </p:cNvSpPr>
          <p:nvPr/>
        </p:nvSpPr>
        <p:spPr>
          <a:xfrm>
            <a:off x="400050" y="476250"/>
            <a:ext cx="11049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>
              <a:defRPr sz="26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s-ES" sz="2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La cobertura estratifica la biomasa</a:t>
            </a:r>
          </a:p>
        </p:txBody>
      </p:sp>
      <p:sp>
        <p:nvSpPr>
          <p:cNvPr id="5" name="cov-step-0">
            <a:extLst>
              <a:ext uri="{FF2B5EF4-FFF2-40B4-BE49-F238E27FC236}">
                <a16:creationId xmlns:a16="http://schemas.microsoft.com/office/drawing/2014/main" id="{905C32B9-0C6B-4BA2-BCA9-5334E7CD60BD}"/>
              </a:ext>
            </a:extLst>
          </p:cNvPr>
          <p:cNvSpPr>
            <a:spLocks noGrp="1"/>
          </p:cNvSpPr>
          <p:nvPr/>
        </p:nvSpPr>
        <p:spPr>
          <a:xfrm>
            <a:off x="400050" y="1476375"/>
            <a:ext cx="5524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defRPr sz="187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1875" b="1" dirty="0">
                <a:solidFill>
                  <a:srgbClr val="D97706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cov-step-title-0">
            <a:extLst>
              <a:ext uri="{FF2B5EF4-FFF2-40B4-BE49-F238E27FC236}">
                <a16:creationId xmlns:a16="http://schemas.microsoft.com/office/drawing/2014/main" id="{FCE8F192-9725-40AC-ADAD-EE3E0A9137D3}"/>
              </a:ext>
            </a:extLst>
          </p:cNvPr>
          <p:cNvSpPr>
            <a:spLocks noGrp="1"/>
          </p:cNvSpPr>
          <p:nvPr/>
        </p:nvSpPr>
        <p:spPr>
          <a:xfrm>
            <a:off x="1066800" y="1438275"/>
            <a:ext cx="2762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defRPr sz="21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Restituir atributos</a:t>
            </a:r>
          </a:p>
        </p:txBody>
      </p:sp>
      <p:sp>
        <p:nvSpPr>
          <p:cNvPr id="7" name="cov-step-body-0">
            <a:extLst>
              <a:ext uri="{FF2B5EF4-FFF2-40B4-BE49-F238E27FC236}">
                <a16:creationId xmlns:a16="http://schemas.microsoft.com/office/drawing/2014/main" id="{A9AA4482-F1D1-4043-B3C7-8EFE383DDA58}"/>
              </a:ext>
            </a:extLst>
          </p:cNvPr>
          <p:cNvSpPr>
            <a:spLocks noGrp="1"/>
          </p:cNvSpPr>
          <p:nvPr/>
        </p:nvSpPr>
        <p:spPr>
          <a:xfrm>
            <a:off x="1066800" y="1952625"/>
            <a:ext cx="2857500" cy="1190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defRPr sz="150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F6670"/>
                </a:solidFill>
                <a:latin typeface="Arial"/>
                <a:ea typeface="Arial"/>
                <a:cs typeface="Arial"/>
              </a:rPr>
              <a:t>Los ZIP adjuntos no traían .dbf; se vinculó la tabla coincidente de la carpeta original del curso.</a:t>
            </a:r>
          </a:p>
        </p:txBody>
      </p:sp>
      <p:sp>
        <p:nvSpPr>
          <p:cNvPr id="8" name="cov-step-1">
            <a:extLst>
              <a:ext uri="{FF2B5EF4-FFF2-40B4-BE49-F238E27FC236}">
                <a16:creationId xmlns:a16="http://schemas.microsoft.com/office/drawing/2014/main" id="{25401771-DB46-418B-8EDA-482AB8D2ECCA}"/>
              </a:ext>
            </a:extLst>
          </p:cNvPr>
          <p:cNvSpPr>
            <a:spLocks noGrp="1"/>
          </p:cNvSpPr>
          <p:nvPr/>
        </p:nvSpPr>
        <p:spPr>
          <a:xfrm>
            <a:off x="4210050" y="1476375"/>
            <a:ext cx="5524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defRPr sz="187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1875" b="1" dirty="0">
                <a:solidFill>
                  <a:srgbClr val="D97706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cov-step-title-1">
            <a:extLst>
              <a:ext uri="{FF2B5EF4-FFF2-40B4-BE49-F238E27FC236}">
                <a16:creationId xmlns:a16="http://schemas.microsoft.com/office/drawing/2014/main" id="{0EAF224D-E950-46D0-BF6E-8947A259E46C}"/>
              </a:ext>
            </a:extLst>
          </p:cNvPr>
          <p:cNvSpPr>
            <a:spLocks noGrp="1"/>
          </p:cNvSpPr>
          <p:nvPr/>
        </p:nvSpPr>
        <p:spPr>
          <a:xfrm>
            <a:off x="4876800" y="1438275"/>
            <a:ext cx="2762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defRPr sz="21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Alinear</a:t>
            </a:r>
          </a:p>
        </p:txBody>
      </p:sp>
      <p:sp>
        <p:nvSpPr>
          <p:cNvPr id="10" name="cov-step-body-1">
            <a:extLst>
              <a:ext uri="{FF2B5EF4-FFF2-40B4-BE49-F238E27FC236}">
                <a16:creationId xmlns:a16="http://schemas.microsoft.com/office/drawing/2014/main" id="{1C6A886D-BDFD-4744-949C-8720C8266A38}"/>
              </a:ext>
            </a:extLst>
          </p:cNvPr>
          <p:cNvSpPr>
            <a:spLocks noGrp="1"/>
          </p:cNvSpPr>
          <p:nvPr/>
        </p:nvSpPr>
        <p:spPr>
          <a:xfrm>
            <a:off x="4876800" y="1952625"/>
            <a:ext cx="2857500" cy="1190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defRPr sz="150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F6670"/>
                </a:solidFill>
                <a:latin typeface="Arial"/>
                <a:ea typeface="Arial"/>
                <a:cs typeface="Arial"/>
              </a:rPr>
              <a:t>Vectores EPSG:32719 reproyectados a EPSG:4326 y rasterizados sobre la grilla CCI, sin remuestrear AGB.</a:t>
            </a:r>
          </a:p>
        </p:txBody>
      </p:sp>
      <p:sp>
        <p:nvSpPr>
          <p:cNvPr id="11" name="cov-step-2">
            <a:extLst>
              <a:ext uri="{FF2B5EF4-FFF2-40B4-BE49-F238E27FC236}">
                <a16:creationId xmlns:a16="http://schemas.microsoft.com/office/drawing/2014/main" id="{2D5BABC0-38F3-44C1-BD72-113AB1581874}"/>
              </a:ext>
            </a:extLst>
          </p:cNvPr>
          <p:cNvSpPr>
            <a:spLocks noGrp="1"/>
          </p:cNvSpPr>
          <p:nvPr/>
        </p:nvSpPr>
        <p:spPr>
          <a:xfrm>
            <a:off x="8020050" y="1476375"/>
            <a:ext cx="5524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defRPr sz="187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1875" b="1" dirty="0">
                <a:solidFill>
                  <a:srgbClr val="D97706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2" name="cov-step-title-2">
            <a:extLst>
              <a:ext uri="{FF2B5EF4-FFF2-40B4-BE49-F238E27FC236}">
                <a16:creationId xmlns:a16="http://schemas.microsoft.com/office/drawing/2014/main" id="{22C10B48-84F4-4022-98C4-87ADCB157B6B}"/>
              </a:ext>
            </a:extLst>
          </p:cNvPr>
          <p:cNvSpPr>
            <a:spLocks noGrp="1"/>
          </p:cNvSpPr>
          <p:nvPr/>
        </p:nvSpPr>
        <p:spPr>
          <a:xfrm>
            <a:off x="8686800" y="1438275"/>
            <a:ext cx="2762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defRPr sz="21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Resumir</a:t>
            </a:r>
          </a:p>
        </p:txBody>
      </p:sp>
      <p:sp>
        <p:nvSpPr>
          <p:cNvPr id="13" name="cov-step-body-2">
            <a:extLst>
              <a:ext uri="{FF2B5EF4-FFF2-40B4-BE49-F238E27FC236}">
                <a16:creationId xmlns:a16="http://schemas.microsoft.com/office/drawing/2014/main" id="{A62993E8-C642-4777-AE71-ED98F4AAE010}"/>
              </a:ext>
            </a:extLst>
          </p:cNvPr>
          <p:cNvSpPr>
            <a:spLocks noGrp="1"/>
          </p:cNvSpPr>
          <p:nvPr/>
        </p:nvSpPr>
        <p:spPr>
          <a:xfrm>
            <a:off x="8686800" y="1952625"/>
            <a:ext cx="2857500" cy="1190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defRPr sz="150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F6670"/>
                </a:solidFill>
                <a:latin typeface="Arial"/>
                <a:ea typeface="Arial"/>
                <a:cs typeface="Arial"/>
              </a:rPr>
              <a:t>Media AGB/SD por clase; superficie vectorial; existencias = AGB media × hectáreas de la cobertura.</a:t>
            </a:r>
          </a:p>
        </p:txBody>
      </p:sp>
      <p:sp>
        <p:nvSpPr>
          <p:cNvPr id="14" name="cov-assign-b-bg">
            <a:extLst>
              <a:ext uri="{FF2B5EF4-FFF2-40B4-BE49-F238E27FC236}">
                <a16:creationId xmlns:a16="http://schemas.microsoft.com/office/drawing/2014/main" id="{19D52DF8-BA46-4A0C-9652-969BBD651AC3}"/>
              </a:ext>
            </a:extLst>
          </p:cNvPr>
          <p:cNvSpPr>
            <a:spLocks noGrp="1"/>
          </p:cNvSpPr>
          <p:nvPr/>
        </p:nvSpPr>
        <p:spPr>
          <a:xfrm>
            <a:off x="400050" y="3714750"/>
            <a:ext cx="3333750" cy="1762125"/>
          </a:xfrm>
          <a:prstGeom prst="rect">
            <a:avLst/>
          </a:prstGeom>
          <a:solidFill>
            <a:srgbClr val="DDEFE7"/>
          </a:solidFill>
          <a:ln w="0">
            <a:solidFill>
              <a:srgbClr val="DDEFE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cov-assign-b-value">
            <a:extLst>
              <a:ext uri="{FF2B5EF4-FFF2-40B4-BE49-F238E27FC236}">
                <a16:creationId xmlns:a16="http://schemas.microsoft.com/office/drawing/2014/main" id="{061E2D7D-7EED-48E3-91D2-AB2F15596F26}"/>
              </a:ext>
            </a:extLst>
          </p:cNvPr>
          <p:cNvSpPr>
            <a:spLocks noGrp="1"/>
          </p:cNvSpPr>
          <p:nvPr/>
        </p:nvSpPr>
        <p:spPr>
          <a:xfrm>
            <a:off x="609600" y="3943350"/>
            <a:ext cx="29146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defRPr sz="3225" b="1">
                <a:solidFill>
                  <a:srgbClr val="1B6B4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B6B4A"/>
                </a:solidFill>
                <a:latin typeface="Arial"/>
                <a:ea typeface="Arial"/>
                <a:cs typeface="Arial"/>
              </a:rPr>
              <a:t>99,98%</a:t>
            </a:r>
          </a:p>
        </p:txBody>
      </p:sp>
      <p:sp>
        <p:nvSpPr>
          <p:cNvPr id="16" name="cov-assign-b-label">
            <a:extLst>
              <a:ext uri="{FF2B5EF4-FFF2-40B4-BE49-F238E27FC236}">
                <a16:creationId xmlns:a16="http://schemas.microsoft.com/office/drawing/2014/main" id="{E07424CA-F812-427E-9268-3F1F5A5B9615}"/>
              </a:ext>
            </a:extLst>
          </p:cNvPr>
          <p:cNvSpPr>
            <a:spLocks noGrp="1"/>
          </p:cNvSpPr>
          <p:nvPr/>
        </p:nvSpPr>
        <p:spPr>
          <a:xfrm>
            <a:off x="609600" y="4695825"/>
            <a:ext cx="29146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defRPr sz="165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5F6670"/>
                </a:solidFill>
                <a:latin typeface="Arial"/>
                <a:ea typeface="Arial"/>
                <a:cs typeface="Arial"/>
              </a:rPr>
              <a:t>píxeles válidos clasificados · BOSQUE</a:t>
            </a:r>
          </a:p>
        </p:txBody>
      </p:sp>
      <p:sp>
        <p:nvSpPr>
          <p:cNvPr id="17" name="cov-assign-e-bg">
            <a:extLst>
              <a:ext uri="{FF2B5EF4-FFF2-40B4-BE49-F238E27FC236}">
                <a16:creationId xmlns:a16="http://schemas.microsoft.com/office/drawing/2014/main" id="{3B2304CF-E12E-494B-BBE8-2201269230D1}"/>
              </a:ext>
            </a:extLst>
          </p:cNvPr>
          <p:cNvSpPr>
            <a:spLocks noGrp="1"/>
          </p:cNvSpPr>
          <p:nvPr/>
        </p:nvSpPr>
        <p:spPr>
          <a:xfrm>
            <a:off x="4000500" y="3714750"/>
            <a:ext cx="3333750" cy="1762125"/>
          </a:xfrm>
          <a:prstGeom prst="rect">
            <a:avLst/>
          </a:prstGeom>
          <a:solidFill>
            <a:srgbClr val="D0EDFA"/>
          </a:solidFill>
          <a:ln w="0">
            <a:solidFill>
              <a:srgbClr val="D0EDF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cov-assign-e-value">
            <a:extLst>
              <a:ext uri="{FF2B5EF4-FFF2-40B4-BE49-F238E27FC236}">
                <a16:creationId xmlns:a16="http://schemas.microsoft.com/office/drawing/2014/main" id="{707CB537-3AAE-4BA6-BE71-4B402543A658}"/>
              </a:ext>
            </a:extLst>
          </p:cNvPr>
          <p:cNvSpPr>
            <a:spLocks noGrp="1"/>
          </p:cNvSpPr>
          <p:nvPr/>
        </p:nvSpPr>
        <p:spPr>
          <a:xfrm>
            <a:off x="4210050" y="3943350"/>
            <a:ext cx="29146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defRPr sz="32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99,97%</a:t>
            </a:r>
          </a:p>
        </p:txBody>
      </p:sp>
      <p:sp>
        <p:nvSpPr>
          <p:cNvPr id="19" name="cov-assign-e-label">
            <a:extLst>
              <a:ext uri="{FF2B5EF4-FFF2-40B4-BE49-F238E27FC236}">
                <a16:creationId xmlns:a16="http://schemas.microsoft.com/office/drawing/2014/main" id="{BDA10A0D-66D8-4919-9F46-4A558DDDE3D0}"/>
              </a:ext>
            </a:extLst>
          </p:cNvPr>
          <p:cNvSpPr>
            <a:spLocks noGrp="1"/>
          </p:cNvSpPr>
          <p:nvPr/>
        </p:nvSpPr>
        <p:spPr>
          <a:xfrm>
            <a:off x="4210050" y="4695825"/>
            <a:ext cx="29146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defRPr sz="165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5F6670"/>
                </a:solidFill>
                <a:latin typeface="Arial"/>
                <a:ea typeface="Arial"/>
                <a:cs typeface="Arial"/>
              </a:rPr>
              <a:t>píxeles válidos clasificados · ESTEPA</a:t>
            </a:r>
          </a:p>
        </p:txBody>
      </p:sp>
      <p:sp>
        <p:nvSpPr>
          <p:cNvPr id="20" name="cov-resolution-bg">
            <a:extLst>
              <a:ext uri="{FF2B5EF4-FFF2-40B4-BE49-F238E27FC236}">
                <a16:creationId xmlns:a16="http://schemas.microsoft.com/office/drawing/2014/main" id="{7052A179-96FD-4659-9FED-C8C6028F9660}"/>
              </a:ext>
            </a:extLst>
          </p:cNvPr>
          <p:cNvSpPr>
            <a:spLocks noGrp="1"/>
          </p:cNvSpPr>
          <p:nvPr/>
        </p:nvSpPr>
        <p:spPr>
          <a:xfrm>
            <a:off x="7600950" y="3714750"/>
            <a:ext cx="3810000" cy="1762125"/>
          </a:xfrm>
          <a:prstGeom prst="rect">
            <a:avLst/>
          </a:prstGeom>
          <a:solidFill>
            <a:srgbClr val="FDEBD2"/>
          </a:solidFill>
          <a:ln w="0">
            <a:solidFill>
              <a:srgbClr val="FDEBD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cov-resolution-value">
            <a:extLst>
              <a:ext uri="{FF2B5EF4-FFF2-40B4-BE49-F238E27FC236}">
                <a16:creationId xmlns:a16="http://schemas.microsoft.com/office/drawing/2014/main" id="{899EBAB4-9C04-4122-80CD-C25D9BFE5F2A}"/>
              </a:ext>
            </a:extLst>
          </p:cNvPr>
          <p:cNvSpPr>
            <a:spLocks noGrp="1"/>
          </p:cNvSpPr>
          <p:nvPr/>
        </p:nvSpPr>
        <p:spPr>
          <a:xfrm>
            <a:off x="7810500" y="3943350"/>
            <a:ext cx="33909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defRPr sz="322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100 m</a:t>
            </a:r>
          </a:p>
        </p:txBody>
      </p:sp>
      <p:sp>
        <p:nvSpPr>
          <p:cNvPr id="22" name="cov-resolution-label">
            <a:extLst>
              <a:ext uri="{FF2B5EF4-FFF2-40B4-BE49-F238E27FC236}">
                <a16:creationId xmlns:a16="http://schemas.microsoft.com/office/drawing/2014/main" id="{86F2EAD3-29EF-4754-ACEF-81C820846C40}"/>
              </a:ext>
            </a:extLst>
          </p:cNvPr>
          <p:cNvSpPr>
            <a:spLocks noGrp="1"/>
          </p:cNvSpPr>
          <p:nvPr/>
        </p:nvSpPr>
        <p:spPr>
          <a:xfrm>
            <a:off x="7810500" y="4695825"/>
            <a:ext cx="33909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defRPr sz="165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5F6670"/>
                </a:solidFill>
                <a:latin typeface="Arial"/>
                <a:ea typeface="Arial"/>
                <a:cs typeface="Arial"/>
              </a:rPr>
              <a:t>resolución nominal; el mapa discreto conserva cada celda</a:t>
            </a:r>
          </a:p>
        </p:txBody>
      </p:sp>
      <p:sp>
        <p:nvSpPr>
          <p:cNvPr id="23" name="cov-integrity">
            <a:extLst>
              <a:ext uri="{FF2B5EF4-FFF2-40B4-BE49-F238E27FC236}">
                <a16:creationId xmlns:a16="http://schemas.microsoft.com/office/drawing/2014/main" id="{05776130-FA90-43B0-9528-18D2BB05F633}"/>
              </a:ext>
            </a:extLst>
          </p:cNvPr>
          <p:cNvSpPr>
            <a:spLocks noGrp="1"/>
          </p:cNvSpPr>
          <p:nvPr/>
        </p:nvSpPr>
        <p:spPr>
          <a:xfrm>
            <a:off x="400050" y="5905500"/>
            <a:ext cx="113919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defRPr sz="1575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B42318"/>
                </a:solidFill>
                <a:latin typeface="Arial"/>
                <a:ea typeface="Arial"/>
                <a:cs typeface="Arial"/>
              </a:rPr>
              <a:t>Control de integridad: al volver a comprimir las coberturas, incluir siempre .shp + .shx + .dbf + .prj + .cpg.</a:t>
            </a:r>
          </a:p>
        </p:txBody>
      </p:sp>
      <p:sp>
        <p:nvSpPr>
          <p:cNvPr id="24" name="footer-left"/>
          <p:cNvSpPr txBox="1"/>
          <p:nvPr/>
        </p:nvSpPr>
        <p:spPr>
          <a:xfrm>
            <a:off x="400050" y="6248400"/>
            <a:ext cx="35000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s-ES" sz="1000" dirty="0">
                <a:solidFill>
                  <a:srgbClr val="7A7A7A"/>
                </a:solidFill>
                <a:latin typeface="Arial"/>
                <a:ea typeface="Arial"/>
                <a:cs typeface="Arial"/>
              </a:rPr>
              <a:t>CCI BIOMASS v7.0</a:t>
            </a:r>
          </a:p>
        </p:txBody>
      </p:sp>
      <p:sp>
        <p:nvSpPr>
          <p:cNvPr id="25" name="footer-center"/>
          <p:cNvSpPr txBox="1"/>
          <p:nvPr/>
        </p:nvSpPr>
        <p:spPr>
          <a:xfrm>
            <a:off x="4200000" y="6248400"/>
            <a:ext cx="37000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s-ES" sz="1000" dirty="0">
                <a:solidFill>
                  <a:srgbClr val="7A7A7A"/>
                </a:solidFill>
                <a:latin typeface="Arial"/>
                <a:ea typeface="Arial"/>
                <a:cs typeface="Arial"/>
              </a:rPr>
              <a:t>Héctor Francisco del Valle</a:t>
            </a:r>
          </a:p>
        </p:txBody>
      </p:sp>
      <p:sp>
        <p:nvSpPr>
          <p:cNvPr id="26" name="footer-right"/>
          <p:cNvSpPr txBox="1"/>
          <p:nvPr/>
        </p:nvSpPr>
        <p:spPr>
          <a:xfrm>
            <a:off x="8100000" y="6248400"/>
            <a:ext cx="36919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s-ES" sz="1000">
                <a:solidFill>
                  <a:srgbClr val="7A7A7A"/>
                </a:solidFill>
                <a:latin typeface="Arial"/>
                <a:ea typeface="Arial"/>
                <a:cs typeface="Arial"/>
              </a:rPr>
              <a:t>15/27</a:t>
            </a:r>
            <a:endParaRPr lang="es-ES" sz="1000" dirty="0">
              <a:solidFill>
                <a:srgbClr val="7A7A7A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012546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16">
            <a:extLst>
              <a:ext uri="{FF2B5EF4-FFF2-40B4-BE49-F238E27FC236}">
                <a16:creationId xmlns:a16="http://schemas.microsoft.com/office/drawing/2014/main" id="{918A44A8-BC8D-4AB0-BD14-BF8FBD04A8BD}"/>
              </a:ext>
            </a:extLst>
          </p:cNvPr>
          <p:cNvSpPr>
            <a:spLocks noGrp="1"/>
          </p:cNvSpPr>
          <p:nvPr/>
        </p:nvSpPr>
        <p:spPr>
          <a:xfrm>
            <a:off x="400050" y="476250"/>
            <a:ext cx="11049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>
              <a:defRPr sz="26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pt-BR" sz="2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BOSQUE: biomasa celda por celda</a:t>
            </a:r>
          </a:p>
        </p:txBody>
      </p:sp>
      <p:pic>
        <p:nvPicPr>
          <p:cNvPr id="38" name="Imagen 3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00050" y="1613378"/>
            <a:ext cx="5619750" cy="4288469"/>
          </a:xfrm>
          <a:prstGeom prst="rect">
            <a:avLst/>
          </a:prstGeom>
        </p:spPr>
      </p:pic>
      <p:sp>
        <p:nvSpPr>
          <p:cNvPr id="6" name="map-b-legend-title">
            <a:extLst>
              <a:ext uri="{FF2B5EF4-FFF2-40B4-BE49-F238E27FC236}">
                <a16:creationId xmlns:a16="http://schemas.microsoft.com/office/drawing/2014/main" id="{2B249800-1104-4431-BF54-931A785A6AA7}"/>
              </a:ext>
            </a:extLst>
          </p:cNvPr>
          <p:cNvSpPr>
            <a:spLocks noGrp="1"/>
          </p:cNvSpPr>
          <p:nvPr/>
        </p:nvSpPr>
        <p:spPr>
          <a:xfrm>
            <a:off x="6019800" y="1590675"/>
            <a:ext cx="104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AGB (Mg/ha)</a:t>
            </a:r>
          </a:p>
        </p:txBody>
      </p:sp>
      <p:sp>
        <p:nvSpPr>
          <p:cNvPr id="7" name="map-b-legend-band-0">
            <a:extLst>
              <a:ext uri="{FF2B5EF4-FFF2-40B4-BE49-F238E27FC236}">
                <a16:creationId xmlns:a16="http://schemas.microsoft.com/office/drawing/2014/main" id="{1099DF83-304A-4B0D-8027-A9C5DC247DB9}"/>
              </a:ext>
            </a:extLst>
          </p:cNvPr>
          <p:cNvSpPr>
            <a:spLocks noGrp="1"/>
          </p:cNvSpPr>
          <p:nvPr/>
        </p:nvSpPr>
        <p:spPr>
          <a:xfrm>
            <a:off x="6191250" y="4619625"/>
            <a:ext cx="209550" cy="338138"/>
          </a:xfrm>
          <a:prstGeom prst="rect">
            <a:avLst/>
          </a:prstGeom>
          <a:solidFill>
            <a:srgbClr val="FFFFE5"/>
          </a:solidFill>
          <a:ln w="0">
            <a:solidFill>
              <a:srgbClr val="FFFFE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map-b-legend-band-1">
            <a:extLst>
              <a:ext uri="{FF2B5EF4-FFF2-40B4-BE49-F238E27FC236}">
                <a16:creationId xmlns:a16="http://schemas.microsoft.com/office/drawing/2014/main" id="{64AD8BA9-59C7-4AB5-B9F0-CAED7C467233}"/>
              </a:ext>
            </a:extLst>
          </p:cNvPr>
          <p:cNvSpPr>
            <a:spLocks noGrp="1"/>
          </p:cNvSpPr>
          <p:nvPr/>
        </p:nvSpPr>
        <p:spPr>
          <a:xfrm>
            <a:off x="6191250" y="4286250"/>
            <a:ext cx="209550" cy="338138"/>
          </a:xfrm>
          <a:prstGeom prst="rect">
            <a:avLst/>
          </a:prstGeom>
          <a:solidFill>
            <a:srgbClr val="F7FCB9"/>
          </a:solidFill>
          <a:ln w="0">
            <a:solidFill>
              <a:srgbClr val="F7FCB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map-b-legend-band-2">
            <a:extLst>
              <a:ext uri="{FF2B5EF4-FFF2-40B4-BE49-F238E27FC236}">
                <a16:creationId xmlns:a16="http://schemas.microsoft.com/office/drawing/2014/main" id="{CA5CACAB-EC67-4F6D-975A-242660057015}"/>
              </a:ext>
            </a:extLst>
          </p:cNvPr>
          <p:cNvSpPr>
            <a:spLocks noGrp="1"/>
          </p:cNvSpPr>
          <p:nvPr/>
        </p:nvSpPr>
        <p:spPr>
          <a:xfrm>
            <a:off x="6191250" y="3952875"/>
            <a:ext cx="209550" cy="338138"/>
          </a:xfrm>
          <a:prstGeom prst="rect">
            <a:avLst/>
          </a:prstGeom>
          <a:solidFill>
            <a:srgbClr val="D9F0A3"/>
          </a:solidFill>
          <a:ln w="0">
            <a:solidFill>
              <a:srgbClr val="D9F0A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map-b-legend-band-3">
            <a:extLst>
              <a:ext uri="{FF2B5EF4-FFF2-40B4-BE49-F238E27FC236}">
                <a16:creationId xmlns:a16="http://schemas.microsoft.com/office/drawing/2014/main" id="{3874B107-76A0-4BDC-A98D-AE1DF05D8046}"/>
              </a:ext>
            </a:extLst>
          </p:cNvPr>
          <p:cNvSpPr>
            <a:spLocks noGrp="1"/>
          </p:cNvSpPr>
          <p:nvPr/>
        </p:nvSpPr>
        <p:spPr>
          <a:xfrm>
            <a:off x="6191250" y="3619500"/>
            <a:ext cx="209550" cy="338138"/>
          </a:xfrm>
          <a:prstGeom prst="rect">
            <a:avLst/>
          </a:prstGeom>
          <a:solidFill>
            <a:srgbClr val="ADDD8E"/>
          </a:solidFill>
          <a:ln w="0">
            <a:solidFill>
              <a:srgbClr val="ADDD8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map-b-legend-band-4">
            <a:extLst>
              <a:ext uri="{FF2B5EF4-FFF2-40B4-BE49-F238E27FC236}">
                <a16:creationId xmlns:a16="http://schemas.microsoft.com/office/drawing/2014/main" id="{E91604F8-C6AD-450D-B62F-2B3189941FBE}"/>
              </a:ext>
            </a:extLst>
          </p:cNvPr>
          <p:cNvSpPr>
            <a:spLocks noGrp="1"/>
          </p:cNvSpPr>
          <p:nvPr/>
        </p:nvSpPr>
        <p:spPr>
          <a:xfrm>
            <a:off x="6191250" y="3286125"/>
            <a:ext cx="209550" cy="338138"/>
          </a:xfrm>
          <a:prstGeom prst="rect">
            <a:avLst/>
          </a:prstGeom>
          <a:solidFill>
            <a:srgbClr val="78C679"/>
          </a:solidFill>
          <a:ln w="0">
            <a:solidFill>
              <a:srgbClr val="78C67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map-b-legend-band-5">
            <a:extLst>
              <a:ext uri="{FF2B5EF4-FFF2-40B4-BE49-F238E27FC236}">
                <a16:creationId xmlns:a16="http://schemas.microsoft.com/office/drawing/2014/main" id="{BF3AD0BB-A0ED-4126-AAB4-34C5A9A1EDDA}"/>
              </a:ext>
            </a:extLst>
          </p:cNvPr>
          <p:cNvSpPr>
            <a:spLocks noGrp="1"/>
          </p:cNvSpPr>
          <p:nvPr/>
        </p:nvSpPr>
        <p:spPr>
          <a:xfrm>
            <a:off x="6191250" y="2952750"/>
            <a:ext cx="209550" cy="338138"/>
          </a:xfrm>
          <a:prstGeom prst="rect">
            <a:avLst/>
          </a:prstGeom>
          <a:solidFill>
            <a:srgbClr val="41AB5D"/>
          </a:solidFill>
          <a:ln w="0">
            <a:solidFill>
              <a:srgbClr val="41AB5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map-b-legend-band-6">
            <a:extLst>
              <a:ext uri="{FF2B5EF4-FFF2-40B4-BE49-F238E27FC236}">
                <a16:creationId xmlns:a16="http://schemas.microsoft.com/office/drawing/2014/main" id="{3215ED24-9055-4B77-8215-5D05550B6FF4}"/>
              </a:ext>
            </a:extLst>
          </p:cNvPr>
          <p:cNvSpPr>
            <a:spLocks noGrp="1"/>
          </p:cNvSpPr>
          <p:nvPr/>
        </p:nvSpPr>
        <p:spPr>
          <a:xfrm>
            <a:off x="6191250" y="2619375"/>
            <a:ext cx="209550" cy="338138"/>
          </a:xfrm>
          <a:prstGeom prst="rect">
            <a:avLst/>
          </a:prstGeom>
          <a:solidFill>
            <a:srgbClr val="238443"/>
          </a:solidFill>
          <a:ln w="0">
            <a:solidFill>
              <a:srgbClr val="23844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map-b-legend-band-7">
            <a:extLst>
              <a:ext uri="{FF2B5EF4-FFF2-40B4-BE49-F238E27FC236}">
                <a16:creationId xmlns:a16="http://schemas.microsoft.com/office/drawing/2014/main" id="{0C987469-0AFE-42DB-AE40-C73A28D3F94C}"/>
              </a:ext>
            </a:extLst>
          </p:cNvPr>
          <p:cNvSpPr>
            <a:spLocks noGrp="1"/>
          </p:cNvSpPr>
          <p:nvPr/>
        </p:nvSpPr>
        <p:spPr>
          <a:xfrm>
            <a:off x="6191250" y="2286000"/>
            <a:ext cx="209550" cy="338138"/>
          </a:xfrm>
          <a:prstGeom prst="rect">
            <a:avLst/>
          </a:prstGeom>
          <a:solidFill>
            <a:srgbClr val="006837"/>
          </a:solidFill>
          <a:ln w="0">
            <a:solidFill>
              <a:srgbClr val="00683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map-b-legend-band-8">
            <a:extLst>
              <a:ext uri="{FF2B5EF4-FFF2-40B4-BE49-F238E27FC236}">
                <a16:creationId xmlns:a16="http://schemas.microsoft.com/office/drawing/2014/main" id="{584BB77B-A1FD-4500-84C6-E1F48D4ED157}"/>
              </a:ext>
            </a:extLst>
          </p:cNvPr>
          <p:cNvSpPr>
            <a:spLocks noGrp="1"/>
          </p:cNvSpPr>
          <p:nvPr/>
        </p:nvSpPr>
        <p:spPr>
          <a:xfrm>
            <a:off x="6191250" y="1952625"/>
            <a:ext cx="209550" cy="338138"/>
          </a:xfrm>
          <a:prstGeom prst="rect">
            <a:avLst/>
          </a:prstGeom>
          <a:solidFill>
            <a:srgbClr val="004529"/>
          </a:solidFill>
          <a:ln w="0">
            <a:solidFill>
              <a:srgbClr val="00452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map-b-legend-tick-0">
            <a:extLst>
              <a:ext uri="{FF2B5EF4-FFF2-40B4-BE49-F238E27FC236}">
                <a16:creationId xmlns:a16="http://schemas.microsoft.com/office/drawing/2014/main" id="{6501D183-EC51-40F1-A3C3-57C97E7A4AE2}"/>
              </a:ext>
            </a:extLst>
          </p:cNvPr>
          <p:cNvSpPr>
            <a:spLocks noGrp="1"/>
          </p:cNvSpPr>
          <p:nvPr/>
        </p:nvSpPr>
        <p:spPr>
          <a:xfrm>
            <a:off x="6477000" y="4867275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defRPr sz="9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111111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7" name="map-b-legend-tick-1">
            <a:extLst>
              <a:ext uri="{FF2B5EF4-FFF2-40B4-BE49-F238E27FC236}">
                <a16:creationId xmlns:a16="http://schemas.microsoft.com/office/drawing/2014/main" id="{192F5D42-F7C8-4B8C-AF9D-BB72AE28BA73}"/>
              </a:ext>
            </a:extLst>
          </p:cNvPr>
          <p:cNvSpPr>
            <a:spLocks noGrp="1"/>
          </p:cNvSpPr>
          <p:nvPr/>
        </p:nvSpPr>
        <p:spPr>
          <a:xfrm>
            <a:off x="6477000" y="4533900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defRPr sz="9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111111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18" name="map-b-legend-tick-2">
            <a:extLst>
              <a:ext uri="{FF2B5EF4-FFF2-40B4-BE49-F238E27FC236}">
                <a16:creationId xmlns:a16="http://schemas.microsoft.com/office/drawing/2014/main" id="{18DFF9A0-37EF-4732-86D9-8C1E3EEA2C34}"/>
              </a:ext>
            </a:extLst>
          </p:cNvPr>
          <p:cNvSpPr>
            <a:spLocks noGrp="1"/>
          </p:cNvSpPr>
          <p:nvPr/>
        </p:nvSpPr>
        <p:spPr>
          <a:xfrm>
            <a:off x="6477000" y="4200525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defRPr sz="9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111111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19" name="map-b-legend-tick-3">
            <a:extLst>
              <a:ext uri="{FF2B5EF4-FFF2-40B4-BE49-F238E27FC236}">
                <a16:creationId xmlns:a16="http://schemas.microsoft.com/office/drawing/2014/main" id="{B8760E27-7DD2-4296-AA43-A7DADE6E8BB5}"/>
              </a:ext>
            </a:extLst>
          </p:cNvPr>
          <p:cNvSpPr>
            <a:spLocks noGrp="1"/>
          </p:cNvSpPr>
          <p:nvPr/>
        </p:nvSpPr>
        <p:spPr>
          <a:xfrm>
            <a:off x="6477000" y="3867150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defRPr sz="9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111111"/>
                </a:solidFill>
                <a:latin typeface="Arial"/>
                <a:ea typeface="Arial"/>
                <a:cs typeface="Arial"/>
              </a:rPr>
              <a:t>75</a:t>
            </a:r>
          </a:p>
        </p:txBody>
      </p:sp>
      <p:sp>
        <p:nvSpPr>
          <p:cNvPr id="20" name="map-b-legend-tick-4">
            <a:extLst>
              <a:ext uri="{FF2B5EF4-FFF2-40B4-BE49-F238E27FC236}">
                <a16:creationId xmlns:a16="http://schemas.microsoft.com/office/drawing/2014/main" id="{E17BB4F1-DD04-44FA-AC23-A94B7E341F04}"/>
              </a:ext>
            </a:extLst>
          </p:cNvPr>
          <p:cNvSpPr>
            <a:spLocks noGrp="1"/>
          </p:cNvSpPr>
          <p:nvPr/>
        </p:nvSpPr>
        <p:spPr>
          <a:xfrm>
            <a:off x="6477000" y="3533775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defRPr sz="9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111111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21" name="map-b-legend-tick-5">
            <a:extLst>
              <a:ext uri="{FF2B5EF4-FFF2-40B4-BE49-F238E27FC236}">
                <a16:creationId xmlns:a16="http://schemas.microsoft.com/office/drawing/2014/main" id="{244C0EBC-2EB7-4AE1-8150-546547A01BC8}"/>
              </a:ext>
            </a:extLst>
          </p:cNvPr>
          <p:cNvSpPr>
            <a:spLocks noGrp="1"/>
          </p:cNvSpPr>
          <p:nvPr/>
        </p:nvSpPr>
        <p:spPr>
          <a:xfrm>
            <a:off x="6477000" y="3200400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defRPr sz="9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111111"/>
                </a:solidFill>
                <a:latin typeface="Arial"/>
                <a:ea typeface="Arial"/>
                <a:cs typeface="Arial"/>
              </a:rPr>
              <a:t>125</a:t>
            </a:r>
          </a:p>
        </p:txBody>
      </p:sp>
      <p:sp>
        <p:nvSpPr>
          <p:cNvPr id="22" name="map-b-legend-tick-6">
            <a:extLst>
              <a:ext uri="{FF2B5EF4-FFF2-40B4-BE49-F238E27FC236}">
                <a16:creationId xmlns:a16="http://schemas.microsoft.com/office/drawing/2014/main" id="{9A13717D-8FCF-4CA2-8E9D-FC139F7B4A0A}"/>
              </a:ext>
            </a:extLst>
          </p:cNvPr>
          <p:cNvSpPr>
            <a:spLocks noGrp="1"/>
          </p:cNvSpPr>
          <p:nvPr/>
        </p:nvSpPr>
        <p:spPr>
          <a:xfrm>
            <a:off x="6477000" y="2867025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defRPr sz="9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111111"/>
                </a:solidFill>
                <a:latin typeface="Arial"/>
                <a:ea typeface="Arial"/>
                <a:cs typeface="Arial"/>
              </a:rPr>
              <a:t>150</a:t>
            </a:r>
          </a:p>
        </p:txBody>
      </p:sp>
      <p:sp>
        <p:nvSpPr>
          <p:cNvPr id="23" name="map-b-legend-tick-7">
            <a:extLst>
              <a:ext uri="{FF2B5EF4-FFF2-40B4-BE49-F238E27FC236}">
                <a16:creationId xmlns:a16="http://schemas.microsoft.com/office/drawing/2014/main" id="{213E6CEC-1756-4905-8E3F-8CDB7E4FD045}"/>
              </a:ext>
            </a:extLst>
          </p:cNvPr>
          <p:cNvSpPr>
            <a:spLocks noGrp="1"/>
          </p:cNvSpPr>
          <p:nvPr/>
        </p:nvSpPr>
        <p:spPr>
          <a:xfrm>
            <a:off x="6477000" y="2533650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defRPr sz="9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111111"/>
                </a:solidFill>
                <a:latin typeface="Arial"/>
                <a:ea typeface="Arial"/>
                <a:cs typeface="Arial"/>
              </a:rPr>
              <a:t>200</a:t>
            </a:r>
          </a:p>
        </p:txBody>
      </p:sp>
      <p:sp>
        <p:nvSpPr>
          <p:cNvPr id="24" name="map-b-legend-tick-8">
            <a:extLst>
              <a:ext uri="{FF2B5EF4-FFF2-40B4-BE49-F238E27FC236}">
                <a16:creationId xmlns:a16="http://schemas.microsoft.com/office/drawing/2014/main" id="{EAE17076-B6FA-457D-8D87-D8E809BBAEE2}"/>
              </a:ext>
            </a:extLst>
          </p:cNvPr>
          <p:cNvSpPr>
            <a:spLocks noGrp="1"/>
          </p:cNvSpPr>
          <p:nvPr/>
        </p:nvSpPr>
        <p:spPr>
          <a:xfrm>
            <a:off x="6477000" y="2200275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defRPr sz="9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111111"/>
                </a:solidFill>
                <a:latin typeface="Arial"/>
                <a:ea typeface="Arial"/>
                <a:cs typeface="Arial"/>
              </a:rPr>
              <a:t>250</a:t>
            </a:r>
          </a:p>
        </p:txBody>
      </p:sp>
      <p:sp>
        <p:nvSpPr>
          <p:cNvPr id="25" name="map-b-legend-tick-9">
            <a:extLst>
              <a:ext uri="{FF2B5EF4-FFF2-40B4-BE49-F238E27FC236}">
                <a16:creationId xmlns:a16="http://schemas.microsoft.com/office/drawing/2014/main" id="{E2D18BFC-1618-45B6-9992-B07B4818B513}"/>
              </a:ext>
            </a:extLst>
          </p:cNvPr>
          <p:cNvSpPr>
            <a:spLocks noGrp="1"/>
          </p:cNvSpPr>
          <p:nvPr/>
        </p:nvSpPr>
        <p:spPr>
          <a:xfrm>
            <a:off x="6477000" y="1866900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defRPr sz="9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111111"/>
                </a:solidFill>
                <a:latin typeface="Arial"/>
                <a:ea typeface="Arial"/>
                <a:cs typeface="Arial"/>
              </a:rPr>
              <a:t>350</a:t>
            </a:r>
          </a:p>
        </p:txBody>
      </p:sp>
      <p:sp>
        <p:nvSpPr>
          <p:cNvPr id="26" name="map-b-native-label">
            <a:extLst>
              <a:ext uri="{FF2B5EF4-FFF2-40B4-BE49-F238E27FC236}">
                <a16:creationId xmlns:a16="http://schemas.microsoft.com/office/drawing/2014/main" id="{1FBB8686-78A3-4CB7-99E6-EBD4FC864490}"/>
              </a:ext>
            </a:extLst>
          </p:cNvPr>
          <p:cNvSpPr>
            <a:spLocks noGrp="1"/>
          </p:cNvSpPr>
          <p:nvPr/>
        </p:nvSpPr>
        <p:spPr>
          <a:xfrm>
            <a:off x="7048500" y="2143125"/>
            <a:ext cx="190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defRPr sz="1350" b="1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F6670"/>
                </a:solidFill>
                <a:latin typeface="Arial"/>
                <a:ea typeface="Arial"/>
                <a:cs typeface="Arial"/>
              </a:rPr>
              <a:t>RESOLUCIÓN NATIVA</a:t>
            </a:r>
          </a:p>
        </p:txBody>
      </p:sp>
      <p:sp>
        <p:nvSpPr>
          <p:cNvPr id="27" name="map-b-native-value">
            <a:extLst>
              <a:ext uri="{FF2B5EF4-FFF2-40B4-BE49-F238E27FC236}">
                <a16:creationId xmlns:a16="http://schemas.microsoft.com/office/drawing/2014/main" id="{8C5807ED-B27B-4971-92DD-8865FF9E42DE}"/>
              </a:ext>
            </a:extLst>
          </p:cNvPr>
          <p:cNvSpPr>
            <a:spLocks noGrp="1"/>
          </p:cNvSpPr>
          <p:nvPr/>
        </p:nvSpPr>
        <p:spPr>
          <a:xfrm>
            <a:off x="7048500" y="2571750"/>
            <a:ext cx="2000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defRPr sz="2625" b="1">
                <a:solidFill>
                  <a:srgbClr val="1B6B4A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B6B4A"/>
                </a:solidFill>
                <a:latin typeface="Arial"/>
                <a:ea typeface="Arial"/>
                <a:cs typeface="Arial"/>
              </a:rPr>
              <a:t>100 × 100 m</a:t>
            </a:r>
          </a:p>
        </p:txBody>
      </p:sp>
      <p:sp>
        <p:nvSpPr>
          <p:cNvPr id="28" name="map-b-native-note">
            <a:extLst>
              <a:ext uri="{FF2B5EF4-FFF2-40B4-BE49-F238E27FC236}">
                <a16:creationId xmlns:a16="http://schemas.microsoft.com/office/drawing/2014/main" id="{BF42B066-888B-49B5-B631-54362D692E79}"/>
              </a:ext>
            </a:extLst>
          </p:cNvPr>
          <p:cNvSpPr>
            <a:spLocks noGrp="1"/>
          </p:cNvSpPr>
          <p:nvPr/>
        </p:nvSpPr>
        <p:spPr>
          <a:xfrm>
            <a:off x="7048500" y="3333750"/>
            <a:ext cx="1905000" cy="1190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defRPr sz="150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F6670"/>
                </a:solidFill>
                <a:latin typeface="Arial"/>
                <a:ea typeface="Arial"/>
                <a:cs typeface="Arial"/>
              </a:rPr>
              <a:t>Cada celda visible conserva el valor original del GeoTIFF; no se aplicó suavizado.</a:t>
            </a:r>
          </a:p>
        </p:txBody>
      </p:sp>
      <p:sp>
        <p:nvSpPr>
          <p:cNvPr id="29" name="map-b-mean-bg">
            <a:extLst>
              <a:ext uri="{FF2B5EF4-FFF2-40B4-BE49-F238E27FC236}">
                <a16:creationId xmlns:a16="http://schemas.microsoft.com/office/drawing/2014/main" id="{4500F42D-6BFC-4EFF-ABCA-B6D4E7C3F822}"/>
              </a:ext>
            </a:extLst>
          </p:cNvPr>
          <p:cNvSpPr>
            <a:spLocks noGrp="1"/>
          </p:cNvSpPr>
          <p:nvPr/>
        </p:nvSpPr>
        <p:spPr>
          <a:xfrm>
            <a:off x="9429750" y="1428750"/>
            <a:ext cx="2362200" cy="1476375"/>
          </a:xfrm>
          <a:prstGeom prst="rect">
            <a:avLst/>
          </a:prstGeom>
          <a:solidFill>
            <a:srgbClr val="DDEFE7"/>
          </a:solidFill>
          <a:ln w="0">
            <a:solidFill>
              <a:srgbClr val="DDEFE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0" name="map-b-mean-value">
            <a:extLst>
              <a:ext uri="{FF2B5EF4-FFF2-40B4-BE49-F238E27FC236}">
                <a16:creationId xmlns:a16="http://schemas.microsoft.com/office/drawing/2014/main" id="{57145127-08A4-4C5C-AD60-F4FB66E75C07}"/>
              </a:ext>
            </a:extLst>
          </p:cNvPr>
          <p:cNvSpPr>
            <a:spLocks noGrp="1"/>
          </p:cNvSpPr>
          <p:nvPr/>
        </p:nvSpPr>
        <p:spPr>
          <a:xfrm>
            <a:off x="9639300" y="1657350"/>
            <a:ext cx="19431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defRPr sz="3225" b="1">
                <a:solidFill>
                  <a:srgbClr val="1B6B4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B6B4A"/>
                </a:solidFill>
                <a:latin typeface="Arial"/>
                <a:ea typeface="Arial"/>
                <a:cs typeface="Arial"/>
              </a:rPr>
              <a:t>130,0</a:t>
            </a:r>
          </a:p>
        </p:txBody>
      </p:sp>
      <p:sp>
        <p:nvSpPr>
          <p:cNvPr id="31" name="map-b-mean-label">
            <a:extLst>
              <a:ext uri="{FF2B5EF4-FFF2-40B4-BE49-F238E27FC236}">
                <a16:creationId xmlns:a16="http://schemas.microsoft.com/office/drawing/2014/main" id="{6435B4D7-2588-4128-AFE5-0C98D221EC83}"/>
              </a:ext>
            </a:extLst>
          </p:cNvPr>
          <p:cNvSpPr>
            <a:spLocks noGrp="1"/>
          </p:cNvSpPr>
          <p:nvPr/>
        </p:nvSpPr>
        <p:spPr>
          <a:xfrm>
            <a:off x="9639300" y="2409825"/>
            <a:ext cx="19431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defRPr sz="165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5F6670"/>
                </a:solidFill>
                <a:latin typeface="Arial"/>
                <a:ea typeface="Arial"/>
                <a:cs typeface="Arial"/>
              </a:rPr>
              <a:t>Mg/ha · media AOI</a:t>
            </a:r>
          </a:p>
        </p:txBody>
      </p:sp>
      <p:sp>
        <p:nvSpPr>
          <p:cNvPr id="32" name="map-b-note">
            <a:extLst>
              <a:ext uri="{FF2B5EF4-FFF2-40B4-BE49-F238E27FC236}">
                <a16:creationId xmlns:a16="http://schemas.microsoft.com/office/drawing/2014/main" id="{5D63AE0F-1F41-453B-B3A4-4066F0392C3F}"/>
              </a:ext>
            </a:extLst>
          </p:cNvPr>
          <p:cNvSpPr>
            <a:spLocks noGrp="1"/>
          </p:cNvSpPr>
          <p:nvPr/>
        </p:nvSpPr>
        <p:spPr>
          <a:xfrm>
            <a:off x="9429750" y="3286125"/>
            <a:ext cx="23622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defRPr sz="150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F6670"/>
                </a:solidFill>
                <a:latin typeface="Arial"/>
                <a:ea typeface="Arial"/>
                <a:cs typeface="Arial"/>
              </a:rPr>
              <a:t>La grilla conserva transiciones abruptas y parches de biomasa sin interpolación visual ni espacial.</a:t>
            </a:r>
          </a:p>
        </p:txBody>
      </p:sp>
      <p:sp>
        <p:nvSpPr>
          <p:cNvPr id="33" name="map-b-scale">
            <a:extLst>
              <a:ext uri="{FF2B5EF4-FFF2-40B4-BE49-F238E27FC236}">
                <a16:creationId xmlns:a16="http://schemas.microsoft.com/office/drawing/2014/main" id="{D9B85D74-D814-4909-A837-9E7119290683}"/>
              </a:ext>
            </a:extLst>
          </p:cNvPr>
          <p:cNvSpPr>
            <a:spLocks noGrp="1"/>
          </p:cNvSpPr>
          <p:nvPr/>
        </p:nvSpPr>
        <p:spPr>
          <a:xfrm>
            <a:off x="9429750" y="4857750"/>
            <a:ext cx="23622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defRPr sz="1575" b="1">
                <a:solidFill>
                  <a:srgbClr val="1B6B4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B6B4A"/>
                </a:solidFill>
                <a:latin typeface="Arial"/>
                <a:ea typeface="Arial"/>
                <a:cs typeface="Arial"/>
              </a:rPr>
              <a:t>Escala propia del AOI: 0–350 Mg/ha.</a:t>
            </a:r>
          </a:p>
        </p:txBody>
      </p:sp>
      <p:sp>
        <p:nvSpPr>
          <p:cNvPr id="39" name="footer-left"/>
          <p:cNvSpPr txBox="1"/>
          <p:nvPr/>
        </p:nvSpPr>
        <p:spPr>
          <a:xfrm>
            <a:off x="400050" y="6248400"/>
            <a:ext cx="35000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s-ES" sz="1000" dirty="0">
                <a:solidFill>
                  <a:srgbClr val="7A7A7A"/>
                </a:solidFill>
                <a:latin typeface="Arial"/>
                <a:ea typeface="Arial"/>
                <a:cs typeface="Arial"/>
              </a:rPr>
              <a:t>CCI BIOMASS v7.0</a:t>
            </a:r>
          </a:p>
        </p:txBody>
      </p:sp>
      <p:sp>
        <p:nvSpPr>
          <p:cNvPr id="40" name="footer-center"/>
          <p:cNvSpPr txBox="1"/>
          <p:nvPr/>
        </p:nvSpPr>
        <p:spPr>
          <a:xfrm>
            <a:off x="4200000" y="6248400"/>
            <a:ext cx="37000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s-ES" sz="1000" dirty="0">
                <a:solidFill>
                  <a:srgbClr val="7A7A7A"/>
                </a:solidFill>
                <a:latin typeface="Arial"/>
                <a:ea typeface="Arial"/>
                <a:cs typeface="Arial"/>
              </a:rPr>
              <a:t>Héctor Francisco del Valle</a:t>
            </a:r>
          </a:p>
        </p:txBody>
      </p:sp>
      <p:sp>
        <p:nvSpPr>
          <p:cNvPr id="41" name="footer-right"/>
          <p:cNvSpPr txBox="1"/>
          <p:nvPr/>
        </p:nvSpPr>
        <p:spPr>
          <a:xfrm>
            <a:off x="8100000" y="6248400"/>
            <a:ext cx="36919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s-ES" sz="1000">
                <a:solidFill>
                  <a:srgbClr val="7A7A7A"/>
                </a:solidFill>
                <a:latin typeface="Arial"/>
                <a:ea typeface="Arial"/>
                <a:cs typeface="Arial"/>
              </a:rPr>
              <a:t>16/27</a:t>
            </a:r>
            <a:endParaRPr lang="es-ES" sz="1000" dirty="0">
              <a:solidFill>
                <a:srgbClr val="7A7A7A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806829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17">
            <a:extLst>
              <a:ext uri="{FF2B5EF4-FFF2-40B4-BE49-F238E27FC236}">
                <a16:creationId xmlns:a16="http://schemas.microsoft.com/office/drawing/2014/main" id="{5021BAAD-3798-43F6-8983-185DCA5219B3}"/>
              </a:ext>
            </a:extLst>
          </p:cNvPr>
          <p:cNvSpPr>
            <a:spLocks noGrp="1"/>
          </p:cNvSpPr>
          <p:nvPr/>
        </p:nvSpPr>
        <p:spPr>
          <a:xfrm>
            <a:off x="400050" y="476250"/>
            <a:ext cx="11049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>
              <a:defRPr sz="26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s-MX" sz="2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BOSQUE está dominado por Ñire Bajo y Lenga</a:t>
            </a:r>
          </a:p>
        </p:txBody>
      </p:sp>
      <p:pic>
        <p:nvPicPr>
          <p:cNvPr id="17" name="Imagen 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00050" y="1433728"/>
            <a:ext cx="7524750" cy="4523943"/>
          </a:xfrm>
          <a:prstGeom prst="rect">
            <a:avLst/>
          </a:prstGeom>
        </p:spPr>
      </p:pic>
      <p:sp>
        <p:nvSpPr>
          <p:cNvPr id="6" name="b-cov-top2-bg">
            <a:extLst>
              <a:ext uri="{FF2B5EF4-FFF2-40B4-BE49-F238E27FC236}">
                <a16:creationId xmlns:a16="http://schemas.microsoft.com/office/drawing/2014/main" id="{85B3AC1C-50FA-4CC3-BDBB-DEAAFD518A5C}"/>
              </a:ext>
            </a:extLst>
          </p:cNvPr>
          <p:cNvSpPr>
            <a:spLocks noGrp="1"/>
          </p:cNvSpPr>
          <p:nvPr/>
        </p:nvSpPr>
        <p:spPr>
          <a:xfrm>
            <a:off x="8286750" y="1428750"/>
            <a:ext cx="3143250" cy="1571625"/>
          </a:xfrm>
          <a:prstGeom prst="rect">
            <a:avLst/>
          </a:prstGeom>
          <a:solidFill>
            <a:srgbClr val="DDEFE7"/>
          </a:solidFill>
          <a:ln w="0">
            <a:solidFill>
              <a:srgbClr val="DDEFE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b-cov-top2-value">
            <a:extLst>
              <a:ext uri="{FF2B5EF4-FFF2-40B4-BE49-F238E27FC236}">
                <a16:creationId xmlns:a16="http://schemas.microsoft.com/office/drawing/2014/main" id="{AF927FA7-5464-4DEF-AE18-15376AC72132}"/>
              </a:ext>
            </a:extLst>
          </p:cNvPr>
          <p:cNvSpPr>
            <a:spLocks noGrp="1"/>
          </p:cNvSpPr>
          <p:nvPr/>
        </p:nvSpPr>
        <p:spPr>
          <a:xfrm>
            <a:off x="8496300" y="1657350"/>
            <a:ext cx="27241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defRPr sz="3225" b="1">
                <a:solidFill>
                  <a:srgbClr val="1B6B4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B6B4A"/>
                </a:solidFill>
                <a:latin typeface="Arial"/>
                <a:ea typeface="Arial"/>
                <a:cs typeface="Arial"/>
              </a:rPr>
              <a:t>67,9%</a:t>
            </a:r>
          </a:p>
        </p:txBody>
      </p:sp>
      <p:sp>
        <p:nvSpPr>
          <p:cNvPr id="8" name="b-cov-top2-label">
            <a:extLst>
              <a:ext uri="{FF2B5EF4-FFF2-40B4-BE49-F238E27FC236}">
                <a16:creationId xmlns:a16="http://schemas.microsoft.com/office/drawing/2014/main" id="{5A09DA28-5A5E-42EA-9301-4F222A7AD6A1}"/>
              </a:ext>
            </a:extLst>
          </p:cNvPr>
          <p:cNvSpPr>
            <a:spLocks noGrp="1"/>
          </p:cNvSpPr>
          <p:nvPr/>
        </p:nvSpPr>
        <p:spPr>
          <a:xfrm>
            <a:off x="8496300" y="2409825"/>
            <a:ext cx="27241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defRPr sz="165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5F6670"/>
                </a:solidFill>
                <a:latin typeface="Arial"/>
                <a:ea typeface="Arial"/>
                <a:cs typeface="Arial"/>
              </a:rPr>
              <a:t>del AOI: Ñire Bajo + Lenga</a:t>
            </a:r>
          </a:p>
        </p:txBody>
      </p:sp>
      <p:sp>
        <p:nvSpPr>
          <p:cNvPr id="9" name="b-cov-forest-bg">
            <a:extLst>
              <a:ext uri="{FF2B5EF4-FFF2-40B4-BE49-F238E27FC236}">
                <a16:creationId xmlns:a16="http://schemas.microsoft.com/office/drawing/2014/main" id="{EA5E13FD-DA7C-4462-9776-5170E2894E5E}"/>
              </a:ext>
            </a:extLst>
          </p:cNvPr>
          <p:cNvSpPr>
            <a:spLocks noGrp="1"/>
          </p:cNvSpPr>
          <p:nvPr/>
        </p:nvSpPr>
        <p:spPr>
          <a:xfrm>
            <a:off x="8286750" y="3238500"/>
            <a:ext cx="3143250" cy="1571625"/>
          </a:xfrm>
          <a:prstGeom prst="rect">
            <a:avLst/>
          </a:prstGeom>
          <a:solidFill>
            <a:srgbClr val="F1F2F3"/>
          </a:solidFill>
          <a:ln w="0">
            <a:solidFill>
              <a:srgbClr val="F1F2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b-cov-forest-value">
            <a:extLst>
              <a:ext uri="{FF2B5EF4-FFF2-40B4-BE49-F238E27FC236}">
                <a16:creationId xmlns:a16="http://schemas.microsoft.com/office/drawing/2014/main" id="{04F98C38-9B8E-4178-BB42-DD7867D1C870}"/>
              </a:ext>
            </a:extLst>
          </p:cNvPr>
          <p:cNvSpPr>
            <a:spLocks noGrp="1"/>
          </p:cNvSpPr>
          <p:nvPr/>
        </p:nvSpPr>
        <p:spPr>
          <a:xfrm>
            <a:off x="8496300" y="3467100"/>
            <a:ext cx="27241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defRPr sz="32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90,9%</a:t>
            </a:r>
          </a:p>
        </p:txBody>
      </p:sp>
      <p:sp>
        <p:nvSpPr>
          <p:cNvPr id="11" name="b-cov-forest-label">
            <a:extLst>
              <a:ext uri="{FF2B5EF4-FFF2-40B4-BE49-F238E27FC236}">
                <a16:creationId xmlns:a16="http://schemas.microsoft.com/office/drawing/2014/main" id="{B23579B6-48F4-443C-84F1-A2BE13E3DFC5}"/>
              </a:ext>
            </a:extLst>
          </p:cNvPr>
          <p:cNvSpPr>
            <a:spLocks noGrp="1"/>
          </p:cNvSpPr>
          <p:nvPr/>
        </p:nvSpPr>
        <p:spPr>
          <a:xfrm>
            <a:off x="8496300" y="4219575"/>
            <a:ext cx="27241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2727" lnSpcReduction="10000"/>
          </a:bodyPr>
          <a:lstStyle/>
          <a:p>
            <a:pPr>
              <a:defRPr sz="165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5F6670"/>
                </a:solidFill>
                <a:latin typeface="Arial"/>
                <a:ea typeface="Arial"/>
                <a:cs typeface="Arial"/>
              </a:rPr>
              <a:t>superficie clasificada como bosque</a:t>
            </a:r>
          </a:p>
        </p:txBody>
      </p:sp>
      <p:sp>
        <p:nvSpPr>
          <p:cNvPr id="12" name="b-cov-rest">
            <a:extLst>
              <a:ext uri="{FF2B5EF4-FFF2-40B4-BE49-F238E27FC236}">
                <a16:creationId xmlns:a16="http://schemas.microsoft.com/office/drawing/2014/main" id="{900D4027-C643-48D2-A782-B71EE6209FDE}"/>
              </a:ext>
            </a:extLst>
          </p:cNvPr>
          <p:cNvSpPr>
            <a:spLocks noGrp="1"/>
          </p:cNvSpPr>
          <p:nvPr/>
        </p:nvSpPr>
        <p:spPr>
          <a:xfrm>
            <a:off x="8286750" y="5191125"/>
            <a:ext cx="31432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4392"/>
          </a:bodyPr>
          <a:lstStyle/>
          <a:p>
            <a:pPr>
              <a:defRPr sz="150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F6670"/>
                </a:solidFill>
                <a:latin typeface="Arial"/>
                <a:ea typeface="Arial"/>
                <a:cs typeface="Arial"/>
              </a:rPr>
              <a:t>Las 10 clases de mayor superficie explican 98,6% del AOI; las 8 restantes se agrupan como ‘Resto’ en la tabla.</a:t>
            </a:r>
          </a:p>
        </p:txBody>
      </p:sp>
      <p:sp>
        <p:nvSpPr>
          <p:cNvPr id="18" name="footer-left"/>
          <p:cNvSpPr txBox="1"/>
          <p:nvPr/>
        </p:nvSpPr>
        <p:spPr>
          <a:xfrm>
            <a:off x="400050" y="6248400"/>
            <a:ext cx="35000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s-ES" sz="1000" dirty="0">
                <a:solidFill>
                  <a:srgbClr val="7A7A7A"/>
                </a:solidFill>
                <a:latin typeface="Arial"/>
                <a:ea typeface="Arial"/>
                <a:cs typeface="Arial"/>
              </a:rPr>
              <a:t>CCI BIOMASS v7.0</a:t>
            </a:r>
          </a:p>
        </p:txBody>
      </p:sp>
      <p:sp>
        <p:nvSpPr>
          <p:cNvPr id="19" name="footer-center"/>
          <p:cNvSpPr txBox="1"/>
          <p:nvPr/>
        </p:nvSpPr>
        <p:spPr>
          <a:xfrm>
            <a:off x="4200000" y="6248400"/>
            <a:ext cx="37000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s-ES" sz="1000" dirty="0">
                <a:solidFill>
                  <a:srgbClr val="7A7A7A"/>
                </a:solidFill>
                <a:latin typeface="Arial"/>
                <a:ea typeface="Arial"/>
                <a:cs typeface="Arial"/>
              </a:rPr>
              <a:t>Héctor Francisco del Valle</a:t>
            </a:r>
          </a:p>
        </p:txBody>
      </p:sp>
      <p:sp>
        <p:nvSpPr>
          <p:cNvPr id="20" name="footer-right"/>
          <p:cNvSpPr txBox="1"/>
          <p:nvPr/>
        </p:nvSpPr>
        <p:spPr>
          <a:xfrm>
            <a:off x="8100000" y="6248400"/>
            <a:ext cx="36919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s-ES" sz="1000">
                <a:solidFill>
                  <a:srgbClr val="7A7A7A"/>
                </a:solidFill>
                <a:latin typeface="Arial"/>
                <a:ea typeface="Arial"/>
                <a:cs typeface="Arial"/>
              </a:rPr>
              <a:t>17/27</a:t>
            </a:r>
            <a:endParaRPr lang="es-ES" sz="1000" dirty="0">
              <a:solidFill>
                <a:srgbClr val="7A7A7A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411155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18">
            <a:extLst>
              <a:ext uri="{FF2B5EF4-FFF2-40B4-BE49-F238E27FC236}">
                <a16:creationId xmlns:a16="http://schemas.microsoft.com/office/drawing/2014/main" id="{50DC8AD9-7B22-4A82-A67C-77D917FAC6AB}"/>
              </a:ext>
            </a:extLst>
          </p:cNvPr>
          <p:cNvSpPr>
            <a:spLocks noGrp="1"/>
          </p:cNvSpPr>
          <p:nvPr/>
        </p:nvSpPr>
        <p:spPr>
          <a:xfrm>
            <a:off x="400050" y="476250"/>
            <a:ext cx="11049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>
              <a:defRPr sz="26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s-MX" sz="2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BOSQUE: Lenga lidera densidad y stock</a:t>
            </a:r>
          </a:p>
        </p:txBody>
      </p:sp>
      <p:graphicFrame>
        <p:nvGraphicFramePr>
          <p:cNvPr id="11" name="Tabla 10"/>
          <p:cNvGraphicFramePr/>
          <p:nvPr>
            <p:extLst>
              <p:ext uri="{D42A27DB-BD31-4B8C-83A1-F6EECF244321}">
                <p14:modId xmlns:p14="http://schemas.microsoft.com/office/powerpoint/2010/main" val="1105318535"/>
              </p:ext>
            </p:extLst>
          </p:nvPr>
        </p:nvGraphicFramePr>
        <p:xfrm>
          <a:off x="876300" y="1170922"/>
          <a:ext cx="10439400" cy="4551749"/>
        </p:xfrm>
        <a:graphic>
          <a:graphicData uri="http://schemas.openxmlformats.org/drawingml/2006/table">
            <a:tbl>
              <a:tblPr firstRow="1" bandRow="1"/>
              <a:tblGrid>
                <a:gridCol w="2381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0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90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906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53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53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5811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3063">
                <a:tc>
                  <a:txBody>
                    <a:bodyPr/>
                    <a:lstStyle/>
                    <a:p>
                      <a:pPr algn="ctr"/>
                      <a:r>
                        <a:rPr sz="129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Cobertura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ha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% AOI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AGB 2015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AGB 2024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SD 2024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Δ 15–24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Stock 2024</a:t>
                      </a:r>
                    </a:p>
                    <a:p>
                      <a:pPr algn="ctr"/>
                      <a:r>
                        <a:rPr sz="129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(miles Mg)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2C5F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063">
                <a:tc>
                  <a:txBody>
                    <a:bodyPr/>
                    <a:lstStyle/>
                    <a:p>
                      <a:pPr algn="ctr"/>
                      <a:r>
                        <a:rPr sz="129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Ñire Bajo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7.839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34,8%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75,9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115,6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49,9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+39,8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906,5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063">
                <a:tc>
                  <a:txBody>
                    <a:bodyPr/>
                    <a:lstStyle/>
                    <a:p>
                      <a:pPr algn="ctr"/>
                      <a:r>
                        <a:rPr sz="129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Lenga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7.429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33,0%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175,1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177,1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73,0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+2,0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1.315,5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063">
                <a:tc>
                  <a:txBody>
                    <a:bodyPr/>
                    <a:lstStyle/>
                    <a:p>
                      <a:pPr algn="ctr"/>
                      <a:r>
                        <a:rPr sz="129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Ñire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2.602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11,6%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88,2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129,7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56,3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+41,5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337,5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063">
                <a:tc>
                  <a:txBody>
                    <a:bodyPr/>
                    <a:lstStyle/>
                    <a:p>
                      <a:pPr algn="ctr"/>
                      <a:r>
                        <a:rPr sz="129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Cipres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1.104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4,9%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87,4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100,7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42,4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+13,4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111,2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063">
                <a:tc>
                  <a:txBody>
                    <a:bodyPr/>
                    <a:lstStyle/>
                    <a:p>
                      <a:pPr algn="ctr"/>
                      <a:r>
                        <a:rPr sz="129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Estepa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829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3,7%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19,9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31,8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13,9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+12,0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26,4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063">
                <a:tc>
                  <a:txBody>
                    <a:bodyPr/>
                    <a:lstStyle/>
                    <a:p>
                      <a:pPr algn="ctr"/>
                      <a:r>
                        <a:rPr sz="129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Lenga Baja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709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3,2%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138,5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147,4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63,1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+8,9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104,5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063">
                <a:tc>
                  <a:txBody>
                    <a:bodyPr/>
                    <a:lstStyle/>
                    <a:p>
                      <a:pPr algn="ctr"/>
                      <a:r>
                        <a:rPr sz="129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Arbustal Nativo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653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2,9%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27,7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48,2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21,1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+20,5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31,5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3063">
                <a:tc>
                  <a:txBody>
                    <a:bodyPr/>
                    <a:lstStyle/>
                    <a:p>
                      <a:pPr algn="ctr"/>
                      <a:r>
                        <a:rPr sz="129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Lenga Achaparrada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519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2,3%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87,7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100,2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42,7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+12,4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52,0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3063">
                <a:tc>
                  <a:txBody>
                    <a:bodyPr/>
                    <a:lstStyle/>
                    <a:p>
                      <a:pPr algn="ctr"/>
                      <a:r>
                        <a:rPr sz="129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Mallin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272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1,2%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14,7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27,8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12,0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+13,1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7,6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3063">
                <a:tc>
                  <a:txBody>
                    <a:bodyPr/>
                    <a:lstStyle/>
                    <a:p>
                      <a:pPr algn="ctr"/>
                      <a:r>
                        <a:rPr sz="129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Matorral Mixto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223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1,0%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66,9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99,4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43,0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+32,6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22,2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3063">
                <a:tc>
                  <a:txBody>
                    <a:bodyPr/>
                    <a:lstStyle/>
                    <a:p>
                      <a:pPr algn="ctr"/>
                      <a:r>
                        <a:rPr sz="129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Resto (8 clases)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322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1,4%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28,0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35,4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14,9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+7,5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0" b="0" dirty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11,4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6" name="b-table-note">
            <a:extLst>
              <a:ext uri="{FF2B5EF4-FFF2-40B4-BE49-F238E27FC236}">
                <a16:creationId xmlns:a16="http://schemas.microsoft.com/office/drawing/2014/main" id="{2CD2AC1E-F198-4B7F-9F70-DF842F928A33}"/>
              </a:ext>
            </a:extLst>
          </p:cNvPr>
          <p:cNvSpPr>
            <a:spLocks noGrp="1"/>
          </p:cNvSpPr>
          <p:nvPr/>
        </p:nvSpPr>
        <p:spPr>
          <a:xfrm>
            <a:off x="400050" y="5866747"/>
            <a:ext cx="11391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defRPr sz="135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F6670"/>
                </a:solidFill>
                <a:latin typeface="Arial"/>
                <a:ea typeface="Arial"/>
                <a:cs typeface="Arial"/>
              </a:rPr>
              <a:t>AGB y SD en Mg/ha; Δ = cambio absoluto 2015–2024. El stock combina la media raster con el área vectorial de cada cobertura.</a:t>
            </a:r>
          </a:p>
        </p:txBody>
      </p:sp>
      <p:sp>
        <p:nvSpPr>
          <p:cNvPr id="12" name="footer-left"/>
          <p:cNvSpPr txBox="1"/>
          <p:nvPr/>
        </p:nvSpPr>
        <p:spPr>
          <a:xfrm>
            <a:off x="400050" y="6248400"/>
            <a:ext cx="35000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s-ES" sz="1000" dirty="0">
                <a:solidFill>
                  <a:srgbClr val="7A7A7A"/>
                </a:solidFill>
                <a:latin typeface="Arial"/>
                <a:ea typeface="Arial"/>
                <a:cs typeface="Arial"/>
              </a:rPr>
              <a:t>CCI BIOMASS v7.0</a:t>
            </a:r>
          </a:p>
        </p:txBody>
      </p:sp>
      <p:sp>
        <p:nvSpPr>
          <p:cNvPr id="13" name="footer-center"/>
          <p:cNvSpPr txBox="1"/>
          <p:nvPr/>
        </p:nvSpPr>
        <p:spPr>
          <a:xfrm>
            <a:off x="4200000" y="6248400"/>
            <a:ext cx="37000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s-ES" sz="1000" dirty="0">
                <a:solidFill>
                  <a:srgbClr val="7A7A7A"/>
                </a:solidFill>
                <a:latin typeface="Arial"/>
                <a:ea typeface="Arial"/>
                <a:cs typeface="Arial"/>
              </a:rPr>
              <a:t>Héctor Francisco del Valle</a:t>
            </a:r>
          </a:p>
        </p:txBody>
      </p:sp>
      <p:sp>
        <p:nvSpPr>
          <p:cNvPr id="14" name="footer-right"/>
          <p:cNvSpPr txBox="1"/>
          <p:nvPr/>
        </p:nvSpPr>
        <p:spPr>
          <a:xfrm>
            <a:off x="8100000" y="6248400"/>
            <a:ext cx="36919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s-ES" sz="1000">
                <a:solidFill>
                  <a:srgbClr val="7A7A7A"/>
                </a:solidFill>
                <a:latin typeface="Arial"/>
                <a:ea typeface="Arial"/>
                <a:cs typeface="Arial"/>
              </a:rPr>
              <a:t>18/27</a:t>
            </a:r>
            <a:endParaRPr lang="es-ES" sz="1000" dirty="0">
              <a:solidFill>
                <a:srgbClr val="7A7A7A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15267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19">
            <a:extLst>
              <a:ext uri="{FF2B5EF4-FFF2-40B4-BE49-F238E27FC236}">
                <a16:creationId xmlns:a16="http://schemas.microsoft.com/office/drawing/2014/main" id="{95B4D977-B554-4F2D-8813-A60AB6CAC9C3}"/>
              </a:ext>
            </a:extLst>
          </p:cNvPr>
          <p:cNvSpPr>
            <a:spLocks noGrp="1"/>
          </p:cNvSpPr>
          <p:nvPr/>
        </p:nvSpPr>
        <p:spPr>
          <a:xfrm>
            <a:off x="400050" y="476250"/>
            <a:ext cx="11049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>
              <a:defRPr sz="26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s-MX" sz="2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BOSQUE: dos clases reúnen 76% del stock</a:t>
            </a:r>
          </a:p>
        </p:txBody>
      </p:sp>
      <p:pic>
        <p:nvPicPr>
          <p:cNvPr id="12" name="Imagen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00050" y="1695149"/>
            <a:ext cx="5905500" cy="3086701"/>
          </a:xfrm>
          <a:prstGeom prst="rect">
            <a:avLst/>
          </a:prstGeom>
        </p:spPr>
      </p:pic>
      <p:pic>
        <p:nvPicPr>
          <p:cNvPr id="13" name="Imagen 12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334125" y="1809412"/>
            <a:ext cx="5457825" cy="2858177"/>
          </a:xfrm>
          <a:prstGeom prst="rect">
            <a:avLst/>
          </a:prstGeom>
        </p:spPr>
      </p:pic>
      <p:sp>
        <p:nvSpPr>
          <p:cNvPr id="7" name="b-trend-reading">
            <a:extLst>
              <a:ext uri="{FF2B5EF4-FFF2-40B4-BE49-F238E27FC236}">
                <a16:creationId xmlns:a16="http://schemas.microsoft.com/office/drawing/2014/main" id="{533AA6FD-245E-4DEC-BF91-D2C5D10F2728}"/>
              </a:ext>
            </a:extLst>
          </p:cNvPr>
          <p:cNvSpPr>
            <a:spLocks noGrp="1"/>
          </p:cNvSpPr>
          <p:nvPr/>
        </p:nvSpPr>
        <p:spPr>
          <a:xfrm>
            <a:off x="400050" y="5381625"/>
            <a:ext cx="113919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defRPr sz="1650" b="1">
                <a:solidFill>
                  <a:srgbClr val="1B6B4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B6B4A"/>
                </a:solidFill>
                <a:latin typeface="Arial"/>
                <a:ea typeface="Arial"/>
                <a:cs typeface="Arial"/>
              </a:rPr>
              <a:t>Lenga (1,32 Mt) + Ñire Bajo (0,91 Mt) = 75,9% del stock estimado. Lenga permanece casi estable desde 2015 (+2,0 Mg/ha), mientras Ñire Bajo aumenta +39,8 Mg/ha.</a:t>
            </a:r>
          </a:p>
        </p:txBody>
      </p:sp>
      <p:sp>
        <p:nvSpPr>
          <p:cNvPr id="14" name="footer-left"/>
          <p:cNvSpPr txBox="1"/>
          <p:nvPr/>
        </p:nvSpPr>
        <p:spPr>
          <a:xfrm>
            <a:off x="400050" y="6248400"/>
            <a:ext cx="35000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s-ES" sz="1000" dirty="0">
                <a:solidFill>
                  <a:srgbClr val="7A7A7A"/>
                </a:solidFill>
                <a:latin typeface="Arial"/>
                <a:ea typeface="Arial"/>
                <a:cs typeface="Arial"/>
              </a:rPr>
              <a:t>CCI BIOMASS v7.0</a:t>
            </a:r>
          </a:p>
        </p:txBody>
      </p:sp>
      <p:sp>
        <p:nvSpPr>
          <p:cNvPr id="15" name="footer-center"/>
          <p:cNvSpPr txBox="1"/>
          <p:nvPr/>
        </p:nvSpPr>
        <p:spPr>
          <a:xfrm>
            <a:off x="4200000" y="6248400"/>
            <a:ext cx="37000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s-ES" sz="1000" dirty="0">
                <a:solidFill>
                  <a:srgbClr val="7A7A7A"/>
                </a:solidFill>
                <a:latin typeface="Arial"/>
                <a:ea typeface="Arial"/>
                <a:cs typeface="Arial"/>
              </a:rPr>
              <a:t>Héctor Francisco del Valle</a:t>
            </a:r>
          </a:p>
        </p:txBody>
      </p:sp>
      <p:sp>
        <p:nvSpPr>
          <p:cNvPr id="16" name="footer-right"/>
          <p:cNvSpPr txBox="1"/>
          <p:nvPr/>
        </p:nvSpPr>
        <p:spPr>
          <a:xfrm>
            <a:off x="8100000" y="6248400"/>
            <a:ext cx="36919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s-ES" sz="1000">
                <a:solidFill>
                  <a:srgbClr val="7A7A7A"/>
                </a:solidFill>
                <a:latin typeface="Arial"/>
                <a:ea typeface="Arial"/>
                <a:cs typeface="Arial"/>
              </a:rPr>
              <a:t>19/27</a:t>
            </a:r>
            <a:endParaRPr lang="es-ES" sz="1000" dirty="0">
              <a:solidFill>
                <a:srgbClr val="7A7A7A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569314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20">
            <a:extLst>
              <a:ext uri="{FF2B5EF4-FFF2-40B4-BE49-F238E27FC236}">
                <a16:creationId xmlns:a16="http://schemas.microsoft.com/office/drawing/2014/main" id="{259D7270-C697-40A9-B064-2CC290D1BBE0}"/>
              </a:ext>
            </a:extLst>
          </p:cNvPr>
          <p:cNvSpPr>
            <a:spLocks noGrp="1"/>
          </p:cNvSpPr>
          <p:nvPr/>
        </p:nvSpPr>
        <p:spPr>
          <a:xfrm>
            <a:off x="400050" y="476250"/>
            <a:ext cx="11049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>
              <a:defRPr sz="26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s-MX" sz="2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ESTEPA: matriz abierta y focos leñosos</a:t>
            </a:r>
          </a:p>
        </p:txBody>
      </p:sp>
      <p:pic>
        <p:nvPicPr>
          <p:cNvPr id="36" name="Imagen 3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00050" y="1613378"/>
            <a:ext cx="5619750" cy="4288469"/>
          </a:xfrm>
          <a:prstGeom prst="rect">
            <a:avLst/>
          </a:prstGeom>
        </p:spPr>
      </p:pic>
      <p:sp>
        <p:nvSpPr>
          <p:cNvPr id="6" name="map-e-legend-title">
            <a:extLst>
              <a:ext uri="{FF2B5EF4-FFF2-40B4-BE49-F238E27FC236}">
                <a16:creationId xmlns:a16="http://schemas.microsoft.com/office/drawing/2014/main" id="{ACE41097-A89C-4F1B-8759-EF80A5579CA4}"/>
              </a:ext>
            </a:extLst>
          </p:cNvPr>
          <p:cNvSpPr>
            <a:spLocks noGrp="1"/>
          </p:cNvSpPr>
          <p:nvPr/>
        </p:nvSpPr>
        <p:spPr>
          <a:xfrm>
            <a:off x="6019800" y="1590675"/>
            <a:ext cx="104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AGB (Mg/ha)</a:t>
            </a:r>
          </a:p>
        </p:txBody>
      </p:sp>
      <p:sp>
        <p:nvSpPr>
          <p:cNvPr id="7" name="map-e-legend-band-0">
            <a:extLst>
              <a:ext uri="{FF2B5EF4-FFF2-40B4-BE49-F238E27FC236}">
                <a16:creationId xmlns:a16="http://schemas.microsoft.com/office/drawing/2014/main" id="{6F2977E2-887A-4766-BA4C-DC0471E62A32}"/>
              </a:ext>
            </a:extLst>
          </p:cNvPr>
          <p:cNvSpPr>
            <a:spLocks noGrp="1"/>
          </p:cNvSpPr>
          <p:nvPr/>
        </p:nvSpPr>
        <p:spPr>
          <a:xfrm>
            <a:off x="6191250" y="4577953"/>
            <a:ext cx="209550" cy="379809"/>
          </a:xfrm>
          <a:prstGeom prst="rect">
            <a:avLst/>
          </a:prstGeom>
          <a:solidFill>
            <a:srgbClr val="FFFFE5"/>
          </a:solidFill>
          <a:ln w="0">
            <a:solidFill>
              <a:srgbClr val="FFFFE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map-e-legend-band-1">
            <a:extLst>
              <a:ext uri="{FF2B5EF4-FFF2-40B4-BE49-F238E27FC236}">
                <a16:creationId xmlns:a16="http://schemas.microsoft.com/office/drawing/2014/main" id="{437FF839-5EA8-4081-807D-6A5EE5579F62}"/>
              </a:ext>
            </a:extLst>
          </p:cNvPr>
          <p:cNvSpPr>
            <a:spLocks noGrp="1"/>
          </p:cNvSpPr>
          <p:nvPr/>
        </p:nvSpPr>
        <p:spPr>
          <a:xfrm>
            <a:off x="6191250" y="4202906"/>
            <a:ext cx="209550" cy="379809"/>
          </a:xfrm>
          <a:prstGeom prst="rect">
            <a:avLst/>
          </a:prstGeom>
          <a:solidFill>
            <a:srgbClr val="F7FCB9"/>
          </a:solidFill>
          <a:ln w="0">
            <a:solidFill>
              <a:srgbClr val="F7FCB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map-e-legend-band-2">
            <a:extLst>
              <a:ext uri="{FF2B5EF4-FFF2-40B4-BE49-F238E27FC236}">
                <a16:creationId xmlns:a16="http://schemas.microsoft.com/office/drawing/2014/main" id="{32483106-2E83-4CCC-87B9-3880CCD61B13}"/>
              </a:ext>
            </a:extLst>
          </p:cNvPr>
          <p:cNvSpPr>
            <a:spLocks noGrp="1"/>
          </p:cNvSpPr>
          <p:nvPr/>
        </p:nvSpPr>
        <p:spPr>
          <a:xfrm>
            <a:off x="6191250" y="3827859"/>
            <a:ext cx="209550" cy="379809"/>
          </a:xfrm>
          <a:prstGeom prst="rect">
            <a:avLst/>
          </a:prstGeom>
          <a:solidFill>
            <a:srgbClr val="D9F0A3"/>
          </a:solidFill>
          <a:ln w="0">
            <a:solidFill>
              <a:srgbClr val="D9F0A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map-e-legend-band-3">
            <a:extLst>
              <a:ext uri="{FF2B5EF4-FFF2-40B4-BE49-F238E27FC236}">
                <a16:creationId xmlns:a16="http://schemas.microsoft.com/office/drawing/2014/main" id="{FFF90F73-F7CF-425C-B406-CD9B8B27858E}"/>
              </a:ext>
            </a:extLst>
          </p:cNvPr>
          <p:cNvSpPr>
            <a:spLocks noGrp="1"/>
          </p:cNvSpPr>
          <p:nvPr/>
        </p:nvSpPr>
        <p:spPr>
          <a:xfrm>
            <a:off x="6191250" y="3452813"/>
            <a:ext cx="209550" cy="379809"/>
          </a:xfrm>
          <a:prstGeom prst="rect">
            <a:avLst/>
          </a:prstGeom>
          <a:solidFill>
            <a:srgbClr val="ADDD8E"/>
          </a:solidFill>
          <a:ln w="0">
            <a:solidFill>
              <a:srgbClr val="ADDD8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map-e-legend-band-4">
            <a:extLst>
              <a:ext uri="{FF2B5EF4-FFF2-40B4-BE49-F238E27FC236}">
                <a16:creationId xmlns:a16="http://schemas.microsoft.com/office/drawing/2014/main" id="{31F98AB0-224C-4901-ADD4-EE53503E3991}"/>
              </a:ext>
            </a:extLst>
          </p:cNvPr>
          <p:cNvSpPr>
            <a:spLocks noGrp="1"/>
          </p:cNvSpPr>
          <p:nvPr/>
        </p:nvSpPr>
        <p:spPr>
          <a:xfrm>
            <a:off x="6191250" y="3077766"/>
            <a:ext cx="209550" cy="379809"/>
          </a:xfrm>
          <a:prstGeom prst="rect">
            <a:avLst/>
          </a:prstGeom>
          <a:solidFill>
            <a:srgbClr val="78C679"/>
          </a:solidFill>
          <a:ln w="0">
            <a:solidFill>
              <a:srgbClr val="78C67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map-e-legend-band-5">
            <a:extLst>
              <a:ext uri="{FF2B5EF4-FFF2-40B4-BE49-F238E27FC236}">
                <a16:creationId xmlns:a16="http://schemas.microsoft.com/office/drawing/2014/main" id="{B1B4191E-8728-4196-A711-98589F735D5D}"/>
              </a:ext>
            </a:extLst>
          </p:cNvPr>
          <p:cNvSpPr>
            <a:spLocks noGrp="1"/>
          </p:cNvSpPr>
          <p:nvPr/>
        </p:nvSpPr>
        <p:spPr>
          <a:xfrm>
            <a:off x="6191250" y="2702719"/>
            <a:ext cx="209550" cy="379809"/>
          </a:xfrm>
          <a:prstGeom prst="rect">
            <a:avLst/>
          </a:prstGeom>
          <a:solidFill>
            <a:srgbClr val="41AB5D"/>
          </a:solidFill>
          <a:ln w="0">
            <a:solidFill>
              <a:srgbClr val="41AB5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map-e-legend-band-6">
            <a:extLst>
              <a:ext uri="{FF2B5EF4-FFF2-40B4-BE49-F238E27FC236}">
                <a16:creationId xmlns:a16="http://schemas.microsoft.com/office/drawing/2014/main" id="{9383F1CF-7E34-4213-837C-46A7D16DE6D5}"/>
              </a:ext>
            </a:extLst>
          </p:cNvPr>
          <p:cNvSpPr>
            <a:spLocks noGrp="1"/>
          </p:cNvSpPr>
          <p:nvPr/>
        </p:nvSpPr>
        <p:spPr>
          <a:xfrm>
            <a:off x="6191250" y="2327672"/>
            <a:ext cx="209550" cy="379809"/>
          </a:xfrm>
          <a:prstGeom prst="rect">
            <a:avLst/>
          </a:prstGeom>
          <a:solidFill>
            <a:srgbClr val="238443"/>
          </a:solidFill>
          <a:ln w="0">
            <a:solidFill>
              <a:srgbClr val="23844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map-e-legend-band-7">
            <a:extLst>
              <a:ext uri="{FF2B5EF4-FFF2-40B4-BE49-F238E27FC236}">
                <a16:creationId xmlns:a16="http://schemas.microsoft.com/office/drawing/2014/main" id="{438681FB-E788-4C25-8CDC-7990B7447F57}"/>
              </a:ext>
            </a:extLst>
          </p:cNvPr>
          <p:cNvSpPr>
            <a:spLocks noGrp="1"/>
          </p:cNvSpPr>
          <p:nvPr/>
        </p:nvSpPr>
        <p:spPr>
          <a:xfrm>
            <a:off x="6191250" y="1952625"/>
            <a:ext cx="209550" cy="379809"/>
          </a:xfrm>
          <a:prstGeom prst="rect">
            <a:avLst/>
          </a:prstGeom>
          <a:solidFill>
            <a:srgbClr val="006837"/>
          </a:solidFill>
          <a:ln w="0">
            <a:solidFill>
              <a:srgbClr val="00683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map-e-legend-tick-0">
            <a:extLst>
              <a:ext uri="{FF2B5EF4-FFF2-40B4-BE49-F238E27FC236}">
                <a16:creationId xmlns:a16="http://schemas.microsoft.com/office/drawing/2014/main" id="{8B4B958D-E8A6-4455-9C7A-6C8E35283FAE}"/>
              </a:ext>
            </a:extLst>
          </p:cNvPr>
          <p:cNvSpPr>
            <a:spLocks noGrp="1"/>
          </p:cNvSpPr>
          <p:nvPr/>
        </p:nvSpPr>
        <p:spPr>
          <a:xfrm>
            <a:off x="6477000" y="4867275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defRPr sz="9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111111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6" name="map-e-legend-tick-1">
            <a:extLst>
              <a:ext uri="{FF2B5EF4-FFF2-40B4-BE49-F238E27FC236}">
                <a16:creationId xmlns:a16="http://schemas.microsoft.com/office/drawing/2014/main" id="{0095764B-F0FE-4736-9B1A-6BF440AAEB85}"/>
              </a:ext>
            </a:extLst>
          </p:cNvPr>
          <p:cNvSpPr>
            <a:spLocks noGrp="1"/>
          </p:cNvSpPr>
          <p:nvPr/>
        </p:nvSpPr>
        <p:spPr>
          <a:xfrm>
            <a:off x="6477000" y="4492228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defRPr sz="9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111111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7" name="map-e-legend-tick-2">
            <a:extLst>
              <a:ext uri="{FF2B5EF4-FFF2-40B4-BE49-F238E27FC236}">
                <a16:creationId xmlns:a16="http://schemas.microsoft.com/office/drawing/2014/main" id="{60DA2A31-27D1-4F3D-99E0-0BAD6C48B506}"/>
              </a:ext>
            </a:extLst>
          </p:cNvPr>
          <p:cNvSpPr>
            <a:spLocks noGrp="1"/>
          </p:cNvSpPr>
          <p:nvPr/>
        </p:nvSpPr>
        <p:spPr>
          <a:xfrm>
            <a:off x="6477000" y="4117181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defRPr sz="9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111111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8" name="map-e-legend-tick-3">
            <a:extLst>
              <a:ext uri="{FF2B5EF4-FFF2-40B4-BE49-F238E27FC236}">
                <a16:creationId xmlns:a16="http://schemas.microsoft.com/office/drawing/2014/main" id="{3F54B171-36C8-48E1-850A-F6B51BC43746}"/>
              </a:ext>
            </a:extLst>
          </p:cNvPr>
          <p:cNvSpPr>
            <a:spLocks noGrp="1"/>
          </p:cNvSpPr>
          <p:nvPr/>
        </p:nvSpPr>
        <p:spPr>
          <a:xfrm>
            <a:off x="6477000" y="3742134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defRPr sz="9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111111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9" name="map-e-legend-tick-4">
            <a:extLst>
              <a:ext uri="{FF2B5EF4-FFF2-40B4-BE49-F238E27FC236}">
                <a16:creationId xmlns:a16="http://schemas.microsoft.com/office/drawing/2014/main" id="{D8A41AEE-95F3-41BC-AB95-7340E52F0B81}"/>
              </a:ext>
            </a:extLst>
          </p:cNvPr>
          <p:cNvSpPr>
            <a:spLocks noGrp="1"/>
          </p:cNvSpPr>
          <p:nvPr/>
        </p:nvSpPr>
        <p:spPr>
          <a:xfrm>
            <a:off x="6477000" y="3367088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defRPr sz="9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111111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20" name="map-e-legend-tick-5">
            <a:extLst>
              <a:ext uri="{FF2B5EF4-FFF2-40B4-BE49-F238E27FC236}">
                <a16:creationId xmlns:a16="http://schemas.microsoft.com/office/drawing/2014/main" id="{5B48F89F-96AD-4018-97AC-9778F28BE490}"/>
              </a:ext>
            </a:extLst>
          </p:cNvPr>
          <p:cNvSpPr>
            <a:spLocks noGrp="1"/>
          </p:cNvSpPr>
          <p:nvPr/>
        </p:nvSpPr>
        <p:spPr>
          <a:xfrm>
            <a:off x="6477000" y="2992041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defRPr sz="9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111111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21" name="map-e-legend-tick-6">
            <a:extLst>
              <a:ext uri="{FF2B5EF4-FFF2-40B4-BE49-F238E27FC236}">
                <a16:creationId xmlns:a16="http://schemas.microsoft.com/office/drawing/2014/main" id="{D259F06F-C051-484E-A1BF-CF288EE1F830}"/>
              </a:ext>
            </a:extLst>
          </p:cNvPr>
          <p:cNvSpPr>
            <a:spLocks noGrp="1"/>
          </p:cNvSpPr>
          <p:nvPr/>
        </p:nvSpPr>
        <p:spPr>
          <a:xfrm>
            <a:off x="6477000" y="2616994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defRPr sz="9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111111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22" name="map-e-legend-tick-7">
            <a:extLst>
              <a:ext uri="{FF2B5EF4-FFF2-40B4-BE49-F238E27FC236}">
                <a16:creationId xmlns:a16="http://schemas.microsoft.com/office/drawing/2014/main" id="{F9AB3B19-65A0-4F39-9202-A209D9A90685}"/>
              </a:ext>
            </a:extLst>
          </p:cNvPr>
          <p:cNvSpPr>
            <a:spLocks noGrp="1"/>
          </p:cNvSpPr>
          <p:nvPr/>
        </p:nvSpPr>
        <p:spPr>
          <a:xfrm>
            <a:off x="6477000" y="2241947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defRPr sz="9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111111"/>
                </a:solidFill>
                <a:latin typeface="Arial"/>
                <a:ea typeface="Arial"/>
                <a:cs typeface="Arial"/>
              </a:rPr>
              <a:t>80</a:t>
            </a:r>
          </a:p>
        </p:txBody>
      </p:sp>
      <p:sp>
        <p:nvSpPr>
          <p:cNvPr id="23" name="map-e-legend-tick-8">
            <a:extLst>
              <a:ext uri="{FF2B5EF4-FFF2-40B4-BE49-F238E27FC236}">
                <a16:creationId xmlns:a16="http://schemas.microsoft.com/office/drawing/2014/main" id="{41580A0C-7FC9-4633-A089-8F8CA0E0797A}"/>
              </a:ext>
            </a:extLst>
          </p:cNvPr>
          <p:cNvSpPr>
            <a:spLocks noGrp="1"/>
          </p:cNvSpPr>
          <p:nvPr/>
        </p:nvSpPr>
        <p:spPr>
          <a:xfrm>
            <a:off x="6477000" y="1866900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defRPr sz="9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111111"/>
                </a:solidFill>
                <a:latin typeface="Arial"/>
                <a:ea typeface="Arial"/>
                <a:cs typeface="Arial"/>
              </a:rPr>
              <a:t>160</a:t>
            </a:r>
          </a:p>
        </p:txBody>
      </p:sp>
      <p:sp>
        <p:nvSpPr>
          <p:cNvPr id="24" name="map-e-native-label">
            <a:extLst>
              <a:ext uri="{FF2B5EF4-FFF2-40B4-BE49-F238E27FC236}">
                <a16:creationId xmlns:a16="http://schemas.microsoft.com/office/drawing/2014/main" id="{20C66C28-ACC3-448F-82FE-BFFB89F4175A}"/>
              </a:ext>
            </a:extLst>
          </p:cNvPr>
          <p:cNvSpPr>
            <a:spLocks noGrp="1"/>
          </p:cNvSpPr>
          <p:nvPr/>
        </p:nvSpPr>
        <p:spPr>
          <a:xfrm>
            <a:off x="7048500" y="2143125"/>
            <a:ext cx="190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defRPr sz="1350" b="1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F6670"/>
                </a:solidFill>
                <a:latin typeface="Arial"/>
                <a:ea typeface="Arial"/>
                <a:cs typeface="Arial"/>
              </a:rPr>
              <a:t>RESOLUCIÓN NATIVA</a:t>
            </a:r>
          </a:p>
        </p:txBody>
      </p:sp>
      <p:sp>
        <p:nvSpPr>
          <p:cNvPr id="25" name="map-e-native-value">
            <a:extLst>
              <a:ext uri="{FF2B5EF4-FFF2-40B4-BE49-F238E27FC236}">
                <a16:creationId xmlns:a16="http://schemas.microsoft.com/office/drawing/2014/main" id="{9DE389C1-2A4C-4991-980E-C97AE1F3D8B2}"/>
              </a:ext>
            </a:extLst>
          </p:cNvPr>
          <p:cNvSpPr>
            <a:spLocks noGrp="1"/>
          </p:cNvSpPr>
          <p:nvPr/>
        </p:nvSpPr>
        <p:spPr>
          <a:xfrm>
            <a:off x="7048500" y="2571750"/>
            <a:ext cx="2000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defRPr sz="26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100 × 100 m</a:t>
            </a:r>
          </a:p>
        </p:txBody>
      </p:sp>
      <p:sp>
        <p:nvSpPr>
          <p:cNvPr id="26" name="map-e-native-note">
            <a:extLst>
              <a:ext uri="{FF2B5EF4-FFF2-40B4-BE49-F238E27FC236}">
                <a16:creationId xmlns:a16="http://schemas.microsoft.com/office/drawing/2014/main" id="{1A3E130F-7B1B-42B5-AA09-D96707335B85}"/>
              </a:ext>
            </a:extLst>
          </p:cNvPr>
          <p:cNvSpPr>
            <a:spLocks noGrp="1"/>
          </p:cNvSpPr>
          <p:nvPr/>
        </p:nvSpPr>
        <p:spPr>
          <a:xfrm>
            <a:off x="7048500" y="3333750"/>
            <a:ext cx="1905000" cy="1190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defRPr sz="150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F6670"/>
                </a:solidFill>
                <a:latin typeface="Arial"/>
                <a:ea typeface="Arial"/>
                <a:cs typeface="Arial"/>
              </a:rPr>
              <a:t>Cada celda visible conserva el valor original del GeoTIFF; no se aplicó suavizado.</a:t>
            </a:r>
          </a:p>
        </p:txBody>
      </p:sp>
      <p:sp>
        <p:nvSpPr>
          <p:cNvPr id="27" name="map-e-mean-bg">
            <a:extLst>
              <a:ext uri="{FF2B5EF4-FFF2-40B4-BE49-F238E27FC236}">
                <a16:creationId xmlns:a16="http://schemas.microsoft.com/office/drawing/2014/main" id="{E91E995A-181A-4DB9-A63C-F8DB9B906CBF}"/>
              </a:ext>
            </a:extLst>
          </p:cNvPr>
          <p:cNvSpPr>
            <a:spLocks noGrp="1"/>
          </p:cNvSpPr>
          <p:nvPr/>
        </p:nvSpPr>
        <p:spPr>
          <a:xfrm>
            <a:off x="9429750" y="1428750"/>
            <a:ext cx="2362200" cy="1476375"/>
          </a:xfrm>
          <a:prstGeom prst="rect">
            <a:avLst/>
          </a:prstGeom>
          <a:solidFill>
            <a:srgbClr val="D0EDFA"/>
          </a:solidFill>
          <a:ln w="0">
            <a:solidFill>
              <a:srgbClr val="D0EDF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map-e-mean-value">
            <a:extLst>
              <a:ext uri="{FF2B5EF4-FFF2-40B4-BE49-F238E27FC236}">
                <a16:creationId xmlns:a16="http://schemas.microsoft.com/office/drawing/2014/main" id="{6297AD36-0A60-4415-96C3-C62E15F73DA9}"/>
              </a:ext>
            </a:extLst>
          </p:cNvPr>
          <p:cNvSpPr>
            <a:spLocks noGrp="1"/>
          </p:cNvSpPr>
          <p:nvPr/>
        </p:nvSpPr>
        <p:spPr>
          <a:xfrm>
            <a:off x="9639300" y="1657350"/>
            <a:ext cx="19431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defRPr sz="32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4,8</a:t>
            </a:r>
          </a:p>
        </p:txBody>
      </p:sp>
      <p:sp>
        <p:nvSpPr>
          <p:cNvPr id="29" name="map-e-mean-label">
            <a:extLst>
              <a:ext uri="{FF2B5EF4-FFF2-40B4-BE49-F238E27FC236}">
                <a16:creationId xmlns:a16="http://schemas.microsoft.com/office/drawing/2014/main" id="{192E4290-D233-4FF6-8C91-1F66B1DA0354}"/>
              </a:ext>
            </a:extLst>
          </p:cNvPr>
          <p:cNvSpPr>
            <a:spLocks noGrp="1"/>
          </p:cNvSpPr>
          <p:nvPr/>
        </p:nvSpPr>
        <p:spPr>
          <a:xfrm>
            <a:off x="9639300" y="2409825"/>
            <a:ext cx="19431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defRPr sz="165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5F6670"/>
                </a:solidFill>
                <a:latin typeface="Arial"/>
                <a:ea typeface="Arial"/>
                <a:cs typeface="Arial"/>
              </a:rPr>
              <a:t>Mg/ha · media AOI</a:t>
            </a:r>
          </a:p>
        </p:txBody>
      </p:sp>
      <p:sp>
        <p:nvSpPr>
          <p:cNvPr id="30" name="map-e-note">
            <a:extLst>
              <a:ext uri="{FF2B5EF4-FFF2-40B4-BE49-F238E27FC236}">
                <a16:creationId xmlns:a16="http://schemas.microsoft.com/office/drawing/2014/main" id="{15265B4F-525A-4994-9E81-414603F82884}"/>
              </a:ext>
            </a:extLst>
          </p:cNvPr>
          <p:cNvSpPr>
            <a:spLocks noGrp="1"/>
          </p:cNvSpPr>
          <p:nvPr/>
        </p:nvSpPr>
        <p:spPr>
          <a:xfrm>
            <a:off x="9429750" y="3286125"/>
            <a:ext cx="236220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defRPr sz="150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F6670"/>
                </a:solidFill>
                <a:latin typeface="Arial"/>
                <a:ea typeface="Arial"/>
                <a:cs typeface="Arial"/>
              </a:rPr>
              <a:t>La imagen conserva cada celda de 100 m. Los valores altos se concentran en parches minoritarios dentro de la matriz abierta.</a:t>
            </a:r>
          </a:p>
        </p:txBody>
      </p:sp>
      <p:sp>
        <p:nvSpPr>
          <p:cNvPr id="31" name="map-e-scale">
            <a:extLst>
              <a:ext uri="{FF2B5EF4-FFF2-40B4-BE49-F238E27FC236}">
                <a16:creationId xmlns:a16="http://schemas.microsoft.com/office/drawing/2014/main" id="{4CD60DA5-34A0-4EFB-8450-7F2325B5F93D}"/>
              </a:ext>
            </a:extLst>
          </p:cNvPr>
          <p:cNvSpPr>
            <a:spLocks noGrp="1"/>
          </p:cNvSpPr>
          <p:nvPr/>
        </p:nvSpPr>
        <p:spPr>
          <a:xfrm>
            <a:off x="9429750" y="4953000"/>
            <a:ext cx="23622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defRPr sz="15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Escala propia del AOI: 0–160 Mg/ha.</a:t>
            </a:r>
          </a:p>
        </p:txBody>
      </p:sp>
      <p:sp>
        <p:nvSpPr>
          <p:cNvPr id="37" name="footer-left"/>
          <p:cNvSpPr txBox="1"/>
          <p:nvPr/>
        </p:nvSpPr>
        <p:spPr>
          <a:xfrm>
            <a:off x="400050" y="6248400"/>
            <a:ext cx="35000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s-ES" sz="1000" dirty="0">
                <a:solidFill>
                  <a:srgbClr val="7A7A7A"/>
                </a:solidFill>
                <a:latin typeface="Arial"/>
                <a:ea typeface="Arial"/>
                <a:cs typeface="Arial"/>
              </a:rPr>
              <a:t>CCI BIOMASS v7.0</a:t>
            </a:r>
          </a:p>
        </p:txBody>
      </p:sp>
      <p:sp>
        <p:nvSpPr>
          <p:cNvPr id="38" name="footer-center"/>
          <p:cNvSpPr txBox="1"/>
          <p:nvPr/>
        </p:nvSpPr>
        <p:spPr>
          <a:xfrm>
            <a:off x="4200000" y="6248400"/>
            <a:ext cx="37000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s-ES" sz="1000" dirty="0">
                <a:solidFill>
                  <a:srgbClr val="7A7A7A"/>
                </a:solidFill>
                <a:latin typeface="Arial"/>
                <a:ea typeface="Arial"/>
                <a:cs typeface="Arial"/>
              </a:rPr>
              <a:t>Héctor Francisco del Valle</a:t>
            </a:r>
          </a:p>
        </p:txBody>
      </p:sp>
      <p:sp>
        <p:nvSpPr>
          <p:cNvPr id="39" name="footer-right"/>
          <p:cNvSpPr txBox="1"/>
          <p:nvPr/>
        </p:nvSpPr>
        <p:spPr>
          <a:xfrm>
            <a:off x="8100000" y="6248400"/>
            <a:ext cx="36919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s-ES" sz="1000">
                <a:solidFill>
                  <a:srgbClr val="7A7A7A"/>
                </a:solidFill>
                <a:latin typeface="Arial"/>
                <a:ea typeface="Arial"/>
                <a:cs typeface="Arial"/>
              </a:rPr>
              <a:t>20/27</a:t>
            </a:r>
            <a:endParaRPr lang="es-ES" sz="1000" dirty="0">
              <a:solidFill>
                <a:srgbClr val="7A7A7A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078228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21">
            <a:extLst>
              <a:ext uri="{FF2B5EF4-FFF2-40B4-BE49-F238E27FC236}">
                <a16:creationId xmlns:a16="http://schemas.microsoft.com/office/drawing/2014/main" id="{8DF176CA-B263-4CB2-AD19-B8A327F34D1B}"/>
              </a:ext>
            </a:extLst>
          </p:cNvPr>
          <p:cNvSpPr>
            <a:spLocks noGrp="1"/>
          </p:cNvSpPr>
          <p:nvPr/>
        </p:nvSpPr>
        <p:spPr>
          <a:xfrm>
            <a:off x="400050" y="476250"/>
            <a:ext cx="11049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>
              <a:defRPr sz="26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s-ES" sz="2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ESTEPA ocupa 84,6% del AOI</a:t>
            </a:r>
          </a:p>
        </p:txBody>
      </p:sp>
      <p:pic>
        <p:nvPicPr>
          <p:cNvPr id="17" name="Imagen 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00050" y="1435435"/>
            <a:ext cx="7524750" cy="4520529"/>
          </a:xfrm>
          <a:prstGeom prst="rect">
            <a:avLst/>
          </a:prstGeom>
        </p:spPr>
      </p:pic>
      <p:sp>
        <p:nvSpPr>
          <p:cNvPr id="6" name="e-cov-main-bg">
            <a:extLst>
              <a:ext uri="{FF2B5EF4-FFF2-40B4-BE49-F238E27FC236}">
                <a16:creationId xmlns:a16="http://schemas.microsoft.com/office/drawing/2014/main" id="{CD9C0896-0628-4F85-B41D-F11427C2EADF}"/>
              </a:ext>
            </a:extLst>
          </p:cNvPr>
          <p:cNvSpPr>
            <a:spLocks noGrp="1"/>
          </p:cNvSpPr>
          <p:nvPr/>
        </p:nvSpPr>
        <p:spPr>
          <a:xfrm>
            <a:off x="8286750" y="1428750"/>
            <a:ext cx="3143250" cy="1571625"/>
          </a:xfrm>
          <a:prstGeom prst="rect">
            <a:avLst/>
          </a:prstGeom>
          <a:solidFill>
            <a:srgbClr val="D0EDFA"/>
          </a:solidFill>
          <a:ln w="0">
            <a:solidFill>
              <a:srgbClr val="D0EDF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e-cov-main-value">
            <a:extLst>
              <a:ext uri="{FF2B5EF4-FFF2-40B4-BE49-F238E27FC236}">
                <a16:creationId xmlns:a16="http://schemas.microsoft.com/office/drawing/2014/main" id="{D3EA4D3A-6106-42EA-87E7-25E616517B62}"/>
              </a:ext>
            </a:extLst>
          </p:cNvPr>
          <p:cNvSpPr>
            <a:spLocks noGrp="1"/>
          </p:cNvSpPr>
          <p:nvPr/>
        </p:nvSpPr>
        <p:spPr>
          <a:xfrm>
            <a:off x="8496300" y="1657350"/>
            <a:ext cx="27241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defRPr sz="32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84,6%</a:t>
            </a:r>
          </a:p>
        </p:txBody>
      </p:sp>
      <p:sp>
        <p:nvSpPr>
          <p:cNvPr id="8" name="e-cov-main-label">
            <a:extLst>
              <a:ext uri="{FF2B5EF4-FFF2-40B4-BE49-F238E27FC236}">
                <a16:creationId xmlns:a16="http://schemas.microsoft.com/office/drawing/2014/main" id="{E2BDD564-2015-4337-B435-6F146C632767}"/>
              </a:ext>
            </a:extLst>
          </p:cNvPr>
          <p:cNvSpPr>
            <a:spLocks noGrp="1"/>
          </p:cNvSpPr>
          <p:nvPr/>
        </p:nvSpPr>
        <p:spPr>
          <a:xfrm>
            <a:off x="8496300" y="2409825"/>
            <a:ext cx="27241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defRPr sz="165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5F6670"/>
                </a:solidFill>
                <a:latin typeface="Arial"/>
                <a:ea typeface="Arial"/>
                <a:cs typeface="Arial"/>
              </a:rPr>
              <a:t>cobertura Estepa</a:t>
            </a:r>
          </a:p>
        </p:txBody>
      </p:sp>
      <p:sp>
        <p:nvSpPr>
          <p:cNvPr id="9" name="e-cov-forest-bg">
            <a:extLst>
              <a:ext uri="{FF2B5EF4-FFF2-40B4-BE49-F238E27FC236}">
                <a16:creationId xmlns:a16="http://schemas.microsoft.com/office/drawing/2014/main" id="{627BE44D-A293-4940-9B09-F00A4A964FDB}"/>
              </a:ext>
            </a:extLst>
          </p:cNvPr>
          <p:cNvSpPr>
            <a:spLocks noGrp="1"/>
          </p:cNvSpPr>
          <p:nvPr/>
        </p:nvSpPr>
        <p:spPr>
          <a:xfrm>
            <a:off x="8286750" y="3238500"/>
            <a:ext cx="3143250" cy="1571625"/>
          </a:xfrm>
          <a:prstGeom prst="rect">
            <a:avLst/>
          </a:prstGeom>
          <a:solidFill>
            <a:srgbClr val="F1F2F3"/>
          </a:solidFill>
          <a:ln w="0">
            <a:solidFill>
              <a:srgbClr val="F1F2F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e-cov-forest-value">
            <a:extLst>
              <a:ext uri="{FF2B5EF4-FFF2-40B4-BE49-F238E27FC236}">
                <a16:creationId xmlns:a16="http://schemas.microsoft.com/office/drawing/2014/main" id="{719C622E-ECC2-4057-9ACA-84B6B34BFA09}"/>
              </a:ext>
            </a:extLst>
          </p:cNvPr>
          <p:cNvSpPr>
            <a:spLocks noGrp="1"/>
          </p:cNvSpPr>
          <p:nvPr/>
        </p:nvSpPr>
        <p:spPr>
          <a:xfrm>
            <a:off x="8496300" y="3467100"/>
            <a:ext cx="27241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defRPr sz="32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8,1%</a:t>
            </a:r>
          </a:p>
        </p:txBody>
      </p:sp>
      <p:sp>
        <p:nvSpPr>
          <p:cNvPr id="11" name="e-cov-forest-label">
            <a:extLst>
              <a:ext uri="{FF2B5EF4-FFF2-40B4-BE49-F238E27FC236}">
                <a16:creationId xmlns:a16="http://schemas.microsoft.com/office/drawing/2014/main" id="{E8DAFB7F-EF61-4E77-9204-194024E68203}"/>
              </a:ext>
            </a:extLst>
          </p:cNvPr>
          <p:cNvSpPr>
            <a:spLocks noGrp="1"/>
          </p:cNvSpPr>
          <p:nvPr/>
        </p:nvSpPr>
        <p:spPr>
          <a:xfrm>
            <a:off x="8496300" y="4219575"/>
            <a:ext cx="27241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2727" lnSpcReduction="10000"/>
          </a:bodyPr>
          <a:lstStyle/>
          <a:p>
            <a:pPr>
              <a:defRPr sz="165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5F6670"/>
                </a:solidFill>
                <a:latin typeface="Arial"/>
                <a:ea typeface="Arial"/>
                <a:cs typeface="Arial"/>
              </a:rPr>
              <a:t>superficie clasificada como bosque</a:t>
            </a:r>
          </a:p>
        </p:txBody>
      </p:sp>
      <p:sp>
        <p:nvSpPr>
          <p:cNvPr id="12" name="e-cov-rest">
            <a:extLst>
              <a:ext uri="{FF2B5EF4-FFF2-40B4-BE49-F238E27FC236}">
                <a16:creationId xmlns:a16="http://schemas.microsoft.com/office/drawing/2014/main" id="{13A805A7-A523-4B69-B371-5721E54D9436}"/>
              </a:ext>
            </a:extLst>
          </p:cNvPr>
          <p:cNvSpPr>
            <a:spLocks noGrp="1"/>
          </p:cNvSpPr>
          <p:nvPr/>
        </p:nvSpPr>
        <p:spPr>
          <a:xfrm>
            <a:off x="8286750" y="5191125"/>
            <a:ext cx="31432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622"/>
          </a:bodyPr>
          <a:lstStyle/>
          <a:p>
            <a:pPr>
              <a:defRPr sz="150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F6670"/>
                </a:solidFill>
                <a:latin typeface="Arial"/>
                <a:ea typeface="Arial"/>
                <a:cs typeface="Arial"/>
              </a:rPr>
              <a:t>Las 10 clases principales explican 98,8% del AOI. Los parches forestales son escasos, pero su densidad de biomasa es muy superior a la matriz.</a:t>
            </a:r>
          </a:p>
        </p:txBody>
      </p:sp>
      <p:sp>
        <p:nvSpPr>
          <p:cNvPr id="18" name="footer-left"/>
          <p:cNvSpPr txBox="1"/>
          <p:nvPr/>
        </p:nvSpPr>
        <p:spPr>
          <a:xfrm>
            <a:off x="400050" y="6248400"/>
            <a:ext cx="35000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s-ES" sz="1000" dirty="0">
                <a:solidFill>
                  <a:srgbClr val="7A7A7A"/>
                </a:solidFill>
                <a:latin typeface="Arial"/>
                <a:ea typeface="Arial"/>
                <a:cs typeface="Arial"/>
              </a:rPr>
              <a:t>CCI BIOMASS v7.0</a:t>
            </a:r>
          </a:p>
        </p:txBody>
      </p:sp>
      <p:sp>
        <p:nvSpPr>
          <p:cNvPr id="19" name="footer-center"/>
          <p:cNvSpPr txBox="1"/>
          <p:nvPr/>
        </p:nvSpPr>
        <p:spPr>
          <a:xfrm>
            <a:off x="4200000" y="6248400"/>
            <a:ext cx="37000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s-ES" sz="1000" dirty="0">
                <a:solidFill>
                  <a:srgbClr val="7A7A7A"/>
                </a:solidFill>
                <a:latin typeface="Arial"/>
                <a:ea typeface="Arial"/>
                <a:cs typeface="Arial"/>
              </a:rPr>
              <a:t>Héctor Francisco del Valle</a:t>
            </a:r>
          </a:p>
        </p:txBody>
      </p:sp>
      <p:sp>
        <p:nvSpPr>
          <p:cNvPr id="20" name="footer-right"/>
          <p:cNvSpPr txBox="1"/>
          <p:nvPr/>
        </p:nvSpPr>
        <p:spPr>
          <a:xfrm>
            <a:off x="8100000" y="6248400"/>
            <a:ext cx="36919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s-ES" sz="1000">
                <a:solidFill>
                  <a:srgbClr val="7A7A7A"/>
                </a:solidFill>
                <a:latin typeface="Arial"/>
                <a:ea typeface="Arial"/>
                <a:cs typeface="Arial"/>
              </a:rPr>
              <a:t>21/27</a:t>
            </a:r>
            <a:endParaRPr lang="es-ES" sz="1000" dirty="0">
              <a:solidFill>
                <a:srgbClr val="7A7A7A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542452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22">
            <a:extLst>
              <a:ext uri="{FF2B5EF4-FFF2-40B4-BE49-F238E27FC236}">
                <a16:creationId xmlns:a16="http://schemas.microsoft.com/office/drawing/2014/main" id="{A0538D52-773C-4596-8B0E-4DDD074FC4B8}"/>
              </a:ext>
            </a:extLst>
          </p:cNvPr>
          <p:cNvSpPr>
            <a:spLocks noGrp="1"/>
          </p:cNvSpPr>
          <p:nvPr/>
        </p:nvSpPr>
        <p:spPr>
          <a:xfrm>
            <a:off x="400050" y="476250"/>
            <a:ext cx="11049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>
              <a:defRPr sz="26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s-ES" sz="2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ESTEPA: </a:t>
            </a:r>
            <a:r>
              <a:rPr lang="es-ES" sz="2600" b="1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fuerte</a:t>
            </a:r>
            <a:r>
              <a:rPr lang="es-ES" sz="2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 </a:t>
            </a:r>
            <a:r>
              <a:rPr lang="es-ES" sz="2600" b="1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contraste</a:t>
            </a:r>
            <a:r>
              <a:rPr lang="es-ES" sz="2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 entre </a:t>
            </a:r>
            <a:r>
              <a:rPr lang="es-ES" sz="2600" b="1" err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coberturas</a:t>
            </a:r>
            <a:endParaRPr lang="es-ES" sz="2600" b="1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  <p:graphicFrame>
        <p:nvGraphicFramePr>
          <p:cNvPr id="11" name="Tabla 10"/>
          <p:cNvGraphicFramePr/>
          <p:nvPr>
            <p:extLst>
              <p:ext uri="{D42A27DB-BD31-4B8C-83A1-F6EECF244321}">
                <p14:modId xmlns:p14="http://schemas.microsoft.com/office/powerpoint/2010/main" val="2686613217"/>
              </p:ext>
            </p:extLst>
          </p:nvPr>
        </p:nvGraphicFramePr>
        <p:xfrm>
          <a:off x="876300" y="1128878"/>
          <a:ext cx="10439400" cy="4551749"/>
        </p:xfrm>
        <a:graphic>
          <a:graphicData uri="http://schemas.openxmlformats.org/drawingml/2006/table">
            <a:tbl>
              <a:tblPr firstRow="1" bandRow="1"/>
              <a:tblGrid>
                <a:gridCol w="2381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0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90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906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53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53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5811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3063">
                <a:tc>
                  <a:txBody>
                    <a:bodyPr/>
                    <a:lstStyle/>
                    <a:p>
                      <a:pPr algn="ctr"/>
                      <a:r>
                        <a:rPr sz="129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Cobertura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ha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% AOI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AGB 2015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AGB 2024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SD 2024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Δ 15–24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Stock 2024</a:t>
                      </a:r>
                    </a:p>
                    <a:p>
                      <a:pPr algn="ctr"/>
                      <a:r>
                        <a:rPr sz="129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(miles Mg)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2C5F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063">
                <a:tc>
                  <a:txBody>
                    <a:bodyPr/>
                    <a:lstStyle/>
                    <a:p>
                      <a:pPr algn="ctr"/>
                      <a:r>
                        <a:rPr sz="129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Estepa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19.045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0" b="0" dirty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84,6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0,2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3,1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1,4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+2,9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58,7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063">
                <a:tc>
                  <a:txBody>
                    <a:bodyPr/>
                    <a:lstStyle/>
                    <a:p>
                      <a:pPr algn="ctr"/>
                      <a:r>
                        <a:rPr sz="129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Erial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612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0" b="0" dirty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2,7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0,0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1,3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0,6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+1,3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0,8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063">
                <a:tc>
                  <a:txBody>
                    <a:bodyPr/>
                    <a:lstStyle/>
                    <a:p>
                      <a:pPr algn="ctr"/>
                      <a:r>
                        <a:rPr sz="129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Ñire Bajo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537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0" b="0" dirty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2,4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2,9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6,7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3,1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+3,8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3,6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063">
                <a:tc>
                  <a:txBody>
                    <a:bodyPr/>
                    <a:lstStyle/>
                    <a:p>
                      <a:pPr algn="ctr"/>
                      <a:r>
                        <a:rPr sz="129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Mallin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529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0" b="0" dirty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2,4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0,0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3,3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1,5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+3,3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1,7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063">
                <a:tc>
                  <a:txBody>
                    <a:bodyPr/>
                    <a:lstStyle/>
                    <a:p>
                      <a:pPr algn="ctr"/>
                      <a:r>
                        <a:rPr sz="129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Lenga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460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0" b="0" dirty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2,0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48,3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54,1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26,0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+5,8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24,9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063">
                <a:tc>
                  <a:txBody>
                    <a:bodyPr/>
                    <a:lstStyle/>
                    <a:p>
                      <a:pPr algn="ctr"/>
                      <a:r>
                        <a:rPr sz="129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Lenga Baja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291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0" b="0" dirty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1,3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21,1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28,1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12,7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+6,9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8,2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063">
                <a:tc>
                  <a:txBody>
                    <a:bodyPr/>
                    <a:lstStyle/>
                    <a:p>
                      <a:pPr algn="ctr"/>
                      <a:r>
                        <a:rPr sz="129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Forestacion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252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0" b="0" dirty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1,1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3,5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19,5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7,9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+15,9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4,9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3063">
                <a:tc>
                  <a:txBody>
                    <a:bodyPr/>
                    <a:lstStyle/>
                    <a:p>
                      <a:pPr algn="ctr"/>
                      <a:r>
                        <a:rPr sz="129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Ñire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250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0" b="0" dirty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1,1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0,3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7,1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3,3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+6,8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1,8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3063">
                <a:tc>
                  <a:txBody>
                    <a:bodyPr/>
                    <a:lstStyle/>
                    <a:p>
                      <a:pPr algn="ctr"/>
                      <a:r>
                        <a:rPr sz="129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Lenga Achaparrada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137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0" b="0" dirty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0,6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10,5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13,5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5,9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+2,9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1,8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3063">
                <a:tc>
                  <a:txBody>
                    <a:bodyPr/>
                    <a:lstStyle/>
                    <a:p>
                      <a:pPr algn="ctr"/>
                      <a:r>
                        <a:rPr sz="129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Arbustal Nativo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114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0" b="0" dirty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0,5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0,1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4,2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2,0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+4,1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0,5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rgbClr val="C8D2C8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3063">
                <a:tc>
                  <a:txBody>
                    <a:bodyPr/>
                    <a:lstStyle/>
                    <a:p>
                      <a:pPr algn="ctr"/>
                      <a:r>
                        <a:rPr sz="1290" b="0" dirty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Resto (11 </a:t>
                      </a:r>
                      <a:r>
                        <a:rPr sz="1290" b="0" dirty="0" err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clases</a:t>
                      </a:r>
                      <a:r>
                        <a:rPr sz="1290" b="0" dirty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)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273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0" b="0" dirty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1,2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4,4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8,0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3,8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+3,7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90" b="0" dirty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2,2</a:t>
                      </a:r>
                    </a:p>
                  </a:txBody>
                  <a:tcPr marL="82296" marR="82296" marT="27432" marB="27432" anchor="ctr">
                    <a:lnL w="12700" cap="flat" cmpd="sng" algn="ctr">
                      <a:solidFill>
                        <a:srgbClr val="C8D2C8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rgbClr val="C8D2C8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rgbClr val="C8D2C8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6" name="e-table-note">
            <a:extLst>
              <a:ext uri="{FF2B5EF4-FFF2-40B4-BE49-F238E27FC236}">
                <a16:creationId xmlns:a16="http://schemas.microsoft.com/office/drawing/2014/main" id="{13B7C777-283C-4522-9AB4-A27FE13BA072}"/>
              </a:ext>
            </a:extLst>
          </p:cNvPr>
          <p:cNvSpPr>
            <a:spLocks noGrp="1"/>
          </p:cNvSpPr>
          <p:nvPr/>
        </p:nvSpPr>
        <p:spPr>
          <a:xfrm>
            <a:off x="400050" y="5824703"/>
            <a:ext cx="11391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7319"/>
          </a:bodyPr>
          <a:lstStyle/>
          <a:p>
            <a:pPr>
              <a:defRPr sz="135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F6670"/>
                </a:solidFill>
                <a:latin typeface="Arial"/>
                <a:ea typeface="Arial"/>
                <a:cs typeface="Arial"/>
              </a:rPr>
              <a:t>Los porcentajes de cambio no se muestran porque varias clases parten de AGB 2015 próxima a cero; se informa Δ absoluto, más estable para interpretar.</a:t>
            </a:r>
          </a:p>
        </p:txBody>
      </p:sp>
      <p:sp>
        <p:nvSpPr>
          <p:cNvPr id="12" name="footer-left"/>
          <p:cNvSpPr txBox="1"/>
          <p:nvPr/>
        </p:nvSpPr>
        <p:spPr>
          <a:xfrm>
            <a:off x="400050" y="6248400"/>
            <a:ext cx="35000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s-ES" sz="1000" dirty="0">
                <a:solidFill>
                  <a:srgbClr val="7A7A7A"/>
                </a:solidFill>
                <a:latin typeface="Arial"/>
                <a:ea typeface="Arial"/>
                <a:cs typeface="Arial"/>
              </a:rPr>
              <a:t>CCI BIOMASS v7.0</a:t>
            </a:r>
          </a:p>
        </p:txBody>
      </p:sp>
      <p:sp>
        <p:nvSpPr>
          <p:cNvPr id="13" name="footer-center"/>
          <p:cNvSpPr txBox="1"/>
          <p:nvPr/>
        </p:nvSpPr>
        <p:spPr>
          <a:xfrm>
            <a:off x="4200000" y="6248400"/>
            <a:ext cx="37000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s-ES" sz="1000" dirty="0">
                <a:solidFill>
                  <a:srgbClr val="7A7A7A"/>
                </a:solidFill>
                <a:latin typeface="Arial"/>
                <a:ea typeface="Arial"/>
                <a:cs typeface="Arial"/>
              </a:rPr>
              <a:t>Héctor Francisco del Valle</a:t>
            </a:r>
          </a:p>
        </p:txBody>
      </p:sp>
      <p:sp>
        <p:nvSpPr>
          <p:cNvPr id="14" name="footer-right"/>
          <p:cNvSpPr txBox="1"/>
          <p:nvPr/>
        </p:nvSpPr>
        <p:spPr>
          <a:xfrm>
            <a:off x="8100000" y="6248400"/>
            <a:ext cx="36919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s-ES" sz="1000">
                <a:solidFill>
                  <a:srgbClr val="7A7A7A"/>
                </a:solidFill>
                <a:latin typeface="Arial"/>
                <a:ea typeface="Arial"/>
                <a:cs typeface="Arial"/>
              </a:rPr>
              <a:t>22/27</a:t>
            </a:r>
            <a:endParaRPr lang="es-ES" sz="1000" dirty="0">
              <a:solidFill>
                <a:srgbClr val="7A7A7A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927702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23">
            <a:extLst>
              <a:ext uri="{FF2B5EF4-FFF2-40B4-BE49-F238E27FC236}">
                <a16:creationId xmlns:a16="http://schemas.microsoft.com/office/drawing/2014/main" id="{B43BEC85-35F8-4907-8947-F57B244D58FC}"/>
              </a:ext>
            </a:extLst>
          </p:cNvPr>
          <p:cNvSpPr>
            <a:spLocks noGrp="1"/>
          </p:cNvSpPr>
          <p:nvPr/>
        </p:nvSpPr>
        <p:spPr>
          <a:xfrm>
            <a:off x="400050" y="476250"/>
            <a:ext cx="11049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>
              <a:defRPr sz="26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s-MX" sz="2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ESTEPA: el bosque concentra biomasa</a:t>
            </a:r>
          </a:p>
        </p:txBody>
      </p:sp>
      <p:pic>
        <p:nvPicPr>
          <p:cNvPr id="12" name="Imagen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00050" y="1695149"/>
            <a:ext cx="5905500" cy="3086701"/>
          </a:xfrm>
          <a:prstGeom prst="rect">
            <a:avLst/>
          </a:prstGeom>
        </p:spPr>
      </p:pic>
      <p:pic>
        <p:nvPicPr>
          <p:cNvPr id="13" name="Imagen 12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334125" y="1809412"/>
            <a:ext cx="5457825" cy="2858177"/>
          </a:xfrm>
          <a:prstGeom prst="rect">
            <a:avLst/>
          </a:prstGeom>
        </p:spPr>
      </p:pic>
      <p:sp>
        <p:nvSpPr>
          <p:cNvPr id="7" name="e-trend-reading">
            <a:extLst>
              <a:ext uri="{FF2B5EF4-FFF2-40B4-BE49-F238E27FC236}">
                <a16:creationId xmlns:a16="http://schemas.microsoft.com/office/drawing/2014/main" id="{FA18401E-0F96-44DC-889D-BF1CC2460542}"/>
              </a:ext>
            </a:extLst>
          </p:cNvPr>
          <p:cNvSpPr>
            <a:spLocks noGrp="1"/>
          </p:cNvSpPr>
          <p:nvPr/>
        </p:nvSpPr>
        <p:spPr>
          <a:xfrm>
            <a:off x="400050" y="5381625"/>
            <a:ext cx="113919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defRPr sz="16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Las coberturas forestales representan 8,1% del área y 38,6% del stock estimado. La Estepa aporta ~58,7 mil Mg por su gran superficie, aunque su densidad media es solo 3,08 Mg/ha.</a:t>
            </a:r>
          </a:p>
        </p:txBody>
      </p:sp>
      <p:sp>
        <p:nvSpPr>
          <p:cNvPr id="14" name="footer-left"/>
          <p:cNvSpPr txBox="1"/>
          <p:nvPr/>
        </p:nvSpPr>
        <p:spPr>
          <a:xfrm>
            <a:off x="400050" y="6248400"/>
            <a:ext cx="35000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s-ES" sz="1000" dirty="0">
                <a:solidFill>
                  <a:srgbClr val="7A7A7A"/>
                </a:solidFill>
                <a:latin typeface="Arial"/>
                <a:ea typeface="Arial"/>
                <a:cs typeface="Arial"/>
              </a:rPr>
              <a:t>CCI BIOMASS v7.0</a:t>
            </a:r>
          </a:p>
        </p:txBody>
      </p:sp>
      <p:sp>
        <p:nvSpPr>
          <p:cNvPr id="15" name="footer-center"/>
          <p:cNvSpPr txBox="1"/>
          <p:nvPr/>
        </p:nvSpPr>
        <p:spPr>
          <a:xfrm>
            <a:off x="4200000" y="6248400"/>
            <a:ext cx="37000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s-ES" sz="1000" dirty="0">
                <a:solidFill>
                  <a:srgbClr val="7A7A7A"/>
                </a:solidFill>
                <a:latin typeface="Arial"/>
                <a:ea typeface="Arial"/>
                <a:cs typeface="Arial"/>
              </a:rPr>
              <a:t>Héctor Francisco del Valle</a:t>
            </a:r>
          </a:p>
        </p:txBody>
      </p:sp>
      <p:sp>
        <p:nvSpPr>
          <p:cNvPr id="16" name="footer-right"/>
          <p:cNvSpPr txBox="1"/>
          <p:nvPr/>
        </p:nvSpPr>
        <p:spPr>
          <a:xfrm>
            <a:off x="8100000" y="6248400"/>
            <a:ext cx="36919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s-ES" sz="1000">
                <a:solidFill>
                  <a:srgbClr val="7A7A7A"/>
                </a:solidFill>
                <a:latin typeface="Arial"/>
                <a:ea typeface="Arial"/>
                <a:cs typeface="Arial"/>
              </a:rPr>
              <a:t>23/27</a:t>
            </a:r>
            <a:endParaRPr lang="es-ES" sz="1000" dirty="0">
              <a:solidFill>
                <a:srgbClr val="7A7A7A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208398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24">
            <a:extLst>
              <a:ext uri="{FF2B5EF4-FFF2-40B4-BE49-F238E27FC236}">
                <a16:creationId xmlns:a16="http://schemas.microsoft.com/office/drawing/2014/main" id="{AE2B2587-3E6C-415B-8C19-E59ABD6EB0D6}"/>
              </a:ext>
            </a:extLst>
          </p:cNvPr>
          <p:cNvSpPr>
            <a:spLocks noGrp="1"/>
          </p:cNvSpPr>
          <p:nvPr/>
        </p:nvSpPr>
        <p:spPr>
          <a:xfrm>
            <a:off x="400050" y="476250"/>
            <a:ext cx="11049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>
              <a:defRPr sz="26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s-MX" sz="2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La cobertura explica dónde se concentra el stock</a:t>
            </a:r>
          </a:p>
        </p:txBody>
      </p:sp>
      <p:sp>
        <p:nvSpPr>
          <p:cNvPr id="5" name="cov-close-head-0">
            <a:extLst>
              <a:ext uri="{FF2B5EF4-FFF2-40B4-BE49-F238E27FC236}">
                <a16:creationId xmlns:a16="http://schemas.microsoft.com/office/drawing/2014/main" id="{AA141672-D50D-4341-B9CD-002E0FB96135}"/>
              </a:ext>
            </a:extLst>
          </p:cNvPr>
          <p:cNvSpPr>
            <a:spLocks noGrp="1"/>
          </p:cNvSpPr>
          <p:nvPr/>
        </p:nvSpPr>
        <p:spPr>
          <a:xfrm>
            <a:off x="400050" y="1476375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defRPr sz="1800" b="1">
                <a:solidFill>
                  <a:srgbClr val="1B6B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B6B4A"/>
                </a:solidFill>
                <a:latin typeface="Arial"/>
                <a:ea typeface="Arial"/>
                <a:cs typeface="Arial"/>
              </a:rPr>
              <a:t>BOSQUE</a:t>
            </a:r>
          </a:p>
        </p:txBody>
      </p:sp>
      <p:sp>
        <p:nvSpPr>
          <p:cNvPr id="6" name="cov-close-body-0">
            <a:extLst>
              <a:ext uri="{FF2B5EF4-FFF2-40B4-BE49-F238E27FC236}">
                <a16:creationId xmlns:a16="http://schemas.microsoft.com/office/drawing/2014/main" id="{79CA45BD-45A8-4E18-9995-87355B979356}"/>
              </a:ext>
            </a:extLst>
          </p:cNvPr>
          <p:cNvSpPr>
            <a:spLocks noGrp="1"/>
          </p:cNvSpPr>
          <p:nvPr/>
        </p:nvSpPr>
        <p:spPr>
          <a:xfrm>
            <a:off x="2952750" y="1476375"/>
            <a:ext cx="8458200" cy="1028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defRPr sz="180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11111"/>
                </a:solidFill>
                <a:latin typeface="Arial"/>
                <a:ea typeface="Arial"/>
                <a:cs typeface="Arial"/>
              </a:rPr>
              <a:t>Lenga y Ñire Bajo ocupan 67,9% del AOI y reúnen 75,9% del stock 2024. La tendencia reciente difiere: Lenga estable; Ñire Bajo y Ñire en aumento.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A34D7C09-55E0-4579-B568-C3961CD584AB}"/>
              </a:ext>
            </a:extLst>
          </p:cNvPr>
          <p:cNvSpPr>
            <a:spLocks noGrp="1"/>
          </p:cNvSpPr>
          <p:nvPr/>
        </p:nvSpPr>
        <p:spPr>
          <a:xfrm>
            <a:off x="400050" y="2714625"/>
            <a:ext cx="11010900" cy="9525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cov-close-head-1">
            <a:extLst>
              <a:ext uri="{FF2B5EF4-FFF2-40B4-BE49-F238E27FC236}">
                <a16:creationId xmlns:a16="http://schemas.microsoft.com/office/drawing/2014/main" id="{9D2D6BE6-F355-4D48-8634-011DE9E68D9E}"/>
              </a:ext>
            </a:extLst>
          </p:cNvPr>
          <p:cNvSpPr>
            <a:spLocks noGrp="1"/>
          </p:cNvSpPr>
          <p:nvPr/>
        </p:nvSpPr>
        <p:spPr>
          <a:xfrm>
            <a:off x="400050" y="2952750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ESTEPA</a:t>
            </a:r>
          </a:p>
        </p:txBody>
      </p:sp>
      <p:sp>
        <p:nvSpPr>
          <p:cNvPr id="9" name="cov-close-body-1">
            <a:extLst>
              <a:ext uri="{FF2B5EF4-FFF2-40B4-BE49-F238E27FC236}">
                <a16:creationId xmlns:a16="http://schemas.microsoft.com/office/drawing/2014/main" id="{9A0BE521-6431-41E8-BD57-7F098531DB88}"/>
              </a:ext>
            </a:extLst>
          </p:cNvPr>
          <p:cNvSpPr>
            <a:spLocks noGrp="1"/>
          </p:cNvSpPr>
          <p:nvPr/>
        </p:nvSpPr>
        <p:spPr>
          <a:xfrm>
            <a:off x="2952750" y="2952750"/>
            <a:ext cx="8458200" cy="1028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defRPr sz="180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11111"/>
                </a:solidFill>
                <a:latin typeface="Arial"/>
                <a:ea typeface="Arial"/>
                <a:cs typeface="Arial"/>
              </a:rPr>
              <a:t>La matriz Estepa domina el área, pero los parches forestales multiplican la densidad. El 8,1% forestal concentra 38,6% del stock.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307A1B91-3331-4115-84AC-218F025EFB31}"/>
              </a:ext>
            </a:extLst>
          </p:cNvPr>
          <p:cNvSpPr>
            <a:spLocks noGrp="1"/>
          </p:cNvSpPr>
          <p:nvPr/>
        </p:nvSpPr>
        <p:spPr>
          <a:xfrm>
            <a:off x="400050" y="4191000"/>
            <a:ext cx="11010900" cy="9525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cov-close-head-2">
            <a:extLst>
              <a:ext uri="{FF2B5EF4-FFF2-40B4-BE49-F238E27FC236}">
                <a16:creationId xmlns:a16="http://schemas.microsoft.com/office/drawing/2014/main" id="{9E67B470-E6B0-4BC4-8A4F-2B565BA298B9}"/>
              </a:ext>
            </a:extLst>
          </p:cNvPr>
          <p:cNvSpPr>
            <a:spLocks noGrp="1"/>
          </p:cNvSpPr>
          <p:nvPr/>
        </p:nvSpPr>
        <p:spPr>
          <a:xfrm>
            <a:off x="400050" y="4429125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defRPr sz="1800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CAUTELA</a:t>
            </a:r>
          </a:p>
        </p:txBody>
      </p:sp>
      <p:sp>
        <p:nvSpPr>
          <p:cNvPr id="12" name="cov-close-body-2">
            <a:extLst>
              <a:ext uri="{FF2B5EF4-FFF2-40B4-BE49-F238E27FC236}">
                <a16:creationId xmlns:a16="http://schemas.microsoft.com/office/drawing/2014/main" id="{70A9FB6A-930B-4EA1-8F59-66C40F5DF416}"/>
              </a:ext>
            </a:extLst>
          </p:cNvPr>
          <p:cNvSpPr>
            <a:spLocks noGrp="1"/>
          </p:cNvSpPr>
          <p:nvPr/>
        </p:nvSpPr>
        <p:spPr>
          <a:xfrm>
            <a:off x="2952750" y="4429125"/>
            <a:ext cx="8458200" cy="1028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defRPr sz="180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11111"/>
                </a:solidFill>
                <a:latin typeface="Arial"/>
                <a:ea typeface="Arial"/>
                <a:cs typeface="Arial"/>
              </a:rPr>
              <a:t>La SD media equivale aproximadamente al 42–48% de la AGB en muchas clases. Comparar agregados y cambios absolutos; evitar inferir procesos a partir de una celda.</a:t>
            </a:r>
          </a:p>
        </p:txBody>
      </p:sp>
      <p:sp>
        <p:nvSpPr>
          <p:cNvPr id="13" name="cov-close-action">
            <a:extLst>
              <a:ext uri="{FF2B5EF4-FFF2-40B4-BE49-F238E27FC236}">
                <a16:creationId xmlns:a16="http://schemas.microsoft.com/office/drawing/2014/main" id="{6F815B92-604D-4054-A771-DE512386F278}"/>
              </a:ext>
            </a:extLst>
          </p:cNvPr>
          <p:cNvSpPr>
            <a:spLocks noGrp="1"/>
          </p:cNvSpPr>
          <p:nvPr/>
        </p:nvSpPr>
        <p:spPr>
          <a:xfrm>
            <a:off x="400050" y="5651941"/>
            <a:ext cx="11391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357"/>
          </a:bodyPr>
          <a:lstStyle/>
          <a:p>
            <a:pPr>
              <a:defRPr sz="1500" b="1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500" b="1" dirty="0" err="1">
                <a:solidFill>
                  <a:srgbClr val="5F6670"/>
                </a:solidFill>
                <a:latin typeface="Arial"/>
                <a:ea typeface="Arial"/>
                <a:cs typeface="Arial"/>
              </a:rPr>
              <a:t>Recomendación</a:t>
            </a:r>
            <a:r>
              <a:rPr sz="1500" b="1" dirty="0">
                <a:solidFill>
                  <a:srgbClr val="5F6670"/>
                </a:solidFill>
                <a:latin typeface="Arial"/>
                <a:ea typeface="Arial"/>
                <a:cs typeface="Arial"/>
              </a:rPr>
              <a:t>: usar </a:t>
            </a:r>
            <a:r>
              <a:rPr sz="1500" b="1" dirty="0" err="1">
                <a:solidFill>
                  <a:srgbClr val="5F6670"/>
                </a:solidFill>
                <a:latin typeface="Arial"/>
                <a:ea typeface="Arial"/>
                <a:cs typeface="Arial"/>
              </a:rPr>
              <a:t>estas</a:t>
            </a:r>
            <a:r>
              <a:rPr sz="1500" b="1" dirty="0">
                <a:solidFill>
                  <a:srgbClr val="5F6670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 dirty="0" err="1">
                <a:solidFill>
                  <a:srgbClr val="5F6670"/>
                </a:solidFill>
                <a:latin typeface="Arial"/>
                <a:ea typeface="Arial"/>
                <a:cs typeface="Arial"/>
              </a:rPr>
              <a:t>tablas</a:t>
            </a:r>
            <a:r>
              <a:rPr sz="1500" b="1" dirty="0">
                <a:solidFill>
                  <a:srgbClr val="5F6670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 dirty="0" err="1">
                <a:solidFill>
                  <a:srgbClr val="5F6670"/>
                </a:solidFill>
                <a:latin typeface="Arial"/>
                <a:ea typeface="Arial"/>
                <a:cs typeface="Arial"/>
              </a:rPr>
              <a:t>como</a:t>
            </a:r>
            <a:r>
              <a:rPr sz="1500" b="1" dirty="0">
                <a:solidFill>
                  <a:srgbClr val="5F6670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 dirty="0" err="1">
                <a:solidFill>
                  <a:srgbClr val="5F6670"/>
                </a:solidFill>
                <a:latin typeface="Arial"/>
                <a:ea typeface="Arial"/>
                <a:cs typeface="Arial"/>
              </a:rPr>
              <a:t>estratificación</a:t>
            </a:r>
            <a:r>
              <a:rPr sz="1500" b="1" dirty="0">
                <a:solidFill>
                  <a:srgbClr val="5F6670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 dirty="0" err="1">
                <a:solidFill>
                  <a:srgbClr val="5F6670"/>
                </a:solidFill>
                <a:latin typeface="Arial"/>
                <a:ea typeface="Arial"/>
                <a:cs typeface="Arial"/>
              </a:rPr>
              <a:t>inicial</a:t>
            </a:r>
            <a:r>
              <a:rPr sz="1500" b="1" dirty="0">
                <a:solidFill>
                  <a:srgbClr val="5F6670"/>
                </a:solidFill>
                <a:latin typeface="Arial"/>
                <a:ea typeface="Arial"/>
                <a:cs typeface="Arial"/>
              </a:rPr>
              <a:t> y </a:t>
            </a:r>
            <a:r>
              <a:rPr sz="1500" b="1" dirty="0" err="1">
                <a:solidFill>
                  <a:srgbClr val="5F6670"/>
                </a:solidFill>
                <a:latin typeface="Arial"/>
                <a:ea typeface="Arial"/>
                <a:cs typeface="Arial"/>
              </a:rPr>
              <a:t>validar</a:t>
            </a:r>
            <a:r>
              <a:rPr sz="1500" b="1" dirty="0">
                <a:solidFill>
                  <a:srgbClr val="5F6670"/>
                </a:solidFill>
                <a:latin typeface="Arial"/>
                <a:ea typeface="Arial"/>
                <a:cs typeface="Arial"/>
              </a:rPr>
              <a:t> con </a:t>
            </a:r>
            <a:r>
              <a:rPr sz="1500" b="1" dirty="0" err="1">
                <a:solidFill>
                  <a:srgbClr val="5F6670"/>
                </a:solidFill>
                <a:latin typeface="Arial"/>
                <a:ea typeface="Arial"/>
                <a:cs typeface="Arial"/>
              </a:rPr>
              <a:t>inventarios</a:t>
            </a:r>
            <a:r>
              <a:rPr sz="1500" b="1" dirty="0">
                <a:solidFill>
                  <a:srgbClr val="5F6670"/>
                </a:solidFill>
                <a:latin typeface="Arial"/>
                <a:ea typeface="Arial"/>
                <a:cs typeface="Arial"/>
              </a:rPr>
              <a:t> o </a:t>
            </a:r>
            <a:r>
              <a:rPr sz="1500" b="1" dirty="0" err="1">
                <a:solidFill>
                  <a:srgbClr val="5F6670"/>
                </a:solidFill>
                <a:latin typeface="Arial"/>
                <a:ea typeface="Arial"/>
                <a:cs typeface="Arial"/>
              </a:rPr>
              <a:t>parcelas</a:t>
            </a:r>
            <a:r>
              <a:rPr sz="1500" b="1" dirty="0">
                <a:solidFill>
                  <a:srgbClr val="5F6670"/>
                </a:solidFill>
                <a:latin typeface="Arial"/>
                <a:ea typeface="Arial"/>
                <a:cs typeface="Arial"/>
              </a:rPr>
              <a:t> antes de </a:t>
            </a:r>
            <a:r>
              <a:rPr sz="1500" b="1" dirty="0" err="1">
                <a:solidFill>
                  <a:srgbClr val="5F6670"/>
                </a:solidFill>
                <a:latin typeface="Arial"/>
                <a:ea typeface="Arial"/>
                <a:cs typeface="Arial"/>
              </a:rPr>
              <a:t>decisiones</a:t>
            </a:r>
            <a:r>
              <a:rPr sz="1500" b="1" dirty="0">
                <a:solidFill>
                  <a:srgbClr val="5F6670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 dirty="0" err="1">
                <a:solidFill>
                  <a:srgbClr val="5F6670"/>
                </a:solidFill>
                <a:latin typeface="Arial"/>
                <a:ea typeface="Arial"/>
                <a:cs typeface="Arial"/>
              </a:rPr>
              <a:t>operativas</a:t>
            </a:r>
            <a:r>
              <a:rPr sz="1500" b="1" dirty="0">
                <a:solidFill>
                  <a:srgbClr val="5F6670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14" name="footer-left"/>
          <p:cNvSpPr txBox="1"/>
          <p:nvPr/>
        </p:nvSpPr>
        <p:spPr>
          <a:xfrm>
            <a:off x="400050" y="6248400"/>
            <a:ext cx="35000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s-ES" sz="1000" dirty="0">
                <a:solidFill>
                  <a:srgbClr val="7A7A7A"/>
                </a:solidFill>
                <a:latin typeface="Arial"/>
                <a:ea typeface="Arial"/>
                <a:cs typeface="Arial"/>
              </a:rPr>
              <a:t>CCI BIOMASS v7.0</a:t>
            </a:r>
          </a:p>
        </p:txBody>
      </p:sp>
      <p:sp>
        <p:nvSpPr>
          <p:cNvPr id="15" name="footer-center"/>
          <p:cNvSpPr txBox="1"/>
          <p:nvPr/>
        </p:nvSpPr>
        <p:spPr>
          <a:xfrm>
            <a:off x="4200000" y="6248400"/>
            <a:ext cx="37000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s-ES" sz="1000" dirty="0">
                <a:solidFill>
                  <a:srgbClr val="7A7A7A"/>
                </a:solidFill>
                <a:latin typeface="Arial"/>
                <a:ea typeface="Arial"/>
                <a:cs typeface="Arial"/>
              </a:rPr>
              <a:t>Héctor Francisco del Valle</a:t>
            </a:r>
          </a:p>
        </p:txBody>
      </p:sp>
      <p:sp>
        <p:nvSpPr>
          <p:cNvPr id="16" name="footer-right"/>
          <p:cNvSpPr txBox="1"/>
          <p:nvPr/>
        </p:nvSpPr>
        <p:spPr>
          <a:xfrm>
            <a:off x="8100000" y="6248400"/>
            <a:ext cx="36919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s-ES" sz="1000">
                <a:solidFill>
                  <a:srgbClr val="7A7A7A"/>
                </a:solidFill>
                <a:latin typeface="Arial"/>
                <a:ea typeface="Arial"/>
                <a:cs typeface="Arial"/>
              </a:rPr>
              <a:t>24/27</a:t>
            </a:r>
            <a:endParaRPr lang="es-ES" sz="1000" dirty="0">
              <a:solidFill>
                <a:srgbClr val="7A7A7A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03748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0" name="title-x"/>
          <p:cNvSpPr txBox="1"/>
          <p:nvPr/>
        </p:nvSpPr>
        <p:spPr>
          <a:xfrm>
            <a:off x="400050" y="476250"/>
            <a:ext cx="11049000" cy="5524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lang="es-ES" sz="2600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Referencias recomendadas</a:t>
            </a:r>
          </a:p>
        </p:txBody>
      </p:sp>
      <p:sp>
        <p:nvSpPr>
          <p:cNvPr id="9001" name="ref-body"/>
          <p:cNvSpPr txBox="1"/>
          <p:nvPr/>
        </p:nvSpPr>
        <p:spPr>
          <a:xfrm>
            <a:off x="400050" y="1107865"/>
            <a:ext cx="11391900" cy="460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285750" indent="-285750">
              <a:lnSpc>
                <a:spcPct val="100000"/>
              </a:lnSpc>
              <a:buNone/>
            </a:pPr>
            <a:r>
              <a:rPr lang="es-ES" sz="1400" b="0" i="0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Araza, A., Herold, M., Urbazaev, M., Carvalhais, N., Quegan, S., &amp; Santoro, M. (2026). </a:t>
            </a:r>
            <a:r>
              <a:rPr lang="es-ES" sz="1400" b="0" i="1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CCI Biomass product validation and intercomparison report (PVIR), version 7.0 (D4.1). </a:t>
            </a:r>
            <a:r>
              <a:rPr lang="es-ES" sz="1400" b="0" i="0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European Space Agency Climate Office. https://climate.esa.int/documents/3356/Product_Validation_Intercomparison_Report_PVIR_V7.0.pdf</a:t>
            </a:r>
          </a:p>
          <a:p>
            <a:pPr marL="285750" indent="-285750">
              <a:lnSpc>
                <a:spcPct val="100000"/>
              </a:lnSpc>
              <a:buNone/>
            </a:pPr>
            <a:r>
              <a:rPr lang="es-ES" sz="1400" b="0" i="0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Santoro, M., &amp; Cartus, O. (2024). </a:t>
            </a:r>
            <a:r>
              <a:rPr lang="es-ES" sz="1400" b="0" i="1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ESA Biomass Climate Change Initiative (Biomass_cci): Global datasets of forest above-ground biomass, v6.0 </a:t>
            </a:r>
            <a:r>
              <a:rPr lang="es-ES" sz="1400" b="0" i="0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[Conjunto de datos]. NERC EDS Centre for Environmental Data Analysis. https://catalogue.ceda.ac.uk/uuid/95913ffb6467447ca72c4e9d8cf30501</a:t>
            </a:r>
          </a:p>
          <a:p>
            <a:pPr marL="285750" indent="-285750">
              <a:lnSpc>
                <a:spcPct val="100000"/>
              </a:lnSpc>
              <a:buNone/>
            </a:pPr>
            <a:r>
              <a:rPr lang="es-ES" sz="1400" b="0" i="0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Santoro, M., &amp; Cartus, O. (2025). </a:t>
            </a:r>
            <a:r>
              <a:rPr lang="es-ES" sz="1400" b="0" i="1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CCI Biomass product user guide (PUG), version 6.0 (D4.3). </a:t>
            </a:r>
            <a:r>
              <a:rPr lang="es-ES" sz="1400" b="0" i="0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European Space Agency Climate Office. https://admin.climate.esa.int/documents/3091/D4.3_CCI_PUG_V6.0_20250606.pdf</a:t>
            </a:r>
          </a:p>
          <a:p>
            <a:pPr marL="285750" indent="-285750">
              <a:lnSpc>
                <a:spcPct val="100000"/>
              </a:lnSpc>
              <a:buNone/>
            </a:pPr>
            <a:r>
              <a:rPr lang="es-ES" sz="1400" b="0" i="0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Santoro, M., &amp; Cartus, O. (2026). </a:t>
            </a:r>
            <a:r>
              <a:rPr lang="es-ES" sz="1400" b="0" i="1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ESA Biomass Climate Change Initiative (Biomass_cci): Global datasets of forest above-ground biomass for the years 2005–2012 and 2015–2024, v7.0 </a:t>
            </a:r>
            <a:r>
              <a:rPr lang="es-ES" sz="1400" b="0" i="0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[Conjunto de datos]. NERC EDS Centre for Environmental Data Analysis. https://catalogue.ceda.ac.uk/uuid/6429d1aafe1e43b9b414e4a5a7f8b903</a:t>
            </a:r>
          </a:p>
          <a:p>
            <a:pPr marL="285750" indent="-285750">
              <a:lnSpc>
                <a:spcPct val="100000"/>
              </a:lnSpc>
              <a:buNone/>
            </a:pPr>
            <a:r>
              <a:rPr lang="es-ES" sz="1400" b="0" i="0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Santoro, M., Cartus, O., Carvalhais, N., Rozendaal, D. M. A., Avitabile, V., Araza, A., de Bruin, S., Herold, M., Quegan, S., Rodríguez-Veiga, P., Balzter, H., Carreiras, J., Schepaschenko, D., Korets, M., Shimada, M., Itoh, T., Moreno Martínez, Á., Cavlovic, J., Cazzolla Gatti, R., … Willcock, S. (2021). The global forest above-ground biomass pool for 2010 estimated from high-resolution satellite observations. </a:t>
            </a:r>
            <a:r>
              <a:rPr lang="es-ES" sz="1400" b="0" i="1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Earth System Science Data, 13</a:t>
            </a:r>
            <a:r>
              <a:rPr lang="es-ES" sz="1400" b="0" i="0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(8), 3927–3950. https://doi.org/10.5194/essd-13-3927-2021</a:t>
            </a:r>
          </a:p>
          <a:p>
            <a:pPr marL="285750" indent="-285750">
              <a:lnSpc>
                <a:spcPct val="100000"/>
              </a:lnSpc>
              <a:buNone/>
            </a:pPr>
            <a:r>
              <a:rPr lang="es-ES" sz="1400" b="0" i="0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Santoro, M., Cartus, O., Lucas, R., &amp; Kay, H. (2021). </a:t>
            </a:r>
            <a:r>
              <a:rPr lang="es-ES" sz="1400" b="0" i="1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CCI Biomass algorithm theoretical basis document (ATBD), version 3.0 (D2.2). </a:t>
            </a:r>
            <a:r>
              <a:rPr lang="es-ES" sz="1400" b="0" i="0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European Space Agency Climate Office. https://climate.esa.int/media/documents/D2_2_Algorithm_Theoretical_Basis_Document_ATBD_V3.0_20210614_hkrml_SQ_MS.pdf</a:t>
            </a:r>
          </a:p>
          <a:p>
            <a:pPr marL="285750" indent="-285750">
              <a:lnSpc>
                <a:spcPct val="100000"/>
              </a:lnSpc>
              <a:buNone/>
            </a:pPr>
            <a:r>
              <a:rPr lang="es-ES" sz="1400" b="0" i="0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Santoro, M., Cartus, O., Quegan, S., Kay, H., Lucas, R. M., Araza, A., Herold, M., Labrière, N., Chave, J., Mitchard, E. T. A., Ryan, C. M., Rodríguez-Veiga, P., Balzter, H., Carreiras, J., Liang, J., Schepaschenko, D., Melo, J., Miguel, S., Nesha, K., … Fransson, J. E. S. (2024). Design and performance of the Climate Change Initiative Biomass global retrieval algorithm. </a:t>
            </a:r>
            <a:r>
              <a:rPr lang="es-ES" sz="1400" b="0" i="1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Science of Remote Sensing, 10</a:t>
            </a:r>
            <a:r>
              <a:rPr lang="es-ES" sz="1400" b="0" i="0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, Article 100169. https://doi.org/10.1016/j.srs.2024.100169</a:t>
            </a:r>
          </a:p>
        </p:txBody>
      </p:sp>
      <p:sp>
        <p:nvSpPr>
          <p:cNvPr id="14" name="footer-left"/>
          <p:cNvSpPr txBox="1"/>
          <p:nvPr/>
        </p:nvSpPr>
        <p:spPr>
          <a:xfrm>
            <a:off x="400050" y="6248400"/>
            <a:ext cx="35000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s-ES" sz="1000">
                <a:solidFill>
                  <a:srgbClr val="7A7A7A"/>
                </a:solidFill>
                <a:latin typeface="Arial"/>
                <a:ea typeface="Arial"/>
                <a:cs typeface="Arial"/>
              </a:rPr>
              <a:t>CCI BIOMASS v7.0</a:t>
            </a:r>
          </a:p>
        </p:txBody>
      </p:sp>
      <p:sp>
        <p:nvSpPr>
          <p:cNvPr id="15" name="footer-center"/>
          <p:cNvSpPr txBox="1"/>
          <p:nvPr/>
        </p:nvSpPr>
        <p:spPr>
          <a:xfrm>
            <a:off x="4200000" y="6248400"/>
            <a:ext cx="37000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s-ES" sz="1000">
                <a:solidFill>
                  <a:srgbClr val="7A7A7A"/>
                </a:solidFill>
                <a:latin typeface="Arial"/>
                <a:ea typeface="Arial"/>
                <a:cs typeface="Arial"/>
              </a:rPr>
              <a:t>Héctor Francisco del Valle</a:t>
            </a:r>
          </a:p>
        </p:txBody>
      </p:sp>
      <p:sp>
        <p:nvSpPr>
          <p:cNvPr id="16" name="footer-right"/>
          <p:cNvSpPr txBox="1"/>
          <p:nvPr/>
        </p:nvSpPr>
        <p:spPr>
          <a:xfrm>
            <a:off x="8100000" y="6248400"/>
            <a:ext cx="36919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s-ES" sz="1000">
                <a:solidFill>
                  <a:srgbClr val="7A7A7A"/>
                </a:solidFill>
                <a:latin typeface="Arial"/>
                <a:ea typeface="Arial"/>
                <a:cs typeface="Arial"/>
              </a:rPr>
              <a:t>26/27</a:t>
            </a:r>
          </a:p>
        </p:txBody>
      </p:sp>
    </p:spTree>
    <p:extLst>
      <p:ext uri="{BB962C8B-B14F-4D97-AF65-F5344CB8AC3E}">
        <p14:creationId xmlns:p14="http://schemas.microsoft.com/office/powerpoint/2010/main" val="269857004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0" name="title-x"/>
          <p:cNvSpPr txBox="1"/>
          <p:nvPr/>
        </p:nvSpPr>
        <p:spPr>
          <a:xfrm>
            <a:off x="400050" y="476250"/>
            <a:ext cx="11049000" cy="5524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lang="es-ES" sz="2600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Acrónimos y unidades</a:t>
            </a:r>
          </a:p>
        </p:txBody>
      </p:sp>
      <p:sp>
        <p:nvSpPr>
          <p:cNvPr id="9101" name="acr-col-1"/>
          <p:cNvSpPr txBox="1"/>
          <p:nvPr/>
        </p:nvSpPr>
        <p:spPr>
          <a:xfrm>
            <a:off x="400050" y="1381125"/>
            <a:ext cx="5400000" cy="460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900"/>
              </a:spcBef>
            </a:pPr>
            <a:r>
              <a:rPr lang="es-ES" sz="1200" b="1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AGB — </a:t>
            </a:r>
            <a:r>
              <a:rPr lang="es-ES" sz="1200" b="0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Above-Ground Biomass (biomasa aérea, Mg/ha)</a:t>
            </a:r>
          </a:p>
          <a:p>
            <a:pPr algn="l">
              <a:lnSpc>
                <a:spcPct val="100000"/>
              </a:lnSpc>
              <a:spcBef>
                <a:spcPts val="900"/>
              </a:spcBef>
            </a:pPr>
            <a:r>
              <a:rPr lang="es-ES" sz="1200" b="1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AOI — </a:t>
            </a:r>
            <a:r>
              <a:rPr lang="es-ES" sz="1200" b="0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Area of Interest (área de estudio)</a:t>
            </a:r>
          </a:p>
          <a:p>
            <a:pPr algn="l">
              <a:lnSpc>
                <a:spcPct val="100000"/>
              </a:lnSpc>
              <a:spcBef>
                <a:spcPts val="900"/>
              </a:spcBef>
            </a:pPr>
            <a:r>
              <a:rPr lang="es-ES" sz="1200" b="1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ATBD — </a:t>
            </a:r>
            <a:r>
              <a:rPr lang="es-ES" sz="1200" b="0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Algorithm Theoretical Basis Document</a:t>
            </a:r>
          </a:p>
          <a:p>
            <a:pPr algn="l">
              <a:lnSpc>
                <a:spcPct val="100000"/>
              </a:lnSpc>
              <a:spcBef>
                <a:spcPts val="900"/>
              </a:spcBef>
            </a:pPr>
            <a:r>
              <a:rPr lang="es-ES" sz="1200" b="1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CCI — </a:t>
            </a:r>
            <a:r>
              <a:rPr lang="es-ES" sz="1200" b="0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Climate Change Initiative (ESA)</a:t>
            </a:r>
          </a:p>
          <a:p>
            <a:pPr algn="l">
              <a:lnSpc>
                <a:spcPct val="100000"/>
              </a:lnSpc>
              <a:spcBef>
                <a:spcPts val="900"/>
              </a:spcBef>
            </a:pPr>
            <a:r>
              <a:rPr lang="es-ES" sz="1200" b="1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CEDA — </a:t>
            </a:r>
            <a:r>
              <a:rPr lang="es-ES" sz="1200" b="0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Centre for Environmental Data Analysis (NERC EDS)</a:t>
            </a:r>
          </a:p>
          <a:p>
            <a:pPr algn="l">
              <a:lnSpc>
                <a:spcPct val="100000"/>
              </a:lnSpc>
              <a:spcBef>
                <a:spcPts val="900"/>
              </a:spcBef>
            </a:pPr>
            <a:r>
              <a:rPr lang="es-ES" sz="1200" b="1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CRS — </a:t>
            </a:r>
            <a:r>
              <a:rPr lang="es-ES" sz="1200" b="0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Coordinate Reference System</a:t>
            </a:r>
          </a:p>
          <a:p>
            <a:pPr algn="l">
              <a:lnSpc>
                <a:spcPct val="100000"/>
              </a:lnSpc>
              <a:spcBef>
                <a:spcPts val="900"/>
              </a:spcBef>
            </a:pPr>
            <a:r>
              <a:rPr lang="es-ES" sz="1200" b="1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ESA — </a:t>
            </a:r>
            <a:r>
              <a:rPr lang="es-ES" sz="1200" b="0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European Space Agency</a:t>
            </a:r>
          </a:p>
          <a:p>
            <a:pPr algn="l">
              <a:lnSpc>
                <a:spcPct val="100000"/>
              </a:lnSpc>
              <a:spcBef>
                <a:spcPts val="900"/>
              </a:spcBef>
            </a:pPr>
            <a:r>
              <a:rPr lang="es-ES" sz="1200" b="1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ESSD — </a:t>
            </a:r>
            <a:r>
              <a:rPr lang="es-ES" sz="1200" b="0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Earth System Science Data (revista)</a:t>
            </a:r>
          </a:p>
          <a:p>
            <a:pPr algn="l">
              <a:lnSpc>
                <a:spcPct val="100000"/>
              </a:lnSpc>
              <a:spcBef>
                <a:spcPts val="900"/>
              </a:spcBef>
            </a:pPr>
            <a:r>
              <a:rPr lang="es-ES" sz="1200" b="1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KML — </a:t>
            </a:r>
            <a:r>
              <a:rPr lang="es-ES" sz="1200" b="0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Keyhole Markup Language (límites vectoriales)</a:t>
            </a:r>
          </a:p>
        </p:txBody>
      </p:sp>
      <p:sp>
        <p:nvSpPr>
          <p:cNvPr id="9102" name="acr-col-2"/>
          <p:cNvSpPr txBox="1"/>
          <p:nvPr/>
        </p:nvSpPr>
        <p:spPr>
          <a:xfrm>
            <a:off x="6200000" y="1381125"/>
            <a:ext cx="5591950" cy="460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900"/>
              </a:spcBef>
            </a:pPr>
            <a:r>
              <a:rPr lang="es-ES" sz="1200" b="1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Mg/ha — </a:t>
            </a:r>
            <a:r>
              <a:rPr lang="es-ES" sz="1200" b="0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Megagramos por hectárea (toneladas por hectárea)</a:t>
            </a:r>
          </a:p>
          <a:p>
            <a:pPr algn="l">
              <a:lnSpc>
                <a:spcPct val="100000"/>
              </a:lnSpc>
              <a:spcBef>
                <a:spcPts val="900"/>
              </a:spcBef>
            </a:pPr>
            <a:r>
              <a:rPr lang="es-ES" sz="1200" b="1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Mt — </a:t>
            </a:r>
            <a:r>
              <a:rPr lang="es-ES" sz="1200" b="0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Megatoneladas (stock total)</a:t>
            </a:r>
          </a:p>
          <a:p>
            <a:pPr algn="l">
              <a:lnSpc>
                <a:spcPct val="100000"/>
              </a:lnSpc>
              <a:spcBef>
                <a:spcPts val="900"/>
              </a:spcBef>
            </a:pPr>
            <a:r>
              <a:rPr lang="es-ES" sz="1200" b="1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NoData — </a:t>
            </a:r>
            <a:r>
              <a:rPr lang="es-ES" sz="1200" b="0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Valor sin dato en la grilla ráster</a:t>
            </a:r>
          </a:p>
          <a:p>
            <a:pPr algn="l">
              <a:lnSpc>
                <a:spcPct val="100000"/>
              </a:lnSpc>
              <a:spcBef>
                <a:spcPts val="900"/>
              </a:spcBef>
            </a:pPr>
            <a:r>
              <a:rPr lang="es-ES" sz="1200" b="1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PUG — </a:t>
            </a:r>
            <a:r>
              <a:rPr lang="es-ES" sz="1200" b="0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Product User Guide</a:t>
            </a:r>
          </a:p>
          <a:p>
            <a:pPr algn="l">
              <a:lnSpc>
                <a:spcPct val="100000"/>
              </a:lnSpc>
              <a:spcBef>
                <a:spcPts val="900"/>
              </a:spcBef>
            </a:pPr>
            <a:r>
              <a:rPr lang="es-ES" sz="1200" b="1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PVIR — </a:t>
            </a:r>
            <a:r>
              <a:rPr lang="es-ES" sz="1200" b="0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Product Validation &amp; Intercomparison Report</a:t>
            </a:r>
          </a:p>
          <a:p>
            <a:pPr algn="l">
              <a:lnSpc>
                <a:spcPct val="100000"/>
              </a:lnSpc>
              <a:spcBef>
                <a:spcPts val="900"/>
              </a:spcBef>
            </a:pPr>
            <a:r>
              <a:rPr lang="es-ES" sz="1200" b="1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SAR — </a:t>
            </a:r>
            <a:r>
              <a:rPr lang="es-ES" sz="1200" b="0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Synthetic Aperture Radar</a:t>
            </a:r>
          </a:p>
          <a:p>
            <a:pPr algn="l">
              <a:lnSpc>
                <a:spcPct val="100000"/>
              </a:lnSpc>
              <a:spcBef>
                <a:spcPts val="900"/>
              </a:spcBef>
            </a:pPr>
            <a:r>
              <a:rPr lang="es-ES" sz="1200" b="1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SD — </a:t>
            </a:r>
            <a:r>
              <a:rPr lang="es-ES" sz="1200" b="0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Standard Deviation (incertidumbre del producto)</a:t>
            </a:r>
          </a:p>
          <a:p>
            <a:pPr algn="l">
              <a:lnSpc>
                <a:spcPct val="100000"/>
              </a:lnSpc>
              <a:spcBef>
                <a:spcPts val="900"/>
              </a:spcBef>
            </a:pPr>
            <a:r>
              <a:rPr lang="es-ES" sz="1200" b="1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WGS84 — </a:t>
            </a:r>
            <a:r>
              <a:rPr lang="es-ES" sz="1200" b="0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World Geodetic System 1984 (datum geográfico)</a:t>
            </a:r>
          </a:p>
          <a:p>
            <a:pPr algn="l">
              <a:lnSpc>
                <a:spcPct val="100000"/>
              </a:lnSpc>
              <a:spcBef>
                <a:spcPts val="900"/>
              </a:spcBef>
            </a:pPr>
            <a:r>
              <a:rPr lang="es-ES" sz="1200" b="1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v7.0 — </a:t>
            </a:r>
            <a:r>
              <a:rPr lang="es-ES" sz="1200" b="0" dirty="0">
                <a:solidFill>
                  <a:srgbClr val="222222"/>
                </a:solidFill>
                <a:latin typeface="Arial"/>
                <a:ea typeface="Arial"/>
                <a:cs typeface="Arial"/>
              </a:rPr>
              <a:t>Versión 7.0 del producto CCI Biomass</a:t>
            </a:r>
          </a:p>
        </p:txBody>
      </p:sp>
      <p:sp>
        <p:nvSpPr>
          <p:cNvPr id="14" name="footer-left"/>
          <p:cNvSpPr txBox="1"/>
          <p:nvPr/>
        </p:nvSpPr>
        <p:spPr>
          <a:xfrm>
            <a:off x="400050" y="6248400"/>
            <a:ext cx="35000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s-ES" sz="1000">
                <a:solidFill>
                  <a:srgbClr val="7A7A7A"/>
                </a:solidFill>
                <a:latin typeface="Arial"/>
                <a:ea typeface="Arial"/>
                <a:cs typeface="Arial"/>
              </a:rPr>
              <a:t>CCI BIOMASS v7.0</a:t>
            </a:r>
          </a:p>
        </p:txBody>
      </p:sp>
      <p:sp>
        <p:nvSpPr>
          <p:cNvPr id="15" name="footer-center"/>
          <p:cNvSpPr txBox="1"/>
          <p:nvPr/>
        </p:nvSpPr>
        <p:spPr>
          <a:xfrm>
            <a:off x="4200000" y="6248400"/>
            <a:ext cx="37000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s-ES" sz="1000">
                <a:solidFill>
                  <a:srgbClr val="7A7A7A"/>
                </a:solidFill>
                <a:latin typeface="Arial"/>
                <a:ea typeface="Arial"/>
                <a:cs typeface="Arial"/>
              </a:rPr>
              <a:t>Héctor Francisco del Valle</a:t>
            </a:r>
          </a:p>
        </p:txBody>
      </p:sp>
      <p:sp>
        <p:nvSpPr>
          <p:cNvPr id="16" name="footer-right"/>
          <p:cNvSpPr txBox="1"/>
          <p:nvPr/>
        </p:nvSpPr>
        <p:spPr>
          <a:xfrm>
            <a:off x="8100000" y="6248400"/>
            <a:ext cx="36919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s-ES" sz="1000">
                <a:solidFill>
                  <a:srgbClr val="7A7A7A"/>
                </a:solidFill>
                <a:latin typeface="Arial"/>
                <a:ea typeface="Arial"/>
                <a:cs typeface="Arial"/>
              </a:rPr>
              <a:t>27/27</a:t>
            </a:r>
          </a:p>
        </p:txBody>
      </p:sp>
    </p:spTree>
    <p:extLst>
      <p:ext uri="{BB962C8B-B14F-4D97-AF65-F5344CB8AC3E}">
        <p14:creationId xmlns:p14="http://schemas.microsoft.com/office/powerpoint/2010/main" val="256583423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16">
            <a:extLst>
              <a:ext uri="{FF2B5EF4-FFF2-40B4-BE49-F238E27FC236}">
                <a16:creationId xmlns:a16="http://schemas.microsoft.com/office/drawing/2014/main" id="{918A44A8-BC8D-4AB0-BD14-BF8FBD04A8BD}"/>
              </a:ext>
            </a:extLst>
          </p:cNvPr>
          <p:cNvSpPr>
            <a:spLocks noGrp="1"/>
          </p:cNvSpPr>
          <p:nvPr/>
        </p:nvSpPr>
        <p:spPr>
          <a:xfrm>
            <a:off x="400050" y="476250"/>
            <a:ext cx="11049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>
              <a:defRPr sz="26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pt-BR" sz="2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GEDI mide, el CCI rellena: un muestreo no es un mapa</a:t>
            </a:r>
          </a:p>
        </p:txBody>
      </p:sp>
      <p:pic>
        <p:nvPicPr>
          <p:cNvPr id="38" name="Imagen 3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00050" y="2470000"/>
            <a:ext cx="5619750" cy="2567600"/>
          </a:xfrm>
          <a:prstGeom prst="rect">
            <a:avLst/>
          </a:prstGeom>
        </p:spPr>
      </p:pic>
      <p:sp>
        <p:nvSpPr>
          <p:cNvPr id="6" name="map-b-legend-title">
            <a:extLst>
              <a:ext uri="{FF2B5EF4-FFF2-40B4-BE49-F238E27FC236}">
                <a16:creationId xmlns:a16="http://schemas.microsoft.com/office/drawing/2014/main" id="{2B249800-1104-4431-BF54-931A785A6AA7}"/>
              </a:ext>
            </a:extLst>
          </p:cNvPr>
          <p:cNvSpPr>
            <a:spLocks noGrp="1"/>
          </p:cNvSpPr>
          <p:nvPr/>
        </p:nvSpPr>
        <p:spPr>
          <a:xfrm>
            <a:off x="6019800" y="1590675"/>
            <a:ext cx="104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AGB (Mg/ha)</a:t>
            </a:r>
          </a:p>
        </p:txBody>
      </p:sp>
      <p:sp>
        <p:nvSpPr>
          <p:cNvPr id="7" name="map-b-legend-band-0">
            <a:extLst>
              <a:ext uri="{FF2B5EF4-FFF2-40B4-BE49-F238E27FC236}">
                <a16:creationId xmlns:a16="http://schemas.microsoft.com/office/drawing/2014/main" id="{1099DF83-304A-4B0D-8027-A9C5DC247DB9}"/>
              </a:ext>
            </a:extLst>
          </p:cNvPr>
          <p:cNvSpPr>
            <a:spLocks noGrp="1"/>
          </p:cNvSpPr>
          <p:nvPr/>
        </p:nvSpPr>
        <p:spPr>
          <a:xfrm>
            <a:off x="6191250" y="4619625"/>
            <a:ext cx="209550" cy="338138"/>
          </a:xfrm>
          <a:prstGeom prst="rect">
            <a:avLst/>
          </a:prstGeom>
          <a:solidFill>
            <a:srgbClr val="FFFFE5"/>
          </a:solidFill>
          <a:ln w="0">
            <a:solidFill>
              <a:srgbClr val="FFFFE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map-b-legend-band-1">
            <a:extLst>
              <a:ext uri="{FF2B5EF4-FFF2-40B4-BE49-F238E27FC236}">
                <a16:creationId xmlns:a16="http://schemas.microsoft.com/office/drawing/2014/main" id="{64AD8BA9-59C7-4AB5-B9F0-CAED7C467233}"/>
              </a:ext>
            </a:extLst>
          </p:cNvPr>
          <p:cNvSpPr>
            <a:spLocks noGrp="1"/>
          </p:cNvSpPr>
          <p:nvPr/>
        </p:nvSpPr>
        <p:spPr>
          <a:xfrm>
            <a:off x="6191250" y="4286250"/>
            <a:ext cx="209550" cy="338138"/>
          </a:xfrm>
          <a:prstGeom prst="rect">
            <a:avLst/>
          </a:prstGeom>
          <a:solidFill>
            <a:srgbClr val="F7FCB9"/>
          </a:solidFill>
          <a:ln w="0">
            <a:solidFill>
              <a:srgbClr val="F7FCB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map-b-legend-band-2">
            <a:extLst>
              <a:ext uri="{FF2B5EF4-FFF2-40B4-BE49-F238E27FC236}">
                <a16:creationId xmlns:a16="http://schemas.microsoft.com/office/drawing/2014/main" id="{CA5CACAB-EC67-4F6D-975A-242660057015}"/>
              </a:ext>
            </a:extLst>
          </p:cNvPr>
          <p:cNvSpPr>
            <a:spLocks noGrp="1"/>
          </p:cNvSpPr>
          <p:nvPr/>
        </p:nvSpPr>
        <p:spPr>
          <a:xfrm>
            <a:off x="6191250" y="3952875"/>
            <a:ext cx="209550" cy="338138"/>
          </a:xfrm>
          <a:prstGeom prst="rect">
            <a:avLst/>
          </a:prstGeom>
          <a:solidFill>
            <a:srgbClr val="D9F0A3"/>
          </a:solidFill>
          <a:ln w="0">
            <a:solidFill>
              <a:srgbClr val="D9F0A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map-b-legend-band-3">
            <a:extLst>
              <a:ext uri="{FF2B5EF4-FFF2-40B4-BE49-F238E27FC236}">
                <a16:creationId xmlns:a16="http://schemas.microsoft.com/office/drawing/2014/main" id="{3874B107-76A0-4BDC-A98D-AE1DF05D8046}"/>
              </a:ext>
            </a:extLst>
          </p:cNvPr>
          <p:cNvSpPr>
            <a:spLocks noGrp="1"/>
          </p:cNvSpPr>
          <p:nvPr/>
        </p:nvSpPr>
        <p:spPr>
          <a:xfrm>
            <a:off x="6191250" y="3619500"/>
            <a:ext cx="209550" cy="338138"/>
          </a:xfrm>
          <a:prstGeom prst="rect">
            <a:avLst/>
          </a:prstGeom>
          <a:solidFill>
            <a:srgbClr val="ADDD8E"/>
          </a:solidFill>
          <a:ln w="0">
            <a:solidFill>
              <a:srgbClr val="ADDD8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map-b-legend-band-4">
            <a:extLst>
              <a:ext uri="{FF2B5EF4-FFF2-40B4-BE49-F238E27FC236}">
                <a16:creationId xmlns:a16="http://schemas.microsoft.com/office/drawing/2014/main" id="{E91604F8-C6AD-450D-B62F-2B3189941FBE}"/>
              </a:ext>
            </a:extLst>
          </p:cNvPr>
          <p:cNvSpPr>
            <a:spLocks noGrp="1"/>
          </p:cNvSpPr>
          <p:nvPr/>
        </p:nvSpPr>
        <p:spPr>
          <a:xfrm>
            <a:off x="6191250" y="3286125"/>
            <a:ext cx="209550" cy="338138"/>
          </a:xfrm>
          <a:prstGeom prst="rect">
            <a:avLst/>
          </a:prstGeom>
          <a:solidFill>
            <a:srgbClr val="78C679"/>
          </a:solidFill>
          <a:ln w="0">
            <a:solidFill>
              <a:srgbClr val="78C67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map-b-legend-band-5">
            <a:extLst>
              <a:ext uri="{FF2B5EF4-FFF2-40B4-BE49-F238E27FC236}">
                <a16:creationId xmlns:a16="http://schemas.microsoft.com/office/drawing/2014/main" id="{BF3AD0BB-A0ED-4126-AAB4-34C5A9A1EDDA}"/>
              </a:ext>
            </a:extLst>
          </p:cNvPr>
          <p:cNvSpPr>
            <a:spLocks noGrp="1"/>
          </p:cNvSpPr>
          <p:nvPr/>
        </p:nvSpPr>
        <p:spPr>
          <a:xfrm>
            <a:off x="6191250" y="2952750"/>
            <a:ext cx="209550" cy="338138"/>
          </a:xfrm>
          <a:prstGeom prst="rect">
            <a:avLst/>
          </a:prstGeom>
          <a:solidFill>
            <a:srgbClr val="41AB5D"/>
          </a:solidFill>
          <a:ln w="0">
            <a:solidFill>
              <a:srgbClr val="41AB5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map-b-legend-band-6">
            <a:extLst>
              <a:ext uri="{FF2B5EF4-FFF2-40B4-BE49-F238E27FC236}">
                <a16:creationId xmlns:a16="http://schemas.microsoft.com/office/drawing/2014/main" id="{3215ED24-9055-4B77-8215-5D05550B6FF4}"/>
              </a:ext>
            </a:extLst>
          </p:cNvPr>
          <p:cNvSpPr>
            <a:spLocks noGrp="1"/>
          </p:cNvSpPr>
          <p:nvPr/>
        </p:nvSpPr>
        <p:spPr>
          <a:xfrm>
            <a:off x="6191250" y="2619375"/>
            <a:ext cx="209550" cy="338138"/>
          </a:xfrm>
          <a:prstGeom prst="rect">
            <a:avLst/>
          </a:prstGeom>
          <a:solidFill>
            <a:srgbClr val="238443"/>
          </a:solidFill>
          <a:ln w="0">
            <a:solidFill>
              <a:srgbClr val="23844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map-b-legend-band-7">
            <a:extLst>
              <a:ext uri="{FF2B5EF4-FFF2-40B4-BE49-F238E27FC236}">
                <a16:creationId xmlns:a16="http://schemas.microsoft.com/office/drawing/2014/main" id="{0C987469-0AFE-42DB-AE40-C73A28D3F94C}"/>
              </a:ext>
            </a:extLst>
          </p:cNvPr>
          <p:cNvSpPr>
            <a:spLocks noGrp="1"/>
          </p:cNvSpPr>
          <p:nvPr/>
        </p:nvSpPr>
        <p:spPr>
          <a:xfrm>
            <a:off x="6191250" y="2286000"/>
            <a:ext cx="209550" cy="338138"/>
          </a:xfrm>
          <a:prstGeom prst="rect">
            <a:avLst/>
          </a:prstGeom>
          <a:solidFill>
            <a:srgbClr val="006837"/>
          </a:solidFill>
          <a:ln w="0">
            <a:solidFill>
              <a:srgbClr val="00683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map-b-legend-band-8">
            <a:extLst>
              <a:ext uri="{FF2B5EF4-FFF2-40B4-BE49-F238E27FC236}">
                <a16:creationId xmlns:a16="http://schemas.microsoft.com/office/drawing/2014/main" id="{584BB77B-A1FD-4500-84C6-E1F48D4ED157}"/>
              </a:ext>
            </a:extLst>
          </p:cNvPr>
          <p:cNvSpPr>
            <a:spLocks noGrp="1"/>
          </p:cNvSpPr>
          <p:nvPr/>
        </p:nvSpPr>
        <p:spPr>
          <a:xfrm>
            <a:off x="6191250" y="1952625"/>
            <a:ext cx="209550" cy="338138"/>
          </a:xfrm>
          <a:prstGeom prst="rect">
            <a:avLst/>
          </a:prstGeom>
          <a:solidFill>
            <a:srgbClr val="004529"/>
          </a:solidFill>
          <a:ln w="0">
            <a:solidFill>
              <a:srgbClr val="00452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map-b-legend-tick-0">
            <a:extLst>
              <a:ext uri="{FF2B5EF4-FFF2-40B4-BE49-F238E27FC236}">
                <a16:creationId xmlns:a16="http://schemas.microsoft.com/office/drawing/2014/main" id="{6501D183-EC51-40F1-A3C3-57C97E7A4AE2}"/>
              </a:ext>
            </a:extLst>
          </p:cNvPr>
          <p:cNvSpPr>
            <a:spLocks noGrp="1"/>
          </p:cNvSpPr>
          <p:nvPr/>
        </p:nvSpPr>
        <p:spPr>
          <a:xfrm>
            <a:off x="6477000" y="4867275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defRPr sz="9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111111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7" name="map-b-legend-tick-1">
            <a:extLst>
              <a:ext uri="{FF2B5EF4-FFF2-40B4-BE49-F238E27FC236}">
                <a16:creationId xmlns:a16="http://schemas.microsoft.com/office/drawing/2014/main" id="{192F5D42-F7C8-4B8C-AF9D-BB72AE28BA73}"/>
              </a:ext>
            </a:extLst>
          </p:cNvPr>
          <p:cNvSpPr>
            <a:spLocks noGrp="1"/>
          </p:cNvSpPr>
          <p:nvPr/>
        </p:nvSpPr>
        <p:spPr>
          <a:xfrm>
            <a:off x="6477000" y="4533900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defRPr sz="9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111111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18" name="map-b-legend-tick-2">
            <a:extLst>
              <a:ext uri="{FF2B5EF4-FFF2-40B4-BE49-F238E27FC236}">
                <a16:creationId xmlns:a16="http://schemas.microsoft.com/office/drawing/2014/main" id="{18DFF9A0-37EF-4732-86D9-8C1E3EEA2C34}"/>
              </a:ext>
            </a:extLst>
          </p:cNvPr>
          <p:cNvSpPr>
            <a:spLocks noGrp="1"/>
          </p:cNvSpPr>
          <p:nvPr/>
        </p:nvSpPr>
        <p:spPr>
          <a:xfrm>
            <a:off x="6477000" y="4200525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defRPr sz="9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111111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19" name="map-b-legend-tick-3">
            <a:extLst>
              <a:ext uri="{FF2B5EF4-FFF2-40B4-BE49-F238E27FC236}">
                <a16:creationId xmlns:a16="http://schemas.microsoft.com/office/drawing/2014/main" id="{B8760E27-7DD2-4296-AA43-A7DADE6E8BB5}"/>
              </a:ext>
            </a:extLst>
          </p:cNvPr>
          <p:cNvSpPr>
            <a:spLocks noGrp="1"/>
          </p:cNvSpPr>
          <p:nvPr/>
        </p:nvSpPr>
        <p:spPr>
          <a:xfrm>
            <a:off x="6477000" y="3867150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defRPr sz="9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111111"/>
                </a:solidFill>
                <a:latin typeface="Arial"/>
                <a:ea typeface="Arial"/>
                <a:cs typeface="Arial"/>
              </a:rPr>
              <a:t>75</a:t>
            </a:r>
          </a:p>
        </p:txBody>
      </p:sp>
      <p:sp>
        <p:nvSpPr>
          <p:cNvPr id="20" name="map-b-legend-tick-4">
            <a:extLst>
              <a:ext uri="{FF2B5EF4-FFF2-40B4-BE49-F238E27FC236}">
                <a16:creationId xmlns:a16="http://schemas.microsoft.com/office/drawing/2014/main" id="{E17BB4F1-DD04-44FA-AC23-A94B7E341F04}"/>
              </a:ext>
            </a:extLst>
          </p:cNvPr>
          <p:cNvSpPr>
            <a:spLocks noGrp="1"/>
          </p:cNvSpPr>
          <p:nvPr/>
        </p:nvSpPr>
        <p:spPr>
          <a:xfrm>
            <a:off x="6477000" y="3533775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defRPr sz="9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111111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21" name="map-b-legend-tick-5">
            <a:extLst>
              <a:ext uri="{FF2B5EF4-FFF2-40B4-BE49-F238E27FC236}">
                <a16:creationId xmlns:a16="http://schemas.microsoft.com/office/drawing/2014/main" id="{244C0EBC-2EB7-4AE1-8150-546547A01BC8}"/>
              </a:ext>
            </a:extLst>
          </p:cNvPr>
          <p:cNvSpPr>
            <a:spLocks noGrp="1"/>
          </p:cNvSpPr>
          <p:nvPr/>
        </p:nvSpPr>
        <p:spPr>
          <a:xfrm>
            <a:off x="6477000" y="3200400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defRPr sz="9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111111"/>
                </a:solidFill>
                <a:latin typeface="Arial"/>
                <a:ea typeface="Arial"/>
                <a:cs typeface="Arial"/>
              </a:rPr>
              <a:t>125</a:t>
            </a:r>
          </a:p>
        </p:txBody>
      </p:sp>
      <p:sp>
        <p:nvSpPr>
          <p:cNvPr id="22" name="map-b-legend-tick-6">
            <a:extLst>
              <a:ext uri="{FF2B5EF4-FFF2-40B4-BE49-F238E27FC236}">
                <a16:creationId xmlns:a16="http://schemas.microsoft.com/office/drawing/2014/main" id="{9A13717D-8FCF-4CA2-8E9D-FC139F7B4A0A}"/>
              </a:ext>
            </a:extLst>
          </p:cNvPr>
          <p:cNvSpPr>
            <a:spLocks noGrp="1"/>
          </p:cNvSpPr>
          <p:nvPr/>
        </p:nvSpPr>
        <p:spPr>
          <a:xfrm>
            <a:off x="6477000" y="2867025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defRPr sz="9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111111"/>
                </a:solidFill>
                <a:latin typeface="Arial"/>
                <a:ea typeface="Arial"/>
                <a:cs typeface="Arial"/>
              </a:rPr>
              <a:t>150</a:t>
            </a:r>
          </a:p>
        </p:txBody>
      </p:sp>
      <p:sp>
        <p:nvSpPr>
          <p:cNvPr id="23" name="map-b-legend-tick-7">
            <a:extLst>
              <a:ext uri="{FF2B5EF4-FFF2-40B4-BE49-F238E27FC236}">
                <a16:creationId xmlns:a16="http://schemas.microsoft.com/office/drawing/2014/main" id="{213E6CEC-1756-4905-8E3F-8CDB7E4FD045}"/>
              </a:ext>
            </a:extLst>
          </p:cNvPr>
          <p:cNvSpPr>
            <a:spLocks noGrp="1"/>
          </p:cNvSpPr>
          <p:nvPr/>
        </p:nvSpPr>
        <p:spPr>
          <a:xfrm>
            <a:off x="6477000" y="2533650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defRPr sz="9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111111"/>
                </a:solidFill>
                <a:latin typeface="Arial"/>
                <a:ea typeface="Arial"/>
                <a:cs typeface="Arial"/>
              </a:rPr>
              <a:t>200</a:t>
            </a:r>
          </a:p>
        </p:txBody>
      </p:sp>
      <p:sp>
        <p:nvSpPr>
          <p:cNvPr id="24" name="map-b-legend-tick-8">
            <a:extLst>
              <a:ext uri="{FF2B5EF4-FFF2-40B4-BE49-F238E27FC236}">
                <a16:creationId xmlns:a16="http://schemas.microsoft.com/office/drawing/2014/main" id="{EAE17076-B6FA-457D-8D87-D8E809BBAEE2}"/>
              </a:ext>
            </a:extLst>
          </p:cNvPr>
          <p:cNvSpPr>
            <a:spLocks noGrp="1"/>
          </p:cNvSpPr>
          <p:nvPr/>
        </p:nvSpPr>
        <p:spPr>
          <a:xfrm>
            <a:off x="6477000" y="2200275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defRPr sz="9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111111"/>
                </a:solidFill>
                <a:latin typeface="Arial"/>
                <a:ea typeface="Arial"/>
                <a:cs typeface="Arial"/>
              </a:rPr>
              <a:t>250</a:t>
            </a:r>
          </a:p>
        </p:txBody>
      </p:sp>
      <p:sp>
        <p:nvSpPr>
          <p:cNvPr id="25" name="map-b-legend-tick-9">
            <a:extLst>
              <a:ext uri="{FF2B5EF4-FFF2-40B4-BE49-F238E27FC236}">
                <a16:creationId xmlns:a16="http://schemas.microsoft.com/office/drawing/2014/main" id="{E2D18BFC-1618-45B6-9992-B07B4818B513}"/>
              </a:ext>
            </a:extLst>
          </p:cNvPr>
          <p:cNvSpPr>
            <a:spLocks noGrp="1"/>
          </p:cNvSpPr>
          <p:nvPr/>
        </p:nvSpPr>
        <p:spPr>
          <a:xfrm>
            <a:off x="6477000" y="1866900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defRPr sz="9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111111"/>
                </a:solidFill>
                <a:latin typeface="Arial"/>
                <a:ea typeface="Arial"/>
                <a:cs typeface="Arial"/>
              </a:rPr>
              <a:t>350</a:t>
            </a:r>
          </a:p>
        </p:txBody>
      </p:sp>
      <p:sp>
        <p:nvSpPr>
          <p:cNvPr id="26" name="map-b-native-label">
            <a:extLst>
              <a:ext uri="{FF2B5EF4-FFF2-40B4-BE49-F238E27FC236}">
                <a16:creationId xmlns:a16="http://schemas.microsoft.com/office/drawing/2014/main" id="{1FBB8686-78A3-4CB7-99E6-EBD4FC864490}"/>
              </a:ext>
            </a:extLst>
          </p:cNvPr>
          <p:cNvSpPr>
            <a:spLocks noGrp="1"/>
          </p:cNvSpPr>
          <p:nvPr/>
        </p:nvSpPr>
        <p:spPr>
          <a:xfrm>
            <a:off x="7048500" y="2143125"/>
            <a:ext cx="190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defRPr sz="1350" b="1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F6670"/>
                </a:solidFill>
                <a:latin typeface="Arial"/>
                <a:ea typeface="Arial"/>
                <a:cs typeface="Arial"/>
              </a:rPr>
              <a:t>LA MISMA ESCALA</a:t>
            </a:r>
          </a:p>
        </p:txBody>
      </p:sp>
      <p:sp>
        <p:nvSpPr>
          <p:cNvPr id="27" name="map-b-native-value">
            <a:extLst>
              <a:ext uri="{FF2B5EF4-FFF2-40B4-BE49-F238E27FC236}">
                <a16:creationId xmlns:a16="http://schemas.microsoft.com/office/drawing/2014/main" id="{8C5807ED-B27B-4971-92DD-8865FF9E42DE}"/>
              </a:ext>
            </a:extLst>
          </p:cNvPr>
          <p:cNvSpPr>
            <a:spLocks noGrp="1"/>
          </p:cNvSpPr>
          <p:nvPr/>
        </p:nvSpPr>
        <p:spPr>
          <a:xfrm>
            <a:off x="7048500" y="2571750"/>
            <a:ext cx="2000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defRPr sz="2625" b="1">
                <a:solidFill>
                  <a:srgbClr val="1B6B4A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B6B4A"/>
                </a:solidFill>
                <a:latin typeface="Arial"/>
                <a:ea typeface="Arial"/>
                <a:cs typeface="Arial"/>
              </a:rPr>
              <a:t>0–350 Mg/ha</a:t>
            </a:r>
          </a:p>
        </p:txBody>
      </p:sp>
      <p:sp>
        <p:nvSpPr>
          <p:cNvPr id="28" name="map-b-native-note">
            <a:extLst>
              <a:ext uri="{FF2B5EF4-FFF2-40B4-BE49-F238E27FC236}">
                <a16:creationId xmlns:a16="http://schemas.microsoft.com/office/drawing/2014/main" id="{BF42B066-888B-49B5-B631-54362D692E79}"/>
              </a:ext>
            </a:extLst>
          </p:cNvPr>
          <p:cNvSpPr>
            <a:spLocks noGrp="1"/>
          </p:cNvSpPr>
          <p:nvPr/>
        </p:nvSpPr>
        <p:spPr>
          <a:xfrm>
            <a:off x="7048500" y="3333750"/>
            <a:ext cx="1905000" cy="1190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defRPr sz="150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F6670"/>
                </a:solidFill>
                <a:latin typeface="Arial"/>
                <a:ea typeface="Arial"/>
                <a:cs typeface="Arial"/>
              </a:rPr>
              <a:t>GEDI: mediana por celda de 500 m (≥3 huellas). CCI 2024: su píxel nativo de 100 m. Misma paleta, mismos cortes.</a:t>
            </a:r>
          </a:p>
        </p:txBody>
      </p:sp>
      <p:sp>
        <p:nvSpPr>
          <p:cNvPr id="29" name="map-b-mean-bg">
            <a:extLst>
              <a:ext uri="{FF2B5EF4-FFF2-40B4-BE49-F238E27FC236}">
                <a16:creationId xmlns:a16="http://schemas.microsoft.com/office/drawing/2014/main" id="{4500F42D-6BFC-4EFF-ABCA-B6D4E7C3F822}"/>
              </a:ext>
            </a:extLst>
          </p:cNvPr>
          <p:cNvSpPr>
            <a:spLocks noGrp="1"/>
          </p:cNvSpPr>
          <p:nvPr/>
        </p:nvSpPr>
        <p:spPr>
          <a:xfrm>
            <a:off x="9429750" y="1428750"/>
            <a:ext cx="2362200" cy="1476375"/>
          </a:xfrm>
          <a:prstGeom prst="rect">
            <a:avLst/>
          </a:prstGeom>
          <a:solidFill>
            <a:srgbClr val="DDEFE7"/>
          </a:solidFill>
          <a:ln w="0">
            <a:solidFill>
              <a:srgbClr val="DDEFE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0" name="map-b-mean-value">
            <a:extLst>
              <a:ext uri="{FF2B5EF4-FFF2-40B4-BE49-F238E27FC236}">
                <a16:creationId xmlns:a16="http://schemas.microsoft.com/office/drawing/2014/main" id="{57145127-08A4-4C5C-AD60-F4FB66E75C07}"/>
              </a:ext>
            </a:extLst>
          </p:cNvPr>
          <p:cNvSpPr>
            <a:spLocks noGrp="1"/>
          </p:cNvSpPr>
          <p:nvPr/>
        </p:nvSpPr>
        <p:spPr>
          <a:xfrm>
            <a:off x="9639300" y="1657350"/>
            <a:ext cx="19431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defRPr sz="3225" b="1">
                <a:solidFill>
                  <a:srgbClr val="1B6B4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B6B4A"/>
                </a:solidFill>
                <a:latin typeface="Arial"/>
                <a:ea typeface="Arial"/>
                <a:cs typeface="Arial"/>
              </a:rPr>
              <a:t>×3</a:t>
            </a:r>
          </a:p>
        </p:txBody>
      </p:sp>
      <p:sp>
        <p:nvSpPr>
          <p:cNvPr id="31" name="map-b-mean-label">
            <a:extLst>
              <a:ext uri="{FF2B5EF4-FFF2-40B4-BE49-F238E27FC236}">
                <a16:creationId xmlns:a16="http://schemas.microsoft.com/office/drawing/2014/main" id="{6435B4D7-2588-4128-AFE5-0C98D221EC83}"/>
              </a:ext>
            </a:extLst>
          </p:cNvPr>
          <p:cNvSpPr>
            <a:spLocks noGrp="1"/>
          </p:cNvSpPr>
          <p:nvPr/>
        </p:nvSpPr>
        <p:spPr>
          <a:xfrm>
            <a:off x="9639300" y="2409825"/>
            <a:ext cx="19431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defRPr sz="165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5F6670"/>
                </a:solidFill>
                <a:latin typeface="Arial"/>
                <a:ea typeface="Arial"/>
                <a:cs typeface="Arial"/>
              </a:rPr>
              <a:t>el stock heredado por quien tome el mapa continuo como verdad acá: 130,0 contra 44,3 Mg/ha de media</a:t>
            </a:r>
          </a:p>
        </p:txBody>
      </p:sp>
      <p:sp>
        <p:nvSpPr>
          <p:cNvPr id="32" name="map-b-note">
            <a:extLst>
              <a:ext uri="{FF2B5EF4-FFF2-40B4-BE49-F238E27FC236}">
                <a16:creationId xmlns:a16="http://schemas.microsoft.com/office/drawing/2014/main" id="{5D63AE0F-1F41-453B-B3A4-4066F0392C3F}"/>
              </a:ext>
            </a:extLst>
          </p:cNvPr>
          <p:cNvSpPr>
            <a:spLocks noGrp="1"/>
          </p:cNvSpPr>
          <p:nvPr/>
        </p:nvSpPr>
        <p:spPr>
          <a:xfrm>
            <a:off x="9429750" y="3286125"/>
            <a:ext cx="23622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defRPr sz="150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F6670"/>
                </a:solidFill>
                <a:latin typeface="Arial"/>
                <a:ea typeface="Arial"/>
                <a:cs typeface="Arial"/>
              </a:rPr>
              <a:t>Donde ambos ven lo mismo — la lenga alta — coinciden: 175,0 contra 174,5 Mg/ha. Donde nadie podía controlar, el CCI infla ×2 o más: eso sólo se sabe gracias a GEDI.</a:t>
            </a:r>
          </a:p>
        </p:txBody>
      </p:sp>
      <p:sp>
        <p:nvSpPr>
          <p:cNvPr id="33" name="map-b-scale">
            <a:extLst>
              <a:ext uri="{FF2B5EF4-FFF2-40B4-BE49-F238E27FC236}">
                <a16:creationId xmlns:a16="http://schemas.microsoft.com/office/drawing/2014/main" id="{D9B85D74-D814-4909-A837-9E7119290683}"/>
              </a:ext>
            </a:extLst>
          </p:cNvPr>
          <p:cNvSpPr>
            <a:spLocks noGrp="1"/>
          </p:cNvSpPr>
          <p:nvPr/>
        </p:nvSpPr>
        <p:spPr>
          <a:xfrm>
            <a:off x="9429750" y="4857750"/>
            <a:ext cx="23622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defRPr sz="1575" b="1">
                <a:solidFill>
                  <a:srgbClr val="1B6B4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B6B4A"/>
                </a:solidFill>
                <a:latin typeface="Arial"/>
                <a:ea typeface="Arial"/>
                <a:cs typeface="Arial"/>
              </a:rPr>
              <a:t>El TP5 construye el mapa continuo a partir de GEDI.</a:t>
            </a:r>
          </a:p>
        </p:txBody>
      </p:sp>
      <p:sp>
        <p:nvSpPr>
          <p:cNvPr id="39" name="footer-left"/>
          <p:cNvSpPr txBox="1"/>
          <p:nvPr/>
        </p:nvSpPr>
        <p:spPr>
          <a:xfrm>
            <a:off x="400050" y="6248400"/>
            <a:ext cx="35000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s-ES" sz="1000" dirty="0">
                <a:solidFill>
                  <a:srgbClr val="7A7A7A"/>
                </a:solidFill>
                <a:latin typeface="Arial"/>
                <a:ea typeface="Arial"/>
                <a:cs typeface="Arial"/>
              </a:rPr>
              <a:t>CCI BIOMASS v7.0</a:t>
            </a:r>
          </a:p>
        </p:txBody>
      </p:sp>
      <p:sp>
        <p:nvSpPr>
          <p:cNvPr id="40" name="footer-center"/>
          <p:cNvSpPr txBox="1"/>
          <p:nvPr/>
        </p:nvSpPr>
        <p:spPr>
          <a:xfrm>
            <a:off x="4200000" y="6248400"/>
            <a:ext cx="37000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s-ES" sz="1000" dirty="0">
                <a:solidFill>
                  <a:srgbClr val="7A7A7A"/>
                </a:solidFill>
                <a:latin typeface="Arial"/>
                <a:ea typeface="Arial"/>
                <a:cs typeface="Arial"/>
              </a:rPr>
              <a:t>Héctor Francisco del Valle</a:t>
            </a:r>
          </a:p>
        </p:txBody>
      </p:sp>
      <p:sp>
        <p:nvSpPr>
          <p:cNvPr id="41" name="footer-right"/>
          <p:cNvSpPr txBox="1"/>
          <p:nvPr/>
        </p:nvSpPr>
        <p:spPr>
          <a:xfrm>
            <a:off x="8100000" y="6248400"/>
            <a:ext cx="36919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s-ES" sz="1000">
                <a:solidFill>
                  <a:srgbClr val="7A7A7A"/>
                </a:solidFill>
                <a:latin typeface="Arial"/>
                <a:ea typeface="Arial"/>
                <a:cs typeface="Arial"/>
              </a:rPr>
              <a:t>25/27</a:t>
            </a:r>
            <a:endParaRPr lang="es-ES" sz="1000" dirty="0">
              <a:solidFill>
                <a:srgbClr val="7A7A7A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8068299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Calibri Light"/>
        <a:cs typeface="Calibri Light"/>
      </a:majorFont>
      <a:minorFont>
        <a:latin typeface="Arial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Calibri Light"/>
        <a:cs typeface="Calibri Light"/>
      </a:majorFont>
      <a:minorFont>
        <a:latin typeface="Arial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3242</Words>
  <Application>Microsoft Office PowerPoint</Application>
  <DocSecurity>0</DocSecurity>
  <PresentationFormat>Panorámica</PresentationFormat>
  <Paragraphs>798</Paragraphs>
  <Slides>26</Slides>
  <Notes>23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26</vt:i4>
      </vt:variant>
    </vt:vector>
  </HeadingPairs>
  <TitlesOfParts>
    <vt:vector size="28" baseType="lpstr">
      <vt:lpstr>Arial</vt:lpstr>
      <vt:lpstr>ChatGPT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Hector Francisco del Valle</cp:lastModifiedBy>
  <cp:revision>6</cp:revision>
  <dcterms:created xsi:type="dcterms:W3CDTF">2026-08-22T12:16:29Z</dcterms:created>
  <dcterms:modified xsi:type="dcterms:W3CDTF">2026-08-24T23:55:13Z</dcterms:modified>
</cp:coreProperties>
</file>