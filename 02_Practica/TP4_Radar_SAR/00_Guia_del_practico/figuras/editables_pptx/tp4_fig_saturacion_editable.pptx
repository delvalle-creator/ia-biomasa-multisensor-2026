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28101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4_fig_saturacion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28101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38218" y="1151203"/>
            <a:ext cx="1064711" cy="3549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555555"/>
                </a:solidFill>
                <a:latin typeface="Times New Roman"/>
              </a:rPr>
              <a:t>la banda C es PLANA:</a:t>
            </a:r>
          </a:p>
          <a:p>
            <a:pPr algn="ctr"/>
            <a:r>
              <a:rPr sz="450" b="0">
                <a:solidFill>
                  <a:srgbClr val="555555"/>
                </a:solidFill>
                <a:latin typeface="Times New Roman"/>
              </a:rPr>
              <a:t>medio dB en 25 m de árbol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8925" y="2217374"/>
            <a:ext cx="1465000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altura del dosel medida por GEDI, rh95 (m)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207" y="2133974"/>
            <a:ext cx="146824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3915" y="2133974"/>
            <a:ext cx="18657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7728" y="2133974"/>
            <a:ext cx="186110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1078" y="2133974"/>
            <a:ext cx="18657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4892" y="2133974"/>
            <a:ext cx="186110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-369678" y="1274178"/>
            <a:ext cx="93532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γ⁰ mediano por franja (dB)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56" y="2006263"/>
            <a:ext cx="23787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956" y="1735351"/>
            <a:ext cx="23787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18" y="1464439"/>
            <a:ext cx="237414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956" y="1193526"/>
            <a:ext cx="23787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956" y="922614"/>
            <a:ext cx="23787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956" y="651702"/>
            <a:ext cx="23787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530" y="423215"/>
            <a:ext cx="1479790" cy="117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Cada sensor contra la altura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101" y="2397819"/>
            <a:ext cx="1122052" cy="96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Sentinel-1 VH · banda C  (gana 0,5 dB)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101" y="2476706"/>
            <a:ext cx="1114657" cy="96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Sentinel-1 VV · banda C  (gana 0,6 dB)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101" y="2555594"/>
            <a:ext cx="1025454" cy="96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NISAR HV · banda L  (gana 2,0 dB)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657" y="2397819"/>
            <a:ext cx="1111884" cy="96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PALSAR-2 HV · banda L  (gana 2,1 dB)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7657" y="2476706"/>
            <a:ext cx="1097556" cy="96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SAOCOM HV · banda L  (gana 1,9 dB)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5306" y="538453"/>
            <a:ext cx="1722188" cy="2447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2D6A4F"/>
                </a:solidFill>
                <a:latin typeface="Times New Roman"/>
              </a:rPr>
              <a:t>el NDVI se aplana:</a:t>
            </a:r>
          </a:p>
          <a:p>
            <a:pPr algn="ctr"/>
            <a:r>
              <a:rPr sz="450" b="0">
                <a:solidFill>
                  <a:srgbClr val="2D6A4F"/>
                </a:solidFill>
                <a:latin typeface="Times New Roman"/>
              </a:rPr>
              <a:t>0,897 → 0,893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1687" y="859911"/>
            <a:ext cx="559100" cy="180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92400E"/>
                </a:solidFill>
                <a:latin typeface="Times New Roman"/>
              </a:rPr>
              <a:t>aquí el óptico</a:t>
            </a:r>
          </a:p>
          <a:p>
            <a:pPr algn="ctr"/>
            <a:r>
              <a:rPr sz="450" b="1">
                <a:solidFill>
                  <a:srgbClr val="92400E"/>
                </a:solidFill>
                <a:latin typeface="Times New Roman"/>
              </a:rPr>
              <a:t>ya no 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8576" y="2217374"/>
            <a:ext cx="1465000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altura del dosel medida por GEDI, rh95 (m)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5690" y="2133974"/>
            <a:ext cx="146824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24873" y="2133974"/>
            <a:ext cx="18657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4162" y="2133974"/>
            <a:ext cx="186110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2988" y="2133974"/>
            <a:ext cx="18657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2276" y="2133974"/>
            <a:ext cx="186110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1102" y="2133974"/>
            <a:ext cx="18657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30</a:t>
            </a:r>
          </a:p>
        </p:txBody>
      </p:sp>
      <p:sp>
        <p:nvSpPr>
          <p:cNvPr id="32" name="TextBox 31"/>
          <p:cNvSpPr txBox="1"/>
          <p:nvPr/>
        </p:nvSpPr>
        <p:spPr>
          <a:xfrm rot="16200000">
            <a:off x="2409573" y="1274178"/>
            <a:ext cx="941334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NDVI (mediana por franja)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78211" y="1947204"/>
            <a:ext cx="245271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0.70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78674" y="1630237"/>
            <a:ext cx="244809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0.75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78211" y="1313269"/>
            <a:ext cx="245271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0.80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78674" y="996302"/>
            <a:ext cx="244809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0.85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78674" y="679335"/>
            <a:ext cx="244809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0.90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3994" y="423215"/>
            <a:ext cx="1634163" cy="117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El resultado del curso, en una figura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1460" y="2400130"/>
            <a:ext cx="628892" cy="986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NDVI (TP3, óptico)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181" y="2400130"/>
            <a:ext cx="890493" cy="986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γ⁰ HV NISAR (TP4, banda 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00066" y="697821"/>
            <a:ext cx="1305522" cy="12011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A50F15"/>
                </a:solidFill>
                <a:latin typeface="Times New Roman"/>
              </a:rPr>
              <a:t>banda L, medianas por franja:</a:t>
            </a:r>
          </a:p>
          <a:p>
            <a:pPr algn="ctr"/>
            <a:r>
              <a:rPr sz="450" b="0">
                <a:solidFill>
                  <a:srgbClr val="A50F15"/>
                </a:solidFill>
                <a:latin typeface="Times New Roman"/>
              </a:rPr>
              <a:t>−11,45 → −11,18 → −11,45 dB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5690" y="2133974"/>
            <a:ext cx="146824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24873" y="2133974"/>
            <a:ext cx="18657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84162" y="2133974"/>
            <a:ext cx="186110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42988" y="2133974"/>
            <a:ext cx="18657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2276" y="2133974"/>
            <a:ext cx="186110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1102" y="2133974"/>
            <a:ext cx="18657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30</a:t>
            </a:r>
          </a:p>
        </p:txBody>
      </p:sp>
      <p:sp>
        <p:nvSpPr>
          <p:cNvPr id="48" name="TextBox 47"/>
          <p:cNvSpPr txBox="1"/>
          <p:nvPr/>
        </p:nvSpPr>
        <p:spPr>
          <a:xfrm rot="16200000">
            <a:off x="5413980" y="1274178"/>
            <a:ext cx="438468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γ⁰ HV (dB)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38668" y="1902658"/>
            <a:ext cx="29611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−14.5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38668" y="1688490"/>
            <a:ext cx="296574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−14.0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38668" y="1474323"/>
            <a:ext cx="29611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−13.5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8668" y="1260156"/>
            <a:ext cx="296574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−13.0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38668" y="1045989"/>
            <a:ext cx="29611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−12.5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38668" y="831822"/>
            <a:ext cx="296574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−12.0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38668" y="617654"/>
            <a:ext cx="29611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−11.5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50938" y="34602"/>
            <a:ext cx="3429322" cy="1300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Por qué la banda L y no la C — medido con 690 huellas GEDI del bosque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