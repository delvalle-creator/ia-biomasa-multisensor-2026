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731200" cy="5731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p4_fig_composicion_radar_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31200" cy="5731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3790" y="3227171"/>
            <a:ext cx="1815523" cy="1279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Times New Roman"/>
              </a:rPr>
              <a:t>verde = HV alto = volumen de ramas</a:t>
            </a:r>
          </a:p>
        </p:txBody>
      </p:sp>
      <p:sp>
        <p:nvSpPr>
          <p:cNvPr id="4" name="TextBox 3"/>
          <p:cNvSpPr txBox="1"/>
          <p:nvPr/>
        </p:nvSpPr>
        <p:spPr>
          <a:xfrm rot="16200000">
            <a:off x="115844" y="2220794"/>
            <a:ext cx="538462" cy="14287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Times New Roman"/>
              </a:rPr>
              <a:t>Bosque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1800" y="1072810"/>
            <a:ext cx="1514635" cy="1329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Times New Roman"/>
              </a:rPr>
              <a:t>SAOCOM-1B · 10/01/2026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12563" y="1072810"/>
            <a:ext cx="1180731" cy="1329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Times New Roman"/>
              </a:rPr>
              <a:t>NISAR · 08/01/2026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3790" y="5489915"/>
            <a:ext cx="1747621" cy="12792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FFFFFF"/>
                </a:solidFill>
                <a:latin typeface="Times New Roman"/>
              </a:rPr>
              <a:t>azul/violeta = poco HV = superficie</a:t>
            </a:r>
          </a:p>
        </p:txBody>
      </p:sp>
      <p:sp>
        <p:nvSpPr>
          <p:cNvPr id="8" name="TextBox 7"/>
          <p:cNvSpPr txBox="1"/>
          <p:nvPr/>
        </p:nvSpPr>
        <p:spPr>
          <a:xfrm rot="16200000">
            <a:off x="135155" y="4483538"/>
            <a:ext cx="499839" cy="14287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Times New Roman"/>
              </a:rPr>
              <a:t>Estepa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8894" y="93024"/>
            <a:ext cx="3793410" cy="3850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Times New Roman"/>
              </a:rPr>
              <a:t>Composición en falso color de radar</a:t>
            </a:r>
          </a:p>
          <a:p>
            <a:pPr algn="ctr"/>
            <a:r>
              <a:rPr sz="800" b="1">
                <a:solidFill>
                  <a:srgbClr val="000000"/>
                </a:solidFill>
                <a:latin typeface="Times New Roman"/>
              </a:rPr>
              <a:t>R = γ⁰ HH   ·   G = γ⁰ HV   ·   B = HH − HV</a:t>
            </a:r>
          </a:p>
          <a:p>
            <a:pPr algn="ctr"/>
            <a:r>
              <a:rPr sz="800" b="1">
                <a:solidFill>
                  <a:srgbClr val="000000"/>
                </a:solidFill>
                <a:latin typeface="Times New Roman"/>
              </a:rPr>
              <a:t>escala común a los cuatro paneles, sin recorte en ningún canal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