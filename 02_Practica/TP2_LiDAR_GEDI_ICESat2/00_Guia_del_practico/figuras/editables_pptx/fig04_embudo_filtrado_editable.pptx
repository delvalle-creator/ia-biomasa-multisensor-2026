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731200" cy="273618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04_embudo_filtrado_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31200" cy="273618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44063" y="804867"/>
            <a:ext cx="316449" cy="109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Times New Roman"/>
              </a:rPr>
              <a:t>6.288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7970" y="782312"/>
            <a:ext cx="566496" cy="1548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Disparos dentro</a:t>
            </a:r>
          </a:p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del AOI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84711" y="812262"/>
            <a:ext cx="342332" cy="949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555555"/>
                </a:solidFill>
                <a:latin typeface="Times New Roman"/>
              </a:rPr>
              <a:t>100,0 %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9790" y="977513"/>
            <a:ext cx="316449" cy="949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A50F15"/>
                </a:solidFill>
                <a:latin typeface="Times New Roman"/>
              </a:rPr>
              <a:t>−3.466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4063" y="1198320"/>
            <a:ext cx="316449" cy="109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Times New Roman"/>
              </a:rPr>
              <a:t>2.822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4" y="1175765"/>
            <a:ext cx="565571" cy="1548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Pasan calidad</a:t>
            </a:r>
          </a:p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(forma de onda)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4711" y="1205715"/>
            <a:ext cx="306281" cy="949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555555"/>
                </a:solidFill>
                <a:latin typeface="Times New Roman"/>
              </a:rPr>
              <a:t>44,9 %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9790" y="1370966"/>
            <a:ext cx="316911" cy="949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A50F15"/>
                </a:solidFill>
                <a:latin typeface="Times New Roman"/>
              </a:rPr>
              <a:t>−1.641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063" y="1591773"/>
            <a:ext cx="316449" cy="109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Times New Roman"/>
              </a:rPr>
              <a:t>1.181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162" y="1565151"/>
            <a:ext cx="648304" cy="163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Pasan degradación</a:t>
            </a:r>
          </a:p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(puntería u órbita)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4711" y="1599168"/>
            <a:ext cx="305356" cy="949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555555"/>
                </a:solidFill>
                <a:latin typeface="Times New Roman"/>
              </a:rPr>
              <a:t>18,8 %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790" y="1764419"/>
            <a:ext cx="262834" cy="949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A50F15"/>
                </a:solidFill>
                <a:latin typeface="Times New Roman"/>
              </a:rPr>
              <a:t>−156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3601" y="1985227"/>
            <a:ext cx="317373" cy="109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Times New Roman"/>
              </a:rPr>
              <a:t>1.025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46" y="1960453"/>
            <a:ext cx="756919" cy="1593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Pasan sensibilidad</a:t>
            </a:r>
          </a:p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(el láser llegó al suelo)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84711" y="1992622"/>
            <a:ext cx="305818" cy="949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555555"/>
                </a:solidFill>
                <a:latin typeface="Times New Roman"/>
              </a:rPr>
              <a:t>16,3 %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9790" y="2157872"/>
            <a:ext cx="261910" cy="949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A50F15"/>
                </a:solidFill>
                <a:latin typeface="Times New Roman"/>
              </a:rPr>
              <a:t>−335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78728" y="2378680"/>
            <a:ext cx="247120" cy="109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Times New Roman"/>
              </a:rPr>
              <a:t>690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5363" y="2350925"/>
            <a:ext cx="669102" cy="1652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Pasan pendiente</a:t>
            </a:r>
          </a:p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(≤ 20°) = VÁLIDOS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84711" y="2386075"/>
            <a:ext cx="306281" cy="949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555555"/>
                </a:solidFill>
                <a:latin typeface="Times New Roman"/>
              </a:rPr>
              <a:t>11,0 %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8611" y="2683978"/>
            <a:ext cx="147286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625" y="2683978"/>
            <a:ext cx="147286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2638" y="2683978"/>
            <a:ext cx="147286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74883" y="2683978"/>
            <a:ext cx="146824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66665" y="2683978"/>
            <a:ext cx="147286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39035" y="2683978"/>
            <a:ext cx="186572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3020" y="814111"/>
            <a:ext cx="147286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3020" y="1207564"/>
            <a:ext cx="147286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3020" y="1601017"/>
            <a:ext cx="147286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3020" y="1994470"/>
            <a:ext cx="147286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3020" y="2387923"/>
            <a:ext cx="147286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91" y="467215"/>
            <a:ext cx="1796393" cy="110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Times New Roman"/>
              </a:rPr>
              <a:t>Bosque: 690 de 6.288 sobreviven (11,0 %)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53276" y="804867"/>
            <a:ext cx="362668" cy="109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Times New Roman"/>
              </a:rPr>
              <a:t>11.222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10292" y="782312"/>
            <a:ext cx="566496" cy="1548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Disparos dentro</a:t>
            </a:r>
          </a:p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del AOI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7033" y="812262"/>
            <a:ext cx="342332" cy="949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555555"/>
                </a:solidFill>
                <a:latin typeface="Times New Roman"/>
              </a:rPr>
              <a:t>100,0 %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42112" y="977513"/>
            <a:ext cx="316911" cy="949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A50F15"/>
                </a:solidFill>
                <a:latin typeface="Times New Roman"/>
              </a:rPr>
              <a:t>−4.602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76154" y="1198320"/>
            <a:ext cx="316911" cy="109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Times New Roman"/>
              </a:rPr>
              <a:t>6.620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11216" y="1175765"/>
            <a:ext cx="565571" cy="1548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Pasan calidad</a:t>
            </a:r>
          </a:p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(forma de onda)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7033" y="1205715"/>
            <a:ext cx="305818" cy="949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555555"/>
                </a:solidFill>
                <a:latin typeface="Times New Roman"/>
              </a:rPr>
              <a:t>59,0 %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42112" y="1370966"/>
            <a:ext cx="316449" cy="949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A50F15"/>
                </a:solidFill>
                <a:latin typeface="Times New Roman"/>
              </a:rPr>
              <a:t>−1.672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6385" y="1591773"/>
            <a:ext cx="316449" cy="109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Times New Roman"/>
              </a:rPr>
              <a:t>4.948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28484" y="1565151"/>
            <a:ext cx="648304" cy="163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Pasan degradación</a:t>
            </a:r>
          </a:p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(puntería u órbita)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17033" y="1599168"/>
            <a:ext cx="306281" cy="949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555555"/>
                </a:solidFill>
                <a:latin typeface="Times New Roman"/>
              </a:rPr>
              <a:t>44,1 %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42112" y="1764419"/>
            <a:ext cx="262834" cy="949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A50F15"/>
                </a:solidFill>
                <a:latin typeface="Times New Roman"/>
              </a:rPr>
              <a:t>−907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76154" y="1985227"/>
            <a:ext cx="316911" cy="109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Times New Roman"/>
              </a:rPr>
              <a:t>4.041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19868" y="1960453"/>
            <a:ext cx="756919" cy="1593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Pasan sensibilidad</a:t>
            </a:r>
          </a:p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(el láser llegó al suelo)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17033" y="1992622"/>
            <a:ext cx="305818" cy="949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555555"/>
                </a:solidFill>
                <a:latin typeface="Times New Roman"/>
              </a:rPr>
              <a:t>36,0 %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42112" y="2157872"/>
            <a:ext cx="262372" cy="949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A50F15"/>
                </a:solidFill>
                <a:latin typeface="Times New Roman"/>
              </a:rPr>
              <a:t>−957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76154" y="2378680"/>
            <a:ext cx="316911" cy="109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Times New Roman"/>
              </a:rPr>
              <a:t>3.084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07685" y="2350925"/>
            <a:ext cx="669102" cy="1652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Pasan pendiente</a:t>
            </a:r>
          </a:p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(≤ 20°) = VÁLIDOS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17033" y="2386075"/>
            <a:ext cx="305356" cy="949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555555"/>
                </a:solidFill>
                <a:latin typeface="Times New Roman"/>
              </a:rPr>
              <a:t>27,5 %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30933" y="2683978"/>
            <a:ext cx="147286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22947" y="2683978"/>
            <a:ext cx="147286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960" y="2683978"/>
            <a:ext cx="147286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07205" y="2683978"/>
            <a:ext cx="146824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98987" y="2683978"/>
            <a:ext cx="147286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71357" y="2683978"/>
            <a:ext cx="186572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075342" y="814111"/>
            <a:ext cx="147286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75342" y="1207564"/>
            <a:ext cx="147286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075342" y="1601017"/>
            <a:ext cx="147286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075342" y="1994470"/>
            <a:ext cx="147286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075342" y="2387923"/>
            <a:ext cx="147286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86728" y="467215"/>
            <a:ext cx="1895764" cy="110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Times New Roman"/>
              </a:rPr>
              <a:t>Estepa: 3.084 de 11.222 sobreviven (27,5 %)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36047" y="33123"/>
            <a:ext cx="3059105" cy="20737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>
                <a:solidFill>
                  <a:srgbClr val="000000"/>
                </a:solidFill>
                <a:latin typeface="Times New Roman"/>
              </a:rPr>
              <a:t>El embudo del filtrado de GEDI, con los datos reales del proyecto</a:t>
            </a:r>
          </a:p>
          <a:p>
            <a:pPr algn="ctr"/>
            <a:r>
              <a:rPr sz="600" b="1">
                <a:solidFill>
                  <a:srgbClr val="000000"/>
                </a:solidFill>
                <a:latin typeface="Times New Roman"/>
              </a:rPr>
              <a:t>cuatro filtros: forma de onda, degradación, sensibilidad y pendiente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