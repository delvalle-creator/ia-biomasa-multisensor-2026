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31200" cy="2483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3_fig_saturacion_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31200" cy="2483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69119" y="1301530"/>
            <a:ext cx="1067951" cy="3508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A50F15"/>
                </a:solidFill>
                <a:latin typeface="Times New Roman"/>
              </a:rPr>
              <a:t>a partir de ~21 m el NDVI</a:t>
            </a:r>
          </a:p>
          <a:p>
            <a:pPr algn="ctr"/>
            <a:r>
              <a:rPr sz="500" b="0">
                <a:solidFill>
                  <a:srgbClr val="A50F15"/>
                </a:solidFill>
                <a:latin typeface="Times New Roman"/>
              </a:rPr>
              <a:t>ya no sube: SATURA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37" y="2081126"/>
            <a:ext cx="1510233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altura del dosel medida por GEDI, rh95 (m)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671" y="1994946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1914" y="1994946"/>
            <a:ext cx="14811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381" y="1994946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624" y="1994946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1389" y="1994946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1632" y="1994946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1397" y="1994946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1640" y="1994946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35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-41343" y="1263702"/>
            <a:ext cx="285189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NDVI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54" y="1932964"/>
            <a:ext cx="209251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54" y="1767559"/>
            <a:ext cx="209251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54" y="1602154"/>
            <a:ext cx="209251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32" y="1436748"/>
            <a:ext cx="208773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32" y="1271343"/>
            <a:ext cx="208773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54" y="1105938"/>
            <a:ext cx="209251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54" y="940533"/>
            <a:ext cx="209251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32" y="775128"/>
            <a:ext cx="208773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54" y="609723"/>
            <a:ext cx="209251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17" y="541585"/>
            <a:ext cx="1343073" cy="119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El NDVI contra la altura real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8290" y="2222053"/>
            <a:ext cx="957172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mediana por franja de altura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30223" y="783597"/>
            <a:ext cx="822178" cy="8357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2D6A4F"/>
                </a:solidFill>
                <a:latin typeface="Times New Roman"/>
              </a:rPr>
              <a:t>el NDVI ya baja:</a:t>
            </a:r>
          </a:p>
          <a:p>
            <a:pPr algn="ctr"/>
            <a:r>
              <a:rPr sz="500" b="0">
                <a:solidFill>
                  <a:srgbClr val="2D6A4F"/>
                </a:solidFill>
                <a:latin typeface="Times New Roman"/>
              </a:rPr>
              <a:t>0,897 → 0,893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8759" y="674255"/>
            <a:ext cx="1507368" cy="3679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1D3557"/>
                </a:solidFill>
                <a:latin typeface="Times New Roman"/>
              </a:rPr>
              <a:t>Ajuste índice → altura, con las 690 huellas:</a:t>
            </a:r>
          </a:p>
          <a:p>
            <a:pPr algn="ctr"/>
            <a:r>
              <a:rPr sz="450" b="0">
                <a:solidFill>
                  <a:srgbClr val="1D3557"/>
                </a:solidFill>
                <a:latin typeface="Times New Roman"/>
              </a:rPr>
              <a:t>   NDVI R² = 0,23      EVI  R² = 0,22</a:t>
            </a:r>
          </a:p>
          <a:p>
            <a:pPr algn="ctr"/>
            <a:r>
              <a:rPr sz="450" b="0">
                <a:solidFill>
                  <a:srgbClr val="1D3557"/>
                </a:solidFill>
                <a:latin typeface="Times New Roman"/>
              </a:rPr>
              <a:t>   NDMI R² = 0,31      NBR  R² = 0,29</a:t>
            </a:r>
          </a:p>
          <a:p>
            <a:pPr algn="ctr"/>
            <a:r>
              <a:rPr sz="450" b="0">
                <a:solidFill>
                  <a:srgbClr val="1D3557"/>
                </a:solidFill>
                <a:latin typeface="Times New Roman"/>
              </a:rPr>
              <a:t>Ninguno llega a 0,32: el óptico explica menos</a:t>
            </a:r>
          </a:p>
          <a:p>
            <a:pPr algn="ctr"/>
            <a:r>
              <a:rPr sz="450" b="0">
                <a:solidFill>
                  <a:srgbClr val="1D3557"/>
                </a:solidFill>
                <a:latin typeface="Times New Roman"/>
              </a:rPr>
              <a:t>de un tercio de la altura. Ésa es la razón del TP4.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39736" y="2081126"/>
            <a:ext cx="1510233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altura del dosel medida por GEDI, rh95 (m)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48968" y="1994946"/>
            <a:ext cx="14811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4655" y="1994946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41118" y="1994946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7104" y="1994946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3567" y="1994946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25</a:t>
            </a:r>
          </a:p>
        </p:txBody>
      </p:sp>
      <p:sp>
        <p:nvSpPr>
          <p:cNvPr id="33" name="TextBox 32"/>
          <p:cNvSpPr txBox="1"/>
          <p:nvPr/>
        </p:nvSpPr>
        <p:spPr>
          <a:xfrm rot="16200000">
            <a:off x="2315798" y="1263702"/>
            <a:ext cx="96911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2D6A4F"/>
                </a:solidFill>
                <a:latin typeface="Times New Roman"/>
              </a:rPr>
              <a:t>NDVI (mediana por franja)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00057" y="1822694"/>
            <a:ext cx="249847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2D6A4F"/>
                </a:solidFill>
                <a:latin typeface="Times New Roman"/>
              </a:rPr>
              <a:t>0.70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00535" y="1547019"/>
            <a:ext cx="249369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2D6A4F"/>
                </a:solidFill>
                <a:latin typeface="Times New Roman"/>
              </a:rPr>
              <a:t>0.75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00057" y="1271343"/>
            <a:ext cx="249847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2D6A4F"/>
                </a:solidFill>
                <a:latin typeface="Times New Roman"/>
              </a:rPr>
              <a:t>0.80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0535" y="995668"/>
            <a:ext cx="249369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2D6A4F"/>
                </a:solidFill>
                <a:latin typeface="Times New Roman"/>
              </a:rPr>
              <a:t>0.85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00535" y="719993"/>
            <a:ext cx="249369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2D6A4F"/>
                </a:solidFill>
                <a:latin typeface="Times New Roman"/>
              </a:rPr>
              <a:t>0.90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46184" y="537765"/>
            <a:ext cx="1497338" cy="1234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El EVI aguanta más que el NDVI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78969" y="846565"/>
            <a:ext cx="1000293" cy="1056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D97706"/>
                </a:solidFill>
                <a:latin typeface="Times New Roman"/>
              </a:rPr>
              <a:t>el EVI no baja:</a:t>
            </a:r>
          </a:p>
          <a:p>
            <a:pPr algn="ctr"/>
            <a:r>
              <a:rPr sz="500" b="0">
                <a:solidFill>
                  <a:srgbClr val="D97706"/>
                </a:solidFill>
                <a:latin typeface="Times New Roman"/>
              </a:rPr>
              <a:t>0,549 → 0,550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48968" y="1994946"/>
            <a:ext cx="14811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34655" y="1994946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41118" y="1994946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47104" y="1994946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53567" y="1994946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25</a:t>
            </a:r>
          </a:p>
        </p:txBody>
      </p:sp>
      <p:sp>
        <p:nvSpPr>
          <p:cNvPr id="46" name="TextBox 45"/>
          <p:cNvSpPr txBox="1"/>
          <p:nvPr/>
        </p:nvSpPr>
        <p:spPr>
          <a:xfrm rot="16200000">
            <a:off x="5175003" y="1263702"/>
            <a:ext cx="909890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D97706"/>
                </a:solidFill>
                <a:latin typeface="Times New Roman"/>
              </a:rPr>
              <a:t>EVI (mediana por franja)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9802" y="1869952"/>
            <a:ext cx="290443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D97706"/>
                </a:solidFill>
                <a:latin typeface="Times New Roman"/>
              </a:rPr>
              <a:t>0.400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39802" y="1712424"/>
            <a:ext cx="289965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D97706"/>
                </a:solidFill>
                <a:latin typeface="Times New Roman"/>
              </a:rPr>
              <a:t>0.425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39802" y="1554895"/>
            <a:ext cx="289965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D97706"/>
                </a:solidFill>
                <a:latin typeface="Times New Roman"/>
              </a:rPr>
              <a:t>0.450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39802" y="1397366"/>
            <a:ext cx="289965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D97706"/>
                </a:solidFill>
                <a:latin typeface="Times New Roman"/>
              </a:rPr>
              <a:t>0.475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39802" y="1239838"/>
            <a:ext cx="289965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D97706"/>
                </a:solidFill>
                <a:latin typeface="Times New Roman"/>
              </a:rPr>
              <a:t>0.500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9802" y="1082309"/>
            <a:ext cx="28948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D97706"/>
                </a:solidFill>
                <a:latin typeface="Times New Roman"/>
              </a:rPr>
              <a:t>0.525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39802" y="924780"/>
            <a:ext cx="28948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D97706"/>
                </a:solidFill>
                <a:latin typeface="Times New Roman"/>
              </a:rPr>
              <a:t>0.550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39802" y="767252"/>
            <a:ext cx="28948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D97706"/>
                </a:solidFill>
                <a:latin typeface="Times New Roman"/>
              </a:rPr>
              <a:t>0.575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39802" y="609723"/>
            <a:ext cx="289965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D97706"/>
                </a:solidFill>
                <a:latin typeface="Times New Roman"/>
              </a:rPr>
              <a:t>0.600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8285" y="28070"/>
            <a:ext cx="4774629" cy="2166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Times New Roman"/>
              </a:rPr>
              <a:t>La saturación del óptico, medida con los datos de este proyecto</a:t>
            </a:r>
          </a:p>
          <a:p>
            <a:pPr algn="ctr"/>
            <a:r>
              <a:rPr sz="650" b="1">
                <a:solidFill>
                  <a:srgbClr val="000000"/>
                </a:solidFill>
                <a:latin typeface="Times New Roman"/>
              </a:rPr>
              <a:t>690 huellas GEDI válidas del bosque (calidad + pendiente ≤ 20°) × índices de Sentinel-2 del 25/11/2025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