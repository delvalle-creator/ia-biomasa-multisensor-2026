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731200" cy="345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" y="54000"/>
            <a:ext cx="5587200" cy="34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Times New Roman"/>
              </a:rPr>
              <a:t>El incendio medido con dNBR — AOI de bosque</a:t>
            </a:r>
          </a:p>
          <a:p>
            <a:pPr algn="ctr"/>
            <a:r>
              <a:rPr sz="900" b="1">
                <a:solidFill>
                  <a:srgbClr val="000000"/>
                </a:solidFill>
                <a:latin typeface="Times New Roman"/>
              </a:rPr>
              <a:t>pre: 25/11/2025 (escena limpia)  |  post: 05/03/2026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5999" y="413999"/>
            <a:ext cx="2268000" cy="15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000000"/>
                </a:solidFill>
                <a:latin typeface="Times New Roman"/>
              </a:rPr>
              <a:t>dNBR (continuo)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37200" y="413999"/>
            <a:ext cx="2268000" cy="15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000000"/>
                </a:solidFill>
                <a:latin typeface="Times New Roman"/>
              </a:rPr>
              <a:t>Severidad (Key y Benson, siete clases)</a:t>
            </a:r>
          </a:p>
        </p:txBody>
      </p:sp>
      <p:pic>
        <p:nvPicPr>
          <p:cNvPr id="5" name="Picture 4" descr="panel_dnb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9" y="583200"/>
            <a:ext cx="2268000" cy="2268000"/>
          </a:xfrm>
          <a:prstGeom prst="rect">
            <a:avLst/>
          </a:prstGeom>
        </p:spPr>
      </p:pic>
      <p:pic>
        <p:nvPicPr>
          <p:cNvPr id="6" name="Picture 5" descr="panel_severid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200" y="583200"/>
            <a:ext cx="2268000" cy="2268000"/>
          </a:xfrm>
          <a:prstGeom prst="rect">
            <a:avLst/>
          </a:prstGeom>
        </p:spPr>
      </p:pic>
      <p:pic>
        <p:nvPicPr>
          <p:cNvPr id="7" name="Picture 6" descr="barra_dnb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8000" y="583200"/>
            <a:ext cx="122400" cy="226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681999" y="525600"/>
            <a:ext cx="306000" cy="115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Times New Roman"/>
              </a:rPr>
              <a:t>1,0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1999" y="874523"/>
            <a:ext cx="306000" cy="115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Times New Roman"/>
              </a:rPr>
              <a:t>0,8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1999" y="1223446"/>
            <a:ext cx="306000" cy="115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Times New Roman"/>
              </a:rPr>
              <a:t>0,6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1999" y="1572369"/>
            <a:ext cx="306000" cy="115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Times New Roman"/>
              </a:rPr>
              <a:t>0,4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1999" y="1921292"/>
            <a:ext cx="306000" cy="115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Times New Roman"/>
              </a:rPr>
              <a:t>0,2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1999" y="2270215"/>
            <a:ext cx="306000" cy="115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Times New Roman"/>
              </a:rPr>
              <a:t>0,0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1999" y="2619138"/>
            <a:ext cx="306000" cy="115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Times New Roman"/>
              </a:rPr>
              <a:t>-0,2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6000" y="439200"/>
            <a:ext cx="576000" cy="12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Times New Roman"/>
              </a:rPr>
              <a:t>dNBR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5999" y="2937600"/>
            <a:ext cx="151200" cy="72000"/>
          </a:xfrm>
          <a:prstGeom prst="rect">
            <a:avLst/>
          </a:prstGeom>
          <a:solidFill>
            <a:srgbClr val="A50F15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000" y="2916000"/>
            <a:ext cx="2411999" cy="115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Times New Roman"/>
              </a:rPr>
              <a:t>Alta — 9.668,7 ha (43,1 %)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5999" y="3060000"/>
            <a:ext cx="151200" cy="72000"/>
          </a:xfrm>
          <a:prstGeom prst="rect">
            <a:avLst/>
          </a:prstGeom>
          <a:solidFill>
            <a:srgbClr val="F4622E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000" y="3038400"/>
            <a:ext cx="2411999" cy="115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Times New Roman"/>
              </a:rPr>
              <a:t>Moderada-alta — 3.672,0 ha (16,4 %)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5999" y="3182400"/>
            <a:ext cx="151200" cy="72000"/>
          </a:xfrm>
          <a:prstGeom prst="rect">
            <a:avLst/>
          </a:prstGeom>
          <a:solidFill>
            <a:srgbClr val="FEB24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4000" y="3160800"/>
            <a:ext cx="2411999" cy="115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Times New Roman"/>
              </a:rPr>
              <a:t>Moderada-baja — 2.825,6 ha (12,6 %)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5999" y="3304800"/>
            <a:ext cx="151200" cy="72000"/>
          </a:xfrm>
          <a:prstGeom prst="rect">
            <a:avLst/>
          </a:prstGeom>
          <a:solidFill>
            <a:srgbClr val="FFEDA0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4000" y="3283199"/>
            <a:ext cx="2411999" cy="115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Times New Roman"/>
              </a:rPr>
              <a:t>Baja — 1.842,8 ha (8,2 %)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61999" y="2937600"/>
            <a:ext cx="151200" cy="72000"/>
          </a:xfrm>
          <a:prstGeom prst="rect">
            <a:avLst/>
          </a:prstGeom>
          <a:solidFill>
            <a:srgbClr val="D9D9D9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60000" y="2916000"/>
            <a:ext cx="2411999" cy="115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Times New Roman"/>
              </a:rPr>
              <a:t>Sin cambio — 4.170,7 ha (18,6 %)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61999" y="3060000"/>
            <a:ext cx="151200" cy="72000"/>
          </a:xfrm>
          <a:prstGeom prst="rect">
            <a:avLst/>
          </a:prstGeom>
          <a:solidFill>
            <a:srgbClr val="A6D96A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60000" y="3038400"/>
            <a:ext cx="2411999" cy="115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Times New Roman"/>
              </a:rPr>
              <a:t>Regeneración baja — 257,0 ha (1,1 %)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61999" y="3182400"/>
            <a:ext cx="151200" cy="72000"/>
          </a:xfrm>
          <a:prstGeom prst="rect">
            <a:avLst/>
          </a:prstGeom>
          <a:solidFill>
            <a:srgbClr val="1A9850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60000" y="3160800"/>
            <a:ext cx="2411999" cy="115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Times New Roman"/>
              </a:rPr>
              <a:t>Regeneración alta — 8,3 ha (0,0 %)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