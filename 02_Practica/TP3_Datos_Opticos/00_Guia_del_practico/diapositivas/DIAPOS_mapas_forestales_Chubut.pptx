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coincidencia agregada es excelente: el mapa dice que el 89,8 % del recinto es bosque, y el SNMBN dio 89,8 % por otro camino. La discrepancia aparece al bajar al detalle. El producto está validado a escala nacional; nuestro recinto cae fuera de la envolvente donde discrimina bien.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Método a retener: cuando no se sabe qué contiene un archivo, correlacionarlo con algo conocido y mirar el signo dice más que leer el nombre. Aquí la deducción llegó a la conclusión correcta antes de encontrar el artículo.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5F2D"/>
        </a:solidFill>
      </p:bgPr>
    </p:bg>
    <p:spTree>
      <p:nvGrpSpPr>
        <p:cNvPr id="1" name=""/>
        <p:cNvGrpSpPr/>
        <p:nvPr/>
      </p:nvGrpSpPr>
      <p:grpSpPr>
        <a:xfrm>
          <a:off x="0" y="0"/>
          <a:ext cx="0" cy="0"/>
          <a:chOff x="0" y="0"/>
          <a:chExt cx="0" cy="0"/>
        </a:xfrm>
      </p:grpSpPr>
      <p:sp>
        <p:nvSpPr>
          <p:cNvPr id="2" name="Text 0"/>
          <p:cNvSpPr/>
          <p:nvPr/>
        </p:nvSpPr>
        <p:spPr>
          <a:xfrm>
            <a:off x="548640" y="411480"/>
            <a:ext cx="11064240" cy="822960"/>
          </a:xfrm>
          <a:prstGeom prst="rect">
            <a:avLst/>
          </a:prstGeom>
          <a:noFill/>
          <a:ln/>
        </p:spPr>
        <p:txBody>
          <a:bodyPr wrap="square" rtlCol="0" anchor="ctr"/>
          <a:lstStyle/>
          <a:p>
            <a:pPr indent="0" marL="0">
              <a:buNone/>
            </a:pPr>
            <a:r>
              <a:rPr lang="en-US" sz="3400" b="1" dirty="0">
                <a:solidFill>
                  <a:srgbClr val="FFFFFF"/>
                </a:solidFill>
                <a:latin typeface="Times New Roman" pitchFamily="34" charset="0"/>
                <a:ea typeface="Times New Roman" pitchFamily="34" charset="-122"/>
                <a:cs typeface="Times New Roman" pitchFamily="34" charset="-120"/>
              </a:rPr>
              <a:t>Dos satélites, dos bosques distintos</a:t>
            </a:r>
            <a:endParaRPr lang="en-US" sz="3400" dirty="0"/>
          </a:p>
        </p:txBody>
      </p:sp>
      <p:sp>
        <p:nvSpPr>
          <p:cNvPr id="3" name="Text 1"/>
          <p:cNvSpPr/>
          <p:nvPr/>
        </p:nvSpPr>
        <p:spPr>
          <a:xfrm>
            <a:off x="548640" y="1207008"/>
            <a:ext cx="11064240" cy="365760"/>
          </a:xfrm>
          <a:prstGeom prst="rect">
            <a:avLst/>
          </a:prstGeom>
          <a:noFill/>
          <a:ln/>
        </p:spPr>
        <p:txBody>
          <a:bodyPr wrap="square" lIns="0" tIns="0" rIns="0" bIns="0" rtlCol="0" anchor="ctr"/>
          <a:lstStyle/>
          <a:p>
            <a:pPr indent="0" marL="0">
              <a:buNone/>
            </a:pPr>
            <a:r>
              <a:rPr lang="en-US" sz="1500" i="1" dirty="0">
                <a:solidFill>
                  <a:srgbClr val="97BC62"/>
                </a:solidFill>
                <a:latin typeface="Times New Roman" pitchFamily="34" charset="0"/>
                <a:ea typeface="Times New Roman" pitchFamily="34" charset="-122"/>
                <a:cs typeface="Times New Roman" pitchFamily="34" charset="-120"/>
              </a:rPr>
              <a:t>Ñire y lenga en BOSQUE_NW_02, medidos sobre las mismas 657 huellas de GEDI</a:t>
            </a:r>
            <a:endParaRPr lang="en-US" sz="1500" dirty="0"/>
          </a:p>
        </p:txBody>
      </p:sp>
      <p:sp>
        <p:nvSpPr>
          <p:cNvPr id="4" name="Shape 2"/>
          <p:cNvSpPr/>
          <p:nvPr/>
        </p:nvSpPr>
        <p:spPr>
          <a:xfrm>
            <a:off x="548640" y="1828800"/>
            <a:ext cx="5349240" cy="3200400"/>
          </a:xfrm>
          <a:prstGeom prst="roundRect">
            <a:avLst>
              <a:gd name="adj" fmla="val 2286"/>
            </a:avLst>
          </a:prstGeom>
          <a:solidFill>
            <a:srgbClr val="FFFFFF"/>
          </a:solidFill>
          <a:ln/>
        </p:spPr>
      </p:sp>
      <p:sp>
        <p:nvSpPr>
          <p:cNvPr id="5" name="Text 3"/>
          <p:cNvSpPr/>
          <p:nvPr/>
        </p:nvSpPr>
        <p:spPr>
          <a:xfrm>
            <a:off x="914400" y="2011680"/>
            <a:ext cx="4572000" cy="411480"/>
          </a:xfrm>
          <a:prstGeom prst="rect">
            <a:avLst/>
          </a:prstGeom>
          <a:noFill/>
          <a:ln/>
        </p:spPr>
        <p:txBody>
          <a:bodyPr wrap="square" lIns="0" tIns="0" rIns="0" bIns="0" rtlCol="0" anchor="ctr"/>
          <a:lstStyle/>
          <a:p>
            <a:pPr indent="0" marL="0">
              <a:buNone/>
            </a:pPr>
            <a:r>
              <a:rPr lang="en-US" sz="2200" b="1" dirty="0">
                <a:solidFill>
                  <a:srgbClr val="2C5F2D"/>
                </a:solidFill>
                <a:latin typeface="Times New Roman" pitchFamily="34" charset="0"/>
                <a:ea typeface="Times New Roman" pitchFamily="34" charset="-122"/>
                <a:cs typeface="Times New Roman" pitchFamily="34" charset="-120"/>
              </a:rPr>
              <a:t>GEDI mide</a:t>
            </a:r>
            <a:endParaRPr lang="en-US" sz="2200" dirty="0"/>
          </a:p>
        </p:txBody>
      </p:sp>
      <p:sp>
        <p:nvSpPr>
          <p:cNvPr id="6" name="Text 4"/>
          <p:cNvSpPr/>
          <p:nvPr/>
        </p:nvSpPr>
        <p:spPr>
          <a:xfrm>
            <a:off x="914400" y="2395728"/>
            <a:ext cx="4572000" cy="292608"/>
          </a:xfrm>
          <a:prstGeom prst="rect">
            <a:avLst/>
          </a:prstGeom>
          <a:noFill/>
          <a:ln/>
        </p:spPr>
        <p:txBody>
          <a:bodyPr wrap="square" lIns="0" tIns="0" rIns="0" bIns="0" rtlCol="0" anchor="ctr"/>
          <a:lstStyle/>
          <a:p>
            <a:pPr indent="0" marL="0">
              <a:buNone/>
            </a:pPr>
            <a:r>
              <a:rPr lang="en-US" sz="1300" i="1" dirty="0">
                <a:solidFill>
                  <a:srgbClr val="5B6660"/>
                </a:solidFill>
                <a:latin typeface="Times New Roman" pitchFamily="34" charset="0"/>
                <a:ea typeface="Times New Roman" pitchFamily="34" charset="-122"/>
                <a:cs typeface="Times New Roman" pitchFamily="34" charset="-120"/>
              </a:rPr>
              <a:t>láser: cronometra el eco</a:t>
            </a:r>
            <a:endParaRPr lang="en-US" sz="1300" dirty="0"/>
          </a:p>
        </p:txBody>
      </p:sp>
      <p:sp>
        <p:nvSpPr>
          <p:cNvPr id="7" name="Text 5"/>
          <p:cNvSpPr/>
          <p:nvPr/>
        </p:nvSpPr>
        <p:spPr>
          <a:xfrm>
            <a:off x="914400" y="2880360"/>
            <a:ext cx="3017520" cy="411480"/>
          </a:xfrm>
          <a:prstGeom prst="rect">
            <a:avLst/>
          </a:prstGeom>
          <a:noFill/>
          <a:ln/>
        </p:spPr>
        <p:txBody>
          <a:bodyPr wrap="square" lIns="0" tIns="0" rIns="0" bIns="0" rtlCol="0" anchor="ctr"/>
          <a:lstStyle/>
          <a:p>
            <a:pPr indent="0" marL="0">
              <a:buNone/>
            </a:pPr>
            <a:r>
              <a:rPr lang="en-US" sz="1600" dirty="0">
                <a:solidFill>
                  <a:srgbClr val="1F2A1F"/>
                </a:solidFill>
                <a:latin typeface="Times New Roman" pitchFamily="34" charset="0"/>
                <a:ea typeface="Times New Roman" pitchFamily="34" charset="-122"/>
                <a:cs typeface="Times New Roman" pitchFamily="34" charset="-120"/>
              </a:rPr>
              <a:t>Altura del ñire</a:t>
            </a:r>
            <a:endParaRPr lang="en-US" sz="1600" dirty="0"/>
          </a:p>
        </p:txBody>
      </p:sp>
      <p:sp>
        <p:nvSpPr>
          <p:cNvPr id="8" name="Text 6"/>
          <p:cNvSpPr/>
          <p:nvPr/>
        </p:nvSpPr>
        <p:spPr>
          <a:xfrm>
            <a:off x="3931920" y="2880360"/>
            <a:ext cx="1691640" cy="411480"/>
          </a:xfrm>
          <a:prstGeom prst="rect">
            <a:avLst/>
          </a:prstGeom>
          <a:noFill/>
          <a:ln/>
        </p:spPr>
        <p:txBody>
          <a:bodyPr wrap="square" lIns="0" tIns="0" rIns="0" bIns="0" rtlCol="0" anchor="ctr"/>
          <a:lstStyle/>
          <a:p>
            <a:pPr algn="r" indent="0" marL="0">
              <a:buNone/>
            </a:pPr>
            <a:r>
              <a:rPr lang="en-US" sz="2000" b="1" dirty="0">
                <a:solidFill>
                  <a:srgbClr val="1F2A1F"/>
                </a:solidFill>
                <a:latin typeface="Times New Roman" pitchFamily="34" charset="0"/>
                <a:ea typeface="Times New Roman" pitchFamily="34" charset="-122"/>
                <a:cs typeface="Times New Roman" pitchFamily="34" charset="-120"/>
              </a:rPr>
              <a:t>5,17 m</a:t>
            </a:r>
            <a:endParaRPr lang="en-US" sz="2000" dirty="0"/>
          </a:p>
        </p:txBody>
      </p:sp>
      <p:sp>
        <p:nvSpPr>
          <p:cNvPr id="9" name="Text 7"/>
          <p:cNvSpPr/>
          <p:nvPr/>
        </p:nvSpPr>
        <p:spPr>
          <a:xfrm>
            <a:off x="914400" y="3538728"/>
            <a:ext cx="3017520" cy="411480"/>
          </a:xfrm>
          <a:prstGeom prst="rect">
            <a:avLst/>
          </a:prstGeom>
          <a:noFill/>
          <a:ln/>
        </p:spPr>
        <p:txBody>
          <a:bodyPr wrap="square" lIns="0" tIns="0" rIns="0" bIns="0" rtlCol="0" anchor="ctr"/>
          <a:lstStyle/>
          <a:p>
            <a:pPr indent="0" marL="0">
              <a:buNone/>
            </a:pPr>
            <a:r>
              <a:rPr lang="en-US" sz="1600" dirty="0">
                <a:solidFill>
                  <a:srgbClr val="1F2A1F"/>
                </a:solidFill>
                <a:latin typeface="Times New Roman" pitchFamily="34" charset="0"/>
                <a:ea typeface="Times New Roman" pitchFamily="34" charset="-122"/>
                <a:cs typeface="Times New Roman" pitchFamily="34" charset="-120"/>
              </a:rPr>
              <a:t>Altura de la lenga</a:t>
            </a:r>
            <a:endParaRPr lang="en-US" sz="1600" dirty="0"/>
          </a:p>
        </p:txBody>
      </p:sp>
      <p:sp>
        <p:nvSpPr>
          <p:cNvPr id="10" name="Text 8"/>
          <p:cNvSpPr/>
          <p:nvPr/>
        </p:nvSpPr>
        <p:spPr>
          <a:xfrm>
            <a:off x="3931920" y="3538728"/>
            <a:ext cx="1691640" cy="411480"/>
          </a:xfrm>
          <a:prstGeom prst="rect">
            <a:avLst/>
          </a:prstGeom>
          <a:noFill/>
          <a:ln/>
        </p:spPr>
        <p:txBody>
          <a:bodyPr wrap="square" lIns="0" tIns="0" rIns="0" bIns="0" rtlCol="0" anchor="ctr"/>
          <a:lstStyle/>
          <a:p>
            <a:pPr algn="r" indent="0" marL="0">
              <a:buNone/>
            </a:pPr>
            <a:r>
              <a:rPr lang="en-US" sz="2000" b="1" dirty="0">
                <a:solidFill>
                  <a:srgbClr val="1F2A1F"/>
                </a:solidFill>
                <a:latin typeface="Times New Roman" pitchFamily="34" charset="0"/>
                <a:ea typeface="Times New Roman" pitchFamily="34" charset="-122"/>
                <a:cs typeface="Times New Roman" pitchFamily="34" charset="-120"/>
              </a:rPr>
              <a:t>16,68 m</a:t>
            </a:r>
            <a:endParaRPr lang="en-US" sz="2000" dirty="0"/>
          </a:p>
        </p:txBody>
      </p:sp>
      <p:sp>
        <p:nvSpPr>
          <p:cNvPr id="11" name="Text 9"/>
          <p:cNvSpPr/>
          <p:nvPr/>
        </p:nvSpPr>
        <p:spPr>
          <a:xfrm>
            <a:off x="914400" y="4197096"/>
            <a:ext cx="3017520" cy="411480"/>
          </a:xfrm>
          <a:prstGeom prst="rect">
            <a:avLst/>
          </a:prstGeom>
          <a:noFill/>
          <a:ln/>
        </p:spPr>
        <p:txBody>
          <a:bodyPr wrap="square" lIns="0" tIns="0" rIns="0" bIns="0" rtlCol="0" anchor="ctr"/>
          <a:lstStyle/>
          <a:p>
            <a:pPr indent="0" marL="0">
              <a:buNone/>
            </a:pPr>
            <a:r>
              <a:rPr lang="en-US" sz="1600" dirty="0">
                <a:solidFill>
                  <a:srgbClr val="1F2A1F"/>
                </a:solidFill>
                <a:latin typeface="Times New Roman" pitchFamily="34" charset="0"/>
                <a:ea typeface="Times New Roman" pitchFamily="34" charset="-122"/>
                <a:cs typeface="Times New Roman" pitchFamily="34" charset="-120"/>
              </a:rPr>
              <a:t>La lenga es más alta</a:t>
            </a:r>
            <a:endParaRPr lang="en-US" sz="1600" dirty="0"/>
          </a:p>
        </p:txBody>
      </p:sp>
      <p:sp>
        <p:nvSpPr>
          <p:cNvPr id="12" name="Text 10"/>
          <p:cNvSpPr/>
          <p:nvPr/>
        </p:nvSpPr>
        <p:spPr>
          <a:xfrm>
            <a:off x="3931920" y="4197096"/>
            <a:ext cx="1691640" cy="411480"/>
          </a:xfrm>
          <a:prstGeom prst="rect">
            <a:avLst/>
          </a:prstGeom>
          <a:noFill/>
          <a:ln/>
        </p:spPr>
        <p:txBody>
          <a:bodyPr wrap="square" lIns="0" tIns="0" rIns="0" bIns="0" rtlCol="0" anchor="ctr"/>
          <a:lstStyle/>
          <a:p>
            <a:pPr algn="r" indent="0" marL="0">
              <a:buNone/>
            </a:pPr>
            <a:r>
              <a:rPr lang="en-US" sz="2400" b="1" dirty="0">
                <a:solidFill>
                  <a:srgbClr val="2C5F2D"/>
                </a:solidFill>
                <a:latin typeface="Times New Roman" pitchFamily="34" charset="0"/>
                <a:ea typeface="Times New Roman" pitchFamily="34" charset="-122"/>
                <a:cs typeface="Times New Roman" pitchFamily="34" charset="-120"/>
              </a:rPr>
              <a:t>3,23 veces</a:t>
            </a:r>
            <a:endParaRPr lang="en-US" sz="2400" dirty="0"/>
          </a:p>
        </p:txBody>
      </p:sp>
      <p:sp>
        <p:nvSpPr>
          <p:cNvPr id="13" name="Shape 11"/>
          <p:cNvSpPr/>
          <p:nvPr/>
        </p:nvSpPr>
        <p:spPr>
          <a:xfrm>
            <a:off x="6263640" y="1828800"/>
            <a:ext cx="5349240" cy="3200400"/>
          </a:xfrm>
          <a:prstGeom prst="roundRect">
            <a:avLst>
              <a:gd name="adj" fmla="val 2286"/>
            </a:avLst>
          </a:prstGeom>
          <a:solidFill>
            <a:srgbClr val="F5F5F5"/>
          </a:solidFill>
          <a:ln/>
        </p:spPr>
      </p:sp>
      <p:sp>
        <p:nvSpPr>
          <p:cNvPr id="14" name="Text 12"/>
          <p:cNvSpPr/>
          <p:nvPr/>
        </p:nvSpPr>
        <p:spPr>
          <a:xfrm>
            <a:off x="6629400" y="2011680"/>
            <a:ext cx="4572000" cy="411480"/>
          </a:xfrm>
          <a:prstGeom prst="rect">
            <a:avLst/>
          </a:prstGeom>
          <a:noFill/>
          <a:ln/>
        </p:spPr>
        <p:txBody>
          <a:bodyPr wrap="square" lIns="0" tIns="0" rIns="0" bIns="0" rtlCol="0" anchor="ctr"/>
          <a:lstStyle/>
          <a:p>
            <a:pPr indent="0" marL="0">
              <a:buNone/>
            </a:pPr>
            <a:r>
              <a:rPr lang="en-US" sz="2200" b="1" dirty="0">
                <a:solidFill>
                  <a:srgbClr val="2C5F2D"/>
                </a:solidFill>
                <a:latin typeface="Times New Roman" pitchFamily="34" charset="0"/>
                <a:ea typeface="Times New Roman" pitchFamily="34" charset="-122"/>
                <a:cs typeface="Times New Roman" pitchFamily="34" charset="-120"/>
              </a:rPr>
              <a:t>El mapa nacional predice</a:t>
            </a:r>
            <a:endParaRPr lang="en-US" sz="2200" dirty="0"/>
          </a:p>
        </p:txBody>
      </p:sp>
      <p:sp>
        <p:nvSpPr>
          <p:cNvPr id="15" name="Text 13"/>
          <p:cNvSpPr/>
          <p:nvPr/>
        </p:nvSpPr>
        <p:spPr>
          <a:xfrm>
            <a:off x="6629400" y="2395728"/>
            <a:ext cx="4572000" cy="292608"/>
          </a:xfrm>
          <a:prstGeom prst="rect">
            <a:avLst/>
          </a:prstGeom>
          <a:noFill/>
          <a:ln/>
        </p:spPr>
        <p:txBody>
          <a:bodyPr wrap="square" lIns="0" tIns="0" rIns="0" bIns="0" rtlCol="0" anchor="ctr"/>
          <a:lstStyle/>
          <a:p>
            <a:pPr indent="0" marL="0">
              <a:buNone/>
            </a:pPr>
            <a:r>
              <a:rPr lang="en-US" sz="1300" i="1" dirty="0">
                <a:solidFill>
                  <a:srgbClr val="5B6660"/>
                </a:solidFill>
                <a:latin typeface="Times New Roman" pitchFamily="34" charset="0"/>
                <a:ea typeface="Times New Roman" pitchFamily="34" charset="-122"/>
                <a:cs typeface="Times New Roman" pitchFamily="34" charset="-120"/>
              </a:rPr>
              <a:t>modelo: inventario + Sentinel-1 VH + longitud</a:t>
            </a:r>
            <a:endParaRPr lang="en-US" sz="1300" dirty="0"/>
          </a:p>
        </p:txBody>
      </p:sp>
      <p:sp>
        <p:nvSpPr>
          <p:cNvPr id="16" name="Text 14"/>
          <p:cNvSpPr/>
          <p:nvPr/>
        </p:nvSpPr>
        <p:spPr>
          <a:xfrm>
            <a:off x="6629400" y="2880360"/>
            <a:ext cx="3017520" cy="411480"/>
          </a:xfrm>
          <a:prstGeom prst="rect">
            <a:avLst/>
          </a:prstGeom>
          <a:noFill/>
          <a:ln/>
        </p:spPr>
        <p:txBody>
          <a:bodyPr wrap="square" lIns="0" tIns="0" rIns="0" bIns="0" rtlCol="0" anchor="ctr"/>
          <a:lstStyle/>
          <a:p>
            <a:pPr indent="0" marL="0">
              <a:buNone/>
            </a:pPr>
            <a:r>
              <a:rPr lang="en-US" sz="1600" dirty="0">
                <a:solidFill>
                  <a:srgbClr val="1F2A1F"/>
                </a:solidFill>
                <a:latin typeface="Times New Roman" pitchFamily="34" charset="0"/>
                <a:ea typeface="Times New Roman" pitchFamily="34" charset="-122"/>
                <a:cs typeface="Times New Roman" pitchFamily="34" charset="-120"/>
              </a:rPr>
              <a:t>Altura del ñire</a:t>
            </a:r>
            <a:endParaRPr lang="en-US" sz="1600" dirty="0"/>
          </a:p>
        </p:txBody>
      </p:sp>
      <p:sp>
        <p:nvSpPr>
          <p:cNvPr id="17" name="Text 15"/>
          <p:cNvSpPr/>
          <p:nvPr/>
        </p:nvSpPr>
        <p:spPr>
          <a:xfrm>
            <a:off x="9646920" y="2880360"/>
            <a:ext cx="1691640" cy="411480"/>
          </a:xfrm>
          <a:prstGeom prst="rect">
            <a:avLst/>
          </a:prstGeom>
          <a:noFill/>
          <a:ln/>
        </p:spPr>
        <p:txBody>
          <a:bodyPr wrap="square" lIns="0" tIns="0" rIns="0" bIns="0" rtlCol="0" anchor="ctr"/>
          <a:lstStyle/>
          <a:p>
            <a:pPr algn="r" indent="0" marL="0">
              <a:buNone/>
            </a:pPr>
            <a:r>
              <a:rPr lang="en-US" sz="2000" b="1" dirty="0">
                <a:solidFill>
                  <a:srgbClr val="1F2A1F"/>
                </a:solidFill>
                <a:latin typeface="Times New Roman" pitchFamily="34" charset="0"/>
                <a:ea typeface="Times New Roman" pitchFamily="34" charset="-122"/>
                <a:cs typeface="Times New Roman" pitchFamily="34" charset="-120"/>
              </a:rPr>
              <a:t>14,75 m</a:t>
            </a:r>
            <a:endParaRPr lang="en-US" sz="2000" dirty="0"/>
          </a:p>
        </p:txBody>
      </p:sp>
      <p:sp>
        <p:nvSpPr>
          <p:cNvPr id="18" name="Text 16"/>
          <p:cNvSpPr/>
          <p:nvPr/>
        </p:nvSpPr>
        <p:spPr>
          <a:xfrm>
            <a:off x="6629400" y="3538728"/>
            <a:ext cx="3017520" cy="411480"/>
          </a:xfrm>
          <a:prstGeom prst="rect">
            <a:avLst/>
          </a:prstGeom>
          <a:noFill/>
          <a:ln/>
        </p:spPr>
        <p:txBody>
          <a:bodyPr wrap="square" lIns="0" tIns="0" rIns="0" bIns="0" rtlCol="0" anchor="ctr"/>
          <a:lstStyle/>
          <a:p>
            <a:pPr indent="0" marL="0">
              <a:buNone/>
            </a:pPr>
            <a:r>
              <a:rPr lang="en-US" sz="1600" dirty="0">
                <a:solidFill>
                  <a:srgbClr val="1F2A1F"/>
                </a:solidFill>
                <a:latin typeface="Times New Roman" pitchFamily="34" charset="0"/>
                <a:ea typeface="Times New Roman" pitchFamily="34" charset="-122"/>
                <a:cs typeface="Times New Roman" pitchFamily="34" charset="-120"/>
              </a:rPr>
              <a:t>Altura de la lenga</a:t>
            </a:r>
            <a:endParaRPr lang="en-US" sz="1600" dirty="0"/>
          </a:p>
        </p:txBody>
      </p:sp>
      <p:sp>
        <p:nvSpPr>
          <p:cNvPr id="19" name="Text 17"/>
          <p:cNvSpPr/>
          <p:nvPr/>
        </p:nvSpPr>
        <p:spPr>
          <a:xfrm>
            <a:off x="9646920" y="3538728"/>
            <a:ext cx="1691640" cy="411480"/>
          </a:xfrm>
          <a:prstGeom prst="rect">
            <a:avLst/>
          </a:prstGeom>
          <a:noFill/>
          <a:ln/>
        </p:spPr>
        <p:txBody>
          <a:bodyPr wrap="square" lIns="0" tIns="0" rIns="0" bIns="0" rtlCol="0" anchor="ctr"/>
          <a:lstStyle/>
          <a:p>
            <a:pPr algn="r" indent="0" marL="0">
              <a:buNone/>
            </a:pPr>
            <a:r>
              <a:rPr lang="en-US" sz="2000" b="1" dirty="0">
                <a:solidFill>
                  <a:srgbClr val="1F2A1F"/>
                </a:solidFill>
                <a:latin typeface="Times New Roman" pitchFamily="34" charset="0"/>
                <a:ea typeface="Times New Roman" pitchFamily="34" charset="-122"/>
                <a:cs typeface="Times New Roman" pitchFamily="34" charset="-120"/>
              </a:rPr>
              <a:t>15,40 m</a:t>
            </a:r>
            <a:endParaRPr lang="en-US" sz="2000" dirty="0"/>
          </a:p>
        </p:txBody>
      </p:sp>
      <p:sp>
        <p:nvSpPr>
          <p:cNvPr id="20" name="Text 18"/>
          <p:cNvSpPr/>
          <p:nvPr/>
        </p:nvSpPr>
        <p:spPr>
          <a:xfrm>
            <a:off x="6629400" y="4197096"/>
            <a:ext cx="3017520" cy="411480"/>
          </a:xfrm>
          <a:prstGeom prst="rect">
            <a:avLst/>
          </a:prstGeom>
          <a:noFill/>
          <a:ln/>
        </p:spPr>
        <p:txBody>
          <a:bodyPr wrap="square" lIns="0" tIns="0" rIns="0" bIns="0" rtlCol="0" anchor="ctr"/>
          <a:lstStyle/>
          <a:p>
            <a:pPr indent="0" marL="0">
              <a:buNone/>
            </a:pPr>
            <a:r>
              <a:rPr lang="en-US" sz="1600" dirty="0">
                <a:solidFill>
                  <a:srgbClr val="1F2A1F"/>
                </a:solidFill>
                <a:latin typeface="Times New Roman" pitchFamily="34" charset="0"/>
                <a:ea typeface="Times New Roman" pitchFamily="34" charset="-122"/>
                <a:cs typeface="Times New Roman" pitchFamily="34" charset="-120"/>
              </a:rPr>
              <a:t>La lenga es más alta</a:t>
            </a:r>
            <a:endParaRPr lang="en-US" sz="1600" dirty="0"/>
          </a:p>
        </p:txBody>
      </p:sp>
      <p:sp>
        <p:nvSpPr>
          <p:cNvPr id="21" name="Text 19"/>
          <p:cNvSpPr/>
          <p:nvPr/>
        </p:nvSpPr>
        <p:spPr>
          <a:xfrm>
            <a:off x="9646920" y="4197096"/>
            <a:ext cx="1691640" cy="411480"/>
          </a:xfrm>
          <a:prstGeom prst="rect">
            <a:avLst/>
          </a:prstGeom>
          <a:noFill/>
          <a:ln/>
        </p:spPr>
        <p:txBody>
          <a:bodyPr wrap="square" lIns="0" tIns="0" rIns="0" bIns="0" rtlCol="0" anchor="ctr"/>
          <a:lstStyle/>
          <a:p>
            <a:pPr algn="r" indent="0" marL="0">
              <a:buNone/>
            </a:pPr>
            <a:r>
              <a:rPr lang="en-US" sz="2400" b="1" dirty="0">
                <a:solidFill>
                  <a:srgbClr val="B85042"/>
                </a:solidFill>
                <a:latin typeface="Times New Roman" pitchFamily="34" charset="0"/>
                <a:ea typeface="Times New Roman" pitchFamily="34" charset="-122"/>
                <a:cs typeface="Times New Roman" pitchFamily="34" charset="-120"/>
              </a:rPr>
              <a:t>1,04 veces</a:t>
            </a:r>
            <a:endParaRPr lang="en-US" sz="2400" dirty="0"/>
          </a:p>
        </p:txBody>
      </p:sp>
      <p:sp>
        <p:nvSpPr>
          <p:cNvPr id="22" name="Text 20"/>
          <p:cNvSpPr/>
          <p:nvPr/>
        </p:nvSpPr>
        <p:spPr>
          <a:xfrm>
            <a:off x="548640" y="5257800"/>
            <a:ext cx="11064240" cy="731520"/>
          </a:xfrm>
          <a:prstGeom prst="rect">
            <a:avLst/>
          </a:prstGeom>
          <a:noFill/>
          <a:ln/>
        </p:spPr>
        <p:txBody>
          <a:bodyPr wrap="square" lIns="0" tIns="0" rIns="0" bIns="0" rtlCol="0" anchor="t"/>
          <a:lstStyle/>
          <a:p>
            <a:pPr indent="0" marL="0">
              <a:buNone/>
            </a:pPr>
            <a:r>
              <a:rPr lang="en-US" sz="1600" i="1" dirty="0">
                <a:solidFill>
                  <a:srgbClr val="C9D8C2"/>
                </a:solidFill>
                <a:latin typeface="Times New Roman" pitchFamily="34" charset="0"/>
                <a:ea typeface="Times New Roman" pitchFamily="34" charset="-122"/>
                <a:cs typeface="Times New Roman" pitchFamily="34" charset="-120"/>
              </a:rPr>
              <a:t>¿Por qué? El predictor principal del mapa es la banda C, que en el TP4 usted midió: medio decibel de recorrido útil en toda la gradiente de altura. Lo que VH no distingue, el modelo tampoco.</a:t>
            </a:r>
            <a:endParaRPr lang="en-US" sz="1600" dirty="0"/>
          </a:p>
        </p:txBody>
      </p:sp>
      <p:sp>
        <p:nvSpPr>
          <p:cNvPr id="23" name="Text 21"/>
          <p:cNvSpPr/>
          <p:nvPr/>
        </p:nvSpPr>
        <p:spPr>
          <a:xfrm>
            <a:off x="548640" y="6144768"/>
            <a:ext cx="11064240" cy="274320"/>
          </a:xfrm>
          <a:prstGeom prst="rect">
            <a:avLst/>
          </a:prstGeom>
          <a:noFill/>
          <a:ln/>
        </p:spPr>
        <p:txBody>
          <a:bodyPr wrap="square" lIns="0" tIns="0" rIns="0" bIns="0" rtlCol="0" anchor="ctr"/>
          <a:lstStyle/>
          <a:p>
            <a:pPr indent="0" marL="0">
              <a:buNone/>
            </a:pPr>
            <a:r>
              <a:rPr lang="en-US" sz="1100" i="1" dirty="0">
                <a:solidFill>
                  <a:srgbClr val="AFC0A8"/>
                </a:solidFill>
                <a:latin typeface="Times New Roman" pitchFamily="34" charset="0"/>
                <a:ea typeface="Times New Roman" pitchFamily="34" charset="-122"/>
                <a:cs typeface="Times New Roman" pitchFamily="34" charset="-120"/>
              </a:rPr>
              <a:t>Silveira et al. (2023), Remote Sensing of Environment, 285, 113391.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822960"/>
          </a:xfrm>
          <a:prstGeom prst="rect">
            <a:avLst/>
          </a:prstGeom>
          <a:noFill/>
          <a:ln/>
        </p:spPr>
        <p:txBody>
          <a:bodyPr wrap="square" rtlCol="0" anchor="ctr"/>
          <a:lstStyle/>
          <a:p>
            <a:pPr indent="0" marL="0">
              <a:buNone/>
            </a:pPr>
            <a:r>
              <a:rPr lang="en-US" sz="3400" b="1" dirty="0">
                <a:solidFill>
                  <a:srgbClr val="2C5F2D"/>
                </a:solidFill>
                <a:latin typeface="Times New Roman" pitchFamily="34" charset="0"/>
                <a:ea typeface="Times New Roman" pitchFamily="34" charset="-122"/>
                <a:cs typeface="Times New Roman" pitchFamily="34" charset="-120"/>
              </a:rPr>
              <a:t>El nombre del archivo no es el contenido</a:t>
            </a:r>
            <a:endParaRPr lang="en-US" sz="3400" dirty="0"/>
          </a:p>
        </p:txBody>
      </p:sp>
      <p:sp>
        <p:nvSpPr>
          <p:cNvPr id="3" name="Text 1"/>
          <p:cNvSpPr/>
          <p:nvPr/>
        </p:nvSpPr>
        <p:spPr>
          <a:xfrm>
            <a:off x="548640" y="1188720"/>
            <a:ext cx="11064240" cy="365760"/>
          </a:xfrm>
          <a:prstGeom prst="rect">
            <a:avLst/>
          </a:prstGeom>
          <a:noFill/>
          <a:ln/>
        </p:spPr>
        <p:txBody>
          <a:bodyPr wrap="square" lIns="0" tIns="0" rIns="0" bIns="0" rtlCol="0" anchor="ctr"/>
          <a:lstStyle/>
          <a:p>
            <a:pPr indent="0" marL="0">
              <a:buNone/>
            </a:pPr>
            <a:r>
              <a:rPr lang="en-US" sz="1500" i="1" dirty="0">
                <a:solidFill>
                  <a:srgbClr val="5B6660"/>
                </a:solidFill>
                <a:latin typeface="Times New Roman" pitchFamily="34" charset="0"/>
                <a:ea typeface="Times New Roman" pitchFamily="34" charset="-122"/>
                <a:cs typeface="Times New Roman" pitchFamily="34" charset="-120"/>
              </a:rPr>
              <a:t>Tres capas que se llaman «verdor» y «temperatura», y no lo son</a:t>
            </a:r>
            <a:endParaRPr lang="en-US" sz="1500" dirty="0"/>
          </a:p>
        </p:txBody>
      </p:sp>
      <p:sp>
        <p:nvSpPr>
          <p:cNvPr id="4" name="Shape 2"/>
          <p:cNvSpPr/>
          <p:nvPr/>
        </p:nvSpPr>
        <p:spPr>
          <a:xfrm>
            <a:off x="548640" y="1783080"/>
            <a:ext cx="5349240" cy="1965960"/>
          </a:xfrm>
          <a:prstGeom prst="roundRect">
            <a:avLst>
              <a:gd name="adj" fmla="val 3721"/>
            </a:avLst>
          </a:prstGeom>
          <a:solidFill>
            <a:srgbClr val="F5F5F5"/>
          </a:solidFill>
          <a:ln/>
        </p:spPr>
      </p:sp>
      <p:sp>
        <p:nvSpPr>
          <p:cNvPr id="5" name="Text 3"/>
          <p:cNvSpPr/>
          <p:nvPr/>
        </p:nvSpPr>
        <p:spPr>
          <a:xfrm>
            <a:off x="914400" y="1938528"/>
            <a:ext cx="4572000" cy="365760"/>
          </a:xfrm>
          <a:prstGeom prst="rect">
            <a:avLst/>
          </a:prstGeom>
          <a:noFill/>
          <a:ln/>
        </p:spPr>
        <p:txBody>
          <a:bodyPr wrap="square" lIns="0" tIns="0" rIns="0" bIns="0" rtlCol="0" anchor="ctr"/>
          <a:lstStyle/>
          <a:p>
            <a:pPr indent="0" marL="0">
              <a:buNone/>
            </a:pPr>
            <a:r>
              <a:rPr lang="en-US" sz="1900" b="1" dirty="0">
                <a:solidFill>
                  <a:srgbClr val="2C5F2D"/>
                </a:solidFill>
                <a:latin typeface="Times New Roman" pitchFamily="34" charset="0"/>
                <a:ea typeface="Times New Roman" pitchFamily="34" charset="-122"/>
                <a:cs typeface="Times New Roman" pitchFamily="34" charset="-120"/>
              </a:rPr>
              <a:t>Primera pista: el rango</a:t>
            </a:r>
            <a:endParaRPr lang="en-US" sz="1900" dirty="0"/>
          </a:p>
        </p:txBody>
      </p:sp>
      <p:sp>
        <p:nvSpPr>
          <p:cNvPr id="6" name="Text 4"/>
          <p:cNvSpPr/>
          <p:nvPr/>
        </p:nvSpPr>
        <p:spPr>
          <a:xfrm>
            <a:off x="914400" y="2331720"/>
            <a:ext cx="4617720" cy="1325880"/>
          </a:xfrm>
          <a:prstGeom prst="rect">
            <a:avLst/>
          </a:prstGeom>
          <a:noFill/>
          <a:ln/>
        </p:spPr>
        <p:txBody>
          <a:bodyPr wrap="square" lIns="0" tIns="0" rIns="0" bIns="0" rtlCol="0" anchor="t"/>
          <a:lstStyle/>
          <a:p>
            <a:pPr indent="0" marL="0">
              <a:buNone/>
            </a:pPr>
            <a:r>
              <a:rPr lang="en-US" sz="1600" dirty="0">
                <a:solidFill>
                  <a:srgbClr val="1F2A1F"/>
                </a:solidFill>
                <a:latin typeface="Times New Roman" pitchFamily="34" charset="0"/>
                <a:ea typeface="Times New Roman" pitchFamily="34" charset="-122"/>
                <a:cs typeface="Times New Roman" pitchFamily="34" charset="-120"/>
              </a:rPr>
              <a:t>LST de verano: de 0,10 a 3,00.
</a:t>
            </a:r>
            <a:pPr indent="0" marL="0">
              <a:buNone/>
            </a:pPr>
            <a:r>
              <a:rPr lang="en-US" sz="1500" i="1" dirty="0">
                <a:solidFill>
                  <a:srgbClr val="5B6660"/>
                </a:solidFill>
                <a:latin typeface="Times New Roman" pitchFamily="34" charset="0"/>
                <a:ea typeface="Times New Roman" pitchFamily="34" charset="-122"/>
                <a:cs typeface="Times New Roman" pitchFamily="34" charset="-120"/>
              </a:rPr>
              <a:t>No hay unidad de temperatura en que eso tenga sentido: en centígrados el bosque estaría siempre bajo tres grados; en kelvin, a 270 bajo cero.</a:t>
            </a:r>
            <a:endParaRPr lang="en-US" sz="1600" dirty="0"/>
          </a:p>
        </p:txBody>
      </p:sp>
      <p:sp>
        <p:nvSpPr>
          <p:cNvPr id="7" name="Shape 5"/>
          <p:cNvSpPr/>
          <p:nvPr/>
        </p:nvSpPr>
        <p:spPr>
          <a:xfrm>
            <a:off x="6263640" y="1783080"/>
            <a:ext cx="5349240" cy="1965960"/>
          </a:xfrm>
          <a:prstGeom prst="roundRect">
            <a:avLst>
              <a:gd name="adj" fmla="val 3721"/>
            </a:avLst>
          </a:prstGeom>
          <a:solidFill>
            <a:srgbClr val="F5F5F5"/>
          </a:solidFill>
          <a:ln/>
        </p:spPr>
      </p:sp>
      <p:sp>
        <p:nvSpPr>
          <p:cNvPr id="8" name="Text 6"/>
          <p:cNvSpPr/>
          <p:nvPr/>
        </p:nvSpPr>
        <p:spPr>
          <a:xfrm>
            <a:off x="6629400" y="1938528"/>
            <a:ext cx="4572000" cy="365760"/>
          </a:xfrm>
          <a:prstGeom prst="rect">
            <a:avLst/>
          </a:prstGeom>
          <a:noFill/>
          <a:ln/>
        </p:spPr>
        <p:txBody>
          <a:bodyPr wrap="square" lIns="0" tIns="0" rIns="0" bIns="0" rtlCol="0" anchor="ctr"/>
          <a:lstStyle/>
          <a:p>
            <a:pPr indent="0" marL="0">
              <a:buNone/>
            </a:pPr>
            <a:r>
              <a:rPr lang="en-US" sz="1900" b="1" dirty="0">
                <a:solidFill>
                  <a:srgbClr val="2C5F2D"/>
                </a:solidFill>
                <a:latin typeface="Times New Roman" pitchFamily="34" charset="0"/>
                <a:ea typeface="Times New Roman" pitchFamily="34" charset="-122"/>
                <a:cs typeface="Times New Roman" pitchFamily="34" charset="-120"/>
              </a:rPr>
              <a:t>Segunda pista: el signo</a:t>
            </a:r>
            <a:endParaRPr lang="en-US" sz="1900" dirty="0"/>
          </a:p>
        </p:txBody>
      </p:sp>
      <p:sp>
        <p:nvSpPr>
          <p:cNvPr id="9" name="Text 7"/>
          <p:cNvSpPr/>
          <p:nvPr/>
        </p:nvSpPr>
        <p:spPr>
          <a:xfrm>
            <a:off x="6629400" y="2331720"/>
            <a:ext cx="4617720" cy="1325880"/>
          </a:xfrm>
          <a:prstGeom prst="rect">
            <a:avLst/>
          </a:prstGeom>
          <a:noFill/>
          <a:ln/>
        </p:spPr>
        <p:txBody>
          <a:bodyPr wrap="square" lIns="0" tIns="0" rIns="0" bIns="0" rtlCol="0" anchor="t"/>
          <a:lstStyle/>
          <a:p>
            <a:pPr indent="0" marL="0">
              <a:buNone/>
            </a:pPr>
            <a:r>
              <a:rPr lang="en-US" sz="1500" dirty="0">
                <a:solidFill>
                  <a:srgbClr val="1F2A1F"/>
                </a:solidFill>
                <a:latin typeface="Times New Roman" pitchFamily="34" charset="0"/>
                <a:ea typeface="Times New Roman" pitchFamily="34" charset="-122"/>
                <a:cs typeface="Times New Roman" pitchFamily="34" charset="-120"/>
              </a:rPr>
              <a:t>Correlación del «verdor espacial» con nuestros índices, en 690 huellas:
</a:t>
            </a:r>
            <a:pPr indent="0" marL="0">
              <a:buNone/>
            </a:pPr>
            <a:r>
              <a:rPr lang="en-US" sz="1600" b="1" dirty="0">
                <a:solidFill>
                  <a:srgbClr val="B85042"/>
                </a:solidFill>
                <a:latin typeface="Times New Roman" pitchFamily="34" charset="0"/>
                <a:ea typeface="Times New Roman" pitchFamily="34" charset="-122"/>
                <a:cs typeface="Times New Roman" pitchFamily="34" charset="-120"/>
              </a:rPr>
              <a:t>NDVI −0,276 · NBR −0,278</a:t>
            </a:r>
            <a:endParaRPr lang="en-US" sz="1500" dirty="0"/>
          </a:p>
          <a:p>
            <a:pPr indent="0" marL="0">
              <a:buNone/>
            </a:pPr>
            <a:r>
              <a:rPr lang="en-US" sz="1600" b="1" dirty="0">
                <a:solidFill>
                  <a:srgbClr val="B85042"/>
                </a:solidFill>
                <a:latin typeface="Times New Roman" pitchFamily="34" charset="0"/>
                <a:ea typeface="Times New Roman" pitchFamily="34" charset="-122"/>
                <a:cs typeface="Times New Roman" pitchFamily="34" charset="-120"/>
              </a:rPr>
              <a:t>NDMI −0,257 · EVI −0,220</a:t>
            </a:r>
            <a:endParaRPr lang="en-US" sz="1500" dirty="0"/>
          </a:p>
        </p:txBody>
      </p:sp>
      <p:sp>
        <p:nvSpPr>
          <p:cNvPr id="10" name="Shape 8"/>
          <p:cNvSpPr/>
          <p:nvPr/>
        </p:nvSpPr>
        <p:spPr>
          <a:xfrm>
            <a:off x="548640" y="3977640"/>
            <a:ext cx="11064240" cy="1371600"/>
          </a:xfrm>
          <a:prstGeom prst="roundRect">
            <a:avLst>
              <a:gd name="adj" fmla="val 5333"/>
            </a:avLst>
          </a:prstGeom>
          <a:solidFill>
            <a:srgbClr val="2C5F2D"/>
          </a:solidFill>
          <a:ln/>
        </p:spPr>
      </p:sp>
      <p:sp>
        <p:nvSpPr>
          <p:cNvPr id="11" name="Text 9"/>
          <p:cNvSpPr/>
          <p:nvPr/>
        </p:nvSpPr>
        <p:spPr>
          <a:xfrm>
            <a:off x="914400" y="4206240"/>
            <a:ext cx="10332720" cy="914400"/>
          </a:xfrm>
          <a:prstGeom prst="rect">
            <a:avLst/>
          </a:prstGeom>
          <a:noFill/>
          <a:ln/>
        </p:spPr>
        <p:txBody>
          <a:bodyPr wrap="square" lIns="0" tIns="0" rIns="0" bIns="0" rtlCol="0" anchor="ctr"/>
          <a:lstStyle/>
          <a:p>
            <a:pPr indent="0" marL="0">
              <a:buNone/>
            </a:pPr>
            <a:r>
              <a:rPr lang="en-US" sz="1800" dirty="0">
                <a:solidFill>
                  <a:srgbClr val="FFFFFF"/>
                </a:solidFill>
                <a:latin typeface="Times New Roman" pitchFamily="34" charset="0"/>
                <a:ea typeface="Times New Roman" pitchFamily="34" charset="-122"/>
                <a:cs typeface="Times New Roman" pitchFamily="34" charset="-120"/>
              </a:rPr>
              <a:t>Si midiera verdor, el signo sería positivo y fuerte. </a:t>
            </a:r>
            <a:pPr indent="0" marL="0">
              <a:buNone/>
            </a:pPr>
            <a:r>
              <a:rPr lang="en-US" sz="1800" dirty="0">
                <a:solidFill>
                  <a:srgbClr val="97BC62"/>
                </a:solidFill>
                <a:latin typeface="Times New Roman" pitchFamily="34" charset="0"/>
                <a:ea typeface="Times New Roman" pitchFamily="34" charset="-122"/>
                <a:cs typeface="Times New Roman" pitchFamily="34" charset="-120"/>
              </a:rPr>
              <a:t>Negativo y moderado es lo propio de una medida de heterogeneidad: el paisaje es más disparejo donde la vegetación es rala.</a:t>
            </a:r>
            <a:endParaRPr lang="en-US" sz="1800" dirty="0"/>
          </a:p>
        </p:txBody>
      </p:sp>
      <p:sp>
        <p:nvSpPr>
          <p:cNvPr id="12" name="Text 10"/>
          <p:cNvSpPr/>
          <p:nvPr/>
        </p:nvSpPr>
        <p:spPr>
          <a:xfrm>
            <a:off x="548640" y="5532120"/>
            <a:ext cx="11064240" cy="914400"/>
          </a:xfrm>
          <a:prstGeom prst="rect">
            <a:avLst/>
          </a:prstGeom>
          <a:noFill/>
          <a:ln/>
        </p:spPr>
        <p:txBody>
          <a:bodyPr wrap="square" lIns="0" tIns="0" rIns="0" bIns="0" rtlCol="0" anchor="t"/>
          <a:lstStyle/>
          <a:p>
            <a:pPr indent="0" marL="0">
              <a:buNone/>
            </a:pPr>
            <a:r>
              <a:rPr lang="en-US" sz="1500" b="1" dirty="0">
                <a:solidFill>
                  <a:srgbClr val="2C5F2D"/>
                </a:solidFill>
                <a:latin typeface="Times New Roman" pitchFamily="34" charset="0"/>
                <a:ea typeface="Times New Roman" pitchFamily="34" charset="-122"/>
                <a:cs typeface="Times New Roman" pitchFamily="34" charset="-120"/>
              </a:rPr>
              <a:t>El error de expectativa fue nuestro. </a:t>
            </a:r>
            <a:pPr indent="0" marL="0">
              <a:buNone/>
            </a:pPr>
            <a:r>
              <a:rPr lang="en-US" sz="1500" dirty="0">
                <a:solidFill>
                  <a:srgbClr val="1F2A1F"/>
                </a:solidFill>
                <a:latin typeface="Times New Roman" pitchFamily="34" charset="0"/>
                <a:ea typeface="Times New Roman" pitchFamily="34" charset="-122"/>
                <a:cs typeface="Times New Roman" pitchFamily="34" charset="-120"/>
              </a:rPr>
              <a:t>Son índices de heterogeneidad por textura de imagen (Silveira et al., 2021), diseñados para conservación de biodiversidad, no para estimar biomasa. Que no correlacionen con la estructura es el resultado esperado. Lo que faltaba en la carpeta era la documentación, no el rigor del producto.</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Qué aportan y qué no los mapas forestales de Chubut</dc:title>
  <dc:subject>PptxGenJS Presentation</dc:subject>
  <dc:creator>Héctor Francisco del Valle</dc:creator>
  <cp:lastModifiedBy>Héctor Francisco del Valle</cp:lastModifiedBy>
  <cp:revision>1</cp:revision>
  <dcterms:created xsi:type="dcterms:W3CDTF">2026-07-31T21:48:46Z</dcterms:created>
  <dcterms:modified xsi:type="dcterms:W3CDTF">2026-07-31T21:48:46Z</dcterms:modified>
</cp:coreProperties>
</file>